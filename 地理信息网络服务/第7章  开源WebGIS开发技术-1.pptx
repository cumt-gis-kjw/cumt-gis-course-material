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23"/>
  </p:notesMasterIdLst>
  <p:sldIdLst>
    <p:sldId id="855" r:id="rId2"/>
    <p:sldId id="935" r:id="rId3"/>
    <p:sldId id="938" r:id="rId4"/>
    <p:sldId id="939" r:id="rId5"/>
    <p:sldId id="940" r:id="rId6"/>
    <p:sldId id="941" r:id="rId7"/>
    <p:sldId id="942" r:id="rId8"/>
    <p:sldId id="786" r:id="rId9"/>
    <p:sldId id="787" r:id="rId10"/>
    <p:sldId id="921" r:id="rId11"/>
    <p:sldId id="815" r:id="rId12"/>
    <p:sldId id="788" r:id="rId13"/>
    <p:sldId id="881" r:id="rId14"/>
    <p:sldId id="882" r:id="rId15"/>
    <p:sldId id="883" r:id="rId16"/>
    <p:sldId id="887" r:id="rId17"/>
    <p:sldId id="888" r:id="rId18"/>
    <p:sldId id="889" r:id="rId19"/>
    <p:sldId id="890" r:id="rId20"/>
    <p:sldId id="967" r:id="rId21"/>
    <p:sldId id="968" r:id="rId2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00FF"/>
    <a:srgbClr val="B9B9B9"/>
    <a:srgbClr val="A07304"/>
    <a:srgbClr val="006600"/>
    <a:srgbClr val="FF0066"/>
    <a:srgbClr val="9900CC"/>
    <a:srgbClr val="FF0000"/>
    <a:srgbClr val="00CC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47" autoAdjust="0"/>
    <p:restoredTop sz="92627" autoAdjust="0"/>
  </p:normalViewPr>
  <p:slideViewPr>
    <p:cSldViewPr>
      <p:cViewPr varScale="1">
        <p:scale>
          <a:sx n="91" d="100"/>
          <a:sy n="91" d="100"/>
        </p:scale>
        <p:origin x="1432"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effectLst/>
                <a:latin typeface="Times New Roman" pitchFamily="18" charset="0"/>
              </a:defRPr>
            </a:lvl1pPr>
          </a:lstStyle>
          <a:p>
            <a:pPr>
              <a:defRPr/>
            </a:pPr>
            <a:endParaRPr lang="zh-CN" altLang="en-US"/>
          </a:p>
        </p:txBody>
      </p:sp>
      <p:sp>
        <p:nvSpPr>
          <p:cNvPr id="131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effectLst/>
                <a:latin typeface="Times New Roman" pitchFamily="18"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31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effectLst/>
                <a:latin typeface="Times New Roman" pitchFamily="18" charset="0"/>
              </a:defRPr>
            </a:lvl1pPr>
          </a:lstStyle>
          <a:p>
            <a:pPr>
              <a:defRPr/>
            </a:pPr>
            <a:endParaRPr lang="en-US" altLang="zh-CN"/>
          </a:p>
        </p:txBody>
      </p:sp>
      <p:sp>
        <p:nvSpPr>
          <p:cNvPr id="131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smtClean="0">
                <a:latin typeface="Times New Roman" panose="02020603050405020304" pitchFamily="18" charset="0"/>
              </a:defRPr>
            </a:lvl1pPr>
          </a:lstStyle>
          <a:p>
            <a:pPr>
              <a:defRPr/>
            </a:pPr>
            <a:fld id="{408EDF8F-83E8-4FCA-BD76-6B5E2607204B}"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5000"/>
              </a:lnSpc>
              <a:spcBef>
                <a:spcPts val="600"/>
              </a:spcBef>
              <a:buClr>
                <a:srgbClr val="FF0066"/>
              </a:buClr>
              <a:buSzPct val="100000"/>
            </a:pPr>
            <a:r>
              <a:rPr lang="zh-CN" altLang="en-US" dirty="0"/>
              <a:t>参考</a:t>
            </a:r>
            <a:r>
              <a:rPr lang="en-US" altLang="zh-CN" dirty="0"/>
              <a:t>《</a:t>
            </a:r>
            <a:r>
              <a:rPr lang="en-US" altLang="zh-CN" dirty="0" err="1"/>
              <a:t>WebGIS</a:t>
            </a:r>
            <a:r>
              <a:rPr lang="zh-CN" altLang="en-US" dirty="0"/>
              <a:t>开发从入门到实践</a:t>
            </a:r>
            <a:r>
              <a:rPr lang="en-US" altLang="zh-CN" dirty="0"/>
              <a:t>》 </a:t>
            </a:r>
            <a:r>
              <a:rPr lang="zh-CN" altLang="en-US" dirty="0"/>
              <a:t>吕利利、牛健平编著   相关章节</a:t>
            </a:r>
          </a:p>
        </p:txBody>
      </p:sp>
      <p:sp>
        <p:nvSpPr>
          <p:cNvPr id="4" name="灯片编号占位符 3"/>
          <p:cNvSpPr>
            <a:spLocks noGrp="1"/>
          </p:cNvSpPr>
          <p:nvPr>
            <p:ph type="sldNum" sz="quarter" idx="10"/>
          </p:nvPr>
        </p:nvSpPr>
        <p:spPr/>
        <p:txBody>
          <a:bodyPr/>
          <a:lstStyle/>
          <a:p>
            <a:pPr>
              <a:defRPr/>
            </a:pPr>
            <a:fld id="{408EDF8F-83E8-4FCA-BD76-6B5E2607204B}" type="slidenum">
              <a:rPr lang="zh-CN" altLang="en-US" smtClean="0"/>
              <a:pPr>
                <a:defRPr/>
              </a:pPr>
              <a:t>1</a:t>
            </a:fld>
            <a:endParaRPr lang="en-US" altLang="zh-CN"/>
          </a:p>
        </p:txBody>
      </p:sp>
    </p:spTree>
    <p:extLst>
      <p:ext uri="{BB962C8B-B14F-4D97-AF65-F5344CB8AC3E}">
        <p14:creationId xmlns:p14="http://schemas.microsoft.com/office/powerpoint/2010/main" val="1707209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开源软件是开放源代码软件（</a:t>
            </a:r>
            <a:r>
              <a:rPr lang="en-US" altLang="zh-CN" dirty="0"/>
              <a:t>Open Source Software)</a:t>
            </a:r>
            <a:r>
              <a:rPr lang="zh-CN" altLang="en-US" dirty="0"/>
              <a:t>的简称。它的法律基础是著作权许可。</a:t>
            </a:r>
            <a:endParaRPr lang="en-US" altLang="zh-CN" dirty="0"/>
          </a:p>
          <a:p>
            <a:endParaRPr lang="en-US" altLang="zh-CN" dirty="0"/>
          </a:p>
          <a:p>
            <a:r>
              <a:rPr lang="en-US" altLang="zh-CN" dirty="0"/>
              <a:t>《</a:t>
            </a:r>
            <a:r>
              <a:rPr lang="zh-CN" altLang="en-US" dirty="0"/>
              <a:t>开源软件的内在机理及激励机制研究</a:t>
            </a:r>
            <a:r>
              <a:rPr lang="en-US" altLang="zh-CN" dirty="0"/>
              <a:t>_</a:t>
            </a:r>
            <a:r>
              <a:rPr lang="zh-CN" altLang="en-US" dirty="0"/>
              <a:t>张汉华</a:t>
            </a:r>
            <a:r>
              <a:rPr lang="en-US" altLang="zh-CN" dirty="0"/>
              <a:t>》</a:t>
            </a:r>
          </a:p>
        </p:txBody>
      </p:sp>
    </p:spTree>
    <p:extLst>
      <p:ext uri="{BB962C8B-B14F-4D97-AF65-F5344CB8AC3E}">
        <p14:creationId xmlns:p14="http://schemas.microsoft.com/office/powerpoint/2010/main" val="1916959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ChangeArrowheads="1" noTextEdit="1"/>
          </p:cNvSpPr>
          <p:nvPr>
            <p:ph type="sldImg"/>
          </p:nvPr>
        </p:nvSpPr>
        <p:spPr>
          <a:ln/>
        </p:spPr>
      </p:sp>
      <p:sp>
        <p:nvSpPr>
          <p:cNvPr id="153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53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2345470-AC39-457E-8860-C30E6EEC344D}" type="slidenum">
              <a:rPr lang="zh-CN" altLang="en-US" smtClean="0">
                <a:latin typeface="Times New Roman" panose="02020603050405020304" pitchFamily="18" charset="0"/>
              </a:rPr>
              <a:pPr/>
              <a:t>3</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676424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ChangeArrowheads="1" noTextEdit="1"/>
          </p:cNvSpPr>
          <p:nvPr>
            <p:ph type="sldImg"/>
          </p:nvPr>
        </p:nvSpPr>
        <p:spPr>
          <a:ln/>
        </p:spPr>
      </p:sp>
      <p:sp>
        <p:nvSpPr>
          <p:cNvPr id="174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目前开源软件许可证按照对开源软件使用者修改后的源代码公开的约束力度从严苛到宽松，大致可以分为以下三类，</a:t>
            </a:r>
            <a:r>
              <a:rPr lang="en-US" altLang="zh-CN" dirty="0"/>
              <a:t>GPL</a:t>
            </a:r>
            <a:r>
              <a:rPr lang="zh-CN" altLang="en-US" dirty="0"/>
              <a:t>、</a:t>
            </a:r>
            <a:r>
              <a:rPr lang="en-US" altLang="zh-CN" dirty="0"/>
              <a:t>LGPL</a:t>
            </a:r>
            <a:r>
              <a:rPr lang="zh-CN" altLang="en-US" dirty="0"/>
              <a:t>、</a:t>
            </a:r>
            <a:r>
              <a:rPr lang="en-US" altLang="zh-CN" dirty="0"/>
              <a:t>BSD </a:t>
            </a:r>
            <a:r>
              <a:rPr lang="zh-CN" altLang="en-US" dirty="0"/>
              <a:t>分别是每一类开源软件许可证的典型代表。</a:t>
            </a:r>
          </a:p>
          <a:p>
            <a:endParaRPr lang="en-US" altLang="zh-CN" dirty="0"/>
          </a:p>
          <a:p>
            <a:r>
              <a:rPr lang="en-US" altLang="zh-CN" dirty="0"/>
              <a:t>GPL </a:t>
            </a:r>
            <a:r>
              <a:rPr lang="zh-CN" altLang="en-US" dirty="0"/>
              <a:t>是 </a:t>
            </a:r>
            <a:r>
              <a:rPr lang="en-US" altLang="zh-CN" dirty="0"/>
              <a:t>General Public License </a:t>
            </a:r>
            <a:r>
              <a:rPr lang="zh-CN" altLang="en-US" dirty="0"/>
              <a:t>的简写，</a:t>
            </a:r>
            <a:r>
              <a:rPr lang="en-US" altLang="zh-CN" dirty="0"/>
              <a:t>GPL </a:t>
            </a:r>
            <a:r>
              <a:rPr lang="zh-CN" altLang="en-US" dirty="0"/>
              <a:t>许可证是开源软件使用者权利限制最严</a:t>
            </a:r>
          </a:p>
          <a:p>
            <a:r>
              <a:rPr lang="zh-CN" altLang="en-US" dirty="0"/>
              <a:t>格的一种开源软件许可证。斯托尔曼分别于 </a:t>
            </a:r>
            <a:r>
              <a:rPr lang="en-US" altLang="zh-CN" dirty="0"/>
              <a:t>1989 </a:t>
            </a:r>
            <a:r>
              <a:rPr lang="zh-CN" altLang="en-US" dirty="0"/>
              <a:t>年 </a:t>
            </a:r>
            <a:r>
              <a:rPr lang="en-US" altLang="zh-CN" dirty="0"/>
              <a:t>1 </a:t>
            </a:r>
            <a:r>
              <a:rPr lang="zh-CN" altLang="en-US" dirty="0"/>
              <a:t>月和 </a:t>
            </a:r>
            <a:r>
              <a:rPr lang="en-US" altLang="zh-CN" dirty="0"/>
              <a:t>1991 </a:t>
            </a:r>
            <a:r>
              <a:rPr lang="zh-CN" altLang="en-US" dirty="0"/>
              <a:t>年 </a:t>
            </a:r>
            <a:r>
              <a:rPr lang="en-US" altLang="zh-CN" dirty="0"/>
              <a:t>6 </a:t>
            </a:r>
            <a:r>
              <a:rPr lang="zh-CN" altLang="en-US" dirty="0"/>
              <a:t>月发布 </a:t>
            </a:r>
            <a:r>
              <a:rPr lang="en-US" altLang="zh-CN" dirty="0"/>
              <a:t>GPL </a:t>
            </a:r>
            <a:r>
              <a:rPr lang="zh-CN" altLang="en-US" dirty="0"/>
              <a:t>的第一</a:t>
            </a:r>
          </a:p>
          <a:p>
            <a:r>
              <a:rPr lang="zh-CN" altLang="en-US" dirty="0"/>
              <a:t>版（</a:t>
            </a:r>
            <a:r>
              <a:rPr lang="en-US" altLang="zh-CN" dirty="0"/>
              <a:t>GPLv1</a:t>
            </a:r>
            <a:r>
              <a:rPr lang="zh-CN" altLang="en-US" dirty="0"/>
              <a:t>）和第二版（</a:t>
            </a:r>
            <a:r>
              <a:rPr lang="en-US" altLang="zh-CN" dirty="0"/>
              <a:t>GPLv2</a:t>
            </a:r>
            <a:r>
              <a:rPr lang="zh-CN" altLang="en-US" dirty="0"/>
              <a:t>）。其中著作权保护和 </a:t>
            </a:r>
            <a:r>
              <a:rPr lang="en-US" altLang="zh-CN" dirty="0" err="1"/>
              <a:t>copyleft</a:t>
            </a:r>
            <a:r>
              <a:rPr lang="en-US" altLang="zh-CN" dirty="0"/>
              <a:t> </a:t>
            </a:r>
            <a:r>
              <a:rPr lang="zh-CN" altLang="en-US" dirty="0"/>
              <a:t>授权许可是 </a:t>
            </a:r>
            <a:r>
              <a:rPr lang="en-US" altLang="zh-CN" dirty="0"/>
              <a:t>GPL </a:t>
            </a:r>
            <a:r>
              <a:rPr lang="zh-CN" altLang="en-US" dirty="0"/>
              <a:t>许可证提</a:t>
            </a:r>
          </a:p>
          <a:p>
            <a:r>
              <a:rPr lang="zh-CN" altLang="en-US" dirty="0"/>
              <a:t>供的两项权利保护措施。</a:t>
            </a:r>
            <a:r>
              <a:rPr lang="en-US" altLang="zh-CN" dirty="0"/>
              <a:t>GPL </a:t>
            </a:r>
            <a:r>
              <a:rPr lang="zh-CN" altLang="en-US" dirty="0"/>
              <a:t>许可证规定“我们采取两项措施来保护您的权利：</a:t>
            </a:r>
            <a:r>
              <a:rPr lang="en-US" altLang="zh-CN" dirty="0"/>
              <a:t>(1)</a:t>
            </a:r>
            <a:r>
              <a:rPr lang="zh-CN" altLang="en-US" dirty="0"/>
              <a:t>以著</a:t>
            </a:r>
          </a:p>
          <a:p>
            <a:r>
              <a:rPr lang="zh-CN" altLang="en-US" dirty="0"/>
              <a:t>作权保护软件，以及</a:t>
            </a:r>
            <a:r>
              <a:rPr lang="en-US" altLang="zh-CN" dirty="0"/>
              <a:t>(2)</a:t>
            </a:r>
            <a:r>
              <a:rPr lang="zh-CN" altLang="en-US" dirty="0"/>
              <a:t>提供您本授权，赋与您复制、散布及／或修改软件的法律许可”。</a:t>
            </a:r>
          </a:p>
          <a:p>
            <a:r>
              <a:rPr lang="en-US" altLang="zh-CN" dirty="0"/>
              <a:t>GPL </a:t>
            </a:r>
            <a:r>
              <a:rPr lang="zh-CN" altLang="en-US" dirty="0"/>
              <a:t>许可证的“</a:t>
            </a:r>
            <a:r>
              <a:rPr lang="en-US" altLang="zh-CN" dirty="0" err="1"/>
              <a:t>Copyleft</a:t>
            </a:r>
            <a:r>
              <a:rPr lang="en-US" altLang="zh-CN" dirty="0"/>
              <a:t>”</a:t>
            </a:r>
            <a:r>
              <a:rPr lang="zh-CN" altLang="en-US" dirty="0"/>
              <a:t>授权许可的主要内容是：只要在一个软件中使用了 </a:t>
            </a:r>
            <a:r>
              <a:rPr lang="en-US" altLang="zh-CN" dirty="0"/>
              <a:t>GPL </a:t>
            </a:r>
            <a:r>
              <a:rPr lang="zh-CN" altLang="en-US" dirty="0"/>
              <a:t>许可证</a:t>
            </a:r>
            <a:endParaRPr lang="en-US" altLang="zh-CN" dirty="0"/>
          </a:p>
          <a:p>
            <a:r>
              <a:rPr lang="zh-CN" altLang="en-US" dirty="0"/>
              <a:t>开源软件，修改后的源代码或者衍生代码软件也必须采用 </a:t>
            </a:r>
            <a:r>
              <a:rPr lang="en-US" altLang="zh-CN" dirty="0"/>
              <a:t>GPL </a:t>
            </a:r>
            <a:r>
              <a:rPr lang="zh-CN" altLang="en-US" dirty="0"/>
              <a:t>许可证发布。即开源软</a:t>
            </a:r>
          </a:p>
          <a:p>
            <a:r>
              <a:rPr lang="zh-CN" altLang="en-US" dirty="0"/>
              <a:t>件的使用者如果复制、修改、发布的开源软件适用的是 </a:t>
            </a:r>
            <a:r>
              <a:rPr lang="en-US" altLang="zh-CN" dirty="0"/>
              <a:t>GPL </a:t>
            </a:r>
            <a:r>
              <a:rPr lang="zh-CN" altLang="en-US" dirty="0"/>
              <a:t>许可证，那么，使用者再发</a:t>
            </a:r>
          </a:p>
          <a:p>
            <a:r>
              <a:rPr lang="zh-CN" altLang="en-US" dirty="0"/>
              <a:t>布软件也要遵循 </a:t>
            </a:r>
            <a:r>
              <a:rPr lang="en-US" altLang="zh-CN" dirty="0"/>
              <a:t>GPL </a:t>
            </a:r>
            <a:r>
              <a:rPr lang="zh-CN" altLang="en-US" dirty="0"/>
              <a:t>许可证。由于它要求对根据 </a:t>
            </a:r>
            <a:r>
              <a:rPr lang="en-US" altLang="zh-CN" dirty="0"/>
              <a:t>GPL </a:t>
            </a:r>
            <a:r>
              <a:rPr lang="zh-CN" altLang="en-US" dirty="0"/>
              <a:t>许可证发布的开源软件进行修改的</a:t>
            </a:r>
          </a:p>
          <a:p>
            <a:r>
              <a:rPr lang="zh-CN" altLang="en-US" dirty="0"/>
              <a:t>演绎作品，甚至只要其中任何一部分代码是以 </a:t>
            </a:r>
            <a:r>
              <a:rPr lang="en-US" altLang="zh-CN" dirty="0"/>
              <a:t>GPL </a:t>
            </a:r>
            <a:r>
              <a:rPr lang="zh-CN" altLang="en-US" dirty="0"/>
              <a:t>许可证发布的，那么全部程序也必须</a:t>
            </a:r>
          </a:p>
          <a:p>
            <a:r>
              <a:rPr lang="zh-CN" altLang="en-US" dirty="0"/>
              <a:t>受 </a:t>
            </a:r>
            <a:r>
              <a:rPr lang="en-US" altLang="zh-CN" dirty="0"/>
              <a:t>GPL </a:t>
            </a:r>
            <a:r>
              <a:rPr lang="zh-CN" altLang="en-US" dirty="0"/>
              <a:t>许可证的约束，因此，有人将其称为 </a:t>
            </a:r>
            <a:r>
              <a:rPr lang="en-US" altLang="zh-CN" dirty="0"/>
              <a:t>GPL </a:t>
            </a:r>
            <a:r>
              <a:rPr lang="zh-CN" altLang="en-US" dirty="0"/>
              <a:t>许可证的“病毒效应”。</a:t>
            </a:r>
          </a:p>
          <a:p>
            <a:endParaRPr lang="zh-CN" altLang="en-US" dirty="0"/>
          </a:p>
          <a:p>
            <a:endParaRPr lang="en-US" altLang="zh-CN" dirty="0"/>
          </a:p>
        </p:txBody>
      </p:sp>
      <p:sp>
        <p:nvSpPr>
          <p:cNvPr id="174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9312C4C-4CBD-4FB8-9C17-38F8248E3DEE}" type="slidenum">
              <a:rPr lang="zh-CN" altLang="en-US" smtClean="0">
                <a:latin typeface="Times New Roman" panose="02020603050405020304" pitchFamily="18" charset="0"/>
              </a:rPr>
              <a:pPr/>
              <a:t>4</a:t>
            </a:fld>
            <a:endParaRPr lang="en-US" altLang="zh-CN">
              <a:latin typeface="Times New Roman" panose="02020603050405020304" pitchFamily="18" charset="0"/>
            </a:endParaRPr>
          </a:p>
        </p:txBody>
      </p:sp>
    </p:spTree>
    <p:extLst>
      <p:ext uri="{BB962C8B-B14F-4D97-AF65-F5344CB8AC3E}">
        <p14:creationId xmlns:p14="http://schemas.microsoft.com/office/powerpoint/2010/main" val="3402496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幻灯片图像占位符 1"/>
          <p:cNvSpPr>
            <a:spLocks noGrp="1" noRot="1" noChangeAspect="1" noChangeArrowheads="1" noTextEdit="1"/>
          </p:cNvSpPr>
          <p:nvPr>
            <p:ph type="sldImg"/>
          </p:nvPr>
        </p:nvSpPr>
        <p:spPr>
          <a:ln/>
        </p:spPr>
      </p:sp>
      <p:sp>
        <p:nvSpPr>
          <p:cNvPr id="194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自由软件授权模式</a:t>
            </a:r>
            <a:r>
              <a:rPr lang="en-US" altLang="zh-CN"/>
              <a:t>(copyleft)</a:t>
            </a:r>
            <a:r>
              <a:rPr lang="zh-CN" altLang="en-US"/>
              <a:t>与传统版权</a:t>
            </a:r>
            <a:r>
              <a:rPr lang="en-US" altLang="zh-CN"/>
              <a:t>(copyright)</a:t>
            </a:r>
            <a:endParaRPr lang="zh-CN" altLang="en-US"/>
          </a:p>
        </p:txBody>
      </p:sp>
      <p:sp>
        <p:nvSpPr>
          <p:cNvPr id="194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E4DE2DE1-6BE2-401F-9DA9-CD2D231EAF3B}" type="slidenum">
              <a:rPr lang="zh-CN" altLang="en-US" smtClean="0">
                <a:latin typeface="Times New Roman" panose="02020603050405020304" pitchFamily="18" charset="0"/>
              </a:rPr>
              <a:pPr/>
              <a:t>5</a:t>
            </a:fld>
            <a:endParaRPr lang="en-US" altLang="zh-CN">
              <a:latin typeface="Times New Roman" panose="02020603050405020304" pitchFamily="18" charset="0"/>
            </a:endParaRPr>
          </a:p>
        </p:txBody>
      </p:sp>
    </p:spTree>
    <p:extLst>
      <p:ext uri="{BB962C8B-B14F-4D97-AF65-F5344CB8AC3E}">
        <p14:creationId xmlns:p14="http://schemas.microsoft.com/office/powerpoint/2010/main" val="623705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ChangeArrowheads="1" noTextEdit="1"/>
          </p:cNvSpPr>
          <p:nvPr>
            <p:ph type="sldImg"/>
          </p:nvPr>
        </p:nvSpPr>
        <p:spPr>
          <a:ln/>
        </p:spPr>
      </p:sp>
      <p:sp>
        <p:nvSpPr>
          <p:cNvPr id="215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215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CFF1F621-BC25-4064-A9B5-6793A193389A}" type="slidenum">
              <a:rPr lang="zh-CN" altLang="en-US" smtClean="0">
                <a:latin typeface="Times New Roman" panose="02020603050405020304" pitchFamily="18" charset="0"/>
              </a:rPr>
              <a:pPr/>
              <a:t>6</a:t>
            </a:fld>
            <a:endParaRPr lang="en-US" altLang="zh-CN">
              <a:latin typeface="Times New Roman" panose="02020603050405020304" pitchFamily="18" charset="0"/>
            </a:endParaRPr>
          </a:p>
        </p:txBody>
      </p:sp>
    </p:spTree>
    <p:extLst>
      <p:ext uri="{BB962C8B-B14F-4D97-AF65-F5344CB8AC3E}">
        <p14:creationId xmlns:p14="http://schemas.microsoft.com/office/powerpoint/2010/main" val="789079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ChangeArrowheads="1" noTextEdit="1"/>
          </p:cNvSpPr>
          <p:nvPr>
            <p:ph type="sldImg"/>
          </p:nvPr>
        </p:nvSpPr>
        <p:spPr>
          <a:ln/>
        </p:spPr>
      </p:sp>
      <p:sp>
        <p:nvSpPr>
          <p:cNvPr id="23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B8D544E-75D5-4172-89B2-70BAD1FDF33C}" type="slidenum">
              <a:rPr lang="zh-CN" altLang="en-US" smtClean="0">
                <a:latin typeface="Times New Roman" panose="02020603050405020304" pitchFamily="18" charset="0"/>
              </a:rPr>
              <a:pPr/>
              <a:t>7</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509887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A17982-183B-495D-99F6-A8A1B8C108B4}" type="slidenum">
              <a:rPr lang="zh-CN" altLang="en-US" smtClean="0"/>
              <a:t>8</a:t>
            </a:fld>
            <a:endParaRPr lang="zh-CN" altLang="en-US"/>
          </a:p>
        </p:txBody>
      </p:sp>
    </p:spTree>
    <p:extLst>
      <p:ext uri="{BB962C8B-B14F-4D97-AF65-F5344CB8AC3E}">
        <p14:creationId xmlns:p14="http://schemas.microsoft.com/office/powerpoint/2010/main" val="3191984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因此，一旦掌握了 </a:t>
            </a:r>
            <a:r>
              <a:rPr lang="en-US" altLang="zh-CN" sz="12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en-US" altLang="zh-CN"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客户端</a:t>
            </a:r>
            <a:r>
              <a:rPr lang="en-US" altLang="zh-CN" sz="12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WebGIS</a:t>
            </a:r>
            <a:r>
              <a:rPr lang="zh-CN" altLang="en-US"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开发技术，便可快速地实现与任何一种</a:t>
            </a:r>
            <a:r>
              <a:rPr lang="en-US" altLang="zh-CN" sz="12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WebGIS</a:t>
            </a:r>
            <a:r>
              <a:rPr lang="zh-CN" altLang="en-US" sz="1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服务平台的对接；</a:t>
            </a:r>
            <a:endParaRPr lang="zh-CN" altLang="en-US" dirty="0"/>
          </a:p>
        </p:txBody>
      </p:sp>
      <p:sp>
        <p:nvSpPr>
          <p:cNvPr id="4" name="灯片编号占位符 3"/>
          <p:cNvSpPr>
            <a:spLocks noGrp="1"/>
          </p:cNvSpPr>
          <p:nvPr>
            <p:ph type="sldNum" sz="quarter" idx="10"/>
          </p:nvPr>
        </p:nvSpPr>
        <p:spPr/>
        <p:txBody>
          <a:bodyPr/>
          <a:lstStyle/>
          <a:p>
            <a:fld id="{2CA17982-183B-495D-99F6-A8A1B8C108B4}" type="slidenum">
              <a:rPr lang="zh-CN" altLang="en-US" smtClean="0"/>
              <a:t>9</a:t>
            </a:fld>
            <a:endParaRPr lang="zh-CN" altLang="en-US"/>
          </a:p>
        </p:txBody>
      </p:sp>
    </p:spTree>
    <p:extLst>
      <p:ext uri="{BB962C8B-B14F-4D97-AF65-F5344CB8AC3E}">
        <p14:creationId xmlns:p14="http://schemas.microsoft.com/office/powerpoint/2010/main" val="9112238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ChangeArrowheads="1" noTextEdit="1"/>
          </p:cNvSpPr>
          <p:nvPr>
            <p:ph type="sldImg"/>
          </p:nvPr>
        </p:nvSpPr>
        <p:spPr>
          <a:ln/>
        </p:spPr>
      </p:sp>
      <p:sp>
        <p:nvSpPr>
          <p:cNvPr id="235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35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A1789C5-E074-4259-836B-250FBA716A00}" type="slidenum">
              <a:rPr lang="zh-CN" altLang="en-US" smtClean="0">
                <a:latin typeface="Times New Roman" panose="02020603050405020304" pitchFamily="18" charset="0"/>
              </a:rPr>
              <a:pPr/>
              <a:t>10</a:t>
            </a:fld>
            <a:endParaRPr lang="en-US" altLang="zh-CN">
              <a:latin typeface="Times New Roman" panose="02020603050405020304" pitchFamily="18" charset="0"/>
            </a:endParaRPr>
          </a:p>
        </p:txBody>
      </p:sp>
    </p:spTree>
    <p:extLst>
      <p:ext uri="{BB962C8B-B14F-4D97-AF65-F5344CB8AC3E}">
        <p14:creationId xmlns:p14="http://schemas.microsoft.com/office/powerpoint/2010/main" val="2970190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08EDF8F-83E8-4FCA-BD76-6B5E2607204B}" type="slidenum">
              <a:rPr lang="zh-CN" altLang="en-US" smtClean="0"/>
              <a:pPr>
                <a:defRPr/>
              </a:pPr>
              <a:t>11</a:t>
            </a:fld>
            <a:endParaRPr lang="en-US" altLang="zh-CN"/>
          </a:p>
        </p:txBody>
      </p:sp>
    </p:spTree>
    <p:extLst>
      <p:ext uri="{BB962C8B-B14F-4D97-AF65-F5344CB8AC3E}">
        <p14:creationId xmlns:p14="http://schemas.microsoft.com/office/powerpoint/2010/main" val="16057906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A17982-183B-495D-99F6-A8A1B8C108B4}" type="slidenum">
              <a:rPr lang="zh-CN" altLang="en-US" smtClean="0"/>
              <a:t>12</a:t>
            </a:fld>
            <a:endParaRPr lang="zh-CN" altLang="en-US"/>
          </a:p>
        </p:txBody>
      </p:sp>
    </p:spTree>
    <p:extLst>
      <p:ext uri="{BB962C8B-B14F-4D97-AF65-F5344CB8AC3E}">
        <p14:creationId xmlns:p14="http://schemas.microsoft.com/office/powerpoint/2010/main" val="3216754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13</a:t>
            </a:fld>
            <a:endParaRPr lang="en-US" altLang="zh-CN"/>
          </a:p>
        </p:txBody>
      </p:sp>
    </p:spTree>
    <p:extLst>
      <p:ext uri="{BB962C8B-B14F-4D97-AF65-F5344CB8AC3E}">
        <p14:creationId xmlns:p14="http://schemas.microsoft.com/office/powerpoint/2010/main" val="4125610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08EDF8F-83E8-4FCA-BD76-6B5E2607204B}" type="slidenum">
              <a:rPr lang="zh-CN" altLang="en-US" smtClean="0"/>
              <a:pPr>
                <a:defRPr/>
              </a:pPr>
              <a:t>14</a:t>
            </a:fld>
            <a:endParaRPr lang="en-US" altLang="zh-CN"/>
          </a:p>
        </p:txBody>
      </p:sp>
    </p:spTree>
    <p:extLst>
      <p:ext uri="{BB962C8B-B14F-4D97-AF65-F5344CB8AC3E}">
        <p14:creationId xmlns:p14="http://schemas.microsoft.com/office/powerpoint/2010/main" val="16041728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15</a:t>
            </a:fld>
            <a:endParaRPr lang="en-US" altLang="zh-CN"/>
          </a:p>
        </p:txBody>
      </p:sp>
    </p:spTree>
    <p:extLst>
      <p:ext uri="{BB962C8B-B14F-4D97-AF65-F5344CB8AC3E}">
        <p14:creationId xmlns:p14="http://schemas.microsoft.com/office/powerpoint/2010/main" val="27301158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16</a:t>
            </a:fld>
            <a:endParaRPr lang="en-US" altLang="zh-CN"/>
          </a:p>
        </p:txBody>
      </p:sp>
    </p:spTree>
    <p:extLst>
      <p:ext uri="{BB962C8B-B14F-4D97-AF65-F5344CB8AC3E}">
        <p14:creationId xmlns:p14="http://schemas.microsoft.com/office/powerpoint/2010/main" val="15182080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17</a:t>
            </a:fld>
            <a:endParaRPr lang="en-US" altLang="zh-CN"/>
          </a:p>
        </p:txBody>
      </p:sp>
    </p:spTree>
    <p:extLst>
      <p:ext uri="{BB962C8B-B14F-4D97-AF65-F5344CB8AC3E}">
        <p14:creationId xmlns:p14="http://schemas.microsoft.com/office/powerpoint/2010/main" val="5676385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18</a:t>
            </a:fld>
            <a:endParaRPr lang="en-US" altLang="zh-CN"/>
          </a:p>
        </p:txBody>
      </p:sp>
    </p:spTree>
    <p:extLst>
      <p:ext uri="{BB962C8B-B14F-4D97-AF65-F5344CB8AC3E}">
        <p14:creationId xmlns:p14="http://schemas.microsoft.com/office/powerpoint/2010/main" val="15370768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19</a:t>
            </a:fld>
            <a:endParaRPr lang="en-US" altLang="zh-CN"/>
          </a:p>
        </p:txBody>
      </p:sp>
    </p:spTree>
    <p:extLst>
      <p:ext uri="{BB962C8B-B14F-4D97-AF65-F5344CB8AC3E}">
        <p14:creationId xmlns:p14="http://schemas.microsoft.com/office/powerpoint/2010/main" val="2008307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20</a:t>
            </a:fld>
            <a:endParaRPr lang="en-US" altLang="zh-CN"/>
          </a:p>
        </p:txBody>
      </p:sp>
    </p:spTree>
    <p:extLst>
      <p:ext uri="{BB962C8B-B14F-4D97-AF65-F5344CB8AC3E}">
        <p14:creationId xmlns:p14="http://schemas.microsoft.com/office/powerpoint/2010/main" val="14102675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408EDF8F-83E8-4FCA-BD76-6B5E2607204B}" type="slidenum">
              <a:rPr lang="zh-CN" altLang="en-US" smtClean="0"/>
              <a:pPr>
                <a:defRPr/>
              </a:pPr>
              <a:t>21</a:t>
            </a:fld>
            <a:endParaRPr lang="en-US" altLang="zh-CN"/>
          </a:p>
        </p:txBody>
      </p:sp>
    </p:spTree>
    <p:extLst>
      <p:ext uri="{BB962C8B-B14F-4D97-AF65-F5344CB8AC3E}">
        <p14:creationId xmlns:p14="http://schemas.microsoft.com/office/powerpoint/2010/main" val="2123869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48130" name="Rectangle 2"/>
          <p:cNvSpPr>
            <a:spLocks noGrp="1" noChangeArrowheads="1"/>
          </p:cNvSpPr>
          <p:nvPr>
            <p:ph type="ctrTitle"/>
          </p:nvPr>
        </p:nvSpPr>
        <p:spPr>
          <a:xfrm>
            <a:off x="914400" y="1524000"/>
            <a:ext cx="7623175" cy="1752600"/>
          </a:xfrm>
        </p:spPr>
        <p:txBody>
          <a:bodyPr/>
          <a:lstStyle>
            <a:lvl1pPr>
              <a:defRPr sz="5000"/>
            </a:lvl1pPr>
          </a:lstStyle>
          <a:p>
            <a:r>
              <a:rPr lang="en-US" altLang="zh-CN"/>
              <a:t>单击此处编辑母版标题样式</a:t>
            </a:r>
          </a:p>
        </p:txBody>
      </p:sp>
      <p:sp>
        <p:nvSpPr>
          <p:cNvPr id="48131"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zh-CN"/>
              <a:t>单击此处编辑母版副标题样式</a:t>
            </a:r>
          </a:p>
        </p:txBody>
      </p:sp>
      <p:sp>
        <p:nvSpPr>
          <p:cNvPr id="6" name="Rectangle 4"/>
          <p:cNvSpPr>
            <a:spLocks noGrp="1" noChangeArrowheads="1"/>
          </p:cNvSpPr>
          <p:nvPr>
            <p:ph type="dt" sz="half" idx="10"/>
          </p:nvPr>
        </p:nvSpPr>
        <p:spPr/>
        <p:txBody>
          <a:bodyPr/>
          <a:lstStyle>
            <a:lvl1pPr>
              <a:defRPr/>
            </a:lvl1pPr>
          </a:lstStyle>
          <a:p>
            <a:pPr>
              <a:defRPr/>
            </a:pPr>
            <a:fld id="{C4FDC90F-397E-45D8-A918-30D64EE5B193}" type="datetime1">
              <a:rPr lang="zh-CN" altLang="en-US"/>
              <a:pPr>
                <a:defRPr/>
              </a:pPr>
              <a:t>2026/5/11</a:t>
            </a:fld>
            <a:endParaRPr lang="en-US" altLang="zh-CN"/>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p:txBody>
          <a:bodyPr/>
          <a:lstStyle>
            <a:lvl1pPr>
              <a:defRPr smtClean="0"/>
            </a:lvl1pPr>
          </a:lstStyle>
          <a:p>
            <a:pPr>
              <a:defRPr/>
            </a:pPr>
            <a:fld id="{CBE91D37-E76B-45DB-AB05-8CA26EA28914}" type="slidenum">
              <a:rPr lang="en-US" altLang="zh-CN"/>
              <a:pPr>
                <a:defRPr/>
              </a:pPr>
              <a:t>‹#›</a:t>
            </a:fld>
            <a:endParaRPr lang="en-US" altLang="zh-CN"/>
          </a:p>
        </p:txBody>
      </p:sp>
    </p:spTree>
    <p:extLst>
      <p:ext uri="{BB962C8B-B14F-4D97-AF65-F5344CB8AC3E}">
        <p14:creationId xmlns:p14="http://schemas.microsoft.com/office/powerpoint/2010/main" val="733168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B3F85534-8564-4A4E-A6C6-E865A5E78497}" type="datetime1">
              <a:rPr lang="zh-CN" altLang="en-US"/>
              <a:pPr>
                <a:defRPr/>
              </a:pPr>
              <a:t>2026/5/11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A9E6ED8-7A33-4B01-8942-D4BF2F5EE2E3}" type="slidenum">
              <a:rPr lang="en-US" altLang="zh-CN"/>
              <a:pPr>
                <a:defRPr/>
              </a:pPr>
              <a:t>‹#›</a:t>
            </a:fld>
            <a:endParaRPr lang="en-US" altLang="zh-CN"/>
          </a:p>
        </p:txBody>
      </p:sp>
    </p:spTree>
    <p:extLst>
      <p:ext uri="{BB962C8B-B14F-4D97-AF65-F5344CB8AC3E}">
        <p14:creationId xmlns:p14="http://schemas.microsoft.com/office/powerpoint/2010/main" val="2341080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0D85A034-453B-403C-A6AF-A092F55E7D4C}" type="datetime1">
              <a:rPr lang="zh-CN" altLang="en-US"/>
              <a:pPr>
                <a:defRPr/>
              </a:pPr>
              <a:t>2026/5/11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61F0B73-DB91-4697-BA87-B45B72416B56}" type="slidenum">
              <a:rPr lang="en-US" altLang="zh-CN"/>
              <a:pPr>
                <a:defRPr/>
              </a:pPr>
              <a:t>‹#›</a:t>
            </a:fld>
            <a:endParaRPr lang="en-US" altLang="zh-CN"/>
          </a:p>
        </p:txBody>
      </p:sp>
    </p:spTree>
    <p:extLst>
      <p:ext uri="{BB962C8B-B14F-4D97-AF65-F5344CB8AC3E}">
        <p14:creationId xmlns:p14="http://schemas.microsoft.com/office/powerpoint/2010/main" val="2918120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5F9B14E2-C0A8-49A2-B393-7483A5527823}" type="datetime1">
              <a:rPr lang="zh-CN" altLang="en-US"/>
              <a:pPr>
                <a:defRPr/>
              </a:pPr>
              <a:t>2026/5/11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2830492-0955-4F52-A862-AAAC69819981}" type="slidenum">
              <a:rPr lang="en-US" altLang="zh-CN"/>
              <a:pPr>
                <a:defRPr/>
              </a:pPr>
              <a:t>‹#›</a:t>
            </a:fld>
            <a:endParaRPr lang="en-US" altLang="zh-CN"/>
          </a:p>
        </p:txBody>
      </p:sp>
    </p:spTree>
    <p:extLst>
      <p:ext uri="{BB962C8B-B14F-4D97-AF65-F5344CB8AC3E}">
        <p14:creationId xmlns:p14="http://schemas.microsoft.com/office/powerpoint/2010/main" val="3674950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33D8A149-CF0F-4B30-8CE7-FE4D4DA5BA71}" type="datetime1">
              <a:rPr lang="zh-CN" altLang="en-US"/>
              <a:pPr>
                <a:defRPr/>
              </a:pPr>
              <a:t>2026/5/11</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397F9BA4-84E6-4F4E-9457-0B02FB657A80}" type="slidenum">
              <a:rPr lang="en-US" altLang="zh-CN"/>
              <a:pPr>
                <a:defRPr/>
              </a:pPr>
              <a:t>‹#›</a:t>
            </a:fld>
            <a:endParaRPr lang="en-US" altLang="zh-CN"/>
          </a:p>
        </p:txBody>
      </p:sp>
    </p:spTree>
    <p:extLst>
      <p:ext uri="{BB962C8B-B14F-4D97-AF65-F5344CB8AC3E}">
        <p14:creationId xmlns:p14="http://schemas.microsoft.com/office/powerpoint/2010/main" val="3409657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AC7884A4-D81A-4837-84DF-8FC67CDD1DC8}" type="datetime1">
              <a:rPr lang="zh-CN" altLang="en-US"/>
              <a:pPr>
                <a:defRPr/>
              </a:pPr>
              <a:t>2026/5/11</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702624E-C880-446D-A54A-1C7A280C4BAD}" type="slidenum">
              <a:rPr lang="en-US" altLang="zh-CN"/>
              <a:pPr>
                <a:defRPr/>
              </a:pPr>
              <a:t>‹#›</a:t>
            </a:fld>
            <a:endParaRPr lang="en-US" altLang="zh-CN"/>
          </a:p>
        </p:txBody>
      </p:sp>
    </p:spTree>
    <p:extLst>
      <p:ext uri="{BB962C8B-B14F-4D97-AF65-F5344CB8AC3E}">
        <p14:creationId xmlns:p14="http://schemas.microsoft.com/office/powerpoint/2010/main" val="291396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DC6758D3-414F-4FD9-AC30-97CA391AA5D8}" type="datetime1">
              <a:rPr lang="zh-CN" altLang="en-US"/>
              <a:pPr>
                <a:defRPr/>
              </a:pPr>
              <a:t>2026/5/11</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D0F7C113-1B26-4E42-91AB-5C2BA5420030}" type="slidenum">
              <a:rPr lang="en-US" altLang="zh-CN"/>
              <a:pPr>
                <a:defRPr/>
              </a:pPr>
              <a:t>‹#›</a:t>
            </a:fld>
            <a:endParaRPr lang="en-US" altLang="zh-CN"/>
          </a:p>
        </p:txBody>
      </p:sp>
    </p:spTree>
    <p:extLst>
      <p:ext uri="{BB962C8B-B14F-4D97-AF65-F5344CB8AC3E}">
        <p14:creationId xmlns:p14="http://schemas.microsoft.com/office/powerpoint/2010/main" val="50120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A89BC82F-61A8-497C-9DCF-F8824334FA1C}" type="datetime1">
              <a:rPr lang="zh-CN" altLang="en-US"/>
              <a:pPr>
                <a:defRPr/>
              </a:pPr>
              <a:t>2026/5/11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4DFF1FE-8730-43E2-990C-51AC0696993E}" type="slidenum">
              <a:rPr lang="en-US" altLang="zh-CN"/>
              <a:pPr>
                <a:defRPr/>
              </a:pPr>
              <a:t>‹#›</a:t>
            </a:fld>
            <a:endParaRPr lang="en-US" altLang="zh-CN"/>
          </a:p>
        </p:txBody>
      </p:sp>
    </p:spTree>
    <p:extLst>
      <p:ext uri="{BB962C8B-B14F-4D97-AF65-F5344CB8AC3E}">
        <p14:creationId xmlns:p14="http://schemas.microsoft.com/office/powerpoint/2010/main" val="3422422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842FFDF8-C7F5-468D-BDCF-BD6BF0E8DD0F}" type="datetime1">
              <a:rPr lang="zh-CN" altLang="en-US"/>
              <a:pPr>
                <a:defRPr/>
              </a:pPr>
              <a:t>2026/5/11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3AFC8EE-D21D-4316-B5EE-24422BEC99D9}" type="slidenum">
              <a:rPr lang="en-US" altLang="zh-CN"/>
              <a:pPr>
                <a:defRPr/>
              </a:pPr>
              <a:t>‹#›</a:t>
            </a:fld>
            <a:endParaRPr lang="en-US" altLang="zh-CN"/>
          </a:p>
        </p:txBody>
      </p:sp>
    </p:spTree>
    <p:extLst>
      <p:ext uri="{BB962C8B-B14F-4D97-AF65-F5344CB8AC3E}">
        <p14:creationId xmlns:p14="http://schemas.microsoft.com/office/powerpoint/2010/main" val="3881544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EDE5CF94-E237-4FA2-9F35-72F2B89A1022}" type="datetime1">
              <a:rPr lang="zh-CN" altLang="en-US"/>
              <a:pPr>
                <a:defRPr/>
              </a:pPr>
              <a:t>2026/5/11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3506D00-B113-4788-B0F2-3FDFFC173B05}" type="slidenum">
              <a:rPr lang="en-US" altLang="zh-CN"/>
              <a:pPr>
                <a:defRPr/>
              </a:pPr>
              <a:t>‹#›</a:t>
            </a:fld>
            <a:endParaRPr lang="en-US" altLang="zh-CN"/>
          </a:p>
        </p:txBody>
      </p:sp>
    </p:spTree>
    <p:extLst>
      <p:ext uri="{BB962C8B-B14F-4D97-AF65-F5344CB8AC3E}">
        <p14:creationId xmlns:p14="http://schemas.microsoft.com/office/powerpoint/2010/main" val="1489339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988E2C35-D50D-4599-ACA1-33525184633F}" type="datetime1">
              <a:rPr lang="zh-CN" altLang="en-US"/>
              <a:pPr>
                <a:defRPr/>
              </a:pPr>
              <a:t>2026/5/11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03C2D04-84A7-4235-ACFF-20E52AC21F3B}" type="slidenum">
              <a:rPr lang="en-US" altLang="zh-CN"/>
              <a:pPr>
                <a:defRPr/>
              </a:pPr>
              <a:t>‹#›</a:t>
            </a:fld>
            <a:endParaRPr lang="en-US" altLang="zh-CN"/>
          </a:p>
        </p:txBody>
      </p:sp>
    </p:spTree>
    <p:extLst>
      <p:ext uri="{BB962C8B-B14F-4D97-AF65-F5344CB8AC3E}">
        <p14:creationId xmlns:p14="http://schemas.microsoft.com/office/powerpoint/2010/main" val="1089310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7813"/>
            <a:ext cx="8229600" cy="5853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fld id="{C1F9AAE6-1EBA-49AC-AC24-B7EE6B7F2FEC}" type="datetime1">
              <a:rPr lang="zh-CN" altLang="en-US"/>
              <a:pPr>
                <a:defRPr/>
              </a:pPr>
              <a:t>2026/5/11</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67B48A5-D724-4703-AA51-0295EB88F9AE}" type="slidenum">
              <a:rPr lang="en-US" altLang="zh-CN"/>
              <a:pPr>
                <a:defRPr/>
              </a:pPr>
              <a:t>‹#›</a:t>
            </a:fld>
            <a:endParaRPr lang="en-US" altLang="zh-CN"/>
          </a:p>
        </p:txBody>
      </p:sp>
    </p:spTree>
    <p:extLst>
      <p:ext uri="{BB962C8B-B14F-4D97-AF65-F5344CB8AC3E}">
        <p14:creationId xmlns:p14="http://schemas.microsoft.com/office/powerpoint/2010/main" val="30268003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ABE41A2D-4DC1-48FD-90D4-FA95A7E094FB}" type="datetime1">
              <a:rPr lang="zh-CN" altLang="en-US"/>
              <a:pPr>
                <a:defRPr/>
              </a:pPr>
              <a:t>2026/5/11</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CBDADC27-674E-46F6-8171-1FD89D17B997}" type="slidenum">
              <a:rPr lang="en-US" altLang="zh-CN"/>
              <a:pPr>
                <a:defRPr/>
              </a:pPr>
              <a:t>‹#›</a:t>
            </a:fld>
            <a:endParaRPr lang="en-US" altLang="zh-CN"/>
          </a:p>
        </p:txBody>
      </p:sp>
    </p:spTree>
    <p:extLst>
      <p:ext uri="{BB962C8B-B14F-4D97-AF65-F5344CB8AC3E}">
        <p14:creationId xmlns:p14="http://schemas.microsoft.com/office/powerpoint/2010/main" val="1139058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2F16FC13-A484-45C4-B151-C24805917EF3}" type="datetime1">
              <a:rPr lang="zh-CN" altLang="en-US"/>
              <a:pPr>
                <a:defRPr/>
              </a:pPr>
              <a:t>2026/5/11</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FECFF52-D113-4A96-B94E-A7CAEAFCC3D3}" type="slidenum">
              <a:rPr lang="en-US" altLang="zh-CN"/>
              <a:pPr>
                <a:defRPr/>
              </a:pPr>
              <a:t>‹#›</a:t>
            </a:fld>
            <a:endParaRPr lang="en-US" altLang="zh-CN"/>
          </a:p>
        </p:txBody>
      </p:sp>
    </p:spTree>
    <p:extLst>
      <p:ext uri="{BB962C8B-B14F-4D97-AF65-F5344CB8AC3E}">
        <p14:creationId xmlns:p14="http://schemas.microsoft.com/office/powerpoint/2010/main" val="3942768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单击此处编辑母版标题样式</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单击此处编辑母版文本样式</a:t>
            </a:r>
          </a:p>
          <a:p>
            <a:pPr lvl="1"/>
            <a:r>
              <a:rPr lang="en-US" altLang="zh-CN"/>
              <a:t>第二级</a:t>
            </a:r>
          </a:p>
          <a:p>
            <a:pPr lvl="2"/>
            <a:r>
              <a:rPr lang="en-US" altLang="zh-CN"/>
              <a:t>第三级</a:t>
            </a:r>
          </a:p>
          <a:p>
            <a:pPr lvl="3"/>
            <a:r>
              <a:rPr lang="en-US" altLang="zh-CN"/>
              <a:t>第四级</a:t>
            </a:r>
          </a:p>
          <a:p>
            <a:pPr lvl="4"/>
            <a:r>
              <a:rPr lang="en-US" altLang="zh-CN"/>
              <a:t>第五级</a:t>
            </a:r>
          </a:p>
        </p:txBody>
      </p:sp>
      <p:sp>
        <p:nvSpPr>
          <p:cNvPr id="47108"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ffectLst/>
                <a:latin typeface="Garamond" pitchFamily="18" charset="0"/>
              </a:defRPr>
            </a:lvl1pPr>
          </a:lstStyle>
          <a:p>
            <a:pPr>
              <a:defRPr/>
            </a:pPr>
            <a:fld id="{3FA45AC4-F793-4B82-AFE6-F837A5F880FE}" type="datetime1">
              <a:rPr lang="zh-CN" altLang="en-US"/>
              <a:pPr>
                <a:defRPr/>
              </a:pPr>
              <a:t>2026/5/11</a:t>
            </a:fld>
            <a:endParaRPr lang="en-US" altLang="zh-CN"/>
          </a:p>
        </p:txBody>
      </p:sp>
      <p:sp>
        <p:nvSpPr>
          <p:cNvPr id="4710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effectLst/>
                <a:latin typeface="Garamond" pitchFamily="18" charset="0"/>
              </a:defRPr>
            </a:lvl1pPr>
          </a:lstStyle>
          <a:p>
            <a:pPr>
              <a:defRPr/>
            </a:pPr>
            <a:endParaRPr lang="en-US" altLang="zh-CN"/>
          </a:p>
        </p:txBody>
      </p:sp>
      <p:sp>
        <p:nvSpPr>
          <p:cNvPr id="47110"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Garamond" panose="02020404030301010803" pitchFamily="18" charset="0"/>
              </a:defRPr>
            </a:lvl1pPr>
          </a:lstStyle>
          <a:p>
            <a:pPr>
              <a:defRPr/>
            </a:pPr>
            <a:fld id="{FCCD7F62-C9ED-4989-A0E3-AA94AD2734BA}" type="slidenum">
              <a:rPr lang="en-US" altLang="zh-CN"/>
              <a:pPr>
                <a:defRPr/>
              </a:pPr>
              <a:t>‹#›</a:t>
            </a:fld>
            <a:endParaRPr lang="en-US" altLang="zh-CN"/>
          </a:p>
        </p:txBody>
      </p:sp>
      <p:sp>
        <p:nvSpPr>
          <p:cNvPr id="47111"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eaLnBrk="1" hangingPunct="1">
              <a:defRPr/>
            </a:pPr>
            <a:endParaRPr lang="zh-CN" altLang="en-US">
              <a:effectLst>
                <a:outerShdw blurRad="38100" dist="38100" dir="2700000" algn="tl">
                  <a:srgbClr val="000000">
                    <a:alpha val="43137"/>
                  </a:srgbClr>
                </a:outerShdw>
              </a:effectLst>
            </a:endParaRPr>
          </a:p>
        </p:txBody>
      </p:sp>
      <p:sp>
        <p:nvSpPr>
          <p:cNvPr id="4711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eaLnBrk="1" hangingPunct="1">
              <a:defRPr/>
            </a:pPr>
            <a:endParaRPr lang="zh-CN" altLang="en-US">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4233" r:id="rId1"/>
    <p:sldLayoutId id="2147484220" r:id="rId2"/>
    <p:sldLayoutId id="2147484221" r:id="rId3"/>
    <p:sldLayoutId id="2147484222" r:id="rId4"/>
    <p:sldLayoutId id="2147484223" r:id="rId5"/>
    <p:sldLayoutId id="2147484224" r:id="rId6"/>
    <p:sldLayoutId id="2147484225" r:id="rId7"/>
    <p:sldLayoutId id="2147484226" r:id="rId8"/>
    <p:sldLayoutId id="2147484227" r:id="rId9"/>
    <p:sldLayoutId id="2147484228" r:id="rId10"/>
    <p:sldLayoutId id="2147484229" r:id="rId11"/>
    <p:sldLayoutId id="2147484230" r:id="rId12"/>
    <p:sldLayoutId id="2147484231" r:id="rId13"/>
    <p:sldLayoutId id="2147484232" r:id="rId14"/>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openlayers.org/"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a:t>
            </a:fld>
            <a:endParaRPr lang="en-US" altLang="zh-CN"/>
          </a:p>
        </p:txBody>
      </p:sp>
      <p:sp>
        <p:nvSpPr>
          <p:cNvPr id="5" name="标题 1"/>
          <p:cNvSpPr txBox="1">
            <a:spLocks/>
          </p:cNvSpPr>
          <p:nvPr/>
        </p:nvSpPr>
        <p:spPr bwMode="auto">
          <a:xfrm>
            <a:off x="539552" y="548680"/>
            <a:ext cx="7931224"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ea typeface="宋体" pitchFamily="2" charset="-122"/>
              </a:defRPr>
            </a:lvl2pPr>
            <a:lvl3pPr algn="l" rtl="0" eaLnBrk="0" fontAlgn="base" hangingPunct="0">
              <a:spcBef>
                <a:spcPct val="0"/>
              </a:spcBef>
              <a:spcAft>
                <a:spcPct val="0"/>
              </a:spcAft>
              <a:defRPr sz="4200">
                <a:solidFill>
                  <a:schemeClr val="tx2"/>
                </a:solidFill>
                <a:latin typeface="Garamond" pitchFamily="18" charset="0"/>
                <a:ea typeface="宋体" pitchFamily="2" charset="-122"/>
              </a:defRPr>
            </a:lvl3pPr>
            <a:lvl4pPr algn="l" rtl="0" eaLnBrk="0" fontAlgn="base" hangingPunct="0">
              <a:spcBef>
                <a:spcPct val="0"/>
              </a:spcBef>
              <a:spcAft>
                <a:spcPct val="0"/>
              </a:spcAft>
              <a:defRPr sz="4200">
                <a:solidFill>
                  <a:schemeClr val="tx2"/>
                </a:solidFill>
                <a:latin typeface="Garamond" pitchFamily="18" charset="0"/>
                <a:ea typeface="宋体" pitchFamily="2" charset="-122"/>
              </a:defRPr>
            </a:lvl4pPr>
            <a:lvl5pPr algn="l" rtl="0" eaLnBrk="0" fontAlgn="base" hangingPunct="0">
              <a:spcBef>
                <a:spcPct val="0"/>
              </a:spcBef>
              <a:spcAft>
                <a:spcPct val="0"/>
              </a:spcAft>
              <a:defRPr sz="4200">
                <a:solidFill>
                  <a:schemeClr val="tx2"/>
                </a:solidFill>
                <a:latin typeface="Garamond" pitchFamily="18" charset="0"/>
                <a:ea typeface="宋体" pitchFamily="2" charset="-122"/>
              </a:defRPr>
            </a:lvl5pPr>
            <a:lvl6pPr marL="457200" algn="l" rtl="0" fontAlgn="base">
              <a:spcBef>
                <a:spcPct val="0"/>
              </a:spcBef>
              <a:spcAft>
                <a:spcPct val="0"/>
              </a:spcAft>
              <a:defRPr sz="4200">
                <a:solidFill>
                  <a:schemeClr val="tx2"/>
                </a:solidFill>
                <a:latin typeface="Garamond" pitchFamily="18" charset="0"/>
                <a:ea typeface="宋体" pitchFamily="2" charset="-122"/>
              </a:defRPr>
            </a:lvl6pPr>
            <a:lvl7pPr marL="914400" algn="l" rtl="0" fontAlgn="base">
              <a:spcBef>
                <a:spcPct val="0"/>
              </a:spcBef>
              <a:spcAft>
                <a:spcPct val="0"/>
              </a:spcAft>
              <a:defRPr sz="4200">
                <a:solidFill>
                  <a:schemeClr val="tx2"/>
                </a:solidFill>
                <a:latin typeface="Garamond" pitchFamily="18" charset="0"/>
                <a:ea typeface="宋体" pitchFamily="2" charset="-122"/>
              </a:defRPr>
            </a:lvl7pPr>
            <a:lvl8pPr marL="1371600" algn="l" rtl="0" fontAlgn="base">
              <a:spcBef>
                <a:spcPct val="0"/>
              </a:spcBef>
              <a:spcAft>
                <a:spcPct val="0"/>
              </a:spcAft>
              <a:defRPr sz="4200">
                <a:solidFill>
                  <a:schemeClr val="tx2"/>
                </a:solidFill>
                <a:latin typeface="Garamond" pitchFamily="18" charset="0"/>
                <a:ea typeface="宋体" pitchFamily="2" charset="-122"/>
              </a:defRPr>
            </a:lvl8pPr>
            <a:lvl9pPr marL="1828800" algn="l" rtl="0" fontAlgn="base">
              <a:spcBef>
                <a:spcPct val="0"/>
              </a:spcBef>
              <a:spcAft>
                <a:spcPct val="0"/>
              </a:spcAft>
              <a:defRPr sz="4200">
                <a:solidFill>
                  <a:schemeClr val="tx2"/>
                </a:solidFill>
                <a:latin typeface="Garamond" pitchFamily="18" charset="0"/>
                <a:ea typeface="宋体" pitchFamily="2" charset="-122"/>
              </a:defRPr>
            </a:lvl9pPr>
          </a:lstStyle>
          <a:p>
            <a:pPr marL="342900" indent="-342900" algn="ctr" eaLnBrk="1" hangingPunct="1">
              <a:lnSpc>
                <a:spcPct val="150000"/>
              </a:lnSpc>
              <a:spcBef>
                <a:spcPts val="1800"/>
              </a:spcBef>
              <a:buClr>
                <a:schemeClr val="accent1"/>
              </a:buClr>
              <a:buSzPct val="65000"/>
              <a:defRPr/>
            </a:pPr>
            <a:r>
              <a:rPr lang="zh-CN" altLang="en-US" sz="3200" b="1" dirty="0">
                <a:solidFill>
                  <a:srgbClr val="008000"/>
                </a:solidFill>
                <a:effectLst>
                  <a:outerShdw blurRad="38100" dist="38100" dir="2700000" algn="tl">
                    <a:srgbClr val="C0C0C0"/>
                  </a:outerShdw>
                </a:effectLst>
                <a:latin typeface="微软雅黑" pitchFamily="34" charset="-122"/>
                <a:ea typeface="微软雅黑" pitchFamily="34" charset="-122"/>
                <a:cs typeface="+mn-cs"/>
              </a:rPr>
              <a:t>第</a:t>
            </a:r>
            <a:r>
              <a:rPr lang="en-US" altLang="zh-CN" sz="3200" b="1" dirty="0">
                <a:solidFill>
                  <a:srgbClr val="008000"/>
                </a:solidFill>
                <a:effectLst>
                  <a:outerShdw blurRad="38100" dist="38100" dir="2700000" algn="tl">
                    <a:srgbClr val="C0C0C0"/>
                  </a:outerShdw>
                </a:effectLst>
                <a:latin typeface="微软雅黑" pitchFamily="34" charset="-122"/>
                <a:ea typeface="微软雅黑" pitchFamily="34" charset="-122"/>
                <a:cs typeface="+mn-cs"/>
              </a:rPr>
              <a:t>7</a:t>
            </a:r>
            <a:r>
              <a:rPr lang="zh-CN" altLang="en-US" sz="3200" b="1" dirty="0">
                <a:solidFill>
                  <a:srgbClr val="008000"/>
                </a:solidFill>
                <a:effectLst>
                  <a:outerShdw blurRad="38100" dist="38100" dir="2700000" algn="tl">
                    <a:srgbClr val="C0C0C0"/>
                  </a:outerShdw>
                </a:effectLst>
                <a:latin typeface="微软雅黑" pitchFamily="34" charset="-122"/>
                <a:ea typeface="微软雅黑" pitchFamily="34" charset="-122"/>
                <a:cs typeface="+mn-cs"/>
              </a:rPr>
              <a:t>章  开源</a:t>
            </a:r>
            <a:r>
              <a:rPr lang="en-US" altLang="zh-CN" sz="3200" b="1" dirty="0" err="1">
                <a:solidFill>
                  <a:srgbClr val="008000"/>
                </a:solidFill>
                <a:effectLst>
                  <a:outerShdw blurRad="38100" dist="38100" dir="2700000" algn="tl">
                    <a:srgbClr val="C0C0C0"/>
                  </a:outerShdw>
                </a:effectLst>
                <a:latin typeface="微软雅黑" pitchFamily="34" charset="-122"/>
                <a:ea typeface="微软雅黑" pitchFamily="34" charset="-122"/>
                <a:cs typeface="+mn-cs"/>
              </a:rPr>
              <a:t>WebGIS</a:t>
            </a:r>
            <a:r>
              <a:rPr lang="zh-CN" altLang="en-US" sz="3200" b="1" dirty="0">
                <a:solidFill>
                  <a:srgbClr val="008000"/>
                </a:solidFill>
                <a:effectLst>
                  <a:outerShdw blurRad="38100" dist="38100" dir="2700000" algn="tl">
                    <a:srgbClr val="C0C0C0"/>
                  </a:outerShdw>
                </a:effectLst>
                <a:latin typeface="微软雅黑" pitchFamily="34" charset="-122"/>
                <a:ea typeface="微软雅黑" pitchFamily="34" charset="-122"/>
                <a:cs typeface="+mn-cs"/>
              </a:rPr>
              <a:t>开发技术</a:t>
            </a:r>
            <a:endParaRPr lang="en-US" altLang="zh-CN" sz="3200" b="1" dirty="0">
              <a:solidFill>
                <a:srgbClr val="008000"/>
              </a:solidFill>
              <a:effectLst>
                <a:outerShdw blurRad="38100" dist="38100" dir="2700000" algn="tl">
                  <a:srgbClr val="C0C0C0"/>
                </a:outerShdw>
              </a:effectLst>
              <a:latin typeface="微软雅黑" pitchFamily="34" charset="-122"/>
              <a:ea typeface="微软雅黑" pitchFamily="34" charset="-122"/>
              <a:cs typeface="+mn-cs"/>
            </a:endParaRPr>
          </a:p>
          <a:p>
            <a:pPr marL="2171700" lvl="8" indent="-342900">
              <a:lnSpc>
                <a:spcPct val="150000"/>
              </a:lnSpc>
              <a:spcBef>
                <a:spcPts val="3000"/>
              </a:spcBef>
              <a:buClr>
                <a:schemeClr val="accent1"/>
              </a:buClr>
              <a:buSzPct val="65000"/>
              <a:defRPr/>
            </a:pPr>
            <a:r>
              <a:rPr lang="zh-CN" alt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   第一节  开源软件概述</a:t>
            </a:r>
          </a:p>
          <a:p>
            <a:pPr marL="2171700" lvl="8" indent="-342900">
              <a:lnSpc>
                <a:spcPct val="150000"/>
              </a:lnSpc>
              <a:spcBef>
                <a:spcPts val="1200"/>
              </a:spcBef>
              <a:buClr>
                <a:schemeClr val="accent1"/>
              </a:buClr>
              <a:buSzPct val="65000"/>
              <a:defRPr/>
            </a:pPr>
            <a:r>
              <a:rPr lang="zh-CN" alt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   第二节  </a:t>
            </a:r>
            <a:r>
              <a:rPr lang="en-US" altLang="zh-CN" sz="2800" b="1" dirty="0" err="1">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OpenLayers</a:t>
            </a:r>
            <a:endParaRPr lang="en-US" altLang="zh-CN"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endParaRPr>
          </a:p>
          <a:p>
            <a:pPr marL="2171700" lvl="8" indent="-342900">
              <a:lnSpc>
                <a:spcPct val="150000"/>
              </a:lnSpc>
              <a:spcBef>
                <a:spcPts val="1200"/>
              </a:spcBef>
              <a:buClr>
                <a:schemeClr val="accent1"/>
              </a:buClr>
              <a:buSzPct val="65000"/>
              <a:defRPr/>
            </a:pPr>
            <a:r>
              <a:rPr lang="zh-CN" alt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   第三节 </a:t>
            </a:r>
            <a:r>
              <a:rPr lang="en-US" altLang="zh-CN"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 </a:t>
            </a:r>
            <a:r>
              <a:rPr lang="en-US" altLang="zh-CN" sz="2800" b="1" dirty="0" err="1">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GeoServer</a:t>
            </a:r>
            <a:endParaRPr lang="zh-CN" altLang="en-US" sz="28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2700202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C624E63-C4EE-48BA-A8EE-534827CBFF1E}" type="slidenum">
              <a:rPr lang="en-US" altLang="zh-CN" smtClean="0">
                <a:latin typeface="Garamond" panose="02020404030301010803" pitchFamily="18" charset="0"/>
              </a:rPr>
              <a:pPr/>
              <a:t>2</a:t>
            </a:fld>
            <a:endParaRPr lang="en-US" altLang="zh-CN">
              <a:latin typeface="Garamond" panose="02020404030301010803" pitchFamily="18" charset="0"/>
            </a:endParaRPr>
          </a:p>
        </p:txBody>
      </p:sp>
      <p:sp>
        <p:nvSpPr>
          <p:cNvPr id="132117" name="Rectangle 3">
            <a:extLst>
              <a:ext uri="{FF2B5EF4-FFF2-40B4-BE49-F238E27FC236}">
                <a16:creationId xmlns:a16="http://schemas.microsoft.com/office/drawing/2014/main" id="{EAF80478-D7CD-4F1D-84BB-75D4AFBE99EB}"/>
              </a:ext>
            </a:extLst>
          </p:cNvPr>
          <p:cNvSpPr>
            <a:spLocks noChangeArrowheads="1"/>
          </p:cNvSpPr>
          <p:nvPr/>
        </p:nvSpPr>
        <p:spPr bwMode="auto">
          <a:xfrm>
            <a:off x="494617" y="1484784"/>
            <a:ext cx="7705725" cy="1223963"/>
          </a:xfrm>
          <a:prstGeom prst="rect">
            <a:avLst/>
          </a:prstGeom>
          <a:noFill/>
          <a:ln w="9525">
            <a:noFill/>
            <a:miter lim="800000"/>
            <a:headEnd/>
            <a:tailEnd/>
          </a:ln>
        </p:spPr>
        <p:txBody>
          <a:bodyPr/>
          <a:lstStyle/>
          <a:p>
            <a:pPr marL="342900" indent="-342900" eaLnBrk="1" hangingPunct="1">
              <a:spcBef>
                <a:spcPct val="20000"/>
              </a:spcBef>
              <a:buClr>
                <a:schemeClr val="accent1"/>
              </a:buClr>
              <a:buSzPct val="65000"/>
              <a:buFont typeface="Wingdings" pitchFamily="2" charset="2"/>
              <a:buNone/>
              <a:defRPr/>
            </a:pPr>
            <a:r>
              <a:rPr lang="en-US" altLang="zh-CN" sz="2800" b="1" dirty="0">
                <a:effectLst>
                  <a:outerShdw blurRad="38100" dist="38100" dir="2700000" algn="tl">
                    <a:srgbClr val="C0C0C0"/>
                  </a:outerShdw>
                </a:effectLst>
                <a:latin typeface="Arial" charset="0"/>
              </a:rPr>
              <a:t>1.</a:t>
            </a:r>
            <a:r>
              <a:rPr lang="zh-CN" altLang="en-US" sz="2800" b="1" dirty="0">
                <a:effectLst>
                  <a:outerShdw blurRad="38100" dist="38100" dir="2700000" algn="tl">
                    <a:srgbClr val="C0C0C0"/>
                  </a:outerShdw>
                </a:effectLst>
                <a:latin typeface="Arial" charset="0"/>
              </a:rPr>
              <a:t>开源软件</a:t>
            </a:r>
            <a:endParaRPr lang="en-US" altLang="zh-CN" sz="2800" b="1" dirty="0">
              <a:effectLst>
                <a:outerShdw blurRad="38100" dist="38100" dir="2700000" algn="tl">
                  <a:srgbClr val="C0C0C0"/>
                </a:outerShdw>
              </a:effectLst>
              <a:latin typeface="Arial" charset="0"/>
            </a:endParaRPr>
          </a:p>
          <a:p>
            <a:pPr marL="342900" indent="-342900" eaLnBrk="1" hangingPunct="1">
              <a:spcBef>
                <a:spcPts val="1800"/>
              </a:spcBef>
              <a:buClr>
                <a:schemeClr val="accent1"/>
              </a:buClr>
              <a:buSzPct val="65000"/>
              <a:buFont typeface="Wingdings" pitchFamily="2" charset="2"/>
              <a:buNone/>
              <a:defRPr/>
            </a:pPr>
            <a:r>
              <a:rPr lang="zh-CN" altLang="en-US" sz="2400" b="1" dirty="0">
                <a:solidFill>
                  <a:srgbClr val="0000FF"/>
                </a:solidFill>
                <a:effectLst>
                  <a:outerShdw blurRad="38100" dist="38100" dir="2700000" algn="tl">
                    <a:srgbClr val="C0C0C0"/>
                  </a:outerShdw>
                </a:effectLst>
                <a:latin typeface="Arial" charset="0"/>
              </a:rPr>
              <a:t>（</a:t>
            </a:r>
            <a:r>
              <a:rPr lang="en-US" altLang="zh-CN" sz="2400" b="1" dirty="0">
                <a:solidFill>
                  <a:srgbClr val="0000FF"/>
                </a:solidFill>
                <a:effectLst>
                  <a:outerShdw blurRad="38100" dist="38100" dir="2700000" algn="tl">
                    <a:srgbClr val="C0C0C0"/>
                  </a:outerShdw>
                </a:effectLst>
                <a:latin typeface="Arial" charset="0"/>
              </a:rPr>
              <a:t>1</a:t>
            </a:r>
            <a:r>
              <a:rPr lang="zh-CN" altLang="en-US" sz="2400" b="1" dirty="0">
                <a:solidFill>
                  <a:srgbClr val="0000FF"/>
                </a:solidFill>
                <a:effectLst>
                  <a:outerShdw blurRad="38100" dist="38100" dir="2700000" algn="tl">
                    <a:srgbClr val="C0C0C0"/>
                  </a:outerShdw>
                </a:effectLst>
                <a:latin typeface="Arial" charset="0"/>
              </a:rPr>
              <a:t>）定义</a:t>
            </a:r>
          </a:p>
        </p:txBody>
      </p:sp>
      <p:sp>
        <p:nvSpPr>
          <p:cNvPr id="132121" name="Rectangle 25">
            <a:extLst>
              <a:ext uri="{FF2B5EF4-FFF2-40B4-BE49-F238E27FC236}">
                <a16:creationId xmlns:a16="http://schemas.microsoft.com/office/drawing/2014/main" id="{25B4BED0-8F59-4FF9-832F-3320FE2A0971}"/>
              </a:ext>
            </a:extLst>
          </p:cNvPr>
          <p:cNvSpPr>
            <a:spLocks noChangeArrowheads="1"/>
          </p:cNvSpPr>
          <p:nvPr/>
        </p:nvSpPr>
        <p:spPr bwMode="auto">
          <a:xfrm>
            <a:off x="553484" y="2708747"/>
            <a:ext cx="8137525" cy="1684244"/>
          </a:xfrm>
          <a:prstGeom prst="rect">
            <a:avLst/>
          </a:prstGeom>
          <a:noFill/>
          <a:ln w="9525">
            <a:noFill/>
            <a:miter lim="800000"/>
            <a:headEnd/>
            <a:tailEnd/>
          </a:ln>
          <a:effectLst/>
        </p:spPr>
        <p:txBody>
          <a:bodyPr>
            <a:spAutoFit/>
          </a:bodyPr>
          <a:lstStyle/>
          <a:p>
            <a:pPr eaLnBrk="1" hangingPunct="1">
              <a:lnSpc>
                <a:spcPct val="150000"/>
              </a:lnSpc>
              <a:spcBef>
                <a:spcPct val="20000"/>
              </a:spcBef>
              <a:buClr>
                <a:schemeClr val="accent1"/>
              </a:buClr>
              <a:buSzPct val="65000"/>
              <a:buFont typeface="Wingdings" pitchFamily="2" charset="2"/>
              <a:buNone/>
              <a:defRPr/>
            </a:pPr>
            <a:r>
              <a:rPr lang="zh-CN" altLang="en-US" sz="2400" b="1" dirty="0">
                <a:effectLst>
                  <a:outerShdw blurRad="38100" dist="38100" dir="2700000" algn="tl">
                    <a:srgbClr val="C0C0C0"/>
                  </a:outerShdw>
                </a:effectLst>
                <a:latin typeface="Times New Roman" pitchFamily="18" charset="0"/>
              </a:rPr>
              <a:t>        开源软件是软件著作权人基于自由、开放和共享的理念，通过</a:t>
            </a:r>
            <a:r>
              <a:rPr lang="zh-CN" altLang="en-US" sz="2400" b="1" dirty="0">
                <a:solidFill>
                  <a:srgbClr val="FF0066"/>
                </a:solidFill>
                <a:effectLst>
                  <a:outerShdw blurRad="38100" dist="38100" dir="2700000" algn="tl">
                    <a:srgbClr val="C0C0C0"/>
                  </a:outerShdw>
                </a:effectLst>
                <a:latin typeface="Times New Roman" pitchFamily="18" charset="0"/>
              </a:rPr>
              <a:t>开源软件许可证</a:t>
            </a:r>
            <a:r>
              <a:rPr lang="zh-CN" altLang="en-US" sz="2400" b="1" dirty="0">
                <a:effectLst>
                  <a:outerShdw blurRad="38100" dist="38100" dir="2700000" algn="tl">
                    <a:srgbClr val="C0C0C0"/>
                  </a:outerShdw>
                </a:effectLst>
                <a:latin typeface="Times New Roman" pitchFamily="18" charset="0"/>
              </a:rPr>
              <a:t>的方式授予软件使用者在遵守许可限制条件下，可</a:t>
            </a:r>
            <a:r>
              <a:rPr lang="zh-CN" altLang="en-US" sz="2400" b="1" dirty="0">
                <a:solidFill>
                  <a:srgbClr val="008000"/>
                </a:solidFill>
                <a:effectLst>
                  <a:outerShdw blurRad="38100" dist="38100" dir="2700000" algn="tl">
                    <a:srgbClr val="C0C0C0"/>
                  </a:outerShdw>
                </a:effectLst>
                <a:latin typeface="Times New Roman" pitchFamily="18" charset="0"/>
              </a:rPr>
              <a:t>自由使用、复制、改编、再发布的软件</a:t>
            </a:r>
            <a:r>
              <a:rPr lang="zh-CN" altLang="en-US" sz="2400" b="1" dirty="0">
                <a:effectLst>
                  <a:outerShdw blurRad="38100" dist="38100" dir="2700000" algn="tl">
                    <a:srgbClr val="C0C0C0"/>
                  </a:outerShdw>
                </a:effectLst>
                <a:latin typeface="Times New Roman" pitchFamily="18" charset="0"/>
              </a:rPr>
              <a:t>。</a:t>
            </a:r>
            <a:endParaRPr lang="en-US" altLang="zh-CN" sz="2400" b="1" dirty="0">
              <a:effectLst>
                <a:outerShdw blurRad="38100" dist="38100" dir="2700000" algn="tl">
                  <a:srgbClr val="C0C0C0"/>
                </a:outerShdw>
              </a:effectLst>
              <a:latin typeface="Times New Roman" pitchFamily="18" charset="0"/>
            </a:endParaRPr>
          </a:p>
        </p:txBody>
      </p:sp>
      <p:sp>
        <p:nvSpPr>
          <p:cNvPr id="5" name="Rectangle 17">
            <a:extLst>
              <a:ext uri="{FF2B5EF4-FFF2-40B4-BE49-F238E27FC236}">
                <a16:creationId xmlns:a16="http://schemas.microsoft.com/office/drawing/2014/main" id="{F61C33CE-8D83-4F89-989D-F64BD60E3B86}"/>
              </a:ext>
            </a:extLst>
          </p:cNvPr>
          <p:cNvSpPr>
            <a:spLocks noChangeArrowheads="1"/>
          </p:cNvSpPr>
          <p:nvPr/>
        </p:nvSpPr>
        <p:spPr bwMode="auto">
          <a:xfrm>
            <a:off x="574398" y="476672"/>
            <a:ext cx="8147050" cy="503238"/>
          </a:xfrm>
          <a:prstGeom prst="rect">
            <a:avLst/>
          </a:prstGeom>
          <a:noFill/>
          <a:ln w="9525">
            <a:noFill/>
            <a:miter lim="800000"/>
            <a:headEnd/>
            <a:tailEnd/>
          </a:ln>
        </p:spPr>
        <p:txBody>
          <a:bodyPr/>
          <a:lstStyle/>
          <a:p>
            <a:pPr marL="342900" indent="-342900" algn="ctr" eaLnBrk="1" hangingPunct="1">
              <a:lnSpc>
                <a:spcPct val="150000"/>
              </a:lnSpc>
              <a:spcBef>
                <a:spcPct val="20000"/>
              </a:spcBef>
              <a:buClr>
                <a:schemeClr val="accent1"/>
              </a:buClr>
              <a:buSzPct val="65000"/>
              <a:defRPr/>
            </a:pPr>
            <a:r>
              <a:rPr lang="zh-CN" altLang="en-US" sz="3200" b="1"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第一节  开源软件概述</a:t>
            </a:r>
          </a:p>
          <a:p>
            <a:pPr marL="342900" indent="-342900" algn="ctr" eaLnBrk="1" hangingPunct="1">
              <a:spcBef>
                <a:spcPct val="20000"/>
              </a:spcBef>
              <a:buClr>
                <a:schemeClr val="accent1"/>
              </a:buClr>
              <a:buSzPct val="65000"/>
              <a:defRPr/>
            </a:pPr>
            <a:endParaRPr lang="en-US" altLang="zh-CN" sz="3600" b="1" dirty="0">
              <a:solidFill>
                <a:srgbClr val="004823"/>
              </a:solidFill>
              <a:effectLst>
                <a:outerShdw blurRad="38100" dist="38100" dir="2700000" algn="tl">
                  <a:srgbClr val="C0C0C0"/>
                </a:outerShdw>
              </a:effectLst>
              <a:latin typeface="楷体" pitchFamily="49" charset="-122"/>
              <a:ea typeface="楷体" pitchFamily="49" charset="-122"/>
            </a:endParaRPr>
          </a:p>
        </p:txBody>
      </p:sp>
    </p:spTree>
    <p:extLst>
      <p:ext uri="{BB962C8B-B14F-4D97-AF65-F5344CB8AC3E}">
        <p14:creationId xmlns:p14="http://schemas.microsoft.com/office/powerpoint/2010/main" val="535034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ED4EC8E-93EF-48BF-878C-43FD79DD71C2}" type="slidenum">
              <a:rPr lang="en-US" altLang="zh-CN" smtClean="0">
                <a:latin typeface="Garamond" panose="02020404030301010803" pitchFamily="18" charset="0"/>
              </a:rPr>
              <a:pPr/>
              <a:t>3</a:t>
            </a:fld>
            <a:endParaRPr lang="en-US" altLang="zh-CN">
              <a:latin typeface="Garamond" panose="02020404030301010803" pitchFamily="18" charset="0"/>
            </a:endParaRPr>
          </a:p>
        </p:txBody>
      </p:sp>
      <p:sp>
        <p:nvSpPr>
          <p:cNvPr id="5" name="矩形 4">
            <a:extLst>
              <a:ext uri="{FF2B5EF4-FFF2-40B4-BE49-F238E27FC236}">
                <a16:creationId xmlns:a16="http://schemas.microsoft.com/office/drawing/2014/main" id="{98A8386E-7EF6-415A-B852-578D836A1DA2}"/>
              </a:ext>
            </a:extLst>
          </p:cNvPr>
          <p:cNvSpPr/>
          <p:nvPr/>
        </p:nvSpPr>
        <p:spPr>
          <a:xfrm>
            <a:off x="468313" y="284163"/>
            <a:ext cx="8424862" cy="5521325"/>
          </a:xfrm>
          <a:prstGeom prst="rect">
            <a:avLst/>
          </a:prstGeom>
        </p:spPr>
        <p:txBody>
          <a:bodyPr>
            <a:spAutoFit/>
          </a:bodyPr>
          <a:lstStyle/>
          <a:p>
            <a:pPr marL="342900" indent="-342900" eaLnBrk="1" hangingPunct="1">
              <a:lnSpc>
                <a:spcPct val="150000"/>
              </a:lnSpc>
              <a:spcBef>
                <a:spcPts val="1800"/>
              </a:spcBef>
              <a:buClr>
                <a:schemeClr val="accent1"/>
              </a:buClr>
              <a:buSzPct val="65000"/>
              <a:defRPr/>
            </a:pPr>
            <a:r>
              <a:rPr lang="zh-CN" altLang="en-US" sz="2400" b="1" dirty="0">
                <a:solidFill>
                  <a:srgbClr val="0000FF"/>
                </a:solidFill>
                <a:effectLst>
                  <a:outerShdw blurRad="38100" dist="38100" dir="2700000" algn="tl">
                    <a:srgbClr val="C0C0C0"/>
                  </a:outerShdw>
                </a:effectLst>
                <a:latin typeface="Arial" charset="0"/>
                <a:sym typeface="Wingdings" panose="05000000000000000000" pitchFamily="2" charset="2"/>
              </a:rPr>
              <a:t>（</a:t>
            </a:r>
            <a:r>
              <a:rPr lang="en-US" altLang="zh-CN" sz="2400" b="1" dirty="0">
                <a:solidFill>
                  <a:srgbClr val="0000FF"/>
                </a:solidFill>
                <a:effectLst>
                  <a:outerShdw blurRad="38100" dist="38100" dir="2700000" algn="tl">
                    <a:srgbClr val="C0C0C0"/>
                  </a:outerShdw>
                </a:effectLst>
                <a:latin typeface="Arial" charset="0"/>
                <a:sym typeface="Wingdings" panose="05000000000000000000" pitchFamily="2" charset="2"/>
              </a:rPr>
              <a:t>2</a:t>
            </a:r>
            <a:r>
              <a:rPr lang="zh-CN" altLang="en-US" sz="2400" b="1" dirty="0">
                <a:solidFill>
                  <a:srgbClr val="0000FF"/>
                </a:solidFill>
                <a:effectLst>
                  <a:outerShdw blurRad="38100" dist="38100" dir="2700000" algn="tl">
                    <a:srgbClr val="C0C0C0"/>
                  </a:outerShdw>
                </a:effectLst>
                <a:latin typeface="Arial" charset="0"/>
                <a:sym typeface="Wingdings" panose="05000000000000000000" pitchFamily="2" charset="2"/>
              </a:rPr>
              <a:t>）一些著名开源许可类型</a:t>
            </a:r>
            <a:endParaRPr lang="en-US" altLang="zh-CN" sz="2400" b="1" dirty="0">
              <a:solidFill>
                <a:srgbClr val="0000FF"/>
              </a:solidFill>
              <a:effectLst>
                <a:outerShdw blurRad="38100" dist="38100" dir="2700000" algn="tl">
                  <a:srgbClr val="C0C0C0"/>
                </a:outerShdw>
              </a:effectLst>
              <a:latin typeface="Arial" charset="0"/>
            </a:endParaRPr>
          </a:p>
          <a:p>
            <a:pPr marL="342900" indent="-342900" eaLnBrk="1" hangingPunct="1">
              <a:lnSpc>
                <a:spcPct val="125000"/>
              </a:lnSpc>
              <a:spcBef>
                <a:spcPct val="20000"/>
              </a:spcBef>
              <a:buClr>
                <a:schemeClr val="accent1"/>
              </a:buClr>
              <a:buSzPct val="100000"/>
              <a:buFont typeface="Wingdings" panose="05000000000000000000" pitchFamily="2" charset="2"/>
              <a:buChar char="n"/>
              <a:defRPr/>
            </a:pPr>
            <a:r>
              <a:rPr lang="en-US" altLang="zh-CN" sz="2400" b="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BSD</a:t>
            </a:r>
            <a:r>
              <a:rPr lang="zh-CN" altLang="en-US" sz="2400" b="1" dirty="0">
                <a:solidFill>
                  <a:srgbClr val="FF00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许可 </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它要求版权和著者身份申明； </a:t>
            </a:r>
          </a:p>
          <a:p>
            <a:pPr marL="342900" indent="-342900" eaLnBrk="1" hangingPunct="1">
              <a:lnSpc>
                <a:spcPct val="125000"/>
              </a:lnSpc>
              <a:spcBef>
                <a:spcPct val="20000"/>
              </a:spcBef>
              <a:buClr>
                <a:schemeClr val="accent1"/>
              </a:buClr>
              <a:buSzPct val="100000"/>
              <a:buFont typeface="Wingdings" panose="05000000000000000000" pitchFamily="2" charset="2"/>
              <a:buChar char="n"/>
              <a:defRPr/>
            </a:pPr>
            <a:r>
              <a:rPr lang="en-US" altLang="zh-CN" sz="2400" b="1" dirty="0">
                <a:solidFill>
                  <a:srgbClr val="00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GPL </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通用公共许可</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C0C0C0"/>
                  </a:outerShdw>
                </a:effectLst>
                <a:latin typeface="Times New Roman" panose="02020603050405020304" pitchFamily="18" charset="0"/>
                <a:cs typeface="Times New Roman" panose="02020603050405020304" pitchFamily="18" charset="0"/>
              </a:rPr>
              <a:t>CopyLeft</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 </a:t>
            </a:r>
            <a:endPar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marL="342900" indent="-342900" eaLnBrk="1" hangingPunct="1">
              <a:lnSpc>
                <a:spcPct val="125000"/>
              </a:lnSpc>
              <a:spcBef>
                <a:spcPct val="20000"/>
              </a:spcBef>
              <a:buClr>
                <a:schemeClr val="accent1"/>
              </a:buClr>
              <a:buSzPct val="100000"/>
              <a:buFont typeface="Wingdings" panose="05000000000000000000" pitchFamily="2" charset="2"/>
              <a:buChar char="n"/>
              <a:defRPr/>
            </a:pP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LGPL -- </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库</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次级</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GPL</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。在这个许可证下，库（函数库）可以自由地联接到专有软件； </a:t>
            </a:r>
          </a:p>
          <a:p>
            <a:pPr marL="342900" indent="-342900" eaLnBrk="1" hangingPunct="1">
              <a:lnSpc>
                <a:spcPct val="125000"/>
              </a:lnSpc>
              <a:spcBef>
                <a:spcPct val="20000"/>
              </a:spcBef>
              <a:buClr>
                <a:schemeClr val="accent1"/>
              </a:buClr>
              <a:buSzPct val="100000"/>
              <a:buFont typeface="Wingdings" panose="05000000000000000000" pitchFamily="2" charset="2"/>
              <a:buChar char="n"/>
              <a:defRPr/>
            </a:pP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Artistic</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许可 </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使作者保持对进一步开发的控制；</a:t>
            </a:r>
          </a:p>
          <a:p>
            <a:pPr marL="342900" indent="-342900" eaLnBrk="1" hangingPunct="1">
              <a:lnSpc>
                <a:spcPct val="125000"/>
              </a:lnSpc>
              <a:spcBef>
                <a:spcPct val="20000"/>
              </a:spcBef>
              <a:buClr>
                <a:schemeClr val="accent1"/>
              </a:buClr>
              <a:buSzPct val="100000"/>
              <a:buFont typeface="Wingdings" panose="05000000000000000000" pitchFamily="2" charset="2"/>
              <a:buChar char="n"/>
              <a:defRPr/>
            </a:pP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NPL</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许可 </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基于</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GPL</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精神的新许可证，但是保持了对源码更多的控制和所有权； </a:t>
            </a:r>
          </a:p>
          <a:p>
            <a:pPr marL="342900" indent="-342900" eaLnBrk="1" hangingPunct="1">
              <a:lnSpc>
                <a:spcPct val="125000"/>
              </a:lnSpc>
              <a:spcBef>
                <a:spcPct val="20000"/>
              </a:spcBef>
              <a:buClr>
                <a:schemeClr val="accent1"/>
              </a:buClr>
              <a:buSzPct val="100000"/>
              <a:buFont typeface="Wingdings" panose="05000000000000000000" pitchFamily="2" charset="2"/>
              <a:buChar char="n"/>
              <a:defRPr/>
            </a:pP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公共域（</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Public Domain</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通常用于决定性的算法以鼓励广泛使用，通常由美国政府使用；</a:t>
            </a:r>
          </a:p>
          <a:p>
            <a:pPr>
              <a:defRPr/>
            </a:pPr>
            <a:endParaRPr lang="zh-CN" altLang="en-US" dirty="0">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1F36BB86-9DA3-4FAA-8378-1E0645DAAD67}"/>
              </a:ext>
            </a:extLst>
          </p:cNvPr>
          <p:cNvSpPr/>
          <p:nvPr/>
        </p:nvSpPr>
        <p:spPr>
          <a:xfrm>
            <a:off x="622300" y="5732463"/>
            <a:ext cx="8064500" cy="369887"/>
          </a:xfrm>
          <a:prstGeom prst="rect">
            <a:avLst/>
          </a:prstGeom>
        </p:spPr>
        <p:txBody>
          <a:bodyPr>
            <a:spAutoFit/>
          </a:bodyPr>
          <a:lstStyle/>
          <a:p>
            <a:pPr>
              <a:defRPr/>
            </a:pPr>
            <a:r>
              <a:rPr lang="en-US" altLang="zh-CN" b="1" dirty="0">
                <a:effectLst>
                  <a:outerShdw blurRad="38100" dist="38100" dir="2700000" algn="tl">
                    <a:srgbClr val="C0C0C0"/>
                  </a:outerShdw>
                </a:effectLst>
                <a:latin typeface="Times New Roman" pitchFamily="18" charset="0"/>
              </a:rPr>
              <a:t>! </a:t>
            </a:r>
            <a:r>
              <a:rPr lang="zh-CN" altLang="en-US" b="1" dirty="0">
                <a:effectLst>
                  <a:outerShdw blurRad="38100" dist="38100" dir="2700000" algn="tl">
                    <a:srgbClr val="C0C0C0"/>
                  </a:outerShdw>
                </a:effectLst>
                <a:latin typeface="Times New Roman" pitchFamily="18" charset="0"/>
              </a:rPr>
              <a:t>开源并不等于完全自由使用，有许多不同的开源</a:t>
            </a:r>
            <a:r>
              <a:rPr lang="zh-CN" altLang="en-US" b="1" u="sng" dirty="0">
                <a:solidFill>
                  <a:srgbClr val="FF0000"/>
                </a:solidFill>
                <a:effectLst>
                  <a:outerShdw blurRad="38100" dist="38100" dir="2700000" algn="tl">
                    <a:srgbClr val="C0C0C0"/>
                  </a:outerShdw>
                </a:effectLst>
                <a:latin typeface="Times New Roman" pitchFamily="18" charset="0"/>
              </a:rPr>
              <a:t>软件许可</a:t>
            </a:r>
            <a:r>
              <a:rPr lang="zh-CN" altLang="en-US" b="1" dirty="0">
                <a:effectLst>
                  <a:outerShdw blurRad="38100" dist="38100" dir="2700000" algn="tl">
                    <a:srgbClr val="C0C0C0"/>
                  </a:outerShdw>
                </a:effectLst>
                <a:latin typeface="Times New Roman" pitchFamily="18" charset="0"/>
              </a:rPr>
              <a:t>。</a:t>
            </a:r>
            <a:endParaRPr lang="zh-CN" altLang="en-US" dirty="0"/>
          </a:p>
        </p:txBody>
      </p:sp>
    </p:spTree>
    <p:extLst>
      <p:ext uri="{BB962C8B-B14F-4D97-AF65-F5344CB8AC3E}">
        <p14:creationId xmlns:p14="http://schemas.microsoft.com/office/powerpoint/2010/main" val="4057127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2140CEA-938C-4055-9D02-421CB55D8BCA}" type="slidenum">
              <a:rPr lang="en-US" altLang="zh-CN" smtClean="0">
                <a:latin typeface="Garamond" panose="02020404030301010803" pitchFamily="18" charset="0"/>
              </a:rPr>
              <a:pPr/>
              <a:t>4</a:t>
            </a:fld>
            <a:endParaRPr lang="en-US" altLang="zh-CN">
              <a:latin typeface="Garamond" panose="02020404030301010803" pitchFamily="18" charset="0"/>
            </a:endParaRPr>
          </a:p>
        </p:txBody>
      </p:sp>
      <p:sp>
        <p:nvSpPr>
          <p:cNvPr id="5" name="矩形 4">
            <a:extLst>
              <a:ext uri="{FF2B5EF4-FFF2-40B4-BE49-F238E27FC236}">
                <a16:creationId xmlns:a16="http://schemas.microsoft.com/office/drawing/2014/main" id="{18DB494C-8154-4461-A7F3-460BAADE9AF3}"/>
              </a:ext>
            </a:extLst>
          </p:cNvPr>
          <p:cNvSpPr/>
          <p:nvPr/>
        </p:nvSpPr>
        <p:spPr>
          <a:xfrm>
            <a:off x="611188" y="620713"/>
            <a:ext cx="8075612" cy="5148262"/>
          </a:xfrm>
          <a:prstGeom prst="rect">
            <a:avLst/>
          </a:prstGeom>
        </p:spPr>
        <p:txBody>
          <a:bodyPr>
            <a:spAutoFit/>
          </a:bodyPr>
          <a:lstStyle/>
          <a:p>
            <a:pPr>
              <a:defRPr/>
            </a:pPr>
            <a:r>
              <a:rPr lang="en-US" altLang="zh-CN" sz="2400" b="1" dirty="0" err="1">
                <a:solidFill>
                  <a:srgbClr val="008000"/>
                </a:solidFill>
                <a:effectLst>
                  <a:outerShdw blurRad="38100" dist="38100" dir="2700000" algn="tl">
                    <a:srgbClr val="C0C0C0"/>
                  </a:outerShdw>
                </a:effectLst>
                <a:latin typeface="Arial" charset="0"/>
              </a:rPr>
              <a:t>i</a:t>
            </a:r>
            <a:r>
              <a:rPr lang="en-US" altLang="zh-CN" sz="2400" b="1" dirty="0">
                <a:solidFill>
                  <a:srgbClr val="008000"/>
                </a:solidFill>
                <a:effectLst>
                  <a:outerShdw blurRad="38100" dist="38100" dir="2700000" algn="tl">
                    <a:srgbClr val="C0C0C0"/>
                  </a:outerShdw>
                </a:effectLst>
                <a:latin typeface="Arial" charset="0"/>
              </a:rPr>
              <a:t>&gt; </a:t>
            </a:r>
            <a:r>
              <a:rPr lang="zh-CN" altLang="en-US" sz="2400" b="1" dirty="0">
                <a:solidFill>
                  <a:srgbClr val="008000"/>
                </a:solidFill>
                <a:effectLst>
                  <a:outerShdw blurRad="38100" dist="38100" dir="2700000" algn="tl">
                    <a:srgbClr val="C0C0C0"/>
                  </a:outerShdw>
                </a:effectLst>
                <a:latin typeface="Arial" charset="0"/>
              </a:rPr>
              <a:t>使用开源代码的程序必须公开源代码</a:t>
            </a:r>
            <a:endParaRPr lang="en-US" altLang="zh-CN" sz="2400" b="1" dirty="0">
              <a:solidFill>
                <a:srgbClr val="008000"/>
              </a:solidFill>
              <a:effectLst>
                <a:outerShdw blurRad="38100" dist="38100" dir="2700000" algn="tl">
                  <a:srgbClr val="C0C0C0"/>
                </a:outerShdw>
              </a:effectLst>
              <a:latin typeface="Arial" charset="0"/>
            </a:endParaRPr>
          </a:p>
          <a:p>
            <a:pPr eaLnBrk="1" hangingPunct="1">
              <a:lnSpc>
                <a:spcPct val="125000"/>
              </a:lnSpc>
              <a:spcBef>
                <a:spcPts val="1200"/>
              </a:spcBef>
              <a:buClr>
                <a:schemeClr val="accent1"/>
              </a:buClr>
              <a:buSzPct val="65000"/>
              <a:defRPr/>
            </a:pPr>
            <a:r>
              <a:rPr lang="zh-CN" altLang="en-US" sz="2400" b="1" dirty="0">
                <a:effectLst>
                  <a:outerShdw blurRad="38100" dist="38100" dir="2700000" algn="tl">
                    <a:srgbClr val="C0C0C0"/>
                  </a:outerShdw>
                </a:effectLst>
                <a:latin typeface="Times New Roman" pitchFamily="18" charset="0"/>
              </a:rPr>
              <a:t>        这类开源软件许可证最为严苛，要求任何使用该开源代码的程序在再发布时，必须将其源代码以相同的许可证公开，典型代表是 </a:t>
            </a:r>
            <a:r>
              <a:rPr lang="en-US" altLang="zh-CN" sz="2400" b="1" dirty="0">
                <a:effectLst>
                  <a:outerShdw blurRad="38100" dist="38100" dir="2700000" algn="tl">
                    <a:srgbClr val="C0C0C0"/>
                  </a:outerShdw>
                </a:effectLst>
                <a:latin typeface="Times New Roman" pitchFamily="18" charset="0"/>
              </a:rPr>
              <a:t>GPL </a:t>
            </a:r>
            <a:r>
              <a:rPr lang="zh-CN" altLang="en-US" sz="2400" b="1" dirty="0">
                <a:effectLst>
                  <a:outerShdw blurRad="38100" dist="38100" dir="2700000" algn="tl">
                    <a:srgbClr val="C0C0C0"/>
                  </a:outerShdw>
                </a:effectLst>
                <a:latin typeface="Times New Roman" pitchFamily="18" charset="0"/>
              </a:rPr>
              <a:t>许可证的三个版本，包括：</a:t>
            </a:r>
            <a:r>
              <a:rPr lang="en-US" altLang="zh-CN" sz="2400" b="1" dirty="0">
                <a:effectLst>
                  <a:outerShdw blurRad="38100" dist="38100" dir="2700000" algn="tl">
                    <a:srgbClr val="C0C0C0"/>
                  </a:outerShdw>
                </a:effectLst>
                <a:latin typeface="Times New Roman" pitchFamily="18" charset="0"/>
              </a:rPr>
              <a:t>GPLv1 </a:t>
            </a:r>
            <a:r>
              <a:rPr lang="zh-CN" altLang="en-US" sz="2400" b="1" dirty="0">
                <a:effectLst>
                  <a:outerShdw blurRad="38100" dist="38100" dir="2700000" algn="tl">
                    <a:srgbClr val="C0C0C0"/>
                  </a:outerShdw>
                </a:effectLst>
                <a:latin typeface="Times New Roman" pitchFamily="18" charset="0"/>
              </a:rPr>
              <a:t>许可证、</a:t>
            </a:r>
            <a:r>
              <a:rPr lang="en-US" altLang="zh-CN" sz="2400" b="1" dirty="0">
                <a:effectLst>
                  <a:outerShdw blurRad="38100" dist="38100" dir="2700000" algn="tl">
                    <a:srgbClr val="C0C0C0"/>
                  </a:outerShdw>
                </a:effectLst>
                <a:latin typeface="Times New Roman" pitchFamily="18" charset="0"/>
              </a:rPr>
              <a:t>GPLv2 </a:t>
            </a:r>
            <a:r>
              <a:rPr lang="zh-CN" altLang="en-US" sz="2400" b="1" dirty="0">
                <a:effectLst>
                  <a:outerShdw blurRad="38100" dist="38100" dir="2700000" algn="tl">
                    <a:srgbClr val="C0C0C0"/>
                  </a:outerShdw>
                </a:effectLst>
                <a:latin typeface="Times New Roman" pitchFamily="18" charset="0"/>
              </a:rPr>
              <a:t>许可证和 </a:t>
            </a:r>
            <a:r>
              <a:rPr lang="en-US" altLang="zh-CN" sz="2400" b="1" dirty="0">
                <a:effectLst>
                  <a:outerShdw blurRad="38100" dist="38100" dir="2700000" algn="tl">
                    <a:srgbClr val="C0C0C0"/>
                  </a:outerShdw>
                </a:effectLst>
                <a:latin typeface="Times New Roman" pitchFamily="18" charset="0"/>
              </a:rPr>
              <a:t>GPLv3 </a:t>
            </a:r>
            <a:r>
              <a:rPr lang="zh-CN" altLang="en-US" sz="2400" b="1" dirty="0">
                <a:effectLst>
                  <a:outerShdw blurRad="38100" dist="38100" dir="2700000" algn="tl">
                    <a:srgbClr val="C0C0C0"/>
                  </a:outerShdw>
                </a:effectLst>
                <a:latin typeface="Times New Roman" pitchFamily="18" charset="0"/>
              </a:rPr>
              <a:t>许可证。</a:t>
            </a:r>
          </a:p>
          <a:p>
            <a:pPr>
              <a:defRPr/>
            </a:pPr>
            <a:endParaRPr lang="en-US" altLang="zh-CN" sz="2400" b="1" dirty="0">
              <a:solidFill>
                <a:srgbClr val="008000"/>
              </a:solidFill>
              <a:effectLst>
                <a:outerShdw blurRad="38100" dist="38100" dir="2700000" algn="tl">
                  <a:srgbClr val="C0C0C0"/>
                </a:outerShdw>
              </a:effectLst>
              <a:latin typeface="Arial" charset="0"/>
            </a:endParaRPr>
          </a:p>
          <a:p>
            <a:pPr>
              <a:defRPr/>
            </a:pPr>
            <a:r>
              <a:rPr lang="en-US" altLang="zh-CN" sz="2400" b="1" dirty="0">
                <a:solidFill>
                  <a:schemeClr val="accent1">
                    <a:lumMod val="50000"/>
                  </a:schemeClr>
                </a:solidFill>
                <a:effectLst>
                  <a:outerShdw blurRad="38100" dist="38100" dir="2700000" algn="tl">
                    <a:srgbClr val="C0C0C0"/>
                  </a:outerShdw>
                </a:effectLst>
                <a:latin typeface="Arial" charset="0"/>
              </a:rPr>
              <a:t>GPL</a:t>
            </a:r>
            <a:r>
              <a:rPr lang="zh-CN" altLang="en-US" sz="2400" b="1" dirty="0">
                <a:solidFill>
                  <a:schemeClr val="accent1">
                    <a:lumMod val="50000"/>
                  </a:schemeClr>
                </a:solidFill>
                <a:effectLst>
                  <a:outerShdw blurRad="38100" dist="38100" dir="2700000" algn="tl">
                    <a:srgbClr val="C0C0C0"/>
                  </a:outerShdw>
                </a:effectLst>
                <a:latin typeface="Arial" charset="0"/>
              </a:rPr>
              <a:t>许可证：</a:t>
            </a:r>
            <a:r>
              <a:rPr lang="en-US" altLang="zh-CN" sz="2400" b="1" dirty="0">
                <a:effectLst>
                  <a:outerShdw blurRad="38100" dist="38100" dir="2700000" algn="tl">
                    <a:srgbClr val="C0C0C0"/>
                  </a:outerShdw>
                </a:effectLst>
                <a:latin typeface="Times New Roman" pitchFamily="18" charset="0"/>
              </a:rPr>
              <a:t>General Public License</a:t>
            </a:r>
            <a:r>
              <a:rPr lang="zh-CN" altLang="en-US" sz="2400" b="1" dirty="0">
                <a:effectLst>
                  <a:outerShdw blurRad="38100" dist="38100" dir="2700000" algn="tl">
                    <a:srgbClr val="C0C0C0"/>
                  </a:outerShdw>
                </a:effectLst>
                <a:latin typeface="Times New Roman" pitchFamily="18" charset="0"/>
              </a:rPr>
              <a:t>（</a:t>
            </a:r>
            <a:r>
              <a:rPr lang="en-US" altLang="zh-CN" sz="2400" b="1" dirty="0">
                <a:effectLst>
                  <a:outerShdw blurRad="38100" dist="38100" dir="2700000" algn="tl">
                    <a:srgbClr val="C0C0C0"/>
                  </a:outerShdw>
                </a:effectLst>
                <a:latin typeface="Times New Roman" pitchFamily="18" charset="0"/>
              </a:rPr>
              <a:t>GPL</a:t>
            </a:r>
            <a:r>
              <a:rPr lang="zh-CN" altLang="en-US" sz="2400" b="1" dirty="0">
                <a:effectLst>
                  <a:outerShdw blurRad="38100" dist="38100" dir="2700000" algn="tl">
                    <a:srgbClr val="C0C0C0"/>
                  </a:outerShdw>
                </a:effectLst>
                <a:latin typeface="Times New Roman" pitchFamily="18" charset="0"/>
              </a:rPr>
              <a:t>）</a:t>
            </a:r>
            <a:endParaRPr lang="en-US" altLang="zh-CN" sz="2400" b="1" dirty="0">
              <a:effectLst>
                <a:outerShdw blurRad="38100" dist="38100" dir="2700000" algn="tl">
                  <a:srgbClr val="C0C0C0"/>
                </a:outerShdw>
              </a:effectLst>
              <a:latin typeface="Times New Roman" pitchFamily="18" charset="0"/>
            </a:endParaRPr>
          </a:p>
          <a:p>
            <a:pPr eaLnBrk="1" hangingPunct="1">
              <a:lnSpc>
                <a:spcPct val="125000"/>
              </a:lnSpc>
              <a:spcBef>
                <a:spcPct val="20000"/>
              </a:spcBef>
              <a:buClr>
                <a:schemeClr val="accent1"/>
              </a:buClr>
              <a:buSzPct val="65000"/>
              <a:defRPr/>
            </a:pPr>
            <a:r>
              <a:rPr lang="zh-CN" altLang="en-US" sz="2400" b="1" dirty="0">
                <a:effectLst>
                  <a:outerShdw blurRad="38100" dist="38100" dir="2700000" algn="tl">
                    <a:srgbClr val="C0C0C0"/>
                  </a:outerShdw>
                </a:effectLst>
                <a:latin typeface="Times New Roman" pitchFamily="18" charset="0"/>
              </a:rPr>
              <a:t>                        通用公共许可证</a:t>
            </a:r>
            <a:endParaRPr lang="en-US" altLang="zh-CN" sz="2400" b="1" dirty="0">
              <a:effectLst>
                <a:outerShdw blurRad="38100" dist="38100" dir="2700000" algn="tl">
                  <a:srgbClr val="C0C0C0"/>
                </a:outerShdw>
              </a:effectLst>
              <a:latin typeface="Times New Roman" pitchFamily="18" charset="0"/>
            </a:endParaRPr>
          </a:p>
          <a:p>
            <a:pPr eaLnBrk="1" hangingPunct="1">
              <a:lnSpc>
                <a:spcPct val="125000"/>
              </a:lnSpc>
              <a:spcBef>
                <a:spcPct val="20000"/>
              </a:spcBef>
              <a:buClr>
                <a:schemeClr val="accent1"/>
              </a:buClr>
              <a:buSzPct val="65000"/>
              <a:defRPr/>
            </a:pPr>
            <a:r>
              <a:rPr lang="en-US" altLang="zh-CN" sz="2400" b="1" dirty="0">
                <a:effectLst>
                  <a:outerShdw blurRad="38100" dist="38100" dir="2700000" algn="tl">
                    <a:srgbClr val="C0C0C0"/>
                  </a:outerShdw>
                </a:effectLst>
                <a:latin typeface="Times New Roman" pitchFamily="18" charset="0"/>
              </a:rPr>
              <a:t>       </a:t>
            </a:r>
            <a:r>
              <a:rPr lang="zh-CN" altLang="en-US" sz="2400" b="1" dirty="0">
                <a:effectLst>
                  <a:outerShdw blurRad="38100" dist="38100" dir="2700000" algn="tl">
                    <a:srgbClr val="C0C0C0"/>
                  </a:outerShdw>
                </a:effectLst>
                <a:latin typeface="Times New Roman" pitchFamily="18" charset="0"/>
              </a:rPr>
              <a:t>是自由软件联盟（</a:t>
            </a:r>
            <a:r>
              <a:rPr lang="en-US" altLang="zh-CN" sz="2400" b="1" dirty="0">
                <a:effectLst>
                  <a:outerShdw blurRad="38100" dist="38100" dir="2700000" algn="tl">
                    <a:srgbClr val="C0C0C0"/>
                  </a:outerShdw>
                </a:effectLst>
                <a:latin typeface="Times New Roman" pitchFamily="18" charset="0"/>
              </a:rPr>
              <a:t>GNU</a:t>
            </a:r>
            <a:r>
              <a:rPr lang="zh-CN" altLang="en-US" sz="2400" b="1" dirty="0">
                <a:effectLst>
                  <a:outerShdw blurRad="38100" dist="38100" dir="2700000" algn="tl">
                    <a:srgbClr val="C0C0C0"/>
                  </a:outerShdw>
                </a:effectLst>
                <a:latin typeface="Times New Roman" pitchFamily="18" charset="0"/>
              </a:rPr>
              <a:t>）的开放源码软件许可证的一种，是开放源码软件领域最富盛名的一种许可证。它集中体现了纯粹的</a:t>
            </a:r>
            <a:r>
              <a:rPr lang="en-US" altLang="zh-CN" sz="2400" b="1" dirty="0" err="1">
                <a:effectLst>
                  <a:outerShdw blurRad="38100" dist="38100" dir="2700000" algn="tl">
                    <a:srgbClr val="C0C0C0"/>
                  </a:outerShdw>
                </a:effectLst>
                <a:latin typeface="Times New Roman" pitchFamily="18" charset="0"/>
              </a:rPr>
              <a:t>Copyleft</a:t>
            </a:r>
            <a:r>
              <a:rPr lang="zh-CN" altLang="en-US" sz="2400" b="1" dirty="0">
                <a:effectLst>
                  <a:outerShdw blurRad="38100" dist="38100" dir="2700000" algn="tl">
                    <a:srgbClr val="C0C0C0"/>
                  </a:outerShdw>
                </a:effectLst>
                <a:latin typeface="Times New Roman" pitchFamily="18" charset="0"/>
              </a:rPr>
              <a:t>精神。</a:t>
            </a:r>
          </a:p>
        </p:txBody>
      </p:sp>
      <p:sp>
        <p:nvSpPr>
          <p:cNvPr id="16388" name="矩形 1"/>
          <p:cNvSpPr>
            <a:spLocks noChangeArrowheads="1"/>
          </p:cNvSpPr>
          <p:nvPr/>
        </p:nvSpPr>
        <p:spPr bwMode="auto">
          <a:xfrm>
            <a:off x="-3349625" y="4221163"/>
            <a:ext cx="8208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extLst>
      <p:ext uri="{BB962C8B-B14F-4D97-AF65-F5344CB8AC3E}">
        <p14:creationId xmlns:p14="http://schemas.microsoft.com/office/powerpoint/2010/main" val="1361760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08B1F1D-D87C-43B7-A03A-E06FCCD066D7}" type="slidenum">
              <a:rPr lang="en-US" altLang="zh-CN" smtClean="0">
                <a:latin typeface="Garamond" panose="02020404030301010803" pitchFamily="18" charset="0"/>
              </a:rPr>
              <a:pPr/>
              <a:t>5</a:t>
            </a:fld>
            <a:endParaRPr lang="en-US" altLang="zh-CN">
              <a:latin typeface="Garamond" panose="02020404030301010803" pitchFamily="18" charset="0"/>
            </a:endParaRPr>
          </a:p>
        </p:txBody>
      </p:sp>
      <p:sp>
        <p:nvSpPr>
          <p:cNvPr id="5" name="矩形 4">
            <a:extLst>
              <a:ext uri="{FF2B5EF4-FFF2-40B4-BE49-F238E27FC236}">
                <a16:creationId xmlns:a16="http://schemas.microsoft.com/office/drawing/2014/main" id="{6698E6BE-127A-4188-90C1-C4C15E2F5E75}"/>
              </a:ext>
            </a:extLst>
          </p:cNvPr>
          <p:cNvSpPr/>
          <p:nvPr/>
        </p:nvSpPr>
        <p:spPr>
          <a:xfrm>
            <a:off x="539750" y="549275"/>
            <a:ext cx="7920038" cy="2400300"/>
          </a:xfrm>
          <a:prstGeom prst="rect">
            <a:avLst/>
          </a:prstGeom>
          <a:ln w="28575">
            <a:solidFill>
              <a:srgbClr val="00CC00"/>
            </a:solid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25000"/>
              </a:lnSpc>
              <a:spcBef>
                <a:spcPts val="1200"/>
              </a:spcBef>
              <a:defRPr/>
            </a:pPr>
            <a:r>
              <a:rPr lang="en-US" altLang="zh-CN" sz="2400" b="1" u="sng">
                <a:solidFill>
                  <a:srgbClr val="FF0066"/>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Copyleft</a:t>
            </a:r>
            <a:r>
              <a:rPr lang="zh-CN" altLang="en-US" sz="2400" b="1" u="sng">
                <a:solidFill>
                  <a:srgbClr val="FF0066"/>
                </a:solidFill>
                <a:effectLst>
                  <a:outerShdw blurRad="38100" dist="38100" dir="2700000" algn="tl">
                    <a:srgbClr val="C0C0C0"/>
                  </a:outerShdw>
                </a:effectLst>
                <a:latin typeface="黑体" panose="02010609060101010101" pitchFamily="49" charset="-122"/>
                <a:ea typeface="黑体" panose="02010609060101010101" pitchFamily="49" charset="-122"/>
                <a:cs typeface="Times New Roman" panose="02020603050405020304" pitchFamily="18" charset="0"/>
              </a:rPr>
              <a:t>规则：</a:t>
            </a:r>
            <a:r>
              <a:rPr lang="zh-CN" altLang="en-US"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是一种全新的版权许可模式，目的在于促进和保障自由软件的传播和发展，其内涵在于在承认传统版权的前提下，将复制权、发行权、修改权等权利通过</a:t>
            </a:r>
            <a:r>
              <a:rPr lang="en-US" altLang="zh-CN"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GPL</a:t>
            </a:r>
            <a:r>
              <a:rPr lang="zh-CN" altLang="en-US"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许可证的方式释放给社会公众，任何从</a:t>
            </a:r>
            <a:r>
              <a:rPr lang="en-US" altLang="zh-CN"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copyleft</a:t>
            </a:r>
            <a:r>
              <a:rPr lang="zh-CN" altLang="en-US"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许可衍生出的软件作品同样必须遵守</a:t>
            </a:r>
            <a:r>
              <a:rPr lang="en-US" altLang="zh-CN"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copyleft</a:t>
            </a:r>
            <a:r>
              <a:rPr lang="zh-CN" altLang="en-US" sz="2400" b="1">
                <a:solidFill>
                  <a:srgbClr val="666666"/>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许可的规定。</a:t>
            </a:r>
            <a:endParaRPr lang="zh-CN" altLang="en-US" sz="2400" b="1">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Rectangle 1">
            <a:extLst>
              <a:ext uri="{FF2B5EF4-FFF2-40B4-BE49-F238E27FC236}">
                <a16:creationId xmlns:a16="http://schemas.microsoft.com/office/drawing/2014/main" id="{20380D51-D429-484C-8630-A4F793296CB9}"/>
              </a:ext>
            </a:extLst>
          </p:cNvPr>
          <p:cNvSpPr>
            <a:spLocks noChangeArrowheads="1"/>
          </p:cNvSpPr>
          <p:nvPr/>
        </p:nvSpPr>
        <p:spPr bwMode="auto">
          <a:xfrm>
            <a:off x="511175" y="3284538"/>
            <a:ext cx="794861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defRPr/>
            </a:pP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自由软件授权模式</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copyleft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与传统版权</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(copyright)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9997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6AD6B05-7D5A-49F3-9A68-9C027CC52CC7}" type="slidenum">
              <a:rPr lang="en-US" altLang="zh-CN" smtClean="0">
                <a:latin typeface="Garamond" panose="02020404030301010803" pitchFamily="18" charset="0"/>
              </a:rPr>
              <a:pPr/>
              <a:t>6</a:t>
            </a:fld>
            <a:endParaRPr lang="en-US" altLang="zh-CN">
              <a:latin typeface="Garamond" panose="02020404030301010803" pitchFamily="18" charset="0"/>
            </a:endParaRPr>
          </a:p>
        </p:txBody>
      </p:sp>
      <p:sp>
        <p:nvSpPr>
          <p:cNvPr id="5" name="矩形 4">
            <a:extLst>
              <a:ext uri="{FF2B5EF4-FFF2-40B4-BE49-F238E27FC236}">
                <a16:creationId xmlns:a16="http://schemas.microsoft.com/office/drawing/2014/main" id="{18DB494C-8154-4461-A7F3-460BAADE9AF3}"/>
              </a:ext>
            </a:extLst>
          </p:cNvPr>
          <p:cNvSpPr/>
          <p:nvPr/>
        </p:nvSpPr>
        <p:spPr>
          <a:xfrm>
            <a:off x="611188" y="620713"/>
            <a:ext cx="8075612" cy="3446462"/>
          </a:xfrm>
          <a:prstGeom prst="rect">
            <a:avLst/>
          </a:prstGeom>
        </p:spPr>
        <p:txBody>
          <a:bodyPr>
            <a:spAutoFit/>
          </a:bodyPr>
          <a:lstStyle/>
          <a:p>
            <a:pPr>
              <a:defRPr/>
            </a:pPr>
            <a:r>
              <a:rPr lang="en-US" altLang="zh-CN" sz="2400" b="1" dirty="0">
                <a:solidFill>
                  <a:srgbClr val="008000"/>
                </a:solidFill>
                <a:effectLst>
                  <a:outerShdw blurRad="38100" dist="38100" dir="2700000" algn="tl">
                    <a:srgbClr val="C0C0C0"/>
                  </a:outerShdw>
                </a:effectLst>
                <a:latin typeface="Arial" charset="0"/>
              </a:rPr>
              <a:t>ii&gt; </a:t>
            </a:r>
            <a:r>
              <a:rPr lang="zh-CN" altLang="en-US" sz="2400" b="1" dirty="0">
                <a:solidFill>
                  <a:srgbClr val="008000"/>
                </a:solidFill>
                <a:effectLst>
                  <a:outerShdw blurRad="38100" dist="38100" dir="2700000" algn="tl">
                    <a:srgbClr val="C0C0C0"/>
                  </a:outerShdw>
                </a:effectLst>
                <a:latin typeface="Arial" charset="0"/>
              </a:rPr>
              <a:t>使用并且修改开源代码的程序必须公开源代码</a:t>
            </a:r>
            <a:endParaRPr lang="en-US" altLang="zh-CN" sz="2400" b="1" dirty="0">
              <a:solidFill>
                <a:srgbClr val="008000"/>
              </a:solidFill>
              <a:effectLst>
                <a:outerShdw blurRad="38100" dist="38100" dir="2700000" algn="tl">
                  <a:srgbClr val="C0C0C0"/>
                </a:outerShdw>
              </a:effectLst>
              <a:latin typeface="Arial" charset="0"/>
            </a:endParaRPr>
          </a:p>
          <a:p>
            <a:pPr eaLnBrk="1" hangingPunct="1">
              <a:lnSpc>
                <a:spcPct val="125000"/>
              </a:lnSpc>
              <a:spcBef>
                <a:spcPts val="3000"/>
              </a:spcBef>
              <a:buClr>
                <a:schemeClr val="accent1"/>
              </a:buClr>
              <a:buSzPct val="65000"/>
              <a:defRPr/>
            </a:pPr>
            <a:r>
              <a:rPr lang="en-US" altLang="zh-CN" sz="2400" b="1" dirty="0">
                <a:effectLst>
                  <a:outerShdw blurRad="38100" dist="38100" dir="2700000" algn="tl">
                    <a:srgbClr val="C0C0C0"/>
                  </a:outerShdw>
                </a:effectLst>
                <a:latin typeface="Times New Roman" pitchFamily="18" charset="0"/>
              </a:rPr>
              <a:t>        </a:t>
            </a:r>
            <a:r>
              <a:rPr lang="zh-CN" altLang="en-US" sz="2400" b="1" dirty="0">
                <a:effectLst>
                  <a:outerShdw blurRad="38100" dist="38100" dir="2700000" algn="tl">
                    <a:srgbClr val="C0C0C0"/>
                  </a:outerShdw>
                </a:effectLst>
                <a:latin typeface="Times New Roman" pitchFamily="18" charset="0"/>
              </a:rPr>
              <a:t>这类开源软件许可证与上述 </a:t>
            </a:r>
            <a:r>
              <a:rPr lang="en-US" altLang="zh-CN" sz="2400" b="1" dirty="0">
                <a:effectLst>
                  <a:outerShdw blurRad="38100" dist="38100" dir="2700000" algn="tl">
                    <a:srgbClr val="C0C0C0"/>
                  </a:outerShdw>
                </a:effectLst>
                <a:latin typeface="Times New Roman" pitchFamily="18" charset="0"/>
              </a:rPr>
              <a:t>GPL </a:t>
            </a:r>
            <a:r>
              <a:rPr lang="zh-CN" altLang="en-US" sz="2400" b="1" dirty="0">
                <a:effectLst>
                  <a:outerShdw blurRad="38100" dist="38100" dir="2700000" algn="tl">
                    <a:srgbClr val="C0C0C0"/>
                  </a:outerShdw>
                </a:effectLst>
                <a:latin typeface="Times New Roman" pitchFamily="18" charset="0"/>
              </a:rPr>
              <a:t>开源软件许可证相比较为宽松，规定使用并且修改了该开源代码的程序在再发布时，必须将其源代码以相同的许可证公开，但新增代码不需要采用同样的许可证发布。</a:t>
            </a:r>
            <a:endParaRPr lang="en-US" altLang="zh-CN" sz="2400" b="1" dirty="0">
              <a:solidFill>
                <a:srgbClr val="008000"/>
              </a:solidFill>
              <a:effectLst>
                <a:outerShdw blurRad="38100" dist="38100" dir="2700000" algn="tl">
                  <a:srgbClr val="C0C0C0"/>
                </a:outerShdw>
              </a:effectLst>
              <a:latin typeface="Arial" charset="0"/>
            </a:endParaRPr>
          </a:p>
          <a:p>
            <a:pPr>
              <a:spcBef>
                <a:spcPts val="3000"/>
              </a:spcBef>
              <a:defRPr/>
            </a:pPr>
            <a:r>
              <a:rPr lang="en-US" altLang="zh-CN" sz="2400" b="1" dirty="0">
                <a:solidFill>
                  <a:schemeClr val="accent1">
                    <a:lumMod val="50000"/>
                  </a:schemeClr>
                </a:solidFill>
                <a:effectLst>
                  <a:outerShdw blurRad="38100" dist="38100" dir="2700000" algn="tl">
                    <a:srgbClr val="C0C0C0"/>
                  </a:outerShdw>
                </a:effectLst>
                <a:latin typeface="Arial" charset="0"/>
              </a:rPr>
              <a:t>LGPL</a:t>
            </a:r>
            <a:r>
              <a:rPr lang="zh-CN" altLang="en-US" sz="2400" b="1" dirty="0">
                <a:solidFill>
                  <a:schemeClr val="accent1">
                    <a:lumMod val="50000"/>
                  </a:schemeClr>
                </a:solidFill>
                <a:effectLst>
                  <a:outerShdw blurRad="38100" dist="38100" dir="2700000" algn="tl">
                    <a:srgbClr val="C0C0C0"/>
                  </a:outerShdw>
                </a:effectLst>
                <a:latin typeface="Arial" charset="0"/>
              </a:rPr>
              <a:t>许可证：</a:t>
            </a:r>
            <a:r>
              <a:rPr lang="en-US" altLang="zh-CN" sz="2400" b="1" dirty="0">
                <a:effectLst>
                  <a:outerShdw blurRad="38100" dist="38100" dir="2700000" algn="tl">
                    <a:srgbClr val="C0C0C0"/>
                  </a:outerShdw>
                </a:effectLst>
                <a:latin typeface="Times New Roman" pitchFamily="18" charset="0"/>
              </a:rPr>
              <a:t>Lesser General Public License</a:t>
            </a:r>
            <a:endParaRPr lang="zh-CN" altLang="en-US" sz="2400" b="1" dirty="0">
              <a:effectLst>
                <a:outerShdw blurRad="38100" dist="38100" dir="2700000" algn="tl">
                  <a:srgbClr val="C0C0C0"/>
                </a:outerShdw>
              </a:effectLst>
              <a:latin typeface="Times New Roman" pitchFamily="18" charset="0"/>
            </a:endParaRPr>
          </a:p>
        </p:txBody>
      </p:sp>
      <p:sp>
        <p:nvSpPr>
          <p:cNvPr id="20484" name="矩形 1"/>
          <p:cNvSpPr>
            <a:spLocks noChangeArrowheads="1"/>
          </p:cNvSpPr>
          <p:nvPr/>
        </p:nvSpPr>
        <p:spPr bwMode="auto">
          <a:xfrm>
            <a:off x="-3349625" y="4221163"/>
            <a:ext cx="82089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extLst>
      <p:ext uri="{BB962C8B-B14F-4D97-AF65-F5344CB8AC3E}">
        <p14:creationId xmlns:p14="http://schemas.microsoft.com/office/powerpoint/2010/main" val="2287714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2641440-645E-437E-81A5-E064E0ECC100}" type="slidenum">
              <a:rPr lang="en-US" altLang="zh-CN" smtClean="0">
                <a:latin typeface="Garamond" panose="02020404030301010803" pitchFamily="18" charset="0"/>
              </a:rPr>
              <a:pPr/>
              <a:t>7</a:t>
            </a:fld>
            <a:endParaRPr lang="en-US" altLang="zh-CN">
              <a:latin typeface="Garamond" panose="02020404030301010803" pitchFamily="18" charset="0"/>
            </a:endParaRPr>
          </a:p>
        </p:txBody>
      </p:sp>
      <p:sp>
        <p:nvSpPr>
          <p:cNvPr id="5" name="矩形 4">
            <a:extLst>
              <a:ext uri="{FF2B5EF4-FFF2-40B4-BE49-F238E27FC236}">
                <a16:creationId xmlns:a16="http://schemas.microsoft.com/office/drawing/2014/main" id="{A617A477-E2F6-467B-A40C-4B452783E3FE}"/>
              </a:ext>
            </a:extLst>
          </p:cNvPr>
          <p:cNvSpPr/>
          <p:nvPr/>
        </p:nvSpPr>
        <p:spPr>
          <a:xfrm>
            <a:off x="395288" y="476250"/>
            <a:ext cx="8424862" cy="5276850"/>
          </a:xfrm>
          <a:prstGeom prst="rect">
            <a:avLst/>
          </a:prstGeom>
        </p:spPr>
        <p:txBody>
          <a:bodyPr>
            <a:spAutoFit/>
          </a:bodyPr>
          <a:lstStyle/>
          <a:p>
            <a:pPr eaLnBrk="1" hangingPunct="1">
              <a:lnSpc>
                <a:spcPct val="125000"/>
              </a:lnSpc>
              <a:spcBef>
                <a:spcPts val="1200"/>
              </a:spcBef>
              <a:buClr>
                <a:schemeClr val="accent1"/>
              </a:buClr>
              <a:buSzPct val="65000"/>
              <a:defRPr/>
            </a:pPr>
            <a:r>
              <a:rPr lang="en-US" altLang="zh-CN" sz="2400" b="1" dirty="0">
                <a:solidFill>
                  <a:srgbClr val="008000"/>
                </a:solidFill>
                <a:effectLst>
                  <a:outerShdw blurRad="38100" dist="38100" dir="2700000" algn="tl">
                    <a:srgbClr val="C0C0C0"/>
                  </a:outerShdw>
                </a:effectLst>
                <a:latin typeface="Arial" charset="0"/>
              </a:rPr>
              <a:t>iii&gt;</a:t>
            </a:r>
            <a:r>
              <a:rPr lang="zh-CN" altLang="en-US" sz="2400" b="1" dirty="0">
                <a:solidFill>
                  <a:srgbClr val="008000"/>
                </a:solidFill>
                <a:effectLst>
                  <a:outerShdw blurRad="38100" dist="38100" dir="2700000" algn="tl">
                    <a:srgbClr val="C0C0C0"/>
                  </a:outerShdw>
                </a:effectLst>
                <a:latin typeface="Arial" charset="0"/>
              </a:rPr>
              <a:t>使用或修改开源代码的程序不强制公开源代码</a:t>
            </a:r>
          </a:p>
          <a:p>
            <a:pPr eaLnBrk="1" hangingPunct="1">
              <a:lnSpc>
                <a:spcPct val="125000"/>
              </a:lnSpc>
              <a:spcBef>
                <a:spcPts val="1200"/>
              </a:spcBef>
              <a:buClr>
                <a:schemeClr val="accent1"/>
              </a:buClr>
              <a:buSzPct val="65000"/>
              <a:defRPr/>
            </a:pPr>
            <a:r>
              <a:rPr lang="en-US" altLang="zh-CN" sz="2400" b="1" dirty="0">
                <a:solidFill>
                  <a:srgbClr val="FF0000"/>
                </a:solidFill>
                <a:effectLst>
                  <a:outerShdw blurRad="38100" dist="38100" dir="2700000" algn="tl">
                    <a:srgbClr val="C0C0C0"/>
                  </a:outerShdw>
                </a:effectLst>
                <a:latin typeface="Arial" charset="0"/>
              </a:rPr>
              <a:t>BSD</a:t>
            </a:r>
            <a:r>
              <a:rPr lang="zh-CN" altLang="en-US" sz="2400" b="1" dirty="0">
                <a:solidFill>
                  <a:srgbClr val="FF0000"/>
                </a:solidFill>
                <a:effectLst>
                  <a:outerShdw blurRad="38100" dist="38100" dir="2700000" algn="tl">
                    <a:srgbClr val="C0C0C0"/>
                  </a:outerShdw>
                </a:effectLst>
                <a:latin typeface="Arial" charset="0"/>
              </a:rPr>
              <a:t>许可证</a:t>
            </a:r>
            <a:r>
              <a:rPr lang="zh-CN" altLang="en-US" sz="2400" b="1" dirty="0">
                <a:solidFill>
                  <a:schemeClr val="accent1">
                    <a:lumMod val="50000"/>
                  </a:schemeClr>
                </a:solidFill>
                <a:effectLst>
                  <a:outerShdw blurRad="38100" dist="38100" dir="2700000" algn="tl">
                    <a:srgbClr val="C0C0C0"/>
                  </a:outerShdw>
                </a:effectLst>
                <a:latin typeface="Arial" charset="0"/>
              </a:rPr>
              <a:t>：</a:t>
            </a:r>
            <a:r>
              <a:rPr lang="en-US" altLang="zh-CN" sz="2400" b="1" dirty="0">
                <a:effectLst>
                  <a:outerShdw blurRad="38100" dist="38100" dir="2700000" algn="tl">
                    <a:srgbClr val="C0C0C0"/>
                  </a:outerShdw>
                </a:effectLst>
                <a:latin typeface="Times New Roman" pitchFamily="18" charset="0"/>
              </a:rPr>
              <a:t>Berkeley Software Distribution license </a:t>
            </a:r>
            <a:r>
              <a:rPr lang="zh-CN" altLang="en-US" sz="2400" b="1" dirty="0">
                <a:effectLst>
                  <a:outerShdw blurRad="38100" dist="38100" dir="2700000" algn="tl">
                    <a:srgbClr val="C0C0C0"/>
                  </a:outerShdw>
                </a:effectLst>
                <a:latin typeface="Times New Roman" pitchFamily="18" charset="0"/>
              </a:rPr>
              <a:t>是自由软件中使用最广泛的许可证之一。</a:t>
            </a:r>
            <a:br>
              <a:rPr lang="zh-CN" altLang="en-US" sz="2400" b="1" dirty="0">
                <a:effectLst>
                  <a:outerShdw blurRad="38100" dist="38100" dir="2700000" algn="tl">
                    <a:srgbClr val="C0C0C0"/>
                  </a:outerShdw>
                </a:effectLst>
                <a:latin typeface="Times New Roman" pitchFamily="18" charset="0"/>
              </a:rPr>
            </a:br>
            <a:r>
              <a:rPr lang="zh-CN" altLang="en-US" sz="2400" b="1" dirty="0">
                <a:effectLst>
                  <a:outerShdw blurRad="38100" dist="38100" dir="2700000" algn="tl">
                    <a:srgbClr val="C0C0C0"/>
                  </a:outerShdw>
                </a:effectLst>
                <a:latin typeface="Times New Roman" pitchFamily="18" charset="0"/>
              </a:rPr>
              <a:t>       </a:t>
            </a:r>
            <a:r>
              <a:rPr lang="en-US" altLang="zh-CN" sz="2400" b="1" dirty="0">
                <a:effectLst>
                  <a:outerShdw blurRad="38100" dist="38100" dir="2700000" algn="tl">
                    <a:srgbClr val="C0C0C0"/>
                  </a:outerShdw>
                </a:effectLst>
                <a:latin typeface="Times New Roman" pitchFamily="18" charset="0"/>
              </a:rPr>
              <a:t>BSD</a:t>
            </a:r>
            <a:r>
              <a:rPr lang="zh-CN" altLang="en-US" sz="2400" b="1" dirty="0">
                <a:effectLst>
                  <a:outerShdw blurRad="38100" dist="38100" dir="2700000" algn="tl">
                    <a:srgbClr val="C0C0C0"/>
                  </a:outerShdw>
                </a:effectLst>
                <a:latin typeface="Times New Roman" pitchFamily="18" charset="0"/>
              </a:rPr>
              <a:t>许可证具备开源软件许可证普遍的要求，但它只要求被许可者附上该许可证的原文以及所有开发者的版权资料。通俗地说，</a:t>
            </a:r>
            <a:r>
              <a:rPr lang="en-US" altLang="zh-CN" sz="2400" b="1" dirty="0">
                <a:effectLst>
                  <a:outerShdw blurRad="38100" dist="38100" dir="2700000" algn="tl">
                    <a:srgbClr val="C0C0C0"/>
                  </a:outerShdw>
                </a:effectLst>
                <a:latin typeface="Times New Roman" pitchFamily="18" charset="0"/>
              </a:rPr>
              <a:t>BSD</a:t>
            </a:r>
            <a:r>
              <a:rPr lang="zh-CN" altLang="en-US" sz="2400" b="1" dirty="0">
                <a:effectLst>
                  <a:outerShdw blurRad="38100" dist="38100" dir="2700000" algn="tl">
                    <a:srgbClr val="C0C0C0"/>
                  </a:outerShdw>
                </a:effectLst>
                <a:latin typeface="Times New Roman" pitchFamily="18" charset="0"/>
              </a:rPr>
              <a:t>许可证看重的是“名”，在“利”方面，</a:t>
            </a:r>
            <a:r>
              <a:rPr lang="en-US" altLang="zh-CN" sz="2400" b="1" dirty="0">
                <a:effectLst>
                  <a:outerShdw blurRad="38100" dist="38100" dir="2700000" algn="tl">
                    <a:srgbClr val="C0C0C0"/>
                  </a:outerShdw>
                </a:effectLst>
                <a:latin typeface="Times New Roman" pitchFamily="18" charset="0"/>
              </a:rPr>
              <a:t>BSD</a:t>
            </a:r>
            <a:r>
              <a:rPr lang="zh-CN" altLang="en-US" sz="2400" b="1" dirty="0">
                <a:effectLst>
                  <a:outerShdw blurRad="38100" dist="38100" dir="2700000" algn="tl">
                    <a:srgbClr val="C0C0C0"/>
                  </a:outerShdw>
                </a:effectLst>
                <a:latin typeface="Times New Roman" pitchFamily="18" charset="0"/>
              </a:rPr>
              <a:t>许可证给予被许可者充分使用（包含商业使用）源代码的权利。</a:t>
            </a:r>
            <a:br>
              <a:rPr lang="zh-CN" altLang="en-US" sz="2400" b="1" dirty="0">
                <a:effectLst>
                  <a:outerShdw blurRad="38100" dist="38100" dir="2700000" algn="tl">
                    <a:srgbClr val="C0C0C0"/>
                  </a:outerShdw>
                </a:effectLst>
                <a:latin typeface="Times New Roman" pitchFamily="18" charset="0"/>
              </a:rPr>
            </a:br>
            <a:r>
              <a:rPr lang="zh-CN" altLang="en-US" sz="2400" b="1" dirty="0">
                <a:effectLst>
                  <a:outerShdw blurRad="38100" dist="38100" dir="2700000" algn="tl">
                    <a:srgbClr val="C0C0C0"/>
                  </a:outerShdw>
                </a:effectLst>
                <a:latin typeface="Times New Roman" pitchFamily="18" charset="0"/>
              </a:rPr>
              <a:t>       </a:t>
            </a:r>
            <a:r>
              <a:rPr lang="en-US" altLang="zh-CN" sz="2400" b="1" dirty="0">
                <a:effectLst>
                  <a:outerShdw blurRad="38100" dist="38100" dir="2700000" algn="tl">
                    <a:srgbClr val="C0C0C0"/>
                  </a:outerShdw>
                </a:effectLst>
                <a:latin typeface="Times New Roman" pitchFamily="18" charset="0"/>
              </a:rPr>
              <a:t>BSD</a:t>
            </a:r>
            <a:r>
              <a:rPr lang="zh-CN" altLang="en-US" sz="2400" b="1" dirty="0">
                <a:effectLst>
                  <a:outerShdw blurRad="38100" dist="38100" dir="2700000" algn="tl">
                    <a:srgbClr val="C0C0C0"/>
                  </a:outerShdw>
                </a:effectLst>
                <a:latin typeface="Times New Roman" pitchFamily="18" charset="0"/>
              </a:rPr>
              <a:t>许可证完全不会产生像</a:t>
            </a:r>
            <a:r>
              <a:rPr lang="en-US" altLang="zh-CN" sz="2400" b="1" dirty="0">
                <a:effectLst>
                  <a:outerShdw blurRad="38100" dist="38100" dir="2700000" algn="tl">
                    <a:srgbClr val="C0C0C0"/>
                  </a:outerShdw>
                </a:effectLst>
                <a:latin typeface="Times New Roman" pitchFamily="18" charset="0"/>
              </a:rPr>
              <a:t>GPL</a:t>
            </a:r>
            <a:r>
              <a:rPr lang="zh-CN" altLang="en-US" sz="2400" b="1" dirty="0">
                <a:effectLst>
                  <a:outerShdw blurRad="38100" dist="38100" dir="2700000" algn="tl">
                    <a:srgbClr val="C0C0C0"/>
                  </a:outerShdw>
                </a:effectLst>
                <a:latin typeface="Times New Roman" pitchFamily="18" charset="0"/>
              </a:rPr>
              <a:t>许可证那样的“病毒效应”，为开源软件，特别是作为学校、公共科研机构科研成果的开源软件转化为产品等充分利用敞开了大门。</a:t>
            </a:r>
          </a:p>
        </p:txBody>
      </p:sp>
    </p:spTree>
    <p:extLst>
      <p:ext uri="{BB962C8B-B14F-4D97-AF65-F5344CB8AC3E}">
        <p14:creationId xmlns:p14="http://schemas.microsoft.com/office/powerpoint/2010/main" val="2889296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366837"/>
            <a:ext cx="7776864" cy="681514"/>
          </a:xfrm>
        </p:spPr>
        <p:txBody>
          <a:bodyPr>
            <a:noAutofit/>
          </a:bodyPr>
          <a:lstStyle/>
          <a:p>
            <a:pPr marL="342900" indent="-342900" algn="ctr" eaLnBrk="1" hangingPunct="1">
              <a:lnSpc>
                <a:spcPct val="150000"/>
              </a:lnSpc>
              <a:spcBef>
                <a:spcPts val="1800"/>
              </a:spcBef>
              <a:buClr>
                <a:schemeClr val="accent1"/>
              </a:buClr>
              <a:buSzPct val="65000"/>
              <a:defRPr/>
            </a:pPr>
            <a:r>
              <a:rPr lang="zh-CN" altLang="en-US" sz="2800" b="1" kern="1200"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第二节  </a:t>
            </a:r>
            <a:r>
              <a:rPr lang="en-US" altLang="zh-CN" sz="2800" b="1" kern="1200" dirty="0" err="1">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rPr>
              <a:t>OpenLayers</a:t>
            </a:r>
            <a:endParaRPr lang="zh-CN" altLang="en-US" sz="2800" b="1" kern="1200" dirty="0">
              <a:solidFill>
                <a:schemeClr val="tx1">
                  <a:lumMod val="75000"/>
                  <a:lumOff val="25000"/>
                </a:schemeClr>
              </a:solidFill>
              <a:effectLst>
                <a:outerShdw blurRad="38100" dist="38100" dir="2700000" algn="tl">
                  <a:srgbClr val="000000">
                    <a:alpha val="43137"/>
                  </a:srgbClr>
                </a:outerShdw>
              </a:effectLst>
              <a:latin typeface="Times New Roman" pitchFamily="18" charset="0"/>
              <a:ea typeface="+mn-ea"/>
              <a:cs typeface="Times New Roman" pitchFamily="18" charset="0"/>
            </a:endParaRPr>
          </a:p>
        </p:txBody>
      </p:sp>
      <p:sp>
        <p:nvSpPr>
          <p:cNvPr id="7" name="内容占位符 6"/>
          <p:cNvSpPr>
            <a:spLocks noGrp="1"/>
          </p:cNvSpPr>
          <p:nvPr>
            <p:ph idx="1"/>
          </p:nvPr>
        </p:nvSpPr>
        <p:spPr>
          <a:xfrm>
            <a:off x="2559094" y="1484784"/>
            <a:ext cx="4025811" cy="3672408"/>
          </a:xfrm>
        </p:spPr>
        <p:txBody>
          <a:bodyPr>
            <a:noAutofit/>
          </a:bodyPr>
          <a:lstStyle/>
          <a:p>
            <a:pPr marL="0" indent="0">
              <a:lnSpc>
                <a:spcPct val="114000"/>
              </a:lnSpc>
              <a:spcBef>
                <a:spcPts val="1200"/>
              </a:spcBef>
              <a:buNone/>
            </a:pP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一、</a:t>
            </a:r>
            <a:r>
              <a:rPr lang="en-US" altLang="zh-CN" sz="2400" b="1" dirty="0" err="1">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概述</a:t>
            </a:r>
            <a:endPar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nSpc>
                <a:spcPct val="114000"/>
              </a:lnSpc>
              <a:spcBef>
                <a:spcPts val="1200"/>
              </a:spcBef>
              <a:buNone/>
            </a:pP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二、</a:t>
            </a:r>
            <a:r>
              <a:rPr lang="en-US" altLang="zh-CN" sz="2400" b="1" dirty="0" err="1">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体系结构</a:t>
            </a:r>
            <a:endPar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nSpc>
                <a:spcPct val="114000"/>
              </a:lnSpc>
              <a:spcBef>
                <a:spcPts val="1200"/>
              </a:spcBef>
              <a:buNone/>
            </a:pP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三、</a:t>
            </a:r>
            <a:r>
              <a:rPr lang="en-US" altLang="zh-CN" sz="2400" b="1" dirty="0" err="1">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工作原理</a:t>
            </a:r>
            <a:endPar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nSpc>
                <a:spcPct val="114000"/>
              </a:lnSpc>
              <a:spcBef>
                <a:spcPts val="1200"/>
              </a:spcBef>
              <a:buNone/>
            </a:pP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四、开发初步</a:t>
            </a:r>
            <a:endPar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内容占位符 6"/>
          <p:cNvSpPr txBox="1">
            <a:spLocks/>
          </p:cNvSpPr>
          <p:nvPr/>
        </p:nvSpPr>
        <p:spPr>
          <a:xfrm>
            <a:off x="5079076" y="2243535"/>
            <a:ext cx="3581033" cy="3358461"/>
          </a:xfrm>
          <a:prstGeom prst="rect">
            <a:avLst/>
          </a:prstGeom>
        </p:spPr>
        <p:txBody>
          <a:bodyPr vert="horz" lIns="0" tIns="34290" rIns="0" bIns="3429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US" altLang="zh-CN" sz="1500" b="1" dirty="0"/>
          </a:p>
        </p:txBody>
      </p:sp>
    </p:spTree>
    <p:extLst>
      <p:ext uri="{BB962C8B-B14F-4D97-AF65-F5344CB8AC3E}">
        <p14:creationId xmlns:p14="http://schemas.microsoft.com/office/powerpoint/2010/main" val="3005138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7560840" cy="595789"/>
          </a:xfrm>
        </p:spPr>
        <p:txBody>
          <a:bodyPr/>
          <a:lstStyle/>
          <a:p>
            <a:pPr marL="342900" indent="-342900" eaLnBrk="1" hangingPunct="1">
              <a:spcBef>
                <a:spcPct val="20000"/>
              </a:spcBef>
              <a:buClr>
                <a:schemeClr val="accent1"/>
              </a:buClr>
              <a:buSzPct val="65000"/>
              <a:defRPr/>
            </a:pPr>
            <a:r>
              <a:rPr lang="zh-CN" altLang="en-US" sz="2800" b="1" kern="120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一、</a:t>
            </a:r>
            <a:r>
              <a:rPr lang="en-US" altLang="zh-CN" sz="2800" b="1" kern="1200" dirty="0" err="1">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OpenLayers</a:t>
            </a:r>
            <a:r>
              <a:rPr lang="en-US" altLang="zh-CN" sz="2800" b="1" kern="120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800" b="1" kern="1200" dirty="0">
                <a:solidFill>
                  <a:schemeClr val="tx1"/>
                </a:solidFill>
                <a:effectLst>
                  <a:outerShdw blurRad="38100" dist="38100" dir="2700000" algn="tl">
                    <a:srgbClr val="C0C0C0"/>
                  </a:outerShdw>
                </a:effectLst>
                <a:latin typeface="Times New Roman" panose="02020603050405020304" pitchFamily="18" charset="0"/>
                <a:ea typeface="宋体" panose="02010600030101010101" pitchFamily="2" charset="-122"/>
                <a:cs typeface="Times New Roman" panose="02020603050405020304" pitchFamily="18" charset="0"/>
              </a:rPr>
              <a:t>概述</a:t>
            </a:r>
          </a:p>
        </p:txBody>
      </p:sp>
      <p:sp>
        <p:nvSpPr>
          <p:cNvPr id="3" name="内容占位符 2"/>
          <p:cNvSpPr>
            <a:spLocks noGrp="1"/>
          </p:cNvSpPr>
          <p:nvPr>
            <p:ph idx="1"/>
          </p:nvPr>
        </p:nvSpPr>
        <p:spPr>
          <a:xfrm>
            <a:off x="683568" y="620688"/>
            <a:ext cx="7992888" cy="5256584"/>
          </a:xfrm>
        </p:spPr>
        <p:txBody>
          <a:bodyPr>
            <a:noAutofit/>
          </a:bodyPr>
          <a:lstStyle/>
          <a:p>
            <a:pPr marL="0" indent="0">
              <a:lnSpc>
                <a:spcPct val="150000"/>
              </a:lnSpc>
              <a:spcBef>
                <a:spcPct val="0"/>
              </a:spcBef>
              <a:buClr>
                <a:srgbClr val="FF0066"/>
              </a:buClr>
              <a:buSzPct val="85000"/>
              <a:buNone/>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简介：</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25000"/>
              </a:lnSpc>
              <a:spcBef>
                <a:spcPct val="0"/>
              </a:spcBef>
              <a:buClr>
                <a:srgbClr val="FF0066"/>
              </a:buClr>
              <a:buSzPct val="85000"/>
            </a:pPr>
            <a:r>
              <a:rPr lang="en-US" altLang="zh-CN" sz="24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作为业内使用最为广泛的地图引擎之一，已被各大</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GIS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厂商和广大</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WebGIS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二次开发者采用。借助于</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强大的扩展功能，可以与各大</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WebGIS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厂商的平台产品（如</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ArcGIS Server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MapGIS</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IGServer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SuperMap</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iServer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GeoServer</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等）相结合，开发出各具特色的</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WebGIS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应用系统；</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spcBef>
                <a:spcPct val="0"/>
              </a:spcBef>
              <a:buClr>
                <a:srgbClr val="FF0066"/>
              </a:buClr>
              <a:buSzPct val="85000"/>
            </a:pP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是一个专为</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Web GIS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客户端开发提供的</a:t>
            </a:r>
            <a:r>
              <a:rPr lang="en-US" altLang="zh-CN" sz="2400" b="1" dirty="0">
                <a:solidFill>
                  <a:srgbClr val="0000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JavaScript</a:t>
            </a:r>
            <a:r>
              <a:rPr lang="zh-CN" altLang="en-US" sz="2400" b="1" dirty="0">
                <a:solidFill>
                  <a:srgbClr val="0000FF"/>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类库包</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，通过</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BSD License</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发行；用于实现标准格式发布的地图数据访问；</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spcBef>
                <a:spcPct val="0"/>
              </a:spcBef>
              <a:buClr>
                <a:srgbClr val="FF0066"/>
              </a:buClr>
              <a:buSzPct val="85000"/>
            </a:pPr>
            <a:r>
              <a:rPr lang="zh-CN"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除了支持网页端，还支持移动端</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对话气泡: 圆角矩形 3">
            <a:extLst>
              <a:ext uri="{FF2B5EF4-FFF2-40B4-BE49-F238E27FC236}">
                <a16:creationId xmlns:a16="http://schemas.microsoft.com/office/drawing/2014/main" id="{4A86593E-E48C-4B6E-BBAE-B3F7DB015E37}"/>
              </a:ext>
            </a:extLst>
          </p:cNvPr>
          <p:cNvSpPr/>
          <p:nvPr/>
        </p:nvSpPr>
        <p:spPr bwMode="auto">
          <a:xfrm>
            <a:off x="5148064" y="450530"/>
            <a:ext cx="3960439" cy="595789"/>
          </a:xfrm>
          <a:prstGeom prst="wedgeRoundRectCallout">
            <a:avLst>
              <a:gd name="adj1" fmla="val -93820"/>
              <a:gd name="adj2" fmla="val 657638"/>
              <a:gd name="adj3" fmla="val 16667"/>
            </a:avLst>
          </a:prstGeom>
          <a:solidFill>
            <a:schemeClr val="bg1"/>
          </a:solidFill>
          <a:ln w="15875" cap="flat" cmpd="sng" algn="ctr">
            <a:solidFill>
              <a:schemeClr val="accent5">
                <a:lumMod val="50000"/>
              </a:schemeClr>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algn="ctr"/>
            <a:r>
              <a:rPr lang="zh-CN" altLang="zh-CN" sz="2400" b="1" dirty="0">
                <a:solidFill>
                  <a:srgbClr val="C00000"/>
                </a:solidFill>
                <a:latin typeface="Times New Roman" panose="02020603050405020304" pitchFamily="18" charset="0"/>
                <a:cs typeface="Times New Roman" panose="02020603050405020304" pitchFamily="18" charset="0"/>
              </a:rPr>
              <a:t>企业级</a:t>
            </a:r>
            <a:r>
              <a:rPr lang="en-US" altLang="zh-CN" sz="2400" b="1" dirty="0" err="1">
                <a:solidFill>
                  <a:srgbClr val="C00000"/>
                </a:solidFill>
                <a:latin typeface="Times New Roman" panose="02020603050405020304" pitchFamily="18" charset="0"/>
                <a:cs typeface="Times New Roman" panose="02020603050405020304" pitchFamily="18" charset="0"/>
              </a:rPr>
              <a:t>WebGIS</a:t>
            </a:r>
            <a:r>
              <a:rPr lang="zh-CN" altLang="zh-CN" sz="2400" b="1" dirty="0">
                <a:solidFill>
                  <a:srgbClr val="C00000"/>
                </a:solidFill>
                <a:latin typeface="Times New Roman" panose="02020603050405020304" pitchFamily="18" charset="0"/>
                <a:cs typeface="Times New Roman" panose="02020603050405020304" pitchFamily="18" charset="0"/>
              </a:rPr>
              <a:t>前端渲染引擎</a:t>
            </a:r>
            <a:endParaRPr lang="zh-CN" altLang="en-US" sz="2400" b="1" dirty="0">
              <a:solidFill>
                <a:srgbClr val="C00000"/>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2580806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A513C12-62FE-4DEC-B547-1427374E5262}" type="slidenum">
              <a:rPr lang="en-US" altLang="zh-CN" smtClean="0">
                <a:latin typeface="Garamond" panose="02020404030301010803" pitchFamily="18" charset="0"/>
              </a:rPr>
              <a:pPr/>
              <a:t>10</a:t>
            </a:fld>
            <a:endParaRPr lang="en-US" altLang="zh-CN">
              <a:latin typeface="Garamond" panose="02020404030301010803" pitchFamily="18" charset="0"/>
            </a:endParaRPr>
          </a:p>
        </p:txBody>
      </p:sp>
      <p:sp>
        <p:nvSpPr>
          <p:cNvPr id="2" name="矩形 1"/>
          <p:cNvSpPr/>
          <p:nvPr/>
        </p:nvSpPr>
        <p:spPr>
          <a:xfrm>
            <a:off x="539552" y="1700808"/>
            <a:ext cx="8064896" cy="3108543"/>
          </a:xfrm>
          <a:prstGeom prst="rect">
            <a:avLst/>
          </a:prstGeom>
        </p:spPr>
        <p:txBody>
          <a:bodyPr wrap="square">
            <a:spAutoFit/>
          </a:bodyPr>
          <a:lstStyle/>
          <a:p>
            <a:r>
              <a:rPr lang="en-US" altLang="zh-CN" sz="2800" dirty="0" err="1">
                <a:latin typeface="Times New Roman" panose="02020603050405020304" pitchFamily="18" charset="0"/>
                <a:cs typeface="Times New Roman" panose="02020603050405020304" pitchFamily="18" charset="0"/>
              </a:rPr>
              <a:t>OpenLayers</a:t>
            </a:r>
            <a:r>
              <a:rPr lang="en-US" altLang="zh-CN" sz="2800" dirty="0">
                <a:latin typeface="Times New Roman" panose="02020603050405020304" pitchFamily="18" charset="0"/>
                <a:cs typeface="Times New Roman" panose="02020603050405020304" pitchFamily="18" charset="0"/>
              </a:rPr>
              <a:t> makes it easy to put a dynamic map in any web page. It can display map tiles, vector data and markers loaded from any source. </a:t>
            </a:r>
            <a:r>
              <a:rPr lang="en-US" altLang="zh-CN" sz="2800" dirty="0" err="1">
                <a:latin typeface="Times New Roman" panose="02020603050405020304" pitchFamily="18" charset="0"/>
                <a:cs typeface="Times New Roman" panose="02020603050405020304" pitchFamily="18" charset="0"/>
              </a:rPr>
              <a:t>OpenLayers</a:t>
            </a:r>
            <a:r>
              <a:rPr lang="en-US" altLang="zh-CN" sz="2800" dirty="0">
                <a:latin typeface="Times New Roman" panose="02020603050405020304" pitchFamily="18" charset="0"/>
                <a:cs typeface="Times New Roman" panose="02020603050405020304" pitchFamily="18" charset="0"/>
              </a:rPr>
              <a:t> has been developed to further the use of geographic information of all kinds. It is completely free, Open Source JavaScript, released under the 2-clause BSD License (also known as the FreeBSD).</a:t>
            </a:r>
            <a:endParaRPr lang="zh-CN" altLang="en-US" sz="280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nvPicPr>
        <p:blipFill>
          <a:blip r:embed="rId3"/>
          <a:stretch>
            <a:fillRect/>
          </a:stretch>
        </p:blipFill>
        <p:spPr>
          <a:xfrm>
            <a:off x="0" y="-7456"/>
            <a:ext cx="9144000" cy="1340768"/>
          </a:xfrm>
          <a:prstGeom prst="rect">
            <a:avLst/>
          </a:prstGeom>
        </p:spPr>
      </p:pic>
      <p:sp>
        <p:nvSpPr>
          <p:cNvPr id="4" name="矩形 3">
            <a:extLst>
              <a:ext uri="{FF2B5EF4-FFF2-40B4-BE49-F238E27FC236}">
                <a16:creationId xmlns:a16="http://schemas.microsoft.com/office/drawing/2014/main" id="{E52413F6-BFE2-4CD1-9E16-34F358A6663A}"/>
              </a:ext>
            </a:extLst>
          </p:cNvPr>
          <p:cNvSpPr/>
          <p:nvPr/>
        </p:nvSpPr>
        <p:spPr>
          <a:xfrm>
            <a:off x="560450" y="5301958"/>
            <a:ext cx="2364750" cy="369332"/>
          </a:xfrm>
          <a:prstGeom prst="rect">
            <a:avLst/>
          </a:prstGeom>
        </p:spPr>
        <p:txBody>
          <a:bodyPr wrap="none">
            <a:spAutoFit/>
          </a:bodyPr>
          <a:lstStyle/>
          <a:p>
            <a:r>
              <a:rPr lang="en-US" altLang="zh-CN" dirty="0">
                <a:hlinkClick r:id="rId4"/>
              </a:rPr>
              <a:t>http://openLayers.org</a:t>
            </a:r>
            <a:endParaRPr lang="zh-CN" altLang="en-US" dirty="0"/>
          </a:p>
        </p:txBody>
      </p:sp>
    </p:spTree>
    <p:extLst>
      <p:ext uri="{BB962C8B-B14F-4D97-AF65-F5344CB8AC3E}">
        <p14:creationId xmlns:p14="http://schemas.microsoft.com/office/powerpoint/2010/main" val="1527973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11</a:t>
            </a:fld>
            <a:endParaRPr lang="en-US" altLang="zh-CN"/>
          </a:p>
        </p:txBody>
      </p:sp>
      <p:sp>
        <p:nvSpPr>
          <p:cNvPr id="5" name="矩形 4"/>
          <p:cNvSpPr/>
          <p:nvPr/>
        </p:nvSpPr>
        <p:spPr>
          <a:xfrm>
            <a:off x="1043608" y="620688"/>
            <a:ext cx="6336704" cy="4862870"/>
          </a:xfrm>
          <a:prstGeom prst="rect">
            <a:avLst/>
          </a:prstGeom>
        </p:spPr>
        <p:txBody>
          <a:bodyPr wrap="square">
            <a:spAutoFit/>
          </a:bodyPr>
          <a:lstStyle/>
          <a:p>
            <a:pPr marL="342900" indent="-342900" eaLnBrk="1" hangingPunct="1">
              <a:spcBef>
                <a:spcPct val="20000"/>
              </a:spcBef>
              <a:buClr>
                <a:schemeClr val="accent1"/>
              </a:buClr>
              <a:buSzPct val="65000"/>
              <a:defRPr/>
            </a:pPr>
            <a:r>
              <a:rPr lang="zh-CN" altLang="en-US" sz="2400" b="1" dirty="0">
                <a:solidFill>
                  <a:srgbClr val="0000FF"/>
                </a:solidFill>
                <a:effectLst>
                  <a:outerShdw blurRad="38100" dist="38100" dir="2700000" algn="tl">
                    <a:srgbClr val="000000">
                      <a:alpha val="43137"/>
                    </a:srgbClr>
                  </a:outerShdw>
                </a:effectLst>
              </a:rPr>
              <a:t>      </a:t>
            </a:r>
            <a:r>
              <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2.OpenLayers</a:t>
            </a:r>
            <a:r>
              <a:rPr lang="zh-CN" altLang="en-US"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的特征</a:t>
            </a:r>
            <a:endParaRPr lang="en-US" altLang="zh-CN"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marL="1257300" lvl="2" indent="-342900">
              <a:spcBef>
                <a:spcPts val="2400"/>
              </a:spcBef>
              <a:buClr>
                <a:srgbClr val="00CC00"/>
              </a:buClr>
              <a:buSzPct val="80000"/>
              <a:buFont typeface="Wingdings" panose="05000000000000000000" pitchFamily="2" charset="2"/>
              <a:buChar char="n"/>
            </a:pPr>
            <a:r>
              <a:rPr lang="zh-CN" altLang="en-US" sz="2400" b="1" dirty="0">
                <a:effectLst>
                  <a:outerShdw blurRad="38100" dist="38100" dir="2700000" algn="tl">
                    <a:srgbClr val="000000">
                      <a:alpha val="43137"/>
                    </a:srgbClr>
                  </a:outerShdw>
                </a:effectLst>
              </a:rPr>
              <a:t>支持瓦片图层</a:t>
            </a:r>
            <a:endParaRPr lang="en-US" altLang="zh-CN" sz="2400" b="1" dirty="0">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effectLst>
                  <a:outerShdw blurRad="38100" dist="38100" dir="2700000" algn="tl">
                    <a:srgbClr val="000000">
                      <a:alpha val="43137"/>
                    </a:srgbClr>
                  </a:outerShdw>
                </a:effectLst>
              </a:rPr>
              <a:t>支持矢量切片</a:t>
            </a:r>
            <a:endParaRPr lang="en-US" altLang="zh-CN" sz="2400" b="1" dirty="0">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effectLst>
                  <a:outerShdw blurRad="38100" dist="38100" dir="2700000" algn="tl">
                    <a:srgbClr val="000000">
                      <a:alpha val="43137"/>
                    </a:srgbClr>
                  </a:outerShdw>
                </a:effectLst>
              </a:rPr>
              <a:t>支持矢量图层    </a:t>
            </a:r>
            <a:endParaRPr lang="en-US" altLang="zh-CN" sz="2400" b="1" dirty="0">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solidFill>
                  <a:srgbClr val="FF0000"/>
                </a:solidFill>
                <a:effectLst>
                  <a:outerShdw blurRad="38100" dist="38100" dir="2700000" algn="tl">
                    <a:srgbClr val="000000">
                      <a:alpha val="43137"/>
                    </a:srgbClr>
                  </a:outerShdw>
                </a:effectLst>
              </a:rPr>
              <a:t>支持</a:t>
            </a:r>
            <a:r>
              <a:rPr lang="en-US" altLang="zh-CN" sz="2400" b="1" dirty="0">
                <a:solidFill>
                  <a:srgbClr val="FF0000"/>
                </a:solidFill>
                <a:effectLst>
                  <a:outerShdw blurRad="38100" dist="38100" dir="2700000" algn="tl">
                    <a:srgbClr val="000000">
                      <a:alpha val="43137"/>
                    </a:srgbClr>
                  </a:outerShdw>
                </a:effectLst>
              </a:rPr>
              <a:t>OGC</a:t>
            </a:r>
            <a:r>
              <a:rPr lang="zh-CN" altLang="en-US" sz="2400" b="1" dirty="0">
                <a:solidFill>
                  <a:srgbClr val="FF0000"/>
                </a:solidFill>
                <a:effectLst>
                  <a:outerShdw blurRad="38100" dist="38100" dir="2700000" algn="tl">
                    <a:srgbClr val="000000">
                      <a:alpha val="43137"/>
                    </a:srgbClr>
                  </a:outerShdw>
                </a:effectLst>
              </a:rPr>
              <a:t>规范</a:t>
            </a:r>
            <a:endParaRPr lang="en-US" altLang="zh-CN" sz="2400" b="1" dirty="0">
              <a:solidFill>
                <a:srgbClr val="FF0000"/>
              </a:solidFill>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effectLst>
                  <a:outerShdw blurRad="38100" dist="38100" dir="2700000" algn="tl">
                    <a:srgbClr val="000000">
                      <a:alpha val="43137"/>
                    </a:srgbClr>
                  </a:outerShdw>
                </a:effectLst>
              </a:rPr>
              <a:t>运用前沿技术       </a:t>
            </a:r>
            <a:endParaRPr lang="en-US" altLang="zh-CN" sz="2400" b="1" dirty="0">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solidFill>
                  <a:srgbClr val="0000FF"/>
                </a:solidFill>
                <a:effectLst>
                  <a:outerShdw blurRad="38100" dist="38100" dir="2700000" algn="tl">
                    <a:srgbClr val="000000">
                      <a:alpha val="43137"/>
                    </a:srgbClr>
                  </a:outerShdw>
                </a:effectLst>
              </a:rPr>
              <a:t>面向对象的思想</a:t>
            </a:r>
            <a:r>
              <a:rPr lang="zh-CN" altLang="en-US" sz="2400" b="1" dirty="0">
                <a:solidFill>
                  <a:srgbClr val="FF0000"/>
                </a:solidFill>
                <a:effectLst>
                  <a:outerShdw blurRad="38100" dist="38100" dir="2700000" algn="tl">
                    <a:srgbClr val="000000">
                      <a:alpha val="43137"/>
                    </a:srgbClr>
                  </a:outerShdw>
                </a:effectLst>
              </a:rPr>
              <a:t> </a:t>
            </a:r>
            <a:endParaRPr lang="en-US" altLang="zh-CN" sz="2400" b="1" dirty="0">
              <a:solidFill>
                <a:srgbClr val="FF0000"/>
              </a:solidFill>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effectLst>
                  <a:outerShdw blurRad="38100" dist="38100" dir="2700000" algn="tl">
                    <a:srgbClr val="000000">
                      <a:alpha val="43137"/>
                    </a:srgbClr>
                  </a:outerShdw>
                </a:effectLst>
              </a:rPr>
              <a:t>易于定制和扩展  </a:t>
            </a:r>
            <a:endParaRPr lang="en-US" altLang="zh-CN" sz="2400" b="1" dirty="0">
              <a:effectLst>
                <a:outerShdw blurRad="38100" dist="38100" dir="2700000" algn="tl">
                  <a:srgbClr val="000000">
                    <a:alpha val="43137"/>
                  </a:srgbClr>
                </a:outerShdw>
              </a:effectLst>
            </a:endParaRPr>
          </a:p>
          <a:p>
            <a:pPr marL="1257300" lvl="2" indent="-342900">
              <a:spcBef>
                <a:spcPts val="1200"/>
              </a:spcBef>
              <a:buClr>
                <a:srgbClr val="00CC00"/>
              </a:buClr>
              <a:buSzPct val="80000"/>
              <a:buFont typeface="Wingdings" panose="05000000000000000000" pitchFamily="2" charset="2"/>
              <a:buChar char="n"/>
            </a:pPr>
            <a:r>
              <a:rPr lang="zh-CN" altLang="en-US" sz="2400" b="1" dirty="0">
                <a:effectLst>
                  <a:outerShdw blurRad="38100" dist="38100" dir="2700000" algn="tl">
                    <a:srgbClr val="000000">
                      <a:alpha val="43137"/>
                    </a:srgbClr>
                  </a:outerShdw>
                </a:effectLst>
              </a:rPr>
              <a:t>优秀的交互体验 </a:t>
            </a:r>
          </a:p>
        </p:txBody>
      </p:sp>
    </p:spTree>
    <p:extLst>
      <p:ext uri="{BB962C8B-B14F-4D97-AF65-F5344CB8AC3E}">
        <p14:creationId xmlns:p14="http://schemas.microsoft.com/office/powerpoint/2010/main" val="4107884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a:spLocks noGrp="1"/>
          </p:cNvSpPr>
          <p:nvPr>
            <p:ph type="title"/>
          </p:nvPr>
        </p:nvSpPr>
        <p:spPr>
          <a:xfrm>
            <a:off x="223748" y="511684"/>
            <a:ext cx="7560840" cy="595789"/>
          </a:xfrm>
        </p:spPr>
        <p:txBody>
          <a:bodyPr/>
          <a:lstStyle/>
          <a:p>
            <a:r>
              <a:rPr lang="zh-CN" altLang="en-US" sz="2400" b="1" kern="1200" dirty="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   </a:t>
            </a:r>
            <a:r>
              <a:rPr lang="en-US" altLang="zh-CN" sz="2400" b="1" kern="1200" dirty="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3. </a:t>
            </a:r>
            <a:r>
              <a:rPr lang="zh-CN" altLang="en-US" sz="2400" b="1" kern="1200" dirty="0">
                <a:solidFill>
                  <a:schemeClr val="tx1"/>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应用案例</a:t>
            </a:r>
          </a:p>
        </p:txBody>
      </p:sp>
      <p:pic>
        <p:nvPicPr>
          <p:cNvPr id="5" name="图片 4">
            <a:extLst>
              <a:ext uri="{FF2B5EF4-FFF2-40B4-BE49-F238E27FC236}">
                <a16:creationId xmlns:a16="http://schemas.microsoft.com/office/drawing/2014/main" id="{8A5926FF-179F-4ECE-B44A-363CD88FDA0A}"/>
              </a:ext>
            </a:extLst>
          </p:cNvPr>
          <p:cNvPicPr/>
          <p:nvPr/>
        </p:nvPicPr>
        <p:blipFill rotWithShape="1">
          <a:blip r:embed="rId3" cstate="print">
            <a:extLst>
              <a:ext uri="{28A0092B-C50C-407E-A947-70E740481C1C}">
                <a14:useLocalDpi xmlns:a14="http://schemas.microsoft.com/office/drawing/2010/main" val="0"/>
              </a:ext>
            </a:extLst>
          </a:blip>
          <a:srcRect t="9946"/>
          <a:stretch/>
        </p:blipFill>
        <p:spPr bwMode="auto">
          <a:xfrm>
            <a:off x="539552" y="1107473"/>
            <a:ext cx="5904656" cy="3836702"/>
          </a:xfrm>
          <a:prstGeom prst="rect">
            <a:avLst/>
          </a:prstGeom>
          <a:noFill/>
          <a:ln>
            <a:noFill/>
          </a:ln>
          <a:extLst>
            <a:ext uri="{53640926-AAD7-44D8-BBD7-CCE9431645EC}">
              <a14:shadowObscured xmlns:a14="http://schemas.microsoft.com/office/drawing/2010/main"/>
            </a:ext>
          </a:extLst>
        </p:spPr>
      </p:pic>
      <p:sp>
        <p:nvSpPr>
          <p:cNvPr id="2" name="矩形 1"/>
          <p:cNvSpPr/>
          <p:nvPr/>
        </p:nvSpPr>
        <p:spPr>
          <a:xfrm>
            <a:off x="6516216" y="1268760"/>
            <a:ext cx="2555776" cy="2677656"/>
          </a:xfrm>
          <a:prstGeom prst="rect">
            <a:avLst/>
          </a:prstGeom>
        </p:spPr>
        <p:txBody>
          <a:bodyPr wrap="square">
            <a:spAutoFit/>
          </a:bodyPr>
          <a:lstStyle/>
          <a:p>
            <a:pPr>
              <a:lnSpc>
                <a:spcPct val="120000"/>
              </a:lnSpc>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采用的技术</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257175" indent="-257175">
              <a:lnSpc>
                <a:spcPct val="120000"/>
              </a:lnSpc>
              <a:buFont typeface="Arial" panose="020B0604020202020204" pitchFamily="34" charset="0"/>
              <a:buChar char="•"/>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前端：</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257175" indent="-257175">
              <a:lnSpc>
                <a:spcPct val="120000"/>
              </a:lnSpc>
              <a:buFont typeface="Arial" panose="020B0604020202020204" pitchFamily="34" charset="0"/>
              <a:buChar char="•"/>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地图服务器：</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GeoServer</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257175" indent="-257175">
              <a:lnSpc>
                <a:spcPct val="120000"/>
              </a:lnSpc>
              <a:buFont typeface="Arial" panose="020B0604020202020204" pitchFamily="34" charset="0"/>
              <a:buChar char="•"/>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空间数据库：</a:t>
            </a:r>
            <a:r>
              <a:rPr lang="en-US" altLang="zh-CN" sz="20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PostGIS</a:t>
            </a:r>
            <a:endPar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257175" indent="-257175">
              <a:lnSpc>
                <a:spcPct val="120000"/>
              </a:lnSpc>
              <a:buFont typeface="Arial" panose="020B0604020202020204" pitchFamily="34" charset="0"/>
              <a:buChar char="•"/>
            </a:pPr>
            <a:r>
              <a:rPr lang="zh-CN" alt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影像处理：</a:t>
            </a:r>
            <a:r>
              <a:rPr lang="en-US" altLang="zh-CN"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GDAL</a:t>
            </a:r>
          </a:p>
        </p:txBody>
      </p:sp>
    </p:spTree>
    <p:extLst>
      <p:ext uri="{BB962C8B-B14F-4D97-AF65-F5344CB8AC3E}">
        <p14:creationId xmlns:p14="http://schemas.microsoft.com/office/powerpoint/2010/main" val="297755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13</a:t>
            </a:fld>
            <a:endParaRPr lang="en-US" altLang="zh-CN"/>
          </a:p>
        </p:txBody>
      </p:sp>
      <p:sp>
        <p:nvSpPr>
          <p:cNvPr id="7" name="文本框 6">
            <a:extLst>
              <a:ext uri="{FF2B5EF4-FFF2-40B4-BE49-F238E27FC236}">
                <a16:creationId xmlns:a16="http://schemas.microsoft.com/office/drawing/2014/main" id="{A3AE573B-E7E1-4450-87DE-7CA5340FBD0D}"/>
              </a:ext>
            </a:extLst>
          </p:cNvPr>
          <p:cNvSpPr txBox="1"/>
          <p:nvPr/>
        </p:nvSpPr>
        <p:spPr>
          <a:xfrm>
            <a:off x="683568" y="620688"/>
            <a:ext cx="4392488" cy="523220"/>
          </a:xfrm>
          <a:prstGeom prst="rect">
            <a:avLst/>
          </a:prstGeom>
          <a:noFill/>
        </p:spPr>
        <p:txBody>
          <a:bodyPr wrap="square" rtlCol="0">
            <a:spAutoFit/>
          </a:bodyPr>
          <a:lstStyle/>
          <a:p>
            <a:pPr marL="342900" indent="-342900" eaLnBrk="1" hangingPunct="1">
              <a:spcBef>
                <a:spcPct val="20000"/>
              </a:spcBef>
              <a:buClr>
                <a:schemeClr val="accent1"/>
              </a:buClr>
              <a:buSzPct val="65000"/>
              <a:defRPr/>
            </a:pPr>
            <a:r>
              <a:rPr lang="zh-CN" altLang="en-US" sz="28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二、体系结构</a:t>
            </a:r>
          </a:p>
        </p:txBody>
      </p:sp>
      <p:sp>
        <p:nvSpPr>
          <p:cNvPr id="8" name="矩形 7">
            <a:extLst>
              <a:ext uri="{FF2B5EF4-FFF2-40B4-BE49-F238E27FC236}">
                <a16:creationId xmlns:a16="http://schemas.microsoft.com/office/drawing/2014/main" id="{1A6E0325-E181-46AD-BA2D-4B222D9C7FA5}"/>
              </a:ext>
            </a:extLst>
          </p:cNvPr>
          <p:cNvSpPr/>
          <p:nvPr/>
        </p:nvSpPr>
        <p:spPr>
          <a:xfrm>
            <a:off x="611560" y="1340768"/>
            <a:ext cx="8075240" cy="2236574"/>
          </a:xfrm>
          <a:prstGeom prst="rect">
            <a:avLst/>
          </a:prstGeom>
        </p:spPr>
        <p:txBody>
          <a:bodyPr wrap="square">
            <a:spAutoFit/>
          </a:bodyPr>
          <a:lstStyle/>
          <a:p>
            <a:pPr>
              <a:lnSpc>
                <a:spcPct val="150000"/>
              </a:lnSpc>
            </a:pPr>
            <a:r>
              <a:rPr lang="en-US" altLang="zh-CN" sz="2400" b="1" dirty="0">
                <a:effectLst>
                  <a:outerShdw blurRad="38100" dist="38100" dir="2700000" algn="tl">
                    <a:srgbClr val="000000">
                      <a:alpha val="43137"/>
                    </a:srgbClr>
                  </a:outerShdw>
                </a:effectLst>
              </a:rPr>
              <a:t>       </a:t>
            </a:r>
            <a:r>
              <a:rPr lang="en-US" altLang="zh-CN" sz="2400" b="1" dirty="0" err="1">
                <a:effectLst>
                  <a:outerShdw blurRad="38100" dist="38100" dir="2700000" algn="tl">
                    <a:srgbClr val="000000">
                      <a:alpha val="43137"/>
                    </a:srgbClr>
                  </a:outerShdw>
                </a:effectLst>
              </a:rPr>
              <a:t>OpenLayers</a:t>
            </a:r>
            <a:r>
              <a:rPr lang="zh-CN" altLang="en-US" sz="2400" b="1" dirty="0">
                <a:effectLst>
                  <a:outerShdw blurRad="38100" dist="38100" dir="2700000" algn="tl">
                    <a:srgbClr val="000000">
                      <a:alpha val="43137"/>
                    </a:srgbClr>
                  </a:outerShdw>
                </a:effectLst>
              </a:rPr>
              <a:t>的目的就是为了能够在客户端更好地展现和操作地图。</a:t>
            </a:r>
            <a:r>
              <a:rPr lang="en-US" altLang="zh-CN" sz="2400" b="1" dirty="0" err="1">
                <a:effectLst>
                  <a:outerShdw blurRad="38100" dist="38100" dir="2700000" algn="tl">
                    <a:srgbClr val="000000">
                      <a:alpha val="43137"/>
                    </a:srgbClr>
                  </a:outerShdw>
                </a:effectLst>
              </a:rPr>
              <a:t>OpenLayers</a:t>
            </a:r>
            <a:r>
              <a:rPr lang="en-US" altLang="zh-CN" sz="2400" b="1" dirty="0">
                <a:effectLst>
                  <a:outerShdw blurRad="38100" dist="38100" dir="2700000" algn="tl">
                    <a:srgbClr val="000000">
                      <a:alpha val="43137"/>
                    </a:srgbClr>
                  </a:outerShdw>
                </a:effectLst>
              </a:rPr>
              <a:t> </a:t>
            </a:r>
            <a:r>
              <a:rPr lang="zh-CN" altLang="en-US" sz="2400" b="1" dirty="0">
                <a:effectLst>
                  <a:outerShdw blurRad="38100" dist="38100" dir="2700000" algn="tl">
                    <a:srgbClr val="000000">
                      <a:alpha val="43137"/>
                    </a:srgbClr>
                  </a:outerShdw>
                </a:effectLst>
              </a:rPr>
              <a:t>将抽象事物具体化为类，其</a:t>
            </a:r>
            <a:r>
              <a:rPr lang="zh-CN" altLang="en-US" sz="2400" b="1" dirty="0">
                <a:solidFill>
                  <a:srgbClr val="0000FF"/>
                </a:solidFill>
                <a:effectLst>
                  <a:outerShdw blurRad="38100" dist="38100" dir="2700000" algn="tl">
                    <a:srgbClr val="000000">
                      <a:alpha val="43137"/>
                    </a:srgbClr>
                  </a:outerShdw>
                </a:effectLst>
              </a:rPr>
              <a:t>核心类是</a:t>
            </a:r>
            <a:r>
              <a:rPr lang="en-US" altLang="zh-CN" sz="2400" b="1" dirty="0">
                <a:solidFill>
                  <a:srgbClr val="FF0000"/>
                </a:solidFill>
                <a:effectLst>
                  <a:outerShdw blurRad="38100" dist="38100" dir="2700000" algn="tl">
                    <a:srgbClr val="000000">
                      <a:alpha val="43137"/>
                    </a:srgbClr>
                  </a:outerShdw>
                </a:effectLst>
              </a:rPr>
              <a:t>Map</a:t>
            </a:r>
            <a:r>
              <a:rPr lang="zh-CN" altLang="en-US" sz="2400" b="1" dirty="0">
                <a:solidFill>
                  <a:srgbClr val="FF0000"/>
                </a:solidFill>
                <a:effectLst>
                  <a:outerShdw blurRad="38100" dist="38100" dir="2700000" algn="tl">
                    <a:srgbClr val="000000">
                      <a:alpha val="43137"/>
                    </a:srgbClr>
                  </a:outerShdw>
                </a:effectLst>
              </a:rPr>
              <a:t>、</a:t>
            </a:r>
            <a:r>
              <a:rPr lang="en-US" altLang="zh-CN" sz="2400" b="1" dirty="0">
                <a:solidFill>
                  <a:srgbClr val="FF0000"/>
                </a:solidFill>
                <a:effectLst>
                  <a:outerShdw blurRad="38100" dist="38100" dir="2700000" algn="tl">
                    <a:srgbClr val="000000">
                      <a:alpha val="43137"/>
                    </a:srgbClr>
                  </a:outerShdw>
                </a:effectLst>
              </a:rPr>
              <a:t>Layer</a:t>
            </a:r>
            <a:r>
              <a:rPr lang="zh-CN" altLang="en-US" sz="2400" b="1" dirty="0">
                <a:solidFill>
                  <a:srgbClr val="FF0000"/>
                </a:solidFill>
                <a:effectLst>
                  <a:outerShdw blurRad="38100" dist="38100" dir="2700000" algn="tl">
                    <a:srgbClr val="000000">
                      <a:alpha val="43137"/>
                    </a:srgbClr>
                  </a:outerShdw>
                </a:effectLst>
              </a:rPr>
              <a:t>、</a:t>
            </a:r>
            <a:r>
              <a:rPr lang="en-US" altLang="zh-CN" sz="2400" b="1" dirty="0">
                <a:solidFill>
                  <a:srgbClr val="FF0000"/>
                </a:solidFill>
                <a:effectLst>
                  <a:outerShdw blurRad="38100" dist="38100" dir="2700000" algn="tl">
                    <a:srgbClr val="000000">
                      <a:alpha val="43137"/>
                    </a:srgbClr>
                  </a:outerShdw>
                </a:effectLst>
              </a:rPr>
              <a:t>Source</a:t>
            </a:r>
            <a:r>
              <a:rPr lang="zh-CN" altLang="en-US" sz="2400" b="1" dirty="0">
                <a:solidFill>
                  <a:srgbClr val="FF0000"/>
                </a:solidFill>
                <a:effectLst>
                  <a:outerShdw blurRad="38100" dist="38100" dir="2700000" algn="tl">
                    <a:srgbClr val="000000">
                      <a:alpha val="43137"/>
                    </a:srgbClr>
                  </a:outerShdw>
                </a:effectLst>
              </a:rPr>
              <a:t>、</a:t>
            </a:r>
            <a:r>
              <a:rPr lang="en-US" altLang="zh-CN" sz="2400" b="1" dirty="0">
                <a:solidFill>
                  <a:srgbClr val="FF0000"/>
                </a:solidFill>
                <a:effectLst>
                  <a:outerShdw blurRad="38100" dist="38100" dir="2700000" algn="tl">
                    <a:srgbClr val="000000">
                      <a:alpha val="43137"/>
                    </a:srgbClr>
                  </a:outerShdw>
                </a:effectLst>
              </a:rPr>
              <a:t>View</a:t>
            </a:r>
            <a:r>
              <a:rPr lang="zh-CN" altLang="en-US" sz="2400" b="1" dirty="0">
                <a:solidFill>
                  <a:srgbClr val="FF0000"/>
                </a:solidFill>
                <a:effectLst>
                  <a:outerShdw blurRad="38100" dist="38100" dir="2700000" algn="tl">
                    <a:srgbClr val="000000">
                      <a:alpha val="43137"/>
                    </a:srgbClr>
                  </a:outerShdw>
                </a:effectLst>
              </a:rPr>
              <a:t>。</a:t>
            </a:r>
            <a:r>
              <a:rPr lang="zh-CN" altLang="en-US" sz="2400" b="1" dirty="0">
                <a:effectLst>
                  <a:outerShdw blurRad="38100" dist="38100" dir="2700000" algn="tl">
                    <a:srgbClr val="000000">
                      <a:alpha val="43137"/>
                    </a:srgbClr>
                  </a:outerShdw>
                </a:effectLst>
              </a:rPr>
              <a:t>几乎所有的动作都围绕这些核心类展开，从而实现地图加载和相关操作。</a:t>
            </a:r>
          </a:p>
        </p:txBody>
      </p:sp>
    </p:spTree>
    <p:extLst>
      <p:ext uri="{BB962C8B-B14F-4D97-AF65-F5344CB8AC3E}">
        <p14:creationId xmlns:p14="http://schemas.microsoft.com/office/powerpoint/2010/main" val="1890329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14</a:t>
            </a:fld>
            <a:endParaRPr lang="en-US" altLang="zh-CN"/>
          </a:p>
        </p:txBody>
      </p:sp>
      <p:sp>
        <p:nvSpPr>
          <p:cNvPr id="6" name="文本框 5"/>
          <p:cNvSpPr txBox="1"/>
          <p:nvPr/>
        </p:nvSpPr>
        <p:spPr>
          <a:xfrm>
            <a:off x="2771800" y="5793431"/>
            <a:ext cx="4680520" cy="400110"/>
          </a:xfrm>
          <a:prstGeom prst="rect">
            <a:avLst/>
          </a:prstGeom>
          <a:noFill/>
        </p:spPr>
        <p:txBody>
          <a:bodyPr wrap="square" rtlCol="0">
            <a:spAutoFit/>
          </a:bodyPr>
          <a:lstStyle/>
          <a:p>
            <a:r>
              <a:rPr lang="zh-CN" altLang="en-US" sz="2000" b="1" dirty="0">
                <a:solidFill>
                  <a:srgbClr val="0066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图 </a:t>
            </a:r>
            <a:r>
              <a:rPr lang="en-US" altLang="zh-CN" sz="2000" b="1" dirty="0" err="1">
                <a:solidFill>
                  <a:srgbClr val="0066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OpenLayers</a:t>
            </a:r>
            <a:r>
              <a:rPr lang="en-US" altLang="zh-CN" sz="2000" b="1" dirty="0">
                <a:solidFill>
                  <a:srgbClr val="0066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 5 </a:t>
            </a:r>
            <a:r>
              <a:rPr lang="zh-CN" altLang="en-US" sz="2000" b="1" dirty="0">
                <a:solidFill>
                  <a:srgbClr val="0066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体系结构框架</a:t>
            </a:r>
          </a:p>
        </p:txBody>
      </p:sp>
      <p:pic>
        <p:nvPicPr>
          <p:cNvPr id="2" name="图片 1"/>
          <p:cNvPicPr>
            <a:picLocks noChangeAspect="1"/>
          </p:cNvPicPr>
          <p:nvPr/>
        </p:nvPicPr>
        <p:blipFill>
          <a:blip r:embed="rId3"/>
          <a:stretch>
            <a:fillRect/>
          </a:stretch>
        </p:blipFill>
        <p:spPr>
          <a:xfrm>
            <a:off x="1115616" y="341045"/>
            <a:ext cx="7128792" cy="5486945"/>
          </a:xfrm>
          <a:prstGeom prst="rect">
            <a:avLst/>
          </a:prstGeom>
        </p:spPr>
      </p:pic>
    </p:spTree>
    <p:extLst>
      <p:ext uri="{BB962C8B-B14F-4D97-AF65-F5344CB8AC3E}">
        <p14:creationId xmlns:p14="http://schemas.microsoft.com/office/powerpoint/2010/main" val="1856824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15</a:t>
            </a:fld>
            <a:endParaRPr lang="en-US" altLang="zh-CN"/>
          </a:p>
        </p:txBody>
      </p:sp>
      <p:sp>
        <p:nvSpPr>
          <p:cNvPr id="2" name="矩形 1">
            <a:extLst>
              <a:ext uri="{FF2B5EF4-FFF2-40B4-BE49-F238E27FC236}">
                <a16:creationId xmlns:a16="http://schemas.microsoft.com/office/drawing/2014/main" id="{EF23B44F-E0DA-4F2A-B6AA-8AEFB3DE9DF9}"/>
              </a:ext>
            </a:extLst>
          </p:cNvPr>
          <p:cNvSpPr/>
          <p:nvPr/>
        </p:nvSpPr>
        <p:spPr>
          <a:xfrm>
            <a:off x="683568" y="476672"/>
            <a:ext cx="4032448" cy="654988"/>
          </a:xfrm>
          <a:prstGeom prst="rect">
            <a:avLst/>
          </a:prstGeom>
        </p:spPr>
        <p:txBody>
          <a:bodyPr wrap="square">
            <a:spAutoFit/>
          </a:bodyPr>
          <a:lstStyle/>
          <a:p>
            <a:pPr>
              <a:lnSpc>
                <a:spcPct val="150000"/>
              </a:lnSpc>
              <a:spcBef>
                <a:spcPts val="1200"/>
              </a:spcBef>
              <a:buClr>
                <a:schemeClr val="accent1"/>
              </a:buClr>
              <a:buSzPct val="65000"/>
              <a:defRPr/>
            </a:pPr>
            <a:r>
              <a:rPr lang="zh-CN" altLang="en-US" sz="2800" b="1" dirty="0">
                <a:effectLst>
                  <a:outerShdw blurRad="38100" dist="38100" dir="2700000" algn="tl">
                    <a:srgbClr val="000000">
                      <a:alpha val="43137"/>
                    </a:srgbClr>
                  </a:outerShdw>
                </a:effectLst>
              </a:rPr>
              <a:t>三、工作原理</a:t>
            </a:r>
          </a:p>
        </p:txBody>
      </p:sp>
      <p:sp>
        <p:nvSpPr>
          <p:cNvPr id="5" name="矩形 4">
            <a:extLst>
              <a:ext uri="{FF2B5EF4-FFF2-40B4-BE49-F238E27FC236}">
                <a16:creationId xmlns:a16="http://schemas.microsoft.com/office/drawing/2014/main" id="{46438EC3-024D-441D-85FE-FB431396D687}"/>
              </a:ext>
            </a:extLst>
          </p:cNvPr>
          <p:cNvSpPr/>
          <p:nvPr/>
        </p:nvSpPr>
        <p:spPr>
          <a:xfrm>
            <a:off x="971600" y="1268760"/>
            <a:ext cx="7776864" cy="2698239"/>
          </a:xfrm>
          <a:prstGeom prst="rect">
            <a:avLst/>
          </a:prstGeom>
        </p:spPr>
        <p:txBody>
          <a:bodyPr wrap="square">
            <a:spAutoFit/>
          </a:bodyPr>
          <a:lstStyle/>
          <a:p>
            <a:pPr lvl="0">
              <a:lnSpc>
                <a:spcPct val="150000"/>
              </a:lnSpc>
              <a:spcBef>
                <a:spcPts val="1200"/>
              </a:spcBef>
              <a:defRPr/>
            </a:pPr>
            <a:r>
              <a:rPr lang="zh-CN" altLang="en-US" sz="2400" b="1" dirty="0">
                <a:effectLst>
                  <a:outerShdw blurRad="38100" dist="38100" dir="2700000" algn="tl">
                    <a:srgbClr val="000000">
                      <a:alpha val="43137"/>
                    </a:srgbClr>
                  </a:outerShdw>
                </a:effectLst>
              </a:rPr>
              <a:t>针对复杂的空间数据：</a:t>
            </a:r>
            <a:endParaRPr lang="en-US" altLang="zh-CN" sz="2400" b="1" dirty="0">
              <a:effectLst>
                <a:outerShdw blurRad="38100" dist="38100" dir="2700000" algn="tl">
                  <a:srgbClr val="000000">
                    <a:alpha val="43137"/>
                  </a:srgbClr>
                </a:outerShdw>
              </a:effectLst>
            </a:endParaRPr>
          </a:p>
          <a:p>
            <a:pPr marL="285750" lvl="0" indent="-285750">
              <a:lnSpc>
                <a:spcPct val="150000"/>
              </a:lnSpc>
              <a:spcBef>
                <a:spcPts val="1200"/>
              </a:spcBef>
              <a:buClr>
                <a:srgbClr val="CC0066"/>
              </a:buClr>
              <a:buFont typeface="Wingdings" panose="05000000000000000000" pitchFamily="2" charset="2"/>
              <a:buChar char="l"/>
              <a:defRPr/>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Openlayers</a:t>
            </a:r>
            <a:r>
              <a:rPr lang="zh-CN" altLang="en-US" sz="2400" b="1" dirty="0">
                <a:effectLst>
                  <a:outerShdw blurRad="38100" dist="38100" dir="2700000" algn="tl">
                    <a:srgbClr val="000000">
                      <a:alpha val="43137"/>
                    </a:srgbClr>
                  </a:outerShdw>
                </a:effectLst>
              </a:rPr>
              <a:t>如何将这些空间数据抽象为类？</a:t>
            </a:r>
            <a:endParaRPr lang="en-US" altLang="zh-CN" sz="2400" b="1" dirty="0">
              <a:effectLst>
                <a:outerShdw blurRad="38100" dist="38100" dir="2700000" algn="tl">
                  <a:srgbClr val="000000">
                    <a:alpha val="43137"/>
                  </a:srgbClr>
                </a:outerShdw>
              </a:effectLst>
            </a:endParaRPr>
          </a:p>
          <a:p>
            <a:pPr marL="285750" lvl="0" indent="-285750">
              <a:lnSpc>
                <a:spcPct val="150000"/>
              </a:lnSpc>
              <a:spcBef>
                <a:spcPts val="1200"/>
              </a:spcBef>
              <a:buClr>
                <a:srgbClr val="CC0066"/>
              </a:buClr>
              <a:buFont typeface="Wingdings" panose="05000000000000000000" pitchFamily="2" charset="2"/>
              <a:buChar char="l"/>
              <a:defRPr/>
            </a:pPr>
            <a:r>
              <a:rPr lang="zh-CN" altLang="en-US" sz="2400" b="1" dirty="0">
                <a:effectLst>
                  <a:outerShdw blurRad="38100" dist="38100" dir="2700000" algn="tl">
                    <a:srgbClr val="000000">
                      <a:alpha val="43137"/>
                    </a:srgbClr>
                  </a:outerShdw>
                </a:effectLst>
              </a:rPr>
              <a:t> 如何解析各种空间数据源？</a:t>
            </a:r>
            <a:endParaRPr lang="en-US" altLang="zh-CN" sz="2400" b="1" dirty="0">
              <a:effectLst>
                <a:outerShdw blurRad="38100" dist="38100" dir="2700000" algn="tl">
                  <a:srgbClr val="000000">
                    <a:alpha val="43137"/>
                  </a:srgbClr>
                </a:outerShdw>
              </a:effectLst>
            </a:endParaRPr>
          </a:p>
          <a:p>
            <a:pPr marL="285750" lvl="0" indent="-285750">
              <a:lnSpc>
                <a:spcPct val="150000"/>
              </a:lnSpc>
              <a:spcBef>
                <a:spcPts val="1200"/>
              </a:spcBef>
              <a:buClr>
                <a:srgbClr val="CC0066"/>
              </a:buClr>
              <a:buFont typeface="Wingdings" panose="05000000000000000000" pitchFamily="2" charset="2"/>
              <a:buChar char="l"/>
              <a:defRPr/>
            </a:pPr>
            <a:r>
              <a:rPr lang="zh-CN" altLang="en-US" sz="2400" b="1" dirty="0">
                <a:effectLst>
                  <a:outerShdw blurRad="38100" dist="38100" dir="2700000" algn="tl">
                    <a:srgbClr val="000000">
                      <a:alpha val="43137"/>
                    </a:srgbClr>
                  </a:outerShdw>
                </a:effectLst>
              </a:rPr>
              <a:t> 又是如何渲染并在客户端展示？</a:t>
            </a:r>
          </a:p>
        </p:txBody>
      </p:sp>
    </p:spTree>
    <p:extLst>
      <p:ext uri="{BB962C8B-B14F-4D97-AF65-F5344CB8AC3E}">
        <p14:creationId xmlns:p14="http://schemas.microsoft.com/office/powerpoint/2010/main" val="2085927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16</a:t>
            </a:fld>
            <a:endParaRPr lang="en-US" altLang="zh-CN"/>
          </a:p>
        </p:txBody>
      </p:sp>
      <p:sp>
        <p:nvSpPr>
          <p:cNvPr id="5" name="标题 1"/>
          <p:cNvSpPr>
            <a:spLocks noGrp="1"/>
          </p:cNvSpPr>
          <p:nvPr>
            <p:ph type="title"/>
          </p:nvPr>
        </p:nvSpPr>
        <p:spPr>
          <a:xfrm>
            <a:off x="683568" y="1337302"/>
            <a:ext cx="8229600" cy="629139"/>
          </a:xfrm>
        </p:spPr>
        <p:txBody>
          <a:bodyPr/>
          <a:lstStyle/>
          <a:p>
            <a:pPr marL="342900" indent="-342900" eaLnBrk="1" hangingPunct="1">
              <a:spcBef>
                <a:spcPct val="20000"/>
              </a:spcBef>
              <a:buClr>
                <a:schemeClr val="accent1"/>
              </a:buClr>
              <a:buSzPct val="65000"/>
              <a:defRPr/>
            </a:pPr>
            <a:r>
              <a:rPr lang="zh-CN" altLang="en-US" sz="2800" b="1" kern="1200" dirty="0">
                <a:solidFill>
                  <a:srgbClr val="0066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a:t>
            </a:r>
            <a:r>
              <a:rPr lang="en-US" altLang="zh-CN" sz="2800" b="1" kern="1200" dirty="0">
                <a:solidFill>
                  <a:srgbClr val="0066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1</a:t>
            </a:r>
            <a:r>
              <a:rPr lang="zh-CN" altLang="en-US" sz="2800" b="1" kern="1200" dirty="0">
                <a:solidFill>
                  <a:srgbClr val="0066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a:t>
            </a:r>
            <a:r>
              <a:rPr lang="en-US" altLang="zh-CN" sz="2800" b="1" kern="1200" dirty="0" err="1">
                <a:solidFill>
                  <a:srgbClr val="0066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OpenLayers</a:t>
            </a:r>
            <a:r>
              <a:rPr lang="en-US" altLang="zh-CN" sz="2800" b="1" kern="1200" dirty="0">
                <a:solidFill>
                  <a:srgbClr val="0066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 5</a:t>
            </a:r>
            <a:r>
              <a:rPr lang="zh-CN" altLang="en-US" sz="2800" b="1" kern="1200" dirty="0">
                <a:solidFill>
                  <a:srgbClr val="006600"/>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的数据源</a:t>
            </a:r>
          </a:p>
        </p:txBody>
      </p:sp>
      <p:sp>
        <p:nvSpPr>
          <p:cNvPr id="2" name="矩形 1">
            <a:extLst>
              <a:ext uri="{FF2B5EF4-FFF2-40B4-BE49-F238E27FC236}">
                <a16:creationId xmlns:a16="http://schemas.microsoft.com/office/drawing/2014/main" id="{AF3F23A1-6116-4E89-998F-FA66E39BF7E0}"/>
              </a:ext>
            </a:extLst>
          </p:cNvPr>
          <p:cNvSpPr/>
          <p:nvPr/>
        </p:nvSpPr>
        <p:spPr>
          <a:xfrm>
            <a:off x="822412" y="2276872"/>
            <a:ext cx="7499176" cy="2238241"/>
          </a:xfrm>
          <a:prstGeom prst="rect">
            <a:avLst/>
          </a:prstGeom>
        </p:spPr>
        <p:txBody>
          <a:bodyPr wrap="square">
            <a:spAutoFit/>
          </a:bodyPr>
          <a:lstStyle/>
          <a:p>
            <a:pPr>
              <a:lnSpc>
                <a:spcPct val="150000"/>
              </a:lnSpc>
              <a:spcBef>
                <a:spcPts val="1200"/>
              </a:spcBef>
              <a:defRPr/>
            </a:pPr>
            <a:r>
              <a:rPr lang="zh-CN" altLang="en-US" sz="2400" dirty="0">
                <a:latin typeface="Times New Roman" panose="02020603050405020304" pitchFamily="18" charset="0"/>
                <a:ea typeface="+mn-ea"/>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地图数据根据数据源</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(Source)</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可分为</a:t>
            </a:r>
            <a:r>
              <a:rPr lang="en-US" altLang="zh-CN" sz="2400" b="1"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Image</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Tile</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400" b="1" dirty="0">
                <a:solidFill>
                  <a:srgbClr val="0066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Vector</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三大类</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，对应设置到</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Image</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Tile</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Vector</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三大类图层</a:t>
            </a:r>
            <a:r>
              <a:rPr lang="en-US" altLang="zh-CN"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(Layer)</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中。其中，</a:t>
            </a:r>
            <a:r>
              <a:rPr lang="zh-CN" altLang="en-US" sz="2400" b="1" u="sng"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矢量图层</a:t>
            </a:r>
            <a:r>
              <a:rPr lang="en-US" altLang="zh-CN" sz="2400" b="1" u="sng"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Vector</a:t>
            </a:r>
            <a:r>
              <a:rPr lang="zh-CN" altLang="en-US" sz="2400" b="1" u="sng"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通过样式</a:t>
            </a:r>
            <a:r>
              <a:rPr lang="en-US" altLang="zh-CN" sz="2400" b="1" u="sng" dirty="0">
                <a:solidFill>
                  <a:srgbClr val="FF0000"/>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(Style)</a:t>
            </a:r>
            <a:r>
              <a:rPr lang="zh-CN" altLang="en-US" sz="2400" b="1" u="sng"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来设置矢量数据渲染的方式和外观</a:t>
            </a:r>
            <a:r>
              <a:rPr lang="zh-CN" altLang="en-US" sz="2400" b="1" dirty="0">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a:t>
            </a:r>
          </a:p>
        </p:txBody>
      </p:sp>
      <p:sp>
        <p:nvSpPr>
          <p:cNvPr id="6" name="矩形 5">
            <a:extLst>
              <a:ext uri="{FF2B5EF4-FFF2-40B4-BE49-F238E27FC236}">
                <a16:creationId xmlns:a16="http://schemas.microsoft.com/office/drawing/2014/main" id="{F4335B0C-918D-46A3-BF30-781563D7301F}"/>
              </a:ext>
            </a:extLst>
          </p:cNvPr>
          <p:cNvSpPr/>
          <p:nvPr/>
        </p:nvSpPr>
        <p:spPr>
          <a:xfrm>
            <a:off x="467544" y="337839"/>
            <a:ext cx="4896544" cy="1305165"/>
          </a:xfrm>
          <a:prstGeom prst="rect">
            <a:avLst/>
          </a:prstGeom>
        </p:spPr>
        <p:txBody>
          <a:bodyPr wrap="square">
            <a:spAutoFit/>
          </a:bodyPr>
          <a:lstStyle/>
          <a:p>
            <a:pPr>
              <a:lnSpc>
                <a:spcPct val="150000"/>
              </a:lnSpc>
            </a:pPr>
            <a:r>
              <a:rPr lang="en-US" altLang="zh-CN" sz="2800" b="1" dirty="0">
                <a:effectLst>
                  <a:outerShdw blurRad="38100" dist="38100" dir="2700000" algn="tl">
                    <a:srgbClr val="000000">
                      <a:alpha val="43137"/>
                    </a:srgbClr>
                  </a:outerShdw>
                </a:effectLst>
              </a:rPr>
              <a:t>1.</a:t>
            </a:r>
            <a:r>
              <a:rPr lang="zh-CN" altLang="en-US" sz="2800" b="1" dirty="0">
                <a:effectLst>
                  <a:outerShdw blurRad="38100" dist="38100" dir="2700000" algn="tl">
                    <a:srgbClr val="000000">
                      <a:alpha val="43137"/>
                    </a:srgbClr>
                  </a:outerShdw>
                </a:effectLst>
              </a:rPr>
              <a:t>数据组织</a:t>
            </a:r>
            <a:endParaRPr lang="en-US" altLang="zh-CN" sz="2800" b="1" dirty="0">
              <a:effectLst>
                <a:outerShdw blurRad="38100" dist="38100" dir="2700000" algn="tl">
                  <a:srgbClr val="000000">
                    <a:alpha val="43137"/>
                  </a:srgbClr>
                </a:outerShdw>
              </a:effectLst>
            </a:endParaRPr>
          </a:p>
          <a:p>
            <a:pPr>
              <a:lnSpc>
                <a:spcPct val="150000"/>
              </a:lnSpc>
            </a:pPr>
            <a:r>
              <a:rPr lang="en-US" altLang="zh-CN" sz="2800" b="1" dirty="0">
                <a:effectLst>
                  <a:outerShdw blurRad="38100" dist="38100" dir="2700000" algn="tl">
                    <a:srgbClr val="000000">
                      <a:alpha val="43137"/>
                    </a:srgbClr>
                  </a:outerShdw>
                </a:effectLst>
              </a:rPr>
              <a:t>   </a:t>
            </a:r>
            <a:endParaRPr lang="zh-CN" altLang="en-US" sz="2800" b="1" dirty="0">
              <a:solidFill>
                <a:srgbClr val="0066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58229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17</a:t>
            </a:fld>
            <a:endParaRPr lang="en-US" altLang="zh-CN"/>
          </a:p>
        </p:txBody>
      </p:sp>
      <p:pic>
        <p:nvPicPr>
          <p:cNvPr id="3" name="图片 2"/>
          <p:cNvPicPr>
            <a:picLocks noChangeAspect="1"/>
          </p:cNvPicPr>
          <p:nvPr/>
        </p:nvPicPr>
        <p:blipFill>
          <a:blip r:embed="rId3"/>
          <a:stretch>
            <a:fillRect/>
          </a:stretch>
        </p:blipFill>
        <p:spPr>
          <a:xfrm>
            <a:off x="218285" y="692696"/>
            <a:ext cx="8917471" cy="4536504"/>
          </a:xfrm>
          <a:prstGeom prst="rect">
            <a:avLst/>
          </a:prstGeom>
        </p:spPr>
      </p:pic>
      <p:sp>
        <p:nvSpPr>
          <p:cNvPr id="5" name="矩形 4"/>
          <p:cNvSpPr/>
          <p:nvPr/>
        </p:nvSpPr>
        <p:spPr>
          <a:xfrm>
            <a:off x="2680319" y="5551753"/>
            <a:ext cx="3070071" cy="369332"/>
          </a:xfrm>
          <a:prstGeom prst="rect">
            <a:avLst/>
          </a:prstGeom>
        </p:spPr>
        <p:txBody>
          <a:bodyPr wrap="none">
            <a:spAutoFit/>
          </a:bodyPr>
          <a:lstStyle/>
          <a:p>
            <a:r>
              <a:rPr lang="zh-CN" altLang="en-US" dirty="0">
                <a:solidFill>
                  <a:srgbClr val="000000"/>
                </a:solidFill>
                <a:latin typeface="楷体" panose="02010609060101010101" pitchFamily="49" charset="-122"/>
                <a:ea typeface="楷体" panose="02010609060101010101" pitchFamily="49" charset="-122"/>
              </a:rPr>
              <a:t>图 地图图层与数据源的关系</a:t>
            </a:r>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646297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18</a:t>
            </a:fld>
            <a:endParaRPr lang="en-US" altLang="zh-CN"/>
          </a:p>
        </p:txBody>
      </p:sp>
      <p:sp>
        <p:nvSpPr>
          <p:cNvPr id="3" name="矩形 2">
            <a:extLst>
              <a:ext uri="{FF2B5EF4-FFF2-40B4-BE49-F238E27FC236}">
                <a16:creationId xmlns:a16="http://schemas.microsoft.com/office/drawing/2014/main" id="{BB558628-9FEC-49CD-B21B-1252D6AD7908}"/>
              </a:ext>
            </a:extLst>
          </p:cNvPr>
          <p:cNvSpPr/>
          <p:nvPr/>
        </p:nvSpPr>
        <p:spPr>
          <a:xfrm>
            <a:off x="539552" y="404664"/>
            <a:ext cx="8147248" cy="3617080"/>
          </a:xfrm>
          <a:prstGeom prst="rect">
            <a:avLst/>
          </a:prstGeom>
        </p:spPr>
        <p:txBody>
          <a:bodyPr wrap="square">
            <a:spAutoFit/>
          </a:bodyPr>
          <a:lstStyle/>
          <a:p>
            <a:pPr marL="342900" indent="-342900">
              <a:lnSpc>
                <a:spcPct val="110000"/>
              </a:lnSpc>
              <a:spcBef>
                <a:spcPts val="1200"/>
              </a:spcBef>
              <a:buClr>
                <a:srgbClr val="FF0066"/>
              </a:buClr>
              <a:buSzPct val="85000"/>
              <a:buFont typeface="Wingdings" panose="05000000000000000000" pitchFamily="2" charset="2"/>
              <a:buChar char="n"/>
            </a:pPr>
            <a:r>
              <a:rPr lang="en-US" altLang="zh-CN" sz="2400" b="1" dirty="0">
                <a:solidFill>
                  <a:srgbClr val="0000FF"/>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Image</a:t>
            </a:r>
            <a:r>
              <a:rPr lang="zh-CN" altLang="en-US" sz="2400" b="1" dirty="0">
                <a:solidFill>
                  <a:srgbClr val="0000FF"/>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类</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为单一图像基类，其子类作为画布</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(canvas)</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元素、服务器图片、单个静态图片、</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WMS</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单一图像等的数据源；</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marL="342900" indent="-342900">
              <a:lnSpc>
                <a:spcPct val="110000"/>
              </a:lnSpc>
              <a:spcBef>
                <a:spcPts val="1200"/>
              </a:spcBef>
              <a:buClr>
                <a:srgbClr val="FF0066"/>
              </a:buClr>
              <a:buSzPct val="85000"/>
              <a:buFont typeface="Wingdings" panose="05000000000000000000" pitchFamily="2" charset="2"/>
              <a:buChar char="n"/>
            </a:pPr>
            <a:r>
              <a:rPr lang="en-US" altLang="zh-CN" sz="2400" b="1" dirty="0">
                <a:solidFill>
                  <a:srgbClr val="008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Tile</a:t>
            </a:r>
            <a:r>
              <a:rPr lang="zh-CN" altLang="en-US" sz="2400" b="1" dirty="0">
                <a:solidFill>
                  <a:srgbClr val="008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类</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为瓦片抽象基类，其子类作为各类瓦片数据的数据源；</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a:p>
            <a:pPr marL="342900" indent="-342900">
              <a:lnSpc>
                <a:spcPct val="110000"/>
              </a:lnSpc>
              <a:spcBef>
                <a:spcPts val="1200"/>
              </a:spcBef>
              <a:buClr>
                <a:srgbClr val="FF0066"/>
              </a:buClr>
              <a:buSzPct val="85000"/>
              <a:buFont typeface="Wingdings" panose="05000000000000000000" pitchFamily="2" charset="2"/>
              <a:buChar char="n"/>
            </a:pPr>
            <a:r>
              <a:rPr lang="en-US" altLang="zh-CN"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Vector</a:t>
            </a:r>
            <a:r>
              <a:rPr lang="zh-CN" altLang="en-US" sz="2400" b="1" dirty="0">
                <a:solidFill>
                  <a:srgbClr val="C00000"/>
                </a:solidFill>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类</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则为矢量基类，可直接实例化创建矢量数据的数据源</a:t>
            </a:r>
            <a:r>
              <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rPr>
              <a:t>支持各种格式的矢量数据），其子类则为扩展的某类矢量数据的数据源；</a:t>
            </a:r>
            <a:endParaRPr lang="en-US" altLang="zh-CN" sz="2400" b="1"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3453584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19</a:t>
            </a:fld>
            <a:endParaRPr lang="en-US" altLang="zh-CN"/>
          </a:p>
        </p:txBody>
      </p:sp>
      <p:sp>
        <p:nvSpPr>
          <p:cNvPr id="3" name="矩形 2">
            <a:extLst>
              <a:ext uri="{FF2B5EF4-FFF2-40B4-BE49-F238E27FC236}">
                <a16:creationId xmlns:a16="http://schemas.microsoft.com/office/drawing/2014/main" id="{BB558628-9FEC-49CD-B21B-1252D6AD7908}"/>
              </a:ext>
            </a:extLst>
          </p:cNvPr>
          <p:cNvSpPr/>
          <p:nvPr/>
        </p:nvSpPr>
        <p:spPr>
          <a:xfrm>
            <a:off x="45840" y="548680"/>
            <a:ext cx="8640960" cy="4050148"/>
          </a:xfrm>
          <a:prstGeom prst="rect">
            <a:avLst/>
          </a:prstGeom>
        </p:spPr>
        <p:txBody>
          <a:bodyPr wrap="square">
            <a:spAutoFit/>
          </a:bodyPr>
          <a:lstStyle/>
          <a:p>
            <a:pPr marL="800100" lvl="1" indent="-342900">
              <a:lnSpc>
                <a:spcPct val="125000"/>
              </a:lnSpc>
              <a:spcBef>
                <a:spcPts val="1200"/>
              </a:spcBef>
              <a:buClr>
                <a:srgbClr val="00CC00"/>
              </a:buClr>
              <a:buSzPct val="80000"/>
              <a:buFont typeface="Wingdings" panose="05000000000000000000" pitchFamily="2" charset="2"/>
              <a:buChar char="Ø"/>
            </a:pP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ol.souce.Vector</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是矢量数据源基类，为矢量图层提供具体的数据来源，包括直接组织的矢量数据</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Featrues</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、远程数据源的矢量数据</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即通过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URL </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设置数据源路径</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a:t>
            </a:r>
            <a:endPar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800100" lvl="1" indent="-342900">
              <a:lnSpc>
                <a:spcPct val="125000"/>
              </a:lnSpc>
              <a:spcBef>
                <a:spcPts val="1200"/>
              </a:spcBef>
              <a:buClr>
                <a:srgbClr val="00CC00"/>
              </a:buClr>
              <a:buSzPct val="80000"/>
              <a:buFont typeface="Wingdings" panose="05000000000000000000" pitchFamily="2" charset="2"/>
              <a:buChar char="Ø"/>
            </a:pP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URL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设置的矢量数据源，则通过解析器 </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Format(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即 </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ol.format.Feature</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的子类</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来解析</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XML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Text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JSON</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格式的各类矢量数据，如</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GML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KML</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GPS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WFS</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WKT</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4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GeoJSON</a:t>
            </a:r>
            <a:r>
              <a:rPr lang="zh-CN" alt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等地图数据。</a:t>
            </a:r>
          </a:p>
          <a:p>
            <a:pPr marL="342900" indent="-342900">
              <a:lnSpc>
                <a:spcPct val="125000"/>
              </a:lnSpc>
              <a:spcBef>
                <a:spcPts val="1200"/>
              </a:spcBef>
              <a:buClr>
                <a:srgbClr val="FF0066"/>
              </a:buClr>
              <a:buSzPct val="85000"/>
              <a:buFont typeface="Wingdings" panose="05000000000000000000" pitchFamily="2" charset="2"/>
              <a:buChar char="n"/>
            </a:pPr>
            <a:endParaRPr lang="zh-CN" altLang="en-US" sz="2400" dirty="0">
              <a:effectLst>
                <a:outerShdw blurRad="38100" dist="38100" dir="2700000" algn="tl">
                  <a:srgbClr val="000000">
                    <a:alpha val="43137"/>
                  </a:srgbClr>
                </a:outerShdw>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658334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20</a:t>
            </a:fld>
            <a:endParaRPr lang="en-US" altLang="zh-CN"/>
          </a:p>
        </p:txBody>
      </p:sp>
      <p:sp>
        <p:nvSpPr>
          <p:cNvPr id="3" name="矩形 2">
            <a:extLst>
              <a:ext uri="{FF2B5EF4-FFF2-40B4-BE49-F238E27FC236}">
                <a16:creationId xmlns:a16="http://schemas.microsoft.com/office/drawing/2014/main" id="{9B560246-36BD-412F-8854-5805DFC3E596}"/>
              </a:ext>
            </a:extLst>
          </p:cNvPr>
          <p:cNvSpPr/>
          <p:nvPr/>
        </p:nvSpPr>
        <p:spPr>
          <a:xfrm>
            <a:off x="395536" y="476672"/>
            <a:ext cx="4896544" cy="654988"/>
          </a:xfrm>
          <a:prstGeom prst="rect">
            <a:avLst/>
          </a:prstGeom>
        </p:spPr>
        <p:txBody>
          <a:bodyPr wrap="square">
            <a:spAutoFit/>
          </a:bodyPr>
          <a:lstStyle/>
          <a:p>
            <a:pPr>
              <a:lnSpc>
                <a:spcPct val="150000"/>
              </a:lnSpc>
            </a:pPr>
            <a:r>
              <a:rPr lang="zh-CN" altLang="en-US" sz="2800" b="1" dirty="0">
                <a:solidFill>
                  <a:srgbClr val="006600"/>
                </a:solidFill>
                <a:effectLst>
                  <a:outerShdw blurRad="38100" dist="38100" dir="2700000" algn="tl">
                    <a:srgbClr val="000000">
                      <a:alpha val="43137"/>
                    </a:srgbClr>
                  </a:outerShdw>
                </a:effectLst>
              </a:rPr>
              <a:t>（</a:t>
            </a:r>
            <a:r>
              <a:rPr lang="en-US" altLang="zh-CN" sz="2800" b="1" dirty="0">
                <a:solidFill>
                  <a:srgbClr val="006600"/>
                </a:solidFill>
                <a:effectLst>
                  <a:outerShdw blurRad="38100" dist="38100" dir="2700000" algn="tl">
                    <a:srgbClr val="000000">
                      <a:alpha val="43137"/>
                    </a:srgbClr>
                  </a:outerShdw>
                </a:effectLst>
              </a:rPr>
              <a:t>2</a:t>
            </a:r>
            <a:r>
              <a:rPr lang="zh-CN" altLang="en-US" sz="2800" b="1" dirty="0">
                <a:solidFill>
                  <a:srgbClr val="006600"/>
                </a:solidFill>
                <a:effectLst>
                  <a:outerShdw blurRad="38100" dist="38100" dir="2700000" algn="tl">
                    <a:srgbClr val="000000">
                      <a:alpha val="43137"/>
                    </a:srgbClr>
                  </a:outerShdw>
                </a:effectLst>
              </a:rPr>
              <a:t>）矢量数据</a:t>
            </a:r>
          </a:p>
        </p:txBody>
      </p:sp>
      <p:sp>
        <p:nvSpPr>
          <p:cNvPr id="5" name="矩形 4">
            <a:extLst>
              <a:ext uri="{FF2B5EF4-FFF2-40B4-BE49-F238E27FC236}">
                <a16:creationId xmlns:a16="http://schemas.microsoft.com/office/drawing/2014/main" id="{25E5213E-4BFC-4B12-B9F3-422FD5DD04AB}"/>
              </a:ext>
            </a:extLst>
          </p:cNvPr>
          <p:cNvSpPr/>
          <p:nvPr/>
        </p:nvSpPr>
        <p:spPr>
          <a:xfrm>
            <a:off x="484784" y="1268760"/>
            <a:ext cx="8208912" cy="2862322"/>
          </a:xfrm>
          <a:prstGeom prst="rect">
            <a:avLst/>
          </a:prstGeom>
        </p:spPr>
        <p:txBody>
          <a:bodyPr wrap="square">
            <a:spAutoFit/>
          </a:bodyPr>
          <a:lstStyle/>
          <a:p>
            <a:pPr lvl="0">
              <a:lnSpc>
                <a:spcPct val="150000"/>
              </a:lnSpc>
              <a:spcBef>
                <a:spcPct val="30000"/>
              </a:spcBef>
              <a:defRPr/>
            </a:pPr>
            <a:r>
              <a:rPr lang="zh-CN" altLang="en-US" sz="2400" b="1" dirty="0">
                <a:effectLst>
                  <a:outerShdw blurRad="38100" dist="38100" dir="2700000" algn="tl">
                    <a:srgbClr val="000000">
                      <a:alpha val="43137"/>
                    </a:srgbClr>
                  </a:outerShdw>
                </a:effectLst>
              </a:rPr>
              <a:t>       从表现形态来看，空间数据的矢量数据由点、线、面三类要素构成，将这些要素对应到 </a:t>
            </a:r>
            <a:r>
              <a:rPr lang="en-US" altLang="zh-CN" sz="2400" b="1" dirty="0">
                <a:effectLst>
                  <a:outerShdw blurRad="38100" dist="38100" dir="2700000" algn="tl">
                    <a:srgbClr val="000000">
                      <a:alpha val="43137"/>
                    </a:srgbClr>
                  </a:outerShdw>
                </a:effectLst>
              </a:rPr>
              <a:t>Web</a:t>
            </a:r>
            <a:r>
              <a:rPr lang="zh-CN" altLang="en-US" sz="2400" b="1" dirty="0">
                <a:effectLst>
                  <a:outerShdw blurRad="38100" dist="38100" dir="2700000" algn="tl">
                    <a:srgbClr val="000000">
                      <a:alpha val="43137"/>
                    </a:srgbClr>
                  </a:outerShdw>
                </a:effectLst>
              </a:rPr>
              <a:t>客户端表现时，需要抽象为相应的类，包括要素之间的关系。在</a:t>
            </a:r>
            <a:r>
              <a:rPr lang="en-US" altLang="zh-CN" sz="2400" b="1" dirty="0" err="1">
                <a:effectLst>
                  <a:outerShdw blurRad="38100" dist="38100" dir="2700000" algn="tl">
                    <a:srgbClr val="000000">
                      <a:alpha val="43137"/>
                    </a:srgbClr>
                  </a:outerShdw>
                </a:effectLst>
              </a:rPr>
              <a:t>OpenLayers</a:t>
            </a:r>
            <a:r>
              <a:rPr lang="en-US" altLang="zh-CN" sz="2400" b="1" dirty="0">
                <a:effectLst>
                  <a:outerShdw blurRad="38100" dist="38100" dir="2700000" algn="tl">
                    <a:srgbClr val="000000">
                      <a:alpha val="43137"/>
                    </a:srgbClr>
                  </a:outerShdw>
                </a:effectLst>
              </a:rPr>
              <a:t> 5</a:t>
            </a:r>
            <a:r>
              <a:rPr lang="zh-CN" altLang="en-US" sz="2400" b="1" dirty="0">
                <a:effectLst>
                  <a:outerShdw blurRad="38100" dist="38100" dir="2700000" algn="tl">
                    <a:srgbClr val="000000">
                      <a:alpha val="43137"/>
                    </a:srgbClr>
                  </a:outerShdw>
                </a:effectLst>
              </a:rPr>
              <a:t>中，</a:t>
            </a:r>
            <a:r>
              <a:rPr lang="zh-CN" altLang="en-US" sz="2400" b="1" u="sng" dirty="0">
                <a:solidFill>
                  <a:srgbClr val="0000FF"/>
                </a:solidFill>
                <a:effectLst>
                  <a:outerShdw blurRad="38100" dist="38100" dir="2700000" algn="tl">
                    <a:srgbClr val="000000">
                      <a:alpha val="43137"/>
                    </a:srgbClr>
                  </a:outerShdw>
                </a:effectLst>
              </a:rPr>
              <a:t>矢量数据的抽象主要由</a:t>
            </a:r>
            <a:r>
              <a:rPr lang="en-US" altLang="zh-CN" sz="2400" b="1" u="sng" dirty="0" err="1">
                <a:solidFill>
                  <a:srgbClr val="FF0000"/>
                </a:solidFill>
                <a:effectLst>
                  <a:outerShdw blurRad="38100" dist="38100" dir="2700000" algn="tl">
                    <a:srgbClr val="000000">
                      <a:alpha val="43137"/>
                    </a:srgbClr>
                  </a:outerShdw>
                </a:effectLst>
              </a:rPr>
              <a:t>ol.geom.Geometry</a:t>
            </a:r>
            <a:r>
              <a:rPr lang="zh-CN" altLang="en-US" sz="2400" b="1" u="sng" dirty="0">
                <a:solidFill>
                  <a:srgbClr val="0000FF"/>
                </a:solidFill>
                <a:effectLst>
                  <a:outerShdw blurRad="38100" dist="38100" dir="2700000" algn="tl">
                    <a:srgbClr val="000000">
                      <a:alpha val="43137"/>
                    </a:srgbClr>
                  </a:outerShdw>
                </a:effectLst>
              </a:rPr>
              <a:t>类下的几何对象子类实现。</a:t>
            </a:r>
          </a:p>
        </p:txBody>
      </p:sp>
    </p:spTree>
    <p:extLst>
      <p:ext uri="{BB962C8B-B14F-4D97-AF65-F5344CB8AC3E}">
        <p14:creationId xmlns:p14="http://schemas.microsoft.com/office/powerpoint/2010/main" val="1960788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A9E6ED8-7A33-4B01-8942-D4BF2F5EE2E3}" type="slidenum">
              <a:rPr lang="en-US" altLang="zh-CN" smtClean="0"/>
              <a:pPr>
                <a:defRPr/>
              </a:pPr>
              <a:t>21</a:t>
            </a:fld>
            <a:endParaRPr lang="en-US" altLang="zh-CN"/>
          </a:p>
        </p:txBody>
      </p:sp>
      <p:pic>
        <p:nvPicPr>
          <p:cNvPr id="3" name="图片 2"/>
          <p:cNvPicPr>
            <a:picLocks noChangeAspect="1"/>
          </p:cNvPicPr>
          <p:nvPr/>
        </p:nvPicPr>
        <p:blipFill>
          <a:blip r:embed="rId3"/>
          <a:stretch>
            <a:fillRect/>
          </a:stretch>
        </p:blipFill>
        <p:spPr>
          <a:xfrm>
            <a:off x="611560" y="1461071"/>
            <a:ext cx="7920880" cy="3348765"/>
          </a:xfrm>
          <a:prstGeom prst="rect">
            <a:avLst/>
          </a:prstGeom>
        </p:spPr>
      </p:pic>
      <p:sp>
        <p:nvSpPr>
          <p:cNvPr id="5" name="矩形 4"/>
          <p:cNvSpPr/>
          <p:nvPr/>
        </p:nvSpPr>
        <p:spPr>
          <a:xfrm>
            <a:off x="2555776" y="5081236"/>
            <a:ext cx="4416594" cy="400110"/>
          </a:xfrm>
          <a:prstGeom prst="rect">
            <a:avLst/>
          </a:prstGeom>
        </p:spPr>
        <p:txBody>
          <a:bodyPr wrap="none">
            <a:spAutoFit/>
          </a:bodyPr>
          <a:lstStyle/>
          <a:p>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图 </a:t>
            </a:r>
            <a:r>
              <a:rPr lang="en-US" altLang="zh-CN"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Geometry</a:t>
            </a:r>
            <a:r>
              <a:rPr lang="zh-CN" altLang="en-US" sz="2000" b="1" dirty="0">
                <a:solidFill>
                  <a:srgbClr val="000000"/>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rPr>
              <a:t>基类及其子类的继承关系</a:t>
            </a:r>
            <a:endParaRPr lang="zh-CN" altLang="en-US" sz="2000" b="1" dirty="0">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矩形 1">
            <a:extLst>
              <a:ext uri="{FF2B5EF4-FFF2-40B4-BE49-F238E27FC236}">
                <a16:creationId xmlns:a16="http://schemas.microsoft.com/office/drawing/2014/main" id="{89A2A243-EF94-4B6F-930F-C04AAD024ACC}"/>
              </a:ext>
            </a:extLst>
          </p:cNvPr>
          <p:cNvSpPr/>
          <p:nvPr/>
        </p:nvSpPr>
        <p:spPr>
          <a:xfrm>
            <a:off x="611560" y="466396"/>
            <a:ext cx="3600400" cy="523220"/>
          </a:xfrm>
          <a:prstGeom prst="rect">
            <a:avLst/>
          </a:prstGeom>
        </p:spPr>
        <p:txBody>
          <a:bodyPr wrap="square">
            <a:spAutoFit/>
          </a:bodyPr>
          <a:lstStyle/>
          <a:p>
            <a:r>
              <a:rPr lang="en-US" altLang="zh-CN" sz="28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ol.geom.Geometry</a:t>
            </a:r>
            <a:endParaRPr lang="zh-CN"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2372926"/>
      </p:ext>
    </p:extLst>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rtlCol="0" anchor="t" anchorCtr="0" compatLnSpc="1">
        <a:prstTxWarp prst="textNoShape">
          <a:avLst/>
        </a:prstTxWarp>
      </a:bodyPr>
      <a:lstStyle>
        <a:defPPr>
          <a:defRPr b="1" dirty="0" smtClean="0">
            <a:latin typeface="Times New Roman" pitchFamily="18" charset="0"/>
            <a:cs typeface="Times New Roman" pitchFamily="18" charset="0"/>
          </a:defRPr>
        </a:defPPr>
      </a:lstStyle>
    </a:spDef>
    <a:lnDef>
      <a:spPr bwMode="auto">
        <a:solidFill>
          <a:schemeClr val="accent1"/>
        </a:solidFill>
        <a:ln w="19050" cap="flat" cmpd="sng" algn="ctr">
          <a:solidFill>
            <a:schemeClr val="tx1"/>
          </a:solidFill>
          <a:prstDash val="solid"/>
          <a:round/>
          <a:headEnd type="none" w="med" len="med"/>
          <a:tailEnd type="none" w="med" len="med"/>
        </a:ln>
        <a:effectLst/>
      </a:spPr>
      <a:body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CDESIGNO</Template>
  <TotalTime>11986</TotalTime>
  <Words>1652</Words>
  <Application>Microsoft Office PowerPoint</Application>
  <PresentationFormat>全屏显示(4:3)</PresentationFormat>
  <Paragraphs>136</Paragraphs>
  <Slides>21</Slides>
  <Notes>21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黑体</vt:lpstr>
      <vt:lpstr>楷体</vt:lpstr>
      <vt:lpstr>宋体</vt:lpstr>
      <vt:lpstr>微软雅黑</vt:lpstr>
      <vt:lpstr>Arial</vt:lpstr>
      <vt:lpstr>Calibri</vt:lpstr>
      <vt:lpstr>Garamond</vt:lpstr>
      <vt:lpstr>Times New Roman</vt:lpstr>
      <vt:lpstr>Wingdings</vt:lpstr>
      <vt:lpstr>Edge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OpenLayers</vt:lpstr>
      <vt:lpstr>一、OpenLayers 概述</vt:lpstr>
      <vt:lpstr>PowerPoint 演示文稿</vt:lpstr>
      <vt:lpstr>PowerPoint 演示文稿</vt:lpstr>
      <vt:lpstr>   3. 应用案例</vt:lpstr>
      <vt:lpstr>PowerPoint 演示文稿</vt:lpstr>
      <vt:lpstr>PowerPoint 演示文稿</vt:lpstr>
      <vt:lpstr>PowerPoint 演示文稿</vt:lpstr>
      <vt:lpstr>（1）OpenLayers 5的数据源</vt:lpstr>
      <vt:lpstr>PowerPoint 演示文稿</vt:lpstr>
      <vt:lpstr>PowerPoint 演示文稿</vt:lpstr>
      <vt:lpstr>PowerPoint 演示文稿</vt:lpstr>
      <vt:lpstr>PowerPoint 演示文稿</vt:lpstr>
      <vt:lpstr>PowerPoint 演示文稿</vt:lpstr>
    </vt:vector>
  </TitlesOfParts>
  <Company>gis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zhangyi</dc:creator>
  <cp:lastModifiedBy>Aegean</cp:lastModifiedBy>
  <cp:revision>1016</cp:revision>
  <cp:lastPrinted>1601-01-01T00:00:00Z</cp:lastPrinted>
  <dcterms:created xsi:type="dcterms:W3CDTF">2002-03-03T13:16:19Z</dcterms:created>
  <dcterms:modified xsi:type="dcterms:W3CDTF">2026-05-11T12:58:33Z</dcterms:modified>
</cp:coreProperties>
</file>