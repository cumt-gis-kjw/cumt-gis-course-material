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53"/>
  </p:notesMasterIdLst>
  <p:sldIdLst>
    <p:sldId id="855" r:id="rId2"/>
    <p:sldId id="935" r:id="rId3"/>
    <p:sldId id="938" r:id="rId4"/>
    <p:sldId id="939" r:id="rId5"/>
    <p:sldId id="940" r:id="rId6"/>
    <p:sldId id="941" r:id="rId7"/>
    <p:sldId id="942" r:id="rId8"/>
    <p:sldId id="786" r:id="rId9"/>
    <p:sldId id="787" r:id="rId10"/>
    <p:sldId id="921" r:id="rId11"/>
    <p:sldId id="815" r:id="rId12"/>
    <p:sldId id="788" r:id="rId13"/>
    <p:sldId id="881" r:id="rId14"/>
    <p:sldId id="882" r:id="rId15"/>
    <p:sldId id="883" r:id="rId16"/>
    <p:sldId id="887" r:id="rId17"/>
    <p:sldId id="888" r:id="rId18"/>
    <p:sldId id="889" r:id="rId19"/>
    <p:sldId id="890" r:id="rId20"/>
    <p:sldId id="967" r:id="rId21"/>
    <p:sldId id="968" r:id="rId22"/>
    <p:sldId id="944" r:id="rId23"/>
    <p:sldId id="945" r:id="rId24"/>
    <p:sldId id="949" r:id="rId25"/>
    <p:sldId id="950" r:id="rId26"/>
    <p:sldId id="953" r:id="rId27"/>
    <p:sldId id="954" r:id="rId28"/>
    <p:sldId id="955" r:id="rId29"/>
    <p:sldId id="957" r:id="rId30"/>
    <p:sldId id="946" r:id="rId31"/>
    <p:sldId id="979" r:id="rId32"/>
    <p:sldId id="947" r:id="rId33"/>
    <p:sldId id="975" r:id="rId34"/>
    <p:sldId id="976" r:id="rId35"/>
    <p:sldId id="977" r:id="rId36"/>
    <p:sldId id="978" r:id="rId37"/>
    <p:sldId id="956" r:id="rId38"/>
    <p:sldId id="958" r:id="rId39"/>
    <p:sldId id="966" r:id="rId40"/>
    <p:sldId id="971" r:id="rId41"/>
    <p:sldId id="974" r:id="rId42"/>
    <p:sldId id="972" r:id="rId43"/>
    <p:sldId id="959" r:id="rId44"/>
    <p:sldId id="960" r:id="rId45"/>
    <p:sldId id="961" r:id="rId46"/>
    <p:sldId id="951" r:id="rId47"/>
    <p:sldId id="952" r:id="rId48"/>
    <p:sldId id="962" r:id="rId49"/>
    <p:sldId id="963" r:id="rId50"/>
    <p:sldId id="964" r:id="rId51"/>
    <p:sldId id="965" r:id="rId5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000FF"/>
    <a:srgbClr val="B9B9B9"/>
    <a:srgbClr val="A07304"/>
    <a:srgbClr val="006600"/>
    <a:srgbClr val="FF0066"/>
    <a:srgbClr val="9900CC"/>
    <a:srgbClr val="FF0000"/>
    <a:srgbClr val="00CC00"/>
    <a:srgbClr val="005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624" autoAdjust="0"/>
    <p:restoredTop sz="59355" autoAdjust="0"/>
  </p:normalViewPr>
  <p:slideViewPr>
    <p:cSldViewPr>
      <p:cViewPr varScale="1">
        <p:scale>
          <a:sx n="58" d="100"/>
          <a:sy n="58" d="100"/>
        </p:scale>
        <p:origin x="2328"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effectLst/>
                <a:latin typeface="Times New Roman" pitchFamily="18" charset="0"/>
              </a:defRPr>
            </a:lvl1pPr>
          </a:lstStyle>
          <a:p>
            <a:pPr>
              <a:defRPr/>
            </a:pPr>
            <a:endParaRPr lang="zh-CN" altLang="en-US"/>
          </a:p>
        </p:txBody>
      </p:sp>
      <p:sp>
        <p:nvSpPr>
          <p:cNvPr id="131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effectLst/>
                <a:latin typeface="Times New Roman" pitchFamily="18"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31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effectLst/>
                <a:latin typeface="Times New Roman" pitchFamily="18" charset="0"/>
              </a:defRPr>
            </a:lvl1pPr>
          </a:lstStyle>
          <a:p>
            <a:pPr>
              <a:defRPr/>
            </a:pPr>
            <a:endParaRPr lang="en-US" altLang="zh-CN"/>
          </a:p>
        </p:txBody>
      </p:sp>
      <p:sp>
        <p:nvSpPr>
          <p:cNvPr id="131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smtClean="0">
                <a:latin typeface="Times New Roman" panose="02020603050405020304" pitchFamily="18" charset="0"/>
              </a:defRPr>
            </a:lvl1pPr>
          </a:lstStyle>
          <a:p>
            <a:pPr>
              <a:defRPr/>
            </a:pPr>
            <a:fld id="{408EDF8F-83E8-4FCA-BD76-6B5E2607204B}"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spcBef>
                <a:spcPts val="600"/>
              </a:spcBef>
              <a:buClr>
                <a:srgbClr val="FF0066"/>
              </a:buClr>
              <a:buSzPct val="100000"/>
            </a:pPr>
            <a:r>
              <a:rPr lang="zh-CN" altLang="en-US" dirty="0"/>
              <a:t>参考</a:t>
            </a:r>
            <a:r>
              <a:rPr lang="en-US" altLang="zh-CN" dirty="0"/>
              <a:t>《</a:t>
            </a:r>
            <a:r>
              <a:rPr lang="en-US" altLang="zh-CN" dirty="0" err="1"/>
              <a:t>WebGIS</a:t>
            </a:r>
            <a:r>
              <a:rPr lang="zh-CN" altLang="en-US" dirty="0"/>
              <a:t>开发从入门到实践</a:t>
            </a:r>
            <a:r>
              <a:rPr lang="en-US" altLang="zh-CN" dirty="0"/>
              <a:t>》 </a:t>
            </a:r>
            <a:r>
              <a:rPr lang="zh-CN" altLang="en-US" dirty="0"/>
              <a:t>吕利利、牛健平编著   相关章节</a:t>
            </a:r>
          </a:p>
        </p:txBody>
      </p:sp>
      <p:sp>
        <p:nvSpPr>
          <p:cNvPr id="4" name="灯片编号占位符 3"/>
          <p:cNvSpPr>
            <a:spLocks noGrp="1"/>
          </p:cNvSpPr>
          <p:nvPr>
            <p:ph type="sldNum" sz="quarter" idx="10"/>
          </p:nvPr>
        </p:nvSpPr>
        <p:spPr/>
        <p:txBody>
          <a:bodyPr/>
          <a:lstStyle/>
          <a:p>
            <a:pPr>
              <a:defRPr/>
            </a:pPr>
            <a:fld id="{408EDF8F-83E8-4FCA-BD76-6B5E2607204B}" type="slidenum">
              <a:rPr lang="zh-CN" altLang="en-US" smtClean="0"/>
              <a:pPr>
                <a:defRPr/>
              </a:pPr>
              <a:t>1</a:t>
            </a:fld>
            <a:endParaRPr lang="en-US" altLang="zh-CN"/>
          </a:p>
        </p:txBody>
      </p:sp>
    </p:spTree>
    <p:extLst>
      <p:ext uri="{BB962C8B-B14F-4D97-AF65-F5344CB8AC3E}">
        <p14:creationId xmlns:p14="http://schemas.microsoft.com/office/powerpoint/2010/main" val="17072095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spect="1" noChangeArrowheads="1" noTextEdit="1"/>
          </p:cNvSpPr>
          <p:nvPr>
            <p:ph type="sldImg"/>
          </p:nvPr>
        </p:nvSpPr>
        <p:spPr>
          <a:ln/>
        </p:spPr>
      </p:sp>
      <p:sp>
        <p:nvSpPr>
          <p:cNvPr id="92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开源软件是开放源代码软件（</a:t>
            </a:r>
            <a:r>
              <a:rPr lang="en-US" altLang="zh-CN" dirty="0"/>
              <a:t>Open Source Software)</a:t>
            </a:r>
            <a:r>
              <a:rPr lang="zh-CN" altLang="en-US" dirty="0"/>
              <a:t>的简称。它的法律基础是著作权许可。</a:t>
            </a:r>
            <a:endParaRPr lang="en-US" altLang="zh-CN" dirty="0"/>
          </a:p>
          <a:p>
            <a:endParaRPr lang="en-US" altLang="zh-CN" dirty="0"/>
          </a:p>
          <a:p>
            <a:r>
              <a:rPr lang="en-US" altLang="zh-CN" dirty="0"/>
              <a:t>《</a:t>
            </a:r>
            <a:r>
              <a:rPr lang="zh-CN" altLang="en-US" dirty="0"/>
              <a:t>开源软件的内在机理及激励机制研究</a:t>
            </a:r>
            <a:r>
              <a:rPr lang="en-US" altLang="zh-CN" dirty="0"/>
              <a:t>_</a:t>
            </a:r>
            <a:r>
              <a:rPr lang="zh-CN" altLang="en-US" dirty="0"/>
              <a:t>张汉华</a:t>
            </a:r>
            <a:r>
              <a:rPr lang="en-US" altLang="zh-CN" dirty="0"/>
              <a:t>》</a:t>
            </a:r>
          </a:p>
        </p:txBody>
      </p:sp>
    </p:spTree>
    <p:extLst>
      <p:ext uri="{BB962C8B-B14F-4D97-AF65-F5344CB8AC3E}">
        <p14:creationId xmlns:p14="http://schemas.microsoft.com/office/powerpoint/2010/main" val="1916959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ln/>
        </p:spPr>
      </p:sp>
      <p:sp>
        <p:nvSpPr>
          <p:cNvPr id="153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2345470-AC39-457E-8860-C30E6EEC344D}" type="slidenum">
              <a:rPr lang="zh-CN" altLang="en-US" smtClean="0">
                <a:latin typeface="Times New Roman" panose="02020603050405020304" pitchFamily="18" charset="0"/>
              </a:rPr>
              <a:pPr/>
              <a:t>3</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676424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ChangeArrowheads="1" noTextEdit="1"/>
          </p:cNvSpPr>
          <p:nvPr>
            <p:ph type="sldImg"/>
          </p:nvPr>
        </p:nvSpPr>
        <p:spPr>
          <a:ln/>
        </p:spPr>
      </p:sp>
      <p:sp>
        <p:nvSpPr>
          <p:cNvPr id="174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目前开源软件许可证按照对开源软件使用者修改后的源代码公开的约束力度从严苛到宽松，大致可以分为以下三类，</a:t>
            </a:r>
            <a:r>
              <a:rPr lang="en-US" altLang="zh-CN" dirty="0"/>
              <a:t>GPL</a:t>
            </a:r>
            <a:r>
              <a:rPr lang="zh-CN" altLang="en-US" dirty="0"/>
              <a:t>、</a:t>
            </a:r>
            <a:r>
              <a:rPr lang="en-US" altLang="zh-CN" dirty="0"/>
              <a:t>LGPL</a:t>
            </a:r>
            <a:r>
              <a:rPr lang="zh-CN" altLang="en-US" dirty="0"/>
              <a:t>、</a:t>
            </a:r>
            <a:r>
              <a:rPr lang="en-US" altLang="zh-CN" dirty="0"/>
              <a:t>BSD </a:t>
            </a:r>
            <a:r>
              <a:rPr lang="zh-CN" altLang="en-US" dirty="0"/>
              <a:t>分别是每一类开源软件许可证的典型代表。</a:t>
            </a:r>
          </a:p>
          <a:p>
            <a:endParaRPr lang="en-US" altLang="zh-CN" dirty="0"/>
          </a:p>
          <a:p>
            <a:r>
              <a:rPr lang="en-US" altLang="zh-CN" dirty="0"/>
              <a:t>GPL </a:t>
            </a:r>
            <a:r>
              <a:rPr lang="zh-CN" altLang="en-US" dirty="0"/>
              <a:t>是 </a:t>
            </a:r>
            <a:r>
              <a:rPr lang="en-US" altLang="zh-CN" dirty="0"/>
              <a:t>General Public License </a:t>
            </a:r>
            <a:r>
              <a:rPr lang="zh-CN" altLang="en-US" dirty="0"/>
              <a:t>的简写，</a:t>
            </a:r>
            <a:r>
              <a:rPr lang="en-US" altLang="zh-CN" dirty="0"/>
              <a:t>GPL </a:t>
            </a:r>
            <a:r>
              <a:rPr lang="zh-CN" altLang="en-US" dirty="0"/>
              <a:t>许可证是开源软件使用者权利限制最严</a:t>
            </a:r>
          </a:p>
          <a:p>
            <a:r>
              <a:rPr lang="zh-CN" altLang="en-US" dirty="0"/>
              <a:t>格的一种开源软件许可证。斯托尔曼分别于 </a:t>
            </a:r>
            <a:r>
              <a:rPr lang="en-US" altLang="zh-CN" dirty="0"/>
              <a:t>1989 </a:t>
            </a:r>
            <a:r>
              <a:rPr lang="zh-CN" altLang="en-US" dirty="0"/>
              <a:t>年 </a:t>
            </a:r>
            <a:r>
              <a:rPr lang="en-US" altLang="zh-CN" dirty="0"/>
              <a:t>1 </a:t>
            </a:r>
            <a:r>
              <a:rPr lang="zh-CN" altLang="en-US" dirty="0"/>
              <a:t>月和 </a:t>
            </a:r>
            <a:r>
              <a:rPr lang="en-US" altLang="zh-CN" dirty="0"/>
              <a:t>1991 </a:t>
            </a:r>
            <a:r>
              <a:rPr lang="zh-CN" altLang="en-US" dirty="0"/>
              <a:t>年 </a:t>
            </a:r>
            <a:r>
              <a:rPr lang="en-US" altLang="zh-CN" dirty="0"/>
              <a:t>6 </a:t>
            </a:r>
            <a:r>
              <a:rPr lang="zh-CN" altLang="en-US" dirty="0"/>
              <a:t>月发布 </a:t>
            </a:r>
            <a:r>
              <a:rPr lang="en-US" altLang="zh-CN" dirty="0"/>
              <a:t>GPL </a:t>
            </a:r>
            <a:r>
              <a:rPr lang="zh-CN" altLang="en-US" dirty="0"/>
              <a:t>的第一</a:t>
            </a:r>
          </a:p>
          <a:p>
            <a:r>
              <a:rPr lang="zh-CN" altLang="en-US" dirty="0"/>
              <a:t>版（</a:t>
            </a:r>
            <a:r>
              <a:rPr lang="en-US" altLang="zh-CN" dirty="0"/>
              <a:t>GPLv1</a:t>
            </a:r>
            <a:r>
              <a:rPr lang="zh-CN" altLang="en-US" dirty="0"/>
              <a:t>）和第二版（</a:t>
            </a:r>
            <a:r>
              <a:rPr lang="en-US" altLang="zh-CN" dirty="0"/>
              <a:t>GPLv2</a:t>
            </a:r>
            <a:r>
              <a:rPr lang="zh-CN" altLang="en-US" dirty="0"/>
              <a:t>）。其中著作权保护和 </a:t>
            </a:r>
            <a:r>
              <a:rPr lang="en-US" altLang="zh-CN" dirty="0" err="1"/>
              <a:t>copyleft</a:t>
            </a:r>
            <a:r>
              <a:rPr lang="en-US" altLang="zh-CN" dirty="0"/>
              <a:t> </a:t>
            </a:r>
            <a:r>
              <a:rPr lang="zh-CN" altLang="en-US" dirty="0"/>
              <a:t>授权许可是 </a:t>
            </a:r>
            <a:r>
              <a:rPr lang="en-US" altLang="zh-CN" dirty="0"/>
              <a:t>GPL </a:t>
            </a:r>
            <a:r>
              <a:rPr lang="zh-CN" altLang="en-US" dirty="0"/>
              <a:t>许可证提</a:t>
            </a:r>
          </a:p>
          <a:p>
            <a:r>
              <a:rPr lang="zh-CN" altLang="en-US" dirty="0"/>
              <a:t>供的两项权利保护措施。</a:t>
            </a:r>
            <a:r>
              <a:rPr lang="en-US" altLang="zh-CN" dirty="0"/>
              <a:t>GPL </a:t>
            </a:r>
            <a:r>
              <a:rPr lang="zh-CN" altLang="en-US" dirty="0"/>
              <a:t>许可证规定“我们采取两项措施来保护您的权利：</a:t>
            </a:r>
            <a:r>
              <a:rPr lang="en-US" altLang="zh-CN" dirty="0"/>
              <a:t>(1)</a:t>
            </a:r>
            <a:r>
              <a:rPr lang="zh-CN" altLang="en-US" dirty="0"/>
              <a:t>以著</a:t>
            </a:r>
          </a:p>
          <a:p>
            <a:r>
              <a:rPr lang="zh-CN" altLang="en-US" dirty="0"/>
              <a:t>作权保护软件，以及</a:t>
            </a:r>
            <a:r>
              <a:rPr lang="en-US" altLang="zh-CN" dirty="0"/>
              <a:t>(2)</a:t>
            </a:r>
            <a:r>
              <a:rPr lang="zh-CN" altLang="en-US" dirty="0"/>
              <a:t>提供您本授权，赋与您复制、散布及／或修改软件的法律许可”。</a:t>
            </a:r>
          </a:p>
          <a:p>
            <a:r>
              <a:rPr lang="en-US" altLang="zh-CN" dirty="0"/>
              <a:t>GPL </a:t>
            </a:r>
            <a:r>
              <a:rPr lang="zh-CN" altLang="en-US" dirty="0"/>
              <a:t>许可证的“</a:t>
            </a:r>
            <a:r>
              <a:rPr lang="en-US" altLang="zh-CN" dirty="0" err="1"/>
              <a:t>Copyleft</a:t>
            </a:r>
            <a:r>
              <a:rPr lang="en-US" altLang="zh-CN" dirty="0"/>
              <a:t>”</a:t>
            </a:r>
            <a:r>
              <a:rPr lang="zh-CN" altLang="en-US" dirty="0"/>
              <a:t>授权许可的主要内容是：只要在一个软件中使用了 </a:t>
            </a:r>
            <a:r>
              <a:rPr lang="en-US" altLang="zh-CN" dirty="0"/>
              <a:t>GPL </a:t>
            </a:r>
            <a:r>
              <a:rPr lang="zh-CN" altLang="en-US" dirty="0"/>
              <a:t>许可证</a:t>
            </a:r>
            <a:endParaRPr lang="en-US" altLang="zh-CN" dirty="0"/>
          </a:p>
          <a:p>
            <a:r>
              <a:rPr lang="zh-CN" altLang="en-US" dirty="0"/>
              <a:t>开源软件，修改后的源代码或者衍生代码软件也必须采用 </a:t>
            </a:r>
            <a:r>
              <a:rPr lang="en-US" altLang="zh-CN" dirty="0"/>
              <a:t>GPL </a:t>
            </a:r>
            <a:r>
              <a:rPr lang="zh-CN" altLang="en-US" dirty="0"/>
              <a:t>许可证发布。即开源软</a:t>
            </a:r>
          </a:p>
          <a:p>
            <a:r>
              <a:rPr lang="zh-CN" altLang="en-US" dirty="0"/>
              <a:t>件的使用者如果复制、修改、发布的开源软件适用的是 </a:t>
            </a:r>
            <a:r>
              <a:rPr lang="en-US" altLang="zh-CN" dirty="0"/>
              <a:t>GPL </a:t>
            </a:r>
            <a:r>
              <a:rPr lang="zh-CN" altLang="en-US" dirty="0"/>
              <a:t>许可证，那么，使用者再发</a:t>
            </a:r>
          </a:p>
          <a:p>
            <a:r>
              <a:rPr lang="zh-CN" altLang="en-US" dirty="0"/>
              <a:t>布软件也要遵循 </a:t>
            </a:r>
            <a:r>
              <a:rPr lang="en-US" altLang="zh-CN" dirty="0"/>
              <a:t>GPL </a:t>
            </a:r>
            <a:r>
              <a:rPr lang="zh-CN" altLang="en-US" dirty="0"/>
              <a:t>许可证。由于它要求对根据 </a:t>
            </a:r>
            <a:r>
              <a:rPr lang="en-US" altLang="zh-CN" dirty="0"/>
              <a:t>GPL </a:t>
            </a:r>
            <a:r>
              <a:rPr lang="zh-CN" altLang="en-US" dirty="0"/>
              <a:t>许可证发布的开源软件进行修改的</a:t>
            </a:r>
          </a:p>
          <a:p>
            <a:r>
              <a:rPr lang="zh-CN" altLang="en-US" dirty="0"/>
              <a:t>演绎作品，甚至只要其中任何一部分代码是以 </a:t>
            </a:r>
            <a:r>
              <a:rPr lang="en-US" altLang="zh-CN" dirty="0"/>
              <a:t>GPL </a:t>
            </a:r>
            <a:r>
              <a:rPr lang="zh-CN" altLang="en-US" dirty="0"/>
              <a:t>许可证发布的，那么全部程序也必须</a:t>
            </a:r>
          </a:p>
          <a:p>
            <a:r>
              <a:rPr lang="zh-CN" altLang="en-US" dirty="0"/>
              <a:t>受 </a:t>
            </a:r>
            <a:r>
              <a:rPr lang="en-US" altLang="zh-CN" dirty="0"/>
              <a:t>GPL </a:t>
            </a:r>
            <a:r>
              <a:rPr lang="zh-CN" altLang="en-US" dirty="0"/>
              <a:t>许可证的约束，因此，有人将其称为 </a:t>
            </a:r>
            <a:r>
              <a:rPr lang="en-US" altLang="zh-CN" dirty="0"/>
              <a:t>GPL </a:t>
            </a:r>
            <a:r>
              <a:rPr lang="zh-CN" altLang="en-US" dirty="0"/>
              <a:t>许可证的“病毒效应”。</a:t>
            </a:r>
          </a:p>
          <a:p>
            <a:endParaRPr lang="zh-CN" altLang="en-US" dirty="0"/>
          </a:p>
          <a:p>
            <a:endParaRPr lang="en-US" altLang="zh-CN" dirty="0"/>
          </a:p>
        </p:txBody>
      </p:sp>
      <p:sp>
        <p:nvSpPr>
          <p:cNvPr id="174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9312C4C-4CBD-4FB8-9C17-38F8248E3DEE}" type="slidenum">
              <a:rPr lang="zh-CN" altLang="en-US" smtClean="0">
                <a:latin typeface="Times New Roman" panose="02020603050405020304" pitchFamily="18" charset="0"/>
              </a:rPr>
              <a:pPr/>
              <a:t>4</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402496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ChangeArrowheads="1" noTextEdit="1"/>
          </p:cNvSpPr>
          <p:nvPr>
            <p:ph type="sldImg"/>
          </p:nvPr>
        </p:nvSpPr>
        <p:spPr>
          <a:ln/>
        </p:spPr>
      </p:sp>
      <p:sp>
        <p:nvSpPr>
          <p:cNvPr id="194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自由软件授权模式</a:t>
            </a:r>
            <a:r>
              <a:rPr lang="en-US" altLang="zh-CN"/>
              <a:t>(copyleft)</a:t>
            </a:r>
            <a:r>
              <a:rPr lang="zh-CN" altLang="en-US"/>
              <a:t>与传统版权</a:t>
            </a:r>
            <a:r>
              <a:rPr lang="en-US" altLang="zh-CN"/>
              <a:t>(copyright)</a:t>
            </a:r>
            <a:endParaRPr lang="zh-CN" altLang="en-US"/>
          </a:p>
        </p:txBody>
      </p:sp>
      <p:sp>
        <p:nvSpPr>
          <p:cNvPr id="194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4DE2DE1-6BE2-401F-9DA9-CD2D231EAF3B}" type="slidenum">
              <a:rPr lang="zh-CN" altLang="en-US" smtClean="0">
                <a:latin typeface="Times New Roman" panose="02020603050405020304" pitchFamily="18" charset="0"/>
              </a:rPr>
              <a:pPr/>
              <a:t>5</a:t>
            </a:fld>
            <a:endParaRPr lang="en-US" altLang="zh-CN">
              <a:latin typeface="Times New Roman" panose="02020603050405020304" pitchFamily="18" charset="0"/>
            </a:endParaRPr>
          </a:p>
        </p:txBody>
      </p:sp>
    </p:spTree>
    <p:extLst>
      <p:ext uri="{BB962C8B-B14F-4D97-AF65-F5344CB8AC3E}">
        <p14:creationId xmlns:p14="http://schemas.microsoft.com/office/powerpoint/2010/main" val="6237057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ChangeArrowheads="1" noTextEdit="1"/>
          </p:cNvSpPr>
          <p:nvPr>
            <p:ph type="sldImg"/>
          </p:nvPr>
        </p:nvSpPr>
        <p:spPr>
          <a:ln/>
        </p:spPr>
      </p:sp>
      <p:sp>
        <p:nvSpPr>
          <p:cNvPr id="215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
        <p:nvSpPr>
          <p:cNvPr id="215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FF1F621-BC25-4064-A9B5-6793A193389A}" type="slidenum">
              <a:rPr lang="zh-CN" altLang="en-US" smtClean="0">
                <a:latin typeface="Times New Roman" panose="02020603050405020304" pitchFamily="18" charset="0"/>
              </a:rPr>
              <a:pPr/>
              <a:t>6</a:t>
            </a:fld>
            <a:endParaRPr lang="en-US" altLang="zh-CN">
              <a:latin typeface="Times New Roman" panose="02020603050405020304" pitchFamily="18" charset="0"/>
            </a:endParaRPr>
          </a:p>
        </p:txBody>
      </p:sp>
    </p:spTree>
    <p:extLst>
      <p:ext uri="{BB962C8B-B14F-4D97-AF65-F5344CB8AC3E}">
        <p14:creationId xmlns:p14="http://schemas.microsoft.com/office/powerpoint/2010/main" val="789079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ChangeArrowheads="1" noTextEdit="1"/>
          </p:cNvSpPr>
          <p:nvPr>
            <p:ph type="sldImg"/>
          </p:nvPr>
        </p:nvSpPr>
        <p:spPr>
          <a:ln/>
        </p:spPr>
      </p:sp>
      <p:sp>
        <p:nvSpPr>
          <p:cNvPr id="235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5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B8D544E-75D5-4172-89B2-70BAD1FDF33C}" type="slidenum">
              <a:rPr lang="zh-CN" altLang="en-US" smtClean="0">
                <a:latin typeface="Times New Roman" panose="02020603050405020304" pitchFamily="18" charset="0"/>
              </a:rPr>
              <a:pPr/>
              <a:t>7</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5098879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CA17982-183B-495D-99F6-A8A1B8C108B4}" type="slidenum">
              <a:rPr lang="zh-CN" altLang="en-US" smtClean="0"/>
              <a:t>8</a:t>
            </a:fld>
            <a:endParaRPr lang="zh-CN" altLang="en-US"/>
          </a:p>
        </p:txBody>
      </p:sp>
    </p:spTree>
    <p:extLst>
      <p:ext uri="{BB962C8B-B14F-4D97-AF65-F5344CB8AC3E}">
        <p14:creationId xmlns:p14="http://schemas.microsoft.com/office/powerpoint/2010/main" val="31919849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因此，一旦掌握了 </a:t>
            </a:r>
            <a:r>
              <a:rPr lang="en-US" altLang="zh-CN" sz="12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en-US" altLang="zh-CN"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客户端</a:t>
            </a:r>
            <a:r>
              <a:rPr lang="en-US" altLang="zh-CN" sz="12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WebGIS</a:t>
            </a:r>
            <a:r>
              <a:rPr lang="zh-CN" altLang="en-US"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开发技术，便可快速地实现与任何一种</a:t>
            </a:r>
            <a:r>
              <a:rPr lang="en-US" altLang="zh-CN" sz="12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WebGIS</a:t>
            </a:r>
            <a:r>
              <a:rPr lang="zh-CN" altLang="en-US"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服务平台的对接；</a:t>
            </a:r>
            <a:endParaRPr lang="zh-CN" altLang="en-US" dirty="0"/>
          </a:p>
        </p:txBody>
      </p:sp>
      <p:sp>
        <p:nvSpPr>
          <p:cNvPr id="4" name="灯片编号占位符 3"/>
          <p:cNvSpPr>
            <a:spLocks noGrp="1"/>
          </p:cNvSpPr>
          <p:nvPr>
            <p:ph type="sldNum" sz="quarter" idx="10"/>
          </p:nvPr>
        </p:nvSpPr>
        <p:spPr/>
        <p:txBody>
          <a:bodyPr/>
          <a:lstStyle/>
          <a:p>
            <a:fld id="{2CA17982-183B-495D-99F6-A8A1B8C108B4}" type="slidenum">
              <a:rPr lang="zh-CN" altLang="en-US" smtClean="0"/>
              <a:t>9</a:t>
            </a:fld>
            <a:endParaRPr lang="zh-CN" altLang="en-US"/>
          </a:p>
        </p:txBody>
      </p:sp>
    </p:spTree>
    <p:extLst>
      <p:ext uri="{BB962C8B-B14F-4D97-AF65-F5344CB8AC3E}">
        <p14:creationId xmlns:p14="http://schemas.microsoft.com/office/powerpoint/2010/main" val="9112238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ChangeArrowheads="1" noTextEdit="1"/>
          </p:cNvSpPr>
          <p:nvPr>
            <p:ph type="sldImg"/>
          </p:nvPr>
        </p:nvSpPr>
        <p:spPr>
          <a:ln/>
        </p:spPr>
      </p:sp>
      <p:sp>
        <p:nvSpPr>
          <p:cNvPr id="235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35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A1789C5-E074-4259-836B-250FBA716A00}" type="slidenum">
              <a:rPr lang="zh-CN" altLang="en-US" smtClean="0">
                <a:latin typeface="Times New Roman" panose="02020603050405020304" pitchFamily="18" charset="0"/>
              </a:rPr>
              <a:pPr/>
              <a:t>10</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9701907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08EDF8F-83E8-4FCA-BD76-6B5E2607204B}" type="slidenum">
              <a:rPr lang="zh-CN" altLang="en-US" smtClean="0"/>
              <a:pPr>
                <a:defRPr/>
              </a:pPr>
              <a:t>11</a:t>
            </a:fld>
            <a:endParaRPr lang="en-US" altLang="zh-CN"/>
          </a:p>
        </p:txBody>
      </p:sp>
    </p:spTree>
    <p:extLst>
      <p:ext uri="{BB962C8B-B14F-4D97-AF65-F5344CB8AC3E}">
        <p14:creationId xmlns:p14="http://schemas.microsoft.com/office/powerpoint/2010/main" val="16057906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CA17982-183B-495D-99F6-A8A1B8C108B4}" type="slidenum">
              <a:rPr lang="zh-CN" altLang="en-US" smtClean="0"/>
              <a:t>12</a:t>
            </a:fld>
            <a:endParaRPr lang="zh-CN" altLang="en-US"/>
          </a:p>
        </p:txBody>
      </p:sp>
    </p:spTree>
    <p:extLst>
      <p:ext uri="{BB962C8B-B14F-4D97-AF65-F5344CB8AC3E}">
        <p14:creationId xmlns:p14="http://schemas.microsoft.com/office/powerpoint/2010/main" val="3216754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13</a:t>
            </a:fld>
            <a:endParaRPr lang="en-US" altLang="zh-CN"/>
          </a:p>
        </p:txBody>
      </p:sp>
    </p:spTree>
    <p:extLst>
      <p:ext uri="{BB962C8B-B14F-4D97-AF65-F5344CB8AC3E}">
        <p14:creationId xmlns:p14="http://schemas.microsoft.com/office/powerpoint/2010/main" val="4125610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08EDF8F-83E8-4FCA-BD76-6B5E2607204B}" type="slidenum">
              <a:rPr lang="zh-CN" altLang="en-US" smtClean="0"/>
              <a:pPr>
                <a:defRPr/>
              </a:pPr>
              <a:t>14</a:t>
            </a:fld>
            <a:endParaRPr lang="en-US" altLang="zh-CN"/>
          </a:p>
        </p:txBody>
      </p:sp>
    </p:spTree>
    <p:extLst>
      <p:ext uri="{BB962C8B-B14F-4D97-AF65-F5344CB8AC3E}">
        <p14:creationId xmlns:p14="http://schemas.microsoft.com/office/powerpoint/2010/main" val="16041728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15</a:t>
            </a:fld>
            <a:endParaRPr lang="en-US" altLang="zh-CN"/>
          </a:p>
        </p:txBody>
      </p:sp>
    </p:spTree>
    <p:extLst>
      <p:ext uri="{BB962C8B-B14F-4D97-AF65-F5344CB8AC3E}">
        <p14:creationId xmlns:p14="http://schemas.microsoft.com/office/powerpoint/2010/main" val="27301158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16</a:t>
            </a:fld>
            <a:endParaRPr lang="en-US" altLang="zh-CN"/>
          </a:p>
        </p:txBody>
      </p:sp>
    </p:spTree>
    <p:extLst>
      <p:ext uri="{BB962C8B-B14F-4D97-AF65-F5344CB8AC3E}">
        <p14:creationId xmlns:p14="http://schemas.microsoft.com/office/powerpoint/2010/main" val="15182080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17</a:t>
            </a:fld>
            <a:endParaRPr lang="en-US" altLang="zh-CN"/>
          </a:p>
        </p:txBody>
      </p:sp>
    </p:spTree>
    <p:extLst>
      <p:ext uri="{BB962C8B-B14F-4D97-AF65-F5344CB8AC3E}">
        <p14:creationId xmlns:p14="http://schemas.microsoft.com/office/powerpoint/2010/main" val="5676385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18</a:t>
            </a:fld>
            <a:endParaRPr lang="en-US" altLang="zh-CN"/>
          </a:p>
        </p:txBody>
      </p:sp>
    </p:spTree>
    <p:extLst>
      <p:ext uri="{BB962C8B-B14F-4D97-AF65-F5344CB8AC3E}">
        <p14:creationId xmlns:p14="http://schemas.microsoft.com/office/powerpoint/2010/main" val="15370768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19</a:t>
            </a:fld>
            <a:endParaRPr lang="en-US" altLang="zh-CN"/>
          </a:p>
        </p:txBody>
      </p:sp>
    </p:spTree>
    <p:extLst>
      <p:ext uri="{BB962C8B-B14F-4D97-AF65-F5344CB8AC3E}">
        <p14:creationId xmlns:p14="http://schemas.microsoft.com/office/powerpoint/2010/main" val="20083076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20</a:t>
            </a:fld>
            <a:endParaRPr lang="en-US" altLang="zh-CN"/>
          </a:p>
        </p:txBody>
      </p:sp>
    </p:spTree>
    <p:extLst>
      <p:ext uri="{BB962C8B-B14F-4D97-AF65-F5344CB8AC3E}">
        <p14:creationId xmlns:p14="http://schemas.microsoft.com/office/powerpoint/2010/main" val="14102675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21</a:t>
            </a:fld>
            <a:endParaRPr lang="en-US" altLang="zh-CN"/>
          </a:p>
        </p:txBody>
      </p:sp>
    </p:spTree>
    <p:extLst>
      <p:ext uri="{BB962C8B-B14F-4D97-AF65-F5344CB8AC3E}">
        <p14:creationId xmlns:p14="http://schemas.microsoft.com/office/powerpoint/2010/main" val="21238695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22</a:t>
            </a:fld>
            <a:endParaRPr lang="en-US" altLang="zh-CN"/>
          </a:p>
        </p:txBody>
      </p:sp>
    </p:spTree>
    <p:extLst>
      <p:ext uri="{BB962C8B-B14F-4D97-AF65-F5344CB8AC3E}">
        <p14:creationId xmlns:p14="http://schemas.microsoft.com/office/powerpoint/2010/main" val="25557853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23</a:t>
            </a:fld>
            <a:endParaRPr lang="en-US" altLang="zh-CN"/>
          </a:p>
        </p:txBody>
      </p:sp>
    </p:spTree>
    <p:extLst>
      <p:ext uri="{BB962C8B-B14F-4D97-AF65-F5344CB8AC3E}">
        <p14:creationId xmlns:p14="http://schemas.microsoft.com/office/powerpoint/2010/main" val="31511139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24</a:t>
            </a:fld>
            <a:endParaRPr lang="en-US" altLang="zh-CN"/>
          </a:p>
        </p:txBody>
      </p:sp>
    </p:spTree>
    <p:extLst>
      <p:ext uri="{BB962C8B-B14F-4D97-AF65-F5344CB8AC3E}">
        <p14:creationId xmlns:p14="http://schemas.microsoft.com/office/powerpoint/2010/main" val="8253109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25</a:t>
            </a:fld>
            <a:endParaRPr lang="en-US" altLang="zh-CN"/>
          </a:p>
        </p:txBody>
      </p:sp>
    </p:spTree>
    <p:extLst>
      <p:ext uri="{BB962C8B-B14F-4D97-AF65-F5344CB8AC3E}">
        <p14:creationId xmlns:p14="http://schemas.microsoft.com/office/powerpoint/2010/main" val="35294421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CA17982-183B-495D-99F6-A8A1B8C108B4}" type="slidenum">
              <a:rPr lang="zh-CN" altLang="en-US" smtClean="0"/>
              <a:t>29</a:t>
            </a:fld>
            <a:endParaRPr lang="zh-CN" altLang="en-US"/>
          </a:p>
        </p:txBody>
      </p:sp>
    </p:spTree>
    <p:extLst>
      <p:ext uri="{BB962C8B-B14F-4D97-AF65-F5344CB8AC3E}">
        <p14:creationId xmlns:p14="http://schemas.microsoft.com/office/powerpoint/2010/main" val="3576193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30</a:t>
            </a:fld>
            <a:endParaRPr lang="en-US" altLang="zh-CN"/>
          </a:p>
        </p:txBody>
      </p:sp>
    </p:spTree>
    <p:extLst>
      <p:ext uri="{BB962C8B-B14F-4D97-AF65-F5344CB8AC3E}">
        <p14:creationId xmlns:p14="http://schemas.microsoft.com/office/powerpoint/2010/main" val="34031497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31</a:t>
            </a:fld>
            <a:endParaRPr lang="en-US" altLang="zh-CN"/>
          </a:p>
        </p:txBody>
      </p:sp>
    </p:spTree>
    <p:extLst>
      <p:ext uri="{BB962C8B-B14F-4D97-AF65-F5344CB8AC3E}">
        <p14:creationId xmlns:p14="http://schemas.microsoft.com/office/powerpoint/2010/main" val="9716410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32</a:t>
            </a:fld>
            <a:endParaRPr lang="en-US" altLang="zh-CN"/>
          </a:p>
        </p:txBody>
      </p:sp>
    </p:spTree>
    <p:extLst>
      <p:ext uri="{BB962C8B-B14F-4D97-AF65-F5344CB8AC3E}">
        <p14:creationId xmlns:p14="http://schemas.microsoft.com/office/powerpoint/2010/main" val="38911466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如使用上述的线数据</a:t>
            </a:r>
            <a:r>
              <a:rPr lang="en-US" altLang="zh-CN" dirty="0" err="1"/>
              <a:t>coords</a:t>
            </a:r>
            <a:r>
              <a:rPr lang="zh-CN" altLang="en-US" dirty="0"/>
              <a:t>创建一个矢量数据源：</a:t>
            </a:r>
            <a:r>
              <a:rPr lang="en-US" altLang="zh-CN" dirty="0"/>
              <a:t>// </a:t>
            </a:r>
            <a:r>
              <a:rPr lang="zh-CN" altLang="en-US" dirty="0"/>
              <a:t>创建 </a:t>
            </a:r>
            <a:r>
              <a:rPr lang="en-US" altLang="zh-CN" dirty="0" err="1"/>
              <a:t>geometryconst</a:t>
            </a:r>
            <a:r>
              <a:rPr lang="en-US" altLang="zh-CN" dirty="0"/>
              <a:t> geometry = new </a:t>
            </a:r>
            <a:r>
              <a:rPr lang="en-US" altLang="zh-CN" dirty="0" err="1"/>
              <a:t>ol.geom.LineString</a:t>
            </a:r>
            <a:r>
              <a:rPr lang="en-US" altLang="zh-CN" dirty="0"/>
              <a:t>(</a:t>
            </a:r>
            <a:r>
              <a:rPr lang="en-US" altLang="zh-CN" dirty="0" err="1"/>
              <a:t>coords</a:t>
            </a:r>
            <a:r>
              <a:rPr lang="en-US" altLang="zh-CN" dirty="0"/>
              <a:t>)// </a:t>
            </a:r>
            <a:r>
              <a:rPr lang="zh-CN" altLang="en-US" dirty="0"/>
              <a:t>创建要素集合 </a:t>
            </a:r>
            <a:r>
              <a:rPr lang="en-US" altLang="zh-CN" dirty="0" err="1"/>
              <a:t>featuresconst</a:t>
            </a:r>
            <a:r>
              <a:rPr lang="en-US" altLang="zh-CN" dirty="0"/>
              <a:t> features = [new </a:t>
            </a:r>
            <a:r>
              <a:rPr lang="en-US" altLang="zh-CN" dirty="0" err="1"/>
              <a:t>ol.Feature</a:t>
            </a:r>
            <a:r>
              <a:rPr lang="en-US" altLang="zh-CN" dirty="0"/>
              <a:t>(geometry)]// </a:t>
            </a:r>
            <a:r>
              <a:rPr lang="zh-CN" altLang="en-US" dirty="0"/>
              <a:t>创建数据源 </a:t>
            </a:r>
            <a:r>
              <a:rPr lang="en-US" altLang="zh-CN" dirty="0" err="1"/>
              <a:t>sourceconst</a:t>
            </a:r>
            <a:r>
              <a:rPr lang="en-US" altLang="zh-CN" dirty="0"/>
              <a:t> source = new </a:t>
            </a:r>
            <a:r>
              <a:rPr lang="en-US" altLang="zh-CN" dirty="0" err="1"/>
              <a:t>ol.source.Vector</a:t>
            </a:r>
            <a:r>
              <a:rPr lang="en-US" altLang="zh-CN" dirty="0"/>
              <a:t>({features: features, }</a:t>
            </a:r>
            <a:r>
              <a:rPr lang="zh-CN" altLang="en-US" dirty="0"/>
              <a:t>）；</a:t>
            </a:r>
            <a:endParaRPr lang="en-US" altLang="zh-CN"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33</a:t>
            </a:fld>
            <a:endParaRPr lang="en-US" altLang="zh-CN"/>
          </a:p>
        </p:txBody>
      </p:sp>
    </p:spTree>
    <p:extLst>
      <p:ext uri="{BB962C8B-B14F-4D97-AF65-F5344CB8AC3E}">
        <p14:creationId xmlns:p14="http://schemas.microsoft.com/office/powerpoint/2010/main" val="1827995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const </a:t>
            </a:r>
            <a:r>
              <a:rPr lang="en-US" altLang="zh-CN" dirty="0" err="1"/>
              <a:t>coords</a:t>
            </a:r>
            <a:r>
              <a:rPr lang="en-US" altLang="zh-CN" dirty="0"/>
              <a:t> = [[87.9947,39.491], [99.4908, 32.6796]]</a:t>
            </a:r>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34</a:t>
            </a:fld>
            <a:endParaRPr lang="en-US" altLang="zh-CN"/>
          </a:p>
        </p:txBody>
      </p:sp>
    </p:spTree>
    <p:extLst>
      <p:ext uri="{BB962C8B-B14F-4D97-AF65-F5344CB8AC3E}">
        <p14:creationId xmlns:p14="http://schemas.microsoft.com/office/powerpoint/2010/main" val="34221392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08EDF8F-83E8-4FCA-BD76-6B5E2607204B}" type="slidenum">
              <a:rPr lang="zh-CN" altLang="en-US" smtClean="0"/>
              <a:pPr>
                <a:defRPr/>
              </a:pPr>
              <a:t>37</a:t>
            </a:fld>
            <a:endParaRPr lang="en-US" altLang="zh-CN"/>
          </a:p>
        </p:txBody>
      </p:sp>
    </p:spTree>
    <p:extLst>
      <p:ext uri="{BB962C8B-B14F-4D97-AF65-F5344CB8AC3E}">
        <p14:creationId xmlns:p14="http://schemas.microsoft.com/office/powerpoint/2010/main" val="17860760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r>
              <a:rPr lang="en-US" altLang="zh-CN" dirty="0"/>
              <a:t>Web Mercator </a:t>
            </a:r>
            <a:r>
              <a:rPr lang="zh-CN" altLang="en-US" dirty="0"/>
              <a:t>最早是由 </a:t>
            </a:r>
            <a:r>
              <a:rPr lang="en-US" altLang="zh-CN" dirty="0"/>
              <a:t>Google </a:t>
            </a:r>
            <a:r>
              <a:rPr lang="zh-CN" altLang="en-US" dirty="0"/>
              <a:t>提出的，当前已经成为 </a:t>
            </a:r>
            <a:r>
              <a:rPr lang="en-US" altLang="zh-CN" dirty="0"/>
              <a:t>Web Map </a:t>
            </a:r>
            <a:r>
              <a:rPr lang="zh-CN" altLang="en-US" dirty="0"/>
              <a:t>的事实标准。</a:t>
            </a:r>
          </a:p>
        </p:txBody>
      </p:sp>
      <p:sp>
        <p:nvSpPr>
          <p:cNvPr id="4" name="灯片编号占位符 3"/>
          <p:cNvSpPr>
            <a:spLocks noGrp="1"/>
          </p:cNvSpPr>
          <p:nvPr>
            <p:ph type="sldNum" sz="quarter" idx="10"/>
          </p:nvPr>
        </p:nvSpPr>
        <p:spPr/>
        <p:txBody>
          <a:bodyPr/>
          <a:lstStyle/>
          <a:p>
            <a:fld id="{2CA17982-183B-495D-99F6-A8A1B8C108B4}" type="slidenum">
              <a:rPr lang="zh-CN" altLang="en-US" smtClean="0"/>
              <a:t>38</a:t>
            </a:fld>
            <a:endParaRPr lang="zh-CN" altLang="en-US"/>
          </a:p>
        </p:txBody>
      </p:sp>
    </p:spTree>
    <p:extLst>
      <p:ext uri="{BB962C8B-B14F-4D97-AF65-F5344CB8AC3E}">
        <p14:creationId xmlns:p14="http://schemas.microsoft.com/office/powerpoint/2010/main" val="27172343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https://malagis.com/gis-wiki-what-is-epsg.html</a:t>
            </a:r>
          </a:p>
          <a:p>
            <a:endParaRPr lang="en-US" altLang="zh-CN" dirty="0"/>
          </a:p>
          <a:p>
            <a:r>
              <a:rPr lang="en-US" altLang="zh-CN" dirty="0"/>
              <a:t>Web Mercator </a:t>
            </a:r>
            <a:r>
              <a:rPr lang="zh-CN" altLang="en-US" dirty="0"/>
              <a:t>最早是由 </a:t>
            </a:r>
            <a:r>
              <a:rPr lang="en-US" altLang="zh-CN" dirty="0"/>
              <a:t>Google </a:t>
            </a:r>
            <a:r>
              <a:rPr lang="zh-CN" altLang="en-US" dirty="0"/>
              <a:t>提出的，当前已经成为 </a:t>
            </a:r>
            <a:r>
              <a:rPr lang="en-US" altLang="zh-CN" dirty="0"/>
              <a:t>Web Map </a:t>
            </a:r>
            <a:r>
              <a:rPr lang="zh-CN" altLang="en-US" dirty="0"/>
              <a:t>的事实标准。</a:t>
            </a:r>
          </a:p>
        </p:txBody>
      </p:sp>
      <p:sp>
        <p:nvSpPr>
          <p:cNvPr id="4" name="灯片编号占位符 3"/>
          <p:cNvSpPr>
            <a:spLocks noGrp="1"/>
          </p:cNvSpPr>
          <p:nvPr>
            <p:ph type="sldNum" sz="quarter" idx="10"/>
          </p:nvPr>
        </p:nvSpPr>
        <p:spPr/>
        <p:txBody>
          <a:bodyPr/>
          <a:lstStyle/>
          <a:p>
            <a:fld id="{2CA17982-183B-495D-99F6-A8A1B8C108B4}" type="slidenum">
              <a:rPr lang="zh-CN" altLang="en-US" smtClean="0"/>
              <a:t>39</a:t>
            </a:fld>
            <a:endParaRPr lang="zh-CN" altLang="en-US"/>
          </a:p>
        </p:txBody>
      </p:sp>
    </p:spTree>
    <p:extLst>
      <p:ext uri="{BB962C8B-B14F-4D97-AF65-F5344CB8AC3E}">
        <p14:creationId xmlns:p14="http://schemas.microsoft.com/office/powerpoint/2010/main" val="16090537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effectLst>
                  <a:outerShdw blurRad="38100" dist="38100" dir="2700000" algn="tl">
                    <a:srgbClr val="C0C0C0"/>
                  </a:outerShdw>
                </a:effectLst>
                <a:latin typeface="楷体" panose="02010609060101010101" pitchFamily="49" charset="-122"/>
                <a:ea typeface="楷体" panose="02010609060101010101" pitchFamily="49" charset="-122"/>
                <a:cs typeface="Times New Roman" panose="02020603050405020304" pitchFamily="18" charset="0"/>
              </a:rPr>
              <a:t>当用户在地图上进行缩放或平移操作时，地图软件会动态加载和显示对应范围的地图切片，而不是加载整张地图，这样可以减少数据传输量和地图渲染的计算量。</a:t>
            </a:r>
            <a:endParaRPr lang="zh-CN" altLang="en-US" b="0"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40</a:t>
            </a:fld>
            <a:endParaRPr lang="en-US" altLang="zh-CN"/>
          </a:p>
        </p:txBody>
      </p:sp>
    </p:spTree>
    <p:extLst>
      <p:ext uri="{BB962C8B-B14F-4D97-AF65-F5344CB8AC3E}">
        <p14:creationId xmlns:p14="http://schemas.microsoft.com/office/powerpoint/2010/main" val="21710544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地图切片是采用预生成的方法，将地图存放在服务器端，然后根据用户提交的不同请求，将相应的地图瓦片发送给客户端的过程。它是一种多分辨率的层次模型，按照一定的规则将数据处理成以“级</a:t>
            </a:r>
            <a:r>
              <a:rPr lang="en-US" altLang="zh-CN" b="0" dirty="0"/>
              <a:t>-</a:t>
            </a:r>
            <a:r>
              <a:rPr lang="zh-CN" altLang="en-US" b="0" dirty="0"/>
              <a:t>行</a:t>
            </a:r>
            <a:r>
              <a:rPr lang="en-US" altLang="zh-CN" b="0" dirty="0"/>
              <a:t>·</a:t>
            </a:r>
            <a:r>
              <a:rPr lang="zh-CN" altLang="en-US" b="0" dirty="0"/>
              <a:t>列”方式组织的图片集或数据集，以类似于金字塔的形式存储。从瓦片金字塔底层到顶层，表示的地理范围不变，但分辨率越来越低。地图切片的优势在于能够减小地图加载的时间和带宽消耗，提高地图的显示效率和用户体验。当用户在地图上进行缩放或平移操作时，地图软件会动态加载和显示对应范围的地图切片，而不是加载整张地图，这样可以减少数据传输量和地图渲染的计算量。</a:t>
            </a:r>
            <a:endParaRPr lang="en-US" altLang="zh-CN" b="0" dirty="0"/>
          </a:p>
          <a:p>
            <a:endParaRPr lang="en-US" altLang="zh-CN" b="0"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41</a:t>
            </a:fld>
            <a:endParaRPr lang="en-US" altLang="zh-CN"/>
          </a:p>
        </p:txBody>
      </p:sp>
    </p:spTree>
    <p:extLst>
      <p:ext uri="{BB962C8B-B14F-4D97-AF65-F5344CB8AC3E}">
        <p14:creationId xmlns:p14="http://schemas.microsoft.com/office/powerpoint/2010/main" val="41835132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42</a:t>
            </a:fld>
            <a:endParaRPr lang="en-US" altLang="zh-CN"/>
          </a:p>
        </p:txBody>
      </p:sp>
    </p:spTree>
    <p:extLst>
      <p:ext uri="{BB962C8B-B14F-4D97-AF65-F5344CB8AC3E}">
        <p14:creationId xmlns:p14="http://schemas.microsoft.com/office/powerpoint/2010/main" val="30531918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a:t>
            </a:r>
            <a:r>
              <a:rPr lang="en-US" altLang="zh-CN" dirty="0"/>
              <a:t>&lt;!</a:t>
            </a:r>
            <a:r>
              <a:rPr lang="en-US" altLang="zh-CN" dirty="0" err="1"/>
              <a:t>doctype</a:t>
            </a:r>
            <a:r>
              <a:rPr lang="en-US" altLang="zh-CN" dirty="0"/>
              <a:t> html&gt;</a:t>
            </a:r>
          </a:p>
          <a:p>
            <a:r>
              <a:rPr lang="en-US" altLang="zh-CN" dirty="0"/>
              <a:t>&lt;html </a:t>
            </a:r>
            <a:r>
              <a:rPr lang="en-US" altLang="zh-CN" dirty="0" err="1"/>
              <a:t>lang</a:t>
            </a:r>
            <a:r>
              <a:rPr lang="en-US" altLang="zh-CN" dirty="0"/>
              <a:t>="</a:t>
            </a:r>
            <a:r>
              <a:rPr lang="en-US" altLang="zh-CN" dirty="0" err="1"/>
              <a:t>en</a:t>
            </a:r>
            <a:r>
              <a:rPr lang="en-US" altLang="zh-CN" dirty="0"/>
              <a:t>"&gt;</a:t>
            </a:r>
          </a:p>
          <a:p>
            <a:r>
              <a:rPr lang="en-US" altLang="zh-CN" dirty="0"/>
              <a:t>  &lt;head&gt;</a:t>
            </a:r>
          </a:p>
          <a:p>
            <a:r>
              <a:rPr lang="en-US" altLang="zh-CN" dirty="0"/>
              <a:t>    &lt;link </a:t>
            </a:r>
            <a:r>
              <a:rPr lang="en-US" altLang="zh-CN" dirty="0" err="1"/>
              <a:t>rel</a:t>
            </a:r>
            <a:r>
              <a:rPr lang="en-US" altLang="zh-CN" dirty="0"/>
              <a:t>="stylesheet" </a:t>
            </a:r>
            <a:r>
              <a:rPr lang="en-US" altLang="zh-CN" dirty="0" err="1"/>
              <a:t>href</a:t>
            </a:r>
            <a:r>
              <a:rPr lang="en-US" altLang="zh-CN" dirty="0"/>
              <a:t>="</a:t>
            </a:r>
            <a:r>
              <a:rPr lang="en-US" altLang="zh-CN" dirty="0" err="1"/>
              <a:t>openlayers</a:t>
            </a:r>
            <a:r>
              <a:rPr lang="en-US" altLang="zh-CN" dirty="0"/>
              <a:t>/ol.css" /&gt;</a:t>
            </a:r>
          </a:p>
          <a:p>
            <a:r>
              <a:rPr lang="en-US" altLang="zh-CN" dirty="0"/>
              <a:t>    &lt;script </a:t>
            </a:r>
            <a:r>
              <a:rPr lang="en-US" altLang="zh-CN" dirty="0" err="1"/>
              <a:t>src</a:t>
            </a:r>
            <a:r>
              <a:rPr lang="en-US" altLang="zh-CN" dirty="0"/>
              <a:t>="</a:t>
            </a:r>
            <a:r>
              <a:rPr lang="en-US" altLang="zh-CN" dirty="0" err="1"/>
              <a:t>openlayers</a:t>
            </a:r>
            <a:r>
              <a:rPr lang="en-US" altLang="zh-CN" dirty="0"/>
              <a:t>/ol.js"&gt;&lt;/script&gt;</a:t>
            </a:r>
          </a:p>
          <a:p>
            <a:r>
              <a:rPr lang="en-US" altLang="zh-CN" dirty="0"/>
              <a:t>    &lt;title&gt;</a:t>
            </a:r>
            <a:r>
              <a:rPr lang="en-US" altLang="zh-CN" dirty="0" err="1"/>
              <a:t>OpenLayers</a:t>
            </a:r>
            <a:r>
              <a:rPr lang="en-US" altLang="zh-CN" dirty="0"/>
              <a:t>  </a:t>
            </a:r>
            <a:r>
              <a:rPr lang="zh-CN" altLang="en-US" dirty="0"/>
              <a:t>绘制一条线</a:t>
            </a:r>
            <a:r>
              <a:rPr lang="en-US" altLang="zh-CN" dirty="0"/>
              <a:t>&lt;/title&gt;</a:t>
            </a:r>
          </a:p>
          <a:p>
            <a:r>
              <a:rPr lang="en-US" altLang="zh-CN" dirty="0"/>
              <a:t>  &lt;/head&gt;</a:t>
            </a:r>
          </a:p>
          <a:p>
            <a:r>
              <a:rPr lang="en-US" altLang="zh-CN" dirty="0"/>
              <a:t>  &lt;body&gt;</a:t>
            </a:r>
          </a:p>
          <a:p>
            <a:r>
              <a:rPr lang="en-US" altLang="zh-CN" dirty="0"/>
              <a:t>    &lt;div id="map" style="width:100%;height:1000px;"&gt;&lt;/div&gt;</a:t>
            </a:r>
          </a:p>
          <a:p>
            <a:r>
              <a:rPr lang="en-US" altLang="zh-CN" dirty="0"/>
              <a:t>    &lt;script type="text/</a:t>
            </a:r>
            <a:r>
              <a:rPr lang="en-US" altLang="zh-CN" dirty="0" err="1"/>
              <a:t>javascript</a:t>
            </a:r>
            <a:r>
              <a:rPr lang="en-US" altLang="zh-CN" dirty="0"/>
              <a:t>"&gt;</a:t>
            </a:r>
          </a:p>
          <a:p>
            <a:endParaRPr lang="en-US" altLang="zh-CN" dirty="0"/>
          </a:p>
          <a:p>
            <a:r>
              <a:rPr lang="en-US" altLang="zh-CN" dirty="0"/>
              <a:t>       </a:t>
            </a:r>
            <a:r>
              <a:rPr lang="en-US" altLang="zh-CN" dirty="0" err="1"/>
              <a:t>var</a:t>
            </a:r>
            <a:r>
              <a:rPr lang="en-US" altLang="zh-CN" dirty="0"/>
              <a:t> </a:t>
            </a:r>
            <a:r>
              <a:rPr lang="en-US" altLang="zh-CN" dirty="0" err="1"/>
              <a:t>gaodeMapLayer</a:t>
            </a:r>
            <a:r>
              <a:rPr lang="en-US" altLang="zh-CN" dirty="0"/>
              <a:t> = new </a:t>
            </a:r>
            <a:r>
              <a:rPr lang="en-US" altLang="zh-CN" dirty="0" err="1"/>
              <a:t>ol.layer.Tile</a:t>
            </a:r>
            <a:r>
              <a:rPr lang="en-US" altLang="zh-CN" dirty="0"/>
              <a:t>({</a:t>
            </a:r>
          </a:p>
          <a:p>
            <a:r>
              <a:rPr lang="en-US" altLang="zh-CN" dirty="0"/>
              <a:t>			source: new </a:t>
            </a:r>
            <a:r>
              <a:rPr lang="en-US" altLang="zh-CN" dirty="0" err="1"/>
              <a:t>ol.source.XYZ</a:t>
            </a:r>
            <a:r>
              <a:rPr lang="en-US" altLang="zh-CN" dirty="0"/>
              <a:t>({</a:t>
            </a:r>
          </a:p>
          <a:p>
            <a:r>
              <a:rPr lang="en-US" altLang="zh-CN" dirty="0"/>
              <a:t>				url: "http://wprd0{1-4}.is.autonavi.com/</a:t>
            </a:r>
            <a:r>
              <a:rPr lang="en-US" altLang="zh-CN" dirty="0" err="1"/>
              <a:t>appmaptile?lang</a:t>
            </a:r>
            <a:r>
              <a:rPr lang="en-US" altLang="zh-CN" dirty="0"/>
              <a:t>=</a:t>
            </a:r>
            <a:r>
              <a:rPr lang="en-US" altLang="zh-CN" dirty="0" err="1"/>
              <a:t>zh_cn&amp;size</a:t>
            </a:r>
            <a:r>
              <a:rPr lang="en-US" altLang="zh-CN" dirty="0"/>
              <a:t>=1&amp;style=7&amp;x={x}&amp;y={y}&amp;z={z}"</a:t>
            </a:r>
          </a:p>
          <a:p>
            <a:r>
              <a:rPr lang="en-US" altLang="zh-CN" dirty="0"/>
              <a:t>			}),</a:t>
            </a:r>
          </a:p>
          <a:p>
            <a:r>
              <a:rPr lang="en-US" altLang="zh-CN" dirty="0"/>
              <a:t>			visible: true</a:t>
            </a:r>
          </a:p>
          <a:p>
            <a:r>
              <a:rPr lang="en-US" altLang="zh-CN" dirty="0"/>
              <a:t>		});</a:t>
            </a:r>
          </a:p>
          <a:p>
            <a:endParaRPr lang="en-US" altLang="zh-CN" dirty="0"/>
          </a:p>
          <a:p>
            <a:r>
              <a:rPr lang="en-US" altLang="zh-CN" dirty="0"/>
              <a:t>        </a:t>
            </a:r>
            <a:r>
              <a:rPr lang="en-US" altLang="zh-CN" dirty="0" err="1"/>
              <a:t>var</a:t>
            </a:r>
            <a:r>
              <a:rPr lang="en-US" altLang="zh-CN" dirty="0"/>
              <a:t> map = new </a:t>
            </a:r>
            <a:r>
              <a:rPr lang="en-US" altLang="zh-CN" dirty="0" err="1"/>
              <a:t>ol.Map</a:t>
            </a:r>
            <a:r>
              <a:rPr lang="en-US" altLang="zh-CN" dirty="0"/>
              <a:t>({</a:t>
            </a:r>
          </a:p>
          <a:p>
            <a:r>
              <a:rPr lang="en-US" altLang="zh-CN" dirty="0"/>
              <a:t>            layers: [</a:t>
            </a:r>
          </a:p>
          <a:p>
            <a:r>
              <a:rPr lang="en-US" altLang="zh-CN" dirty="0"/>
              <a:t>              </a:t>
            </a:r>
            <a:r>
              <a:rPr lang="en-US" altLang="zh-CN" dirty="0" err="1"/>
              <a:t>gaodeMapLayer</a:t>
            </a:r>
            <a:endParaRPr lang="en-US" altLang="zh-CN" dirty="0"/>
          </a:p>
          <a:p>
            <a:r>
              <a:rPr lang="en-US" altLang="zh-CN" dirty="0"/>
              <a:t>            ],</a:t>
            </a:r>
          </a:p>
          <a:p>
            <a:endParaRPr lang="en-US" altLang="zh-CN" dirty="0"/>
          </a:p>
          <a:p>
            <a:endParaRPr lang="en-US" altLang="zh-CN" dirty="0"/>
          </a:p>
          <a:p>
            <a:endParaRPr lang="en-US" altLang="zh-CN" dirty="0"/>
          </a:p>
          <a:p>
            <a:endParaRPr lang="en-US" altLang="zh-CN" dirty="0"/>
          </a:p>
          <a:p>
            <a:r>
              <a:rPr lang="en-US" altLang="zh-CN" dirty="0"/>
              <a:t>            target: 'map',</a:t>
            </a:r>
          </a:p>
          <a:p>
            <a:r>
              <a:rPr lang="en-US" altLang="zh-CN" dirty="0"/>
              <a:t>            view: new </a:t>
            </a:r>
            <a:r>
              <a:rPr lang="en-US" altLang="zh-CN" dirty="0" err="1"/>
              <a:t>ol.View</a:t>
            </a:r>
            <a:r>
              <a:rPr lang="en-US" altLang="zh-CN" dirty="0"/>
              <a:t>({</a:t>
            </a:r>
          </a:p>
          <a:p>
            <a:r>
              <a:rPr lang="en-US" altLang="zh-CN" dirty="0"/>
              <a:t>              center: </a:t>
            </a:r>
            <a:r>
              <a:rPr lang="en-US" altLang="zh-CN" dirty="0" err="1"/>
              <a:t>ol.proj.transform</a:t>
            </a:r>
            <a:r>
              <a:rPr lang="en-US" altLang="zh-CN" dirty="0"/>
              <a:t>(</a:t>
            </a:r>
          </a:p>
          <a:p>
            <a:r>
              <a:rPr lang="en-US" altLang="zh-CN" dirty="0"/>
              <a:t>                  [104, 30], 'EPSG:4326', 'EPSG:3857'),          //</a:t>
            </a:r>
            <a:r>
              <a:rPr lang="en-US" altLang="zh-CN" dirty="0" err="1"/>
              <a:t>ol.proj.transform</a:t>
            </a:r>
            <a:r>
              <a:rPr lang="en-US" altLang="zh-CN" dirty="0"/>
              <a:t>([104.06, 30.67], 'EPSG:4326', 'EPSG:3857')</a:t>
            </a:r>
            <a:r>
              <a:rPr lang="zh-CN" altLang="en-US" dirty="0"/>
              <a:t>就能把</a:t>
            </a:r>
            <a:r>
              <a:rPr lang="en-US" altLang="zh-CN" dirty="0"/>
              <a:t>EPSG:4326</a:t>
            </a:r>
            <a:r>
              <a:rPr lang="zh-CN" altLang="en-US" dirty="0"/>
              <a:t>的坐标</a:t>
            </a:r>
            <a:r>
              <a:rPr lang="en-US" altLang="zh-CN" dirty="0"/>
              <a:t>[104.06, 30.67]</a:t>
            </a:r>
            <a:r>
              <a:rPr lang="zh-CN" altLang="en-US" dirty="0"/>
              <a:t>转换为</a:t>
            </a:r>
            <a:r>
              <a:rPr lang="en-US" altLang="zh-CN" dirty="0"/>
              <a:t>EPSG:3857</a:t>
            </a:r>
            <a:r>
              <a:rPr lang="zh-CN" altLang="en-US" dirty="0"/>
              <a:t>的坐标 </a:t>
            </a:r>
          </a:p>
          <a:p>
            <a:r>
              <a:rPr lang="zh-CN" altLang="en-US" dirty="0"/>
              <a:t>              </a:t>
            </a:r>
            <a:r>
              <a:rPr lang="en-US" altLang="zh-CN" dirty="0"/>
              <a:t>zoom: 10</a:t>
            </a:r>
          </a:p>
          <a:p>
            <a:r>
              <a:rPr lang="en-US" altLang="zh-CN" dirty="0"/>
              <a:t>            })</a:t>
            </a:r>
          </a:p>
          <a:p>
            <a:r>
              <a:rPr lang="en-US" altLang="zh-CN" dirty="0"/>
              <a:t>        });</a:t>
            </a:r>
          </a:p>
          <a:p>
            <a:endParaRPr lang="en-US" altLang="zh-CN" dirty="0"/>
          </a:p>
          <a:p>
            <a:r>
              <a:rPr lang="en-US" altLang="zh-CN" dirty="0"/>
              <a:t>        // </a:t>
            </a:r>
            <a:r>
              <a:rPr lang="zh-CN" altLang="en-US" dirty="0"/>
              <a:t>添加一个绘制的线使用的</a:t>
            </a:r>
            <a:r>
              <a:rPr lang="en-US" altLang="zh-CN" dirty="0"/>
              <a:t>layer</a:t>
            </a:r>
          </a:p>
          <a:p>
            <a:r>
              <a:rPr lang="en-US" altLang="zh-CN" dirty="0"/>
              <a:t>        </a:t>
            </a:r>
            <a:r>
              <a:rPr lang="en-US" altLang="zh-CN" dirty="0" err="1"/>
              <a:t>var</a:t>
            </a:r>
            <a:r>
              <a:rPr lang="en-US" altLang="zh-CN" dirty="0"/>
              <a:t> </a:t>
            </a:r>
            <a:r>
              <a:rPr lang="en-US" altLang="zh-CN" dirty="0" err="1"/>
              <a:t>lineLayer</a:t>
            </a:r>
            <a:r>
              <a:rPr lang="en-US" altLang="zh-CN" dirty="0"/>
              <a:t> = new </a:t>
            </a:r>
            <a:r>
              <a:rPr lang="en-US" altLang="zh-CN" dirty="0" err="1"/>
              <a:t>ol.layer.Vector</a:t>
            </a:r>
            <a:r>
              <a:rPr lang="en-US" altLang="zh-CN" dirty="0"/>
              <a:t>({</a:t>
            </a:r>
          </a:p>
          <a:p>
            <a:r>
              <a:rPr lang="en-US" altLang="zh-CN" dirty="0"/>
              <a:t>        source: new </a:t>
            </a:r>
            <a:r>
              <a:rPr lang="en-US" altLang="zh-CN" dirty="0" err="1"/>
              <a:t>ol.source.Vector</a:t>
            </a:r>
            <a:r>
              <a:rPr lang="en-US" altLang="zh-CN" dirty="0"/>
              <a:t>(),</a:t>
            </a:r>
          </a:p>
          <a:p>
            <a:r>
              <a:rPr lang="en-US" altLang="zh-CN" dirty="0"/>
              <a:t>        style: new </a:t>
            </a:r>
            <a:r>
              <a:rPr lang="en-US" altLang="zh-CN" dirty="0" err="1"/>
              <a:t>ol.style.Style</a:t>
            </a:r>
            <a:r>
              <a:rPr lang="en-US" altLang="zh-CN" dirty="0"/>
              <a:t>({</a:t>
            </a:r>
          </a:p>
          <a:p>
            <a:r>
              <a:rPr lang="en-US" altLang="zh-CN" dirty="0"/>
              <a:t>            stroke: new </a:t>
            </a:r>
            <a:r>
              <a:rPr lang="en-US" altLang="zh-CN" dirty="0" err="1"/>
              <a:t>ol.style.Stroke</a:t>
            </a:r>
            <a:r>
              <a:rPr lang="en-US" altLang="zh-CN" dirty="0"/>
              <a:t>({            //</a:t>
            </a:r>
            <a:r>
              <a:rPr lang="zh-CN" altLang="en-US" dirty="0"/>
              <a:t>边界样式 </a:t>
            </a:r>
          </a:p>
          <a:p>
            <a:r>
              <a:rPr lang="zh-CN" altLang="en-US" dirty="0"/>
              <a:t>                </a:t>
            </a:r>
            <a:r>
              <a:rPr lang="en-US" altLang="zh-CN" dirty="0"/>
              <a:t>color: 'blue',</a:t>
            </a:r>
          </a:p>
          <a:p>
            <a:r>
              <a:rPr lang="en-US" altLang="zh-CN" dirty="0"/>
              <a:t>                size: 5</a:t>
            </a:r>
          </a:p>
          <a:p>
            <a:r>
              <a:rPr lang="en-US" altLang="zh-CN" dirty="0"/>
              <a:t>            })</a:t>
            </a:r>
          </a:p>
          <a:p>
            <a:r>
              <a:rPr lang="en-US" altLang="zh-CN" dirty="0"/>
              <a:t>          })</a:t>
            </a:r>
          </a:p>
          <a:p>
            <a:r>
              <a:rPr lang="en-US" altLang="zh-CN" dirty="0"/>
              <a:t>        })</a:t>
            </a:r>
          </a:p>
          <a:p>
            <a:r>
              <a:rPr lang="en-US" altLang="zh-CN" dirty="0"/>
              <a:t>        </a:t>
            </a:r>
            <a:r>
              <a:rPr lang="en-US" altLang="zh-CN" dirty="0" err="1"/>
              <a:t>map.addLayer</a:t>
            </a:r>
            <a:r>
              <a:rPr lang="en-US" altLang="zh-CN" dirty="0"/>
              <a:t>(</a:t>
            </a:r>
            <a:r>
              <a:rPr lang="en-US" altLang="zh-CN" dirty="0" err="1"/>
              <a:t>lineLayer</a:t>
            </a:r>
            <a:r>
              <a:rPr lang="en-US" altLang="zh-CN" dirty="0"/>
              <a:t>);</a:t>
            </a:r>
          </a:p>
          <a:p>
            <a:endParaRPr lang="en-US" altLang="zh-CN" dirty="0"/>
          </a:p>
          <a:p>
            <a:r>
              <a:rPr lang="en-US" altLang="zh-CN" dirty="0"/>
              <a:t>        // </a:t>
            </a:r>
            <a:r>
              <a:rPr lang="zh-CN" altLang="en-US" dirty="0"/>
              <a:t>添加绘图的交互类</a:t>
            </a:r>
          </a:p>
          <a:p>
            <a:r>
              <a:rPr lang="zh-CN" altLang="en-US" dirty="0"/>
              <a:t>        </a:t>
            </a:r>
            <a:r>
              <a:rPr lang="en-US" altLang="zh-CN" dirty="0" err="1"/>
              <a:t>map.addInteraction</a:t>
            </a:r>
            <a:r>
              <a:rPr lang="en-US" altLang="zh-CN" dirty="0"/>
              <a:t>(new </a:t>
            </a:r>
            <a:r>
              <a:rPr lang="en-US" altLang="zh-CN" dirty="0" err="1"/>
              <a:t>ol.interaction.Draw</a:t>
            </a:r>
            <a:r>
              <a:rPr lang="en-US" altLang="zh-CN" dirty="0"/>
              <a:t>({</a:t>
            </a:r>
          </a:p>
          <a:p>
            <a:r>
              <a:rPr lang="en-US" altLang="zh-CN" dirty="0"/>
              <a:t>            type: '</a:t>
            </a:r>
            <a:r>
              <a:rPr lang="en-US" altLang="zh-CN" dirty="0" err="1"/>
              <a:t>LineString</a:t>
            </a:r>
            <a:r>
              <a:rPr lang="en-US" altLang="zh-CN" dirty="0"/>
              <a:t>',</a:t>
            </a:r>
          </a:p>
          <a:p>
            <a:r>
              <a:rPr lang="en-US" altLang="zh-CN" dirty="0"/>
              <a:t>            source: </a:t>
            </a:r>
            <a:r>
              <a:rPr lang="en-US" altLang="zh-CN" dirty="0" err="1"/>
              <a:t>lineLayer.getSource</a:t>
            </a:r>
            <a:r>
              <a:rPr lang="en-US" altLang="zh-CN" dirty="0"/>
              <a:t>()    // </a:t>
            </a:r>
            <a:r>
              <a:rPr lang="zh-CN" altLang="en-US" dirty="0"/>
              <a:t>注意设置</a:t>
            </a:r>
            <a:r>
              <a:rPr lang="en-US" altLang="zh-CN" dirty="0"/>
              <a:t>source</a:t>
            </a:r>
            <a:r>
              <a:rPr lang="zh-CN" altLang="en-US" dirty="0"/>
              <a:t>，这样绘制好的线，就会添加到这个</a:t>
            </a:r>
            <a:r>
              <a:rPr lang="en-US" altLang="zh-CN" dirty="0"/>
              <a:t>source</a:t>
            </a:r>
            <a:r>
              <a:rPr lang="zh-CN" altLang="en-US" dirty="0"/>
              <a:t>里</a:t>
            </a:r>
          </a:p>
          <a:p>
            <a:r>
              <a:rPr lang="zh-CN" altLang="en-US" dirty="0"/>
              <a:t>        </a:t>
            </a:r>
            <a:r>
              <a:rPr lang="en-US" altLang="zh-CN" dirty="0"/>
              <a:t>}));</a:t>
            </a:r>
          </a:p>
          <a:p>
            <a:r>
              <a:rPr lang="en-US" altLang="zh-CN" dirty="0"/>
              <a:t>    &lt;/script&gt;</a:t>
            </a:r>
          </a:p>
          <a:p>
            <a:r>
              <a:rPr lang="en-US" altLang="zh-CN" dirty="0"/>
              <a:t>    </a:t>
            </a:r>
          </a:p>
          <a:p>
            <a:r>
              <a:rPr lang="en-US" altLang="zh-CN" dirty="0"/>
              <a:t>  &lt;/body&gt;</a:t>
            </a:r>
          </a:p>
          <a:p>
            <a:r>
              <a:rPr lang="en-US" altLang="zh-CN" dirty="0"/>
              <a:t>&lt;/html&gt;</a:t>
            </a:r>
          </a:p>
          <a:p>
            <a:endParaRPr lang="en-US" altLang="zh-CN" dirty="0"/>
          </a:p>
          <a:p>
            <a:r>
              <a:rPr lang="zh-CN" altLang="en-US" dirty="0"/>
              <a:t>（</a:t>
            </a:r>
            <a:r>
              <a:rPr lang="en-US" altLang="zh-CN" dirty="0"/>
              <a:t>2</a:t>
            </a:r>
            <a:r>
              <a:rPr lang="zh-CN" altLang="en-US" dirty="0"/>
              <a:t>）</a:t>
            </a:r>
            <a:r>
              <a:rPr lang="en-US" altLang="zh-CN" dirty="0"/>
              <a:t>&lt;!</a:t>
            </a:r>
            <a:r>
              <a:rPr lang="en-US" altLang="zh-CN" dirty="0" err="1"/>
              <a:t>doctype</a:t>
            </a:r>
            <a:r>
              <a:rPr lang="en-US" altLang="zh-CN" dirty="0"/>
              <a:t> html&gt;</a:t>
            </a:r>
          </a:p>
          <a:p>
            <a:r>
              <a:rPr lang="en-US" altLang="zh-CN" dirty="0"/>
              <a:t>&lt;html </a:t>
            </a:r>
            <a:r>
              <a:rPr lang="en-US" altLang="zh-CN" dirty="0" err="1"/>
              <a:t>lang</a:t>
            </a:r>
            <a:r>
              <a:rPr lang="en-US" altLang="zh-CN" dirty="0"/>
              <a:t>="</a:t>
            </a:r>
            <a:r>
              <a:rPr lang="en-US" altLang="zh-CN" dirty="0" err="1"/>
              <a:t>en</a:t>
            </a:r>
            <a:r>
              <a:rPr lang="en-US" altLang="zh-CN" dirty="0"/>
              <a:t>"&gt;</a:t>
            </a:r>
          </a:p>
          <a:p>
            <a:r>
              <a:rPr lang="en-US" altLang="zh-CN" dirty="0"/>
              <a:t>  &lt;head&gt;</a:t>
            </a:r>
          </a:p>
          <a:p>
            <a:r>
              <a:rPr lang="en-US" altLang="zh-CN" dirty="0"/>
              <a:t>	&lt;link </a:t>
            </a:r>
            <a:r>
              <a:rPr lang="en-US" altLang="zh-CN" dirty="0" err="1"/>
              <a:t>rel</a:t>
            </a:r>
            <a:r>
              <a:rPr lang="en-US" altLang="zh-CN" dirty="0"/>
              <a:t>="stylesheet" </a:t>
            </a:r>
            <a:r>
              <a:rPr lang="en-US" altLang="zh-CN" dirty="0" err="1"/>
              <a:t>href</a:t>
            </a:r>
            <a:r>
              <a:rPr lang="en-US" altLang="zh-CN" dirty="0"/>
              <a:t>="</a:t>
            </a:r>
            <a:r>
              <a:rPr lang="en-US" altLang="zh-CN" dirty="0" err="1"/>
              <a:t>openlayers</a:t>
            </a:r>
            <a:r>
              <a:rPr lang="en-US" altLang="zh-CN" dirty="0"/>
              <a:t>/ol.css" /&gt;</a:t>
            </a:r>
          </a:p>
          <a:p>
            <a:r>
              <a:rPr lang="en-US" altLang="zh-CN" dirty="0"/>
              <a:t>	&lt;script </a:t>
            </a:r>
            <a:r>
              <a:rPr lang="en-US" altLang="zh-CN" dirty="0" err="1"/>
              <a:t>src</a:t>
            </a:r>
            <a:r>
              <a:rPr lang="en-US" altLang="zh-CN" dirty="0"/>
              <a:t>="</a:t>
            </a:r>
            <a:r>
              <a:rPr lang="en-US" altLang="zh-CN" dirty="0" err="1"/>
              <a:t>openlayers</a:t>
            </a:r>
            <a:r>
              <a:rPr lang="en-US" altLang="zh-CN" dirty="0"/>
              <a:t>/ol.js"&gt;&lt;/script&gt;</a:t>
            </a:r>
          </a:p>
          <a:p>
            <a:r>
              <a:rPr lang="en-US" altLang="zh-CN" dirty="0"/>
              <a:t>    &lt;title&gt;</a:t>
            </a:r>
            <a:r>
              <a:rPr lang="en-US" altLang="zh-CN" dirty="0" err="1"/>
              <a:t>OpenLayers</a:t>
            </a:r>
            <a:r>
              <a:rPr lang="en-US" altLang="zh-CN" dirty="0"/>
              <a:t> </a:t>
            </a:r>
            <a:r>
              <a:rPr lang="zh-CN" altLang="en-US" dirty="0"/>
              <a:t>绘图进阶</a:t>
            </a:r>
            <a:r>
              <a:rPr lang="en-US" altLang="zh-CN" dirty="0"/>
              <a:t>&lt;/title&gt;</a:t>
            </a:r>
          </a:p>
          <a:p>
            <a:r>
              <a:rPr lang="en-US" altLang="zh-CN" dirty="0"/>
              <a:t>  &lt;/head&gt;</a:t>
            </a:r>
          </a:p>
          <a:p>
            <a:r>
              <a:rPr lang="en-US" altLang="zh-CN" dirty="0"/>
              <a:t>  &lt;body&gt;</a:t>
            </a:r>
          </a:p>
          <a:p>
            <a:r>
              <a:rPr lang="en-US" altLang="zh-CN" dirty="0"/>
              <a:t>    &lt;div style="background-color: #999;width: 100%;height:80px;font-size: 30px;"&gt;</a:t>
            </a:r>
          </a:p>
          <a:p>
            <a:r>
              <a:rPr lang="en-US" altLang="zh-CN" dirty="0"/>
              <a:t>    &lt;span&gt;</a:t>
            </a:r>
            <a:r>
              <a:rPr lang="zh-CN" altLang="en-US" dirty="0"/>
              <a:t>当前绘制线的坐标：</a:t>
            </a:r>
            <a:r>
              <a:rPr lang="en-US" altLang="zh-CN" dirty="0"/>
              <a:t>&lt;/span&gt;&lt;span id='points'&gt;&lt;/span&gt;&lt;/div&gt;</a:t>
            </a:r>
          </a:p>
          <a:p>
            <a:r>
              <a:rPr lang="en-US" altLang="zh-CN" dirty="0"/>
              <a:t>&lt;div id="map" style="width: 100%;height: 1000px;"&gt;&lt;/div&gt;</a:t>
            </a:r>
          </a:p>
          <a:p>
            <a:r>
              <a:rPr lang="en-US" altLang="zh-CN" dirty="0"/>
              <a:t>&lt;script type="text/</a:t>
            </a:r>
            <a:r>
              <a:rPr lang="en-US" altLang="zh-CN" dirty="0" err="1"/>
              <a:t>javascript</a:t>
            </a:r>
            <a:r>
              <a:rPr lang="en-US" altLang="zh-CN" dirty="0"/>
              <a:t>"&gt;</a:t>
            </a:r>
          </a:p>
          <a:p>
            <a:endParaRPr lang="en-US" altLang="zh-CN" dirty="0"/>
          </a:p>
          <a:p>
            <a:r>
              <a:rPr lang="en-US" altLang="zh-CN" dirty="0"/>
              <a:t>        </a:t>
            </a:r>
            <a:r>
              <a:rPr lang="en-US" altLang="zh-CN" dirty="0" err="1"/>
              <a:t>var</a:t>
            </a:r>
            <a:r>
              <a:rPr lang="en-US" altLang="zh-CN" dirty="0"/>
              <a:t> </a:t>
            </a:r>
            <a:r>
              <a:rPr lang="en-US" altLang="zh-CN" dirty="0" err="1"/>
              <a:t>gaodeMapLayer</a:t>
            </a:r>
            <a:r>
              <a:rPr lang="en-US" altLang="zh-CN" dirty="0"/>
              <a:t> = new </a:t>
            </a:r>
            <a:r>
              <a:rPr lang="en-US" altLang="zh-CN" dirty="0" err="1"/>
              <a:t>ol.layer.Tile</a:t>
            </a:r>
            <a:r>
              <a:rPr lang="en-US" altLang="zh-CN" dirty="0"/>
              <a:t>({</a:t>
            </a:r>
          </a:p>
          <a:p>
            <a:r>
              <a:rPr lang="en-US" altLang="zh-CN" dirty="0"/>
              <a:t>			source: new </a:t>
            </a:r>
            <a:r>
              <a:rPr lang="en-US" altLang="zh-CN" dirty="0" err="1"/>
              <a:t>ol.source.XYZ</a:t>
            </a:r>
            <a:r>
              <a:rPr lang="en-US" altLang="zh-CN" dirty="0"/>
              <a:t>({</a:t>
            </a:r>
          </a:p>
          <a:p>
            <a:r>
              <a:rPr lang="en-US" altLang="zh-CN" dirty="0"/>
              <a:t>				url: "http://wprd0{1-4}.is.autonavi.com/</a:t>
            </a:r>
            <a:r>
              <a:rPr lang="en-US" altLang="zh-CN" dirty="0" err="1"/>
              <a:t>appmaptile?lang</a:t>
            </a:r>
            <a:r>
              <a:rPr lang="en-US" altLang="zh-CN" dirty="0"/>
              <a:t>=</a:t>
            </a:r>
            <a:r>
              <a:rPr lang="en-US" altLang="zh-CN" dirty="0" err="1"/>
              <a:t>zh_cn&amp;size</a:t>
            </a:r>
            <a:r>
              <a:rPr lang="en-US" altLang="zh-CN" dirty="0"/>
              <a:t>=1&amp;style=7&amp;x={x}&amp;y={y}&amp;z={z}"</a:t>
            </a:r>
          </a:p>
          <a:p>
            <a:r>
              <a:rPr lang="en-US" altLang="zh-CN" dirty="0"/>
              <a:t>			}),</a:t>
            </a:r>
          </a:p>
          <a:p>
            <a:r>
              <a:rPr lang="en-US" altLang="zh-CN" dirty="0"/>
              <a:t>			visible: true</a:t>
            </a:r>
          </a:p>
          <a:p>
            <a:r>
              <a:rPr lang="en-US" altLang="zh-CN" dirty="0"/>
              <a:t>		});</a:t>
            </a:r>
          </a:p>
          <a:p>
            <a:endParaRPr lang="en-US" altLang="zh-CN" dirty="0"/>
          </a:p>
          <a:p>
            <a:r>
              <a:rPr lang="en-US" altLang="zh-CN" dirty="0"/>
              <a:t>        </a:t>
            </a:r>
            <a:r>
              <a:rPr lang="en-US" altLang="zh-CN" dirty="0" err="1"/>
              <a:t>var</a:t>
            </a:r>
            <a:r>
              <a:rPr lang="en-US" altLang="zh-CN" dirty="0"/>
              <a:t> map = new </a:t>
            </a:r>
            <a:r>
              <a:rPr lang="en-US" altLang="zh-CN" dirty="0" err="1"/>
              <a:t>ol.Map</a:t>
            </a:r>
            <a:r>
              <a:rPr lang="en-US" altLang="zh-CN" dirty="0"/>
              <a:t>({</a:t>
            </a:r>
          </a:p>
          <a:p>
            <a:r>
              <a:rPr lang="en-US" altLang="zh-CN" dirty="0"/>
              <a:t>            layers: [</a:t>
            </a:r>
          </a:p>
          <a:p>
            <a:r>
              <a:rPr lang="en-US" altLang="zh-CN" dirty="0"/>
              <a:t>              </a:t>
            </a:r>
            <a:r>
              <a:rPr lang="en-US" altLang="zh-CN" dirty="0" err="1"/>
              <a:t>gaodeMapLayer</a:t>
            </a:r>
            <a:endParaRPr lang="en-US" altLang="zh-CN" dirty="0"/>
          </a:p>
          <a:p>
            <a:r>
              <a:rPr lang="en-US" altLang="zh-CN" dirty="0"/>
              <a:t>            ],</a:t>
            </a:r>
          </a:p>
          <a:p>
            <a:endParaRPr lang="en-US" altLang="zh-CN" dirty="0"/>
          </a:p>
          <a:p>
            <a:endParaRPr lang="en-US" altLang="zh-CN" dirty="0"/>
          </a:p>
          <a:p>
            <a:endParaRPr lang="en-US" altLang="zh-CN" dirty="0"/>
          </a:p>
          <a:p>
            <a:endParaRPr lang="en-US" altLang="zh-CN" dirty="0"/>
          </a:p>
          <a:p>
            <a:r>
              <a:rPr lang="en-US" altLang="zh-CN" dirty="0"/>
              <a:t>            target: 'map',</a:t>
            </a:r>
          </a:p>
          <a:p>
            <a:r>
              <a:rPr lang="en-US" altLang="zh-CN" dirty="0"/>
              <a:t>            view: new </a:t>
            </a:r>
            <a:r>
              <a:rPr lang="en-US" altLang="zh-CN" dirty="0" err="1"/>
              <a:t>ol.View</a:t>
            </a:r>
            <a:r>
              <a:rPr lang="en-US" altLang="zh-CN" dirty="0"/>
              <a:t>({</a:t>
            </a:r>
          </a:p>
          <a:p>
            <a:r>
              <a:rPr lang="en-US" altLang="zh-CN" dirty="0"/>
              <a:t>              center: </a:t>
            </a:r>
            <a:r>
              <a:rPr lang="en-US" altLang="zh-CN" dirty="0" err="1"/>
              <a:t>ol.proj.transform</a:t>
            </a:r>
            <a:r>
              <a:rPr lang="en-US" altLang="zh-CN" dirty="0"/>
              <a:t>(</a:t>
            </a:r>
          </a:p>
          <a:p>
            <a:r>
              <a:rPr lang="en-US" altLang="zh-CN" dirty="0"/>
              <a:t>                  [104, 30], 'EPSG:4326', 'EPSG:3857'),          //</a:t>
            </a:r>
            <a:r>
              <a:rPr lang="en-US" altLang="zh-CN" dirty="0" err="1"/>
              <a:t>ol.proj.transform</a:t>
            </a:r>
            <a:r>
              <a:rPr lang="en-US" altLang="zh-CN" dirty="0"/>
              <a:t>([104.06, 30.67], 'EPSG:4326', 'EPSG:3857')</a:t>
            </a:r>
            <a:r>
              <a:rPr lang="zh-CN" altLang="en-US" dirty="0"/>
              <a:t>就能把</a:t>
            </a:r>
            <a:r>
              <a:rPr lang="en-US" altLang="zh-CN" dirty="0"/>
              <a:t>EPSG:4326</a:t>
            </a:r>
            <a:r>
              <a:rPr lang="zh-CN" altLang="en-US" dirty="0"/>
              <a:t>的坐标</a:t>
            </a:r>
            <a:r>
              <a:rPr lang="en-US" altLang="zh-CN" dirty="0"/>
              <a:t>[104.06, 30.67]</a:t>
            </a:r>
            <a:r>
              <a:rPr lang="zh-CN" altLang="en-US" dirty="0"/>
              <a:t>转换为</a:t>
            </a:r>
            <a:r>
              <a:rPr lang="en-US" altLang="zh-CN" dirty="0"/>
              <a:t>EPSG:3857</a:t>
            </a:r>
            <a:r>
              <a:rPr lang="zh-CN" altLang="en-US" dirty="0"/>
              <a:t>的坐标 </a:t>
            </a:r>
          </a:p>
          <a:p>
            <a:r>
              <a:rPr lang="zh-CN" altLang="en-US" dirty="0"/>
              <a:t>              </a:t>
            </a:r>
            <a:r>
              <a:rPr lang="en-US" altLang="zh-CN" dirty="0"/>
              <a:t>zoom: 10</a:t>
            </a:r>
          </a:p>
          <a:p>
            <a:r>
              <a:rPr lang="en-US" altLang="zh-CN" dirty="0"/>
              <a:t>            })</a:t>
            </a:r>
          </a:p>
          <a:p>
            <a:r>
              <a:rPr lang="en-US" altLang="zh-CN" dirty="0"/>
              <a:t>        });</a:t>
            </a:r>
          </a:p>
          <a:p>
            <a:endParaRPr lang="en-US" altLang="zh-CN" dirty="0"/>
          </a:p>
          <a:p>
            <a:r>
              <a:rPr lang="en-US" altLang="zh-CN" dirty="0"/>
              <a:t>    // </a:t>
            </a:r>
            <a:r>
              <a:rPr lang="zh-CN" altLang="en-US" dirty="0"/>
              <a:t>添加一个绘制的线使用的</a:t>
            </a:r>
            <a:r>
              <a:rPr lang="en-US" altLang="zh-CN" dirty="0"/>
              <a:t>layer</a:t>
            </a:r>
          </a:p>
          <a:p>
            <a:r>
              <a:rPr lang="en-US" altLang="zh-CN" dirty="0"/>
              <a:t>    </a:t>
            </a:r>
            <a:r>
              <a:rPr lang="en-US" altLang="zh-CN" dirty="0" err="1"/>
              <a:t>var</a:t>
            </a:r>
            <a:r>
              <a:rPr lang="en-US" altLang="zh-CN" dirty="0"/>
              <a:t> </a:t>
            </a:r>
            <a:r>
              <a:rPr lang="en-US" altLang="zh-CN" dirty="0" err="1"/>
              <a:t>lineLayer</a:t>
            </a:r>
            <a:r>
              <a:rPr lang="en-US" altLang="zh-CN" dirty="0"/>
              <a:t> = new </a:t>
            </a:r>
            <a:r>
              <a:rPr lang="en-US" altLang="zh-CN" dirty="0" err="1"/>
              <a:t>ol.layer.Vector</a:t>
            </a:r>
            <a:r>
              <a:rPr lang="en-US" altLang="zh-CN" dirty="0"/>
              <a:t>({</a:t>
            </a:r>
          </a:p>
          <a:p>
            <a:r>
              <a:rPr lang="en-US" altLang="zh-CN" dirty="0"/>
              <a:t>        source: new </a:t>
            </a:r>
            <a:r>
              <a:rPr lang="en-US" altLang="zh-CN" dirty="0" err="1"/>
              <a:t>ol.source.Vector</a:t>
            </a:r>
            <a:r>
              <a:rPr lang="en-US" altLang="zh-CN" dirty="0"/>
              <a:t>(),</a:t>
            </a:r>
          </a:p>
          <a:p>
            <a:r>
              <a:rPr lang="en-US" altLang="zh-CN" dirty="0"/>
              <a:t>        style: new </a:t>
            </a:r>
            <a:r>
              <a:rPr lang="en-US" altLang="zh-CN" dirty="0" err="1"/>
              <a:t>ol.style.Style</a:t>
            </a:r>
            <a:r>
              <a:rPr lang="en-US" altLang="zh-CN" dirty="0"/>
              <a:t>({</a:t>
            </a:r>
          </a:p>
          <a:p>
            <a:r>
              <a:rPr lang="en-US" altLang="zh-CN" dirty="0"/>
              <a:t>            stroke: new </a:t>
            </a:r>
            <a:r>
              <a:rPr lang="en-US" altLang="zh-CN" dirty="0" err="1"/>
              <a:t>ol.style.Stroke</a:t>
            </a:r>
            <a:r>
              <a:rPr lang="en-US" altLang="zh-CN" dirty="0"/>
              <a:t>({</a:t>
            </a:r>
          </a:p>
          <a:p>
            <a:r>
              <a:rPr lang="en-US" altLang="zh-CN" dirty="0"/>
              <a:t>                color: 'blue',</a:t>
            </a:r>
          </a:p>
          <a:p>
            <a:r>
              <a:rPr lang="en-US" altLang="zh-CN" dirty="0"/>
              <a:t>                size: 6</a:t>
            </a:r>
          </a:p>
          <a:p>
            <a:r>
              <a:rPr lang="en-US" altLang="zh-CN" dirty="0"/>
              <a:t>            })</a:t>
            </a:r>
          </a:p>
          <a:p>
            <a:r>
              <a:rPr lang="en-US" altLang="zh-CN" dirty="0"/>
              <a:t>        })</a:t>
            </a:r>
          </a:p>
          <a:p>
            <a:r>
              <a:rPr lang="en-US" altLang="zh-CN" dirty="0"/>
              <a:t>    })</a:t>
            </a:r>
          </a:p>
          <a:p>
            <a:endParaRPr lang="en-US" altLang="zh-CN" dirty="0"/>
          </a:p>
          <a:p>
            <a:r>
              <a:rPr lang="en-US" altLang="zh-CN" dirty="0"/>
              <a:t>    </a:t>
            </a:r>
            <a:r>
              <a:rPr lang="en-US" altLang="zh-CN" dirty="0" err="1"/>
              <a:t>map.addLayer</a:t>
            </a:r>
            <a:r>
              <a:rPr lang="en-US" altLang="zh-CN" dirty="0"/>
              <a:t>(</a:t>
            </a:r>
            <a:r>
              <a:rPr lang="en-US" altLang="zh-CN" dirty="0" err="1"/>
              <a:t>lineLayer</a:t>
            </a:r>
            <a:r>
              <a:rPr lang="en-US" altLang="zh-CN" dirty="0"/>
              <a:t>);</a:t>
            </a:r>
          </a:p>
          <a:p>
            <a:r>
              <a:rPr lang="en-US" altLang="zh-CN" dirty="0"/>
              <a:t>    </a:t>
            </a:r>
            <a:r>
              <a:rPr lang="en-US" altLang="zh-CN" dirty="0" err="1"/>
              <a:t>var</a:t>
            </a:r>
            <a:r>
              <a:rPr lang="en-US" altLang="zh-CN" dirty="0"/>
              <a:t> </a:t>
            </a:r>
            <a:r>
              <a:rPr lang="en-US" altLang="zh-CN" dirty="0" err="1"/>
              <a:t>lineDraw</a:t>
            </a:r>
            <a:r>
              <a:rPr lang="en-US" altLang="zh-CN" dirty="0"/>
              <a:t> = new </a:t>
            </a:r>
            <a:r>
              <a:rPr lang="en-US" altLang="zh-CN" dirty="0" err="1"/>
              <a:t>ol.interaction.Draw</a:t>
            </a:r>
            <a:r>
              <a:rPr lang="en-US" altLang="zh-CN" dirty="0"/>
              <a:t>({</a:t>
            </a:r>
          </a:p>
          <a:p>
            <a:r>
              <a:rPr lang="en-US" altLang="zh-CN" dirty="0"/>
              <a:t>        type: '</a:t>
            </a:r>
            <a:r>
              <a:rPr lang="en-US" altLang="zh-CN" dirty="0" err="1"/>
              <a:t>LineString</a:t>
            </a:r>
            <a:r>
              <a:rPr lang="en-US" altLang="zh-CN" dirty="0"/>
              <a:t>',</a:t>
            </a:r>
          </a:p>
          <a:p>
            <a:r>
              <a:rPr lang="en-US" altLang="zh-CN" dirty="0"/>
              <a:t>        source: </a:t>
            </a:r>
            <a:r>
              <a:rPr lang="en-US" altLang="zh-CN" dirty="0" err="1"/>
              <a:t>lineLayer.getSource</a:t>
            </a:r>
            <a:r>
              <a:rPr lang="en-US" altLang="zh-CN" dirty="0"/>
              <a:t>(),    // </a:t>
            </a:r>
            <a:r>
              <a:rPr lang="zh-CN" altLang="en-US" dirty="0"/>
              <a:t>注意设置</a:t>
            </a:r>
            <a:r>
              <a:rPr lang="en-US" altLang="zh-CN" dirty="0"/>
              <a:t>source</a:t>
            </a:r>
            <a:r>
              <a:rPr lang="zh-CN" altLang="en-US" dirty="0"/>
              <a:t>，这样绘制好的线，就会添加到这个</a:t>
            </a:r>
            <a:r>
              <a:rPr lang="en-US" altLang="zh-CN" dirty="0"/>
              <a:t>source</a:t>
            </a:r>
            <a:r>
              <a:rPr lang="zh-CN" altLang="en-US" dirty="0"/>
              <a:t>里</a:t>
            </a:r>
          </a:p>
          <a:p>
            <a:r>
              <a:rPr lang="zh-CN" altLang="en-US" dirty="0"/>
              <a:t>        </a:t>
            </a:r>
            <a:r>
              <a:rPr lang="en-US" altLang="zh-CN" dirty="0"/>
              <a:t>style: new </a:t>
            </a:r>
            <a:r>
              <a:rPr lang="en-US" altLang="zh-CN" dirty="0" err="1"/>
              <a:t>ol.style.Style</a:t>
            </a:r>
            <a:r>
              <a:rPr lang="en-US" altLang="zh-CN" dirty="0"/>
              <a:t>({            // </a:t>
            </a:r>
            <a:r>
              <a:rPr lang="zh-CN" altLang="en-US" dirty="0"/>
              <a:t>设置绘制时的样式</a:t>
            </a:r>
          </a:p>
          <a:p>
            <a:r>
              <a:rPr lang="zh-CN" altLang="en-US" dirty="0"/>
              <a:t>            </a:t>
            </a:r>
            <a:r>
              <a:rPr lang="en-US" altLang="zh-CN" dirty="0"/>
              <a:t>stroke: new </a:t>
            </a:r>
            <a:r>
              <a:rPr lang="en-US" altLang="zh-CN" dirty="0" err="1"/>
              <a:t>ol.style.Stroke</a:t>
            </a:r>
            <a:r>
              <a:rPr lang="en-US" altLang="zh-CN" dirty="0"/>
              <a:t>({</a:t>
            </a:r>
          </a:p>
          <a:p>
            <a:r>
              <a:rPr lang="en-US" altLang="zh-CN" dirty="0"/>
              <a:t>                color: '#009933',</a:t>
            </a:r>
          </a:p>
          <a:p>
            <a:r>
              <a:rPr lang="en-US" altLang="zh-CN" dirty="0"/>
              <a:t>                size: 1</a:t>
            </a:r>
          </a:p>
          <a:p>
            <a:r>
              <a:rPr lang="en-US" altLang="zh-CN" dirty="0"/>
              <a:t>            })</a:t>
            </a:r>
          </a:p>
          <a:p>
            <a:r>
              <a:rPr lang="en-US" altLang="zh-CN" dirty="0"/>
              <a:t>        }),</a:t>
            </a:r>
          </a:p>
          <a:p>
            <a:r>
              <a:rPr lang="en-US" altLang="zh-CN" dirty="0"/>
              <a:t>        </a:t>
            </a:r>
            <a:r>
              <a:rPr lang="en-US" altLang="zh-CN" dirty="0" err="1"/>
              <a:t>maxPoints</a:t>
            </a:r>
            <a:r>
              <a:rPr lang="en-US" altLang="zh-CN" dirty="0"/>
              <a:t>: 4    // </a:t>
            </a:r>
            <a:r>
              <a:rPr lang="zh-CN" altLang="en-US" dirty="0"/>
              <a:t>限制不超过</a:t>
            </a:r>
            <a:r>
              <a:rPr lang="en-US" altLang="zh-CN" dirty="0"/>
              <a:t>4</a:t>
            </a:r>
            <a:r>
              <a:rPr lang="zh-CN" altLang="en-US" dirty="0"/>
              <a:t>个点</a:t>
            </a:r>
          </a:p>
          <a:p>
            <a:r>
              <a:rPr lang="zh-CN" altLang="en-US" dirty="0"/>
              <a:t>    </a:t>
            </a:r>
            <a:r>
              <a:rPr lang="en-US" altLang="zh-CN" dirty="0"/>
              <a:t>});</a:t>
            </a:r>
          </a:p>
          <a:p>
            <a:endParaRPr lang="en-US" altLang="zh-CN" dirty="0"/>
          </a:p>
          <a:p>
            <a:r>
              <a:rPr lang="en-US" altLang="zh-CN" dirty="0"/>
              <a:t>    // </a:t>
            </a:r>
            <a:r>
              <a:rPr lang="zh-CN" altLang="en-US" dirty="0"/>
              <a:t>监听线绘制结束事件，获取坐标</a:t>
            </a:r>
          </a:p>
          <a:p>
            <a:r>
              <a:rPr lang="zh-CN" altLang="en-US" dirty="0"/>
              <a:t>    </a:t>
            </a:r>
            <a:r>
              <a:rPr lang="en-US" altLang="zh-CN" dirty="0" err="1"/>
              <a:t>lineDraw.on</a:t>
            </a:r>
            <a:r>
              <a:rPr lang="en-US" altLang="zh-CN" dirty="0"/>
              <a:t>('</a:t>
            </a:r>
            <a:r>
              <a:rPr lang="en-US" altLang="zh-CN" dirty="0" err="1"/>
              <a:t>drawend</a:t>
            </a:r>
            <a:r>
              <a:rPr lang="en-US" altLang="zh-CN" dirty="0"/>
              <a:t>', function(event){</a:t>
            </a:r>
          </a:p>
          <a:p>
            <a:r>
              <a:rPr lang="en-US" altLang="zh-CN" dirty="0"/>
              <a:t>       </a:t>
            </a:r>
          </a:p>
          <a:p>
            <a:r>
              <a:rPr lang="en-US" altLang="zh-CN" dirty="0"/>
              <a:t>        </a:t>
            </a:r>
            <a:r>
              <a:rPr lang="en-US" altLang="zh-CN" dirty="0" err="1"/>
              <a:t>document.getElementById</a:t>
            </a:r>
            <a:r>
              <a:rPr lang="en-US" altLang="zh-CN" dirty="0"/>
              <a:t>('points').</a:t>
            </a:r>
            <a:r>
              <a:rPr lang="en-US" altLang="zh-CN" dirty="0" err="1"/>
              <a:t>innerHTML</a:t>
            </a:r>
            <a:r>
              <a:rPr lang="en-US" altLang="zh-CN" dirty="0"/>
              <a:t> = </a:t>
            </a:r>
            <a:r>
              <a:rPr lang="en-US" altLang="zh-CN" dirty="0" err="1"/>
              <a:t>JSON.stringify</a:t>
            </a:r>
            <a:r>
              <a:rPr lang="en-US" altLang="zh-CN" dirty="0"/>
              <a:t>(</a:t>
            </a:r>
            <a:r>
              <a:rPr lang="en-US" altLang="zh-CN" dirty="0" err="1"/>
              <a:t>event.feature.getGeometry</a:t>
            </a:r>
            <a:r>
              <a:rPr lang="en-US" altLang="zh-CN" dirty="0"/>
              <a:t>().</a:t>
            </a:r>
            <a:r>
              <a:rPr lang="en-US" altLang="zh-CN" dirty="0" err="1"/>
              <a:t>getCoordinates</a:t>
            </a:r>
            <a:r>
              <a:rPr lang="en-US" altLang="zh-CN" dirty="0"/>
              <a:t>());   // </a:t>
            </a:r>
            <a:r>
              <a:rPr lang="en-US" altLang="zh-CN" dirty="0" err="1"/>
              <a:t>event.feature</a:t>
            </a:r>
            <a:r>
              <a:rPr lang="en-US" altLang="zh-CN" dirty="0"/>
              <a:t> </a:t>
            </a:r>
            <a:r>
              <a:rPr lang="zh-CN" altLang="en-US" dirty="0"/>
              <a:t>就是当前绘制完成的线的</a:t>
            </a:r>
            <a:r>
              <a:rPr lang="en-US" altLang="zh-CN" dirty="0"/>
              <a:t>Feature</a:t>
            </a:r>
          </a:p>
          <a:p>
            <a:r>
              <a:rPr lang="en-US" altLang="zh-CN" dirty="0"/>
              <a:t>    });</a:t>
            </a:r>
          </a:p>
          <a:p>
            <a:endParaRPr lang="en-US" altLang="zh-CN" dirty="0"/>
          </a:p>
          <a:p>
            <a:r>
              <a:rPr lang="en-US" altLang="zh-CN" dirty="0"/>
              <a:t>    </a:t>
            </a:r>
            <a:r>
              <a:rPr lang="en-US" altLang="zh-CN" dirty="0" err="1"/>
              <a:t>map.addInteraction</a:t>
            </a:r>
            <a:r>
              <a:rPr lang="en-US" altLang="zh-CN" dirty="0"/>
              <a:t>(</a:t>
            </a:r>
            <a:r>
              <a:rPr lang="en-US" altLang="zh-CN" dirty="0" err="1"/>
              <a:t>lineDraw</a:t>
            </a:r>
            <a:r>
              <a:rPr lang="en-US" altLang="zh-CN" dirty="0"/>
              <a:t>);</a:t>
            </a:r>
          </a:p>
          <a:p>
            <a:r>
              <a:rPr lang="en-US" altLang="zh-CN" dirty="0"/>
              <a:t>&lt;/script&gt;</a:t>
            </a:r>
          </a:p>
          <a:p>
            <a:endParaRPr lang="en-US" altLang="zh-CN" dirty="0"/>
          </a:p>
          <a:p>
            <a:r>
              <a:rPr lang="en-US" altLang="zh-CN" dirty="0"/>
              <a:t>  &lt;/body&gt;</a:t>
            </a:r>
          </a:p>
          <a:p>
            <a:r>
              <a:rPr lang="en-US" altLang="zh-CN" dirty="0"/>
              <a:t>&lt;/html&gt;</a:t>
            </a:r>
          </a:p>
          <a:p>
            <a:endParaRPr lang="zh-CN" altLang="en-US" dirty="0"/>
          </a:p>
        </p:txBody>
      </p:sp>
      <p:sp>
        <p:nvSpPr>
          <p:cNvPr id="4" name="灯片编号占位符 3"/>
          <p:cNvSpPr>
            <a:spLocks noGrp="1"/>
          </p:cNvSpPr>
          <p:nvPr>
            <p:ph type="sldNum" sz="quarter" idx="10"/>
          </p:nvPr>
        </p:nvSpPr>
        <p:spPr/>
        <p:txBody>
          <a:bodyPr/>
          <a:lstStyle/>
          <a:p>
            <a:pPr>
              <a:defRPr/>
            </a:pPr>
            <a:fld id="{408EDF8F-83E8-4FCA-BD76-6B5E2607204B}" type="slidenum">
              <a:rPr lang="zh-CN" altLang="en-US" smtClean="0"/>
              <a:pPr>
                <a:defRPr/>
              </a:pPr>
              <a:t>43</a:t>
            </a:fld>
            <a:endParaRPr lang="en-US" altLang="zh-CN"/>
          </a:p>
        </p:txBody>
      </p:sp>
    </p:spTree>
    <p:extLst>
      <p:ext uri="{BB962C8B-B14F-4D97-AF65-F5344CB8AC3E}">
        <p14:creationId xmlns:p14="http://schemas.microsoft.com/office/powerpoint/2010/main" val="6140614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交互式图形绘制的原理：先初始化一个矢量地图对象并添加到地图容器，然后加载交互式图形绘制控件</a:t>
            </a:r>
            <a:r>
              <a:rPr lang="en-US" altLang="zh-CN" dirty="0"/>
              <a:t>(</a:t>
            </a:r>
            <a:r>
              <a:rPr lang="zh-CN" altLang="en-US" dirty="0"/>
              <a:t>在实例化时设置绘制类型，如点、线、规则多边形、任意多边形，以及几何图形对应的特征参数</a:t>
            </a:r>
            <a:r>
              <a:rPr lang="en-US" altLang="zh-CN" dirty="0"/>
              <a:t>)</a:t>
            </a:r>
            <a:r>
              <a:rPr lang="zh-CN" altLang="en-US" dirty="0"/>
              <a:t>，最后通过交互式图形绘制控件在地图上绘制相应的几何图形，也可以通过交互式编辑控件来修改已经绘制好的几何图形。其中，在绘制几何图形时，可以根据需求设置不同的图形样式。在</a:t>
            </a:r>
            <a:r>
              <a:rPr lang="en-US" altLang="zh-CN" dirty="0" err="1"/>
              <a:t>OpenLayers</a:t>
            </a:r>
            <a:r>
              <a:rPr lang="en-US" altLang="zh-CN" dirty="0"/>
              <a:t> 5</a:t>
            </a:r>
            <a:r>
              <a:rPr lang="zh-CN" altLang="en-US" dirty="0"/>
              <a:t>中，矢量地图为</a:t>
            </a:r>
            <a:r>
              <a:rPr lang="en-US" altLang="zh-CN" dirty="0" err="1"/>
              <a:t>ol.layer.Vector</a:t>
            </a:r>
            <a:r>
              <a:rPr lang="zh-CN" altLang="en-US" dirty="0"/>
              <a:t>，交互式图形绘制控件为</a:t>
            </a:r>
            <a:r>
              <a:rPr lang="en-US" altLang="zh-CN" dirty="0" err="1"/>
              <a:t>ol.interaction.Draw</a:t>
            </a:r>
            <a:r>
              <a:rPr lang="en-US" altLang="zh-CN" dirty="0"/>
              <a:t>(</a:t>
            </a:r>
            <a:r>
              <a:rPr lang="zh-CN" altLang="en-US" dirty="0"/>
              <a:t>包括绘制点、线、多边形等</a:t>
            </a:r>
            <a:r>
              <a:rPr lang="en-US" altLang="zh-CN" dirty="0"/>
              <a:t>)</a:t>
            </a:r>
            <a:r>
              <a:rPr lang="zh-CN" altLang="en-US" dirty="0"/>
              <a:t>，交互式编辑控件为</a:t>
            </a:r>
            <a:r>
              <a:rPr lang="en-US" altLang="zh-CN" dirty="0" err="1"/>
              <a:t>ol.interaction.Modify</a:t>
            </a:r>
            <a:r>
              <a:rPr lang="zh-CN" altLang="en-US" dirty="0"/>
              <a:t>。另外，在进行编辑时，通常需要先选择某个目标，</a:t>
            </a:r>
            <a:r>
              <a:rPr lang="en-US" altLang="zh-CN" dirty="0"/>
              <a:t>OpenLayers5</a:t>
            </a:r>
            <a:r>
              <a:rPr lang="zh-CN" altLang="en-US" dirty="0"/>
              <a:t>提供的选择要素控件为</a:t>
            </a:r>
            <a:r>
              <a:rPr lang="en-US" altLang="zh-CN" dirty="0" err="1"/>
              <a:t>ol.interaction.Select</a:t>
            </a:r>
            <a:r>
              <a:rPr lang="zh-CN" altLang="en-US" dirty="0"/>
              <a:t>。</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408EDF8F-83E8-4FCA-BD76-6B5E2607204B}" type="slidenum">
              <a:rPr lang="zh-CN" altLang="en-US" smtClean="0"/>
              <a:pPr>
                <a:defRPr/>
              </a:pPr>
              <a:t>44</a:t>
            </a:fld>
            <a:endParaRPr lang="en-US" altLang="zh-CN"/>
          </a:p>
        </p:txBody>
      </p:sp>
    </p:spTree>
    <p:extLst>
      <p:ext uri="{BB962C8B-B14F-4D97-AF65-F5344CB8AC3E}">
        <p14:creationId xmlns:p14="http://schemas.microsoft.com/office/powerpoint/2010/main" val="19052400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t>&lt;!</a:t>
            </a:r>
            <a:r>
              <a:rPr lang="en-US" altLang="zh-CN" sz="1200" dirty="0" err="1"/>
              <a:t>doctype</a:t>
            </a:r>
            <a:r>
              <a:rPr lang="en-US" altLang="zh-CN" sz="1200" dirty="0"/>
              <a:t> html&gt;</a:t>
            </a:r>
          </a:p>
          <a:p>
            <a:r>
              <a:rPr lang="en-US" altLang="zh-CN" sz="1200" dirty="0"/>
              <a:t>&lt;html </a:t>
            </a:r>
            <a:r>
              <a:rPr lang="en-US" altLang="zh-CN" sz="1200" dirty="0" err="1"/>
              <a:t>lang</a:t>
            </a:r>
            <a:r>
              <a:rPr lang="en-US" altLang="zh-CN" sz="1200" dirty="0"/>
              <a:t>="</a:t>
            </a:r>
            <a:r>
              <a:rPr lang="en-US" altLang="zh-CN" sz="1200" dirty="0" err="1"/>
              <a:t>en</a:t>
            </a:r>
            <a:r>
              <a:rPr lang="en-US" altLang="zh-CN" sz="1200" dirty="0"/>
              <a:t>"&gt;</a:t>
            </a:r>
          </a:p>
          <a:p>
            <a:r>
              <a:rPr lang="en-US" altLang="zh-CN" sz="1200" dirty="0"/>
              <a:t>  &lt;head&gt;</a:t>
            </a:r>
          </a:p>
          <a:p>
            <a:r>
              <a:rPr lang="en-US" altLang="zh-CN" sz="1200" dirty="0"/>
              <a:t>    &lt;link </a:t>
            </a:r>
            <a:r>
              <a:rPr lang="en-US" altLang="zh-CN" sz="1200" dirty="0" err="1"/>
              <a:t>rel</a:t>
            </a:r>
            <a:r>
              <a:rPr lang="en-US" altLang="zh-CN" sz="1200" dirty="0"/>
              <a:t>="stylesheet" </a:t>
            </a:r>
            <a:r>
              <a:rPr lang="en-US" altLang="zh-CN" sz="1200" dirty="0" err="1"/>
              <a:t>href</a:t>
            </a:r>
            <a:r>
              <a:rPr lang="en-US" altLang="zh-CN" sz="1200" dirty="0"/>
              <a:t>="https://cdn.jsdelivr.net/</a:t>
            </a:r>
            <a:r>
              <a:rPr lang="en-US" altLang="zh-CN" sz="1200" dirty="0" err="1"/>
              <a:t>gh</a:t>
            </a:r>
            <a:r>
              <a:rPr lang="en-US" altLang="zh-CN" sz="1200" dirty="0"/>
              <a:t>/</a:t>
            </a:r>
            <a:r>
              <a:rPr lang="en-US" altLang="zh-CN" sz="1200" dirty="0" err="1"/>
              <a:t>openlayers</a:t>
            </a:r>
            <a:r>
              <a:rPr lang="en-US" altLang="zh-CN" sz="1200" dirty="0"/>
              <a:t>/</a:t>
            </a:r>
            <a:r>
              <a:rPr lang="en-US" altLang="zh-CN" sz="1200" dirty="0" err="1"/>
              <a:t>openlayers.github.io@master</a:t>
            </a:r>
            <a:r>
              <a:rPr lang="en-US" altLang="zh-CN" sz="1200" dirty="0"/>
              <a:t>/</a:t>
            </a:r>
            <a:r>
              <a:rPr lang="en-US" altLang="zh-CN" sz="1200" dirty="0" err="1"/>
              <a:t>en</a:t>
            </a:r>
            <a:r>
              <a:rPr lang="en-US" altLang="zh-CN" sz="1200" dirty="0"/>
              <a:t>/v6.5.0/</a:t>
            </a:r>
            <a:r>
              <a:rPr lang="en-US" altLang="zh-CN" sz="1200" dirty="0" err="1"/>
              <a:t>css</a:t>
            </a:r>
            <a:r>
              <a:rPr lang="en-US" altLang="zh-CN" sz="1200" dirty="0"/>
              <a:t>/ol.css" type="text/</a:t>
            </a:r>
            <a:r>
              <a:rPr lang="en-US" altLang="zh-CN" sz="1200" dirty="0" err="1"/>
              <a:t>css</a:t>
            </a:r>
            <a:r>
              <a:rPr lang="en-US" altLang="zh-CN" sz="1200" dirty="0"/>
              <a:t>"&gt;</a:t>
            </a:r>
          </a:p>
          <a:p>
            <a:r>
              <a:rPr lang="en-US" altLang="zh-CN" sz="1200" dirty="0"/>
              <a:t>    &lt;script </a:t>
            </a:r>
            <a:r>
              <a:rPr lang="en-US" altLang="zh-CN" sz="1200" dirty="0" err="1"/>
              <a:t>src</a:t>
            </a:r>
            <a:r>
              <a:rPr lang="en-US" altLang="zh-CN" sz="1200" dirty="0"/>
              <a:t>="https://cdn.jsdelivr.net/</a:t>
            </a:r>
            <a:r>
              <a:rPr lang="en-US" altLang="zh-CN" sz="1200" dirty="0" err="1"/>
              <a:t>gh</a:t>
            </a:r>
            <a:r>
              <a:rPr lang="en-US" altLang="zh-CN" sz="1200" dirty="0"/>
              <a:t>/</a:t>
            </a:r>
            <a:r>
              <a:rPr lang="en-US" altLang="zh-CN" sz="1200" dirty="0" err="1"/>
              <a:t>openlayers</a:t>
            </a:r>
            <a:r>
              <a:rPr lang="en-US" altLang="zh-CN" sz="1200" dirty="0"/>
              <a:t>/</a:t>
            </a:r>
            <a:r>
              <a:rPr lang="en-US" altLang="zh-CN" sz="1200" dirty="0" err="1"/>
              <a:t>openlayers.github.io@master</a:t>
            </a:r>
            <a:r>
              <a:rPr lang="en-US" altLang="zh-CN" sz="1200" dirty="0"/>
              <a:t>/</a:t>
            </a:r>
            <a:r>
              <a:rPr lang="en-US" altLang="zh-CN" sz="1200" dirty="0" err="1"/>
              <a:t>en</a:t>
            </a:r>
            <a:r>
              <a:rPr lang="en-US" altLang="zh-CN" sz="1200" dirty="0"/>
              <a:t>/v6.5.0/build/ol.js"&gt;&lt;/script&gt;</a:t>
            </a:r>
          </a:p>
          <a:p>
            <a:r>
              <a:rPr lang="en-US" altLang="zh-CN" sz="1200" dirty="0"/>
              <a:t>    &lt;title&gt;</a:t>
            </a:r>
            <a:r>
              <a:rPr lang="en-US" altLang="zh-CN" sz="1200" dirty="0" err="1"/>
              <a:t>OpenLayers</a:t>
            </a:r>
            <a:r>
              <a:rPr lang="en-US" altLang="zh-CN" sz="1200" dirty="0"/>
              <a:t>  </a:t>
            </a:r>
            <a:r>
              <a:rPr lang="zh-CN" altLang="en-US" sz="1200" dirty="0"/>
              <a:t>绘制一条线</a:t>
            </a:r>
            <a:r>
              <a:rPr lang="en-US" altLang="zh-CN" sz="1200" dirty="0"/>
              <a:t>&lt;/title&gt;</a:t>
            </a:r>
          </a:p>
          <a:p>
            <a:r>
              <a:rPr lang="en-US" altLang="zh-CN" sz="1200" dirty="0"/>
              <a:t>  &lt;/head&gt;</a:t>
            </a:r>
          </a:p>
          <a:p>
            <a:r>
              <a:rPr lang="en-US" altLang="zh-CN" sz="1200" dirty="0"/>
              <a:t>  &lt;body&gt;</a:t>
            </a:r>
          </a:p>
          <a:p>
            <a:r>
              <a:rPr lang="en-US" altLang="zh-CN" sz="1200" dirty="0"/>
              <a:t>    &lt;div id="map" style="width: 100%;height: 1000px;"&gt;&lt;/div&gt;</a:t>
            </a:r>
          </a:p>
          <a:p>
            <a:r>
              <a:rPr lang="en-US" altLang="zh-CN" sz="1200" dirty="0"/>
              <a:t>    &lt;script type="text/</a:t>
            </a:r>
            <a:r>
              <a:rPr lang="en-US" altLang="zh-CN" sz="1200" dirty="0" err="1"/>
              <a:t>javascript</a:t>
            </a:r>
            <a:r>
              <a:rPr lang="en-US" altLang="zh-CN" sz="1200" dirty="0"/>
              <a:t>"&gt;</a:t>
            </a:r>
          </a:p>
          <a:p>
            <a:r>
              <a:rPr lang="en-US" altLang="zh-CN" sz="1200" dirty="0"/>
              <a:t>        </a:t>
            </a:r>
            <a:r>
              <a:rPr lang="en-US" altLang="zh-CN" sz="1200" dirty="0" err="1"/>
              <a:t>var</a:t>
            </a:r>
            <a:r>
              <a:rPr lang="en-US" altLang="zh-CN" sz="1200" dirty="0"/>
              <a:t> map = new </a:t>
            </a:r>
            <a:r>
              <a:rPr lang="en-US" altLang="zh-CN" sz="1200" dirty="0" err="1"/>
              <a:t>ol.Map</a:t>
            </a:r>
            <a:r>
              <a:rPr lang="en-US" altLang="zh-CN" sz="1200" dirty="0"/>
              <a:t>({</a:t>
            </a:r>
          </a:p>
          <a:p>
            <a:r>
              <a:rPr lang="en-US" altLang="zh-CN" sz="1200" dirty="0"/>
              <a:t>            layers: [</a:t>
            </a:r>
          </a:p>
          <a:p>
            <a:r>
              <a:rPr lang="en-US" altLang="zh-CN" sz="1200" dirty="0"/>
              <a:t>              new </a:t>
            </a:r>
            <a:r>
              <a:rPr lang="en-US" altLang="zh-CN" sz="1200" dirty="0" err="1"/>
              <a:t>ol.layer.Tile</a:t>
            </a:r>
            <a:r>
              <a:rPr lang="en-US" altLang="zh-CN" sz="1200" dirty="0"/>
              <a:t>({</a:t>
            </a:r>
          </a:p>
          <a:p>
            <a:r>
              <a:rPr lang="en-US" altLang="zh-CN" sz="1200" dirty="0"/>
              <a:t>                source: new </a:t>
            </a:r>
            <a:r>
              <a:rPr lang="en-US" altLang="zh-CN" sz="1200" dirty="0" err="1"/>
              <a:t>ol.source.OSM</a:t>
            </a:r>
            <a:r>
              <a:rPr lang="en-US" altLang="zh-CN" sz="1200" dirty="0"/>
              <a:t>()</a:t>
            </a:r>
          </a:p>
          <a:p>
            <a:r>
              <a:rPr lang="en-US" altLang="zh-CN" sz="1200" dirty="0"/>
              <a:t>              })</a:t>
            </a:r>
          </a:p>
          <a:p>
            <a:r>
              <a:rPr lang="en-US" altLang="zh-CN" sz="1200" dirty="0"/>
              <a:t>            ],</a:t>
            </a:r>
          </a:p>
          <a:p>
            <a:r>
              <a:rPr lang="en-US" altLang="zh-CN" sz="1200" dirty="0"/>
              <a:t>            target: 'map',</a:t>
            </a:r>
          </a:p>
          <a:p>
            <a:r>
              <a:rPr lang="en-US" altLang="zh-CN" sz="1200" dirty="0"/>
              <a:t>            view: new </a:t>
            </a:r>
            <a:r>
              <a:rPr lang="en-US" altLang="zh-CN" sz="1200" dirty="0" err="1"/>
              <a:t>ol.View</a:t>
            </a:r>
            <a:r>
              <a:rPr lang="en-US" altLang="zh-CN" sz="1200" dirty="0"/>
              <a:t>({</a:t>
            </a:r>
          </a:p>
          <a:p>
            <a:r>
              <a:rPr lang="en-US" altLang="zh-CN" sz="1200" dirty="0"/>
              <a:t>              center: </a:t>
            </a:r>
            <a:r>
              <a:rPr lang="en-US" altLang="zh-CN" sz="1200" dirty="0" err="1"/>
              <a:t>ol.proj.transform</a:t>
            </a:r>
            <a:r>
              <a:rPr lang="en-US" altLang="zh-CN" sz="1200" dirty="0"/>
              <a:t>(</a:t>
            </a:r>
          </a:p>
          <a:p>
            <a:r>
              <a:rPr lang="en-US" altLang="zh-CN" sz="1200" dirty="0"/>
              <a:t>                  [104, 30], 'EPSG:4326', 'EPSG:3857'),          </a:t>
            </a:r>
            <a:r>
              <a:rPr lang="en-US" altLang="zh-CN" sz="800" dirty="0"/>
              <a:t>//</a:t>
            </a:r>
            <a:r>
              <a:rPr lang="en-US" altLang="zh-CN" sz="800" dirty="0" err="1"/>
              <a:t>ol.proj.transform</a:t>
            </a:r>
            <a:r>
              <a:rPr lang="en-US" altLang="zh-CN" sz="800" dirty="0"/>
              <a:t>([104.06, 30.67], 'EPSG:4326', 'EPSG:3857')</a:t>
            </a:r>
            <a:r>
              <a:rPr lang="zh-CN" altLang="zh-CN" sz="800" dirty="0"/>
              <a:t>就能把</a:t>
            </a:r>
            <a:r>
              <a:rPr lang="en-US" altLang="zh-CN" sz="800" dirty="0"/>
              <a:t>EPSG:4326</a:t>
            </a:r>
            <a:r>
              <a:rPr lang="zh-CN" altLang="zh-CN" sz="800" dirty="0"/>
              <a:t>的坐标</a:t>
            </a:r>
            <a:r>
              <a:rPr lang="en-US" altLang="zh-CN" sz="800" dirty="0"/>
              <a:t>[104.06, 30.67]</a:t>
            </a:r>
            <a:r>
              <a:rPr lang="zh-CN" altLang="zh-CN" sz="800" dirty="0"/>
              <a:t>转换为</a:t>
            </a:r>
            <a:r>
              <a:rPr lang="en-US" altLang="zh-CN" sz="800" dirty="0"/>
              <a:t>EPSG:3857</a:t>
            </a:r>
            <a:r>
              <a:rPr lang="zh-CN" altLang="zh-CN" sz="800" dirty="0"/>
              <a:t>的坐标</a:t>
            </a:r>
            <a:r>
              <a:rPr lang="en-US" altLang="zh-CN" sz="800" dirty="0"/>
              <a:t> </a:t>
            </a:r>
          </a:p>
          <a:p>
            <a:r>
              <a:rPr lang="en-US" altLang="zh-CN" sz="1200" dirty="0"/>
              <a:t>              zoom: 10</a:t>
            </a:r>
          </a:p>
          <a:p>
            <a:r>
              <a:rPr lang="en-US" altLang="zh-CN" sz="1200" dirty="0"/>
              <a:t>            })</a:t>
            </a:r>
          </a:p>
          <a:p>
            <a:r>
              <a:rPr lang="en-US" altLang="zh-CN" sz="1200" dirty="0"/>
              <a:t>        });</a:t>
            </a:r>
          </a:p>
          <a:p>
            <a:endParaRPr lang="en-US" altLang="zh-CN" sz="1200" dirty="0"/>
          </a:p>
          <a:p>
            <a:r>
              <a:rPr lang="en-US" altLang="zh-CN" sz="1200" dirty="0"/>
              <a:t>        // </a:t>
            </a:r>
            <a:r>
              <a:rPr lang="zh-CN" altLang="en-US" sz="1200" dirty="0"/>
              <a:t>添加一个绘制的线使用的</a:t>
            </a:r>
            <a:r>
              <a:rPr lang="en-US" altLang="zh-CN" sz="1200" dirty="0"/>
              <a:t>layer</a:t>
            </a:r>
          </a:p>
          <a:p>
            <a:r>
              <a:rPr lang="en-US" altLang="zh-CN" sz="1200" dirty="0"/>
              <a:t>        </a:t>
            </a:r>
            <a:r>
              <a:rPr lang="en-US" altLang="zh-CN" sz="1200" dirty="0" err="1"/>
              <a:t>var</a:t>
            </a:r>
            <a:r>
              <a:rPr lang="en-US" altLang="zh-CN" sz="1200" dirty="0"/>
              <a:t> </a:t>
            </a:r>
            <a:r>
              <a:rPr lang="en-US" altLang="zh-CN" sz="1200" dirty="0" err="1"/>
              <a:t>lineLayer</a:t>
            </a:r>
            <a:r>
              <a:rPr lang="en-US" altLang="zh-CN" sz="1200" dirty="0"/>
              <a:t> = new </a:t>
            </a:r>
            <a:r>
              <a:rPr lang="en-US" altLang="zh-CN" sz="1200" dirty="0" err="1"/>
              <a:t>ol.layer.Vector</a:t>
            </a:r>
            <a:r>
              <a:rPr lang="en-US" altLang="zh-CN" sz="1200" dirty="0"/>
              <a:t>({</a:t>
            </a:r>
          </a:p>
          <a:p>
            <a:r>
              <a:rPr lang="en-US" altLang="zh-CN" sz="1200" dirty="0"/>
              <a:t>        source: new </a:t>
            </a:r>
            <a:r>
              <a:rPr lang="en-US" altLang="zh-CN" sz="1200" dirty="0" err="1"/>
              <a:t>ol.source.Vector</a:t>
            </a:r>
            <a:r>
              <a:rPr lang="en-US" altLang="zh-CN" sz="1200" dirty="0"/>
              <a:t>(),</a:t>
            </a:r>
          </a:p>
          <a:p>
            <a:r>
              <a:rPr lang="en-US" altLang="zh-CN" sz="1200" dirty="0"/>
              <a:t>        style: new </a:t>
            </a:r>
            <a:r>
              <a:rPr lang="en-US" altLang="zh-CN" sz="1200" dirty="0" err="1"/>
              <a:t>ol.style.Style</a:t>
            </a:r>
            <a:r>
              <a:rPr lang="en-US" altLang="zh-CN" sz="1200" dirty="0"/>
              <a:t>({</a:t>
            </a:r>
          </a:p>
          <a:p>
            <a:r>
              <a:rPr lang="en-US" altLang="zh-CN" sz="1200" dirty="0"/>
              <a:t>            stroke: new </a:t>
            </a:r>
            <a:r>
              <a:rPr lang="en-US" altLang="zh-CN" sz="1200" dirty="0" err="1"/>
              <a:t>ol.style.Stroke</a:t>
            </a:r>
            <a:r>
              <a:rPr lang="en-US" altLang="zh-CN" sz="1200" dirty="0"/>
              <a:t>({            //</a:t>
            </a:r>
            <a:r>
              <a:rPr lang="zh-CN" altLang="en-US" sz="1200" dirty="0"/>
              <a:t>边界样式 </a:t>
            </a:r>
            <a:endParaRPr lang="en-US" altLang="zh-CN" sz="1200" dirty="0"/>
          </a:p>
          <a:p>
            <a:r>
              <a:rPr lang="en-US" altLang="zh-CN" sz="1200" dirty="0"/>
              <a:t>                color: 'blue',</a:t>
            </a:r>
          </a:p>
          <a:p>
            <a:r>
              <a:rPr lang="en-US" altLang="zh-CN" sz="1200" dirty="0"/>
              <a:t>                size: 5</a:t>
            </a:r>
          </a:p>
          <a:p>
            <a:r>
              <a:rPr lang="en-US" altLang="zh-CN" sz="1200" dirty="0"/>
              <a:t>            })</a:t>
            </a:r>
          </a:p>
          <a:p>
            <a:r>
              <a:rPr lang="en-US" altLang="zh-CN" sz="1200" dirty="0"/>
              <a:t>          })</a:t>
            </a:r>
          </a:p>
          <a:p>
            <a:r>
              <a:rPr lang="en-US" altLang="zh-CN" sz="1200" dirty="0"/>
              <a:t>        })</a:t>
            </a:r>
          </a:p>
          <a:p>
            <a:r>
              <a:rPr lang="en-US" altLang="zh-CN" sz="1200" dirty="0"/>
              <a:t>        </a:t>
            </a:r>
            <a:r>
              <a:rPr lang="en-US" altLang="zh-CN" sz="1200" dirty="0" err="1"/>
              <a:t>map.addLayer</a:t>
            </a:r>
            <a:r>
              <a:rPr lang="en-US" altLang="zh-CN" sz="1200" dirty="0"/>
              <a:t>(</a:t>
            </a:r>
            <a:r>
              <a:rPr lang="en-US" altLang="zh-CN" sz="1200" dirty="0" err="1"/>
              <a:t>lineLayer</a:t>
            </a:r>
            <a:r>
              <a:rPr lang="en-US" altLang="zh-CN" sz="1200" dirty="0"/>
              <a:t>);</a:t>
            </a:r>
          </a:p>
          <a:p>
            <a:endParaRPr lang="en-US" altLang="zh-CN" sz="1200" dirty="0"/>
          </a:p>
          <a:p>
            <a:r>
              <a:rPr lang="en-US" altLang="zh-CN" sz="1200" dirty="0"/>
              <a:t>        // </a:t>
            </a:r>
            <a:r>
              <a:rPr lang="zh-CN" altLang="en-US" sz="1200" dirty="0"/>
              <a:t>添加绘图的交互类</a:t>
            </a:r>
          </a:p>
          <a:p>
            <a:r>
              <a:rPr lang="zh-CN" altLang="en-US" sz="1200" dirty="0"/>
              <a:t>        </a:t>
            </a:r>
            <a:r>
              <a:rPr lang="en-US" altLang="zh-CN" sz="1200" dirty="0" err="1"/>
              <a:t>map.addInteraction</a:t>
            </a:r>
            <a:r>
              <a:rPr lang="en-US" altLang="zh-CN" sz="1200" dirty="0"/>
              <a:t>(new </a:t>
            </a:r>
            <a:r>
              <a:rPr lang="en-US" altLang="zh-CN" sz="1200" dirty="0" err="1"/>
              <a:t>ol.interaction.Draw</a:t>
            </a:r>
            <a:r>
              <a:rPr lang="en-US" altLang="zh-CN" sz="1200" dirty="0"/>
              <a:t>({</a:t>
            </a:r>
          </a:p>
          <a:p>
            <a:r>
              <a:rPr lang="en-US" altLang="zh-CN" sz="1200" dirty="0"/>
              <a:t>            type: '</a:t>
            </a:r>
            <a:r>
              <a:rPr lang="en-US" altLang="zh-CN" sz="1200" dirty="0" err="1"/>
              <a:t>LineString</a:t>
            </a:r>
            <a:r>
              <a:rPr lang="en-US" altLang="zh-CN" sz="1200" dirty="0"/>
              <a:t>',</a:t>
            </a:r>
          </a:p>
          <a:p>
            <a:r>
              <a:rPr lang="en-US" altLang="zh-CN" sz="1200" dirty="0"/>
              <a:t>            source: </a:t>
            </a:r>
            <a:r>
              <a:rPr lang="en-US" altLang="zh-CN" sz="1200" dirty="0" err="1"/>
              <a:t>lineLayer.getSource</a:t>
            </a:r>
            <a:r>
              <a:rPr lang="en-US" altLang="zh-CN" sz="1200" dirty="0"/>
              <a:t>()    // </a:t>
            </a:r>
            <a:r>
              <a:rPr lang="zh-CN" altLang="en-US" sz="1200" dirty="0"/>
              <a:t>注意设置</a:t>
            </a:r>
            <a:r>
              <a:rPr lang="en-US" altLang="zh-CN" sz="1200" dirty="0"/>
              <a:t>source</a:t>
            </a:r>
            <a:r>
              <a:rPr lang="zh-CN" altLang="en-US" sz="1200" dirty="0"/>
              <a:t>，这样绘制好的线，就会添加到这个</a:t>
            </a:r>
            <a:r>
              <a:rPr lang="en-US" altLang="zh-CN" sz="1200" dirty="0"/>
              <a:t>source</a:t>
            </a:r>
            <a:r>
              <a:rPr lang="zh-CN" altLang="en-US" sz="1200" dirty="0"/>
              <a:t>里</a:t>
            </a:r>
          </a:p>
          <a:p>
            <a:r>
              <a:rPr lang="zh-CN" altLang="en-US" sz="1200" dirty="0"/>
              <a:t>        </a:t>
            </a:r>
            <a:r>
              <a:rPr lang="en-US" altLang="zh-CN" sz="1200" dirty="0"/>
              <a:t>}));</a:t>
            </a:r>
          </a:p>
          <a:p>
            <a:r>
              <a:rPr lang="en-US" altLang="zh-CN" sz="1200" dirty="0"/>
              <a:t>    &lt;/script&gt;</a:t>
            </a:r>
          </a:p>
          <a:p>
            <a:r>
              <a:rPr lang="en-US" altLang="zh-CN" sz="1200" dirty="0"/>
              <a:t>    </a:t>
            </a:r>
          </a:p>
          <a:p>
            <a:r>
              <a:rPr lang="en-US" altLang="zh-CN" sz="1200" dirty="0"/>
              <a:t>  &lt;/body&gt;</a:t>
            </a:r>
          </a:p>
          <a:p>
            <a:r>
              <a:rPr lang="en-US" altLang="zh-CN" sz="1200" dirty="0"/>
              <a:t>&lt;/html&gt;</a:t>
            </a:r>
            <a:endParaRPr lang="zh-CN" altLang="en-US" sz="1200" dirty="0"/>
          </a:p>
          <a:p>
            <a:endParaRPr lang="zh-CN" altLang="en-US" dirty="0"/>
          </a:p>
        </p:txBody>
      </p:sp>
      <p:sp>
        <p:nvSpPr>
          <p:cNvPr id="4" name="灯片编号占位符 3"/>
          <p:cNvSpPr>
            <a:spLocks noGrp="1"/>
          </p:cNvSpPr>
          <p:nvPr>
            <p:ph type="sldNum" sz="quarter" idx="10"/>
          </p:nvPr>
        </p:nvSpPr>
        <p:spPr/>
        <p:txBody>
          <a:bodyPr/>
          <a:lstStyle/>
          <a:p>
            <a:pPr>
              <a:defRPr/>
            </a:pPr>
            <a:fld id="{408EDF8F-83E8-4FCA-BD76-6B5E2607204B}" type="slidenum">
              <a:rPr lang="zh-CN" altLang="en-US" smtClean="0"/>
              <a:pPr>
                <a:defRPr/>
              </a:pPr>
              <a:t>45</a:t>
            </a:fld>
            <a:endParaRPr lang="en-US" altLang="zh-CN"/>
          </a:p>
        </p:txBody>
      </p:sp>
    </p:spTree>
    <p:extLst>
      <p:ext uri="{BB962C8B-B14F-4D97-AF65-F5344CB8AC3E}">
        <p14:creationId xmlns:p14="http://schemas.microsoft.com/office/powerpoint/2010/main" val="10796981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CA17982-183B-495D-99F6-A8A1B8C108B4}" type="slidenum">
              <a:rPr lang="zh-CN" altLang="en-US" smtClean="0"/>
              <a:t>46</a:t>
            </a:fld>
            <a:endParaRPr lang="zh-CN" altLang="en-US"/>
          </a:p>
        </p:txBody>
      </p:sp>
    </p:spTree>
    <p:extLst>
      <p:ext uri="{BB962C8B-B14F-4D97-AF65-F5344CB8AC3E}">
        <p14:creationId xmlns:p14="http://schemas.microsoft.com/office/powerpoint/2010/main" val="25028318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CA17982-183B-495D-99F6-A8A1B8C108B4}" type="slidenum">
              <a:rPr lang="zh-CN" altLang="en-US" smtClean="0"/>
              <a:t>47</a:t>
            </a:fld>
            <a:endParaRPr lang="zh-CN" altLang="en-US"/>
          </a:p>
        </p:txBody>
      </p:sp>
    </p:spTree>
    <p:extLst>
      <p:ext uri="{BB962C8B-B14F-4D97-AF65-F5344CB8AC3E}">
        <p14:creationId xmlns:p14="http://schemas.microsoft.com/office/powerpoint/2010/main" val="5956395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CA17982-183B-495D-99F6-A8A1B8C108B4}" type="slidenum">
              <a:rPr lang="zh-CN" altLang="en-US" smtClean="0"/>
              <a:t>48</a:t>
            </a:fld>
            <a:endParaRPr lang="zh-CN" altLang="en-US"/>
          </a:p>
        </p:txBody>
      </p:sp>
    </p:spTree>
    <p:extLst>
      <p:ext uri="{BB962C8B-B14F-4D97-AF65-F5344CB8AC3E}">
        <p14:creationId xmlns:p14="http://schemas.microsoft.com/office/powerpoint/2010/main" val="42100366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08EDF8F-83E8-4FCA-BD76-6B5E2607204B}" type="slidenum">
              <a:rPr lang="zh-CN" altLang="en-US" smtClean="0"/>
              <a:pPr>
                <a:defRPr/>
              </a:pPr>
              <a:t>49</a:t>
            </a:fld>
            <a:endParaRPr lang="en-US" altLang="zh-CN"/>
          </a:p>
        </p:txBody>
      </p:sp>
    </p:spTree>
    <p:extLst>
      <p:ext uri="{BB962C8B-B14F-4D97-AF65-F5344CB8AC3E}">
        <p14:creationId xmlns:p14="http://schemas.microsoft.com/office/powerpoint/2010/main" val="9460566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CA17982-183B-495D-99F6-A8A1B8C108B4}" type="slidenum">
              <a:rPr lang="zh-CN" altLang="en-US" smtClean="0"/>
              <a:t>50</a:t>
            </a:fld>
            <a:endParaRPr lang="zh-CN" altLang="en-US"/>
          </a:p>
        </p:txBody>
      </p:sp>
    </p:spTree>
    <p:extLst>
      <p:ext uri="{BB962C8B-B14F-4D97-AF65-F5344CB8AC3E}">
        <p14:creationId xmlns:p14="http://schemas.microsoft.com/office/powerpoint/2010/main" val="2038859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48130" name="Rectangle 2"/>
          <p:cNvSpPr>
            <a:spLocks noGrp="1" noChangeArrowheads="1"/>
          </p:cNvSpPr>
          <p:nvPr>
            <p:ph type="ctrTitle"/>
          </p:nvPr>
        </p:nvSpPr>
        <p:spPr>
          <a:xfrm>
            <a:off x="914400" y="1524000"/>
            <a:ext cx="7623175" cy="1752600"/>
          </a:xfrm>
        </p:spPr>
        <p:txBody>
          <a:bodyPr/>
          <a:lstStyle>
            <a:lvl1pPr>
              <a:defRPr sz="5000"/>
            </a:lvl1pPr>
          </a:lstStyle>
          <a:p>
            <a:r>
              <a:rPr lang="en-US" altLang="zh-CN"/>
              <a:t>单击此处编辑母版标题样式</a:t>
            </a:r>
          </a:p>
        </p:txBody>
      </p:sp>
      <p:sp>
        <p:nvSpPr>
          <p:cNvPr id="48131"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en-US" altLang="zh-CN"/>
              <a:t>单击此处编辑母版副标题样式</a:t>
            </a:r>
          </a:p>
        </p:txBody>
      </p:sp>
      <p:sp>
        <p:nvSpPr>
          <p:cNvPr id="6" name="Rectangle 4"/>
          <p:cNvSpPr>
            <a:spLocks noGrp="1" noChangeArrowheads="1"/>
          </p:cNvSpPr>
          <p:nvPr>
            <p:ph type="dt" sz="half" idx="10"/>
          </p:nvPr>
        </p:nvSpPr>
        <p:spPr/>
        <p:txBody>
          <a:bodyPr/>
          <a:lstStyle>
            <a:lvl1pPr>
              <a:defRPr/>
            </a:lvl1pPr>
          </a:lstStyle>
          <a:p>
            <a:pPr>
              <a:defRPr/>
            </a:pPr>
            <a:fld id="{C4FDC90F-397E-45D8-A918-30D64EE5B193}" type="datetime1">
              <a:rPr lang="zh-CN" altLang="en-US"/>
              <a:pPr>
                <a:defRPr/>
              </a:pPr>
              <a:t>2026/5/13</a:t>
            </a:fld>
            <a:endParaRPr lang="en-US" altLang="zh-CN"/>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p:txBody>
          <a:bodyPr/>
          <a:lstStyle>
            <a:lvl1pPr>
              <a:defRPr smtClean="0"/>
            </a:lvl1pPr>
          </a:lstStyle>
          <a:p>
            <a:pPr>
              <a:defRPr/>
            </a:pPr>
            <a:fld id="{CBE91D37-E76B-45DB-AB05-8CA26EA28914}" type="slidenum">
              <a:rPr lang="en-US" altLang="zh-CN"/>
              <a:pPr>
                <a:defRPr/>
              </a:pPr>
              <a:t>‹#›</a:t>
            </a:fld>
            <a:endParaRPr lang="en-US" altLang="zh-CN"/>
          </a:p>
        </p:txBody>
      </p:sp>
    </p:spTree>
    <p:extLst>
      <p:ext uri="{BB962C8B-B14F-4D97-AF65-F5344CB8AC3E}">
        <p14:creationId xmlns:p14="http://schemas.microsoft.com/office/powerpoint/2010/main" val="733168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B3F85534-8564-4A4E-A6C6-E865A5E78497}" type="datetime1">
              <a:rPr lang="zh-CN" altLang="en-US"/>
              <a:pPr>
                <a:defRPr/>
              </a:pPr>
              <a:t>2026/5/13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A9E6ED8-7A33-4B01-8942-D4BF2F5EE2E3}" type="slidenum">
              <a:rPr lang="en-US" altLang="zh-CN"/>
              <a:pPr>
                <a:defRPr/>
              </a:pPr>
              <a:t>‹#›</a:t>
            </a:fld>
            <a:endParaRPr lang="en-US" altLang="zh-CN"/>
          </a:p>
        </p:txBody>
      </p:sp>
    </p:spTree>
    <p:extLst>
      <p:ext uri="{BB962C8B-B14F-4D97-AF65-F5344CB8AC3E}">
        <p14:creationId xmlns:p14="http://schemas.microsoft.com/office/powerpoint/2010/main" val="2341080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0D85A034-453B-403C-A6AF-A092F55E7D4C}" type="datetime1">
              <a:rPr lang="zh-CN" altLang="en-US"/>
              <a:pPr>
                <a:defRPr/>
              </a:pPr>
              <a:t>2026/5/13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61F0B73-DB91-4697-BA87-B45B72416B56}" type="slidenum">
              <a:rPr lang="en-US" altLang="zh-CN"/>
              <a:pPr>
                <a:defRPr/>
              </a:pPr>
              <a:t>‹#›</a:t>
            </a:fld>
            <a:endParaRPr lang="en-US" altLang="zh-CN"/>
          </a:p>
        </p:txBody>
      </p:sp>
    </p:spTree>
    <p:extLst>
      <p:ext uri="{BB962C8B-B14F-4D97-AF65-F5344CB8AC3E}">
        <p14:creationId xmlns:p14="http://schemas.microsoft.com/office/powerpoint/2010/main" val="2918120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5F9B14E2-C0A8-49A2-B393-7483A5527823}" type="datetime1">
              <a:rPr lang="zh-CN" altLang="en-US"/>
              <a:pPr>
                <a:defRPr/>
              </a:pPr>
              <a:t>2026/5/13</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2830492-0955-4F52-A862-AAAC69819981}" type="slidenum">
              <a:rPr lang="en-US" altLang="zh-CN"/>
              <a:pPr>
                <a:defRPr/>
              </a:pPr>
              <a:t>‹#›</a:t>
            </a:fld>
            <a:endParaRPr lang="en-US" altLang="zh-CN"/>
          </a:p>
        </p:txBody>
      </p:sp>
    </p:spTree>
    <p:extLst>
      <p:ext uri="{BB962C8B-B14F-4D97-AF65-F5344CB8AC3E}">
        <p14:creationId xmlns:p14="http://schemas.microsoft.com/office/powerpoint/2010/main" val="3674950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33D8A149-CF0F-4B30-8CE7-FE4D4DA5BA71}" type="datetime1">
              <a:rPr lang="zh-CN" altLang="en-US"/>
              <a:pPr>
                <a:defRPr/>
              </a:pPr>
              <a:t>2026/5/13</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397F9BA4-84E6-4F4E-9457-0B02FB657A80}" type="slidenum">
              <a:rPr lang="en-US" altLang="zh-CN"/>
              <a:pPr>
                <a:defRPr/>
              </a:pPr>
              <a:t>‹#›</a:t>
            </a:fld>
            <a:endParaRPr lang="en-US" altLang="zh-CN"/>
          </a:p>
        </p:txBody>
      </p:sp>
    </p:spTree>
    <p:extLst>
      <p:ext uri="{BB962C8B-B14F-4D97-AF65-F5344CB8AC3E}">
        <p14:creationId xmlns:p14="http://schemas.microsoft.com/office/powerpoint/2010/main" val="3409657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AC7884A4-D81A-4837-84DF-8FC67CDD1DC8}" type="datetime1">
              <a:rPr lang="zh-CN" altLang="en-US"/>
              <a:pPr>
                <a:defRPr/>
              </a:pPr>
              <a:t>2026/5/13</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3702624E-C880-446D-A54A-1C7A280C4BAD}" type="slidenum">
              <a:rPr lang="en-US" altLang="zh-CN"/>
              <a:pPr>
                <a:defRPr/>
              </a:pPr>
              <a:t>‹#›</a:t>
            </a:fld>
            <a:endParaRPr lang="en-US" altLang="zh-CN"/>
          </a:p>
        </p:txBody>
      </p:sp>
    </p:spTree>
    <p:extLst>
      <p:ext uri="{BB962C8B-B14F-4D97-AF65-F5344CB8AC3E}">
        <p14:creationId xmlns:p14="http://schemas.microsoft.com/office/powerpoint/2010/main" val="291396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DC6758D3-414F-4FD9-AC30-97CA391AA5D8}" type="datetime1">
              <a:rPr lang="zh-CN" altLang="en-US"/>
              <a:pPr>
                <a:defRPr/>
              </a:pPr>
              <a:t>2026/5/13</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D0F7C113-1B26-4E42-91AB-5C2BA5420030}" type="slidenum">
              <a:rPr lang="en-US" altLang="zh-CN"/>
              <a:pPr>
                <a:defRPr/>
              </a:pPr>
              <a:t>‹#›</a:t>
            </a:fld>
            <a:endParaRPr lang="en-US" altLang="zh-CN"/>
          </a:p>
        </p:txBody>
      </p:sp>
    </p:spTree>
    <p:extLst>
      <p:ext uri="{BB962C8B-B14F-4D97-AF65-F5344CB8AC3E}">
        <p14:creationId xmlns:p14="http://schemas.microsoft.com/office/powerpoint/2010/main" val="50120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A89BC82F-61A8-497C-9DCF-F8824334FA1C}" type="datetime1">
              <a:rPr lang="zh-CN" altLang="en-US"/>
              <a:pPr>
                <a:defRPr/>
              </a:pPr>
              <a:t>2026/5/13</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4DFF1FE-8730-43E2-990C-51AC0696993E}" type="slidenum">
              <a:rPr lang="en-US" altLang="zh-CN"/>
              <a:pPr>
                <a:defRPr/>
              </a:pPr>
              <a:t>‹#›</a:t>
            </a:fld>
            <a:endParaRPr lang="en-US" altLang="zh-CN"/>
          </a:p>
        </p:txBody>
      </p:sp>
    </p:spTree>
    <p:extLst>
      <p:ext uri="{BB962C8B-B14F-4D97-AF65-F5344CB8AC3E}">
        <p14:creationId xmlns:p14="http://schemas.microsoft.com/office/powerpoint/2010/main" val="3422422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842FFDF8-C7F5-468D-BDCF-BD6BF0E8DD0F}" type="datetime1">
              <a:rPr lang="zh-CN" altLang="en-US"/>
              <a:pPr>
                <a:defRPr/>
              </a:pPr>
              <a:t>2026/5/13</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3AFC8EE-D21D-4316-B5EE-24422BEC99D9}" type="slidenum">
              <a:rPr lang="en-US" altLang="zh-CN"/>
              <a:pPr>
                <a:defRPr/>
              </a:pPr>
              <a:t>‹#›</a:t>
            </a:fld>
            <a:endParaRPr lang="en-US" altLang="zh-CN"/>
          </a:p>
        </p:txBody>
      </p:sp>
    </p:spTree>
    <p:extLst>
      <p:ext uri="{BB962C8B-B14F-4D97-AF65-F5344CB8AC3E}">
        <p14:creationId xmlns:p14="http://schemas.microsoft.com/office/powerpoint/2010/main" val="3881544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EDE5CF94-E237-4FA2-9F35-72F2B89A1022}" type="datetime1">
              <a:rPr lang="zh-CN" altLang="en-US"/>
              <a:pPr>
                <a:defRPr/>
              </a:pPr>
              <a:t>2026/5/13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3506D00-B113-4788-B0F2-3FDFFC173B05}" type="slidenum">
              <a:rPr lang="en-US" altLang="zh-CN"/>
              <a:pPr>
                <a:defRPr/>
              </a:pPr>
              <a:t>‹#›</a:t>
            </a:fld>
            <a:endParaRPr lang="en-US" altLang="zh-CN"/>
          </a:p>
        </p:txBody>
      </p:sp>
    </p:spTree>
    <p:extLst>
      <p:ext uri="{BB962C8B-B14F-4D97-AF65-F5344CB8AC3E}">
        <p14:creationId xmlns:p14="http://schemas.microsoft.com/office/powerpoint/2010/main" val="14893396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988E2C35-D50D-4599-ACA1-33525184633F}" type="datetime1">
              <a:rPr lang="zh-CN" altLang="en-US"/>
              <a:pPr>
                <a:defRPr/>
              </a:pPr>
              <a:t>2026/5/13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03C2D04-84A7-4235-ACFF-20E52AC21F3B}" type="slidenum">
              <a:rPr lang="en-US" altLang="zh-CN"/>
              <a:pPr>
                <a:defRPr/>
              </a:pPr>
              <a:t>‹#›</a:t>
            </a:fld>
            <a:endParaRPr lang="en-US" altLang="zh-CN"/>
          </a:p>
        </p:txBody>
      </p:sp>
    </p:spTree>
    <p:extLst>
      <p:ext uri="{BB962C8B-B14F-4D97-AF65-F5344CB8AC3E}">
        <p14:creationId xmlns:p14="http://schemas.microsoft.com/office/powerpoint/2010/main" val="1089310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7813"/>
            <a:ext cx="8229600" cy="58531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fld id="{C1F9AAE6-1EBA-49AC-AC24-B7EE6B7F2FEC}" type="datetime1">
              <a:rPr lang="zh-CN" altLang="en-US"/>
              <a:pPr>
                <a:defRPr/>
              </a:pPr>
              <a:t>2026/5/13</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A67B48A5-D724-4703-AA51-0295EB88F9AE}" type="slidenum">
              <a:rPr lang="en-US" altLang="zh-CN"/>
              <a:pPr>
                <a:defRPr/>
              </a:pPr>
              <a:t>‹#›</a:t>
            </a:fld>
            <a:endParaRPr lang="en-US" altLang="zh-CN"/>
          </a:p>
        </p:txBody>
      </p:sp>
    </p:spTree>
    <p:extLst>
      <p:ext uri="{BB962C8B-B14F-4D97-AF65-F5344CB8AC3E}">
        <p14:creationId xmlns:p14="http://schemas.microsoft.com/office/powerpoint/2010/main" val="30268003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ABE41A2D-4DC1-48FD-90D4-FA95A7E094FB}" type="datetime1">
              <a:rPr lang="zh-CN" altLang="en-US"/>
              <a:pPr>
                <a:defRPr/>
              </a:pPr>
              <a:t>2026/5/13</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BDADC27-674E-46F6-8171-1FD89D17B997}" type="slidenum">
              <a:rPr lang="en-US" altLang="zh-CN"/>
              <a:pPr>
                <a:defRPr/>
              </a:pPr>
              <a:t>‹#›</a:t>
            </a:fld>
            <a:endParaRPr lang="en-US" altLang="zh-CN"/>
          </a:p>
        </p:txBody>
      </p:sp>
    </p:spTree>
    <p:extLst>
      <p:ext uri="{BB962C8B-B14F-4D97-AF65-F5344CB8AC3E}">
        <p14:creationId xmlns:p14="http://schemas.microsoft.com/office/powerpoint/2010/main" val="1139058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fld id="{2F16FC13-A484-45C4-B151-C24805917EF3}" type="datetime1">
              <a:rPr lang="zh-CN" altLang="en-US"/>
              <a:pPr>
                <a:defRPr/>
              </a:pPr>
              <a:t>2026/5/13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FECFF52-D113-4A96-B94E-A7CAEAFCC3D3}" type="slidenum">
              <a:rPr lang="en-US" altLang="zh-CN"/>
              <a:pPr>
                <a:defRPr/>
              </a:pPr>
              <a:t>‹#›</a:t>
            </a:fld>
            <a:endParaRPr lang="en-US" altLang="zh-CN"/>
          </a:p>
        </p:txBody>
      </p:sp>
    </p:spTree>
    <p:extLst>
      <p:ext uri="{BB962C8B-B14F-4D97-AF65-F5344CB8AC3E}">
        <p14:creationId xmlns:p14="http://schemas.microsoft.com/office/powerpoint/2010/main" val="3942768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单击此处编辑母版标题样式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单击此处编辑母版文本样式</a:t>
            </a:r>
          </a:p>
          <a:p>
            <a:pPr lvl="1"/>
            <a:r>
              <a:rPr lang="en-US" altLang="zh-CN"/>
              <a:t>第二级</a:t>
            </a:r>
          </a:p>
          <a:p>
            <a:pPr lvl="2"/>
            <a:r>
              <a:rPr lang="en-US" altLang="zh-CN"/>
              <a:t>第三级</a:t>
            </a:r>
          </a:p>
          <a:p>
            <a:pPr lvl="3"/>
            <a:r>
              <a:rPr lang="en-US" altLang="zh-CN"/>
              <a:t>第四级</a:t>
            </a:r>
          </a:p>
          <a:p>
            <a:pPr lvl="4"/>
            <a:r>
              <a:rPr lang="en-US" altLang="zh-CN"/>
              <a:t>第五级</a:t>
            </a:r>
          </a:p>
        </p:txBody>
      </p:sp>
      <p:sp>
        <p:nvSpPr>
          <p:cNvPr id="47108" name="Rectangle 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ffectLst/>
                <a:latin typeface="Garamond" pitchFamily="18" charset="0"/>
              </a:defRPr>
            </a:lvl1pPr>
          </a:lstStyle>
          <a:p>
            <a:pPr>
              <a:defRPr/>
            </a:pPr>
            <a:fld id="{3FA45AC4-F793-4B82-AFE6-F837A5F880FE}" type="datetime1">
              <a:rPr lang="zh-CN" altLang="en-US"/>
              <a:pPr>
                <a:defRPr/>
              </a:pPr>
              <a:t>2026/5/13</a:t>
            </a:fld>
            <a:endParaRPr lang="en-US" altLang="zh-CN"/>
          </a:p>
        </p:txBody>
      </p:sp>
      <p:sp>
        <p:nvSpPr>
          <p:cNvPr id="4710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effectLst/>
                <a:latin typeface="Garamond" pitchFamily="18" charset="0"/>
              </a:defRPr>
            </a:lvl1pPr>
          </a:lstStyle>
          <a:p>
            <a:pPr>
              <a:defRPr/>
            </a:pPr>
            <a:endParaRPr lang="en-US" altLang="zh-CN"/>
          </a:p>
        </p:txBody>
      </p:sp>
      <p:sp>
        <p:nvSpPr>
          <p:cNvPr id="47110" name="Rectangle 6"/>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Garamond" panose="02020404030301010803" pitchFamily="18" charset="0"/>
              </a:defRPr>
            </a:lvl1pPr>
          </a:lstStyle>
          <a:p>
            <a:pPr>
              <a:defRPr/>
            </a:pPr>
            <a:fld id="{FCCD7F62-C9ED-4989-A0E3-AA94AD2734BA}" type="slidenum">
              <a:rPr lang="en-US" altLang="zh-CN"/>
              <a:pPr>
                <a:defRPr/>
              </a:pPr>
              <a:t>‹#›</a:t>
            </a:fld>
            <a:endParaRPr lang="en-US" altLang="zh-CN"/>
          </a:p>
        </p:txBody>
      </p:sp>
      <p:sp>
        <p:nvSpPr>
          <p:cNvPr id="47111" name="Freeform 7"/>
          <p:cNvSpPr>
            <a:spLocks noChangeArrowheads="1"/>
          </p:cNvSpPr>
          <p:nvPr/>
        </p:nvSpPr>
        <p:spPr bwMode="auto">
          <a:xfrm>
            <a:off x="381000" y="228600"/>
            <a:ext cx="82296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47112"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p:spPr>
        <p:txBody>
          <a:bodyPr/>
          <a:lstStyle/>
          <a:p>
            <a:pPr eaLnBrk="1" hangingPunct="1">
              <a:defRPr/>
            </a:pPr>
            <a:endParaRPr lang="zh-CN" altLang="en-US">
              <a:effectLst>
                <a:outerShdw blurRad="38100" dist="38100" dir="2700000" algn="tl">
                  <a:srgbClr val="000000">
                    <a:alpha val="43137"/>
                  </a:srgbClr>
                </a:outerShdw>
              </a:effectLst>
            </a:endParaRPr>
          </a:p>
        </p:txBody>
      </p:sp>
    </p:spTree>
  </p:cSld>
  <p:clrMap bg1="lt1" tx1="dk1" bg2="lt2" tx2="dk2" accent1="accent1" accent2="accent2" accent3="accent3" accent4="accent4" accent5="accent5" accent6="accent6" hlink="hlink" folHlink="folHlink"/>
  <p:sldLayoutIdLst>
    <p:sldLayoutId id="2147484233" r:id="rId1"/>
    <p:sldLayoutId id="2147484220" r:id="rId2"/>
    <p:sldLayoutId id="2147484221" r:id="rId3"/>
    <p:sldLayoutId id="2147484222" r:id="rId4"/>
    <p:sldLayoutId id="2147484223" r:id="rId5"/>
    <p:sldLayoutId id="2147484224" r:id="rId6"/>
    <p:sldLayoutId id="2147484225" r:id="rId7"/>
    <p:sldLayoutId id="2147484226" r:id="rId8"/>
    <p:sldLayoutId id="2147484227" r:id="rId9"/>
    <p:sldLayoutId id="2147484228" r:id="rId10"/>
    <p:sldLayoutId id="2147484229" r:id="rId11"/>
    <p:sldLayoutId id="2147484230" r:id="rId12"/>
    <p:sldLayoutId id="2147484231" r:id="rId13"/>
    <p:sldLayoutId id="2147484232" r:id="rId14"/>
  </p:sldLayoutIdLst>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ea typeface="宋体" pitchFamily="2" charset="-122"/>
        </a:defRPr>
      </a:lvl2pPr>
      <a:lvl3pPr algn="l" rtl="0" eaLnBrk="0" fontAlgn="base" hangingPunct="0">
        <a:spcBef>
          <a:spcPct val="0"/>
        </a:spcBef>
        <a:spcAft>
          <a:spcPct val="0"/>
        </a:spcAft>
        <a:defRPr sz="4200">
          <a:solidFill>
            <a:schemeClr val="tx2"/>
          </a:solidFill>
          <a:latin typeface="Garamond" pitchFamily="18" charset="0"/>
          <a:ea typeface="宋体" pitchFamily="2" charset="-122"/>
        </a:defRPr>
      </a:lvl3pPr>
      <a:lvl4pPr algn="l" rtl="0" eaLnBrk="0" fontAlgn="base" hangingPunct="0">
        <a:spcBef>
          <a:spcPct val="0"/>
        </a:spcBef>
        <a:spcAft>
          <a:spcPct val="0"/>
        </a:spcAft>
        <a:defRPr sz="4200">
          <a:solidFill>
            <a:schemeClr val="tx2"/>
          </a:solidFill>
          <a:latin typeface="Garamond" pitchFamily="18" charset="0"/>
          <a:ea typeface="宋体" pitchFamily="2" charset="-122"/>
        </a:defRPr>
      </a:lvl4pPr>
      <a:lvl5pPr algn="l" rtl="0" eaLnBrk="0" fontAlgn="base" hangingPunct="0">
        <a:spcBef>
          <a:spcPct val="0"/>
        </a:spcBef>
        <a:spcAft>
          <a:spcPct val="0"/>
        </a:spcAft>
        <a:defRPr sz="4200">
          <a:solidFill>
            <a:schemeClr val="tx2"/>
          </a:solidFill>
          <a:latin typeface="Garamond" pitchFamily="18" charset="0"/>
          <a:ea typeface="宋体" pitchFamily="2" charset="-122"/>
        </a:defRPr>
      </a:lvl5pPr>
      <a:lvl6pPr marL="457200" algn="l" rtl="0" fontAlgn="base">
        <a:spcBef>
          <a:spcPct val="0"/>
        </a:spcBef>
        <a:spcAft>
          <a:spcPct val="0"/>
        </a:spcAft>
        <a:defRPr sz="4200">
          <a:solidFill>
            <a:schemeClr val="tx2"/>
          </a:solidFill>
          <a:latin typeface="Garamond" pitchFamily="18" charset="0"/>
          <a:ea typeface="宋体" pitchFamily="2" charset="-122"/>
        </a:defRPr>
      </a:lvl6pPr>
      <a:lvl7pPr marL="914400" algn="l" rtl="0" fontAlgn="base">
        <a:spcBef>
          <a:spcPct val="0"/>
        </a:spcBef>
        <a:spcAft>
          <a:spcPct val="0"/>
        </a:spcAft>
        <a:defRPr sz="4200">
          <a:solidFill>
            <a:schemeClr val="tx2"/>
          </a:solidFill>
          <a:latin typeface="Garamond" pitchFamily="18" charset="0"/>
          <a:ea typeface="宋体" pitchFamily="2" charset="-122"/>
        </a:defRPr>
      </a:lvl7pPr>
      <a:lvl8pPr marL="1371600" algn="l" rtl="0" fontAlgn="base">
        <a:spcBef>
          <a:spcPct val="0"/>
        </a:spcBef>
        <a:spcAft>
          <a:spcPct val="0"/>
        </a:spcAft>
        <a:defRPr sz="4200">
          <a:solidFill>
            <a:schemeClr val="tx2"/>
          </a:solidFill>
          <a:latin typeface="Garamond" pitchFamily="18" charset="0"/>
          <a:ea typeface="宋体" pitchFamily="2" charset="-122"/>
        </a:defRPr>
      </a:lvl8pPr>
      <a:lvl9pPr marL="1828800" algn="l" rtl="0" fontAlgn="base">
        <a:spcBef>
          <a:spcPct val="0"/>
        </a:spcBef>
        <a:spcAft>
          <a:spcPct val="0"/>
        </a:spcAft>
        <a:defRPr sz="4200">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openlayers.org/"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github.com/openlayers/openlayers/releases/tag/v5.3.0"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geoserver.org/"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1</a:t>
            </a:fld>
            <a:endParaRPr lang="en-US" altLang="zh-CN"/>
          </a:p>
        </p:txBody>
      </p:sp>
      <p:sp>
        <p:nvSpPr>
          <p:cNvPr id="5" name="标题 1"/>
          <p:cNvSpPr txBox="1">
            <a:spLocks/>
          </p:cNvSpPr>
          <p:nvPr/>
        </p:nvSpPr>
        <p:spPr bwMode="auto">
          <a:xfrm>
            <a:off x="539552" y="548680"/>
            <a:ext cx="7931224" cy="3960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ea typeface="宋体" pitchFamily="2" charset="-122"/>
              </a:defRPr>
            </a:lvl2pPr>
            <a:lvl3pPr algn="l" rtl="0" eaLnBrk="0" fontAlgn="base" hangingPunct="0">
              <a:spcBef>
                <a:spcPct val="0"/>
              </a:spcBef>
              <a:spcAft>
                <a:spcPct val="0"/>
              </a:spcAft>
              <a:defRPr sz="4200">
                <a:solidFill>
                  <a:schemeClr val="tx2"/>
                </a:solidFill>
                <a:latin typeface="Garamond" pitchFamily="18" charset="0"/>
                <a:ea typeface="宋体" pitchFamily="2" charset="-122"/>
              </a:defRPr>
            </a:lvl3pPr>
            <a:lvl4pPr algn="l" rtl="0" eaLnBrk="0" fontAlgn="base" hangingPunct="0">
              <a:spcBef>
                <a:spcPct val="0"/>
              </a:spcBef>
              <a:spcAft>
                <a:spcPct val="0"/>
              </a:spcAft>
              <a:defRPr sz="4200">
                <a:solidFill>
                  <a:schemeClr val="tx2"/>
                </a:solidFill>
                <a:latin typeface="Garamond" pitchFamily="18" charset="0"/>
                <a:ea typeface="宋体" pitchFamily="2" charset="-122"/>
              </a:defRPr>
            </a:lvl4pPr>
            <a:lvl5pPr algn="l" rtl="0" eaLnBrk="0" fontAlgn="base" hangingPunct="0">
              <a:spcBef>
                <a:spcPct val="0"/>
              </a:spcBef>
              <a:spcAft>
                <a:spcPct val="0"/>
              </a:spcAft>
              <a:defRPr sz="4200">
                <a:solidFill>
                  <a:schemeClr val="tx2"/>
                </a:solidFill>
                <a:latin typeface="Garamond" pitchFamily="18" charset="0"/>
                <a:ea typeface="宋体" pitchFamily="2" charset="-122"/>
              </a:defRPr>
            </a:lvl5pPr>
            <a:lvl6pPr marL="457200" algn="l" rtl="0" fontAlgn="base">
              <a:spcBef>
                <a:spcPct val="0"/>
              </a:spcBef>
              <a:spcAft>
                <a:spcPct val="0"/>
              </a:spcAft>
              <a:defRPr sz="4200">
                <a:solidFill>
                  <a:schemeClr val="tx2"/>
                </a:solidFill>
                <a:latin typeface="Garamond" pitchFamily="18" charset="0"/>
                <a:ea typeface="宋体" pitchFamily="2" charset="-122"/>
              </a:defRPr>
            </a:lvl6pPr>
            <a:lvl7pPr marL="914400" algn="l" rtl="0" fontAlgn="base">
              <a:spcBef>
                <a:spcPct val="0"/>
              </a:spcBef>
              <a:spcAft>
                <a:spcPct val="0"/>
              </a:spcAft>
              <a:defRPr sz="4200">
                <a:solidFill>
                  <a:schemeClr val="tx2"/>
                </a:solidFill>
                <a:latin typeface="Garamond" pitchFamily="18" charset="0"/>
                <a:ea typeface="宋体" pitchFamily="2" charset="-122"/>
              </a:defRPr>
            </a:lvl7pPr>
            <a:lvl8pPr marL="1371600" algn="l" rtl="0" fontAlgn="base">
              <a:spcBef>
                <a:spcPct val="0"/>
              </a:spcBef>
              <a:spcAft>
                <a:spcPct val="0"/>
              </a:spcAft>
              <a:defRPr sz="4200">
                <a:solidFill>
                  <a:schemeClr val="tx2"/>
                </a:solidFill>
                <a:latin typeface="Garamond" pitchFamily="18" charset="0"/>
                <a:ea typeface="宋体" pitchFamily="2" charset="-122"/>
              </a:defRPr>
            </a:lvl8pPr>
            <a:lvl9pPr marL="1828800" algn="l" rtl="0" fontAlgn="base">
              <a:spcBef>
                <a:spcPct val="0"/>
              </a:spcBef>
              <a:spcAft>
                <a:spcPct val="0"/>
              </a:spcAft>
              <a:defRPr sz="4200">
                <a:solidFill>
                  <a:schemeClr val="tx2"/>
                </a:solidFill>
                <a:latin typeface="Garamond" pitchFamily="18" charset="0"/>
                <a:ea typeface="宋体" pitchFamily="2" charset="-122"/>
              </a:defRPr>
            </a:lvl9pPr>
          </a:lstStyle>
          <a:p>
            <a:pPr marL="342900" indent="-342900" algn="ctr" eaLnBrk="1" hangingPunct="1">
              <a:lnSpc>
                <a:spcPct val="150000"/>
              </a:lnSpc>
              <a:spcBef>
                <a:spcPts val="1800"/>
              </a:spcBef>
              <a:buClr>
                <a:schemeClr val="accent1"/>
              </a:buClr>
              <a:buSzPct val="65000"/>
              <a:defRPr/>
            </a:pPr>
            <a:r>
              <a:rPr lang="zh-CN" altLang="en-US" sz="3200" b="1" dirty="0">
                <a:solidFill>
                  <a:srgbClr val="008000"/>
                </a:solidFill>
                <a:effectLst>
                  <a:outerShdw blurRad="38100" dist="38100" dir="2700000" algn="tl">
                    <a:srgbClr val="C0C0C0"/>
                  </a:outerShdw>
                </a:effectLst>
                <a:latin typeface="微软雅黑" pitchFamily="34" charset="-122"/>
                <a:ea typeface="微软雅黑" pitchFamily="34" charset="-122"/>
                <a:cs typeface="+mn-cs"/>
              </a:rPr>
              <a:t>第</a:t>
            </a:r>
            <a:r>
              <a:rPr lang="en-US" altLang="zh-CN" sz="3200" b="1" dirty="0">
                <a:solidFill>
                  <a:srgbClr val="008000"/>
                </a:solidFill>
                <a:effectLst>
                  <a:outerShdw blurRad="38100" dist="38100" dir="2700000" algn="tl">
                    <a:srgbClr val="C0C0C0"/>
                  </a:outerShdw>
                </a:effectLst>
                <a:latin typeface="微软雅黑" pitchFamily="34" charset="-122"/>
                <a:ea typeface="微软雅黑" pitchFamily="34" charset="-122"/>
                <a:cs typeface="+mn-cs"/>
              </a:rPr>
              <a:t>7</a:t>
            </a:r>
            <a:r>
              <a:rPr lang="zh-CN" altLang="en-US" sz="3200" b="1" dirty="0">
                <a:solidFill>
                  <a:srgbClr val="008000"/>
                </a:solidFill>
                <a:effectLst>
                  <a:outerShdw blurRad="38100" dist="38100" dir="2700000" algn="tl">
                    <a:srgbClr val="C0C0C0"/>
                  </a:outerShdw>
                </a:effectLst>
                <a:latin typeface="微软雅黑" pitchFamily="34" charset="-122"/>
                <a:ea typeface="微软雅黑" pitchFamily="34" charset="-122"/>
                <a:cs typeface="+mn-cs"/>
              </a:rPr>
              <a:t>章  开源</a:t>
            </a:r>
            <a:r>
              <a:rPr lang="en-US" altLang="zh-CN" sz="3200" b="1" dirty="0" err="1">
                <a:solidFill>
                  <a:srgbClr val="008000"/>
                </a:solidFill>
                <a:effectLst>
                  <a:outerShdw blurRad="38100" dist="38100" dir="2700000" algn="tl">
                    <a:srgbClr val="C0C0C0"/>
                  </a:outerShdw>
                </a:effectLst>
                <a:latin typeface="微软雅黑" pitchFamily="34" charset="-122"/>
                <a:ea typeface="微软雅黑" pitchFamily="34" charset="-122"/>
                <a:cs typeface="+mn-cs"/>
              </a:rPr>
              <a:t>WebGIS</a:t>
            </a:r>
            <a:r>
              <a:rPr lang="zh-CN" altLang="en-US" sz="3200" b="1" dirty="0">
                <a:solidFill>
                  <a:srgbClr val="008000"/>
                </a:solidFill>
                <a:effectLst>
                  <a:outerShdw blurRad="38100" dist="38100" dir="2700000" algn="tl">
                    <a:srgbClr val="C0C0C0"/>
                  </a:outerShdw>
                </a:effectLst>
                <a:latin typeface="微软雅黑" pitchFamily="34" charset="-122"/>
                <a:ea typeface="微软雅黑" pitchFamily="34" charset="-122"/>
                <a:cs typeface="+mn-cs"/>
              </a:rPr>
              <a:t>开发技术</a:t>
            </a:r>
            <a:endParaRPr lang="en-US" altLang="zh-CN" sz="3200" b="1" dirty="0">
              <a:solidFill>
                <a:srgbClr val="008000"/>
              </a:solidFill>
              <a:effectLst>
                <a:outerShdw blurRad="38100" dist="38100" dir="2700000" algn="tl">
                  <a:srgbClr val="C0C0C0"/>
                </a:outerShdw>
              </a:effectLst>
              <a:latin typeface="微软雅黑" pitchFamily="34" charset="-122"/>
              <a:ea typeface="微软雅黑" pitchFamily="34" charset="-122"/>
              <a:cs typeface="+mn-cs"/>
            </a:endParaRPr>
          </a:p>
          <a:p>
            <a:pPr marL="2171700" lvl="8" indent="-342900">
              <a:lnSpc>
                <a:spcPct val="150000"/>
              </a:lnSpc>
              <a:spcBef>
                <a:spcPts val="3000"/>
              </a:spcBef>
              <a:buClr>
                <a:schemeClr val="accent1"/>
              </a:buClr>
              <a:buSzPct val="65000"/>
              <a:defRPr/>
            </a:pPr>
            <a:r>
              <a:rPr lang="zh-CN" altLang="en-US"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rPr>
              <a:t>   第一节  开源软件概述</a:t>
            </a:r>
          </a:p>
          <a:p>
            <a:pPr marL="2171700" lvl="8" indent="-342900">
              <a:lnSpc>
                <a:spcPct val="150000"/>
              </a:lnSpc>
              <a:spcBef>
                <a:spcPts val="1200"/>
              </a:spcBef>
              <a:buClr>
                <a:schemeClr val="accent1"/>
              </a:buClr>
              <a:buSzPct val="65000"/>
              <a:defRPr/>
            </a:pPr>
            <a:r>
              <a:rPr lang="zh-CN" altLang="en-US"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rPr>
              <a:t>   第二节  </a:t>
            </a:r>
            <a:r>
              <a:rPr lang="en-US" altLang="zh-CN" sz="2800" b="1" dirty="0" err="1">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rPr>
              <a:t>OpenLayers</a:t>
            </a:r>
            <a:endParaRPr lang="en-US" altLang="zh-CN"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endParaRPr>
          </a:p>
          <a:p>
            <a:pPr marL="2171700" lvl="8" indent="-342900">
              <a:lnSpc>
                <a:spcPct val="150000"/>
              </a:lnSpc>
              <a:spcBef>
                <a:spcPts val="1200"/>
              </a:spcBef>
              <a:buClr>
                <a:schemeClr val="accent1"/>
              </a:buClr>
              <a:buSzPct val="65000"/>
              <a:defRPr/>
            </a:pPr>
            <a:r>
              <a:rPr lang="zh-CN" altLang="en-US"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rPr>
              <a:t>   第三节 </a:t>
            </a:r>
            <a:r>
              <a:rPr lang="en-US" altLang="zh-CN"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rPr>
              <a:t> </a:t>
            </a:r>
            <a:r>
              <a:rPr lang="en-US" altLang="zh-CN" sz="2800" b="1" dirty="0" err="1">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rPr>
              <a:t>GeoServer</a:t>
            </a:r>
            <a:endParaRPr lang="zh-CN" altLang="en-US"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27002020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C624E63-C4EE-48BA-A8EE-534827CBFF1E}" type="slidenum">
              <a:rPr lang="en-US" altLang="zh-CN" smtClean="0">
                <a:latin typeface="Garamond" panose="02020404030301010803" pitchFamily="18" charset="0"/>
              </a:rPr>
              <a:pPr/>
              <a:t>2</a:t>
            </a:fld>
            <a:endParaRPr lang="en-US" altLang="zh-CN">
              <a:latin typeface="Garamond" panose="02020404030301010803" pitchFamily="18" charset="0"/>
            </a:endParaRPr>
          </a:p>
        </p:txBody>
      </p:sp>
      <p:sp>
        <p:nvSpPr>
          <p:cNvPr id="132117" name="Rectangle 3">
            <a:extLst>
              <a:ext uri="{FF2B5EF4-FFF2-40B4-BE49-F238E27FC236}">
                <a16:creationId xmlns:a16="http://schemas.microsoft.com/office/drawing/2014/main" id="{EAF80478-D7CD-4F1D-84BB-75D4AFBE99EB}"/>
              </a:ext>
            </a:extLst>
          </p:cNvPr>
          <p:cNvSpPr>
            <a:spLocks noChangeArrowheads="1"/>
          </p:cNvSpPr>
          <p:nvPr/>
        </p:nvSpPr>
        <p:spPr bwMode="auto">
          <a:xfrm>
            <a:off x="494617" y="1484784"/>
            <a:ext cx="7705725" cy="1223963"/>
          </a:xfrm>
          <a:prstGeom prst="rect">
            <a:avLst/>
          </a:prstGeom>
          <a:noFill/>
          <a:ln w="9525">
            <a:noFill/>
            <a:miter lim="800000"/>
            <a:headEnd/>
            <a:tailEnd/>
          </a:ln>
        </p:spPr>
        <p:txBody>
          <a:bodyPr/>
          <a:lstStyle/>
          <a:p>
            <a:pPr marL="342900" indent="-342900" eaLnBrk="1" hangingPunct="1">
              <a:spcBef>
                <a:spcPct val="20000"/>
              </a:spcBef>
              <a:buClr>
                <a:schemeClr val="accent1"/>
              </a:buClr>
              <a:buSzPct val="65000"/>
              <a:buFont typeface="Wingdings" pitchFamily="2" charset="2"/>
              <a:buNone/>
              <a:defRPr/>
            </a:pPr>
            <a:r>
              <a:rPr lang="en-US" altLang="zh-CN" sz="2800" b="1" dirty="0">
                <a:effectLst>
                  <a:outerShdw blurRad="38100" dist="38100" dir="2700000" algn="tl">
                    <a:srgbClr val="C0C0C0"/>
                  </a:outerShdw>
                </a:effectLst>
                <a:latin typeface="Arial" charset="0"/>
              </a:rPr>
              <a:t>1.</a:t>
            </a:r>
            <a:r>
              <a:rPr lang="zh-CN" altLang="en-US" sz="2800" b="1" dirty="0">
                <a:effectLst>
                  <a:outerShdw blurRad="38100" dist="38100" dir="2700000" algn="tl">
                    <a:srgbClr val="C0C0C0"/>
                  </a:outerShdw>
                </a:effectLst>
                <a:latin typeface="Arial" charset="0"/>
              </a:rPr>
              <a:t>开源软件</a:t>
            </a:r>
            <a:endParaRPr lang="en-US" altLang="zh-CN" sz="2800" b="1" dirty="0">
              <a:effectLst>
                <a:outerShdw blurRad="38100" dist="38100" dir="2700000" algn="tl">
                  <a:srgbClr val="C0C0C0"/>
                </a:outerShdw>
              </a:effectLst>
              <a:latin typeface="Arial" charset="0"/>
            </a:endParaRPr>
          </a:p>
          <a:p>
            <a:pPr marL="342900" indent="-342900" eaLnBrk="1" hangingPunct="1">
              <a:spcBef>
                <a:spcPts val="1800"/>
              </a:spcBef>
              <a:buClr>
                <a:schemeClr val="accent1"/>
              </a:buClr>
              <a:buSzPct val="65000"/>
              <a:buFont typeface="Wingdings" pitchFamily="2" charset="2"/>
              <a:buNone/>
              <a:defRPr/>
            </a:pPr>
            <a:r>
              <a:rPr lang="zh-CN" altLang="en-US" sz="2400" b="1" dirty="0">
                <a:solidFill>
                  <a:srgbClr val="0000FF"/>
                </a:solidFill>
                <a:effectLst>
                  <a:outerShdw blurRad="38100" dist="38100" dir="2700000" algn="tl">
                    <a:srgbClr val="C0C0C0"/>
                  </a:outerShdw>
                </a:effectLst>
                <a:latin typeface="Arial" charset="0"/>
              </a:rPr>
              <a:t>（</a:t>
            </a:r>
            <a:r>
              <a:rPr lang="en-US" altLang="zh-CN" sz="2400" b="1" dirty="0">
                <a:solidFill>
                  <a:srgbClr val="0000FF"/>
                </a:solidFill>
                <a:effectLst>
                  <a:outerShdw blurRad="38100" dist="38100" dir="2700000" algn="tl">
                    <a:srgbClr val="C0C0C0"/>
                  </a:outerShdw>
                </a:effectLst>
                <a:latin typeface="Arial" charset="0"/>
              </a:rPr>
              <a:t>1</a:t>
            </a:r>
            <a:r>
              <a:rPr lang="zh-CN" altLang="en-US" sz="2400" b="1" dirty="0">
                <a:solidFill>
                  <a:srgbClr val="0000FF"/>
                </a:solidFill>
                <a:effectLst>
                  <a:outerShdw blurRad="38100" dist="38100" dir="2700000" algn="tl">
                    <a:srgbClr val="C0C0C0"/>
                  </a:outerShdw>
                </a:effectLst>
                <a:latin typeface="Arial" charset="0"/>
              </a:rPr>
              <a:t>）定义</a:t>
            </a:r>
          </a:p>
        </p:txBody>
      </p:sp>
      <p:sp>
        <p:nvSpPr>
          <p:cNvPr id="132121" name="Rectangle 25">
            <a:extLst>
              <a:ext uri="{FF2B5EF4-FFF2-40B4-BE49-F238E27FC236}">
                <a16:creationId xmlns:a16="http://schemas.microsoft.com/office/drawing/2014/main" id="{25B4BED0-8F59-4FF9-832F-3320FE2A0971}"/>
              </a:ext>
            </a:extLst>
          </p:cNvPr>
          <p:cNvSpPr>
            <a:spLocks noChangeArrowheads="1"/>
          </p:cNvSpPr>
          <p:nvPr/>
        </p:nvSpPr>
        <p:spPr bwMode="auto">
          <a:xfrm>
            <a:off x="553484" y="2708747"/>
            <a:ext cx="8137525" cy="1684244"/>
          </a:xfrm>
          <a:prstGeom prst="rect">
            <a:avLst/>
          </a:prstGeom>
          <a:noFill/>
          <a:ln w="9525">
            <a:noFill/>
            <a:miter lim="800000"/>
            <a:headEnd/>
            <a:tailEnd/>
          </a:ln>
          <a:effectLst/>
        </p:spPr>
        <p:txBody>
          <a:bodyPr>
            <a:spAutoFit/>
          </a:bodyPr>
          <a:lstStyle/>
          <a:p>
            <a:pPr eaLnBrk="1" hangingPunct="1">
              <a:lnSpc>
                <a:spcPct val="150000"/>
              </a:lnSpc>
              <a:spcBef>
                <a:spcPct val="20000"/>
              </a:spcBef>
              <a:buClr>
                <a:schemeClr val="accent1"/>
              </a:buClr>
              <a:buSzPct val="65000"/>
              <a:buFont typeface="Wingdings" pitchFamily="2" charset="2"/>
              <a:buNone/>
              <a:defRPr/>
            </a:pPr>
            <a:r>
              <a:rPr lang="zh-CN" altLang="en-US" sz="2400" b="1" dirty="0">
                <a:effectLst>
                  <a:outerShdw blurRad="38100" dist="38100" dir="2700000" algn="tl">
                    <a:srgbClr val="C0C0C0"/>
                  </a:outerShdw>
                </a:effectLst>
                <a:latin typeface="Times New Roman" pitchFamily="18" charset="0"/>
              </a:rPr>
              <a:t>        开源软件是软件著作权人基于自由、开放和共享的理念，通过</a:t>
            </a:r>
            <a:r>
              <a:rPr lang="zh-CN" altLang="en-US" sz="2400" b="1" dirty="0">
                <a:solidFill>
                  <a:srgbClr val="FF0066"/>
                </a:solidFill>
                <a:effectLst>
                  <a:outerShdw blurRad="38100" dist="38100" dir="2700000" algn="tl">
                    <a:srgbClr val="C0C0C0"/>
                  </a:outerShdw>
                </a:effectLst>
                <a:latin typeface="Times New Roman" pitchFamily="18" charset="0"/>
              </a:rPr>
              <a:t>开源软件许可证</a:t>
            </a:r>
            <a:r>
              <a:rPr lang="zh-CN" altLang="en-US" sz="2400" b="1" dirty="0">
                <a:effectLst>
                  <a:outerShdw blurRad="38100" dist="38100" dir="2700000" algn="tl">
                    <a:srgbClr val="C0C0C0"/>
                  </a:outerShdw>
                </a:effectLst>
                <a:latin typeface="Times New Roman" pitchFamily="18" charset="0"/>
              </a:rPr>
              <a:t>的方式授予软件使用者在遵守许可限制条件下，可</a:t>
            </a:r>
            <a:r>
              <a:rPr lang="zh-CN" altLang="en-US" sz="2400" b="1" dirty="0">
                <a:solidFill>
                  <a:srgbClr val="008000"/>
                </a:solidFill>
                <a:effectLst>
                  <a:outerShdw blurRad="38100" dist="38100" dir="2700000" algn="tl">
                    <a:srgbClr val="C0C0C0"/>
                  </a:outerShdw>
                </a:effectLst>
                <a:latin typeface="Times New Roman" pitchFamily="18" charset="0"/>
              </a:rPr>
              <a:t>自由使用、复制、改编、再发布的软件</a:t>
            </a:r>
            <a:r>
              <a:rPr lang="zh-CN" altLang="en-US" sz="2400" b="1" dirty="0">
                <a:effectLst>
                  <a:outerShdw blurRad="38100" dist="38100" dir="2700000" algn="tl">
                    <a:srgbClr val="C0C0C0"/>
                  </a:outerShdw>
                </a:effectLst>
                <a:latin typeface="Times New Roman" pitchFamily="18" charset="0"/>
              </a:rPr>
              <a:t>。</a:t>
            </a:r>
            <a:endParaRPr lang="en-US" altLang="zh-CN" sz="2400" b="1" dirty="0">
              <a:effectLst>
                <a:outerShdw blurRad="38100" dist="38100" dir="2700000" algn="tl">
                  <a:srgbClr val="C0C0C0"/>
                </a:outerShdw>
              </a:effectLst>
              <a:latin typeface="Times New Roman" pitchFamily="18" charset="0"/>
            </a:endParaRPr>
          </a:p>
        </p:txBody>
      </p:sp>
      <p:sp>
        <p:nvSpPr>
          <p:cNvPr id="5" name="Rectangle 17">
            <a:extLst>
              <a:ext uri="{FF2B5EF4-FFF2-40B4-BE49-F238E27FC236}">
                <a16:creationId xmlns:a16="http://schemas.microsoft.com/office/drawing/2014/main" id="{F61C33CE-8D83-4F89-989D-F64BD60E3B86}"/>
              </a:ext>
            </a:extLst>
          </p:cNvPr>
          <p:cNvSpPr>
            <a:spLocks noChangeArrowheads="1"/>
          </p:cNvSpPr>
          <p:nvPr/>
        </p:nvSpPr>
        <p:spPr bwMode="auto">
          <a:xfrm>
            <a:off x="574398" y="476672"/>
            <a:ext cx="8147050" cy="503238"/>
          </a:xfrm>
          <a:prstGeom prst="rect">
            <a:avLst/>
          </a:prstGeom>
          <a:noFill/>
          <a:ln w="9525">
            <a:noFill/>
            <a:miter lim="800000"/>
            <a:headEnd/>
            <a:tailEnd/>
          </a:ln>
        </p:spPr>
        <p:txBody>
          <a:bodyPr/>
          <a:lstStyle/>
          <a:p>
            <a:pPr marL="342900" indent="-342900" algn="ctr" eaLnBrk="1" hangingPunct="1">
              <a:lnSpc>
                <a:spcPct val="150000"/>
              </a:lnSpc>
              <a:spcBef>
                <a:spcPct val="20000"/>
              </a:spcBef>
              <a:buClr>
                <a:schemeClr val="accent1"/>
              </a:buClr>
              <a:buSzPct val="65000"/>
              <a:defRPr/>
            </a:pPr>
            <a:r>
              <a:rPr lang="zh-CN" altLang="en-US" sz="32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rPr>
              <a:t>第一节  开源软件概述</a:t>
            </a:r>
          </a:p>
          <a:p>
            <a:pPr marL="342900" indent="-342900" algn="ctr" eaLnBrk="1" hangingPunct="1">
              <a:spcBef>
                <a:spcPct val="20000"/>
              </a:spcBef>
              <a:buClr>
                <a:schemeClr val="accent1"/>
              </a:buClr>
              <a:buSzPct val="65000"/>
              <a:defRPr/>
            </a:pPr>
            <a:endParaRPr lang="en-US" altLang="zh-CN" sz="3600" b="1" dirty="0">
              <a:solidFill>
                <a:srgbClr val="004823"/>
              </a:solidFill>
              <a:effectLst>
                <a:outerShdw blurRad="38100" dist="38100" dir="2700000" algn="tl">
                  <a:srgbClr val="C0C0C0"/>
                </a:outerShdw>
              </a:effectLst>
              <a:latin typeface="楷体" pitchFamily="49" charset="-122"/>
              <a:ea typeface="楷体" pitchFamily="49" charset="-122"/>
            </a:endParaRPr>
          </a:p>
        </p:txBody>
      </p:sp>
    </p:spTree>
    <p:extLst>
      <p:ext uri="{BB962C8B-B14F-4D97-AF65-F5344CB8AC3E}">
        <p14:creationId xmlns:p14="http://schemas.microsoft.com/office/powerpoint/2010/main" val="535034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ED4EC8E-93EF-48BF-878C-43FD79DD71C2}" type="slidenum">
              <a:rPr lang="en-US" altLang="zh-CN" smtClean="0">
                <a:latin typeface="Garamond" panose="02020404030301010803" pitchFamily="18" charset="0"/>
              </a:rPr>
              <a:pPr/>
              <a:t>3</a:t>
            </a:fld>
            <a:endParaRPr lang="en-US" altLang="zh-CN">
              <a:latin typeface="Garamond" panose="02020404030301010803" pitchFamily="18" charset="0"/>
            </a:endParaRPr>
          </a:p>
        </p:txBody>
      </p:sp>
      <p:sp>
        <p:nvSpPr>
          <p:cNvPr id="5" name="矩形 4">
            <a:extLst>
              <a:ext uri="{FF2B5EF4-FFF2-40B4-BE49-F238E27FC236}">
                <a16:creationId xmlns:a16="http://schemas.microsoft.com/office/drawing/2014/main" id="{98A8386E-7EF6-415A-B852-578D836A1DA2}"/>
              </a:ext>
            </a:extLst>
          </p:cNvPr>
          <p:cNvSpPr/>
          <p:nvPr/>
        </p:nvSpPr>
        <p:spPr>
          <a:xfrm>
            <a:off x="468313" y="284163"/>
            <a:ext cx="8424862" cy="5521325"/>
          </a:xfrm>
          <a:prstGeom prst="rect">
            <a:avLst/>
          </a:prstGeom>
        </p:spPr>
        <p:txBody>
          <a:bodyPr>
            <a:spAutoFit/>
          </a:bodyPr>
          <a:lstStyle/>
          <a:p>
            <a:pPr marL="342900" indent="-342900" eaLnBrk="1" hangingPunct="1">
              <a:lnSpc>
                <a:spcPct val="150000"/>
              </a:lnSpc>
              <a:spcBef>
                <a:spcPts val="1800"/>
              </a:spcBef>
              <a:buClr>
                <a:schemeClr val="accent1"/>
              </a:buClr>
              <a:buSzPct val="65000"/>
              <a:defRPr/>
            </a:pPr>
            <a:r>
              <a:rPr lang="zh-CN" altLang="en-US" sz="2400" b="1" dirty="0">
                <a:solidFill>
                  <a:srgbClr val="0000FF"/>
                </a:solidFill>
                <a:effectLst>
                  <a:outerShdw blurRad="38100" dist="38100" dir="2700000" algn="tl">
                    <a:srgbClr val="C0C0C0"/>
                  </a:outerShdw>
                </a:effectLst>
                <a:latin typeface="Arial" charset="0"/>
                <a:sym typeface="Wingdings" panose="05000000000000000000" pitchFamily="2" charset="2"/>
              </a:rPr>
              <a:t>（</a:t>
            </a:r>
            <a:r>
              <a:rPr lang="en-US" altLang="zh-CN" sz="2400" b="1" dirty="0">
                <a:solidFill>
                  <a:srgbClr val="0000FF"/>
                </a:solidFill>
                <a:effectLst>
                  <a:outerShdw blurRad="38100" dist="38100" dir="2700000" algn="tl">
                    <a:srgbClr val="C0C0C0"/>
                  </a:outerShdw>
                </a:effectLst>
                <a:latin typeface="Arial" charset="0"/>
                <a:sym typeface="Wingdings" panose="05000000000000000000" pitchFamily="2" charset="2"/>
              </a:rPr>
              <a:t>2</a:t>
            </a:r>
            <a:r>
              <a:rPr lang="zh-CN" altLang="en-US" sz="2400" b="1" dirty="0">
                <a:solidFill>
                  <a:srgbClr val="0000FF"/>
                </a:solidFill>
                <a:effectLst>
                  <a:outerShdw blurRad="38100" dist="38100" dir="2700000" algn="tl">
                    <a:srgbClr val="C0C0C0"/>
                  </a:outerShdw>
                </a:effectLst>
                <a:latin typeface="Arial" charset="0"/>
                <a:sym typeface="Wingdings" panose="05000000000000000000" pitchFamily="2" charset="2"/>
              </a:rPr>
              <a:t>）一些著名开源许可类型</a:t>
            </a:r>
            <a:endParaRPr lang="en-US" altLang="zh-CN" sz="2400" b="1" dirty="0">
              <a:solidFill>
                <a:srgbClr val="0000FF"/>
              </a:solidFill>
              <a:effectLst>
                <a:outerShdw blurRad="38100" dist="38100" dir="2700000" algn="tl">
                  <a:srgbClr val="C0C0C0"/>
                </a:outerShdw>
              </a:effectLst>
              <a:latin typeface="Arial" charset="0"/>
            </a:endParaRPr>
          </a:p>
          <a:p>
            <a:pPr marL="342900" indent="-342900" eaLnBrk="1" hangingPunct="1">
              <a:lnSpc>
                <a:spcPct val="125000"/>
              </a:lnSpc>
              <a:spcBef>
                <a:spcPct val="20000"/>
              </a:spcBef>
              <a:buClr>
                <a:schemeClr val="accent1"/>
              </a:buClr>
              <a:buSzPct val="100000"/>
              <a:buFont typeface="Wingdings" panose="05000000000000000000" pitchFamily="2" charset="2"/>
              <a:buChar char="n"/>
              <a:defRPr/>
            </a:pPr>
            <a:r>
              <a:rPr lang="en-US" altLang="zh-CN" sz="2400" b="1" dirty="0">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BSD</a:t>
            </a:r>
            <a:r>
              <a:rPr lang="zh-CN" altLang="en-US" sz="2400" b="1" dirty="0">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许可 </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它要求版权和著者身份申明； </a:t>
            </a:r>
          </a:p>
          <a:p>
            <a:pPr marL="342900" indent="-342900" eaLnBrk="1" hangingPunct="1">
              <a:lnSpc>
                <a:spcPct val="125000"/>
              </a:lnSpc>
              <a:spcBef>
                <a:spcPct val="20000"/>
              </a:spcBef>
              <a:buClr>
                <a:schemeClr val="accent1"/>
              </a:buClr>
              <a:buSzPct val="100000"/>
              <a:buFont typeface="Wingdings" panose="05000000000000000000" pitchFamily="2" charset="2"/>
              <a:buChar char="n"/>
              <a:defRPr/>
            </a:pPr>
            <a:r>
              <a:rPr lang="en-US" altLang="zh-CN" sz="2400" b="1" dirty="0">
                <a:solidFill>
                  <a:srgbClr val="00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GPL </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通用公共许可</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r>
              <a:rPr lang="en-US" altLang="zh-CN" sz="24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CopyLeft</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 </a:t>
            </a:r>
            <a:endPar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pPr marL="342900" indent="-342900" eaLnBrk="1" hangingPunct="1">
              <a:lnSpc>
                <a:spcPct val="125000"/>
              </a:lnSpc>
              <a:spcBef>
                <a:spcPct val="20000"/>
              </a:spcBef>
              <a:buClr>
                <a:schemeClr val="accent1"/>
              </a:buClr>
              <a:buSzPct val="100000"/>
              <a:buFont typeface="Wingdings" panose="05000000000000000000" pitchFamily="2" charset="2"/>
              <a:buChar char="n"/>
              <a:defRPr/>
            </a:pP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LGPL -- </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库</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次级</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GPL</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。在这个许可证下，库（函数库）可以自由地联接到专有软件； </a:t>
            </a:r>
          </a:p>
          <a:p>
            <a:pPr marL="342900" indent="-342900" eaLnBrk="1" hangingPunct="1">
              <a:lnSpc>
                <a:spcPct val="125000"/>
              </a:lnSpc>
              <a:spcBef>
                <a:spcPct val="20000"/>
              </a:spcBef>
              <a:buClr>
                <a:schemeClr val="accent1"/>
              </a:buClr>
              <a:buSzPct val="100000"/>
              <a:buFont typeface="Wingdings" panose="05000000000000000000" pitchFamily="2" charset="2"/>
              <a:buChar char="n"/>
              <a:defRPr/>
            </a:pP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Artistic</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许可 </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使作者保持对进一步开发的控制；</a:t>
            </a:r>
          </a:p>
          <a:p>
            <a:pPr marL="342900" indent="-342900" eaLnBrk="1" hangingPunct="1">
              <a:lnSpc>
                <a:spcPct val="125000"/>
              </a:lnSpc>
              <a:spcBef>
                <a:spcPct val="20000"/>
              </a:spcBef>
              <a:buClr>
                <a:schemeClr val="accent1"/>
              </a:buClr>
              <a:buSzPct val="100000"/>
              <a:buFont typeface="Wingdings" panose="05000000000000000000" pitchFamily="2" charset="2"/>
              <a:buChar char="n"/>
              <a:defRPr/>
            </a:pP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NPL</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许可 </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基于</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GPL</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精神的新许可证，但是保持了对源码更多的控制和所有权； </a:t>
            </a:r>
          </a:p>
          <a:p>
            <a:pPr marL="342900" indent="-342900" eaLnBrk="1" hangingPunct="1">
              <a:lnSpc>
                <a:spcPct val="125000"/>
              </a:lnSpc>
              <a:spcBef>
                <a:spcPct val="20000"/>
              </a:spcBef>
              <a:buClr>
                <a:schemeClr val="accent1"/>
              </a:buClr>
              <a:buSzPct val="100000"/>
              <a:buFont typeface="Wingdings" panose="05000000000000000000" pitchFamily="2" charset="2"/>
              <a:buChar char="n"/>
              <a:defRPr/>
            </a:pP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公共域（</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Public Domain</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通常用于决定性的算法以鼓励广泛使用，通常由美国政府使用；</a:t>
            </a:r>
          </a:p>
          <a:p>
            <a:pPr>
              <a:defRPr/>
            </a:pPr>
            <a:endParaRPr lang="zh-CN" altLang="en-US" dirty="0">
              <a:latin typeface="Times New Roman" panose="02020603050405020304" pitchFamily="18" charset="0"/>
              <a:cs typeface="Times New Roman" panose="02020603050405020304" pitchFamily="18" charset="0"/>
            </a:endParaRPr>
          </a:p>
        </p:txBody>
      </p:sp>
      <p:sp>
        <p:nvSpPr>
          <p:cNvPr id="2" name="矩形 1">
            <a:extLst>
              <a:ext uri="{FF2B5EF4-FFF2-40B4-BE49-F238E27FC236}">
                <a16:creationId xmlns:a16="http://schemas.microsoft.com/office/drawing/2014/main" id="{1F36BB86-9DA3-4FAA-8378-1E0645DAAD67}"/>
              </a:ext>
            </a:extLst>
          </p:cNvPr>
          <p:cNvSpPr/>
          <p:nvPr/>
        </p:nvSpPr>
        <p:spPr>
          <a:xfrm>
            <a:off x="622300" y="5732463"/>
            <a:ext cx="8064500" cy="369887"/>
          </a:xfrm>
          <a:prstGeom prst="rect">
            <a:avLst/>
          </a:prstGeom>
        </p:spPr>
        <p:txBody>
          <a:bodyPr>
            <a:spAutoFit/>
          </a:bodyPr>
          <a:lstStyle/>
          <a:p>
            <a:pPr>
              <a:defRPr/>
            </a:pPr>
            <a:r>
              <a:rPr lang="en-US" altLang="zh-CN" b="1" dirty="0">
                <a:effectLst>
                  <a:outerShdw blurRad="38100" dist="38100" dir="2700000" algn="tl">
                    <a:srgbClr val="C0C0C0"/>
                  </a:outerShdw>
                </a:effectLst>
                <a:latin typeface="Times New Roman" pitchFamily="18" charset="0"/>
              </a:rPr>
              <a:t>! </a:t>
            </a:r>
            <a:r>
              <a:rPr lang="zh-CN" altLang="en-US" b="1" dirty="0">
                <a:effectLst>
                  <a:outerShdw blurRad="38100" dist="38100" dir="2700000" algn="tl">
                    <a:srgbClr val="C0C0C0"/>
                  </a:outerShdw>
                </a:effectLst>
                <a:latin typeface="Times New Roman" pitchFamily="18" charset="0"/>
              </a:rPr>
              <a:t>开源并不等于完全自由使用，有许多不同的开源</a:t>
            </a:r>
            <a:r>
              <a:rPr lang="zh-CN" altLang="en-US" b="1" u="sng" dirty="0">
                <a:solidFill>
                  <a:srgbClr val="FF0000"/>
                </a:solidFill>
                <a:effectLst>
                  <a:outerShdw blurRad="38100" dist="38100" dir="2700000" algn="tl">
                    <a:srgbClr val="C0C0C0"/>
                  </a:outerShdw>
                </a:effectLst>
                <a:latin typeface="Times New Roman" pitchFamily="18" charset="0"/>
              </a:rPr>
              <a:t>软件许可</a:t>
            </a:r>
            <a:r>
              <a:rPr lang="zh-CN" altLang="en-US" b="1" dirty="0">
                <a:effectLst>
                  <a:outerShdw blurRad="38100" dist="38100" dir="2700000" algn="tl">
                    <a:srgbClr val="C0C0C0"/>
                  </a:outerShdw>
                </a:effectLst>
                <a:latin typeface="Times New Roman" pitchFamily="18" charset="0"/>
              </a:rPr>
              <a:t>。</a:t>
            </a:r>
            <a:endParaRPr lang="zh-CN" altLang="en-US" dirty="0"/>
          </a:p>
        </p:txBody>
      </p:sp>
    </p:spTree>
    <p:extLst>
      <p:ext uri="{BB962C8B-B14F-4D97-AF65-F5344CB8AC3E}">
        <p14:creationId xmlns:p14="http://schemas.microsoft.com/office/powerpoint/2010/main" val="4057127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2140CEA-938C-4055-9D02-421CB55D8BCA}" type="slidenum">
              <a:rPr lang="en-US" altLang="zh-CN" smtClean="0">
                <a:latin typeface="Garamond" panose="02020404030301010803" pitchFamily="18" charset="0"/>
              </a:rPr>
              <a:pPr/>
              <a:t>4</a:t>
            </a:fld>
            <a:endParaRPr lang="en-US" altLang="zh-CN">
              <a:latin typeface="Garamond" panose="02020404030301010803" pitchFamily="18" charset="0"/>
            </a:endParaRPr>
          </a:p>
        </p:txBody>
      </p:sp>
      <p:sp>
        <p:nvSpPr>
          <p:cNvPr id="5" name="矩形 4">
            <a:extLst>
              <a:ext uri="{FF2B5EF4-FFF2-40B4-BE49-F238E27FC236}">
                <a16:creationId xmlns:a16="http://schemas.microsoft.com/office/drawing/2014/main" id="{18DB494C-8154-4461-A7F3-460BAADE9AF3}"/>
              </a:ext>
            </a:extLst>
          </p:cNvPr>
          <p:cNvSpPr/>
          <p:nvPr/>
        </p:nvSpPr>
        <p:spPr>
          <a:xfrm>
            <a:off x="611188" y="620713"/>
            <a:ext cx="8075612" cy="5148262"/>
          </a:xfrm>
          <a:prstGeom prst="rect">
            <a:avLst/>
          </a:prstGeom>
        </p:spPr>
        <p:txBody>
          <a:bodyPr>
            <a:spAutoFit/>
          </a:bodyPr>
          <a:lstStyle/>
          <a:p>
            <a:pPr>
              <a:defRPr/>
            </a:pPr>
            <a:r>
              <a:rPr lang="en-US" altLang="zh-CN" sz="2400" b="1" dirty="0" err="1">
                <a:solidFill>
                  <a:srgbClr val="008000"/>
                </a:solidFill>
                <a:effectLst>
                  <a:outerShdw blurRad="38100" dist="38100" dir="2700000" algn="tl">
                    <a:srgbClr val="C0C0C0"/>
                  </a:outerShdw>
                </a:effectLst>
                <a:latin typeface="Arial" charset="0"/>
              </a:rPr>
              <a:t>i</a:t>
            </a:r>
            <a:r>
              <a:rPr lang="en-US" altLang="zh-CN" sz="2400" b="1" dirty="0">
                <a:solidFill>
                  <a:srgbClr val="008000"/>
                </a:solidFill>
                <a:effectLst>
                  <a:outerShdw blurRad="38100" dist="38100" dir="2700000" algn="tl">
                    <a:srgbClr val="C0C0C0"/>
                  </a:outerShdw>
                </a:effectLst>
                <a:latin typeface="Arial" charset="0"/>
              </a:rPr>
              <a:t>&gt; </a:t>
            </a:r>
            <a:r>
              <a:rPr lang="zh-CN" altLang="en-US" sz="2400" b="1" dirty="0">
                <a:solidFill>
                  <a:srgbClr val="008000"/>
                </a:solidFill>
                <a:effectLst>
                  <a:outerShdw blurRad="38100" dist="38100" dir="2700000" algn="tl">
                    <a:srgbClr val="C0C0C0"/>
                  </a:outerShdw>
                </a:effectLst>
                <a:latin typeface="Arial" charset="0"/>
              </a:rPr>
              <a:t>使用开源代码的程序必须公开源代码</a:t>
            </a:r>
            <a:endParaRPr lang="en-US" altLang="zh-CN" sz="2400" b="1" dirty="0">
              <a:solidFill>
                <a:srgbClr val="008000"/>
              </a:solidFill>
              <a:effectLst>
                <a:outerShdw blurRad="38100" dist="38100" dir="2700000" algn="tl">
                  <a:srgbClr val="C0C0C0"/>
                </a:outerShdw>
              </a:effectLst>
              <a:latin typeface="Arial" charset="0"/>
            </a:endParaRPr>
          </a:p>
          <a:p>
            <a:pPr eaLnBrk="1" hangingPunct="1">
              <a:lnSpc>
                <a:spcPct val="125000"/>
              </a:lnSpc>
              <a:spcBef>
                <a:spcPts val="1200"/>
              </a:spcBef>
              <a:buClr>
                <a:schemeClr val="accent1"/>
              </a:buClr>
              <a:buSzPct val="65000"/>
              <a:defRPr/>
            </a:pPr>
            <a:r>
              <a:rPr lang="zh-CN" altLang="en-US" sz="2400" b="1" dirty="0">
                <a:effectLst>
                  <a:outerShdw blurRad="38100" dist="38100" dir="2700000" algn="tl">
                    <a:srgbClr val="C0C0C0"/>
                  </a:outerShdw>
                </a:effectLst>
                <a:latin typeface="Times New Roman" pitchFamily="18" charset="0"/>
              </a:rPr>
              <a:t>        这类开源软件许可证最为严苛，要求任何使用该开源代码的程序在再发布时，必须将其源代码以相同的许可证公开，典型代表是 </a:t>
            </a:r>
            <a:r>
              <a:rPr lang="en-US" altLang="zh-CN" sz="2400" b="1" dirty="0">
                <a:effectLst>
                  <a:outerShdw blurRad="38100" dist="38100" dir="2700000" algn="tl">
                    <a:srgbClr val="C0C0C0"/>
                  </a:outerShdw>
                </a:effectLst>
                <a:latin typeface="Times New Roman" pitchFamily="18" charset="0"/>
              </a:rPr>
              <a:t>GPL </a:t>
            </a:r>
            <a:r>
              <a:rPr lang="zh-CN" altLang="en-US" sz="2400" b="1" dirty="0">
                <a:effectLst>
                  <a:outerShdw blurRad="38100" dist="38100" dir="2700000" algn="tl">
                    <a:srgbClr val="C0C0C0"/>
                  </a:outerShdw>
                </a:effectLst>
                <a:latin typeface="Times New Roman" pitchFamily="18" charset="0"/>
              </a:rPr>
              <a:t>许可证的三个版本，包括：</a:t>
            </a:r>
            <a:r>
              <a:rPr lang="en-US" altLang="zh-CN" sz="2400" b="1" dirty="0">
                <a:effectLst>
                  <a:outerShdw blurRad="38100" dist="38100" dir="2700000" algn="tl">
                    <a:srgbClr val="C0C0C0"/>
                  </a:outerShdw>
                </a:effectLst>
                <a:latin typeface="Times New Roman" pitchFamily="18" charset="0"/>
              </a:rPr>
              <a:t>GPLv1 </a:t>
            </a:r>
            <a:r>
              <a:rPr lang="zh-CN" altLang="en-US" sz="2400" b="1" dirty="0">
                <a:effectLst>
                  <a:outerShdw blurRad="38100" dist="38100" dir="2700000" algn="tl">
                    <a:srgbClr val="C0C0C0"/>
                  </a:outerShdw>
                </a:effectLst>
                <a:latin typeface="Times New Roman" pitchFamily="18" charset="0"/>
              </a:rPr>
              <a:t>许可证、</a:t>
            </a:r>
            <a:r>
              <a:rPr lang="en-US" altLang="zh-CN" sz="2400" b="1" dirty="0">
                <a:effectLst>
                  <a:outerShdw blurRad="38100" dist="38100" dir="2700000" algn="tl">
                    <a:srgbClr val="C0C0C0"/>
                  </a:outerShdw>
                </a:effectLst>
                <a:latin typeface="Times New Roman" pitchFamily="18" charset="0"/>
              </a:rPr>
              <a:t>GPLv2 </a:t>
            </a:r>
            <a:r>
              <a:rPr lang="zh-CN" altLang="en-US" sz="2400" b="1" dirty="0">
                <a:effectLst>
                  <a:outerShdw blurRad="38100" dist="38100" dir="2700000" algn="tl">
                    <a:srgbClr val="C0C0C0"/>
                  </a:outerShdw>
                </a:effectLst>
                <a:latin typeface="Times New Roman" pitchFamily="18" charset="0"/>
              </a:rPr>
              <a:t>许可证和 </a:t>
            </a:r>
            <a:r>
              <a:rPr lang="en-US" altLang="zh-CN" sz="2400" b="1" dirty="0">
                <a:effectLst>
                  <a:outerShdw blurRad="38100" dist="38100" dir="2700000" algn="tl">
                    <a:srgbClr val="C0C0C0"/>
                  </a:outerShdw>
                </a:effectLst>
                <a:latin typeface="Times New Roman" pitchFamily="18" charset="0"/>
              </a:rPr>
              <a:t>GPLv3 </a:t>
            </a:r>
            <a:r>
              <a:rPr lang="zh-CN" altLang="en-US" sz="2400" b="1" dirty="0">
                <a:effectLst>
                  <a:outerShdw blurRad="38100" dist="38100" dir="2700000" algn="tl">
                    <a:srgbClr val="C0C0C0"/>
                  </a:outerShdw>
                </a:effectLst>
                <a:latin typeface="Times New Roman" pitchFamily="18" charset="0"/>
              </a:rPr>
              <a:t>许可证。</a:t>
            </a:r>
          </a:p>
          <a:p>
            <a:pPr>
              <a:defRPr/>
            </a:pPr>
            <a:endParaRPr lang="en-US" altLang="zh-CN" sz="2400" b="1" dirty="0">
              <a:solidFill>
                <a:srgbClr val="008000"/>
              </a:solidFill>
              <a:effectLst>
                <a:outerShdw blurRad="38100" dist="38100" dir="2700000" algn="tl">
                  <a:srgbClr val="C0C0C0"/>
                </a:outerShdw>
              </a:effectLst>
              <a:latin typeface="Arial" charset="0"/>
            </a:endParaRPr>
          </a:p>
          <a:p>
            <a:pPr>
              <a:defRPr/>
            </a:pPr>
            <a:r>
              <a:rPr lang="en-US" altLang="zh-CN" sz="2400" b="1" dirty="0">
                <a:solidFill>
                  <a:schemeClr val="accent1">
                    <a:lumMod val="50000"/>
                  </a:schemeClr>
                </a:solidFill>
                <a:effectLst>
                  <a:outerShdw blurRad="38100" dist="38100" dir="2700000" algn="tl">
                    <a:srgbClr val="C0C0C0"/>
                  </a:outerShdw>
                </a:effectLst>
                <a:latin typeface="Arial" charset="0"/>
              </a:rPr>
              <a:t>GPL</a:t>
            </a:r>
            <a:r>
              <a:rPr lang="zh-CN" altLang="en-US" sz="2400" b="1" dirty="0">
                <a:solidFill>
                  <a:schemeClr val="accent1">
                    <a:lumMod val="50000"/>
                  </a:schemeClr>
                </a:solidFill>
                <a:effectLst>
                  <a:outerShdw blurRad="38100" dist="38100" dir="2700000" algn="tl">
                    <a:srgbClr val="C0C0C0"/>
                  </a:outerShdw>
                </a:effectLst>
                <a:latin typeface="Arial" charset="0"/>
              </a:rPr>
              <a:t>许可证：</a:t>
            </a:r>
            <a:r>
              <a:rPr lang="en-US" altLang="zh-CN" sz="2400" b="1" dirty="0">
                <a:effectLst>
                  <a:outerShdw blurRad="38100" dist="38100" dir="2700000" algn="tl">
                    <a:srgbClr val="C0C0C0"/>
                  </a:outerShdw>
                </a:effectLst>
                <a:latin typeface="Times New Roman" pitchFamily="18" charset="0"/>
              </a:rPr>
              <a:t>General Public License</a:t>
            </a:r>
            <a:r>
              <a:rPr lang="zh-CN" altLang="en-US" sz="2400" b="1" dirty="0">
                <a:effectLst>
                  <a:outerShdw blurRad="38100" dist="38100" dir="2700000" algn="tl">
                    <a:srgbClr val="C0C0C0"/>
                  </a:outerShdw>
                </a:effectLst>
                <a:latin typeface="Times New Roman" pitchFamily="18" charset="0"/>
              </a:rPr>
              <a:t>（</a:t>
            </a:r>
            <a:r>
              <a:rPr lang="en-US" altLang="zh-CN" sz="2400" b="1" dirty="0">
                <a:effectLst>
                  <a:outerShdw blurRad="38100" dist="38100" dir="2700000" algn="tl">
                    <a:srgbClr val="C0C0C0"/>
                  </a:outerShdw>
                </a:effectLst>
                <a:latin typeface="Times New Roman" pitchFamily="18" charset="0"/>
              </a:rPr>
              <a:t>GPL</a:t>
            </a:r>
            <a:r>
              <a:rPr lang="zh-CN" altLang="en-US" sz="2400" b="1" dirty="0">
                <a:effectLst>
                  <a:outerShdw blurRad="38100" dist="38100" dir="2700000" algn="tl">
                    <a:srgbClr val="C0C0C0"/>
                  </a:outerShdw>
                </a:effectLst>
                <a:latin typeface="Times New Roman" pitchFamily="18" charset="0"/>
              </a:rPr>
              <a:t>）</a:t>
            </a:r>
            <a:endParaRPr lang="en-US" altLang="zh-CN" sz="2400" b="1" dirty="0">
              <a:effectLst>
                <a:outerShdw blurRad="38100" dist="38100" dir="2700000" algn="tl">
                  <a:srgbClr val="C0C0C0"/>
                </a:outerShdw>
              </a:effectLst>
              <a:latin typeface="Times New Roman" pitchFamily="18" charset="0"/>
            </a:endParaRPr>
          </a:p>
          <a:p>
            <a:pPr eaLnBrk="1" hangingPunct="1">
              <a:lnSpc>
                <a:spcPct val="125000"/>
              </a:lnSpc>
              <a:spcBef>
                <a:spcPct val="20000"/>
              </a:spcBef>
              <a:buClr>
                <a:schemeClr val="accent1"/>
              </a:buClr>
              <a:buSzPct val="65000"/>
              <a:defRPr/>
            </a:pPr>
            <a:r>
              <a:rPr lang="zh-CN" altLang="en-US" sz="2400" b="1" dirty="0">
                <a:effectLst>
                  <a:outerShdw blurRad="38100" dist="38100" dir="2700000" algn="tl">
                    <a:srgbClr val="C0C0C0"/>
                  </a:outerShdw>
                </a:effectLst>
                <a:latin typeface="Times New Roman" pitchFamily="18" charset="0"/>
              </a:rPr>
              <a:t>                        通用公共许可证</a:t>
            </a:r>
            <a:endParaRPr lang="en-US" altLang="zh-CN" sz="2400" b="1" dirty="0">
              <a:effectLst>
                <a:outerShdw blurRad="38100" dist="38100" dir="2700000" algn="tl">
                  <a:srgbClr val="C0C0C0"/>
                </a:outerShdw>
              </a:effectLst>
              <a:latin typeface="Times New Roman" pitchFamily="18" charset="0"/>
            </a:endParaRPr>
          </a:p>
          <a:p>
            <a:pPr eaLnBrk="1" hangingPunct="1">
              <a:lnSpc>
                <a:spcPct val="125000"/>
              </a:lnSpc>
              <a:spcBef>
                <a:spcPct val="20000"/>
              </a:spcBef>
              <a:buClr>
                <a:schemeClr val="accent1"/>
              </a:buClr>
              <a:buSzPct val="65000"/>
              <a:defRPr/>
            </a:pPr>
            <a:r>
              <a:rPr lang="en-US" altLang="zh-CN" sz="2400" b="1" dirty="0">
                <a:effectLst>
                  <a:outerShdw blurRad="38100" dist="38100" dir="2700000" algn="tl">
                    <a:srgbClr val="C0C0C0"/>
                  </a:outerShdw>
                </a:effectLst>
                <a:latin typeface="Times New Roman" pitchFamily="18" charset="0"/>
              </a:rPr>
              <a:t>       </a:t>
            </a:r>
            <a:r>
              <a:rPr lang="zh-CN" altLang="en-US" sz="2400" b="1" dirty="0">
                <a:effectLst>
                  <a:outerShdw blurRad="38100" dist="38100" dir="2700000" algn="tl">
                    <a:srgbClr val="C0C0C0"/>
                  </a:outerShdw>
                </a:effectLst>
                <a:latin typeface="Times New Roman" pitchFamily="18" charset="0"/>
              </a:rPr>
              <a:t>是自由软件联盟（</a:t>
            </a:r>
            <a:r>
              <a:rPr lang="en-US" altLang="zh-CN" sz="2400" b="1" dirty="0">
                <a:effectLst>
                  <a:outerShdw blurRad="38100" dist="38100" dir="2700000" algn="tl">
                    <a:srgbClr val="C0C0C0"/>
                  </a:outerShdw>
                </a:effectLst>
                <a:latin typeface="Times New Roman" pitchFamily="18" charset="0"/>
              </a:rPr>
              <a:t>GNU</a:t>
            </a:r>
            <a:r>
              <a:rPr lang="zh-CN" altLang="en-US" sz="2400" b="1" dirty="0">
                <a:effectLst>
                  <a:outerShdw blurRad="38100" dist="38100" dir="2700000" algn="tl">
                    <a:srgbClr val="C0C0C0"/>
                  </a:outerShdw>
                </a:effectLst>
                <a:latin typeface="Times New Roman" pitchFamily="18" charset="0"/>
              </a:rPr>
              <a:t>）的开放源码软件许可证的一种，是开放源码软件领域最富盛名的一种许可证。它集中体现了纯粹的</a:t>
            </a:r>
            <a:r>
              <a:rPr lang="en-US" altLang="zh-CN" sz="2400" b="1" dirty="0" err="1">
                <a:effectLst>
                  <a:outerShdw blurRad="38100" dist="38100" dir="2700000" algn="tl">
                    <a:srgbClr val="C0C0C0"/>
                  </a:outerShdw>
                </a:effectLst>
                <a:latin typeface="Times New Roman" pitchFamily="18" charset="0"/>
              </a:rPr>
              <a:t>Copyleft</a:t>
            </a:r>
            <a:r>
              <a:rPr lang="zh-CN" altLang="en-US" sz="2400" b="1" dirty="0">
                <a:effectLst>
                  <a:outerShdw blurRad="38100" dist="38100" dir="2700000" algn="tl">
                    <a:srgbClr val="C0C0C0"/>
                  </a:outerShdw>
                </a:effectLst>
                <a:latin typeface="Times New Roman" pitchFamily="18" charset="0"/>
              </a:rPr>
              <a:t>精神。</a:t>
            </a:r>
          </a:p>
        </p:txBody>
      </p:sp>
      <p:sp>
        <p:nvSpPr>
          <p:cNvPr id="16388" name="矩形 1"/>
          <p:cNvSpPr>
            <a:spLocks noChangeArrowheads="1"/>
          </p:cNvSpPr>
          <p:nvPr/>
        </p:nvSpPr>
        <p:spPr bwMode="auto">
          <a:xfrm>
            <a:off x="-3349625" y="4221163"/>
            <a:ext cx="82089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Tree>
    <p:extLst>
      <p:ext uri="{BB962C8B-B14F-4D97-AF65-F5344CB8AC3E}">
        <p14:creationId xmlns:p14="http://schemas.microsoft.com/office/powerpoint/2010/main" val="1361760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08B1F1D-D87C-43B7-A03A-E06FCCD066D7}" type="slidenum">
              <a:rPr lang="en-US" altLang="zh-CN" smtClean="0">
                <a:latin typeface="Garamond" panose="02020404030301010803" pitchFamily="18" charset="0"/>
              </a:rPr>
              <a:pPr/>
              <a:t>5</a:t>
            </a:fld>
            <a:endParaRPr lang="en-US" altLang="zh-CN">
              <a:latin typeface="Garamond" panose="02020404030301010803" pitchFamily="18" charset="0"/>
            </a:endParaRPr>
          </a:p>
        </p:txBody>
      </p:sp>
      <p:sp>
        <p:nvSpPr>
          <p:cNvPr id="5" name="矩形 4">
            <a:extLst>
              <a:ext uri="{FF2B5EF4-FFF2-40B4-BE49-F238E27FC236}">
                <a16:creationId xmlns:a16="http://schemas.microsoft.com/office/drawing/2014/main" id="{6698E6BE-127A-4188-90C1-C4C15E2F5E75}"/>
              </a:ext>
            </a:extLst>
          </p:cNvPr>
          <p:cNvSpPr/>
          <p:nvPr/>
        </p:nvSpPr>
        <p:spPr>
          <a:xfrm>
            <a:off x="539750" y="549275"/>
            <a:ext cx="7920038" cy="2400300"/>
          </a:xfrm>
          <a:prstGeom prst="rect">
            <a:avLst/>
          </a:prstGeom>
          <a:ln w="28575">
            <a:solidFill>
              <a:srgbClr val="00CC00"/>
            </a:solid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5000"/>
              </a:lnSpc>
              <a:spcBef>
                <a:spcPts val="1200"/>
              </a:spcBef>
              <a:defRPr/>
            </a:pPr>
            <a:r>
              <a:rPr lang="en-US" altLang="zh-CN" sz="2400" b="1" u="sng">
                <a:solidFill>
                  <a:srgbClr val="FF0066"/>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Copyleft</a:t>
            </a:r>
            <a:r>
              <a:rPr lang="zh-CN" altLang="en-US" sz="2400" b="1" u="sng">
                <a:solidFill>
                  <a:srgbClr val="FF0066"/>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规则：</a:t>
            </a:r>
            <a:r>
              <a:rPr lang="zh-CN" altLang="en-US" sz="2400" b="1">
                <a:solidFill>
                  <a:srgbClr val="666666"/>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是一种全新的版权许可模式，目的在于促进和保障自由软件的传播和发展，其内涵在于在承认传统版权的前提下，将复制权、发行权、修改权等权利通过</a:t>
            </a:r>
            <a:r>
              <a:rPr lang="en-US" altLang="zh-CN" sz="2400" b="1">
                <a:solidFill>
                  <a:srgbClr val="666666"/>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GPL</a:t>
            </a:r>
            <a:r>
              <a:rPr lang="zh-CN" altLang="en-US" sz="2400" b="1">
                <a:solidFill>
                  <a:srgbClr val="666666"/>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许可证的方式释放给社会公众，任何从</a:t>
            </a:r>
            <a:r>
              <a:rPr lang="en-US" altLang="zh-CN" sz="2400" b="1">
                <a:solidFill>
                  <a:srgbClr val="666666"/>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copyleft</a:t>
            </a:r>
            <a:r>
              <a:rPr lang="zh-CN" altLang="en-US" sz="2400" b="1">
                <a:solidFill>
                  <a:srgbClr val="666666"/>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许可衍生出的软件作品同样必须遵守</a:t>
            </a:r>
            <a:r>
              <a:rPr lang="en-US" altLang="zh-CN" sz="2400" b="1">
                <a:solidFill>
                  <a:srgbClr val="666666"/>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copyleft</a:t>
            </a:r>
            <a:r>
              <a:rPr lang="zh-CN" altLang="en-US" sz="2400" b="1">
                <a:solidFill>
                  <a:srgbClr val="666666"/>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许可的规定。</a:t>
            </a:r>
            <a:endPar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Rectangle 1">
            <a:extLst>
              <a:ext uri="{FF2B5EF4-FFF2-40B4-BE49-F238E27FC236}">
                <a16:creationId xmlns:a16="http://schemas.microsoft.com/office/drawing/2014/main" id="{20380D51-D429-484C-8630-A4F793296CB9}"/>
              </a:ext>
            </a:extLst>
          </p:cNvPr>
          <p:cNvSpPr>
            <a:spLocks noChangeArrowheads="1"/>
          </p:cNvSpPr>
          <p:nvPr/>
        </p:nvSpPr>
        <p:spPr bwMode="auto">
          <a:xfrm>
            <a:off x="511175" y="3284538"/>
            <a:ext cx="7948613"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自由软件授权模式</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copyleft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与传统版权</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(copyright)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9997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6AD6B05-7D5A-49F3-9A68-9C027CC52CC7}" type="slidenum">
              <a:rPr lang="en-US" altLang="zh-CN" smtClean="0">
                <a:latin typeface="Garamond" panose="02020404030301010803" pitchFamily="18" charset="0"/>
              </a:rPr>
              <a:pPr/>
              <a:t>6</a:t>
            </a:fld>
            <a:endParaRPr lang="en-US" altLang="zh-CN">
              <a:latin typeface="Garamond" panose="02020404030301010803" pitchFamily="18" charset="0"/>
            </a:endParaRPr>
          </a:p>
        </p:txBody>
      </p:sp>
      <p:sp>
        <p:nvSpPr>
          <p:cNvPr id="5" name="矩形 4">
            <a:extLst>
              <a:ext uri="{FF2B5EF4-FFF2-40B4-BE49-F238E27FC236}">
                <a16:creationId xmlns:a16="http://schemas.microsoft.com/office/drawing/2014/main" id="{18DB494C-8154-4461-A7F3-460BAADE9AF3}"/>
              </a:ext>
            </a:extLst>
          </p:cNvPr>
          <p:cNvSpPr/>
          <p:nvPr/>
        </p:nvSpPr>
        <p:spPr>
          <a:xfrm>
            <a:off x="611188" y="620713"/>
            <a:ext cx="8075612" cy="3446462"/>
          </a:xfrm>
          <a:prstGeom prst="rect">
            <a:avLst/>
          </a:prstGeom>
        </p:spPr>
        <p:txBody>
          <a:bodyPr>
            <a:spAutoFit/>
          </a:bodyPr>
          <a:lstStyle/>
          <a:p>
            <a:pPr>
              <a:defRPr/>
            </a:pPr>
            <a:r>
              <a:rPr lang="en-US" altLang="zh-CN" sz="2400" b="1" dirty="0">
                <a:solidFill>
                  <a:srgbClr val="008000"/>
                </a:solidFill>
                <a:effectLst>
                  <a:outerShdw blurRad="38100" dist="38100" dir="2700000" algn="tl">
                    <a:srgbClr val="C0C0C0"/>
                  </a:outerShdw>
                </a:effectLst>
                <a:latin typeface="Arial" charset="0"/>
              </a:rPr>
              <a:t>ii&gt; </a:t>
            </a:r>
            <a:r>
              <a:rPr lang="zh-CN" altLang="en-US" sz="2400" b="1" dirty="0">
                <a:solidFill>
                  <a:srgbClr val="008000"/>
                </a:solidFill>
                <a:effectLst>
                  <a:outerShdw blurRad="38100" dist="38100" dir="2700000" algn="tl">
                    <a:srgbClr val="C0C0C0"/>
                  </a:outerShdw>
                </a:effectLst>
                <a:latin typeface="Arial" charset="0"/>
              </a:rPr>
              <a:t>使用并且修改开源代码的程序必须公开源代码</a:t>
            </a:r>
            <a:endParaRPr lang="en-US" altLang="zh-CN" sz="2400" b="1" dirty="0">
              <a:solidFill>
                <a:srgbClr val="008000"/>
              </a:solidFill>
              <a:effectLst>
                <a:outerShdw blurRad="38100" dist="38100" dir="2700000" algn="tl">
                  <a:srgbClr val="C0C0C0"/>
                </a:outerShdw>
              </a:effectLst>
              <a:latin typeface="Arial" charset="0"/>
            </a:endParaRPr>
          </a:p>
          <a:p>
            <a:pPr eaLnBrk="1" hangingPunct="1">
              <a:lnSpc>
                <a:spcPct val="125000"/>
              </a:lnSpc>
              <a:spcBef>
                <a:spcPts val="3000"/>
              </a:spcBef>
              <a:buClr>
                <a:schemeClr val="accent1"/>
              </a:buClr>
              <a:buSzPct val="65000"/>
              <a:defRPr/>
            </a:pPr>
            <a:r>
              <a:rPr lang="en-US" altLang="zh-CN" sz="2400" b="1" dirty="0">
                <a:effectLst>
                  <a:outerShdw blurRad="38100" dist="38100" dir="2700000" algn="tl">
                    <a:srgbClr val="C0C0C0"/>
                  </a:outerShdw>
                </a:effectLst>
                <a:latin typeface="Times New Roman" pitchFamily="18" charset="0"/>
              </a:rPr>
              <a:t>        </a:t>
            </a:r>
            <a:r>
              <a:rPr lang="zh-CN" altLang="en-US" sz="2400" b="1" dirty="0">
                <a:effectLst>
                  <a:outerShdw blurRad="38100" dist="38100" dir="2700000" algn="tl">
                    <a:srgbClr val="C0C0C0"/>
                  </a:outerShdw>
                </a:effectLst>
                <a:latin typeface="Times New Roman" pitchFamily="18" charset="0"/>
              </a:rPr>
              <a:t>这类开源软件许可证与上述 </a:t>
            </a:r>
            <a:r>
              <a:rPr lang="en-US" altLang="zh-CN" sz="2400" b="1" dirty="0">
                <a:effectLst>
                  <a:outerShdw blurRad="38100" dist="38100" dir="2700000" algn="tl">
                    <a:srgbClr val="C0C0C0"/>
                  </a:outerShdw>
                </a:effectLst>
                <a:latin typeface="Times New Roman" pitchFamily="18" charset="0"/>
              </a:rPr>
              <a:t>GPL </a:t>
            </a:r>
            <a:r>
              <a:rPr lang="zh-CN" altLang="en-US" sz="2400" b="1" dirty="0">
                <a:effectLst>
                  <a:outerShdw blurRad="38100" dist="38100" dir="2700000" algn="tl">
                    <a:srgbClr val="C0C0C0"/>
                  </a:outerShdw>
                </a:effectLst>
                <a:latin typeface="Times New Roman" pitchFamily="18" charset="0"/>
              </a:rPr>
              <a:t>开源软件许可证相比较为宽松，规定使用并且修改了该开源代码的程序在再发布时，必须将其源代码以相同的许可证公开，但新增代码不需要采用同样的许可证发布。</a:t>
            </a:r>
            <a:endParaRPr lang="en-US" altLang="zh-CN" sz="2400" b="1" dirty="0">
              <a:solidFill>
                <a:srgbClr val="008000"/>
              </a:solidFill>
              <a:effectLst>
                <a:outerShdw blurRad="38100" dist="38100" dir="2700000" algn="tl">
                  <a:srgbClr val="C0C0C0"/>
                </a:outerShdw>
              </a:effectLst>
              <a:latin typeface="Arial" charset="0"/>
            </a:endParaRPr>
          </a:p>
          <a:p>
            <a:pPr>
              <a:spcBef>
                <a:spcPts val="3000"/>
              </a:spcBef>
              <a:defRPr/>
            </a:pPr>
            <a:r>
              <a:rPr lang="en-US" altLang="zh-CN" sz="2400" b="1" dirty="0">
                <a:solidFill>
                  <a:schemeClr val="accent1">
                    <a:lumMod val="50000"/>
                  </a:schemeClr>
                </a:solidFill>
                <a:effectLst>
                  <a:outerShdw blurRad="38100" dist="38100" dir="2700000" algn="tl">
                    <a:srgbClr val="C0C0C0"/>
                  </a:outerShdw>
                </a:effectLst>
                <a:latin typeface="Arial" charset="0"/>
              </a:rPr>
              <a:t>LGPL</a:t>
            </a:r>
            <a:r>
              <a:rPr lang="zh-CN" altLang="en-US" sz="2400" b="1" dirty="0">
                <a:solidFill>
                  <a:schemeClr val="accent1">
                    <a:lumMod val="50000"/>
                  </a:schemeClr>
                </a:solidFill>
                <a:effectLst>
                  <a:outerShdw blurRad="38100" dist="38100" dir="2700000" algn="tl">
                    <a:srgbClr val="C0C0C0"/>
                  </a:outerShdw>
                </a:effectLst>
                <a:latin typeface="Arial" charset="0"/>
              </a:rPr>
              <a:t>许可证：</a:t>
            </a:r>
            <a:r>
              <a:rPr lang="en-US" altLang="zh-CN" sz="2400" b="1" dirty="0">
                <a:effectLst>
                  <a:outerShdw blurRad="38100" dist="38100" dir="2700000" algn="tl">
                    <a:srgbClr val="C0C0C0"/>
                  </a:outerShdw>
                </a:effectLst>
                <a:latin typeface="Times New Roman" pitchFamily="18" charset="0"/>
              </a:rPr>
              <a:t>Lesser General Public License</a:t>
            </a:r>
            <a:endParaRPr lang="zh-CN" altLang="en-US" sz="2400" b="1" dirty="0">
              <a:effectLst>
                <a:outerShdw blurRad="38100" dist="38100" dir="2700000" algn="tl">
                  <a:srgbClr val="C0C0C0"/>
                </a:outerShdw>
              </a:effectLst>
              <a:latin typeface="Times New Roman" pitchFamily="18" charset="0"/>
            </a:endParaRPr>
          </a:p>
        </p:txBody>
      </p:sp>
      <p:sp>
        <p:nvSpPr>
          <p:cNvPr id="20484" name="矩形 1"/>
          <p:cNvSpPr>
            <a:spLocks noChangeArrowheads="1"/>
          </p:cNvSpPr>
          <p:nvPr/>
        </p:nvSpPr>
        <p:spPr bwMode="auto">
          <a:xfrm>
            <a:off x="-3349625" y="4221163"/>
            <a:ext cx="82089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Tree>
    <p:extLst>
      <p:ext uri="{BB962C8B-B14F-4D97-AF65-F5344CB8AC3E}">
        <p14:creationId xmlns:p14="http://schemas.microsoft.com/office/powerpoint/2010/main" val="2287714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2641440-645E-437E-81A5-E064E0ECC100}" type="slidenum">
              <a:rPr lang="en-US" altLang="zh-CN" smtClean="0">
                <a:latin typeface="Garamond" panose="02020404030301010803" pitchFamily="18" charset="0"/>
              </a:rPr>
              <a:pPr/>
              <a:t>7</a:t>
            </a:fld>
            <a:endParaRPr lang="en-US" altLang="zh-CN">
              <a:latin typeface="Garamond" panose="02020404030301010803" pitchFamily="18" charset="0"/>
            </a:endParaRPr>
          </a:p>
        </p:txBody>
      </p:sp>
      <p:sp>
        <p:nvSpPr>
          <p:cNvPr id="5" name="矩形 4">
            <a:extLst>
              <a:ext uri="{FF2B5EF4-FFF2-40B4-BE49-F238E27FC236}">
                <a16:creationId xmlns:a16="http://schemas.microsoft.com/office/drawing/2014/main" id="{A617A477-E2F6-467B-A40C-4B452783E3FE}"/>
              </a:ext>
            </a:extLst>
          </p:cNvPr>
          <p:cNvSpPr/>
          <p:nvPr/>
        </p:nvSpPr>
        <p:spPr>
          <a:xfrm>
            <a:off x="395288" y="476250"/>
            <a:ext cx="8424862" cy="5276850"/>
          </a:xfrm>
          <a:prstGeom prst="rect">
            <a:avLst/>
          </a:prstGeom>
        </p:spPr>
        <p:txBody>
          <a:bodyPr>
            <a:spAutoFit/>
          </a:bodyPr>
          <a:lstStyle/>
          <a:p>
            <a:pPr eaLnBrk="1" hangingPunct="1">
              <a:lnSpc>
                <a:spcPct val="125000"/>
              </a:lnSpc>
              <a:spcBef>
                <a:spcPts val="1200"/>
              </a:spcBef>
              <a:buClr>
                <a:schemeClr val="accent1"/>
              </a:buClr>
              <a:buSzPct val="65000"/>
              <a:defRPr/>
            </a:pPr>
            <a:r>
              <a:rPr lang="en-US" altLang="zh-CN" sz="2400" b="1" dirty="0">
                <a:solidFill>
                  <a:srgbClr val="008000"/>
                </a:solidFill>
                <a:effectLst>
                  <a:outerShdw blurRad="38100" dist="38100" dir="2700000" algn="tl">
                    <a:srgbClr val="C0C0C0"/>
                  </a:outerShdw>
                </a:effectLst>
                <a:latin typeface="Arial" charset="0"/>
              </a:rPr>
              <a:t>iii&gt;</a:t>
            </a:r>
            <a:r>
              <a:rPr lang="zh-CN" altLang="en-US" sz="2400" b="1" dirty="0">
                <a:solidFill>
                  <a:srgbClr val="008000"/>
                </a:solidFill>
                <a:effectLst>
                  <a:outerShdw blurRad="38100" dist="38100" dir="2700000" algn="tl">
                    <a:srgbClr val="C0C0C0"/>
                  </a:outerShdw>
                </a:effectLst>
                <a:latin typeface="Arial" charset="0"/>
              </a:rPr>
              <a:t>使用或修改开源代码的程序不强制公开源代码</a:t>
            </a:r>
          </a:p>
          <a:p>
            <a:pPr eaLnBrk="1" hangingPunct="1">
              <a:lnSpc>
                <a:spcPct val="125000"/>
              </a:lnSpc>
              <a:spcBef>
                <a:spcPts val="1200"/>
              </a:spcBef>
              <a:buClr>
                <a:schemeClr val="accent1"/>
              </a:buClr>
              <a:buSzPct val="65000"/>
              <a:defRPr/>
            </a:pPr>
            <a:r>
              <a:rPr lang="en-US" altLang="zh-CN" sz="2400" b="1" dirty="0">
                <a:solidFill>
                  <a:srgbClr val="FF0000"/>
                </a:solidFill>
                <a:effectLst>
                  <a:outerShdw blurRad="38100" dist="38100" dir="2700000" algn="tl">
                    <a:srgbClr val="C0C0C0"/>
                  </a:outerShdw>
                </a:effectLst>
                <a:latin typeface="Arial" charset="0"/>
              </a:rPr>
              <a:t>BSD</a:t>
            </a:r>
            <a:r>
              <a:rPr lang="zh-CN" altLang="en-US" sz="2400" b="1" dirty="0">
                <a:solidFill>
                  <a:srgbClr val="FF0000"/>
                </a:solidFill>
                <a:effectLst>
                  <a:outerShdw blurRad="38100" dist="38100" dir="2700000" algn="tl">
                    <a:srgbClr val="C0C0C0"/>
                  </a:outerShdw>
                </a:effectLst>
                <a:latin typeface="Arial" charset="0"/>
              </a:rPr>
              <a:t>许可证</a:t>
            </a:r>
            <a:r>
              <a:rPr lang="zh-CN" altLang="en-US" sz="2400" b="1" dirty="0">
                <a:solidFill>
                  <a:schemeClr val="accent1">
                    <a:lumMod val="50000"/>
                  </a:schemeClr>
                </a:solidFill>
                <a:effectLst>
                  <a:outerShdw blurRad="38100" dist="38100" dir="2700000" algn="tl">
                    <a:srgbClr val="C0C0C0"/>
                  </a:outerShdw>
                </a:effectLst>
                <a:latin typeface="Arial" charset="0"/>
              </a:rPr>
              <a:t>：</a:t>
            </a:r>
            <a:r>
              <a:rPr lang="en-US" altLang="zh-CN" sz="2400" b="1" dirty="0">
                <a:effectLst>
                  <a:outerShdw blurRad="38100" dist="38100" dir="2700000" algn="tl">
                    <a:srgbClr val="C0C0C0"/>
                  </a:outerShdw>
                </a:effectLst>
                <a:latin typeface="Times New Roman" pitchFamily="18" charset="0"/>
              </a:rPr>
              <a:t>Berkeley Software Distribution license </a:t>
            </a:r>
            <a:r>
              <a:rPr lang="zh-CN" altLang="en-US" sz="2400" b="1" dirty="0">
                <a:effectLst>
                  <a:outerShdw blurRad="38100" dist="38100" dir="2700000" algn="tl">
                    <a:srgbClr val="C0C0C0"/>
                  </a:outerShdw>
                </a:effectLst>
                <a:latin typeface="Times New Roman" pitchFamily="18" charset="0"/>
              </a:rPr>
              <a:t>是自由软件中使用最广泛的许可证之一。</a:t>
            </a:r>
            <a:br>
              <a:rPr lang="zh-CN" altLang="en-US" sz="2400" b="1" dirty="0">
                <a:effectLst>
                  <a:outerShdw blurRad="38100" dist="38100" dir="2700000" algn="tl">
                    <a:srgbClr val="C0C0C0"/>
                  </a:outerShdw>
                </a:effectLst>
                <a:latin typeface="Times New Roman" pitchFamily="18" charset="0"/>
              </a:rPr>
            </a:br>
            <a:r>
              <a:rPr lang="zh-CN" altLang="en-US" sz="2400" b="1" dirty="0">
                <a:effectLst>
                  <a:outerShdw blurRad="38100" dist="38100" dir="2700000" algn="tl">
                    <a:srgbClr val="C0C0C0"/>
                  </a:outerShdw>
                </a:effectLst>
                <a:latin typeface="Times New Roman" pitchFamily="18" charset="0"/>
              </a:rPr>
              <a:t>       </a:t>
            </a:r>
            <a:r>
              <a:rPr lang="en-US" altLang="zh-CN" sz="2400" b="1" dirty="0">
                <a:effectLst>
                  <a:outerShdw blurRad="38100" dist="38100" dir="2700000" algn="tl">
                    <a:srgbClr val="C0C0C0"/>
                  </a:outerShdw>
                </a:effectLst>
                <a:latin typeface="Times New Roman" pitchFamily="18" charset="0"/>
              </a:rPr>
              <a:t>BSD</a:t>
            </a:r>
            <a:r>
              <a:rPr lang="zh-CN" altLang="en-US" sz="2400" b="1" dirty="0">
                <a:effectLst>
                  <a:outerShdw blurRad="38100" dist="38100" dir="2700000" algn="tl">
                    <a:srgbClr val="C0C0C0"/>
                  </a:outerShdw>
                </a:effectLst>
                <a:latin typeface="Times New Roman" pitchFamily="18" charset="0"/>
              </a:rPr>
              <a:t>许可证具备开源软件许可证普遍的要求，但它只要求被许可者附上该许可证的原文以及所有开发者的版权资料。通俗地说，</a:t>
            </a:r>
            <a:r>
              <a:rPr lang="en-US" altLang="zh-CN" sz="2400" b="1" dirty="0">
                <a:effectLst>
                  <a:outerShdw blurRad="38100" dist="38100" dir="2700000" algn="tl">
                    <a:srgbClr val="C0C0C0"/>
                  </a:outerShdw>
                </a:effectLst>
                <a:latin typeface="Times New Roman" pitchFamily="18" charset="0"/>
              </a:rPr>
              <a:t>BSD</a:t>
            </a:r>
            <a:r>
              <a:rPr lang="zh-CN" altLang="en-US" sz="2400" b="1" dirty="0">
                <a:effectLst>
                  <a:outerShdw blurRad="38100" dist="38100" dir="2700000" algn="tl">
                    <a:srgbClr val="C0C0C0"/>
                  </a:outerShdw>
                </a:effectLst>
                <a:latin typeface="Times New Roman" pitchFamily="18" charset="0"/>
              </a:rPr>
              <a:t>许可证看重的是“名”，在“利”方面，</a:t>
            </a:r>
            <a:r>
              <a:rPr lang="en-US" altLang="zh-CN" sz="2400" b="1" dirty="0">
                <a:effectLst>
                  <a:outerShdw blurRad="38100" dist="38100" dir="2700000" algn="tl">
                    <a:srgbClr val="C0C0C0"/>
                  </a:outerShdw>
                </a:effectLst>
                <a:latin typeface="Times New Roman" pitchFamily="18" charset="0"/>
              </a:rPr>
              <a:t>BSD</a:t>
            </a:r>
            <a:r>
              <a:rPr lang="zh-CN" altLang="en-US" sz="2400" b="1" dirty="0">
                <a:effectLst>
                  <a:outerShdw blurRad="38100" dist="38100" dir="2700000" algn="tl">
                    <a:srgbClr val="C0C0C0"/>
                  </a:outerShdw>
                </a:effectLst>
                <a:latin typeface="Times New Roman" pitchFamily="18" charset="0"/>
              </a:rPr>
              <a:t>许可证给予被许可者充分使用（包含商业使用）源代码的权利。</a:t>
            </a:r>
            <a:br>
              <a:rPr lang="zh-CN" altLang="en-US" sz="2400" b="1" dirty="0">
                <a:effectLst>
                  <a:outerShdw blurRad="38100" dist="38100" dir="2700000" algn="tl">
                    <a:srgbClr val="C0C0C0"/>
                  </a:outerShdw>
                </a:effectLst>
                <a:latin typeface="Times New Roman" pitchFamily="18" charset="0"/>
              </a:rPr>
            </a:br>
            <a:r>
              <a:rPr lang="zh-CN" altLang="en-US" sz="2400" b="1" dirty="0">
                <a:effectLst>
                  <a:outerShdw blurRad="38100" dist="38100" dir="2700000" algn="tl">
                    <a:srgbClr val="C0C0C0"/>
                  </a:outerShdw>
                </a:effectLst>
                <a:latin typeface="Times New Roman" pitchFamily="18" charset="0"/>
              </a:rPr>
              <a:t>       </a:t>
            </a:r>
            <a:r>
              <a:rPr lang="en-US" altLang="zh-CN" sz="2400" b="1" dirty="0">
                <a:effectLst>
                  <a:outerShdw blurRad="38100" dist="38100" dir="2700000" algn="tl">
                    <a:srgbClr val="C0C0C0"/>
                  </a:outerShdw>
                </a:effectLst>
                <a:latin typeface="Times New Roman" pitchFamily="18" charset="0"/>
              </a:rPr>
              <a:t>BSD</a:t>
            </a:r>
            <a:r>
              <a:rPr lang="zh-CN" altLang="en-US" sz="2400" b="1" dirty="0">
                <a:effectLst>
                  <a:outerShdw blurRad="38100" dist="38100" dir="2700000" algn="tl">
                    <a:srgbClr val="C0C0C0"/>
                  </a:outerShdw>
                </a:effectLst>
                <a:latin typeface="Times New Roman" pitchFamily="18" charset="0"/>
              </a:rPr>
              <a:t>许可证完全不会产生像</a:t>
            </a:r>
            <a:r>
              <a:rPr lang="en-US" altLang="zh-CN" sz="2400" b="1" dirty="0">
                <a:effectLst>
                  <a:outerShdw blurRad="38100" dist="38100" dir="2700000" algn="tl">
                    <a:srgbClr val="C0C0C0"/>
                  </a:outerShdw>
                </a:effectLst>
                <a:latin typeface="Times New Roman" pitchFamily="18" charset="0"/>
              </a:rPr>
              <a:t>GPL</a:t>
            </a:r>
            <a:r>
              <a:rPr lang="zh-CN" altLang="en-US" sz="2400" b="1" dirty="0">
                <a:effectLst>
                  <a:outerShdw blurRad="38100" dist="38100" dir="2700000" algn="tl">
                    <a:srgbClr val="C0C0C0"/>
                  </a:outerShdw>
                </a:effectLst>
                <a:latin typeface="Times New Roman" pitchFamily="18" charset="0"/>
              </a:rPr>
              <a:t>许可证那样的“病毒效应”，为开源软件，特别是作为学校、公共科研机构科研成果的开源软件转化为产品等充分利用敞开了大门。</a:t>
            </a:r>
          </a:p>
        </p:txBody>
      </p:sp>
    </p:spTree>
    <p:extLst>
      <p:ext uri="{BB962C8B-B14F-4D97-AF65-F5344CB8AC3E}">
        <p14:creationId xmlns:p14="http://schemas.microsoft.com/office/powerpoint/2010/main" val="2889296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366837"/>
            <a:ext cx="7776864" cy="681514"/>
          </a:xfrm>
        </p:spPr>
        <p:txBody>
          <a:bodyPr>
            <a:noAutofit/>
          </a:bodyPr>
          <a:lstStyle/>
          <a:p>
            <a:pPr marL="342900" indent="-342900" algn="ctr" eaLnBrk="1" hangingPunct="1">
              <a:lnSpc>
                <a:spcPct val="150000"/>
              </a:lnSpc>
              <a:spcBef>
                <a:spcPts val="1800"/>
              </a:spcBef>
              <a:buClr>
                <a:schemeClr val="accent1"/>
              </a:buClr>
              <a:buSzPct val="65000"/>
              <a:defRPr/>
            </a:pPr>
            <a:r>
              <a:rPr lang="zh-CN" altLang="en-US" sz="2800" b="1" kern="1200" dirty="0">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rPr>
              <a:t>第二节  </a:t>
            </a:r>
            <a:r>
              <a:rPr lang="en-US" altLang="zh-CN" sz="2800" b="1" kern="1200" dirty="0" err="1">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rPr>
              <a:t>OpenLayers</a:t>
            </a:r>
            <a:endParaRPr lang="zh-CN" altLang="en-US" sz="2800" b="1" kern="1200" dirty="0">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sp>
        <p:nvSpPr>
          <p:cNvPr id="7" name="内容占位符 6"/>
          <p:cNvSpPr>
            <a:spLocks noGrp="1"/>
          </p:cNvSpPr>
          <p:nvPr>
            <p:ph idx="1"/>
          </p:nvPr>
        </p:nvSpPr>
        <p:spPr>
          <a:xfrm>
            <a:off x="2559094" y="1484784"/>
            <a:ext cx="4025811" cy="3672408"/>
          </a:xfrm>
        </p:spPr>
        <p:txBody>
          <a:bodyPr>
            <a:noAutofit/>
          </a:bodyPr>
          <a:lstStyle/>
          <a:p>
            <a:pPr marL="0" indent="0">
              <a:lnSpc>
                <a:spcPct val="114000"/>
              </a:lnSpc>
              <a:spcBef>
                <a:spcPts val="1200"/>
              </a:spcBef>
              <a:buNone/>
            </a:pP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一、</a:t>
            </a:r>
            <a:r>
              <a:rPr lang="en-US" altLang="zh-CN" sz="2400" b="1" dirty="0" err="1">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概述</a:t>
            </a:r>
            <a:endParaRPr lang="en-US" altLang="zh-CN"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nSpc>
                <a:spcPct val="114000"/>
              </a:lnSpc>
              <a:spcBef>
                <a:spcPts val="1200"/>
              </a:spcBef>
              <a:buNone/>
            </a:pP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二、</a:t>
            </a:r>
            <a:r>
              <a:rPr lang="en-US" altLang="zh-CN" sz="2400" b="1" dirty="0" err="1">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体系结构</a:t>
            </a:r>
            <a:endParaRPr lang="en-US" altLang="zh-CN"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nSpc>
                <a:spcPct val="114000"/>
              </a:lnSpc>
              <a:spcBef>
                <a:spcPts val="1200"/>
              </a:spcBef>
              <a:buNone/>
            </a:pP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三、</a:t>
            </a:r>
            <a:r>
              <a:rPr lang="en-US" altLang="zh-CN" sz="2400" b="1" dirty="0" err="1">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工作原理</a:t>
            </a:r>
            <a:endParaRPr lang="en-US" altLang="zh-CN"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nSpc>
                <a:spcPct val="114000"/>
              </a:lnSpc>
              <a:spcBef>
                <a:spcPts val="1200"/>
              </a:spcBef>
              <a:buNone/>
            </a:pP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四、开发初步</a:t>
            </a:r>
            <a:endParaRPr lang="en-US" altLang="zh-CN"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内容占位符 6"/>
          <p:cNvSpPr txBox="1">
            <a:spLocks/>
          </p:cNvSpPr>
          <p:nvPr/>
        </p:nvSpPr>
        <p:spPr>
          <a:xfrm>
            <a:off x="5079076" y="2243535"/>
            <a:ext cx="3581033" cy="3358461"/>
          </a:xfrm>
          <a:prstGeom prst="rect">
            <a:avLst/>
          </a:prstGeom>
        </p:spPr>
        <p:txBody>
          <a:bodyPr vert="horz" lIns="0" tIns="34290" rIns="0" bIns="3429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n-US" altLang="zh-CN" sz="1500" b="1" dirty="0"/>
          </a:p>
        </p:txBody>
      </p:sp>
    </p:spTree>
    <p:extLst>
      <p:ext uri="{BB962C8B-B14F-4D97-AF65-F5344CB8AC3E}">
        <p14:creationId xmlns:p14="http://schemas.microsoft.com/office/powerpoint/2010/main" val="3005138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88640"/>
            <a:ext cx="7560840" cy="595789"/>
          </a:xfrm>
        </p:spPr>
        <p:txBody>
          <a:bodyPr/>
          <a:lstStyle/>
          <a:p>
            <a:pPr marL="342900" indent="-342900" eaLnBrk="1" hangingPunct="1">
              <a:spcBef>
                <a:spcPct val="20000"/>
              </a:spcBef>
              <a:buClr>
                <a:schemeClr val="accent1"/>
              </a:buClr>
              <a:buSzPct val="65000"/>
              <a:defRPr/>
            </a:pPr>
            <a:r>
              <a:rPr lang="zh-CN" altLang="en-US" sz="2800" b="1" kern="120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一、</a:t>
            </a:r>
            <a:r>
              <a:rPr lang="en-US" altLang="zh-CN" sz="2800" b="1" kern="1200" dirty="0" err="1">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OpenLayers</a:t>
            </a:r>
            <a:r>
              <a:rPr lang="en-US" altLang="zh-CN" sz="2800" b="1" kern="120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b="1" kern="120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概述</a:t>
            </a:r>
          </a:p>
        </p:txBody>
      </p:sp>
      <p:sp>
        <p:nvSpPr>
          <p:cNvPr id="3" name="内容占位符 2"/>
          <p:cNvSpPr>
            <a:spLocks noGrp="1"/>
          </p:cNvSpPr>
          <p:nvPr>
            <p:ph idx="1"/>
          </p:nvPr>
        </p:nvSpPr>
        <p:spPr>
          <a:xfrm>
            <a:off x="683568" y="620688"/>
            <a:ext cx="7992888" cy="5256584"/>
          </a:xfrm>
        </p:spPr>
        <p:txBody>
          <a:bodyPr>
            <a:noAutofit/>
          </a:bodyPr>
          <a:lstStyle/>
          <a:p>
            <a:pPr marL="0" indent="0">
              <a:lnSpc>
                <a:spcPct val="150000"/>
              </a:lnSpc>
              <a:spcBef>
                <a:spcPct val="0"/>
              </a:spcBef>
              <a:buClr>
                <a:srgbClr val="FF0066"/>
              </a:buClr>
              <a:buSzPct val="85000"/>
              <a:buNone/>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简介：</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25000"/>
              </a:lnSpc>
              <a:spcBef>
                <a:spcPct val="0"/>
              </a:spcBef>
              <a:buClr>
                <a:srgbClr val="FF0066"/>
              </a:buClr>
              <a:buSzPct val="85000"/>
            </a:pPr>
            <a:r>
              <a:rPr lang="en-US" altLang="zh-CN" sz="24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作为业内使用最为广泛的地图引擎之一，已被各大</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GIS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厂商和广大</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WebGIS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二次开发者采用。借助于</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强大的扩展功能，可以与各大</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WebGIS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厂商的平台产品（如</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ArcGIS Server</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MapGIS</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IGServer</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SuperMap</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iServer</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GeoServer</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等）相结合，开发出各具特色的</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WebGIS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应用系统；</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spcBef>
                <a:spcPct val="0"/>
              </a:spcBef>
              <a:buClr>
                <a:srgbClr val="FF0066"/>
              </a:buClr>
              <a:buSzPct val="85000"/>
            </a:pP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是一个专为</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Web GIS </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客户端开发提供的</a:t>
            </a:r>
            <a:r>
              <a:rPr lang="en-US" altLang="zh-CN" sz="2400" b="1" dirty="0">
                <a:solidFill>
                  <a:srgbClr val="0000F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JavaScript</a:t>
            </a:r>
            <a:r>
              <a:rPr lang="zh-CN" altLang="en-US" sz="2400" b="1" dirty="0">
                <a:solidFill>
                  <a:srgbClr val="0000F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类库包</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，通过</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BSD License</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发行；用于实现标准格式发布的地图数据访问；</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spcBef>
                <a:spcPct val="0"/>
              </a:spcBef>
              <a:buClr>
                <a:srgbClr val="FF0066"/>
              </a:buClr>
              <a:buSzPct val="85000"/>
            </a:pPr>
            <a:r>
              <a:rPr lang="zh-CN"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除了支持网页端，还支持移动端</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对话气泡: 圆角矩形 3">
            <a:extLst>
              <a:ext uri="{FF2B5EF4-FFF2-40B4-BE49-F238E27FC236}">
                <a16:creationId xmlns:a16="http://schemas.microsoft.com/office/drawing/2014/main" id="{4A86593E-E48C-4B6E-BBAE-B3F7DB015E37}"/>
              </a:ext>
            </a:extLst>
          </p:cNvPr>
          <p:cNvSpPr/>
          <p:nvPr/>
        </p:nvSpPr>
        <p:spPr bwMode="auto">
          <a:xfrm>
            <a:off x="5148064" y="450530"/>
            <a:ext cx="3960439" cy="595789"/>
          </a:xfrm>
          <a:prstGeom prst="wedgeRoundRectCallout">
            <a:avLst>
              <a:gd name="adj1" fmla="val -93820"/>
              <a:gd name="adj2" fmla="val 657638"/>
              <a:gd name="adj3" fmla="val 16667"/>
            </a:avLst>
          </a:prstGeom>
          <a:solidFill>
            <a:schemeClr val="bg1"/>
          </a:solidFill>
          <a:ln w="15875" cap="flat" cmpd="sng" algn="ctr">
            <a:solidFill>
              <a:schemeClr val="accent5">
                <a:lumMod val="50000"/>
              </a:schemeClr>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zh-CN" altLang="zh-CN" sz="2400" b="1" dirty="0">
                <a:solidFill>
                  <a:srgbClr val="C00000"/>
                </a:solidFill>
                <a:latin typeface="Times New Roman" panose="02020603050405020304" pitchFamily="18" charset="0"/>
                <a:cs typeface="Times New Roman" panose="02020603050405020304" pitchFamily="18" charset="0"/>
              </a:rPr>
              <a:t>企业级</a:t>
            </a:r>
            <a:r>
              <a:rPr lang="en-US" altLang="zh-CN" sz="2400" b="1" dirty="0" err="1">
                <a:solidFill>
                  <a:srgbClr val="C00000"/>
                </a:solidFill>
                <a:latin typeface="Times New Roman" panose="02020603050405020304" pitchFamily="18" charset="0"/>
                <a:cs typeface="Times New Roman" panose="02020603050405020304" pitchFamily="18" charset="0"/>
              </a:rPr>
              <a:t>WebGIS</a:t>
            </a:r>
            <a:r>
              <a:rPr lang="zh-CN" altLang="zh-CN" sz="2400" b="1" dirty="0">
                <a:solidFill>
                  <a:srgbClr val="C00000"/>
                </a:solidFill>
                <a:latin typeface="Times New Roman" panose="02020603050405020304" pitchFamily="18" charset="0"/>
                <a:cs typeface="Times New Roman" panose="02020603050405020304" pitchFamily="18" charset="0"/>
              </a:rPr>
              <a:t>前端渲染引擎</a:t>
            </a:r>
            <a:endParaRPr lang="zh-CN" altLang="en-US" sz="2400" b="1" dirty="0">
              <a:solidFill>
                <a:srgbClr val="C00000"/>
              </a:solidFill>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2580806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A513C12-62FE-4DEC-B547-1427374E5262}" type="slidenum">
              <a:rPr lang="en-US" altLang="zh-CN" smtClean="0">
                <a:latin typeface="Garamond" panose="02020404030301010803" pitchFamily="18" charset="0"/>
              </a:rPr>
              <a:pPr/>
              <a:t>10</a:t>
            </a:fld>
            <a:endParaRPr lang="en-US" altLang="zh-CN">
              <a:latin typeface="Garamond" panose="02020404030301010803" pitchFamily="18" charset="0"/>
            </a:endParaRPr>
          </a:p>
        </p:txBody>
      </p:sp>
      <p:sp>
        <p:nvSpPr>
          <p:cNvPr id="2" name="矩形 1"/>
          <p:cNvSpPr/>
          <p:nvPr/>
        </p:nvSpPr>
        <p:spPr>
          <a:xfrm>
            <a:off x="539552" y="1700808"/>
            <a:ext cx="8064896" cy="3108543"/>
          </a:xfrm>
          <a:prstGeom prst="rect">
            <a:avLst/>
          </a:prstGeom>
        </p:spPr>
        <p:txBody>
          <a:bodyPr wrap="square">
            <a:spAutoFit/>
          </a:bodyPr>
          <a:lstStyle/>
          <a:p>
            <a:r>
              <a:rPr lang="en-US" altLang="zh-CN" sz="2800" dirty="0" err="1">
                <a:latin typeface="Times New Roman" panose="02020603050405020304" pitchFamily="18" charset="0"/>
                <a:cs typeface="Times New Roman" panose="02020603050405020304" pitchFamily="18" charset="0"/>
              </a:rPr>
              <a:t>OpenLayers</a:t>
            </a:r>
            <a:r>
              <a:rPr lang="en-US" altLang="zh-CN" sz="2800" dirty="0">
                <a:latin typeface="Times New Roman" panose="02020603050405020304" pitchFamily="18" charset="0"/>
                <a:cs typeface="Times New Roman" panose="02020603050405020304" pitchFamily="18" charset="0"/>
              </a:rPr>
              <a:t> makes it easy to put a dynamic map in any web page. It can display map tiles, vector data and markers loaded from any source. </a:t>
            </a:r>
            <a:r>
              <a:rPr lang="en-US" altLang="zh-CN" sz="2800" dirty="0" err="1">
                <a:latin typeface="Times New Roman" panose="02020603050405020304" pitchFamily="18" charset="0"/>
                <a:cs typeface="Times New Roman" panose="02020603050405020304" pitchFamily="18" charset="0"/>
              </a:rPr>
              <a:t>OpenLayers</a:t>
            </a:r>
            <a:r>
              <a:rPr lang="en-US" altLang="zh-CN" sz="2800" dirty="0">
                <a:latin typeface="Times New Roman" panose="02020603050405020304" pitchFamily="18" charset="0"/>
                <a:cs typeface="Times New Roman" panose="02020603050405020304" pitchFamily="18" charset="0"/>
              </a:rPr>
              <a:t> has been developed to further the use of geographic information of all kinds. It is completely free, Open Source JavaScript, released under the 2-clause BSD License (also known as the FreeBSD).</a:t>
            </a:r>
            <a:endParaRPr lang="zh-CN" altLang="en-US" sz="2800" dirty="0">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0" y="-7456"/>
            <a:ext cx="9144000" cy="1340768"/>
          </a:xfrm>
          <a:prstGeom prst="rect">
            <a:avLst/>
          </a:prstGeom>
        </p:spPr>
      </p:pic>
      <p:sp>
        <p:nvSpPr>
          <p:cNvPr id="4" name="矩形 3">
            <a:extLst>
              <a:ext uri="{FF2B5EF4-FFF2-40B4-BE49-F238E27FC236}">
                <a16:creationId xmlns:a16="http://schemas.microsoft.com/office/drawing/2014/main" id="{E52413F6-BFE2-4CD1-9E16-34F358A6663A}"/>
              </a:ext>
            </a:extLst>
          </p:cNvPr>
          <p:cNvSpPr/>
          <p:nvPr/>
        </p:nvSpPr>
        <p:spPr>
          <a:xfrm>
            <a:off x="560450" y="5301958"/>
            <a:ext cx="2364750" cy="369332"/>
          </a:xfrm>
          <a:prstGeom prst="rect">
            <a:avLst/>
          </a:prstGeom>
        </p:spPr>
        <p:txBody>
          <a:bodyPr wrap="none">
            <a:spAutoFit/>
          </a:bodyPr>
          <a:lstStyle/>
          <a:p>
            <a:r>
              <a:rPr lang="en-US" altLang="zh-CN" dirty="0">
                <a:hlinkClick r:id="rId4"/>
              </a:rPr>
              <a:t>http://openLayers.org</a:t>
            </a:r>
            <a:endParaRPr lang="zh-CN" altLang="en-US" dirty="0"/>
          </a:p>
        </p:txBody>
      </p:sp>
    </p:spTree>
    <p:extLst>
      <p:ext uri="{BB962C8B-B14F-4D97-AF65-F5344CB8AC3E}">
        <p14:creationId xmlns:p14="http://schemas.microsoft.com/office/powerpoint/2010/main" val="1527973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11</a:t>
            </a:fld>
            <a:endParaRPr lang="en-US" altLang="zh-CN"/>
          </a:p>
        </p:txBody>
      </p:sp>
      <p:sp>
        <p:nvSpPr>
          <p:cNvPr id="5" name="矩形 4"/>
          <p:cNvSpPr/>
          <p:nvPr/>
        </p:nvSpPr>
        <p:spPr>
          <a:xfrm>
            <a:off x="1043608" y="620688"/>
            <a:ext cx="6336704" cy="4862870"/>
          </a:xfrm>
          <a:prstGeom prst="rect">
            <a:avLst/>
          </a:prstGeom>
        </p:spPr>
        <p:txBody>
          <a:bodyPr wrap="square">
            <a:spAutoFit/>
          </a:bodyPr>
          <a:lstStyle/>
          <a:p>
            <a:pPr marL="342900" indent="-342900" eaLnBrk="1" hangingPunct="1">
              <a:spcBef>
                <a:spcPct val="20000"/>
              </a:spcBef>
              <a:buClr>
                <a:schemeClr val="accent1"/>
              </a:buClr>
              <a:buSzPct val="65000"/>
              <a:defRPr/>
            </a:pPr>
            <a:r>
              <a:rPr lang="zh-CN" altLang="en-US" sz="2400" b="1" dirty="0">
                <a:solidFill>
                  <a:srgbClr val="0000FF"/>
                </a:solidFill>
                <a:effectLst>
                  <a:outerShdw blurRad="38100" dist="38100" dir="2700000" algn="tl">
                    <a:srgbClr val="000000">
                      <a:alpha val="43137"/>
                    </a:srgbClr>
                  </a:outerShdw>
                </a:effectLst>
              </a:rPr>
              <a:t>      </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2.OpenLayers</a:t>
            </a:r>
            <a:r>
              <a:rPr lang="zh-CN" altLang="en-US"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的特征</a:t>
            </a:r>
            <a:endPar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pPr marL="1257300" lvl="2" indent="-342900">
              <a:spcBef>
                <a:spcPts val="2400"/>
              </a:spcBef>
              <a:buClr>
                <a:srgbClr val="00CC00"/>
              </a:buClr>
              <a:buSzPct val="80000"/>
              <a:buFont typeface="Wingdings" panose="05000000000000000000" pitchFamily="2" charset="2"/>
              <a:buChar char="n"/>
            </a:pPr>
            <a:r>
              <a:rPr lang="zh-CN" altLang="en-US" sz="2400" b="1" dirty="0">
                <a:effectLst>
                  <a:outerShdw blurRad="38100" dist="38100" dir="2700000" algn="tl">
                    <a:srgbClr val="000000">
                      <a:alpha val="43137"/>
                    </a:srgbClr>
                  </a:outerShdw>
                </a:effectLst>
              </a:rPr>
              <a:t>支持瓦片图层</a:t>
            </a:r>
            <a:endParaRPr lang="en-US" altLang="zh-CN" sz="2400" b="1" dirty="0">
              <a:effectLst>
                <a:outerShdw blurRad="38100" dist="38100" dir="2700000" algn="tl">
                  <a:srgbClr val="000000">
                    <a:alpha val="43137"/>
                  </a:srgbClr>
                </a:outerShdw>
              </a:effectLst>
            </a:endParaRPr>
          </a:p>
          <a:p>
            <a:pPr marL="1257300" lvl="2" indent="-342900">
              <a:spcBef>
                <a:spcPts val="1200"/>
              </a:spcBef>
              <a:buClr>
                <a:srgbClr val="00CC00"/>
              </a:buClr>
              <a:buSzPct val="80000"/>
              <a:buFont typeface="Wingdings" panose="05000000000000000000" pitchFamily="2" charset="2"/>
              <a:buChar char="n"/>
            </a:pPr>
            <a:r>
              <a:rPr lang="zh-CN" altLang="en-US" sz="2400" b="1" dirty="0">
                <a:effectLst>
                  <a:outerShdw blurRad="38100" dist="38100" dir="2700000" algn="tl">
                    <a:srgbClr val="000000">
                      <a:alpha val="43137"/>
                    </a:srgbClr>
                  </a:outerShdw>
                </a:effectLst>
              </a:rPr>
              <a:t>支持矢量切片</a:t>
            </a:r>
            <a:endParaRPr lang="en-US" altLang="zh-CN" sz="2400" b="1" dirty="0">
              <a:effectLst>
                <a:outerShdw blurRad="38100" dist="38100" dir="2700000" algn="tl">
                  <a:srgbClr val="000000">
                    <a:alpha val="43137"/>
                  </a:srgbClr>
                </a:outerShdw>
              </a:effectLst>
            </a:endParaRPr>
          </a:p>
          <a:p>
            <a:pPr marL="1257300" lvl="2" indent="-342900">
              <a:spcBef>
                <a:spcPts val="1200"/>
              </a:spcBef>
              <a:buClr>
                <a:srgbClr val="00CC00"/>
              </a:buClr>
              <a:buSzPct val="80000"/>
              <a:buFont typeface="Wingdings" panose="05000000000000000000" pitchFamily="2" charset="2"/>
              <a:buChar char="n"/>
            </a:pPr>
            <a:r>
              <a:rPr lang="zh-CN" altLang="en-US" sz="2400" b="1" dirty="0">
                <a:effectLst>
                  <a:outerShdw blurRad="38100" dist="38100" dir="2700000" algn="tl">
                    <a:srgbClr val="000000">
                      <a:alpha val="43137"/>
                    </a:srgbClr>
                  </a:outerShdw>
                </a:effectLst>
              </a:rPr>
              <a:t>支持矢量图层    </a:t>
            </a:r>
            <a:endParaRPr lang="en-US" altLang="zh-CN" sz="2400" b="1" dirty="0">
              <a:effectLst>
                <a:outerShdw blurRad="38100" dist="38100" dir="2700000" algn="tl">
                  <a:srgbClr val="000000">
                    <a:alpha val="43137"/>
                  </a:srgbClr>
                </a:outerShdw>
              </a:effectLst>
            </a:endParaRPr>
          </a:p>
          <a:p>
            <a:pPr marL="1257300" lvl="2" indent="-342900">
              <a:spcBef>
                <a:spcPts val="1200"/>
              </a:spcBef>
              <a:buClr>
                <a:srgbClr val="00CC00"/>
              </a:buClr>
              <a:buSzPct val="80000"/>
              <a:buFont typeface="Wingdings" panose="05000000000000000000" pitchFamily="2" charset="2"/>
              <a:buChar char="n"/>
            </a:pPr>
            <a:r>
              <a:rPr lang="zh-CN" altLang="en-US" sz="2400" b="1" dirty="0">
                <a:solidFill>
                  <a:srgbClr val="FF0000"/>
                </a:solidFill>
                <a:effectLst>
                  <a:outerShdw blurRad="38100" dist="38100" dir="2700000" algn="tl">
                    <a:srgbClr val="000000">
                      <a:alpha val="43137"/>
                    </a:srgbClr>
                  </a:outerShdw>
                </a:effectLst>
              </a:rPr>
              <a:t>支持</a:t>
            </a:r>
            <a:r>
              <a:rPr lang="en-US" altLang="zh-CN" sz="2400" b="1" dirty="0">
                <a:solidFill>
                  <a:srgbClr val="FF0000"/>
                </a:solidFill>
                <a:effectLst>
                  <a:outerShdw blurRad="38100" dist="38100" dir="2700000" algn="tl">
                    <a:srgbClr val="000000">
                      <a:alpha val="43137"/>
                    </a:srgbClr>
                  </a:outerShdw>
                </a:effectLst>
              </a:rPr>
              <a:t>OGC</a:t>
            </a:r>
            <a:r>
              <a:rPr lang="zh-CN" altLang="en-US" sz="2400" b="1" dirty="0">
                <a:solidFill>
                  <a:srgbClr val="FF0000"/>
                </a:solidFill>
                <a:effectLst>
                  <a:outerShdw blurRad="38100" dist="38100" dir="2700000" algn="tl">
                    <a:srgbClr val="000000">
                      <a:alpha val="43137"/>
                    </a:srgbClr>
                  </a:outerShdw>
                </a:effectLst>
              </a:rPr>
              <a:t>规范</a:t>
            </a:r>
            <a:endParaRPr lang="en-US" altLang="zh-CN" sz="2400" b="1" dirty="0">
              <a:solidFill>
                <a:srgbClr val="FF0000"/>
              </a:solidFill>
              <a:effectLst>
                <a:outerShdw blurRad="38100" dist="38100" dir="2700000" algn="tl">
                  <a:srgbClr val="000000">
                    <a:alpha val="43137"/>
                  </a:srgbClr>
                </a:outerShdw>
              </a:effectLst>
            </a:endParaRPr>
          </a:p>
          <a:p>
            <a:pPr marL="1257300" lvl="2" indent="-342900">
              <a:spcBef>
                <a:spcPts val="1200"/>
              </a:spcBef>
              <a:buClr>
                <a:srgbClr val="00CC00"/>
              </a:buClr>
              <a:buSzPct val="80000"/>
              <a:buFont typeface="Wingdings" panose="05000000000000000000" pitchFamily="2" charset="2"/>
              <a:buChar char="n"/>
            </a:pPr>
            <a:r>
              <a:rPr lang="zh-CN" altLang="en-US" sz="2400" b="1" dirty="0">
                <a:effectLst>
                  <a:outerShdw blurRad="38100" dist="38100" dir="2700000" algn="tl">
                    <a:srgbClr val="000000">
                      <a:alpha val="43137"/>
                    </a:srgbClr>
                  </a:outerShdw>
                </a:effectLst>
              </a:rPr>
              <a:t>运用前沿技术       </a:t>
            </a:r>
            <a:endParaRPr lang="en-US" altLang="zh-CN" sz="2400" b="1" dirty="0">
              <a:effectLst>
                <a:outerShdw blurRad="38100" dist="38100" dir="2700000" algn="tl">
                  <a:srgbClr val="000000">
                    <a:alpha val="43137"/>
                  </a:srgbClr>
                </a:outerShdw>
              </a:effectLst>
            </a:endParaRPr>
          </a:p>
          <a:p>
            <a:pPr marL="1257300" lvl="2" indent="-342900">
              <a:spcBef>
                <a:spcPts val="1200"/>
              </a:spcBef>
              <a:buClr>
                <a:srgbClr val="00CC00"/>
              </a:buClr>
              <a:buSzPct val="80000"/>
              <a:buFont typeface="Wingdings" panose="05000000000000000000" pitchFamily="2" charset="2"/>
              <a:buChar char="n"/>
            </a:pPr>
            <a:r>
              <a:rPr lang="zh-CN" altLang="en-US" sz="2400" b="1" dirty="0">
                <a:solidFill>
                  <a:srgbClr val="0000FF"/>
                </a:solidFill>
                <a:effectLst>
                  <a:outerShdw blurRad="38100" dist="38100" dir="2700000" algn="tl">
                    <a:srgbClr val="000000">
                      <a:alpha val="43137"/>
                    </a:srgbClr>
                  </a:outerShdw>
                </a:effectLst>
              </a:rPr>
              <a:t>面向对象的思想</a:t>
            </a:r>
            <a:r>
              <a:rPr lang="zh-CN" altLang="en-US" sz="2400" b="1" dirty="0">
                <a:solidFill>
                  <a:srgbClr val="FF0000"/>
                </a:solidFill>
                <a:effectLst>
                  <a:outerShdw blurRad="38100" dist="38100" dir="2700000" algn="tl">
                    <a:srgbClr val="000000">
                      <a:alpha val="43137"/>
                    </a:srgbClr>
                  </a:outerShdw>
                </a:effectLst>
              </a:rPr>
              <a:t> </a:t>
            </a:r>
            <a:endParaRPr lang="en-US" altLang="zh-CN" sz="2400" b="1" dirty="0">
              <a:solidFill>
                <a:srgbClr val="FF0000"/>
              </a:solidFill>
              <a:effectLst>
                <a:outerShdw blurRad="38100" dist="38100" dir="2700000" algn="tl">
                  <a:srgbClr val="000000">
                    <a:alpha val="43137"/>
                  </a:srgbClr>
                </a:outerShdw>
              </a:effectLst>
            </a:endParaRPr>
          </a:p>
          <a:p>
            <a:pPr marL="1257300" lvl="2" indent="-342900">
              <a:spcBef>
                <a:spcPts val="1200"/>
              </a:spcBef>
              <a:buClr>
                <a:srgbClr val="00CC00"/>
              </a:buClr>
              <a:buSzPct val="80000"/>
              <a:buFont typeface="Wingdings" panose="05000000000000000000" pitchFamily="2" charset="2"/>
              <a:buChar char="n"/>
            </a:pPr>
            <a:r>
              <a:rPr lang="zh-CN" altLang="en-US" sz="2400" b="1" dirty="0">
                <a:effectLst>
                  <a:outerShdw blurRad="38100" dist="38100" dir="2700000" algn="tl">
                    <a:srgbClr val="000000">
                      <a:alpha val="43137"/>
                    </a:srgbClr>
                  </a:outerShdw>
                </a:effectLst>
              </a:rPr>
              <a:t>易于定制和扩展  </a:t>
            </a:r>
            <a:endParaRPr lang="en-US" altLang="zh-CN" sz="2400" b="1" dirty="0">
              <a:effectLst>
                <a:outerShdw blurRad="38100" dist="38100" dir="2700000" algn="tl">
                  <a:srgbClr val="000000">
                    <a:alpha val="43137"/>
                  </a:srgbClr>
                </a:outerShdw>
              </a:effectLst>
            </a:endParaRPr>
          </a:p>
          <a:p>
            <a:pPr marL="1257300" lvl="2" indent="-342900">
              <a:spcBef>
                <a:spcPts val="1200"/>
              </a:spcBef>
              <a:buClr>
                <a:srgbClr val="00CC00"/>
              </a:buClr>
              <a:buSzPct val="80000"/>
              <a:buFont typeface="Wingdings" panose="05000000000000000000" pitchFamily="2" charset="2"/>
              <a:buChar char="n"/>
            </a:pPr>
            <a:r>
              <a:rPr lang="zh-CN" altLang="en-US" sz="2400" b="1" dirty="0">
                <a:effectLst>
                  <a:outerShdw blurRad="38100" dist="38100" dir="2700000" algn="tl">
                    <a:srgbClr val="000000">
                      <a:alpha val="43137"/>
                    </a:srgbClr>
                  </a:outerShdw>
                </a:effectLst>
              </a:rPr>
              <a:t>优秀的交互体验 </a:t>
            </a:r>
          </a:p>
        </p:txBody>
      </p:sp>
    </p:spTree>
    <p:extLst>
      <p:ext uri="{BB962C8B-B14F-4D97-AF65-F5344CB8AC3E}">
        <p14:creationId xmlns:p14="http://schemas.microsoft.com/office/powerpoint/2010/main" val="4107884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223748" y="511684"/>
            <a:ext cx="7560840" cy="595789"/>
          </a:xfrm>
        </p:spPr>
        <p:txBody>
          <a:bodyPr/>
          <a:lstStyle/>
          <a:p>
            <a:r>
              <a:rPr lang="zh-CN" altLang="en-US" sz="2400" b="1" kern="1200" dirty="0">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   </a:t>
            </a:r>
            <a:r>
              <a:rPr lang="en-US" altLang="zh-CN" sz="2400" b="1" kern="1200" dirty="0">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3. </a:t>
            </a:r>
            <a:r>
              <a:rPr lang="zh-CN" altLang="en-US" sz="2400" b="1" kern="1200" dirty="0">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应用案例</a:t>
            </a:r>
          </a:p>
        </p:txBody>
      </p:sp>
      <p:pic>
        <p:nvPicPr>
          <p:cNvPr id="5" name="图片 4">
            <a:extLst>
              <a:ext uri="{FF2B5EF4-FFF2-40B4-BE49-F238E27FC236}">
                <a16:creationId xmlns:a16="http://schemas.microsoft.com/office/drawing/2014/main" id="{8A5926FF-179F-4ECE-B44A-363CD88FDA0A}"/>
              </a:ext>
            </a:extLst>
          </p:cNvPr>
          <p:cNvPicPr/>
          <p:nvPr/>
        </p:nvPicPr>
        <p:blipFill rotWithShape="1">
          <a:blip r:embed="rId3" cstate="print">
            <a:extLst>
              <a:ext uri="{28A0092B-C50C-407E-A947-70E740481C1C}">
                <a14:useLocalDpi xmlns:a14="http://schemas.microsoft.com/office/drawing/2010/main" val="0"/>
              </a:ext>
            </a:extLst>
          </a:blip>
          <a:srcRect t="9946"/>
          <a:stretch/>
        </p:blipFill>
        <p:spPr bwMode="auto">
          <a:xfrm>
            <a:off x="539552" y="1107473"/>
            <a:ext cx="5904656" cy="3836702"/>
          </a:xfrm>
          <a:prstGeom prst="rect">
            <a:avLst/>
          </a:prstGeom>
          <a:noFill/>
          <a:ln>
            <a:noFill/>
          </a:ln>
          <a:extLst>
            <a:ext uri="{53640926-AAD7-44D8-BBD7-CCE9431645EC}">
              <a14:shadowObscured xmlns:a14="http://schemas.microsoft.com/office/drawing/2010/main"/>
            </a:ext>
          </a:extLst>
        </p:spPr>
      </p:pic>
      <p:sp>
        <p:nvSpPr>
          <p:cNvPr id="2" name="矩形 1"/>
          <p:cNvSpPr/>
          <p:nvPr/>
        </p:nvSpPr>
        <p:spPr>
          <a:xfrm>
            <a:off x="6516216" y="1268760"/>
            <a:ext cx="2555776" cy="2677656"/>
          </a:xfrm>
          <a:prstGeom prst="rect">
            <a:avLst/>
          </a:prstGeom>
        </p:spPr>
        <p:txBody>
          <a:bodyPr wrap="square">
            <a:spAutoFit/>
          </a:bodyPr>
          <a:lstStyle/>
          <a:p>
            <a:pPr>
              <a:lnSpc>
                <a:spcPct val="120000"/>
              </a:lnSpc>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采用的技术</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257175" indent="-257175">
              <a:lnSpc>
                <a:spcPct val="120000"/>
              </a:lnSpc>
              <a:buFont typeface="Arial" panose="020B0604020202020204" pitchFamily="34" charset="0"/>
              <a:buChar char="•"/>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前端：</a:t>
            </a:r>
            <a:r>
              <a:rPr lang="en-US"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257175" indent="-257175">
              <a:lnSpc>
                <a:spcPct val="120000"/>
              </a:lnSpc>
              <a:buFont typeface="Arial" panose="020B0604020202020204" pitchFamily="34" charset="0"/>
              <a:buChar char="•"/>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地图服务器：</a:t>
            </a:r>
            <a:r>
              <a:rPr lang="en-US"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GeoServer</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257175" indent="-257175">
              <a:lnSpc>
                <a:spcPct val="120000"/>
              </a:lnSpc>
              <a:buFont typeface="Arial" panose="020B0604020202020204" pitchFamily="34" charset="0"/>
              <a:buChar char="•"/>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空间数据库：</a:t>
            </a:r>
            <a:r>
              <a:rPr lang="en-US"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PostGIS</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257175" indent="-257175">
              <a:lnSpc>
                <a:spcPct val="120000"/>
              </a:lnSpc>
              <a:buFont typeface="Arial" panose="020B0604020202020204" pitchFamily="34" charset="0"/>
              <a:buChar char="•"/>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影像处理：</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GDAL</a:t>
            </a:r>
          </a:p>
        </p:txBody>
      </p:sp>
    </p:spTree>
    <p:extLst>
      <p:ext uri="{BB962C8B-B14F-4D97-AF65-F5344CB8AC3E}">
        <p14:creationId xmlns:p14="http://schemas.microsoft.com/office/powerpoint/2010/main" val="297755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13</a:t>
            </a:fld>
            <a:endParaRPr lang="en-US" altLang="zh-CN"/>
          </a:p>
        </p:txBody>
      </p:sp>
      <p:sp>
        <p:nvSpPr>
          <p:cNvPr id="7" name="文本框 6">
            <a:extLst>
              <a:ext uri="{FF2B5EF4-FFF2-40B4-BE49-F238E27FC236}">
                <a16:creationId xmlns:a16="http://schemas.microsoft.com/office/drawing/2014/main" id="{A3AE573B-E7E1-4450-87DE-7CA5340FBD0D}"/>
              </a:ext>
            </a:extLst>
          </p:cNvPr>
          <p:cNvSpPr txBox="1"/>
          <p:nvPr/>
        </p:nvSpPr>
        <p:spPr>
          <a:xfrm>
            <a:off x="683568" y="620688"/>
            <a:ext cx="4392488" cy="523220"/>
          </a:xfrm>
          <a:prstGeom prst="rect">
            <a:avLst/>
          </a:prstGeom>
          <a:noFill/>
        </p:spPr>
        <p:txBody>
          <a:bodyPr wrap="square" rtlCol="0">
            <a:spAutoFit/>
          </a:bodyPr>
          <a:lstStyle/>
          <a:p>
            <a:pPr marL="342900" indent="-342900" eaLnBrk="1" hangingPunct="1">
              <a:spcBef>
                <a:spcPct val="20000"/>
              </a:spcBef>
              <a:buClr>
                <a:schemeClr val="accent1"/>
              </a:buClr>
              <a:buSzPct val="65000"/>
              <a:defRPr/>
            </a:pPr>
            <a:r>
              <a:rPr lang="zh-CN" altLang="en-US"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二、体系结构</a:t>
            </a:r>
          </a:p>
        </p:txBody>
      </p:sp>
      <p:sp>
        <p:nvSpPr>
          <p:cNvPr id="8" name="矩形 7">
            <a:extLst>
              <a:ext uri="{FF2B5EF4-FFF2-40B4-BE49-F238E27FC236}">
                <a16:creationId xmlns:a16="http://schemas.microsoft.com/office/drawing/2014/main" id="{1A6E0325-E181-46AD-BA2D-4B222D9C7FA5}"/>
              </a:ext>
            </a:extLst>
          </p:cNvPr>
          <p:cNvSpPr/>
          <p:nvPr/>
        </p:nvSpPr>
        <p:spPr>
          <a:xfrm>
            <a:off x="611560" y="1340768"/>
            <a:ext cx="8075240" cy="2236574"/>
          </a:xfrm>
          <a:prstGeom prst="rect">
            <a:avLst/>
          </a:prstGeom>
        </p:spPr>
        <p:txBody>
          <a:bodyPr wrap="square">
            <a:spAutoFit/>
          </a:bodyPr>
          <a:lstStyle/>
          <a:p>
            <a:pPr>
              <a:lnSpc>
                <a:spcPct val="150000"/>
              </a:lnSpc>
            </a:pPr>
            <a:r>
              <a:rPr lang="en-US" altLang="zh-CN" sz="2400" b="1" dirty="0">
                <a:effectLst>
                  <a:outerShdw blurRad="38100" dist="38100" dir="2700000" algn="tl">
                    <a:srgbClr val="000000">
                      <a:alpha val="43137"/>
                    </a:srgbClr>
                  </a:outerShdw>
                </a:effectLst>
              </a:rPr>
              <a:t>       </a:t>
            </a:r>
            <a:r>
              <a:rPr lang="en-US" altLang="zh-CN" sz="2400" b="1" dirty="0" err="1">
                <a:effectLst>
                  <a:outerShdw blurRad="38100" dist="38100" dir="2700000" algn="tl">
                    <a:srgbClr val="000000">
                      <a:alpha val="43137"/>
                    </a:srgbClr>
                  </a:outerShdw>
                </a:effectLst>
              </a:rPr>
              <a:t>OpenLayers</a:t>
            </a:r>
            <a:r>
              <a:rPr lang="zh-CN" altLang="en-US" sz="2400" b="1" dirty="0">
                <a:effectLst>
                  <a:outerShdw blurRad="38100" dist="38100" dir="2700000" algn="tl">
                    <a:srgbClr val="000000">
                      <a:alpha val="43137"/>
                    </a:srgbClr>
                  </a:outerShdw>
                </a:effectLst>
              </a:rPr>
              <a:t>的目的就是为了能够在客户端更好地展现和操作地图。</a:t>
            </a:r>
            <a:r>
              <a:rPr lang="en-US" altLang="zh-CN" sz="2400" b="1" dirty="0" err="1">
                <a:effectLst>
                  <a:outerShdw blurRad="38100" dist="38100" dir="2700000" algn="tl">
                    <a:srgbClr val="000000">
                      <a:alpha val="43137"/>
                    </a:srgbClr>
                  </a:outerShdw>
                </a:effectLst>
              </a:rPr>
              <a:t>OpenLayers</a:t>
            </a:r>
            <a:r>
              <a:rPr lang="en-US" altLang="zh-CN" sz="2400" b="1" dirty="0">
                <a:effectLst>
                  <a:outerShdw blurRad="38100" dist="38100" dir="2700000" algn="tl">
                    <a:srgbClr val="000000">
                      <a:alpha val="43137"/>
                    </a:srgbClr>
                  </a:outerShdw>
                </a:effectLst>
              </a:rPr>
              <a:t> </a:t>
            </a:r>
            <a:r>
              <a:rPr lang="zh-CN" altLang="en-US" sz="2400" b="1" dirty="0">
                <a:effectLst>
                  <a:outerShdw blurRad="38100" dist="38100" dir="2700000" algn="tl">
                    <a:srgbClr val="000000">
                      <a:alpha val="43137"/>
                    </a:srgbClr>
                  </a:outerShdw>
                </a:effectLst>
              </a:rPr>
              <a:t>将抽象事物具体化为类，其</a:t>
            </a:r>
            <a:r>
              <a:rPr lang="zh-CN" altLang="en-US" sz="2400" b="1" dirty="0">
                <a:solidFill>
                  <a:srgbClr val="0000FF"/>
                </a:solidFill>
                <a:effectLst>
                  <a:outerShdw blurRad="38100" dist="38100" dir="2700000" algn="tl">
                    <a:srgbClr val="000000">
                      <a:alpha val="43137"/>
                    </a:srgbClr>
                  </a:outerShdw>
                </a:effectLst>
              </a:rPr>
              <a:t>核心类是</a:t>
            </a:r>
            <a:r>
              <a:rPr lang="en-US" altLang="zh-CN" sz="2400" b="1" dirty="0">
                <a:solidFill>
                  <a:srgbClr val="FF0000"/>
                </a:solidFill>
                <a:effectLst>
                  <a:outerShdw blurRad="38100" dist="38100" dir="2700000" algn="tl">
                    <a:srgbClr val="000000">
                      <a:alpha val="43137"/>
                    </a:srgbClr>
                  </a:outerShdw>
                </a:effectLst>
              </a:rPr>
              <a:t>Map</a:t>
            </a:r>
            <a:r>
              <a:rPr lang="zh-CN" altLang="en-US" sz="2400" b="1" dirty="0">
                <a:solidFill>
                  <a:srgbClr val="FF0000"/>
                </a:solidFill>
                <a:effectLst>
                  <a:outerShdw blurRad="38100" dist="38100" dir="2700000" algn="tl">
                    <a:srgbClr val="000000">
                      <a:alpha val="43137"/>
                    </a:srgbClr>
                  </a:outerShdw>
                </a:effectLst>
              </a:rPr>
              <a:t>、</a:t>
            </a:r>
            <a:r>
              <a:rPr lang="en-US" altLang="zh-CN" sz="2400" b="1" dirty="0">
                <a:solidFill>
                  <a:srgbClr val="FF0000"/>
                </a:solidFill>
                <a:effectLst>
                  <a:outerShdw blurRad="38100" dist="38100" dir="2700000" algn="tl">
                    <a:srgbClr val="000000">
                      <a:alpha val="43137"/>
                    </a:srgbClr>
                  </a:outerShdw>
                </a:effectLst>
              </a:rPr>
              <a:t>Layer</a:t>
            </a:r>
            <a:r>
              <a:rPr lang="zh-CN" altLang="en-US" sz="2400" b="1" dirty="0">
                <a:solidFill>
                  <a:srgbClr val="FF0000"/>
                </a:solidFill>
                <a:effectLst>
                  <a:outerShdw blurRad="38100" dist="38100" dir="2700000" algn="tl">
                    <a:srgbClr val="000000">
                      <a:alpha val="43137"/>
                    </a:srgbClr>
                  </a:outerShdw>
                </a:effectLst>
              </a:rPr>
              <a:t>、</a:t>
            </a:r>
            <a:r>
              <a:rPr lang="en-US" altLang="zh-CN" sz="2400" b="1" dirty="0">
                <a:solidFill>
                  <a:srgbClr val="FF0000"/>
                </a:solidFill>
                <a:effectLst>
                  <a:outerShdw blurRad="38100" dist="38100" dir="2700000" algn="tl">
                    <a:srgbClr val="000000">
                      <a:alpha val="43137"/>
                    </a:srgbClr>
                  </a:outerShdw>
                </a:effectLst>
              </a:rPr>
              <a:t>Source</a:t>
            </a:r>
            <a:r>
              <a:rPr lang="zh-CN" altLang="en-US" sz="2400" b="1" dirty="0">
                <a:solidFill>
                  <a:srgbClr val="FF0000"/>
                </a:solidFill>
                <a:effectLst>
                  <a:outerShdw blurRad="38100" dist="38100" dir="2700000" algn="tl">
                    <a:srgbClr val="000000">
                      <a:alpha val="43137"/>
                    </a:srgbClr>
                  </a:outerShdw>
                </a:effectLst>
              </a:rPr>
              <a:t>、</a:t>
            </a:r>
            <a:r>
              <a:rPr lang="en-US" altLang="zh-CN" sz="2400" b="1" dirty="0">
                <a:solidFill>
                  <a:srgbClr val="FF0000"/>
                </a:solidFill>
                <a:effectLst>
                  <a:outerShdw blurRad="38100" dist="38100" dir="2700000" algn="tl">
                    <a:srgbClr val="000000">
                      <a:alpha val="43137"/>
                    </a:srgbClr>
                  </a:outerShdw>
                </a:effectLst>
              </a:rPr>
              <a:t>View</a:t>
            </a:r>
            <a:r>
              <a:rPr lang="zh-CN" altLang="en-US" sz="2400" b="1" dirty="0">
                <a:solidFill>
                  <a:srgbClr val="FF0000"/>
                </a:solidFill>
                <a:effectLst>
                  <a:outerShdw blurRad="38100" dist="38100" dir="2700000" algn="tl">
                    <a:srgbClr val="000000">
                      <a:alpha val="43137"/>
                    </a:srgbClr>
                  </a:outerShdw>
                </a:effectLst>
              </a:rPr>
              <a:t>。</a:t>
            </a:r>
            <a:r>
              <a:rPr lang="zh-CN" altLang="en-US" sz="2400" b="1" dirty="0">
                <a:effectLst>
                  <a:outerShdw blurRad="38100" dist="38100" dir="2700000" algn="tl">
                    <a:srgbClr val="000000">
                      <a:alpha val="43137"/>
                    </a:srgbClr>
                  </a:outerShdw>
                </a:effectLst>
              </a:rPr>
              <a:t>几乎所有的动作都围绕这些核心类展开，从而实现地图加载和相关操作。</a:t>
            </a:r>
          </a:p>
        </p:txBody>
      </p:sp>
    </p:spTree>
    <p:extLst>
      <p:ext uri="{BB962C8B-B14F-4D97-AF65-F5344CB8AC3E}">
        <p14:creationId xmlns:p14="http://schemas.microsoft.com/office/powerpoint/2010/main" val="1890329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14</a:t>
            </a:fld>
            <a:endParaRPr lang="en-US" altLang="zh-CN"/>
          </a:p>
        </p:txBody>
      </p:sp>
      <p:sp>
        <p:nvSpPr>
          <p:cNvPr id="6" name="文本框 5"/>
          <p:cNvSpPr txBox="1"/>
          <p:nvPr/>
        </p:nvSpPr>
        <p:spPr>
          <a:xfrm>
            <a:off x="2771800" y="5793431"/>
            <a:ext cx="4680520" cy="400110"/>
          </a:xfrm>
          <a:prstGeom prst="rect">
            <a:avLst/>
          </a:prstGeom>
          <a:noFill/>
        </p:spPr>
        <p:txBody>
          <a:bodyPr wrap="square" rtlCol="0">
            <a:spAutoFit/>
          </a:bodyPr>
          <a:lstStyle/>
          <a:p>
            <a:r>
              <a:rPr lang="zh-CN" altLang="en-US" sz="2000" b="1" dirty="0">
                <a:solidFill>
                  <a:srgbClr val="0066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图 </a:t>
            </a:r>
            <a:r>
              <a:rPr lang="en-US" altLang="zh-CN" sz="2000" b="1" dirty="0" err="1">
                <a:solidFill>
                  <a:srgbClr val="0066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OpenLayers</a:t>
            </a:r>
            <a:r>
              <a:rPr lang="en-US" altLang="zh-CN" sz="2000" b="1" dirty="0">
                <a:solidFill>
                  <a:srgbClr val="0066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5 </a:t>
            </a:r>
            <a:r>
              <a:rPr lang="zh-CN" altLang="en-US" sz="2000" b="1" dirty="0">
                <a:solidFill>
                  <a:srgbClr val="0066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体系结构框架</a:t>
            </a:r>
          </a:p>
        </p:txBody>
      </p:sp>
      <p:pic>
        <p:nvPicPr>
          <p:cNvPr id="2" name="图片 1"/>
          <p:cNvPicPr>
            <a:picLocks noChangeAspect="1"/>
          </p:cNvPicPr>
          <p:nvPr/>
        </p:nvPicPr>
        <p:blipFill>
          <a:blip r:embed="rId3"/>
          <a:stretch>
            <a:fillRect/>
          </a:stretch>
        </p:blipFill>
        <p:spPr>
          <a:xfrm>
            <a:off x="1115616" y="341045"/>
            <a:ext cx="7128792" cy="5486945"/>
          </a:xfrm>
          <a:prstGeom prst="rect">
            <a:avLst/>
          </a:prstGeom>
        </p:spPr>
      </p:pic>
    </p:spTree>
    <p:extLst>
      <p:ext uri="{BB962C8B-B14F-4D97-AF65-F5344CB8AC3E}">
        <p14:creationId xmlns:p14="http://schemas.microsoft.com/office/powerpoint/2010/main" val="1856824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15</a:t>
            </a:fld>
            <a:endParaRPr lang="en-US" altLang="zh-CN"/>
          </a:p>
        </p:txBody>
      </p:sp>
      <p:sp>
        <p:nvSpPr>
          <p:cNvPr id="2" name="矩形 1">
            <a:extLst>
              <a:ext uri="{FF2B5EF4-FFF2-40B4-BE49-F238E27FC236}">
                <a16:creationId xmlns:a16="http://schemas.microsoft.com/office/drawing/2014/main" id="{EF23B44F-E0DA-4F2A-B6AA-8AEFB3DE9DF9}"/>
              </a:ext>
            </a:extLst>
          </p:cNvPr>
          <p:cNvSpPr/>
          <p:nvPr/>
        </p:nvSpPr>
        <p:spPr>
          <a:xfrm>
            <a:off x="683568" y="476672"/>
            <a:ext cx="4032448" cy="654988"/>
          </a:xfrm>
          <a:prstGeom prst="rect">
            <a:avLst/>
          </a:prstGeom>
        </p:spPr>
        <p:txBody>
          <a:bodyPr wrap="square">
            <a:spAutoFit/>
          </a:bodyPr>
          <a:lstStyle/>
          <a:p>
            <a:pPr>
              <a:lnSpc>
                <a:spcPct val="150000"/>
              </a:lnSpc>
              <a:spcBef>
                <a:spcPts val="1200"/>
              </a:spcBef>
              <a:buClr>
                <a:schemeClr val="accent1"/>
              </a:buClr>
              <a:buSzPct val="65000"/>
              <a:defRPr/>
            </a:pPr>
            <a:r>
              <a:rPr lang="zh-CN" altLang="en-US" sz="2800" b="1" dirty="0">
                <a:effectLst>
                  <a:outerShdw blurRad="38100" dist="38100" dir="2700000" algn="tl">
                    <a:srgbClr val="000000">
                      <a:alpha val="43137"/>
                    </a:srgbClr>
                  </a:outerShdw>
                </a:effectLst>
              </a:rPr>
              <a:t>三、工作原理</a:t>
            </a:r>
          </a:p>
        </p:txBody>
      </p:sp>
      <p:sp>
        <p:nvSpPr>
          <p:cNvPr id="5" name="矩形 4">
            <a:extLst>
              <a:ext uri="{FF2B5EF4-FFF2-40B4-BE49-F238E27FC236}">
                <a16:creationId xmlns:a16="http://schemas.microsoft.com/office/drawing/2014/main" id="{46438EC3-024D-441D-85FE-FB431396D687}"/>
              </a:ext>
            </a:extLst>
          </p:cNvPr>
          <p:cNvSpPr/>
          <p:nvPr/>
        </p:nvSpPr>
        <p:spPr>
          <a:xfrm>
            <a:off x="971600" y="1268760"/>
            <a:ext cx="7776864" cy="2698239"/>
          </a:xfrm>
          <a:prstGeom prst="rect">
            <a:avLst/>
          </a:prstGeom>
        </p:spPr>
        <p:txBody>
          <a:bodyPr wrap="square">
            <a:spAutoFit/>
          </a:bodyPr>
          <a:lstStyle/>
          <a:p>
            <a:pPr lvl="0">
              <a:lnSpc>
                <a:spcPct val="150000"/>
              </a:lnSpc>
              <a:spcBef>
                <a:spcPts val="1200"/>
              </a:spcBef>
              <a:defRPr/>
            </a:pPr>
            <a:r>
              <a:rPr lang="zh-CN" altLang="en-US" sz="2400" b="1" dirty="0">
                <a:effectLst>
                  <a:outerShdw blurRad="38100" dist="38100" dir="2700000" algn="tl">
                    <a:srgbClr val="000000">
                      <a:alpha val="43137"/>
                    </a:srgbClr>
                  </a:outerShdw>
                </a:effectLst>
              </a:rPr>
              <a:t>针对复杂的空间数据：</a:t>
            </a:r>
            <a:endParaRPr lang="en-US" altLang="zh-CN" sz="2400" b="1" dirty="0">
              <a:effectLst>
                <a:outerShdw blurRad="38100" dist="38100" dir="2700000" algn="tl">
                  <a:srgbClr val="000000">
                    <a:alpha val="43137"/>
                  </a:srgbClr>
                </a:outerShdw>
              </a:effectLst>
            </a:endParaRPr>
          </a:p>
          <a:p>
            <a:pPr marL="285750" lvl="0" indent="-285750">
              <a:lnSpc>
                <a:spcPct val="150000"/>
              </a:lnSpc>
              <a:spcBef>
                <a:spcPts val="1200"/>
              </a:spcBef>
              <a:buClr>
                <a:srgbClr val="CC0066"/>
              </a:buClr>
              <a:buFont typeface="Wingdings" panose="05000000000000000000" pitchFamily="2" charset="2"/>
              <a:buChar char="l"/>
              <a:defRPr/>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zh-CN" altLang="en-US" sz="2400" b="1" dirty="0">
                <a:effectLst>
                  <a:outerShdw blurRad="38100" dist="38100" dir="2700000" algn="tl">
                    <a:srgbClr val="000000">
                      <a:alpha val="43137"/>
                    </a:srgbClr>
                  </a:outerShdw>
                </a:effectLst>
              </a:rPr>
              <a:t>如何将这些空间数据抽象为类？</a:t>
            </a:r>
            <a:endParaRPr lang="en-US" altLang="zh-CN" sz="2400" b="1" dirty="0">
              <a:effectLst>
                <a:outerShdw blurRad="38100" dist="38100" dir="2700000" algn="tl">
                  <a:srgbClr val="000000">
                    <a:alpha val="43137"/>
                  </a:srgbClr>
                </a:outerShdw>
              </a:effectLst>
            </a:endParaRPr>
          </a:p>
          <a:p>
            <a:pPr marL="285750" lvl="0" indent="-285750">
              <a:lnSpc>
                <a:spcPct val="150000"/>
              </a:lnSpc>
              <a:spcBef>
                <a:spcPts val="1200"/>
              </a:spcBef>
              <a:buClr>
                <a:srgbClr val="CC0066"/>
              </a:buClr>
              <a:buFont typeface="Wingdings" panose="05000000000000000000" pitchFamily="2" charset="2"/>
              <a:buChar char="l"/>
              <a:defRPr/>
            </a:pPr>
            <a:r>
              <a:rPr lang="zh-CN" altLang="en-US" sz="2400" b="1" dirty="0">
                <a:effectLst>
                  <a:outerShdw blurRad="38100" dist="38100" dir="2700000" algn="tl">
                    <a:srgbClr val="000000">
                      <a:alpha val="43137"/>
                    </a:srgbClr>
                  </a:outerShdw>
                </a:effectLst>
              </a:rPr>
              <a:t> 如何解析各种空间数据源？</a:t>
            </a:r>
            <a:endParaRPr lang="en-US" altLang="zh-CN" sz="2400" b="1" dirty="0">
              <a:effectLst>
                <a:outerShdw blurRad="38100" dist="38100" dir="2700000" algn="tl">
                  <a:srgbClr val="000000">
                    <a:alpha val="43137"/>
                  </a:srgbClr>
                </a:outerShdw>
              </a:effectLst>
            </a:endParaRPr>
          </a:p>
          <a:p>
            <a:pPr marL="285750" lvl="0" indent="-285750">
              <a:lnSpc>
                <a:spcPct val="150000"/>
              </a:lnSpc>
              <a:spcBef>
                <a:spcPts val="1200"/>
              </a:spcBef>
              <a:buClr>
                <a:srgbClr val="CC0066"/>
              </a:buClr>
              <a:buFont typeface="Wingdings" panose="05000000000000000000" pitchFamily="2" charset="2"/>
              <a:buChar char="l"/>
              <a:defRPr/>
            </a:pPr>
            <a:r>
              <a:rPr lang="zh-CN" altLang="en-US" sz="2400" b="1" dirty="0">
                <a:effectLst>
                  <a:outerShdw blurRad="38100" dist="38100" dir="2700000" algn="tl">
                    <a:srgbClr val="000000">
                      <a:alpha val="43137"/>
                    </a:srgbClr>
                  </a:outerShdw>
                </a:effectLst>
              </a:rPr>
              <a:t> 又是如何渲染并在客户端展示？</a:t>
            </a:r>
          </a:p>
        </p:txBody>
      </p:sp>
    </p:spTree>
    <p:extLst>
      <p:ext uri="{BB962C8B-B14F-4D97-AF65-F5344CB8AC3E}">
        <p14:creationId xmlns:p14="http://schemas.microsoft.com/office/powerpoint/2010/main" val="2085927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16</a:t>
            </a:fld>
            <a:endParaRPr lang="en-US" altLang="zh-CN"/>
          </a:p>
        </p:txBody>
      </p:sp>
      <p:sp>
        <p:nvSpPr>
          <p:cNvPr id="5" name="标题 1"/>
          <p:cNvSpPr>
            <a:spLocks noGrp="1"/>
          </p:cNvSpPr>
          <p:nvPr>
            <p:ph type="title"/>
          </p:nvPr>
        </p:nvSpPr>
        <p:spPr>
          <a:xfrm>
            <a:off x="683568" y="1337302"/>
            <a:ext cx="8229600" cy="629139"/>
          </a:xfrm>
        </p:spPr>
        <p:txBody>
          <a:bodyPr/>
          <a:lstStyle/>
          <a:p>
            <a:pPr marL="342900" indent="-342900" eaLnBrk="1" hangingPunct="1">
              <a:spcBef>
                <a:spcPct val="20000"/>
              </a:spcBef>
              <a:buClr>
                <a:schemeClr val="accent1"/>
              </a:buClr>
              <a:buSzPct val="65000"/>
              <a:defRPr/>
            </a:pPr>
            <a:r>
              <a:rPr lang="zh-CN" altLang="en-US" sz="2800" b="1" kern="1200" dirty="0">
                <a:solidFill>
                  <a:srgbClr val="0066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a:t>
            </a:r>
            <a:r>
              <a:rPr lang="en-US" altLang="zh-CN" sz="2800" b="1" kern="1200" dirty="0">
                <a:solidFill>
                  <a:srgbClr val="0066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1</a:t>
            </a:r>
            <a:r>
              <a:rPr lang="zh-CN" altLang="en-US" sz="2800" b="1" kern="1200" dirty="0">
                <a:solidFill>
                  <a:srgbClr val="0066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a:t>
            </a:r>
            <a:r>
              <a:rPr lang="en-US" altLang="zh-CN" sz="2800" b="1" kern="1200" dirty="0" err="1">
                <a:solidFill>
                  <a:srgbClr val="0066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OpenLayers</a:t>
            </a:r>
            <a:r>
              <a:rPr lang="en-US" altLang="zh-CN" sz="2800" b="1" kern="1200" dirty="0">
                <a:solidFill>
                  <a:srgbClr val="0066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 5</a:t>
            </a:r>
            <a:r>
              <a:rPr lang="zh-CN" altLang="en-US" sz="2800" b="1" kern="1200" dirty="0">
                <a:solidFill>
                  <a:srgbClr val="0066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的数据源</a:t>
            </a:r>
          </a:p>
        </p:txBody>
      </p:sp>
      <p:sp>
        <p:nvSpPr>
          <p:cNvPr id="2" name="矩形 1">
            <a:extLst>
              <a:ext uri="{FF2B5EF4-FFF2-40B4-BE49-F238E27FC236}">
                <a16:creationId xmlns:a16="http://schemas.microsoft.com/office/drawing/2014/main" id="{AF3F23A1-6116-4E89-998F-FA66E39BF7E0}"/>
              </a:ext>
            </a:extLst>
          </p:cNvPr>
          <p:cNvSpPr/>
          <p:nvPr/>
        </p:nvSpPr>
        <p:spPr>
          <a:xfrm>
            <a:off x="822412" y="2276872"/>
            <a:ext cx="7499176" cy="2238241"/>
          </a:xfrm>
          <a:prstGeom prst="rect">
            <a:avLst/>
          </a:prstGeom>
        </p:spPr>
        <p:txBody>
          <a:bodyPr wrap="square">
            <a:spAutoFit/>
          </a:bodyPr>
          <a:lstStyle/>
          <a:p>
            <a:pPr>
              <a:lnSpc>
                <a:spcPct val="150000"/>
              </a:lnSpc>
              <a:spcBef>
                <a:spcPts val="1200"/>
              </a:spcBef>
              <a:defRPr/>
            </a:pPr>
            <a:r>
              <a:rPr lang="zh-CN" altLang="en-US" sz="2400" dirty="0">
                <a:latin typeface="Times New Roman" panose="02020603050405020304" pitchFamily="18" charset="0"/>
                <a:ea typeface="+mn-ea"/>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地图数据根据数据源</a:t>
            </a:r>
            <a:r>
              <a:rPr lang="en-US" altLang="zh-CN"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(Source)</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可分为</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Image</a:t>
            </a: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en-US" altLang="zh-CN" sz="2400" b="1" dirty="0">
                <a:solidFill>
                  <a:srgbClr val="0000FF"/>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Tile</a:t>
            </a: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en-US" altLang="zh-CN" sz="2400" b="1" dirty="0">
                <a:solidFill>
                  <a:srgbClr val="0066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Vector</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三大类</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，对应设置到</a:t>
            </a:r>
            <a:r>
              <a:rPr lang="en-US" altLang="zh-CN"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Image</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Tile</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Vector</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三大类图层</a:t>
            </a:r>
            <a:r>
              <a:rPr lang="en-US" altLang="zh-CN"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(Layer)</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中。其中，</a:t>
            </a:r>
            <a:r>
              <a:rPr lang="zh-CN" altLang="en-US" sz="2400" b="1" u="sng"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矢量图层</a:t>
            </a:r>
            <a:r>
              <a:rPr lang="en-US" altLang="zh-CN" sz="2400" b="1" u="sng"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Vector</a:t>
            </a:r>
            <a:r>
              <a:rPr lang="zh-CN" alt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通过样式</a:t>
            </a:r>
            <a:r>
              <a:rPr lang="en-US" altLang="zh-CN" sz="2400" b="1" u="sng"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(Style)</a:t>
            </a:r>
            <a:r>
              <a:rPr lang="zh-CN" altLang="en-US" sz="2400" b="1" u="sng"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来设置矢量数据渲染的方式和外观</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p>
        </p:txBody>
      </p:sp>
      <p:sp>
        <p:nvSpPr>
          <p:cNvPr id="6" name="矩形 5">
            <a:extLst>
              <a:ext uri="{FF2B5EF4-FFF2-40B4-BE49-F238E27FC236}">
                <a16:creationId xmlns:a16="http://schemas.microsoft.com/office/drawing/2014/main" id="{F4335B0C-918D-46A3-BF30-781563D7301F}"/>
              </a:ext>
            </a:extLst>
          </p:cNvPr>
          <p:cNvSpPr/>
          <p:nvPr/>
        </p:nvSpPr>
        <p:spPr>
          <a:xfrm>
            <a:off x="467544" y="337839"/>
            <a:ext cx="4896544" cy="1305165"/>
          </a:xfrm>
          <a:prstGeom prst="rect">
            <a:avLst/>
          </a:prstGeom>
        </p:spPr>
        <p:txBody>
          <a:bodyPr wrap="square">
            <a:spAutoFit/>
          </a:bodyPr>
          <a:lstStyle/>
          <a:p>
            <a:pPr>
              <a:lnSpc>
                <a:spcPct val="150000"/>
              </a:lnSpc>
            </a:pPr>
            <a:r>
              <a:rPr lang="en-US" altLang="zh-CN" sz="2800" b="1" dirty="0">
                <a:effectLst>
                  <a:outerShdw blurRad="38100" dist="38100" dir="2700000" algn="tl">
                    <a:srgbClr val="000000">
                      <a:alpha val="43137"/>
                    </a:srgbClr>
                  </a:outerShdw>
                </a:effectLst>
              </a:rPr>
              <a:t>1.</a:t>
            </a:r>
            <a:r>
              <a:rPr lang="zh-CN" altLang="en-US" sz="2800" b="1" dirty="0">
                <a:effectLst>
                  <a:outerShdw blurRad="38100" dist="38100" dir="2700000" algn="tl">
                    <a:srgbClr val="000000">
                      <a:alpha val="43137"/>
                    </a:srgbClr>
                  </a:outerShdw>
                </a:effectLst>
              </a:rPr>
              <a:t>数据组织</a:t>
            </a:r>
            <a:endParaRPr lang="en-US" altLang="zh-CN" sz="2800" b="1" dirty="0">
              <a:effectLst>
                <a:outerShdw blurRad="38100" dist="38100" dir="2700000" algn="tl">
                  <a:srgbClr val="000000">
                    <a:alpha val="43137"/>
                  </a:srgbClr>
                </a:outerShdw>
              </a:effectLst>
            </a:endParaRPr>
          </a:p>
          <a:p>
            <a:pPr>
              <a:lnSpc>
                <a:spcPct val="150000"/>
              </a:lnSpc>
            </a:pPr>
            <a:r>
              <a:rPr lang="en-US" altLang="zh-CN" sz="2800" b="1" dirty="0">
                <a:effectLst>
                  <a:outerShdw blurRad="38100" dist="38100" dir="2700000" algn="tl">
                    <a:srgbClr val="000000">
                      <a:alpha val="43137"/>
                    </a:srgbClr>
                  </a:outerShdw>
                </a:effectLst>
              </a:rPr>
              <a:t>   </a:t>
            </a:r>
            <a:endParaRPr lang="zh-CN" altLang="en-US" sz="2800" b="1" dirty="0">
              <a:solidFill>
                <a:srgbClr val="0066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58229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17</a:t>
            </a:fld>
            <a:endParaRPr lang="en-US" altLang="zh-CN"/>
          </a:p>
        </p:txBody>
      </p:sp>
      <p:pic>
        <p:nvPicPr>
          <p:cNvPr id="3" name="图片 2"/>
          <p:cNvPicPr>
            <a:picLocks noChangeAspect="1"/>
          </p:cNvPicPr>
          <p:nvPr/>
        </p:nvPicPr>
        <p:blipFill>
          <a:blip r:embed="rId3"/>
          <a:stretch>
            <a:fillRect/>
          </a:stretch>
        </p:blipFill>
        <p:spPr>
          <a:xfrm>
            <a:off x="218285" y="692696"/>
            <a:ext cx="8917471" cy="4536504"/>
          </a:xfrm>
          <a:prstGeom prst="rect">
            <a:avLst/>
          </a:prstGeom>
        </p:spPr>
      </p:pic>
      <p:sp>
        <p:nvSpPr>
          <p:cNvPr id="5" name="矩形 4"/>
          <p:cNvSpPr/>
          <p:nvPr/>
        </p:nvSpPr>
        <p:spPr>
          <a:xfrm>
            <a:off x="2680319" y="5551753"/>
            <a:ext cx="3070071" cy="369332"/>
          </a:xfrm>
          <a:prstGeom prst="rect">
            <a:avLst/>
          </a:prstGeom>
        </p:spPr>
        <p:txBody>
          <a:bodyPr wrap="none">
            <a:spAutoFit/>
          </a:bodyPr>
          <a:lstStyle/>
          <a:p>
            <a:r>
              <a:rPr lang="zh-CN" altLang="en-US" dirty="0">
                <a:solidFill>
                  <a:srgbClr val="000000"/>
                </a:solidFill>
                <a:latin typeface="楷体" panose="02010609060101010101" pitchFamily="49" charset="-122"/>
                <a:ea typeface="楷体" panose="02010609060101010101" pitchFamily="49" charset="-122"/>
              </a:rPr>
              <a:t>图 地图图层与数据源的关系</a:t>
            </a:r>
            <a:endParaRPr lang="zh-CN" altLang="en-US"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646297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18</a:t>
            </a:fld>
            <a:endParaRPr lang="en-US" altLang="zh-CN"/>
          </a:p>
        </p:txBody>
      </p:sp>
      <p:sp>
        <p:nvSpPr>
          <p:cNvPr id="3" name="矩形 2">
            <a:extLst>
              <a:ext uri="{FF2B5EF4-FFF2-40B4-BE49-F238E27FC236}">
                <a16:creationId xmlns:a16="http://schemas.microsoft.com/office/drawing/2014/main" id="{BB558628-9FEC-49CD-B21B-1252D6AD7908}"/>
              </a:ext>
            </a:extLst>
          </p:cNvPr>
          <p:cNvSpPr/>
          <p:nvPr/>
        </p:nvSpPr>
        <p:spPr>
          <a:xfrm>
            <a:off x="539552" y="404664"/>
            <a:ext cx="8147248" cy="3617080"/>
          </a:xfrm>
          <a:prstGeom prst="rect">
            <a:avLst/>
          </a:prstGeom>
        </p:spPr>
        <p:txBody>
          <a:bodyPr wrap="square">
            <a:spAutoFit/>
          </a:bodyPr>
          <a:lstStyle/>
          <a:p>
            <a:pPr marL="342900" indent="-342900">
              <a:lnSpc>
                <a:spcPct val="110000"/>
              </a:lnSpc>
              <a:spcBef>
                <a:spcPts val="1200"/>
              </a:spcBef>
              <a:buClr>
                <a:srgbClr val="FF0066"/>
              </a:buClr>
              <a:buSzPct val="85000"/>
              <a:buFont typeface="Wingdings" panose="05000000000000000000" pitchFamily="2" charset="2"/>
              <a:buChar char="n"/>
            </a:pPr>
            <a:r>
              <a:rPr lang="en-US" altLang="zh-CN" sz="2400" b="1" dirty="0">
                <a:solidFill>
                  <a:srgbClr val="0000FF"/>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Image</a:t>
            </a: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类</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为单一图像基类，其子类作为画布</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(canvas)</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元素、服务器图片、单个静态图片、</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WMS</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单一图像等的数据源；</a:t>
            </a:r>
            <a:endPar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a:p>
            <a:pPr marL="342900" indent="-342900">
              <a:lnSpc>
                <a:spcPct val="110000"/>
              </a:lnSpc>
              <a:spcBef>
                <a:spcPts val="1200"/>
              </a:spcBef>
              <a:buClr>
                <a:srgbClr val="FF0066"/>
              </a:buClr>
              <a:buSzPct val="85000"/>
              <a:buFont typeface="Wingdings" panose="05000000000000000000" pitchFamily="2" charset="2"/>
              <a:buChar char="n"/>
            </a:pPr>
            <a:r>
              <a:rPr lang="en-US" altLang="zh-CN" sz="2400" b="1" dirty="0">
                <a:solidFill>
                  <a:srgbClr val="00800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Tile</a:t>
            </a:r>
            <a:r>
              <a:rPr lang="zh-CN" altLang="en-US" sz="2400" b="1" dirty="0">
                <a:solidFill>
                  <a:srgbClr val="00800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类</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为瓦片抽象基类，其子类作为各类瓦片数据的数据源；</a:t>
            </a:r>
            <a:endPar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a:p>
            <a:pPr marL="342900" indent="-342900">
              <a:lnSpc>
                <a:spcPct val="110000"/>
              </a:lnSpc>
              <a:spcBef>
                <a:spcPts val="1200"/>
              </a:spcBef>
              <a:buClr>
                <a:srgbClr val="FF0066"/>
              </a:buClr>
              <a:buSzPct val="85000"/>
              <a:buFont typeface="Wingdings" panose="05000000000000000000" pitchFamily="2" charset="2"/>
              <a:buChar char="n"/>
            </a:pPr>
            <a:r>
              <a:rPr lang="en-US"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Vector</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类</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则为矢量基类，可直接实例化创建矢量数据的数据源</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支持各种格式的矢量数据），其子类则为扩展的某类矢量数据的数据源；</a:t>
            </a:r>
            <a:endPar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3453584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19</a:t>
            </a:fld>
            <a:endParaRPr lang="en-US" altLang="zh-CN"/>
          </a:p>
        </p:txBody>
      </p:sp>
      <p:sp>
        <p:nvSpPr>
          <p:cNvPr id="3" name="矩形 2">
            <a:extLst>
              <a:ext uri="{FF2B5EF4-FFF2-40B4-BE49-F238E27FC236}">
                <a16:creationId xmlns:a16="http://schemas.microsoft.com/office/drawing/2014/main" id="{BB558628-9FEC-49CD-B21B-1252D6AD7908}"/>
              </a:ext>
            </a:extLst>
          </p:cNvPr>
          <p:cNvSpPr/>
          <p:nvPr/>
        </p:nvSpPr>
        <p:spPr>
          <a:xfrm>
            <a:off x="45840" y="548680"/>
            <a:ext cx="8640960" cy="4050148"/>
          </a:xfrm>
          <a:prstGeom prst="rect">
            <a:avLst/>
          </a:prstGeom>
        </p:spPr>
        <p:txBody>
          <a:bodyPr wrap="square">
            <a:spAutoFit/>
          </a:bodyPr>
          <a:lstStyle/>
          <a:p>
            <a:pPr marL="800100" lvl="1" indent="-342900">
              <a:lnSpc>
                <a:spcPct val="125000"/>
              </a:lnSpc>
              <a:spcBef>
                <a:spcPts val="1200"/>
              </a:spcBef>
              <a:buClr>
                <a:srgbClr val="00CC00"/>
              </a:buClr>
              <a:buSzPct val="80000"/>
              <a:buFont typeface="Wingdings" panose="05000000000000000000" pitchFamily="2" charset="2"/>
              <a:buChar char="Ø"/>
            </a:pP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ol.souce.Vector</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是矢量数据源基类，为矢量图层提供具体的数据来源，包括直接组织的矢量数据</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Featrues</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、远程数据源的矢量数据</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即通过 </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URL </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设置数据源路径</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等；</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800100" lvl="1" indent="-342900">
              <a:lnSpc>
                <a:spcPct val="125000"/>
              </a:lnSpc>
              <a:spcBef>
                <a:spcPts val="1200"/>
              </a:spcBef>
              <a:buClr>
                <a:srgbClr val="00CC00"/>
              </a:buClr>
              <a:buSzPct val="80000"/>
              <a:buFont typeface="Wingdings" panose="05000000000000000000" pitchFamily="2" charset="2"/>
              <a:buChar char="Ø"/>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URL</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设置的矢量数据源，则通过解析器 </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Format(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即 </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ol.format.Feature</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的子类</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来解析</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XML</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Text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JSON</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格式的各类矢量数据，如</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GML</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KML</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GPS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WFS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WKT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GeoJSON</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等地图数据。</a:t>
            </a:r>
          </a:p>
          <a:p>
            <a:pPr marL="342900" indent="-342900">
              <a:lnSpc>
                <a:spcPct val="125000"/>
              </a:lnSpc>
              <a:spcBef>
                <a:spcPts val="1200"/>
              </a:spcBef>
              <a:buClr>
                <a:srgbClr val="FF0066"/>
              </a:buClr>
              <a:buSzPct val="85000"/>
              <a:buFont typeface="Wingdings" panose="05000000000000000000" pitchFamily="2" charset="2"/>
              <a:buChar char="n"/>
            </a:pPr>
            <a:endParaRPr lang="zh-CN" altLang="en-US" sz="2400"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658334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20</a:t>
            </a:fld>
            <a:endParaRPr lang="en-US" altLang="zh-CN"/>
          </a:p>
        </p:txBody>
      </p:sp>
      <p:sp>
        <p:nvSpPr>
          <p:cNvPr id="3" name="矩形 2">
            <a:extLst>
              <a:ext uri="{FF2B5EF4-FFF2-40B4-BE49-F238E27FC236}">
                <a16:creationId xmlns:a16="http://schemas.microsoft.com/office/drawing/2014/main" id="{9B560246-36BD-412F-8854-5805DFC3E596}"/>
              </a:ext>
            </a:extLst>
          </p:cNvPr>
          <p:cNvSpPr/>
          <p:nvPr/>
        </p:nvSpPr>
        <p:spPr>
          <a:xfrm>
            <a:off x="395536" y="476672"/>
            <a:ext cx="4896544" cy="654988"/>
          </a:xfrm>
          <a:prstGeom prst="rect">
            <a:avLst/>
          </a:prstGeom>
        </p:spPr>
        <p:txBody>
          <a:bodyPr wrap="square">
            <a:spAutoFit/>
          </a:bodyPr>
          <a:lstStyle/>
          <a:p>
            <a:pPr>
              <a:lnSpc>
                <a:spcPct val="150000"/>
              </a:lnSpc>
            </a:pPr>
            <a:r>
              <a:rPr lang="zh-CN" altLang="en-US" sz="2800" b="1" dirty="0">
                <a:solidFill>
                  <a:srgbClr val="006600"/>
                </a:solidFill>
                <a:effectLst>
                  <a:outerShdw blurRad="38100" dist="38100" dir="2700000" algn="tl">
                    <a:srgbClr val="000000">
                      <a:alpha val="43137"/>
                    </a:srgbClr>
                  </a:outerShdw>
                </a:effectLst>
              </a:rPr>
              <a:t>（</a:t>
            </a:r>
            <a:r>
              <a:rPr lang="en-US" altLang="zh-CN" sz="2800" b="1" dirty="0">
                <a:solidFill>
                  <a:srgbClr val="006600"/>
                </a:solidFill>
                <a:effectLst>
                  <a:outerShdw blurRad="38100" dist="38100" dir="2700000" algn="tl">
                    <a:srgbClr val="000000">
                      <a:alpha val="43137"/>
                    </a:srgbClr>
                  </a:outerShdw>
                </a:effectLst>
              </a:rPr>
              <a:t>2</a:t>
            </a:r>
            <a:r>
              <a:rPr lang="zh-CN" altLang="en-US" sz="2800" b="1" dirty="0">
                <a:solidFill>
                  <a:srgbClr val="006600"/>
                </a:solidFill>
                <a:effectLst>
                  <a:outerShdw blurRad="38100" dist="38100" dir="2700000" algn="tl">
                    <a:srgbClr val="000000">
                      <a:alpha val="43137"/>
                    </a:srgbClr>
                  </a:outerShdw>
                </a:effectLst>
              </a:rPr>
              <a:t>）矢量数据</a:t>
            </a:r>
          </a:p>
        </p:txBody>
      </p:sp>
      <p:sp>
        <p:nvSpPr>
          <p:cNvPr id="5" name="矩形 4">
            <a:extLst>
              <a:ext uri="{FF2B5EF4-FFF2-40B4-BE49-F238E27FC236}">
                <a16:creationId xmlns:a16="http://schemas.microsoft.com/office/drawing/2014/main" id="{25E5213E-4BFC-4B12-B9F3-422FD5DD04AB}"/>
              </a:ext>
            </a:extLst>
          </p:cNvPr>
          <p:cNvSpPr/>
          <p:nvPr/>
        </p:nvSpPr>
        <p:spPr>
          <a:xfrm>
            <a:off x="484784" y="1268760"/>
            <a:ext cx="8208912" cy="2862322"/>
          </a:xfrm>
          <a:prstGeom prst="rect">
            <a:avLst/>
          </a:prstGeom>
        </p:spPr>
        <p:txBody>
          <a:bodyPr wrap="square">
            <a:spAutoFit/>
          </a:bodyPr>
          <a:lstStyle/>
          <a:p>
            <a:pPr lvl="0">
              <a:lnSpc>
                <a:spcPct val="150000"/>
              </a:lnSpc>
              <a:spcBef>
                <a:spcPct val="30000"/>
              </a:spcBef>
              <a:defRPr/>
            </a:pPr>
            <a:r>
              <a:rPr lang="zh-CN" altLang="en-US" sz="2400" b="1" dirty="0">
                <a:effectLst>
                  <a:outerShdw blurRad="38100" dist="38100" dir="2700000" algn="tl">
                    <a:srgbClr val="000000">
                      <a:alpha val="43137"/>
                    </a:srgbClr>
                  </a:outerShdw>
                </a:effectLst>
              </a:rPr>
              <a:t>       从表现形态来看，空间数据的矢量数据由点、线、面三类要素构成，将这些要素对应到 </a:t>
            </a:r>
            <a:r>
              <a:rPr lang="en-US" altLang="zh-CN" sz="2400" b="1" dirty="0">
                <a:effectLst>
                  <a:outerShdw blurRad="38100" dist="38100" dir="2700000" algn="tl">
                    <a:srgbClr val="000000">
                      <a:alpha val="43137"/>
                    </a:srgbClr>
                  </a:outerShdw>
                </a:effectLst>
              </a:rPr>
              <a:t>Web</a:t>
            </a:r>
            <a:r>
              <a:rPr lang="zh-CN" altLang="en-US" sz="2400" b="1" dirty="0">
                <a:effectLst>
                  <a:outerShdw blurRad="38100" dist="38100" dir="2700000" algn="tl">
                    <a:srgbClr val="000000">
                      <a:alpha val="43137"/>
                    </a:srgbClr>
                  </a:outerShdw>
                </a:effectLst>
              </a:rPr>
              <a:t>客户端表现时，需要抽象为相应的类，包括要素之间的关系。在</a:t>
            </a:r>
            <a:r>
              <a:rPr lang="en-US" altLang="zh-CN" sz="2400" b="1" dirty="0" err="1">
                <a:effectLst>
                  <a:outerShdw blurRad="38100" dist="38100" dir="2700000" algn="tl">
                    <a:srgbClr val="000000">
                      <a:alpha val="43137"/>
                    </a:srgbClr>
                  </a:outerShdw>
                </a:effectLst>
              </a:rPr>
              <a:t>OpenLayers</a:t>
            </a:r>
            <a:r>
              <a:rPr lang="en-US" altLang="zh-CN" sz="2400" b="1" dirty="0">
                <a:effectLst>
                  <a:outerShdw blurRad="38100" dist="38100" dir="2700000" algn="tl">
                    <a:srgbClr val="000000">
                      <a:alpha val="43137"/>
                    </a:srgbClr>
                  </a:outerShdw>
                </a:effectLst>
              </a:rPr>
              <a:t> 5</a:t>
            </a:r>
            <a:r>
              <a:rPr lang="zh-CN" altLang="en-US" sz="2400" b="1" dirty="0">
                <a:effectLst>
                  <a:outerShdw blurRad="38100" dist="38100" dir="2700000" algn="tl">
                    <a:srgbClr val="000000">
                      <a:alpha val="43137"/>
                    </a:srgbClr>
                  </a:outerShdw>
                </a:effectLst>
              </a:rPr>
              <a:t>中，</a:t>
            </a:r>
            <a:r>
              <a:rPr lang="zh-CN" altLang="en-US" sz="2400" b="1" u="sng" dirty="0">
                <a:solidFill>
                  <a:srgbClr val="0000FF"/>
                </a:solidFill>
                <a:effectLst>
                  <a:outerShdw blurRad="38100" dist="38100" dir="2700000" algn="tl">
                    <a:srgbClr val="000000">
                      <a:alpha val="43137"/>
                    </a:srgbClr>
                  </a:outerShdw>
                </a:effectLst>
              </a:rPr>
              <a:t>矢量数据的抽象主要由</a:t>
            </a:r>
            <a:r>
              <a:rPr lang="en-US" altLang="zh-CN" sz="2400" b="1" u="sng" dirty="0" err="1">
                <a:solidFill>
                  <a:srgbClr val="FF0000"/>
                </a:solidFill>
                <a:effectLst>
                  <a:outerShdw blurRad="38100" dist="38100" dir="2700000" algn="tl">
                    <a:srgbClr val="000000">
                      <a:alpha val="43137"/>
                    </a:srgbClr>
                  </a:outerShdw>
                </a:effectLst>
              </a:rPr>
              <a:t>ol.geom.Geometry</a:t>
            </a:r>
            <a:r>
              <a:rPr lang="zh-CN" altLang="en-US" sz="2400" b="1" u="sng" dirty="0">
                <a:solidFill>
                  <a:srgbClr val="0000FF"/>
                </a:solidFill>
                <a:effectLst>
                  <a:outerShdw blurRad="38100" dist="38100" dir="2700000" algn="tl">
                    <a:srgbClr val="000000">
                      <a:alpha val="43137"/>
                    </a:srgbClr>
                  </a:outerShdw>
                </a:effectLst>
              </a:rPr>
              <a:t>类下的几何对象子类实现。</a:t>
            </a:r>
          </a:p>
        </p:txBody>
      </p:sp>
    </p:spTree>
    <p:extLst>
      <p:ext uri="{BB962C8B-B14F-4D97-AF65-F5344CB8AC3E}">
        <p14:creationId xmlns:p14="http://schemas.microsoft.com/office/powerpoint/2010/main" val="19607886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21</a:t>
            </a:fld>
            <a:endParaRPr lang="en-US" altLang="zh-CN"/>
          </a:p>
        </p:txBody>
      </p:sp>
      <p:pic>
        <p:nvPicPr>
          <p:cNvPr id="3" name="图片 2"/>
          <p:cNvPicPr>
            <a:picLocks noChangeAspect="1"/>
          </p:cNvPicPr>
          <p:nvPr/>
        </p:nvPicPr>
        <p:blipFill>
          <a:blip r:embed="rId3"/>
          <a:stretch>
            <a:fillRect/>
          </a:stretch>
        </p:blipFill>
        <p:spPr>
          <a:xfrm>
            <a:off x="611560" y="1461071"/>
            <a:ext cx="7920880" cy="3348765"/>
          </a:xfrm>
          <a:prstGeom prst="rect">
            <a:avLst/>
          </a:prstGeom>
        </p:spPr>
      </p:pic>
      <p:sp>
        <p:nvSpPr>
          <p:cNvPr id="5" name="矩形 4"/>
          <p:cNvSpPr/>
          <p:nvPr/>
        </p:nvSpPr>
        <p:spPr>
          <a:xfrm>
            <a:off x="2555776" y="5081236"/>
            <a:ext cx="4416594" cy="400110"/>
          </a:xfrm>
          <a:prstGeom prst="rect">
            <a:avLst/>
          </a:prstGeom>
        </p:spPr>
        <p:txBody>
          <a:bodyPr wrap="none">
            <a:spAutoFit/>
          </a:bodyPr>
          <a:lstStyle/>
          <a:p>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图 </a:t>
            </a:r>
            <a:r>
              <a:rPr lang="en-US" altLang="zh-CN"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Geometry</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基类及其子类的继承关系</a:t>
            </a:r>
            <a:endParaRPr lang="zh-CN" altLang="en-US" sz="2000" b="1"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89A2A243-EF94-4B6F-930F-C04AAD024ACC}"/>
              </a:ext>
            </a:extLst>
          </p:cNvPr>
          <p:cNvSpPr/>
          <p:nvPr/>
        </p:nvSpPr>
        <p:spPr>
          <a:xfrm>
            <a:off x="611560" y="466396"/>
            <a:ext cx="3600400" cy="523220"/>
          </a:xfrm>
          <a:prstGeom prst="rect">
            <a:avLst/>
          </a:prstGeom>
        </p:spPr>
        <p:txBody>
          <a:bodyPr wrap="square">
            <a:spAutoFit/>
          </a:bodyPr>
          <a:lstStyle/>
          <a:p>
            <a:r>
              <a:rPr lang="en-US" altLang="zh-CN" sz="2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ol.geom.Geometry</a:t>
            </a:r>
            <a:endParaRPr lang="zh-CN"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2372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22</a:t>
            </a:fld>
            <a:endParaRPr lang="en-US" altLang="zh-CN"/>
          </a:p>
        </p:txBody>
      </p:sp>
      <p:sp>
        <p:nvSpPr>
          <p:cNvPr id="5" name="矩形 4">
            <a:extLst>
              <a:ext uri="{FF2B5EF4-FFF2-40B4-BE49-F238E27FC236}">
                <a16:creationId xmlns:a16="http://schemas.microsoft.com/office/drawing/2014/main" id="{73DC5806-58B7-49A4-9CAA-3291F0EA7C15}"/>
              </a:ext>
            </a:extLst>
          </p:cNvPr>
          <p:cNvSpPr/>
          <p:nvPr/>
        </p:nvSpPr>
        <p:spPr>
          <a:xfrm>
            <a:off x="251520" y="476672"/>
            <a:ext cx="4896544" cy="654988"/>
          </a:xfrm>
          <a:prstGeom prst="rect">
            <a:avLst/>
          </a:prstGeom>
        </p:spPr>
        <p:txBody>
          <a:bodyPr wrap="square">
            <a:spAutoFit/>
          </a:bodyPr>
          <a:lstStyle/>
          <a:p>
            <a:pPr>
              <a:lnSpc>
                <a:spcPct val="150000"/>
              </a:lnSpc>
            </a:pPr>
            <a:r>
              <a:rPr lang="en-US" altLang="zh-CN" sz="2800" b="1" dirty="0">
                <a:effectLst>
                  <a:outerShdw blurRad="38100" dist="38100" dir="2700000" algn="tl">
                    <a:srgbClr val="000000">
                      <a:alpha val="43137"/>
                    </a:srgbClr>
                  </a:outerShdw>
                </a:effectLst>
              </a:rPr>
              <a:t>   2.</a:t>
            </a:r>
            <a:r>
              <a:rPr lang="zh-CN" altLang="en-US" sz="2800" b="1" dirty="0">
                <a:effectLst>
                  <a:outerShdw blurRad="38100" dist="38100" dir="2700000" algn="tl">
                    <a:srgbClr val="000000">
                      <a:alpha val="43137"/>
                    </a:srgbClr>
                  </a:outerShdw>
                </a:effectLst>
              </a:rPr>
              <a:t>数据解析</a:t>
            </a:r>
            <a:endParaRPr lang="en-US" altLang="zh-CN" sz="2800" b="1" dirty="0">
              <a:effectLst>
                <a:outerShdw blurRad="38100" dist="38100" dir="2700000" algn="tl">
                  <a:srgbClr val="000000">
                    <a:alpha val="43137"/>
                  </a:srgbClr>
                </a:outerShdw>
              </a:effectLst>
            </a:endParaRPr>
          </a:p>
        </p:txBody>
      </p:sp>
      <p:sp>
        <p:nvSpPr>
          <p:cNvPr id="3" name="矩形 2">
            <a:extLst>
              <a:ext uri="{FF2B5EF4-FFF2-40B4-BE49-F238E27FC236}">
                <a16:creationId xmlns:a16="http://schemas.microsoft.com/office/drawing/2014/main" id="{FF5E1887-759F-4F76-A144-2E440B715AA6}"/>
              </a:ext>
            </a:extLst>
          </p:cNvPr>
          <p:cNvSpPr/>
          <p:nvPr/>
        </p:nvSpPr>
        <p:spPr>
          <a:xfrm>
            <a:off x="558482" y="1412776"/>
            <a:ext cx="8147248" cy="3631763"/>
          </a:xfrm>
          <a:prstGeom prst="rect">
            <a:avLst/>
          </a:prstGeom>
        </p:spPr>
        <p:txBody>
          <a:bodyPr wrap="square">
            <a:spAutoFit/>
          </a:bodyPr>
          <a:lstStyle/>
          <a:p>
            <a:pPr>
              <a:lnSpc>
                <a:spcPct val="125000"/>
              </a:lnSpc>
              <a:spcBef>
                <a:spcPts val="1200"/>
              </a:spcBef>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Vector</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为矢量基类，由</a:t>
            </a:r>
            <a:r>
              <a:rPr lang="en-US" altLang="zh-CN" sz="2400" b="1" dirty="0">
                <a:solidFill>
                  <a:srgbClr val="00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Format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属性设置解析数据类型，</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25000"/>
              </a:lnSpc>
              <a:spcBef>
                <a:spcPts val="1200"/>
              </a:spcBef>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即通过</a:t>
            </a:r>
            <a:r>
              <a:rPr lang="en-US" altLang="zh-CN" sz="2400" b="1" dirty="0" err="1">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ol.format.Feature</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子类进行各种格式矢量数据的解析</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25000"/>
              </a:lnSpc>
              <a:spcBef>
                <a:spcPts val="1200"/>
              </a:spcBef>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；由</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5</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API</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可知，</a:t>
            </a:r>
            <a:r>
              <a:rPr lang="en-US" altLang="zh-CN" sz="2400" b="1"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ol.format.Feature</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类用于读</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a:lnSpc>
                <a:spcPct val="125000"/>
              </a:lnSpc>
              <a:spcBef>
                <a:spcPts val="1200"/>
              </a:spcBef>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写各种格式的数据，并创建了各种格式的子类，即各类数</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25000"/>
              </a:lnSpc>
              <a:spcBef>
                <a:spcPts val="1200"/>
              </a:spcBef>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据解析器，包括</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XML</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Text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JSON</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类型的各种格式数据解</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25000"/>
              </a:lnSpc>
              <a:spcBef>
                <a:spcPts val="1200"/>
              </a:spcBef>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析器。</a:t>
            </a:r>
          </a:p>
        </p:txBody>
      </p:sp>
    </p:spTree>
    <p:extLst>
      <p:ext uri="{BB962C8B-B14F-4D97-AF65-F5344CB8AC3E}">
        <p14:creationId xmlns:p14="http://schemas.microsoft.com/office/powerpoint/2010/main" val="4227622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23</a:t>
            </a:fld>
            <a:endParaRPr lang="en-US" altLang="zh-CN"/>
          </a:p>
        </p:txBody>
      </p:sp>
      <p:sp>
        <p:nvSpPr>
          <p:cNvPr id="5" name="矩形 4">
            <a:extLst>
              <a:ext uri="{FF2B5EF4-FFF2-40B4-BE49-F238E27FC236}">
                <a16:creationId xmlns:a16="http://schemas.microsoft.com/office/drawing/2014/main" id="{73DC5806-58B7-49A4-9CAA-3291F0EA7C15}"/>
              </a:ext>
            </a:extLst>
          </p:cNvPr>
          <p:cNvSpPr/>
          <p:nvPr/>
        </p:nvSpPr>
        <p:spPr>
          <a:xfrm>
            <a:off x="251520" y="183754"/>
            <a:ext cx="4896544" cy="738664"/>
          </a:xfrm>
          <a:prstGeom prst="rect">
            <a:avLst/>
          </a:prstGeom>
        </p:spPr>
        <p:txBody>
          <a:bodyPr wrap="square">
            <a:spAutoFit/>
          </a:bodyPr>
          <a:lstStyle/>
          <a:p>
            <a:pPr>
              <a:lnSpc>
                <a:spcPct val="150000"/>
              </a:lnSpc>
            </a:pPr>
            <a:r>
              <a:rPr lang="en-US" altLang="zh-CN" sz="2800" b="1" dirty="0">
                <a:effectLst>
                  <a:outerShdw blurRad="38100" dist="38100" dir="2700000" algn="tl">
                    <a:srgbClr val="000000">
                      <a:alpha val="43137"/>
                    </a:srgbClr>
                  </a:outerShdw>
                </a:effectLst>
              </a:rPr>
              <a:t>   </a:t>
            </a:r>
            <a:r>
              <a:rPr lang="zh-CN" altLang="en-US" sz="2800" b="1" dirty="0">
                <a:effectLst>
                  <a:outerShdw blurRad="38100" dist="38100" dir="2700000" algn="tl">
                    <a:srgbClr val="000000">
                      <a:alpha val="43137"/>
                    </a:srgbClr>
                  </a:outerShdw>
                </a:effectLst>
              </a:rPr>
              <a:t>数据解析（续）：</a:t>
            </a:r>
            <a:endParaRPr lang="en-US" altLang="zh-CN" sz="2800" b="1" dirty="0">
              <a:effectLst>
                <a:outerShdw blurRad="38100" dist="38100" dir="2700000" algn="tl">
                  <a:srgbClr val="000000">
                    <a:alpha val="43137"/>
                  </a:srgbClr>
                </a:outerShdw>
              </a:effectLst>
            </a:endParaRPr>
          </a:p>
        </p:txBody>
      </p:sp>
      <p:sp>
        <p:nvSpPr>
          <p:cNvPr id="3" name="矩形 2">
            <a:extLst>
              <a:ext uri="{FF2B5EF4-FFF2-40B4-BE49-F238E27FC236}">
                <a16:creationId xmlns:a16="http://schemas.microsoft.com/office/drawing/2014/main" id="{FF5E1887-759F-4F76-A144-2E440B715AA6}"/>
              </a:ext>
            </a:extLst>
          </p:cNvPr>
          <p:cNvSpPr/>
          <p:nvPr/>
        </p:nvSpPr>
        <p:spPr>
          <a:xfrm>
            <a:off x="539552" y="980728"/>
            <a:ext cx="8250088" cy="4093428"/>
          </a:xfrm>
          <a:prstGeom prst="rect">
            <a:avLst/>
          </a:prstGeom>
        </p:spPr>
        <p:txBody>
          <a:bodyPr wrap="square">
            <a:spAutoFit/>
          </a:bodyPr>
          <a:lstStyle/>
          <a:p>
            <a:pPr>
              <a:lnSpc>
                <a:spcPct val="125000"/>
              </a:lnSpc>
              <a:spcBef>
                <a:spcPts val="1200"/>
              </a:spcBef>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以</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GML</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数据解析为例，其实现原理为：</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25000"/>
              </a:lnSpc>
              <a:spcBef>
                <a:spcPts val="1200"/>
              </a:spcBef>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先通过接口调用</a:t>
            </a:r>
            <a:r>
              <a:rPr lang="zh-CN" altLang="en-US" sz="2400" b="1" dirty="0">
                <a:solidFill>
                  <a:srgbClr val="00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得到</a:t>
            </a:r>
            <a:r>
              <a:rPr lang="en-US" altLang="zh-CN" sz="2400" b="1" dirty="0">
                <a:solidFill>
                  <a:srgbClr val="00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GML</a:t>
            </a:r>
            <a:r>
              <a:rPr lang="zh-CN" altLang="en-US" sz="2400" b="1" dirty="0">
                <a:solidFill>
                  <a:srgbClr val="00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格式的文本数据</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，然后通过</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ol.format.GML</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类的读</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写方法来</a:t>
            </a: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解析这个文本数据</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从而读取矢量要素</a:t>
            </a:r>
            <a:r>
              <a:rPr lang="en-US" altLang="zh-CN"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(Feature</a:t>
            </a: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）及其几何对象</a:t>
            </a:r>
            <a:r>
              <a:rPr lang="en-US" altLang="zh-CN"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(Geometry)</a:t>
            </a: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等</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，最后</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结合样式</a:t>
            </a:r>
            <a:r>
              <a:rPr lang="en-US"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(Style)</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并通过相应的渲染器在客户端渲染出来</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25000"/>
              </a:lnSpc>
              <a:spcBef>
                <a:spcPts val="1200"/>
              </a:spcBef>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不管是什么格式的数据，最后解析得到基本的</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Point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LineString</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子类的</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Geometry</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对象，进行客户端渲染后就是在客户端看到的地图内容。</a:t>
            </a:r>
          </a:p>
        </p:txBody>
      </p:sp>
      <p:sp>
        <p:nvSpPr>
          <p:cNvPr id="2" name="文本框 1"/>
          <p:cNvSpPr txBox="1"/>
          <p:nvPr/>
        </p:nvSpPr>
        <p:spPr>
          <a:xfrm>
            <a:off x="251520" y="3573016"/>
            <a:ext cx="8640960" cy="1512168"/>
          </a:xfrm>
          <a:prstGeom prst="rect">
            <a:avLst/>
          </a:prstGeom>
          <a:noFill/>
          <a:ln w="25400">
            <a:solidFill>
              <a:srgbClr val="FF0066"/>
            </a:solidFill>
            <a:prstDash val="dash"/>
          </a:ln>
        </p:spPr>
        <p:txBody>
          <a:bodyPr wrap="square" rtlCol="0">
            <a:spAutoFit/>
          </a:bodyPr>
          <a:lstStyle/>
          <a:p>
            <a:endParaRPr lang="zh-CN" altLang="en-US" dirty="0"/>
          </a:p>
        </p:txBody>
      </p:sp>
    </p:spTree>
    <p:extLst>
      <p:ext uri="{BB962C8B-B14F-4D97-AF65-F5344CB8AC3E}">
        <p14:creationId xmlns:p14="http://schemas.microsoft.com/office/powerpoint/2010/main" val="2731131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24</a:t>
            </a:fld>
            <a:endParaRPr lang="en-US" altLang="zh-CN"/>
          </a:p>
        </p:txBody>
      </p:sp>
      <p:sp>
        <p:nvSpPr>
          <p:cNvPr id="2" name="文本框 1">
            <a:extLst>
              <a:ext uri="{FF2B5EF4-FFF2-40B4-BE49-F238E27FC236}">
                <a16:creationId xmlns:a16="http://schemas.microsoft.com/office/drawing/2014/main" id="{75E74EB6-C7D5-489F-B6E7-13CA99D3AB2E}"/>
              </a:ext>
            </a:extLst>
          </p:cNvPr>
          <p:cNvSpPr txBox="1"/>
          <p:nvPr/>
        </p:nvSpPr>
        <p:spPr>
          <a:xfrm>
            <a:off x="611560" y="308015"/>
            <a:ext cx="4176464" cy="523220"/>
          </a:xfrm>
          <a:prstGeom prst="rect">
            <a:avLst/>
          </a:prstGeom>
          <a:noFill/>
        </p:spPr>
        <p:txBody>
          <a:bodyPr wrap="square" rtlCol="0">
            <a:spAutoFit/>
          </a:bodyPr>
          <a:lstStyle/>
          <a:p>
            <a:r>
              <a:rPr lang="en-US" altLang="zh-CN" sz="2800" b="1" dirty="0">
                <a:effectLst>
                  <a:outerShdw blurRad="38100" dist="38100" dir="2700000" algn="tl">
                    <a:srgbClr val="000000">
                      <a:alpha val="43137"/>
                    </a:srgbClr>
                  </a:outerShdw>
                </a:effectLst>
              </a:rPr>
              <a:t>3.</a:t>
            </a:r>
            <a:r>
              <a:rPr lang="zh-CN" altLang="en-US" sz="2800" b="1" dirty="0">
                <a:effectLst>
                  <a:outerShdw blurRad="38100" dist="38100" dir="2700000" algn="tl">
                    <a:srgbClr val="000000">
                      <a:alpha val="43137"/>
                    </a:srgbClr>
                  </a:outerShdw>
                </a:effectLst>
              </a:rPr>
              <a:t>地图表现</a:t>
            </a:r>
          </a:p>
        </p:txBody>
      </p:sp>
      <p:sp>
        <p:nvSpPr>
          <p:cNvPr id="3" name="矩形 2">
            <a:extLst>
              <a:ext uri="{FF2B5EF4-FFF2-40B4-BE49-F238E27FC236}">
                <a16:creationId xmlns:a16="http://schemas.microsoft.com/office/drawing/2014/main" id="{5BB5426F-D053-485F-B50B-B351F1F761C4}"/>
              </a:ext>
            </a:extLst>
          </p:cNvPr>
          <p:cNvSpPr/>
          <p:nvPr/>
        </p:nvSpPr>
        <p:spPr>
          <a:xfrm>
            <a:off x="611560" y="765215"/>
            <a:ext cx="8075240" cy="4508094"/>
          </a:xfrm>
          <a:prstGeom prst="rect">
            <a:avLst/>
          </a:prstGeom>
        </p:spPr>
        <p:txBody>
          <a:bodyPr wrap="square">
            <a:spAutoFit/>
          </a:bodyPr>
          <a:lstStyle/>
          <a:p>
            <a:pPr marL="342900" indent="-342900">
              <a:lnSpc>
                <a:spcPct val="125000"/>
              </a:lnSpc>
              <a:spcBef>
                <a:spcPts val="1200"/>
              </a:spcBef>
              <a:buClr>
                <a:srgbClr val="FF0066"/>
              </a:buClr>
              <a:buSzPct val="90000"/>
              <a:buFont typeface="Wingdings" panose="05000000000000000000" pitchFamily="2" charset="2"/>
              <a:buChar char="l"/>
            </a:pP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5</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的核心是</a:t>
            </a:r>
            <a:r>
              <a:rPr lang="en-US"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Map</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类</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solidFill>
                  <a:srgbClr val="00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Layer</a:t>
            </a:r>
            <a:r>
              <a:rPr lang="zh-CN" altLang="en-US" sz="2400" b="1" dirty="0">
                <a:solidFill>
                  <a:srgbClr val="00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类</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与</a:t>
            </a:r>
            <a:r>
              <a:rPr lang="en-US" altLang="zh-CN"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Source</a:t>
            </a: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类</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，结合</a:t>
            </a:r>
            <a:r>
              <a:rPr lang="zh-CN" altLang="en-US" sz="2400" b="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地图视图类</a:t>
            </a:r>
            <a:r>
              <a:rPr lang="en-US" altLang="zh-CN" sz="2400" b="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View</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b="1" dirty="0">
                <a:solidFill>
                  <a:schemeClr val="accent5">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矢量样式类 </a:t>
            </a:r>
            <a:r>
              <a:rPr lang="en-US" altLang="zh-CN" sz="2400" b="1" dirty="0">
                <a:solidFill>
                  <a:schemeClr val="accent5">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Style</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等渲染地图。</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Map</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类的实例就是内嵌于 </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Web</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网页的交互式地图；</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nSpc>
                <a:spcPct val="125000"/>
              </a:lnSpc>
              <a:spcBef>
                <a:spcPts val="1200"/>
              </a:spcBef>
              <a:buClr>
                <a:srgbClr val="FF0066"/>
              </a:buClr>
              <a:buSzPct val="90000"/>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地图表现：简单说就是向一个地图容器里面加载图层与控件。</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Map</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类就是地图容器。可以分门别类地按空间层次来存放内容；</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nSpc>
                <a:spcPct val="125000"/>
              </a:lnSpc>
              <a:spcBef>
                <a:spcPts val="1200"/>
              </a:spcBef>
              <a:buClr>
                <a:srgbClr val="FF0066"/>
              </a:buClr>
              <a:buSzPct val="90000"/>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在</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Web</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网页中，地图容器通过</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div</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层来表现，将</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layers(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含对应数据源</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source)</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controls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等内容加载到</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Map</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中，表现为地图。</a:t>
            </a:r>
          </a:p>
        </p:txBody>
      </p:sp>
    </p:spTree>
    <p:extLst>
      <p:ext uri="{BB962C8B-B14F-4D97-AF65-F5344CB8AC3E}">
        <p14:creationId xmlns:p14="http://schemas.microsoft.com/office/powerpoint/2010/main" val="705056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25</a:t>
            </a:fld>
            <a:endParaRPr lang="en-US" altLang="zh-CN"/>
          </a:p>
        </p:txBody>
      </p:sp>
      <p:sp>
        <p:nvSpPr>
          <p:cNvPr id="2" name="文本框 1">
            <a:extLst>
              <a:ext uri="{FF2B5EF4-FFF2-40B4-BE49-F238E27FC236}">
                <a16:creationId xmlns:a16="http://schemas.microsoft.com/office/drawing/2014/main" id="{75E74EB6-C7D5-489F-B6E7-13CA99D3AB2E}"/>
              </a:ext>
            </a:extLst>
          </p:cNvPr>
          <p:cNvSpPr txBox="1"/>
          <p:nvPr/>
        </p:nvSpPr>
        <p:spPr>
          <a:xfrm>
            <a:off x="611560" y="404664"/>
            <a:ext cx="3024336" cy="461665"/>
          </a:xfrm>
          <a:prstGeom prst="rect">
            <a:avLst/>
          </a:prstGeom>
          <a:noFill/>
        </p:spPr>
        <p:txBody>
          <a:bodyPr wrap="square" rtlCol="0">
            <a:spAutoFit/>
          </a:bodyPr>
          <a:lstStyle/>
          <a:p>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地图表现（续）</a:t>
            </a:r>
          </a:p>
        </p:txBody>
      </p:sp>
      <p:sp>
        <p:nvSpPr>
          <p:cNvPr id="3" name="矩形 2">
            <a:extLst>
              <a:ext uri="{FF2B5EF4-FFF2-40B4-BE49-F238E27FC236}">
                <a16:creationId xmlns:a16="http://schemas.microsoft.com/office/drawing/2014/main" id="{5BB5426F-D053-485F-B50B-B351F1F761C4}"/>
              </a:ext>
            </a:extLst>
          </p:cNvPr>
          <p:cNvSpPr/>
          <p:nvPr/>
        </p:nvSpPr>
        <p:spPr>
          <a:xfrm>
            <a:off x="683568" y="1124744"/>
            <a:ext cx="8136904" cy="2831544"/>
          </a:xfrm>
          <a:prstGeom prst="rect">
            <a:avLst/>
          </a:prstGeom>
        </p:spPr>
        <p:txBody>
          <a:bodyPr wrap="square">
            <a:spAutoFit/>
          </a:bodyPr>
          <a:lstStyle/>
          <a:p>
            <a:pPr marL="342900" indent="-342900">
              <a:lnSpc>
                <a:spcPct val="125000"/>
              </a:lnSpc>
              <a:spcBef>
                <a:spcPts val="1200"/>
              </a:spcBef>
              <a:buClr>
                <a:srgbClr val="FF0066"/>
              </a:buClr>
              <a:buSzPct val="90000"/>
              <a:buFont typeface="Wingdings" panose="05000000000000000000" pitchFamily="2" charset="2"/>
              <a:buChar char="l"/>
            </a:pPr>
            <a:r>
              <a:rPr lang="zh-CN" altLang="en-US" sz="24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对地图的渲染，必须由一个或多个</a:t>
            </a:r>
            <a:r>
              <a:rPr lang="zh-CN" alt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图层类（</a:t>
            </a:r>
            <a:r>
              <a:rPr lang="en-US" altLang="zh-CN"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Layers</a:t>
            </a:r>
            <a:r>
              <a:rPr lang="zh-CN" alt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一个</a:t>
            </a:r>
            <a:r>
              <a:rPr lang="zh-CN" altLang="en-US" sz="2400" b="1" u="sng" dirty="0">
                <a:solidFill>
                  <a:srgbClr val="00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地图视图类（</a:t>
            </a:r>
            <a:r>
              <a:rPr lang="en-US" altLang="zh-CN" sz="2400" b="1" u="sng" dirty="0">
                <a:solidFill>
                  <a:srgbClr val="00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View</a:t>
            </a:r>
            <a:r>
              <a:rPr lang="zh-CN" altLang="en-US" sz="2400" b="1" u="sng" dirty="0">
                <a:solidFill>
                  <a:srgbClr val="00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及一个</a:t>
            </a:r>
            <a:r>
              <a:rPr lang="zh-CN" altLang="en-US" sz="2400" b="1" u="sng"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目标容器（</a:t>
            </a:r>
            <a:r>
              <a:rPr lang="en-US" altLang="zh-CN" sz="2400" b="1" u="sng"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div</a:t>
            </a:r>
            <a:r>
              <a:rPr lang="zh-CN" altLang="en-US" sz="2400" b="1" u="sng"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）实现</a:t>
            </a:r>
            <a:r>
              <a:rPr lang="zh-CN" alt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b="1" u="sng"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地图显示必备的三要素；</a:t>
            </a:r>
            <a:endParaRPr lang="en-US"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nSpc>
                <a:spcPct val="125000"/>
              </a:lnSpc>
              <a:spcBef>
                <a:spcPts val="1200"/>
              </a:spcBef>
              <a:buClr>
                <a:srgbClr val="FF0066"/>
              </a:buClr>
              <a:buSzPct val="90000"/>
              <a:buFont typeface="Wingdings" panose="05000000000000000000" pitchFamily="2" charset="2"/>
              <a:buChar char="l"/>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View</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类主要控制用户与地图的基本交互，显示中心点、地图显示级别、范围等基本动作与内容。</a:t>
            </a:r>
          </a:p>
          <a:p>
            <a:endParaRPr lang="zh-CN" altLang="en-US" dirty="0"/>
          </a:p>
        </p:txBody>
      </p:sp>
    </p:spTree>
    <p:extLst>
      <p:ext uri="{BB962C8B-B14F-4D97-AF65-F5344CB8AC3E}">
        <p14:creationId xmlns:p14="http://schemas.microsoft.com/office/powerpoint/2010/main" val="2388910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26</a:t>
            </a:fld>
            <a:endParaRPr lang="en-US" altLang="zh-CN"/>
          </a:p>
        </p:txBody>
      </p:sp>
      <p:sp>
        <p:nvSpPr>
          <p:cNvPr id="5" name="矩形 4"/>
          <p:cNvSpPr/>
          <p:nvPr/>
        </p:nvSpPr>
        <p:spPr>
          <a:xfrm>
            <a:off x="467544" y="476672"/>
            <a:ext cx="3816424" cy="476541"/>
          </a:xfrm>
          <a:prstGeom prst="rect">
            <a:avLst/>
          </a:prstGeom>
        </p:spPr>
        <p:txBody>
          <a:bodyPr wrap="square">
            <a:spAutoFit/>
          </a:bodyPr>
          <a:lstStyle/>
          <a:p>
            <a:pPr marL="0" indent="0">
              <a:lnSpc>
                <a:spcPct val="114000"/>
              </a:lnSpc>
              <a:spcBef>
                <a:spcPts val="1200"/>
              </a:spcBef>
              <a:buNone/>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四、开发初步</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矩形 5"/>
          <p:cNvSpPr/>
          <p:nvPr/>
        </p:nvSpPr>
        <p:spPr>
          <a:xfrm>
            <a:off x="467543" y="1124744"/>
            <a:ext cx="8355369" cy="2167901"/>
          </a:xfrm>
          <a:prstGeom prst="rect">
            <a:avLst/>
          </a:prstGeom>
        </p:spPr>
        <p:txBody>
          <a:bodyPr wrap="square">
            <a:spAutoFit/>
          </a:bodyPr>
          <a:lstStyle/>
          <a:p>
            <a:pPr marL="457200" indent="-457200">
              <a:lnSpc>
                <a:spcPct val="114000"/>
              </a:lnSpc>
              <a:spcBef>
                <a:spcPts val="1200"/>
              </a:spcBef>
              <a:buAutoNum type="arabicPeriod"/>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获取</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OpenLayers5</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开发库</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14000"/>
              </a:lnSpc>
              <a:spcBef>
                <a:spcPts val="1200"/>
              </a:spcBef>
            </a:pP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hlinkClick r:id="rId2"/>
              </a:rPr>
              <a:t>https://github.com/openlayers/openlayers/releases/tag/v5.3.0</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800100" lvl="1" indent="-342900">
              <a:lnSpc>
                <a:spcPct val="114000"/>
              </a:lnSpc>
              <a:spcBef>
                <a:spcPts val="1200"/>
              </a:spcBef>
              <a:buClr>
                <a:srgbClr val="00CC00"/>
              </a:buClr>
              <a:buSzPct val="80000"/>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开发库</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Wingdings" panose="05000000000000000000" pitchFamily="2" charset="2"/>
              </a:rPr>
              <a:t>（开发与调试的</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Wingdings" panose="05000000000000000000" pitchFamily="2" charset="2"/>
              </a:rPr>
              <a:t>js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Wingdings" panose="05000000000000000000" pitchFamily="2" charset="2"/>
              </a:rPr>
              <a:t>库、</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Wingdings" panose="05000000000000000000" pitchFamily="2" charset="2"/>
              </a:rPr>
              <a:t>css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Wingdings" panose="05000000000000000000" pitchFamily="2" charset="2"/>
              </a:rPr>
              <a:t>样式</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800100" lvl="1" indent="-342900">
              <a:lnSpc>
                <a:spcPct val="114000"/>
              </a:lnSpc>
              <a:spcBef>
                <a:spcPts val="1200"/>
              </a:spcBef>
              <a:buClr>
                <a:srgbClr val="00CC00"/>
              </a:buClr>
              <a:buSzPct val="80000"/>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开发库资源包：开发库、示例、</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API</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98560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27</a:t>
            </a:fld>
            <a:endParaRPr lang="en-US" altLang="zh-CN"/>
          </a:p>
        </p:txBody>
      </p:sp>
      <p:sp>
        <p:nvSpPr>
          <p:cNvPr id="3" name="矩形 2"/>
          <p:cNvSpPr/>
          <p:nvPr/>
        </p:nvSpPr>
        <p:spPr>
          <a:xfrm>
            <a:off x="179512" y="390992"/>
            <a:ext cx="8640960" cy="2224583"/>
          </a:xfrm>
          <a:prstGeom prst="rect">
            <a:avLst/>
          </a:prstGeom>
        </p:spPr>
        <p:txBody>
          <a:bodyPr wrap="square">
            <a:spAutoFit/>
          </a:bodyPr>
          <a:lstStyle/>
          <a:p>
            <a:pPr marL="800100" lvl="1" indent="-342900">
              <a:lnSpc>
                <a:spcPct val="114000"/>
              </a:lnSpc>
              <a:spcBef>
                <a:spcPts val="1200"/>
              </a:spcBef>
              <a:buClr>
                <a:srgbClr val="00CC00"/>
              </a:buClr>
              <a:buSzPct val="80000"/>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开发库</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Wingdings" panose="05000000000000000000" pitchFamily="2" charset="2"/>
              </a:rPr>
              <a:t>（开发与调试的</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Wingdings" panose="05000000000000000000" pitchFamily="2" charset="2"/>
              </a:rPr>
              <a:t>js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Wingdings" panose="05000000000000000000" pitchFamily="2" charset="2"/>
              </a:rPr>
              <a:t>库、</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Wingdings" panose="05000000000000000000" pitchFamily="2" charset="2"/>
              </a:rPr>
              <a:t>css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Wingdings" panose="05000000000000000000" pitchFamily="2" charset="2"/>
              </a:rPr>
              <a:t>样式</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a:lnSpc>
                <a:spcPct val="114000"/>
              </a:lnSpc>
              <a:spcBef>
                <a:spcPts val="1200"/>
              </a:spcBef>
              <a:buClr>
                <a:srgbClr val="00CC00"/>
              </a:buClr>
              <a:buSzPct val="80000"/>
            </a:pP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ol.js</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：核心开发库，集成当前</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OpenLayers5</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的所有功能。其中</a:t>
            </a:r>
            <a:r>
              <a:rPr lang="en-US"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ol.js.map</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为</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ol.js</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的映射文件，调试用；</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a:lnSpc>
                <a:spcPct val="114000"/>
              </a:lnSpc>
              <a:spcBef>
                <a:spcPts val="1200"/>
              </a:spcBef>
              <a:buClr>
                <a:srgbClr val="00CC00"/>
              </a:buClr>
              <a:buSzPct val="80000"/>
            </a:pP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ol.css</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：样式类，包含</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OpenLayers5</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的所有默认样式信息。其中</a:t>
            </a:r>
            <a:r>
              <a:rPr lang="en-US"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ol.css.map</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为</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ol.css</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的映射文件，调试用；</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标题 1"/>
          <p:cNvSpPr>
            <a:spLocks noGrp="1"/>
          </p:cNvSpPr>
          <p:nvPr>
            <p:ph type="title"/>
          </p:nvPr>
        </p:nvSpPr>
        <p:spPr>
          <a:xfrm>
            <a:off x="179512" y="3768195"/>
            <a:ext cx="8229600" cy="432047"/>
          </a:xfrm>
        </p:spPr>
        <p:txBody>
          <a:bodyPr/>
          <a:lstStyle/>
          <a:p>
            <a:pPr marL="800100" lvl="1" indent="-342900">
              <a:lnSpc>
                <a:spcPct val="114000"/>
              </a:lnSpc>
              <a:spcBef>
                <a:spcPts val="1200"/>
              </a:spcBef>
              <a:buClr>
                <a:srgbClr val="00CC00"/>
              </a:buClr>
              <a:buSzPct val="80000"/>
              <a:buFont typeface="Wingdings" panose="05000000000000000000" pitchFamily="2" charset="2"/>
              <a:buChar char="l"/>
              <a:defRPr/>
            </a:pPr>
            <a:r>
              <a:rPr lang="zh-CN" altLang="en-US" sz="2400" b="1" kern="12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使用</a:t>
            </a:r>
            <a:r>
              <a:rPr lang="en-US" altLang="zh-CN" sz="2400" b="1" kern="12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API</a:t>
            </a:r>
            <a:r>
              <a:rPr lang="zh-CN" altLang="en-US" sz="2400" b="1" kern="12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sp>
        <p:nvSpPr>
          <p:cNvPr id="8" name="标题 1"/>
          <p:cNvSpPr txBox="1">
            <a:spLocks/>
          </p:cNvSpPr>
          <p:nvPr/>
        </p:nvSpPr>
        <p:spPr bwMode="auto">
          <a:xfrm>
            <a:off x="179512" y="2939386"/>
            <a:ext cx="8229600" cy="432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ea typeface="宋体" pitchFamily="2" charset="-122"/>
              </a:defRPr>
            </a:lvl2pPr>
            <a:lvl3pPr algn="l" rtl="0" eaLnBrk="0" fontAlgn="base" hangingPunct="0">
              <a:spcBef>
                <a:spcPct val="0"/>
              </a:spcBef>
              <a:spcAft>
                <a:spcPct val="0"/>
              </a:spcAft>
              <a:defRPr sz="4200">
                <a:solidFill>
                  <a:schemeClr val="tx2"/>
                </a:solidFill>
                <a:latin typeface="Garamond" pitchFamily="18" charset="0"/>
                <a:ea typeface="宋体" pitchFamily="2" charset="-122"/>
              </a:defRPr>
            </a:lvl3pPr>
            <a:lvl4pPr algn="l" rtl="0" eaLnBrk="0" fontAlgn="base" hangingPunct="0">
              <a:spcBef>
                <a:spcPct val="0"/>
              </a:spcBef>
              <a:spcAft>
                <a:spcPct val="0"/>
              </a:spcAft>
              <a:defRPr sz="4200">
                <a:solidFill>
                  <a:schemeClr val="tx2"/>
                </a:solidFill>
                <a:latin typeface="Garamond" pitchFamily="18" charset="0"/>
                <a:ea typeface="宋体" pitchFamily="2" charset="-122"/>
              </a:defRPr>
            </a:lvl4pPr>
            <a:lvl5pPr algn="l" rtl="0" eaLnBrk="0" fontAlgn="base" hangingPunct="0">
              <a:spcBef>
                <a:spcPct val="0"/>
              </a:spcBef>
              <a:spcAft>
                <a:spcPct val="0"/>
              </a:spcAft>
              <a:defRPr sz="4200">
                <a:solidFill>
                  <a:schemeClr val="tx2"/>
                </a:solidFill>
                <a:latin typeface="Garamond" pitchFamily="18" charset="0"/>
                <a:ea typeface="宋体" pitchFamily="2" charset="-122"/>
              </a:defRPr>
            </a:lvl5pPr>
            <a:lvl6pPr marL="457200" algn="l" rtl="0" fontAlgn="base">
              <a:spcBef>
                <a:spcPct val="0"/>
              </a:spcBef>
              <a:spcAft>
                <a:spcPct val="0"/>
              </a:spcAft>
              <a:defRPr sz="4200">
                <a:solidFill>
                  <a:schemeClr val="tx2"/>
                </a:solidFill>
                <a:latin typeface="Garamond" pitchFamily="18" charset="0"/>
                <a:ea typeface="宋体" pitchFamily="2" charset="-122"/>
              </a:defRPr>
            </a:lvl6pPr>
            <a:lvl7pPr marL="914400" algn="l" rtl="0" fontAlgn="base">
              <a:spcBef>
                <a:spcPct val="0"/>
              </a:spcBef>
              <a:spcAft>
                <a:spcPct val="0"/>
              </a:spcAft>
              <a:defRPr sz="4200">
                <a:solidFill>
                  <a:schemeClr val="tx2"/>
                </a:solidFill>
                <a:latin typeface="Garamond" pitchFamily="18" charset="0"/>
                <a:ea typeface="宋体" pitchFamily="2" charset="-122"/>
              </a:defRPr>
            </a:lvl7pPr>
            <a:lvl8pPr marL="1371600" algn="l" rtl="0" fontAlgn="base">
              <a:spcBef>
                <a:spcPct val="0"/>
              </a:spcBef>
              <a:spcAft>
                <a:spcPct val="0"/>
              </a:spcAft>
              <a:defRPr sz="4200">
                <a:solidFill>
                  <a:schemeClr val="tx2"/>
                </a:solidFill>
                <a:latin typeface="Garamond" pitchFamily="18" charset="0"/>
                <a:ea typeface="宋体" pitchFamily="2" charset="-122"/>
              </a:defRPr>
            </a:lvl8pPr>
            <a:lvl9pPr marL="1828800" algn="l" rtl="0" fontAlgn="base">
              <a:spcBef>
                <a:spcPct val="0"/>
              </a:spcBef>
              <a:spcAft>
                <a:spcPct val="0"/>
              </a:spcAft>
              <a:defRPr sz="4200">
                <a:solidFill>
                  <a:schemeClr val="tx2"/>
                </a:solidFill>
                <a:latin typeface="Garamond" pitchFamily="18" charset="0"/>
                <a:ea typeface="宋体" pitchFamily="2" charset="-122"/>
              </a:defRPr>
            </a:lvl9pPr>
          </a:lstStyle>
          <a:p>
            <a:pPr marL="800100" lvl="1" indent="-342900">
              <a:lnSpc>
                <a:spcPct val="114000"/>
              </a:lnSpc>
              <a:spcBef>
                <a:spcPts val="1200"/>
              </a:spcBef>
              <a:buClr>
                <a:srgbClr val="00CC00"/>
              </a:buClr>
              <a:buSzPct val="80000"/>
              <a:buFont typeface="Wingdings" panose="05000000000000000000" pitchFamily="2" charset="2"/>
              <a:buChar char="l"/>
              <a:defRPr/>
            </a:pPr>
            <a:r>
              <a:rPr lang="zh-CN" altLang="en-US" sz="24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示例</a:t>
            </a:r>
            <a:endParaRPr lang="zh-CN" altLang="en-US" sz="2400" b="1" kern="12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73339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28</a:t>
            </a:fld>
            <a:endParaRPr lang="en-US" altLang="zh-CN"/>
          </a:p>
        </p:txBody>
      </p:sp>
      <p:sp>
        <p:nvSpPr>
          <p:cNvPr id="5" name="矩形 4"/>
          <p:cNvSpPr/>
          <p:nvPr/>
        </p:nvSpPr>
        <p:spPr>
          <a:xfrm>
            <a:off x="611560" y="240804"/>
            <a:ext cx="7128792" cy="769441"/>
          </a:xfrm>
          <a:prstGeom prst="rect">
            <a:avLst/>
          </a:prstGeom>
        </p:spPr>
        <p:txBody>
          <a:bodyPr wrap="square">
            <a:spAutoFit/>
          </a:bodyPr>
          <a:lstStyle/>
          <a:p>
            <a:pPr>
              <a:spcBef>
                <a:spcPts val="0"/>
              </a:spcBef>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2.</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实例  </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pPr>
            <a:r>
              <a:rPr lang="zh-CN" altLang="en-US"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 （</a:t>
            </a:r>
            <a:r>
              <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1</a:t>
            </a:r>
            <a:r>
              <a:rPr lang="zh-CN" altLang="en-US"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）用</a:t>
            </a:r>
            <a:r>
              <a:rPr lang="en-US"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Open Layers</a:t>
            </a:r>
            <a:r>
              <a:rPr lang="zh-CN" altLang="en-US"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实现</a:t>
            </a:r>
            <a:r>
              <a:rPr lang="zh-CN" altLang="zh-CN"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地图联动</a:t>
            </a:r>
            <a:r>
              <a:rPr lang="zh-CN" altLang="en-US" sz="20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功能。</a:t>
            </a:r>
            <a:endParaRPr lang="zh-CN" altLang="en-US" sz="2000" dirty="0">
              <a:effectLst>
                <a:outerShdw blurRad="38100" dist="38100" dir="2700000" algn="tl">
                  <a:srgbClr val="000000">
                    <a:alpha val="43137"/>
                  </a:srgbClr>
                </a:outerShdw>
              </a:effectLst>
            </a:endParaRPr>
          </a:p>
        </p:txBody>
      </p:sp>
      <p:sp>
        <p:nvSpPr>
          <p:cNvPr id="6" name="矩形 5"/>
          <p:cNvSpPr/>
          <p:nvPr/>
        </p:nvSpPr>
        <p:spPr>
          <a:xfrm>
            <a:off x="1979712" y="982281"/>
            <a:ext cx="8352928" cy="5893921"/>
          </a:xfrm>
          <a:prstGeom prst="rect">
            <a:avLst/>
          </a:prstGeom>
        </p:spPr>
        <p:txBody>
          <a:bodyPr wrap="square">
            <a:spAutoFit/>
          </a:bodyPr>
          <a:lstStyle/>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a:t>
            </a:r>
            <a:r>
              <a:rPr lang="en-US" altLang="zh-CN" sz="1300" b="1" kern="0" spc="15" dirty="0">
                <a:solidFill>
                  <a:srgbClr val="8E908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t>
            </a: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&gt;</a:t>
            </a:r>
            <a:r>
              <a:rPr lang="zh-CN"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地图</a:t>
            </a: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a:t>
            </a:r>
            <a:r>
              <a:rPr lang="en-US" altLang="zh-CN" sz="1300" b="1" kern="0" spc="15" dirty="0">
                <a:solidFill>
                  <a:srgbClr val="8E908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t>
            </a: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&gt;</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a:t>
            </a:r>
            <a:r>
              <a:rPr lang="en-US" altLang="zh-CN" sz="1300" b="1" kern="0" spc="15" dirty="0">
                <a:solidFill>
                  <a:srgbClr val="8E908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div</a:t>
            </a: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id=</a:t>
            </a:r>
            <a:r>
              <a:rPr lang="en-US" altLang="zh-CN" sz="1300" b="1" kern="0" spc="15" dirty="0">
                <a:solidFill>
                  <a:srgbClr val="718C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"map1"</a:t>
            </a: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style=</a:t>
            </a:r>
            <a:r>
              <a:rPr lang="en-US" altLang="zh-CN" sz="1300" b="1" kern="0" spc="15" dirty="0">
                <a:solidFill>
                  <a:srgbClr val="718C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"width: 100%"</a:t>
            </a: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&gt;&lt;/</a:t>
            </a:r>
            <a:r>
              <a:rPr lang="en-US" altLang="zh-CN" sz="1300" b="1" kern="0" spc="15" dirty="0">
                <a:solidFill>
                  <a:srgbClr val="8E908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div</a:t>
            </a: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&gt;</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a:t>
            </a:r>
            <a:r>
              <a:rPr lang="en-US" altLang="zh-CN" sz="1300" b="1" kern="0" spc="15" dirty="0">
                <a:solidFill>
                  <a:srgbClr val="8E908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t>
            </a: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&gt;</a:t>
            </a:r>
            <a:r>
              <a:rPr lang="zh-CN"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地图</a:t>
            </a: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a:t>
            </a:r>
            <a:r>
              <a:rPr lang="en-US" altLang="zh-CN" sz="1300" b="1" kern="0" spc="15" dirty="0">
                <a:solidFill>
                  <a:srgbClr val="8E908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t>
            </a: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&gt;</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a:t>
            </a:r>
            <a:r>
              <a:rPr lang="en-US" altLang="zh-CN" sz="1300" b="1" kern="0" spc="15" dirty="0">
                <a:solidFill>
                  <a:srgbClr val="8E908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div</a:t>
            </a: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id=</a:t>
            </a:r>
            <a:r>
              <a:rPr lang="en-US" altLang="zh-CN" sz="1300" b="1" kern="0" spc="15" dirty="0">
                <a:solidFill>
                  <a:srgbClr val="718C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"map2"</a:t>
            </a: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style=</a:t>
            </a:r>
            <a:r>
              <a:rPr lang="en-US" altLang="zh-CN" sz="1300" b="1" kern="0" spc="15" dirty="0">
                <a:solidFill>
                  <a:srgbClr val="718C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"width: 100%"</a:t>
            </a: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&gt;&lt;/</a:t>
            </a:r>
            <a:r>
              <a:rPr lang="en-US" altLang="zh-CN" sz="1300" b="1" kern="0" spc="15" dirty="0">
                <a:solidFill>
                  <a:srgbClr val="8E908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div</a:t>
            </a: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&gt;</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a:t>
            </a:r>
            <a:r>
              <a:rPr lang="en-US" altLang="zh-CN" sz="1300" b="1" kern="0" spc="15" dirty="0">
                <a:solidFill>
                  <a:srgbClr val="8E908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script</a:t>
            </a: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&gt;</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1300" b="1" kern="0" spc="15" dirty="0">
                <a:solidFill>
                  <a:srgbClr val="8E908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zh-CN" sz="1300" b="1" kern="0" spc="15" dirty="0">
                <a:solidFill>
                  <a:srgbClr val="8E908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创建一个视图</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1300" b="1" kern="0" spc="15" dirty="0" err="1">
                <a:solidFill>
                  <a:srgbClr val="8959A8"/>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var</a:t>
            </a: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view = </a:t>
            </a:r>
            <a:r>
              <a:rPr lang="en-US" altLang="zh-CN" sz="1300" b="1" kern="0" spc="15" dirty="0">
                <a:solidFill>
                  <a:srgbClr val="8959A8"/>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new</a:t>
            </a: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1300" b="1" kern="0" spc="15" dirty="0" err="1">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ol.View</a:t>
            </a: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center: [</a:t>
            </a:r>
            <a:r>
              <a:rPr lang="en-US" altLang="zh-CN" sz="1300" b="1" kern="0" spc="15" dirty="0">
                <a:solidFill>
                  <a:srgbClr val="F5871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a:t>
            </a: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1300" b="1" kern="0" spc="15" dirty="0">
                <a:solidFill>
                  <a:srgbClr val="F5871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a:t>
            </a: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zoom: </a:t>
            </a:r>
            <a:r>
              <a:rPr lang="en-US" altLang="zh-CN" sz="1300" b="1" kern="0" spc="15" dirty="0">
                <a:solidFill>
                  <a:srgbClr val="F5871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1300" b="1" kern="0" spc="15" dirty="0">
                <a:solidFill>
                  <a:srgbClr val="8E908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zh-CN" sz="1300" b="1" kern="0" spc="15" dirty="0">
                <a:solidFill>
                  <a:srgbClr val="8E908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创建第一个地图</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1300" b="1" kern="0" spc="15" dirty="0">
                <a:solidFill>
                  <a:srgbClr val="8959A8"/>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new</a:t>
            </a: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1300" b="1" kern="0" spc="15" dirty="0" err="1">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ol.Map</a:t>
            </a: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layers: [</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1300" b="1" kern="0" spc="15" dirty="0">
                <a:solidFill>
                  <a:srgbClr val="8959A8"/>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new</a:t>
            </a: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1300" b="1" kern="0" spc="15" dirty="0" err="1">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ol.layer.Tile</a:t>
            </a: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({source: </a:t>
            </a:r>
            <a:r>
              <a:rPr lang="en-US" altLang="zh-CN" sz="1300" b="1" kern="0" spc="15" dirty="0">
                <a:solidFill>
                  <a:srgbClr val="8959A8"/>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new</a:t>
            </a: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1300" b="1" kern="0" spc="15" dirty="0" err="1">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ol.source.OSM</a:t>
            </a: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view: view,</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target: </a:t>
            </a:r>
            <a:r>
              <a:rPr lang="en-US" altLang="zh-CN" sz="1300" b="1" kern="0" spc="15" dirty="0">
                <a:solidFill>
                  <a:srgbClr val="718C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'map1'</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1300" b="1" kern="0" spc="15" dirty="0">
                <a:solidFill>
                  <a:srgbClr val="8E908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zh-CN" sz="1300" b="1" kern="0" spc="15" dirty="0">
                <a:solidFill>
                  <a:srgbClr val="8E908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创建第二个地图</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1300" b="1" kern="0" spc="15" dirty="0">
                <a:solidFill>
                  <a:srgbClr val="8959A8"/>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new</a:t>
            </a: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1300" b="1" kern="0" spc="15" dirty="0" err="1">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ol.Map</a:t>
            </a: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layers: [</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1300" b="1" kern="0" spc="15" dirty="0">
                <a:solidFill>
                  <a:srgbClr val="8959A8"/>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new</a:t>
            </a: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1300" b="1" kern="0" spc="15" dirty="0" err="1">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ol.layer.Tile</a:t>
            </a: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({source: </a:t>
            </a:r>
            <a:r>
              <a:rPr lang="en-US" altLang="zh-CN" sz="1300" b="1" kern="0" spc="15" dirty="0">
                <a:solidFill>
                  <a:srgbClr val="8959A8"/>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new</a:t>
            </a: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1300" b="1" kern="0" spc="15" dirty="0" err="1">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ol.source.OSM</a:t>
            </a: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view: view,</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target: </a:t>
            </a:r>
            <a:r>
              <a:rPr lang="en-US" altLang="zh-CN" sz="1300" b="1" kern="0" spc="15" dirty="0">
                <a:solidFill>
                  <a:srgbClr val="718C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'map2'</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a:t>
            </a:r>
            <a:r>
              <a:rPr lang="en-US" altLang="zh-CN" sz="1300" b="1" kern="0" spc="15" dirty="0">
                <a:solidFill>
                  <a:srgbClr val="8E908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script</a:t>
            </a:r>
            <a:r>
              <a:rPr lang="en-US" altLang="zh-CN" sz="1300" b="1" kern="0" spc="15" dirty="0">
                <a:solidFill>
                  <a:srgbClr val="C8282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&gt;</a:t>
            </a:r>
            <a:endParaRPr lang="zh-CN" altLang="zh-CN" sz="1300" b="1" kern="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8903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4796" y="404664"/>
            <a:ext cx="2973016" cy="504056"/>
          </a:xfrm>
        </p:spPr>
        <p:txBody>
          <a:bodyPr/>
          <a:lstStyle/>
          <a:p>
            <a:pPr marL="342900" indent="-342900" eaLnBrk="1" hangingPunct="1">
              <a:spcBef>
                <a:spcPct val="20000"/>
              </a:spcBef>
              <a:buClr>
                <a:schemeClr val="accent1"/>
              </a:buClr>
              <a:buSzPct val="65000"/>
              <a:defRPr/>
            </a:pPr>
            <a:r>
              <a:rPr lang="en-US" altLang="zh-CN" sz="2400" b="1" kern="1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kern="1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地图组成部分：</a:t>
            </a:r>
          </a:p>
        </p:txBody>
      </p:sp>
      <p:sp>
        <p:nvSpPr>
          <p:cNvPr id="3" name="内容占位符 2"/>
          <p:cNvSpPr>
            <a:spLocks noGrp="1"/>
          </p:cNvSpPr>
          <p:nvPr>
            <p:ph idx="1"/>
          </p:nvPr>
        </p:nvSpPr>
        <p:spPr>
          <a:xfrm>
            <a:off x="610924" y="980728"/>
            <a:ext cx="8137540" cy="4968552"/>
          </a:xfrm>
        </p:spPr>
        <p:txBody>
          <a:bodyPr>
            <a:noAutofit/>
          </a:bodyPr>
          <a:lstStyle/>
          <a:p>
            <a:pPr>
              <a:lnSpc>
                <a:spcPct val="100000"/>
              </a:lnSpc>
              <a:spcBef>
                <a:spcPts val="1200"/>
              </a:spcBef>
              <a:buClr>
                <a:srgbClr val="FF0066"/>
              </a:buClr>
              <a:buSzPct val="85000"/>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地图</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(Map)</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，对应的类是</a:t>
            </a:r>
            <a:r>
              <a:rPr lang="en-US"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ol.Map</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，地图文档；</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00000"/>
              </a:lnSpc>
              <a:spcBef>
                <a:spcPts val="1200"/>
              </a:spcBef>
              <a:buClr>
                <a:srgbClr val="FF0066"/>
              </a:buClr>
              <a:buSzPct val="85000"/>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视图</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(View)</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，对应的类是</a:t>
            </a:r>
            <a:r>
              <a:rPr lang="en-US"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ol.View</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，控制地图显示的中心位置、范围、层级等；</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00000"/>
              </a:lnSpc>
              <a:spcBef>
                <a:spcPts val="1200"/>
              </a:spcBef>
              <a:buClr>
                <a:srgbClr val="FF0066"/>
              </a:buClr>
              <a:buSzPct val="85000"/>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图层</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(Layer)</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，对应的类是</a:t>
            </a:r>
            <a:r>
              <a:rPr lang="en-US"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ol.layer</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，多个</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layer</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重叠在一起，相互之间互不干扰，有多种图层类型，对应多种图层数据源；</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1200"/>
              </a:spcBef>
              <a:buClr>
                <a:srgbClr val="FF0066"/>
              </a:buClr>
              <a:buSzPct val="85000"/>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数据源</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(Source)</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，对应的类是</a:t>
            </a:r>
            <a:r>
              <a:rPr lang="en-US"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ol.source</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，它是和图层一一对应的；支持多种多样在线或离线的数据源；可以是静态图或者瓦片图；也可以是栅格化的或者矢量的；</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00000"/>
              </a:lnSpc>
              <a:spcBef>
                <a:spcPts val="1200"/>
              </a:spcBef>
              <a:buClr>
                <a:srgbClr val="FF0066"/>
              </a:buClr>
              <a:buSzPct val="85000"/>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控件</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(Control)</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，对应的类是</a:t>
            </a:r>
            <a:r>
              <a:rPr lang="en-US"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ol.control</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00000"/>
              </a:lnSpc>
              <a:spcBef>
                <a:spcPts val="1200"/>
              </a:spcBef>
              <a:buClr>
                <a:srgbClr val="FF0066"/>
              </a:buClr>
              <a:buSzPct val="85000"/>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交互</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(Interaction)</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，对应的类是</a:t>
            </a:r>
            <a:r>
              <a:rPr lang="en-US"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ol.interaction</a:t>
            </a: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，用鼠标控制地图放大、缩小、移动，制作高级功能，如选择要素、添加点线面等；</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08527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30</a:t>
            </a:fld>
            <a:endParaRPr lang="en-US" altLang="zh-CN"/>
          </a:p>
        </p:txBody>
      </p:sp>
      <p:sp>
        <p:nvSpPr>
          <p:cNvPr id="2" name="文本框 1">
            <a:extLst>
              <a:ext uri="{FF2B5EF4-FFF2-40B4-BE49-F238E27FC236}">
                <a16:creationId xmlns:a16="http://schemas.microsoft.com/office/drawing/2014/main" id="{75E74EB6-C7D5-489F-B6E7-13CA99D3AB2E}"/>
              </a:ext>
            </a:extLst>
          </p:cNvPr>
          <p:cNvSpPr txBox="1"/>
          <p:nvPr/>
        </p:nvSpPr>
        <p:spPr>
          <a:xfrm>
            <a:off x="558747" y="332656"/>
            <a:ext cx="2016224" cy="461665"/>
          </a:xfrm>
          <a:prstGeom prst="rect">
            <a:avLst/>
          </a:prstGeom>
          <a:noFill/>
        </p:spPr>
        <p:txBody>
          <a:bodyPr wrap="square" rtlCol="0">
            <a:spAutoFit/>
          </a:bodyPr>
          <a:lstStyle/>
          <a:p>
            <a:r>
              <a:rPr lang="zh-CN" altLang="en-US" sz="2400" b="1" dirty="0">
                <a:solidFill>
                  <a:srgbClr val="0000FF"/>
                </a:solidFill>
                <a:effectLst>
                  <a:outerShdw blurRad="38100" dist="38100" dir="2700000" algn="tl">
                    <a:srgbClr val="000000">
                      <a:alpha val="43137"/>
                    </a:srgbClr>
                  </a:outerShdw>
                </a:effectLst>
              </a:rPr>
              <a:t>数据渲染：</a:t>
            </a:r>
          </a:p>
        </p:txBody>
      </p:sp>
      <p:sp>
        <p:nvSpPr>
          <p:cNvPr id="3" name="矩形 2">
            <a:extLst>
              <a:ext uri="{FF2B5EF4-FFF2-40B4-BE49-F238E27FC236}">
                <a16:creationId xmlns:a16="http://schemas.microsoft.com/office/drawing/2014/main" id="{0A7AFFEE-CB6B-4635-96D2-61F518C9601A}"/>
              </a:ext>
            </a:extLst>
          </p:cNvPr>
          <p:cNvSpPr/>
          <p:nvPr/>
        </p:nvSpPr>
        <p:spPr>
          <a:xfrm>
            <a:off x="539552" y="908720"/>
            <a:ext cx="8198568" cy="4508094"/>
          </a:xfrm>
          <a:prstGeom prst="rect">
            <a:avLst/>
          </a:prstGeom>
        </p:spPr>
        <p:txBody>
          <a:bodyPr wrap="square">
            <a:spAutoFit/>
          </a:bodyPr>
          <a:lstStyle/>
          <a:p>
            <a:pPr>
              <a:lnSpc>
                <a:spcPct val="125000"/>
              </a:lnSpc>
              <a:spcBef>
                <a:spcPts val="1200"/>
              </a:spcBef>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5</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的地图数据通过</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图层 </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(Layer)</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组织渲染，且通过</a:t>
            </a:r>
            <a:r>
              <a:rPr lang="zh-CN" altLang="en-US" sz="2400" b="1" dirty="0">
                <a:solidFill>
                  <a:srgbClr val="00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数据源</a:t>
            </a:r>
            <a:r>
              <a:rPr lang="en-US" altLang="zh-CN" sz="2400" b="1" dirty="0">
                <a:solidFill>
                  <a:srgbClr val="00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(Source)</a:t>
            </a:r>
            <a:r>
              <a:rPr lang="zh-CN" altLang="en-US" sz="2400" b="1" dirty="0">
                <a:solidFill>
                  <a:srgbClr val="00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设置具体的地图数据来源</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25000"/>
              </a:lnSpc>
              <a:spcBef>
                <a:spcPts val="1200"/>
              </a:spcBef>
            </a:pPr>
            <a:r>
              <a:rPr lang="en-US" altLang="zh-CN"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b="1" u="sng"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4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基于</a:t>
            </a:r>
            <a:r>
              <a:rPr lang="en-US" altLang="zh-CN" sz="2400" b="1" u="sng"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zh-CN" altLang="en-US" sz="24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的地图整个表现过程为：</a:t>
            </a:r>
            <a:r>
              <a:rPr lang="zh-CN" altLang="en-US" sz="2400" b="1" dirty="0">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先通过</a:t>
            </a:r>
            <a:r>
              <a:rPr lang="en-US" altLang="zh-CN" sz="2400" b="1" dirty="0">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URL</a:t>
            </a:r>
            <a:r>
              <a:rPr lang="zh-CN" altLang="en-US" sz="2400" b="1" dirty="0">
                <a:solidFill>
                  <a:srgbClr val="FF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调用数据</a:t>
            </a:r>
            <a:r>
              <a:rPr lang="zh-CN" altLang="en-US" sz="2400" b="1" dirty="0">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，然后用各种解析器</a:t>
            </a:r>
            <a:r>
              <a:rPr lang="zh-CN" altLang="en-US" sz="2400" b="1" dirty="0">
                <a:solidFill>
                  <a:srgbClr val="FF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解析数据</a:t>
            </a:r>
            <a:r>
              <a:rPr lang="zh-CN" altLang="en-US" sz="2400" b="1" dirty="0">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，再用相应的渲染器在</a:t>
            </a:r>
            <a:r>
              <a:rPr lang="zh-CN" altLang="en-US" sz="2400" b="1" dirty="0">
                <a:solidFill>
                  <a:srgbClr val="FF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图层中进行渲染</a:t>
            </a:r>
            <a:r>
              <a:rPr lang="zh-CN" altLang="en-US" sz="2400" b="1" dirty="0">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，然后结合相应的控件表现出来，成为一幅“动态”</a:t>
            </a:r>
            <a:r>
              <a:rPr lang="zh-CN" altLang="en-US" sz="2400" b="1" dirty="0">
                <a:solidFill>
                  <a:srgbClr val="FF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地图</a:t>
            </a:r>
            <a:r>
              <a:rPr lang="zh-CN" altLang="en-US" sz="2400" b="1" dirty="0">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a:t>
            </a:r>
            <a:endParaRPr lang="en-US" altLang="zh-CN" sz="2400" b="1" dirty="0">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endParaRPr>
          </a:p>
          <a:p>
            <a:pPr>
              <a:lnSpc>
                <a:spcPct val="125000"/>
              </a:lnSpc>
              <a:spcBef>
                <a:spcPts val="1200"/>
              </a:spcBef>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在</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5</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中，渲染功能有渲染器（即</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Render</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相关类）实现</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根据渲染方式（</a:t>
            </a:r>
            <a:r>
              <a:rPr lang="en-US"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Canvas\WebGL</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）、与图层类型（</a:t>
            </a:r>
            <a:r>
              <a:rPr lang="en-US"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Image</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Tile</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Vector</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）匹配渲染器将图层数据渲染出来。</a:t>
            </a:r>
            <a:endParaRPr lang="en-US"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94282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31</a:t>
            </a:fld>
            <a:endParaRPr lang="en-US" altLang="zh-CN"/>
          </a:p>
        </p:txBody>
      </p:sp>
      <p:sp>
        <p:nvSpPr>
          <p:cNvPr id="5" name="文本框 4">
            <a:extLst>
              <a:ext uri="{FF2B5EF4-FFF2-40B4-BE49-F238E27FC236}">
                <a16:creationId xmlns:a16="http://schemas.microsoft.com/office/drawing/2014/main" id="{AD1FF987-76BC-4A74-B171-8BF64D598704}"/>
              </a:ext>
            </a:extLst>
          </p:cNvPr>
          <p:cNvSpPr txBox="1"/>
          <p:nvPr/>
        </p:nvSpPr>
        <p:spPr>
          <a:xfrm>
            <a:off x="467544" y="357619"/>
            <a:ext cx="8430108" cy="5447645"/>
          </a:xfrm>
          <a:prstGeom prst="rect">
            <a:avLst/>
          </a:prstGeom>
          <a:noFill/>
        </p:spPr>
        <p:txBody>
          <a:bodyPr wrap="square" rtlCol="0">
            <a:spAutoFit/>
          </a:bodyPr>
          <a:lstStyle/>
          <a:p>
            <a:pPr marL="342900" indent="-342900">
              <a:lnSpc>
                <a:spcPct val="150000"/>
              </a:lnSpc>
              <a:spcBef>
                <a:spcPts val="1200"/>
              </a:spcBef>
              <a:buClr>
                <a:srgbClr val="FF0066"/>
              </a:buClr>
              <a:buSzPct val="90000"/>
              <a:buFont typeface="Wingdings" panose="05000000000000000000" pitchFamily="2" charset="2"/>
              <a:buChar char="l"/>
            </a:pPr>
            <a:r>
              <a:rPr lang="zh-CN" altLang="en-US" sz="2400" b="1" dirty="0">
                <a:solidFill>
                  <a:srgbClr val="0000F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矢量数据的渲染机制：</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矢量数据的渲染支持</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Canvas</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WebGL</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两种方式，</a:t>
            </a:r>
            <a:r>
              <a:rPr lang="zh-CN" alt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其中 </a:t>
            </a:r>
            <a:r>
              <a:rPr lang="en-US" altLang="zh-CN"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WebGL</a:t>
            </a:r>
            <a:r>
              <a:rPr lang="zh-CN" alt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渲染方式对矢量数据的支持有限且不支持矢量瓦片进行</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。矢量数据的渲染同时会结合样式（</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style</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）进行；</a:t>
            </a:r>
          </a:p>
          <a:p>
            <a:pPr marL="342900" indent="-342900">
              <a:lnSpc>
                <a:spcPct val="150000"/>
              </a:lnSpc>
              <a:spcBef>
                <a:spcPts val="1200"/>
              </a:spcBef>
              <a:buClr>
                <a:srgbClr val="FF0066"/>
              </a:buClr>
              <a:buSzPct val="90000"/>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图像或瓦片数据在</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Web</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客户端仅仅是图片，不包含其他的几何信息和属性信息，均通过</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HTML</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中的</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Canvas </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标签显示，即通过数据源对应的渲染器处理渲染；</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nSpc>
                <a:spcPct val="150000"/>
              </a:lnSpc>
              <a:spcBef>
                <a:spcPts val="1200"/>
              </a:spcBef>
              <a:buClr>
                <a:srgbClr val="FF0066"/>
              </a:buClr>
              <a:buSzPct val="90000"/>
              <a:buFont typeface="Wingdings" panose="05000000000000000000" pitchFamily="2" charset="2"/>
              <a:buChar char="l"/>
            </a:pPr>
            <a:r>
              <a:rPr lang="en-US" altLang="zh-CN"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zh-CN" alt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绘图的核心是通过</a:t>
            </a:r>
            <a:r>
              <a:rPr lang="en-US" altLang="zh-CN"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Canvas</a:t>
            </a:r>
            <a:r>
              <a:rPr lang="zh-CN" alt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进行绘制</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zh-CN" altLang="en-US" sz="4000" b="1" dirty="0"/>
          </a:p>
        </p:txBody>
      </p:sp>
    </p:spTree>
    <p:extLst>
      <p:ext uri="{BB962C8B-B14F-4D97-AF65-F5344CB8AC3E}">
        <p14:creationId xmlns:p14="http://schemas.microsoft.com/office/powerpoint/2010/main" val="6169750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32</a:t>
            </a:fld>
            <a:endParaRPr lang="en-US" altLang="zh-CN"/>
          </a:p>
        </p:txBody>
      </p:sp>
      <p:sp>
        <p:nvSpPr>
          <p:cNvPr id="5" name="文本框 4"/>
          <p:cNvSpPr txBox="1"/>
          <p:nvPr/>
        </p:nvSpPr>
        <p:spPr>
          <a:xfrm>
            <a:off x="3419872" y="6287572"/>
            <a:ext cx="2088232" cy="369332"/>
          </a:xfrm>
          <a:prstGeom prst="rect">
            <a:avLst/>
          </a:prstGeom>
          <a:noFill/>
        </p:spPr>
        <p:txBody>
          <a:bodyPr wrap="square" rtlCol="0">
            <a:spAutoFit/>
          </a:bodyPr>
          <a:lstStyle/>
          <a:p>
            <a:r>
              <a:rPr lang="en-US" altLang="zh-CN" dirty="0"/>
              <a:t>Render</a:t>
            </a:r>
            <a:r>
              <a:rPr lang="zh-CN" altLang="en-US" dirty="0"/>
              <a:t>相关类关系</a:t>
            </a:r>
          </a:p>
        </p:txBody>
      </p:sp>
      <p:pic>
        <p:nvPicPr>
          <p:cNvPr id="3" name="图片 2"/>
          <p:cNvPicPr>
            <a:picLocks noChangeAspect="1"/>
          </p:cNvPicPr>
          <p:nvPr/>
        </p:nvPicPr>
        <p:blipFill>
          <a:blip r:embed="rId3"/>
          <a:stretch>
            <a:fillRect/>
          </a:stretch>
        </p:blipFill>
        <p:spPr>
          <a:xfrm>
            <a:off x="899592" y="235727"/>
            <a:ext cx="7128792" cy="5899690"/>
          </a:xfrm>
          <a:prstGeom prst="rect">
            <a:avLst/>
          </a:prstGeom>
        </p:spPr>
      </p:pic>
    </p:spTree>
    <p:extLst>
      <p:ext uri="{BB962C8B-B14F-4D97-AF65-F5344CB8AC3E}">
        <p14:creationId xmlns:p14="http://schemas.microsoft.com/office/powerpoint/2010/main" val="36167281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33</a:t>
            </a:fld>
            <a:endParaRPr lang="en-US" altLang="zh-CN"/>
          </a:p>
        </p:txBody>
      </p:sp>
      <p:sp>
        <p:nvSpPr>
          <p:cNvPr id="2" name="文本框 1">
            <a:extLst>
              <a:ext uri="{FF2B5EF4-FFF2-40B4-BE49-F238E27FC236}">
                <a16:creationId xmlns:a16="http://schemas.microsoft.com/office/drawing/2014/main" id="{75E74EB6-C7D5-489F-B6E7-13CA99D3AB2E}"/>
              </a:ext>
            </a:extLst>
          </p:cNvPr>
          <p:cNvSpPr txBox="1"/>
          <p:nvPr/>
        </p:nvSpPr>
        <p:spPr>
          <a:xfrm>
            <a:off x="539552" y="332656"/>
            <a:ext cx="7776864" cy="461665"/>
          </a:xfrm>
          <a:prstGeom prst="rect">
            <a:avLst/>
          </a:prstGeom>
          <a:noFill/>
        </p:spPr>
        <p:txBody>
          <a:bodyPr wrap="square" rtlCol="0">
            <a:spAutoFit/>
          </a:bodyPr>
          <a:lstStyle/>
          <a:p>
            <a:r>
              <a:rPr lang="en-US" altLang="zh-CN" sz="2400" b="1" dirty="0" err="1">
                <a:solidFill>
                  <a:srgbClr val="0000FF"/>
                </a:solidFill>
                <a:effectLst>
                  <a:outerShdw blurRad="38100" dist="38100" dir="2700000" algn="tl">
                    <a:srgbClr val="000000">
                      <a:alpha val="43137"/>
                    </a:srgbClr>
                  </a:outerShdw>
                </a:effectLst>
              </a:rPr>
              <a:t>OpenLayers</a:t>
            </a:r>
            <a:r>
              <a:rPr lang="zh-CN" altLang="en-US" sz="2400" b="1" dirty="0">
                <a:solidFill>
                  <a:srgbClr val="0000FF"/>
                </a:solidFill>
                <a:effectLst>
                  <a:outerShdw blurRad="38100" dist="38100" dir="2700000" algn="tl">
                    <a:srgbClr val="000000">
                      <a:alpha val="43137"/>
                    </a:srgbClr>
                  </a:outerShdw>
                </a:effectLst>
              </a:rPr>
              <a:t>渲染：</a:t>
            </a:r>
          </a:p>
        </p:txBody>
      </p:sp>
      <p:sp>
        <p:nvSpPr>
          <p:cNvPr id="3" name="矩形 2">
            <a:extLst>
              <a:ext uri="{FF2B5EF4-FFF2-40B4-BE49-F238E27FC236}">
                <a16:creationId xmlns:a16="http://schemas.microsoft.com/office/drawing/2014/main" id="{07F85F71-51BC-49EF-B3C8-109228A59978}"/>
              </a:ext>
            </a:extLst>
          </p:cNvPr>
          <p:cNvSpPr/>
          <p:nvPr/>
        </p:nvSpPr>
        <p:spPr>
          <a:xfrm>
            <a:off x="561256" y="908720"/>
            <a:ext cx="8147248" cy="4606454"/>
          </a:xfrm>
          <a:prstGeom prst="rect">
            <a:avLst/>
          </a:prstGeom>
        </p:spPr>
        <p:txBody>
          <a:bodyPr wrap="square">
            <a:spAutoFit/>
          </a:bodyPr>
          <a:lstStyle/>
          <a:p>
            <a:pPr marL="342900" indent="-342900">
              <a:lnSpc>
                <a:spcPct val="150000"/>
              </a:lnSpc>
              <a:spcBef>
                <a:spcPts val="1200"/>
              </a:spcBef>
              <a:buClr>
                <a:srgbClr val="FF0000"/>
              </a:buClr>
              <a:buSzPct val="90000"/>
              <a:buFont typeface="Wingdings" panose="05000000000000000000" pitchFamily="2" charset="2"/>
              <a:buChar char="Ø"/>
            </a:pPr>
            <a:r>
              <a:rPr lang="en-US" altLang="zh-CN" sz="2400" b="1" dirty="0" err="1">
                <a:solidFill>
                  <a:srgbClr val="008000"/>
                </a:solidFill>
                <a:latin typeface="Times New Roman" panose="02020603050405020304" pitchFamily="18" charset="0"/>
                <a:cs typeface="Times New Roman" panose="02020603050405020304" pitchFamily="18" charset="0"/>
              </a:rPr>
              <a:t>OpenLayers</a:t>
            </a:r>
            <a:r>
              <a:rPr lang="zh-CN" altLang="en-US" sz="2400" b="1" dirty="0">
                <a:solidFill>
                  <a:srgbClr val="008000"/>
                </a:solidFill>
                <a:latin typeface="Times New Roman" panose="02020603050405020304" pitchFamily="18" charset="0"/>
                <a:cs typeface="Times New Roman" panose="02020603050405020304" pitchFamily="18" charset="0"/>
              </a:rPr>
              <a:t>中添加矢量数据需要经过三个步骤：</a:t>
            </a:r>
            <a:r>
              <a:rPr lang="zh-CN" altLang="en-US" sz="2400" b="1" u="sng" dirty="0"/>
              <a:t>创建数据源、创建矢量图层并设置样式、添加图层；</a:t>
            </a:r>
            <a:endParaRPr lang="en-US" altLang="zh-CN" sz="2400" b="1" u="sng" dirty="0"/>
          </a:p>
          <a:p>
            <a:pPr marL="342900" lvl="0" indent="-342900">
              <a:lnSpc>
                <a:spcPct val="150000"/>
              </a:lnSpc>
              <a:spcBef>
                <a:spcPts val="1200"/>
              </a:spcBef>
              <a:buClr>
                <a:srgbClr val="FF0000"/>
              </a:buClr>
              <a:buSzPct val="90000"/>
              <a:buFont typeface="Wingdings" panose="05000000000000000000" pitchFamily="2" charset="2"/>
              <a:buChar char="Ø"/>
              <a:defRPr/>
            </a:pPr>
            <a:r>
              <a:rPr lang="en-US" altLang="zh-CN" sz="2400" dirty="0" err="1"/>
              <a:t>OpenLayers</a:t>
            </a:r>
            <a:r>
              <a:rPr lang="en-US" altLang="zh-CN" sz="2400" dirty="0"/>
              <a:t> </a:t>
            </a:r>
            <a:r>
              <a:rPr lang="zh-CN" altLang="en-US" sz="2400" dirty="0"/>
              <a:t>中通过</a:t>
            </a:r>
            <a:r>
              <a:rPr lang="en-US" altLang="zh-CN" sz="2400" dirty="0" err="1"/>
              <a:t>ol.source.Vector</a:t>
            </a:r>
            <a:r>
              <a:rPr lang="zh-CN" altLang="en-US" sz="2400" dirty="0"/>
              <a:t>创建数据源，其参数 </a:t>
            </a:r>
            <a:r>
              <a:rPr lang="en-US" altLang="zh-CN" sz="2400" dirty="0"/>
              <a:t>features</a:t>
            </a:r>
            <a:r>
              <a:rPr lang="zh-CN" altLang="en-US" sz="2400" dirty="0"/>
              <a:t>是多个要素形成的集合。在</a:t>
            </a:r>
            <a:r>
              <a:rPr lang="en-US" altLang="zh-CN" sz="2400" dirty="0" err="1"/>
              <a:t>OpenLayers</a:t>
            </a:r>
            <a:r>
              <a:rPr lang="zh-CN" altLang="en-US" sz="2400" dirty="0"/>
              <a:t>中，每个矢量图形都是一个通过</a:t>
            </a:r>
            <a:r>
              <a:rPr lang="en-US" altLang="zh-CN" sz="2400" dirty="0" err="1"/>
              <a:t>ol.Feature</a:t>
            </a:r>
            <a:r>
              <a:rPr lang="zh-CN" altLang="en-US" sz="2400" dirty="0"/>
              <a:t>创建的要素，每个要素包含</a:t>
            </a:r>
            <a:r>
              <a:rPr lang="en-US" altLang="zh-CN" sz="2400" dirty="0"/>
              <a:t>Geometry</a:t>
            </a:r>
            <a:r>
              <a:rPr lang="zh-CN" altLang="en-US" sz="2400" dirty="0"/>
              <a:t>和属性信息。</a:t>
            </a:r>
            <a:r>
              <a:rPr lang="en-US" altLang="zh-CN" sz="2400" dirty="0"/>
              <a:t>Geometry</a:t>
            </a:r>
            <a:r>
              <a:rPr lang="zh-CN" altLang="en-US" sz="2400" dirty="0"/>
              <a:t>的创建可以使用 </a:t>
            </a:r>
            <a:r>
              <a:rPr lang="en-US" altLang="zh-CN" sz="2400" dirty="0" err="1"/>
              <a:t>ol.geom.Point</a:t>
            </a:r>
            <a:r>
              <a:rPr lang="zh-CN" altLang="en-US" sz="2400" dirty="0"/>
              <a:t>、</a:t>
            </a:r>
            <a:r>
              <a:rPr lang="en-US" altLang="zh-CN" sz="2400" dirty="0" err="1"/>
              <a:t>ol.geom.LineString</a:t>
            </a:r>
            <a:r>
              <a:rPr lang="zh-CN" altLang="en-US" sz="2400" dirty="0"/>
              <a:t>、</a:t>
            </a:r>
            <a:r>
              <a:rPr lang="en-US" altLang="zh-CN" sz="2400" dirty="0" err="1"/>
              <a:t>ol.geom.Polygon</a:t>
            </a:r>
            <a:r>
              <a:rPr lang="zh-CN" altLang="en-US" sz="2400" dirty="0"/>
              <a:t>方法，分别用于创建点对象、线对象和面对象。</a:t>
            </a:r>
            <a:endParaRPr lang="en-US" altLang="zh-CN" sz="2400" dirty="0"/>
          </a:p>
        </p:txBody>
      </p:sp>
    </p:spTree>
    <p:extLst>
      <p:ext uri="{BB962C8B-B14F-4D97-AF65-F5344CB8AC3E}">
        <p14:creationId xmlns:p14="http://schemas.microsoft.com/office/powerpoint/2010/main" val="17213294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34</a:t>
            </a:fld>
            <a:endParaRPr lang="en-US" altLang="zh-CN" dirty="0"/>
          </a:p>
        </p:txBody>
      </p:sp>
      <p:sp>
        <p:nvSpPr>
          <p:cNvPr id="3" name="矩形 2">
            <a:extLst>
              <a:ext uri="{FF2B5EF4-FFF2-40B4-BE49-F238E27FC236}">
                <a16:creationId xmlns:a16="http://schemas.microsoft.com/office/drawing/2014/main" id="{03775BEA-F139-4D36-B424-8ED97DF15650}"/>
              </a:ext>
            </a:extLst>
          </p:cNvPr>
          <p:cNvSpPr/>
          <p:nvPr/>
        </p:nvSpPr>
        <p:spPr>
          <a:xfrm>
            <a:off x="467544" y="995761"/>
            <a:ext cx="8333426" cy="461665"/>
          </a:xfrm>
          <a:prstGeom prst="rect">
            <a:avLst/>
          </a:prstGeom>
        </p:spPr>
        <p:txBody>
          <a:bodyPr wrap="square">
            <a:spAutoFit/>
          </a:bodyPr>
          <a:lstStyle/>
          <a:p>
            <a:r>
              <a:rPr lang="zh-CN" altLang="en-US" sz="2400" dirty="0"/>
              <a:t>线数据：</a:t>
            </a:r>
            <a:r>
              <a:rPr lang="en-US" altLang="zh-CN" sz="2000" dirty="0"/>
              <a:t>const </a:t>
            </a:r>
            <a:r>
              <a:rPr lang="en-US" altLang="zh-CN" sz="2000" dirty="0" err="1"/>
              <a:t>coords</a:t>
            </a:r>
            <a:r>
              <a:rPr lang="en-US" altLang="zh-CN" sz="2000" dirty="0"/>
              <a:t> = [[87.9947,39.491], [99.4908, 32.6796]]</a:t>
            </a:r>
            <a:endParaRPr lang="en-US" altLang="zh-CN" sz="2400" dirty="0"/>
          </a:p>
        </p:txBody>
      </p:sp>
      <p:sp>
        <p:nvSpPr>
          <p:cNvPr id="5" name="矩形 4">
            <a:extLst>
              <a:ext uri="{FF2B5EF4-FFF2-40B4-BE49-F238E27FC236}">
                <a16:creationId xmlns:a16="http://schemas.microsoft.com/office/drawing/2014/main" id="{212F9C5B-96B0-494B-AC4B-FDCF60FAB553}"/>
              </a:ext>
            </a:extLst>
          </p:cNvPr>
          <p:cNvSpPr/>
          <p:nvPr/>
        </p:nvSpPr>
        <p:spPr>
          <a:xfrm>
            <a:off x="467544" y="1628800"/>
            <a:ext cx="8477442" cy="4508927"/>
          </a:xfrm>
          <a:prstGeom prst="rect">
            <a:avLst/>
          </a:prstGeom>
        </p:spPr>
        <p:txBody>
          <a:bodyPr wrap="square">
            <a:spAutoFit/>
          </a:bodyPr>
          <a:lstStyle/>
          <a:p>
            <a:pPr>
              <a:lnSpc>
                <a:spcPct val="125000"/>
              </a:lnSpc>
              <a:spcBef>
                <a:spcPts val="600"/>
              </a:spcBef>
            </a:pPr>
            <a:r>
              <a:rPr lang="en-US" altLang="zh-CN" sz="2400" b="1" dirty="0">
                <a:solidFill>
                  <a:srgbClr val="0000FF"/>
                </a:solidFill>
              </a:rPr>
              <a:t>a.</a:t>
            </a:r>
            <a:r>
              <a:rPr lang="zh-CN" altLang="en-US" sz="2400" b="1" dirty="0">
                <a:solidFill>
                  <a:srgbClr val="0000FF"/>
                </a:solidFill>
              </a:rPr>
              <a:t>使用上述的线数据</a:t>
            </a:r>
            <a:r>
              <a:rPr lang="en-US" altLang="zh-CN" sz="2400" b="1" dirty="0" err="1">
                <a:solidFill>
                  <a:srgbClr val="0000FF"/>
                </a:solidFill>
              </a:rPr>
              <a:t>coords</a:t>
            </a:r>
            <a:r>
              <a:rPr lang="zh-CN" altLang="en-US" sz="2400" b="1" dirty="0">
                <a:solidFill>
                  <a:srgbClr val="0000FF"/>
                </a:solidFill>
              </a:rPr>
              <a:t>创建一个矢量数据源</a:t>
            </a:r>
            <a:r>
              <a:rPr lang="zh-CN" altLang="en-US" sz="2400" dirty="0"/>
              <a:t>：</a:t>
            </a:r>
            <a:endParaRPr lang="en-US" altLang="zh-CN" sz="2400" dirty="0"/>
          </a:p>
          <a:p>
            <a:pPr>
              <a:lnSpc>
                <a:spcPct val="125000"/>
              </a:lnSpc>
              <a:spcBef>
                <a:spcPts val="600"/>
              </a:spcBef>
            </a:pPr>
            <a:r>
              <a:rPr lang="en-US" altLang="zh-CN" sz="2400" b="1" dirty="0">
                <a:solidFill>
                  <a:srgbClr val="008000"/>
                </a:solidFill>
                <a:latin typeface="微软雅黑 Light" panose="020B0502040204020203" pitchFamily="34" charset="-122"/>
                <a:ea typeface="微软雅黑 Light" panose="020B0502040204020203" pitchFamily="34" charset="-122"/>
              </a:rPr>
              <a:t>// </a:t>
            </a:r>
            <a:r>
              <a:rPr lang="zh-CN" altLang="en-US" sz="2400" b="1" dirty="0">
                <a:solidFill>
                  <a:srgbClr val="008000"/>
                </a:solidFill>
                <a:latin typeface="微软雅黑 Light" panose="020B0502040204020203" pitchFamily="34" charset="-122"/>
                <a:ea typeface="微软雅黑 Light" panose="020B0502040204020203" pitchFamily="34" charset="-122"/>
              </a:rPr>
              <a:t>创建 </a:t>
            </a:r>
            <a:r>
              <a:rPr lang="en-US" altLang="zh-CN" sz="2400" b="1" dirty="0">
                <a:solidFill>
                  <a:srgbClr val="008000"/>
                </a:solidFill>
                <a:latin typeface="微软雅黑 Light" panose="020B0502040204020203" pitchFamily="34" charset="-122"/>
                <a:ea typeface="微软雅黑 Light" panose="020B0502040204020203" pitchFamily="34" charset="-122"/>
              </a:rPr>
              <a:t>geometry</a:t>
            </a:r>
          </a:p>
          <a:p>
            <a:pPr>
              <a:lnSpc>
                <a:spcPct val="125000"/>
              </a:lnSpc>
              <a:spcBef>
                <a:spcPts val="600"/>
              </a:spcBef>
            </a:pPr>
            <a:r>
              <a:rPr lang="en-US" altLang="zh-CN" sz="2400" dirty="0"/>
              <a:t>const geometry = new </a:t>
            </a:r>
            <a:r>
              <a:rPr lang="en-US" altLang="zh-CN" sz="2400" dirty="0" err="1"/>
              <a:t>ol.geom.LineString</a:t>
            </a:r>
            <a:r>
              <a:rPr lang="en-US" altLang="zh-CN" sz="2400" dirty="0"/>
              <a:t>(</a:t>
            </a:r>
            <a:r>
              <a:rPr lang="en-US" altLang="zh-CN" sz="2400" dirty="0" err="1"/>
              <a:t>coords</a:t>
            </a:r>
            <a:r>
              <a:rPr lang="en-US" altLang="zh-CN" sz="2400" dirty="0"/>
              <a:t>)</a:t>
            </a:r>
          </a:p>
          <a:p>
            <a:pPr>
              <a:lnSpc>
                <a:spcPct val="125000"/>
              </a:lnSpc>
              <a:spcBef>
                <a:spcPts val="600"/>
              </a:spcBef>
            </a:pPr>
            <a:r>
              <a:rPr lang="en-US" altLang="zh-CN" sz="2400" b="1" dirty="0">
                <a:solidFill>
                  <a:srgbClr val="008000"/>
                </a:solidFill>
                <a:latin typeface="微软雅黑 Light" panose="020B0502040204020203" pitchFamily="34" charset="-122"/>
                <a:ea typeface="微软雅黑 Light" panose="020B0502040204020203" pitchFamily="34" charset="-122"/>
              </a:rPr>
              <a:t>// </a:t>
            </a:r>
            <a:r>
              <a:rPr lang="zh-CN" altLang="en-US" sz="2400" b="1" dirty="0">
                <a:solidFill>
                  <a:srgbClr val="008000"/>
                </a:solidFill>
                <a:latin typeface="微软雅黑 Light" panose="020B0502040204020203" pitchFamily="34" charset="-122"/>
                <a:ea typeface="微软雅黑 Light" panose="020B0502040204020203" pitchFamily="34" charset="-122"/>
              </a:rPr>
              <a:t>创建要素集合 </a:t>
            </a:r>
            <a:r>
              <a:rPr lang="en-US" altLang="zh-CN" sz="2400" b="1" dirty="0">
                <a:solidFill>
                  <a:srgbClr val="008000"/>
                </a:solidFill>
                <a:latin typeface="微软雅黑 Light" panose="020B0502040204020203" pitchFamily="34" charset="-122"/>
                <a:ea typeface="微软雅黑 Light" panose="020B0502040204020203" pitchFamily="34" charset="-122"/>
              </a:rPr>
              <a:t>features</a:t>
            </a:r>
          </a:p>
          <a:p>
            <a:pPr>
              <a:lnSpc>
                <a:spcPct val="125000"/>
              </a:lnSpc>
              <a:spcBef>
                <a:spcPts val="600"/>
              </a:spcBef>
            </a:pPr>
            <a:r>
              <a:rPr lang="en-US" altLang="zh-CN" sz="2400" dirty="0"/>
              <a:t>const features = [new </a:t>
            </a:r>
            <a:r>
              <a:rPr lang="en-US" altLang="zh-CN" sz="2400" dirty="0" err="1"/>
              <a:t>ol.Feature</a:t>
            </a:r>
            <a:r>
              <a:rPr lang="en-US" altLang="zh-CN" sz="2400" dirty="0"/>
              <a:t>(geometry)]</a:t>
            </a:r>
          </a:p>
          <a:p>
            <a:pPr>
              <a:lnSpc>
                <a:spcPct val="125000"/>
              </a:lnSpc>
              <a:spcBef>
                <a:spcPts val="600"/>
              </a:spcBef>
            </a:pPr>
            <a:r>
              <a:rPr lang="en-US" altLang="zh-CN" sz="2400" b="1" dirty="0">
                <a:solidFill>
                  <a:srgbClr val="008000"/>
                </a:solidFill>
                <a:latin typeface="微软雅黑 Light" panose="020B0502040204020203" pitchFamily="34" charset="-122"/>
                <a:ea typeface="微软雅黑 Light" panose="020B0502040204020203" pitchFamily="34" charset="-122"/>
              </a:rPr>
              <a:t>// </a:t>
            </a:r>
            <a:r>
              <a:rPr lang="zh-CN" altLang="en-US" sz="2400" b="1" dirty="0">
                <a:solidFill>
                  <a:srgbClr val="008000"/>
                </a:solidFill>
                <a:latin typeface="微软雅黑 Light" panose="020B0502040204020203" pitchFamily="34" charset="-122"/>
                <a:ea typeface="微软雅黑 Light" panose="020B0502040204020203" pitchFamily="34" charset="-122"/>
              </a:rPr>
              <a:t>创建数据源 </a:t>
            </a:r>
            <a:r>
              <a:rPr lang="en-US" altLang="zh-CN" sz="2400" b="1" dirty="0">
                <a:solidFill>
                  <a:srgbClr val="008000"/>
                </a:solidFill>
                <a:latin typeface="微软雅黑 Light" panose="020B0502040204020203" pitchFamily="34" charset="-122"/>
                <a:ea typeface="微软雅黑 Light" panose="020B0502040204020203" pitchFamily="34" charset="-122"/>
              </a:rPr>
              <a:t>source</a:t>
            </a:r>
          </a:p>
          <a:p>
            <a:pPr>
              <a:spcBef>
                <a:spcPts val="600"/>
              </a:spcBef>
            </a:pPr>
            <a:r>
              <a:rPr lang="en-US" altLang="zh-CN" sz="2400" dirty="0"/>
              <a:t>const source1 = new </a:t>
            </a:r>
            <a:r>
              <a:rPr lang="en-US" altLang="zh-CN" sz="2400" dirty="0" err="1"/>
              <a:t>ol.source.Vector</a:t>
            </a:r>
            <a:r>
              <a:rPr lang="en-US" altLang="zh-CN" sz="2400" dirty="0"/>
              <a:t>({</a:t>
            </a:r>
          </a:p>
          <a:p>
            <a:pPr>
              <a:spcBef>
                <a:spcPts val="600"/>
              </a:spcBef>
            </a:pPr>
            <a:r>
              <a:rPr lang="en-US" altLang="zh-CN" sz="2400" dirty="0"/>
              <a:t>                                                                  features: features,           </a:t>
            </a:r>
          </a:p>
          <a:p>
            <a:pPr>
              <a:spcBef>
                <a:spcPts val="0"/>
              </a:spcBef>
            </a:pPr>
            <a:r>
              <a:rPr lang="en-US" altLang="zh-CN" sz="2400" dirty="0"/>
              <a:t>                                                             })</a:t>
            </a:r>
            <a:endParaRPr lang="zh-CN" altLang="en-US" sz="2400" dirty="0"/>
          </a:p>
        </p:txBody>
      </p:sp>
      <p:sp>
        <p:nvSpPr>
          <p:cNvPr id="8" name="矩形 7">
            <a:extLst>
              <a:ext uri="{FF2B5EF4-FFF2-40B4-BE49-F238E27FC236}">
                <a16:creationId xmlns:a16="http://schemas.microsoft.com/office/drawing/2014/main" id="{5F853316-E55F-4352-87AF-7F31C22F34A8}"/>
              </a:ext>
            </a:extLst>
          </p:cNvPr>
          <p:cNvSpPr/>
          <p:nvPr/>
        </p:nvSpPr>
        <p:spPr>
          <a:xfrm>
            <a:off x="467544" y="406518"/>
            <a:ext cx="8333426" cy="461665"/>
          </a:xfrm>
          <a:prstGeom prst="rect">
            <a:avLst/>
          </a:prstGeom>
        </p:spPr>
        <p:txBody>
          <a:bodyPr wrap="square">
            <a:spAutoFit/>
          </a:bodyPr>
          <a:lstStyle/>
          <a:p>
            <a:r>
              <a:rPr lang="zh-CN" altLang="en-US" sz="2400" dirty="0"/>
              <a:t>示例：</a:t>
            </a:r>
            <a:endParaRPr lang="en-US" altLang="zh-CN" sz="2400" dirty="0"/>
          </a:p>
        </p:txBody>
      </p:sp>
    </p:spTree>
    <p:extLst>
      <p:ext uri="{BB962C8B-B14F-4D97-AF65-F5344CB8AC3E}">
        <p14:creationId xmlns:p14="http://schemas.microsoft.com/office/powerpoint/2010/main" val="7350087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ED55431-DC14-4F25-8039-2F3C0D454388}"/>
              </a:ext>
            </a:extLst>
          </p:cNvPr>
          <p:cNvSpPr>
            <a:spLocks noGrp="1"/>
          </p:cNvSpPr>
          <p:nvPr>
            <p:ph type="sldNum" sz="quarter" idx="12"/>
          </p:nvPr>
        </p:nvSpPr>
        <p:spPr/>
        <p:txBody>
          <a:bodyPr/>
          <a:lstStyle/>
          <a:p>
            <a:pPr>
              <a:defRPr/>
            </a:pPr>
            <a:fld id="{BA9E6ED8-7A33-4B01-8942-D4BF2F5EE2E3}" type="slidenum">
              <a:rPr lang="en-US" altLang="zh-CN" smtClean="0"/>
              <a:pPr>
                <a:defRPr/>
              </a:pPr>
              <a:t>35</a:t>
            </a:fld>
            <a:endParaRPr lang="en-US" altLang="zh-CN"/>
          </a:p>
        </p:txBody>
      </p:sp>
      <p:sp>
        <p:nvSpPr>
          <p:cNvPr id="5" name="矩形 4">
            <a:extLst>
              <a:ext uri="{FF2B5EF4-FFF2-40B4-BE49-F238E27FC236}">
                <a16:creationId xmlns:a16="http://schemas.microsoft.com/office/drawing/2014/main" id="{7CAE634B-D24C-4A28-BE4D-F4D44D082E12}"/>
              </a:ext>
            </a:extLst>
          </p:cNvPr>
          <p:cNvSpPr/>
          <p:nvPr/>
        </p:nvSpPr>
        <p:spPr>
          <a:xfrm>
            <a:off x="464964" y="241271"/>
            <a:ext cx="8280920" cy="6432530"/>
          </a:xfrm>
          <a:prstGeom prst="rect">
            <a:avLst/>
          </a:prstGeom>
        </p:spPr>
        <p:txBody>
          <a:bodyPr wrap="square">
            <a:spAutoFit/>
          </a:bodyPr>
          <a:lstStyle/>
          <a:p>
            <a:pPr>
              <a:lnSpc>
                <a:spcPct val="150000"/>
              </a:lnSpc>
              <a:spcBef>
                <a:spcPts val="600"/>
              </a:spcBef>
            </a:pPr>
            <a:r>
              <a:rPr lang="en-US" altLang="zh-CN" sz="2400" b="1" dirty="0">
                <a:solidFill>
                  <a:srgbClr val="0000FF"/>
                </a:solidFill>
                <a:effectLst>
                  <a:outerShdw blurRad="38100" dist="38100" dir="2700000" algn="tl">
                    <a:srgbClr val="000000">
                      <a:alpha val="43137"/>
                    </a:srgbClr>
                  </a:outerShdw>
                </a:effectLst>
              </a:rPr>
              <a:t>b.</a:t>
            </a:r>
            <a:r>
              <a:rPr lang="zh-CN" altLang="en-US" sz="2400" b="1" dirty="0">
                <a:solidFill>
                  <a:srgbClr val="0000FF"/>
                </a:solidFill>
                <a:effectLst>
                  <a:outerShdw blurRad="38100" dist="38100" dir="2700000" algn="tl">
                    <a:srgbClr val="000000">
                      <a:alpha val="43137"/>
                    </a:srgbClr>
                  </a:outerShdw>
                </a:effectLst>
              </a:rPr>
              <a:t>创建矢量图层并设置样式</a:t>
            </a:r>
            <a:endParaRPr lang="en-US" altLang="zh-CN" sz="2400" b="1" dirty="0">
              <a:solidFill>
                <a:srgbClr val="0000FF"/>
              </a:solidFill>
              <a:effectLst>
                <a:outerShdw blurRad="38100" dist="38100" dir="2700000" algn="tl">
                  <a:srgbClr val="000000">
                    <a:alpha val="43137"/>
                  </a:srgbClr>
                </a:outerShdw>
              </a:effectLst>
            </a:endParaRPr>
          </a:p>
          <a:p>
            <a:pPr>
              <a:lnSpc>
                <a:spcPct val="125000"/>
              </a:lnSpc>
              <a:spcBef>
                <a:spcPts val="600"/>
              </a:spcBef>
            </a:pPr>
            <a:r>
              <a:rPr lang="zh-CN" altLang="en-US" sz="2400" b="1" dirty="0">
                <a:latin typeface="Times New Roman" panose="02020603050405020304" pitchFamily="18" charset="0"/>
                <a:cs typeface="Times New Roman" panose="02020603050405020304" pitchFamily="18" charset="0"/>
              </a:rPr>
              <a:t>        矢量图层通过</a:t>
            </a:r>
            <a:r>
              <a:rPr lang="en-US" altLang="zh-CN" sz="2400" b="1" dirty="0" err="1">
                <a:solidFill>
                  <a:srgbClr val="FF0000"/>
                </a:solidFill>
                <a:latin typeface="Times New Roman" panose="02020603050405020304" pitchFamily="18" charset="0"/>
                <a:cs typeface="Times New Roman" panose="02020603050405020304" pitchFamily="18" charset="0"/>
              </a:rPr>
              <a:t>ol.layer.Vector</a:t>
            </a:r>
            <a:r>
              <a:rPr lang="zh-CN" altLang="en-US" sz="2400" b="1" dirty="0">
                <a:latin typeface="Times New Roman" panose="02020603050405020304" pitchFamily="18" charset="0"/>
                <a:cs typeface="Times New Roman" panose="02020603050405020304" pitchFamily="18" charset="0"/>
              </a:rPr>
              <a:t>进行创建，</a:t>
            </a:r>
            <a:r>
              <a:rPr lang="en-US" altLang="zh-CN" sz="2400" b="1" dirty="0" err="1">
                <a:latin typeface="Times New Roman" panose="02020603050405020304" pitchFamily="18" charset="0"/>
                <a:cs typeface="Times New Roman" panose="02020603050405020304" pitchFamily="18" charset="0"/>
              </a:rPr>
              <a:t>ol.layer.Vector</a:t>
            </a:r>
            <a:r>
              <a:rPr lang="zh-CN" altLang="en-US" sz="2400" b="1" dirty="0">
                <a:latin typeface="Times New Roman" panose="02020603050405020304" pitchFamily="18" charset="0"/>
                <a:cs typeface="Times New Roman" panose="02020603050405020304" pitchFamily="18" charset="0"/>
              </a:rPr>
              <a:t>类包括两个参数：数据源</a:t>
            </a:r>
            <a:r>
              <a:rPr lang="en-US" altLang="zh-CN" sz="2400" b="1" dirty="0">
                <a:latin typeface="Times New Roman" panose="02020603050405020304" pitchFamily="18" charset="0"/>
                <a:cs typeface="Times New Roman" panose="02020603050405020304" pitchFamily="18" charset="0"/>
              </a:rPr>
              <a:t>source</a:t>
            </a:r>
            <a:r>
              <a:rPr lang="zh-CN" altLang="en-US" sz="2400" b="1" dirty="0">
                <a:latin typeface="Times New Roman" panose="02020603050405020304" pitchFamily="18" charset="0"/>
                <a:cs typeface="Times New Roman" panose="02020603050405020304" pitchFamily="18" charset="0"/>
              </a:rPr>
              <a:t>和样式</a:t>
            </a:r>
            <a:r>
              <a:rPr lang="en-US" altLang="zh-CN" sz="2400" b="1" dirty="0">
                <a:latin typeface="Times New Roman" panose="02020603050405020304" pitchFamily="18" charset="0"/>
                <a:cs typeface="Times New Roman" panose="02020603050405020304" pitchFamily="18" charset="0"/>
              </a:rPr>
              <a:t>style</a:t>
            </a:r>
            <a:r>
              <a:rPr lang="zh-CN" altLang="en-US" sz="2400" b="1" dirty="0">
                <a:latin typeface="Times New Roman" panose="02020603050405020304" pitchFamily="18" charset="0"/>
                <a:cs typeface="Times New Roman" panose="02020603050405020304" pitchFamily="18" charset="0"/>
              </a:rPr>
              <a:t>。图层样式使用</a:t>
            </a:r>
            <a:r>
              <a:rPr lang="en-US" altLang="zh-CN" sz="2400" b="1" dirty="0" err="1">
                <a:solidFill>
                  <a:srgbClr val="FF0000"/>
                </a:solidFill>
                <a:latin typeface="Times New Roman" panose="02020603050405020304" pitchFamily="18" charset="0"/>
                <a:cs typeface="Times New Roman" panose="02020603050405020304" pitchFamily="18" charset="0"/>
              </a:rPr>
              <a:t>ol.style.Style</a:t>
            </a:r>
            <a:r>
              <a:rPr lang="zh-CN" altLang="en-US" sz="2400" b="1" dirty="0">
                <a:solidFill>
                  <a:srgbClr val="FF0000"/>
                </a:solidFill>
                <a:latin typeface="Times New Roman" panose="02020603050405020304" pitchFamily="18" charset="0"/>
                <a:cs typeface="Times New Roman" panose="02020603050405020304" pitchFamily="18" charset="0"/>
              </a:rPr>
              <a:t>定义</a:t>
            </a:r>
            <a:r>
              <a:rPr lang="zh-CN" altLang="en-US" sz="2400" b="1" dirty="0">
                <a:latin typeface="Times New Roman" panose="02020603050405020304" pitchFamily="18" charset="0"/>
                <a:cs typeface="Times New Roman" panose="02020603050405020304" pitchFamily="18" charset="0"/>
              </a:rPr>
              <a:t>。在样式设置中，</a:t>
            </a:r>
            <a:r>
              <a:rPr lang="en-US" altLang="zh-CN" sz="2400" b="1" dirty="0">
                <a:latin typeface="Times New Roman" panose="02020603050405020304" pitchFamily="18" charset="0"/>
                <a:cs typeface="Times New Roman" panose="02020603050405020304" pitchFamily="18" charset="0"/>
              </a:rPr>
              <a:t>stroke</a:t>
            </a:r>
            <a:r>
              <a:rPr lang="zh-CN" altLang="en-US" sz="2400" b="1" dirty="0">
                <a:latin typeface="Times New Roman" panose="02020603050405020304" pitchFamily="18" charset="0"/>
                <a:cs typeface="Times New Roman" panose="02020603050405020304" pitchFamily="18" charset="0"/>
              </a:rPr>
              <a:t>定义了线的颜色。</a:t>
            </a:r>
            <a:r>
              <a:rPr lang="en-US" altLang="zh-CN" sz="2400" b="1" dirty="0" err="1">
                <a:latin typeface="Times New Roman" panose="02020603050405020304" pitchFamily="18" charset="0"/>
                <a:cs typeface="Times New Roman" panose="02020603050405020304" pitchFamily="18" charset="0"/>
              </a:rPr>
              <a:t>ol.style.Style</a:t>
            </a:r>
            <a:r>
              <a:rPr lang="zh-CN" altLang="en-US" sz="2400" b="1" dirty="0">
                <a:latin typeface="Times New Roman" panose="02020603050405020304" pitchFamily="18" charset="0"/>
                <a:cs typeface="Times New Roman" panose="02020603050405020304" pitchFamily="18" charset="0"/>
              </a:rPr>
              <a:t>还有很多的用途，如通过</a:t>
            </a:r>
            <a:r>
              <a:rPr lang="en-US" altLang="zh-CN" sz="2400" b="1" dirty="0">
                <a:latin typeface="Times New Roman" panose="02020603050405020304" pitchFamily="18" charset="0"/>
                <a:cs typeface="Times New Roman" panose="02020603050405020304" pitchFamily="18" charset="0"/>
              </a:rPr>
              <a:t>image</a:t>
            </a:r>
            <a:r>
              <a:rPr lang="zh-CN" altLang="en-US" sz="2400" b="1" dirty="0">
                <a:latin typeface="Times New Roman" panose="02020603050405020304" pitchFamily="18" charset="0"/>
                <a:cs typeface="Times New Roman" panose="02020603050405020304" pitchFamily="18" charset="0"/>
              </a:rPr>
              <a:t>定义点的样式，通过</a:t>
            </a:r>
            <a:r>
              <a:rPr lang="en-US" altLang="zh-CN" sz="2400" b="1" dirty="0">
                <a:latin typeface="Times New Roman" panose="02020603050405020304" pitchFamily="18" charset="0"/>
                <a:cs typeface="Times New Roman" panose="02020603050405020304" pitchFamily="18" charset="0"/>
              </a:rPr>
              <a:t>fill</a:t>
            </a:r>
            <a:r>
              <a:rPr lang="zh-CN" altLang="en-US" sz="2400" b="1" dirty="0">
                <a:latin typeface="Times New Roman" panose="02020603050405020304" pitchFamily="18" charset="0"/>
                <a:cs typeface="Times New Roman" panose="02020603050405020304" pitchFamily="18" charset="0"/>
              </a:rPr>
              <a:t>定义面的填充样式等。</a:t>
            </a:r>
            <a:endParaRPr lang="en-US" altLang="zh-CN" sz="2400" b="1" dirty="0">
              <a:latin typeface="Times New Roman" panose="02020603050405020304" pitchFamily="18" charset="0"/>
              <a:cs typeface="Times New Roman" panose="02020603050405020304" pitchFamily="18" charset="0"/>
            </a:endParaRPr>
          </a:p>
          <a:p>
            <a:pPr>
              <a:spcBef>
                <a:spcPts val="600"/>
              </a:spcBef>
            </a:pPr>
            <a:r>
              <a:rPr lang="en-US" altLang="zh-CN" sz="2400" b="1" dirty="0">
                <a:solidFill>
                  <a:srgbClr val="0000FF"/>
                </a:solidFill>
                <a:latin typeface="Times New Roman" panose="02020603050405020304" pitchFamily="18" charset="0"/>
                <a:cs typeface="Times New Roman" panose="02020603050405020304" pitchFamily="18" charset="0"/>
              </a:rPr>
              <a:t>const </a:t>
            </a:r>
            <a:r>
              <a:rPr lang="en-US" altLang="zh-CN" sz="2400" b="1" dirty="0" err="1">
                <a:solidFill>
                  <a:srgbClr val="0000FF"/>
                </a:solidFill>
                <a:latin typeface="Times New Roman" panose="02020603050405020304" pitchFamily="18" charset="0"/>
                <a:cs typeface="Times New Roman" panose="02020603050405020304" pitchFamily="18" charset="0"/>
              </a:rPr>
              <a:t>vecLayer</a:t>
            </a:r>
            <a:r>
              <a:rPr lang="en-US" altLang="zh-CN" sz="2400" b="1" dirty="0">
                <a:solidFill>
                  <a:srgbClr val="0000FF"/>
                </a:solidFill>
                <a:latin typeface="Times New Roman" panose="02020603050405020304" pitchFamily="18" charset="0"/>
                <a:cs typeface="Times New Roman" panose="02020603050405020304" pitchFamily="18" charset="0"/>
              </a:rPr>
              <a:t> = new </a:t>
            </a:r>
            <a:r>
              <a:rPr lang="en-US" altLang="zh-CN" sz="2400" b="1" dirty="0" err="1">
                <a:solidFill>
                  <a:srgbClr val="0000FF"/>
                </a:solidFill>
                <a:latin typeface="Times New Roman" panose="02020603050405020304" pitchFamily="18" charset="0"/>
                <a:cs typeface="Times New Roman" panose="02020603050405020304" pitchFamily="18" charset="0"/>
              </a:rPr>
              <a:t>ol.layer.Vector</a:t>
            </a:r>
            <a:r>
              <a:rPr lang="en-US" altLang="zh-CN" sz="2400" b="1" dirty="0">
                <a:solidFill>
                  <a:srgbClr val="0000FF"/>
                </a:solidFill>
                <a:latin typeface="Times New Roman" panose="02020603050405020304" pitchFamily="18" charset="0"/>
                <a:cs typeface="Times New Roman" panose="02020603050405020304" pitchFamily="18" charset="0"/>
              </a:rPr>
              <a:t>({</a:t>
            </a:r>
          </a:p>
          <a:p>
            <a:pPr>
              <a:spcBef>
                <a:spcPts val="0"/>
              </a:spcBef>
            </a:pPr>
            <a:r>
              <a:rPr lang="en-US" altLang="zh-CN" sz="2400" b="1" dirty="0">
                <a:solidFill>
                  <a:srgbClr val="0000FF"/>
                </a:solidFill>
                <a:latin typeface="Times New Roman" panose="02020603050405020304" pitchFamily="18" charset="0"/>
                <a:cs typeface="Times New Roman" panose="02020603050405020304" pitchFamily="18" charset="0"/>
              </a:rPr>
              <a:t>          source: source1, </a:t>
            </a:r>
          </a:p>
          <a:p>
            <a:pPr>
              <a:spcBef>
                <a:spcPts val="0"/>
              </a:spcBef>
            </a:pPr>
            <a:r>
              <a:rPr lang="en-US" altLang="zh-CN" sz="2400" b="1" dirty="0">
                <a:solidFill>
                  <a:srgbClr val="0000FF"/>
                </a:solidFill>
                <a:latin typeface="Times New Roman" panose="02020603050405020304" pitchFamily="18" charset="0"/>
                <a:cs typeface="Times New Roman" panose="02020603050405020304" pitchFamily="18" charset="0"/>
              </a:rPr>
              <a:t>          style: new </a:t>
            </a:r>
            <a:r>
              <a:rPr lang="en-US" altLang="zh-CN" sz="2400" b="1" dirty="0" err="1">
                <a:solidFill>
                  <a:srgbClr val="0000FF"/>
                </a:solidFill>
                <a:latin typeface="Times New Roman" panose="02020603050405020304" pitchFamily="18" charset="0"/>
                <a:cs typeface="Times New Roman" panose="02020603050405020304" pitchFamily="18" charset="0"/>
              </a:rPr>
              <a:t>ol.style.Style</a:t>
            </a:r>
            <a:r>
              <a:rPr lang="en-US" altLang="zh-CN" sz="2400" b="1" dirty="0">
                <a:solidFill>
                  <a:srgbClr val="0000FF"/>
                </a:solidFill>
                <a:latin typeface="Times New Roman" panose="02020603050405020304" pitchFamily="18" charset="0"/>
                <a:cs typeface="Times New Roman" panose="02020603050405020304" pitchFamily="18" charset="0"/>
              </a:rPr>
              <a:t>({</a:t>
            </a:r>
          </a:p>
          <a:p>
            <a:pPr>
              <a:spcBef>
                <a:spcPts val="0"/>
              </a:spcBef>
            </a:pPr>
            <a:r>
              <a:rPr lang="en-US" altLang="zh-CN" sz="2400" b="1" dirty="0">
                <a:solidFill>
                  <a:srgbClr val="0000FF"/>
                </a:solidFill>
                <a:latin typeface="Times New Roman" panose="02020603050405020304" pitchFamily="18" charset="0"/>
                <a:cs typeface="Times New Roman" panose="02020603050405020304" pitchFamily="18" charset="0"/>
              </a:rPr>
              <a:t>                stroke: new </a:t>
            </a:r>
            <a:r>
              <a:rPr lang="en-US" altLang="zh-CN" sz="2400" b="1" dirty="0" err="1">
                <a:solidFill>
                  <a:srgbClr val="0000FF"/>
                </a:solidFill>
                <a:latin typeface="Times New Roman" panose="02020603050405020304" pitchFamily="18" charset="0"/>
                <a:cs typeface="Times New Roman" panose="02020603050405020304" pitchFamily="18" charset="0"/>
              </a:rPr>
              <a:t>ol.style.Stroke</a:t>
            </a:r>
            <a:r>
              <a:rPr lang="en-US" altLang="zh-CN" sz="2400" b="1" dirty="0">
                <a:solidFill>
                  <a:srgbClr val="0000FF"/>
                </a:solidFill>
                <a:latin typeface="Times New Roman" panose="02020603050405020304" pitchFamily="18" charset="0"/>
                <a:cs typeface="Times New Roman" panose="02020603050405020304" pitchFamily="18" charset="0"/>
              </a:rPr>
              <a:t>({</a:t>
            </a:r>
          </a:p>
          <a:p>
            <a:pPr>
              <a:spcBef>
                <a:spcPts val="0"/>
              </a:spcBef>
            </a:pPr>
            <a:r>
              <a:rPr lang="en-US" altLang="zh-CN" sz="2400" b="1" dirty="0">
                <a:solidFill>
                  <a:srgbClr val="0000FF"/>
                </a:solidFill>
                <a:latin typeface="Times New Roman" panose="02020603050405020304" pitchFamily="18" charset="0"/>
                <a:cs typeface="Times New Roman" panose="02020603050405020304" pitchFamily="18" charset="0"/>
              </a:rPr>
              <a:t>                       color</a:t>
            </a:r>
            <a:r>
              <a:rPr lang="zh-CN" altLang="en-US" sz="2400" b="1" dirty="0">
                <a:solidFill>
                  <a:srgbClr val="0000FF"/>
                </a:solidFill>
                <a:latin typeface="Times New Roman" panose="02020603050405020304" pitchFamily="18" charset="0"/>
                <a:cs typeface="Times New Roman" panose="02020603050405020304" pitchFamily="18" charset="0"/>
              </a:rPr>
              <a:t>： </a:t>
            </a:r>
            <a:r>
              <a:rPr lang="en-US" altLang="zh-CN" sz="2400" b="1" dirty="0">
                <a:solidFill>
                  <a:srgbClr val="0000FF"/>
                </a:solidFill>
                <a:latin typeface="Times New Roman" panose="02020603050405020304" pitchFamily="18" charset="0"/>
                <a:cs typeface="Times New Roman" panose="02020603050405020304" pitchFamily="18" charset="0"/>
              </a:rPr>
              <a:t>'#ff0000’,</a:t>
            </a:r>
          </a:p>
          <a:p>
            <a:pPr>
              <a:spcBef>
                <a:spcPts val="0"/>
              </a:spcBef>
            </a:pPr>
            <a:r>
              <a:rPr lang="en-US" altLang="zh-CN" sz="2400" b="1" dirty="0">
                <a:solidFill>
                  <a:srgbClr val="0000FF"/>
                </a:solidFill>
                <a:latin typeface="Times New Roman" panose="02020603050405020304" pitchFamily="18" charset="0"/>
                <a:cs typeface="Times New Roman" panose="02020603050405020304" pitchFamily="18" charset="0"/>
              </a:rPr>
              <a:t>                       width: 2</a:t>
            </a:r>
            <a:r>
              <a:rPr lang="zh-CN" altLang="en-US" sz="2400" b="1" dirty="0">
                <a:solidFill>
                  <a:srgbClr val="0000FF"/>
                </a:solidFill>
                <a:latin typeface="Times New Roman" panose="02020603050405020304" pitchFamily="18" charset="0"/>
                <a:cs typeface="Times New Roman" panose="02020603050405020304" pitchFamily="18" charset="0"/>
              </a:rPr>
              <a:t>）                       </a:t>
            </a:r>
            <a:endParaRPr lang="en-US" altLang="zh-CN" sz="2400" b="1" dirty="0">
              <a:solidFill>
                <a:srgbClr val="0000FF"/>
              </a:solidFill>
              <a:latin typeface="Times New Roman" panose="02020603050405020304" pitchFamily="18" charset="0"/>
              <a:cs typeface="Times New Roman" panose="02020603050405020304" pitchFamily="18" charset="0"/>
            </a:endParaRPr>
          </a:p>
          <a:p>
            <a:pPr>
              <a:spcBef>
                <a:spcPts val="0"/>
              </a:spcBef>
            </a:pPr>
            <a:r>
              <a:rPr lang="en-US" altLang="zh-CN" sz="2400" b="1" dirty="0">
                <a:solidFill>
                  <a:srgbClr val="0000FF"/>
                </a:solidFill>
                <a:latin typeface="Times New Roman" panose="02020603050405020304" pitchFamily="18" charset="0"/>
                <a:cs typeface="Times New Roman" panose="02020603050405020304" pitchFamily="18" charset="0"/>
              </a:rPr>
              <a:t>                                                                }</a:t>
            </a:r>
            <a:r>
              <a:rPr lang="zh-CN" altLang="en-US" sz="2400" b="1" dirty="0">
                <a:solidFill>
                  <a:srgbClr val="0000FF"/>
                </a:solidFill>
                <a:latin typeface="Times New Roman" panose="02020603050405020304" pitchFamily="18" charset="0"/>
                <a:cs typeface="Times New Roman" panose="02020603050405020304" pitchFamily="18" charset="0"/>
              </a:rPr>
              <a:t>）</a:t>
            </a:r>
            <a:endParaRPr lang="en-US" altLang="zh-CN" sz="2400" b="1" dirty="0">
              <a:solidFill>
                <a:srgbClr val="0000FF"/>
              </a:solidFill>
              <a:latin typeface="Times New Roman" panose="02020603050405020304" pitchFamily="18" charset="0"/>
              <a:cs typeface="Times New Roman" panose="02020603050405020304" pitchFamily="18" charset="0"/>
            </a:endParaRPr>
          </a:p>
          <a:p>
            <a:pPr>
              <a:spcBef>
                <a:spcPts val="0"/>
              </a:spcBef>
            </a:pPr>
            <a:r>
              <a:rPr lang="en-US" altLang="zh-CN" sz="2400" b="1" dirty="0">
                <a:solidFill>
                  <a:srgbClr val="0000FF"/>
                </a:solidFill>
                <a:latin typeface="Times New Roman" panose="02020603050405020304" pitchFamily="18" charset="0"/>
                <a:cs typeface="Times New Roman" panose="02020603050405020304" pitchFamily="18" charset="0"/>
              </a:rPr>
              <a:t>                                                   }</a:t>
            </a:r>
            <a:r>
              <a:rPr lang="zh-CN" altLang="en-US" sz="2400" b="1" dirty="0">
                <a:solidFill>
                  <a:srgbClr val="0000FF"/>
                </a:solidFill>
                <a:latin typeface="Times New Roman" panose="02020603050405020304" pitchFamily="18" charset="0"/>
                <a:cs typeface="Times New Roman" panose="02020603050405020304" pitchFamily="18" charset="0"/>
              </a:rPr>
              <a:t>）</a:t>
            </a:r>
            <a:endParaRPr lang="en-US" altLang="zh-CN" sz="2400" b="1" dirty="0">
              <a:solidFill>
                <a:srgbClr val="0000FF"/>
              </a:solidFill>
              <a:latin typeface="Times New Roman" panose="02020603050405020304" pitchFamily="18" charset="0"/>
              <a:cs typeface="Times New Roman" panose="02020603050405020304" pitchFamily="18" charset="0"/>
            </a:endParaRPr>
          </a:p>
          <a:p>
            <a:pPr>
              <a:spcBef>
                <a:spcPts val="0"/>
              </a:spcBef>
            </a:pPr>
            <a:r>
              <a:rPr lang="en-US" altLang="zh-CN" sz="2400" b="1" dirty="0">
                <a:solidFill>
                  <a:srgbClr val="0000FF"/>
                </a:solidFill>
                <a:latin typeface="Times New Roman" panose="02020603050405020304" pitchFamily="18" charset="0"/>
                <a:cs typeface="Times New Roman" panose="02020603050405020304" pitchFamily="18" charset="0"/>
              </a:rPr>
              <a:t>}</a:t>
            </a:r>
            <a:r>
              <a:rPr lang="zh-CN" altLang="en-US" sz="2400" b="1" dirty="0">
                <a:solidFill>
                  <a:srgbClr val="0000FF"/>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820534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ED55431-DC14-4F25-8039-2F3C0D454388}"/>
              </a:ext>
            </a:extLst>
          </p:cNvPr>
          <p:cNvSpPr>
            <a:spLocks noGrp="1"/>
          </p:cNvSpPr>
          <p:nvPr>
            <p:ph type="sldNum" sz="quarter" idx="12"/>
          </p:nvPr>
        </p:nvSpPr>
        <p:spPr/>
        <p:txBody>
          <a:bodyPr/>
          <a:lstStyle/>
          <a:p>
            <a:pPr>
              <a:defRPr/>
            </a:pPr>
            <a:fld id="{BA9E6ED8-7A33-4B01-8942-D4BF2F5EE2E3}" type="slidenum">
              <a:rPr lang="en-US" altLang="zh-CN" smtClean="0"/>
              <a:pPr>
                <a:defRPr/>
              </a:pPr>
              <a:t>36</a:t>
            </a:fld>
            <a:endParaRPr lang="en-US" altLang="zh-CN"/>
          </a:p>
        </p:txBody>
      </p:sp>
      <p:sp>
        <p:nvSpPr>
          <p:cNvPr id="5" name="矩形 4">
            <a:extLst>
              <a:ext uri="{FF2B5EF4-FFF2-40B4-BE49-F238E27FC236}">
                <a16:creationId xmlns:a16="http://schemas.microsoft.com/office/drawing/2014/main" id="{7CAE634B-D24C-4A28-BE4D-F4D44D082E12}"/>
              </a:ext>
            </a:extLst>
          </p:cNvPr>
          <p:cNvSpPr/>
          <p:nvPr/>
        </p:nvSpPr>
        <p:spPr>
          <a:xfrm>
            <a:off x="582990" y="620688"/>
            <a:ext cx="8075240" cy="1761188"/>
          </a:xfrm>
          <a:prstGeom prst="rect">
            <a:avLst/>
          </a:prstGeom>
        </p:spPr>
        <p:txBody>
          <a:bodyPr wrap="square">
            <a:spAutoFit/>
          </a:bodyPr>
          <a:lstStyle/>
          <a:p>
            <a:pPr>
              <a:lnSpc>
                <a:spcPct val="150000"/>
              </a:lnSpc>
              <a:spcBef>
                <a:spcPts val="600"/>
              </a:spcBef>
            </a:pPr>
            <a:r>
              <a:rPr lang="en-US" altLang="zh-CN" sz="2400" b="1" dirty="0">
                <a:solidFill>
                  <a:srgbClr val="0000FF"/>
                </a:solidFill>
              </a:rPr>
              <a:t>c.</a:t>
            </a:r>
            <a:r>
              <a:rPr lang="zh-CN" altLang="en-US" sz="2400" b="1" dirty="0">
                <a:solidFill>
                  <a:srgbClr val="0000FF"/>
                </a:solidFill>
              </a:rPr>
              <a:t>添加图层</a:t>
            </a:r>
            <a:endParaRPr lang="en-US" altLang="zh-CN" sz="2400" b="1" dirty="0">
              <a:solidFill>
                <a:srgbClr val="0000FF"/>
              </a:solidFill>
            </a:endParaRPr>
          </a:p>
          <a:p>
            <a:pPr>
              <a:lnSpc>
                <a:spcPct val="150000"/>
              </a:lnSpc>
              <a:spcBef>
                <a:spcPts val="600"/>
              </a:spcBef>
            </a:pPr>
            <a:r>
              <a:rPr lang="zh-CN" altLang="en-US" sz="2400" b="1" dirty="0">
                <a:latin typeface="Times New Roman" panose="02020603050405020304" pitchFamily="18" charset="0"/>
                <a:cs typeface="Times New Roman" panose="02020603050405020304" pitchFamily="18" charset="0"/>
              </a:rPr>
              <a:t>       使用</a:t>
            </a:r>
            <a:r>
              <a:rPr lang="en-US" altLang="zh-CN" sz="2400" b="1" dirty="0" err="1">
                <a:latin typeface="Times New Roman" panose="02020603050405020304" pitchFamily="18" charset="0"/>
                <a:cs typeface="Times New Roman" panose="02020603050405020304" pitchFamily="18" charset="0"/>
              </a:rPr>
              <a:t>map.addLayers</a:t>
            </a:r>
            <a:r>
              <a:rPr lang="en-US" altLang="zh-CN" sz="2400" b="1" dirty="0">
                <a:latin typeface="Times New Roman" panose="02020603050405020304" pitchFamily="18" charset="0"/>
                <a:cs typeface="Times New Roman" panose="02020603050405020304" pitchFamily="18" charset="0"/>
              </a:rPr>
              <a:t>(</a:t>
            </a:r>
            <a:r>
              <a:rPr lang="en-US" altLang="zh-CN" sz="2400" b="1" dirty="0" err="1">
                <a:latin typeface="Times New Roman" panose="02020603050405020304" pitchFamily="18" charset="0"/>
                <a:cs typeface="Times New Roman" panose="02020603050405020304" pitchFamily="18" charset="0"/>
              </a:rPr>
              <a:t>vecLayer</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方法，将所创建的图层添加到地图上。其中</a:t>
            </a:r>
            <a:r>
              <a:rPr lang="en-US" altLang="zh-CN" sz="2400" b="1" dirty="0" err="1">
                <a:latin typeface="Times New Roman" panose="02020603050405020304" pitchFamily="18" charset="0"/>
                <a:cs typeface="Times New Roman" panose="02020603050405020304" pitchFamily="18" charset="0"/>
              </a:rPr>
              <a:t>vecLayer</a:t>
            </a:r>
            <a:r>
              <a:rPr lang="zh-CN" altLang="en-US" sz="2400" b="1" dirty="0">
                <a:latin typeface="Times New Roman" panose="02020603050405020304" pitchFamily="18" charset="0"/>
                <a:cs typeface="Times New Roman" panose="02020603050405020304" pitchFamily="18" charset="0"/>
              </a:rPr>
              <a:t>为上一步创建的矢量图层。</a:t>
            </a:r>
            <a:endParaRPr lang="zh-CN" altLang="en-US" sz="2400" b="1" dirty="0">
              <a:solidFill>
                <a:srgbClr val="0000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85748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37</a:t>
            </a:fld>
            <a:endParaRPr lang="en-US" altLang="zh-CN"/>
          </a:p>
        </p:txBody>
      </p:sp>
      <p:sp>
        <p:nvSpPr>
          <p:cNvPr id="2" name="矩形 1"/>
          <p:cNvSpPr/>
          <p:nvPr/>
        </p:nvSpPr>
        <p:spPr>
          <a:xfrm>
            <a:off x="395536" y="188640"/>
            <a:ext cx="3449983" cy="461665"/>
          </a:xfrm>
          <a:prstGeom prst="rect">
            <a:avLst/>
          </a:prstGeom>
        </p:spPr>
        <p:txBody>
          <a:bodyPr wrap="none">
            <a:spAutoFit/>
          </a:bodyPr>
          <a:lstStyle/>
          <a:p>
            <a:r>
              <a:rPr lang="zh-CN" altLang="en-US" sz="2400" b="1" dirty="0">
                <a:effectLst>
                  <a:outerShdw blurRad="38100" dist="38100" dir="2700000" algn="tl">
                    <a:srgbClr val="000000">
                      <a:alpha val="43137"/>
                    </a:srgbClr>
                  </a:outerShdw>
                </a:effectLst>
              </a:rPr>
              <a:t>（</a:t>
            </a:r>
            <a:r>
              <a:rPr lang="en-US" altLang="zh-CN" sz="2400" b="1" dirty="0">
                <a:effectLst>
                  <a:outerShdw blurRad="38100" dist="38100" dir="2700000" algn="tl">
                    <a:srgbClr val="000000">
                      <a:alpha val="43137"/>
                    </a:srgbClr>
                  </a:outerShdw>
                </a:effectLst>
              </a:rPr>
              <a:t>2</a:t>
            </a:r>
            <a:r>
              <a:rPr lang="zh-CN" altLang="en-US" sz="2400" b="1" dirty="0">
                <a:effectLst>
                  <a:outerShdw blurRad="38100" dist="38100" dir="2700000" algn="tl">
                    <a:srgbClr val="000000">
                      <a:alpha val="43137"/>
                    </a:srgbClr>
                  </a:outerShdw>
                </a:effectLst>
              </a:rPr>
              <a:t>）公共地图数据加载</a:t>
            </a:r>
            <a:endParaRPr lang="zh-CN" altLang="en-US" sz="2400" dirty="0"/>
          </a:p>
        </p:txBody>
      </p:sp>
      <p:pic>
        <p:nvPicPr>
          <p:cNvPr id="5" name="图片 4"/>
          <p:cNvPicPr>
            <a:picLocks noChangeAspect="1"/>
          </p:cNvPicPr>
          <p:nvPr/>
        </p:nvPicPr>
        <p:blipFill>
          <a:blip r:embed="rId3"/>
          <a:stretch>
            <a:fillRect/>
          </a:stretch>
        </p:blipFill>
        <p:spPr>
          <a:xfrm>
            <a:off x="14477" y="666471"/>
            <a:ext cx="9129523" cy="6061745"/>
          </a:xfrm>
          <a:prstGeom prst="rect">
            <a:avLst/>
          </a:prstGeom>
        </p:spPr>
      </p:pic>
    </p:spTree>
    <p:extLst>
      <p:ext uri="{BB962C8B-B14F-4D97-AF65-F5344CB8AC3E}">
        <p14:creationId xmlns:p14="http://schemas.microsoft.com/office/powerpoint/2010/main" val="7496104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332656"/>
            <a:ext cx="8229600" cy="576064"/>
          </a:xfrm>
        </p:spPr>
        <p:txBody>
          <a:bodyPr/>
          <a:lstStyle/>
          <a:p>
            <a:r>
              <a:rPr lang="zh-CN" altLang="en-US" sz="2400" b="1" kern="1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kern="1200" dirty="0" err="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b="1" kern="1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&gt; </a:t>
            </a:r>
            <a:r>
              <a:rPr lang="zh-CN" altLang="en-US" sz="2400" b="1" kern="1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坐标系及投影</a:t>
            </a:r>
          </a:p>
        </p:txBody>
      </p:sp>
      <p:sp>
        <p:nvSpPr>
          <p:cNvPr id="3" name="内容占位符 2"/>
          <p:cNvSpPr>
            <a:spLocks noGrp="1"/>
          </p:cNvSpPr>
          <p:nvPr>
            <p:ph idx="1"/>
          </p:nvPr>
        </p:nvSpPr>
        <p:spPr>
          <a:xfrm>
            <a:off x="539552" y="764704"/>
            <a:ext cx="8280920" cy="4464496"/>
          </a:xfrm>
        </p:spPr>
        <p:txBody>
          <a:bodyPr>
            <a:noAutofit/>
          </a:bodyPr>
          <a:lstStyle/>
          <a:p>
            <a:pPr>
              <a:lnSpc>
                <a:spcPct val="125000"/>
              </a:lnSpc>
              <a:spcBef>
                <a:spcPts val="600"/>
              </a:spcBef>
            </a:pPr>
            <a:r>
              <a:rPr lang="en-US" altLang="zh-CN" sz="2400" b="1" dirty="0" err="1">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OpenLayers</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定义了两种常用的投影坐标系，即地理经纬度的</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EPSG:4326</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和</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Web</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墨卡托的</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EPSG:3857</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t>
            </a:r>
            <a:r>
              <a:rPr lang="en-US" altLang="zh-CN" sz="2400" b="1" dirty="0" err="1">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OpenLayers</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5</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在地图视图对象中有一个投影坐标系参数</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(projection)</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，在加载地图时可通过此参数设置地图的投影坐标系；</a:t>
            </a:r>
            <a:endPar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a:p>
            <a:pPr marL="0" indent="0">
              <a:lnSpc>
                <a:spcPct val="125000"/>
              </a:lnSpc>
              <a:spcBef>
                <a:spcPts val="600"/>
              </a:spcBef>
              <a:buNone/>
            </a:pP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en-US" altLang="zh-CN" sz="2400" b="1" dirty="0" err="1">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projection:ol.proj.get</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(EPSG:3857);</a:t>
            </a:r>
          </a:p>
          <a:p>
            <a:pPr>
              <a:lnSpc>
                <a:spcPct val="125000"/>
              </a:lnSpc>
              <a:spcBef>
                <a:spcPts val="600"/>
              </a:spcBef>
            </a:pP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在实际应用中，</a:t>
            </a:r>
            <a:r>
              <a:rPr lang="zh-CN" altLang="en-US" sz="2400" b="1" u="sng" dirty="0">
                <a:solidFill>
                  <a:srgbClr val="FF0066"/>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叠加图层数据需要确保在统一的投影坐标系下，</a:t>
            </a:r>
            <a:r>
              <a:rPr lang="en-US" altLang="zh-CN" sz="2400" b="1" u="sng" dirty="0" err="1">
                <a:solidFill>
                  <a:srgbClr val="FF0066"/>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OpenLayers</a:t>
            </a:r>
            <a:r>
              <a:rPr lang="en-US" altLang="zh-CN" sz="2400" b="1" u="sng" dirty="0">
                <a:solidFill>
                  <a:srgbClr val="FF0066"/>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5</a:t>
            </a:r>
            <a:r>
              <a:rPr lang="zh-CN" altLang="en-US" sz="2400" b="1" u="sng" dirty="0">
                <a:solidFill>
                  <a:srgbClr val="FF0066"/>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针对地图投影坐标系的操作，如地图投影转换等</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，均由</a:t>
            </a:r>
            <a:r>
              <a:rPr lang="en-US" altLang="zh-CN" sz="2400" b="1" dirty="0" err="1">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ol.proj.Projection</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类实现。</a:t>
            </a:r>
            <a:endPar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p:txBody>
      </p:sp>
      <p:sp>
        <p:nvSpPr>
          <p:cNvPr id="4" name="矩形 3">
            <a:extLst>
              <a:ext uri="{FF2B5EF4-FFF2-40B4-BE49-F238E27FC236}">
                <a16:creationId xmlns:a16="http://schemas.microsoft.com/office/drawing/2014/main" id="{1986A3D5-BD33-4761-AB52-855FD279CF56}"/>
              </a:ext>
            </a:extLst>
          </p:cNvPr>
          <p:cNvSpPr/>
          <p:nvPr/>
        </p:nvSpPr>
        <p:spPr>
          <a:xfrm>
            <a:off x="383667" y="6156012"/>
            <a:ext cx="8592690" cy="369332"/>
          </a:xfrm>
          <a:prstGeom prst="rect">
            <a:avLst/>
          </a:prstGeom>
        </p:spPr>
        <p:txBody>
          <a:bodyPr wrap="square">
            <a:spAutoFit/>
          </a:bodyPr>
          <a:lstStyle/>
          <a:p>
            <a:r>
              <a:rPr lang="en-US" altLang="zh-CN" dirty="0"/>
              <a:t>https://download.csdn.net/blog/column/12033630/137194153</a:t>
            </a:r>
            <a:endParaRPr lang="zh-CN" altLang="en-US" dirty="0"/>
          </a:p>
        </p:txBody>
      </p:sp>
      <p:sp>
        <p:nvSpPr>
          <p:cNvPr id="6" name="矩形 5">
            <a:extLst>
              <a:ext uri="{FF2B5EF4-FFF2-40B4-BE49-F238E27FC236}">
                <a16:creationId xmlns:a16="http://schemas.microsoft.com/office/drawing/2014/main" id="{FCA9C3AA-B88B-44D3-B1C8-FA4E151A1A9D}"/>
              </a:ext>
            </a:extLst>
          </p:cNvPr>
          <p:cNvSpPr/>
          <p:nvPr/>
        </p:nvSpPr>
        <p:spPr>
          <a:xfrm>
            <a:off x="538904" y="5125834"/>
            <a:ext cx="8229600" cy="748346"/>
          </a:xfrm>
          <a:prstGeom prst="rect">
            <a:avLst/>
          </a:prstGeom>
        </p:spPr>
        <p:txBody>
          <a:bodyPr wrap="square">
            <a:spAutoFit/>
          </a:bodyPr>
          <a:lstStyle/>
          <a:p>
            <a:pPr>
              <a:lnSpc>
                <a:spcPct val="125000"/>
              </a:lnSpc>
              <a:spcBef>
                <a:spcPts val="600"/>
              </a:spcBef>
            </a:pPr>
            <a:r>
              <a:rPr lang="en-US" altLang="zh-CN" b="1" dirty="0"/>
              <a:t>EPSG </a:t>
            </a:r>
            <a:r>
              <a:rPr lang="zh-CN" altLang="en-US" b="1" dirty="0"/>
              <a:t>（</a:t>
            </a:r>
            <a:r>
              <a:rPr lang="en-US" altLang="zh-CN" b="1" dirty="0"/>
              <a:t>European Petroleum Survey Group</a:t>
            </a:r>
            <a:r>
              <a:rPr lang="zh-CN" altLang="en-US" b="1" dirty="0"/>
              <a:t>）：负责维护全球坐标系统和地理空间数据标准的组织</a:t>
            </a:r>
            <a:r>
              <a:rPr lang="zh-CN" altLang="en-US" dirty="0"/>
              <a:t>‌</a:t>
            </a:r>
            <a:r>
              <a:rPr lang="zh-CN" altLang="en-US"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t>
            </a:r>
            <a:endParaRPr lang="zh-CN" altLang="en-US" dirty="0"/>
          </a:p>
        </p:txBody>
      </p:sp>
    </p:spTree>
    <p:extLst>
      <p:ext uri="{BB962C8B-B14F-4D97-AF65-F5344CB8AC3E}">
        <p14:creationId xmlns:p14="http://schemas.microsoft.com/office/powerpoint/2010/main" val="4680103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71632" y="370874"/>
            <a:ext cx="8229600" cy="576064"/>
          </a:xfrm>
        </p:spPr>
        <p:txBody>
          <a:bodyPr/>
          <a:lstStyle/>
          <a:p>
            <a:r>
              <a:rPr lang="zh-CN" altLang="en-US" sz="2400" b="1" kern="1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kern="1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ii&gt; </a:t>
            </a:r>
            <a:r>
              <a:rPr lang="zh-CN" altLang="en-US" sz="2400" b="1" kern="1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多源数据叠加</a:t>
            </a:r>
          </a:p>
        </p:txBody>
      </p:sp>
      <p:sp>
        <p:nvSpPr>
          <p:cNvPr id="5" name="矩形 4"/>
          <p:cNvSpPr/>
          <p:nvPr/>
        </p:nvSpPr>
        <p:spPr>
          <a:xfrm>
            <a:off x="348104" y="930541"/>
            <a:ext cx="8553128" cy="4454233"/>
          </a:xfrm>
          <a:prstGeom prst="rect">
            <a:avLst/>
          </a:prstGeom>
        </p:spPr>
        <p:txBody>
          <a:bodyPr wrap="square">
            <a:spAutoFit/>
          </a:bodyPr>
          <a:lstStyle/>
          <a:p>
            <a:pPr>
              <a:lnSpc>
                <a:spcPct val="150000"/>
              </a:lnSpc>
            </a:pPr>
            <a:r>
              <a:rPr lang="zh-CN" altLang="en-US" sz="2400" b="1" dirty="0">
                <a:latin typeface="Times New Roman" panose="02020603050405020304" pitchFamily="18" charset="0"/>
                <a:cs typeface="Times New Roman" panose="02020603050405020304" pitchFamily="18" charset="0"/>
              </a:rPr>
              <a:t>        </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在</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Web</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端的地图应用中，多源数据叠加显示是一个常用功能。</a:t>
            </a:r>
            <a:r>
              <a:rPr lang="zh-CN" altLang="en-US" sz="2400" b="1" dirty="0">
                <a:latin typeface="Times New Roman" panose="02020603050405020304" pitchFamily="18" charset="0"/>
                <a:cs typeface="Times New Roman" panose="02020603050405020304" pitchFamily="18" charset="0"/>
              </a:rPr>
              <a:t>在地图应用中，通常会根据应用的需求来叠加各种类型的数据，并针对叠加的数据进行操作与功能分析。       </a:t>
            </a:r>
            <a:endParaRPr lang="en-US" altLang="zh-CN" sz="2400" b="1" dirty="0">
              <a:latin typeface="Times New Roman" panose="02020603050405020304" pitchFamily="18" charset="0"/>
              <a:cs typeface="Times New Roman" panose="02020603050405020304" pitchFamily="18" charset="0"/>
            </a:endParaRPr>
          </a:p>
          <a:p>
            <a:pPr>
              <a:lnSpc>
                <a:spcPct val="150000"/>
              </a:lnSpc>
            </a:pPr>
            <a:r>
              <a:rPr lang="en-US" altLang="zh-CN" sz="2400" b="1" dirty="0">
                <a:latin typeface="Times New Roman" panose="02020603050405020304" pitchFamily="18" charset="0"/>
                <a:cs typeface="Times New Roman" panose="02020603050405020304" pitchFamily="18" charset="0"/>
              </a:rPr>
              <a:t>        </a:t>
            </a:r>
            <a:r>
              <a:rPr lang="en-US" altLang="zh-CN" sz="2400" b="1" dirty="0" err="1">
                <a:solidFill>
                  <a:srgbClr val="FF0000"/>
                </a:solidFill>
                <a:latin typeface="Times New Roman" panose="02020603050405020304" pitchFamily="18" charset="0"/>
                <a:cs typeface="Times New Roman" panose="02020603050405020304" pitchFamily="18" charset="0"/>
              </a:rPr>
              <a:t>OpenLayers</a:t>
            </a:r>
            <a:r>
              <a:rPr lang="en-US" altLang="zh-CN" sz="2400" b="1" dirty="0">
                <a:solidFill>
                  <a:srgbClr val="FF0000"/>
                </a:solidFill>
                <a:latin typeface="Times New Roman" panose="02020603050405020304" pitchFamily="18" charset="0"/>
                <a:cs typeface="Times New Roman" panose="02020603050405020304" pitchFamily="18" charset="0"/>
              </a:rPr>
              <a:t> 5</a:t>
            </a:r>
            <a:r>
              <a:rPr lang="zh-CN" altLang="en-US" sz="2400" b="1" dirty="0">
                <a:solidFill>
                  <a:srgbClr val="FF0000"/>
                </a:solidFill>
                <a:latin typeface="Times New Roman" panose="02020603050405020304" pitchFamily="18" charset="0"/>
                <a:cs typeface="Times New Roman" panose="02020603050405020304" pitchFamily="18" charset="0"/>
              </a:rPr>
              <a:t>支持多源异构数据在同一个地图容器中叠加显示，数据叠加也是</a:t>
            </a:r>
            <a:r>
              <a:rPr lang="en-US" altLang="zh-CN" sz="2400" b="1" dirty="0" err="1">
                <a:solidFill>
                  <a:srgbClr val="FF0000"/>
                </a:solidFill>
                <a:latin typeface="Times New Roman" panose="02020603050405020304" pitchFamily="18" charset="0"/>
                <a:cs typeface="Times New Roman" panose="02020603050405020304" pitchFamily="18" charset="0"/>
              </a:rPr>
              <a:t>OpenLayers</a:t>
            </a:r>
            <a:r>
              <a:rPr lang="en-US" altLang="zh-CN" sz="2400" b="1" dirty="0">
                <a:solidFill>
                  <a:srgbClr val="FF0000"/>
                </a:solidFill>
                <a:latin typeface="Times New Roman" panose="02020603050405020304" pitchFamily="18" charset="0"/>
                <a:cs typeface="Times New Roman" panose="02020603050405020304" pitchFamily="18" charset="0"/>
              </a:rPr>
              <a:t> 5</a:t>
            </a:r>
            <a:r>
              <a:rPr lang="zh-CN" altLang="en-US" sz="2400" b="1" dirty="0">
                <a:solidFill>
                  <a:srgbClr val="FF0000"/>
                </a:solidFill>
                <a:latin typeface="Times New Roman" panose="02020603050405020304" pitchFamily="18" charset="0"/>
                <a:cs typeface="Times New Roman" panose="02020603050405020304" pitchFamily="18" charset="0"/>
              </a:rPr>
              <a:t>的地图表现的实现机制。</a:t>
            </a:r>
            <a:r>
              <a:rPr lang="zh-CN" altLang="en-US" sz="2400" b="1" dirty="0">
                <a:latin typeface="Times New Roman" panose="02020603050405020304" pitchFamily="18" charset="0"/>
                <a:cs typeface="Times New Roman" panose="02020603050405020304" pitchFamily="18" charset="0"/>
              </a:rPr>
              <a:t>数据叠加非常简单，根据应用需求</a:t>
            </a:r>
            <a:r>
              <a:rPr lang="zh-CN" altLang="en-US" sz="2400" b="1" dirty="0">
                <a:solidFill>
                  <a:srgbClr val="0000FF"/>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cs typeface="Times New Roman" panose="02020603050405020304" pitchFamily="18" charset="0"/>
              </a:rPr>
              <a:t>按照一定的先后顺序添加对应的图层对象到地图容器中即可，</a:t>
            </a:r>
            <a:r>
              <a:rPr lang="zh-CN" altLang="en-US" sz="2400" b="1" u="sng" dirty="0">
                <a:solidFill>
                  <a:srgbClr val="008000"/>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cs typeface="Times New Roman" panose="02020603050405020304" pitchFamily="18" charset="0"/>
              </a:rPr>
              <a:t>但前提是这些多源数据都在同一个投影坐标系下</a:t>
            </a:r>
            <a:r>
              <a:rPr lang="zh-CN" altLang="en-US" sz="2400" b="1" dirty="0">
                <a:solidFill>
                  <a:srgbClr val="0000FF"/>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否则叠加数据将无法吻合。</a:t>
            </a:r>
          </a:p>
        </p:txBody>
      </p:sp>
    </p:spTree>
    <p:extLst>
      <p:ext uri="{BB962C8B-B14F-4D97-AF65-F5344CB8AC3E}">
        <p14:creationId xmlns:p14="http://schemas.microsoft.com/office/powerpoint/2010/main" val="34879276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C699E15-AE83-402D-8141-5CF6022E69D0}"/>
              </a:ext>
            </a:extLst>
          </p:cNvPr>
          <p:cNvSpPr>
            <a:spLocks noGrp="1"/>
          </p:cNvSpPr>
          <p:nvPr>
            <p:ph type="sldNum" sz="quarter" idx="12"/>
          </p:nvPr>
        </p:nvSpPr>
        <p:spPr/>
        <p:txBody>
          <a:bodyPr/>
          <a:lstStyle/>
          <a:p>
            <a:pPr>
              <a:defRPr/>
            </a:pPr>
            <a:fld id="{BA9E6ED8-7A33-4B01-8942-D4BF2F5EE2E3}" type="slidenum">
              <a:rPr lang="en-US" altLang="zh-CN" smtClean="0"/>
              <a:pPr>
                <a:defRPr/>
              </a:pPr>
              <a:t>40</a:t>
            </a:fld>
            <a:endParaRPr lang="en-US" altLang="zh-CN"/>
          </a:p>
        </p:txBody>
      </p:sp>
      <p:sp>
        <p:nvSpPr>
          <p:cNvPr id="3" name="标题 1">
            <a:extLst>
              <a:ext uri="{FF2B5EF4-FFF2-40B4-BE49-F238E27FC236}">
                <a16:creationId xmlns:a16="http://schemas.microsoft.com/office/drawing/2014/main" id="{ED5A8A2C-2A7A-48B5-AA85-72AB54375C34}"/>
              </a:ext>
            </a:extLst>
          </p:cNvPr>
          <p:cNvSpPr>
            <a:spLocks noGrp="1"/>
          </p:cNvSpPr>
          <p:nvPr>
            <p:ph type="title"/>
          </p:nvPr>
        </p:nvSpPr>
        <p:spPr>
          <a:xfrm>
            <a:off x="323528" y="332656"/>
            <a:ext cx="3456384" cy="432048"/>
          </a:xfrm>
        </p:spPr>
        <p:txBody>
          <a:bodyPr/>
          <a:lstStyle/>
          <a:p>
            <a:r>
              <a:rPr lang="zh-CN" altLang="en-US" sz="2400" b="1" kern="1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kern="1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iii&gt; </a:t>
            </a:r>
            <a:r>
              <a:rPr lang="zh-CN" altLang="en-US" sz="2400" b="1" kern="1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地图切片</a:t>
            </a:r>
          </a:p>
        </p:txBody>
      </p:sp>
      <p:sp>
        <p:nvSpPr>
          <p:cNvPr id="6" name="矩形 5">
            <a:extLst>
              <a:ext uri="{FF2B5EF4-FFF2-40B4-BE49-F238E27FC236}">
                <a16:creationId xmlns:a16="http://schemas.microsoft.com/office/drawing/2014/main" id="{A32A6086-DAFF-4DFD-9DD6-7614DF5D60F3}"/>
              </a:ext>
            </a:extLst>
          </p:cNvPr>
          <p:cNvSpPr/>
          <p:nvPr/>
        </p:nvSpPr>
        <p:spPr>
          <a:xfrm>
            <a:off x="611560" y="908720"/>
            <a:ext cx="8208912" cy="4491614"/>
          </a:xfrm>
          <a:prstGeom prst="rect">
            <a:avLst/>
          </a:prstGeom>
        </p:spPr>
        <p:txBody>
          <a:bodyPr wrap="square">
            <a:spAutoFit/>
          </a:bodyPr>
          <a:lstStyle/>
          <a:p>
            <a:pPr marL="342900" indent="-342900">
              <a:lnSpc>
                <a:spcPct val="125000"/>
              </a:lnSpc>
              <a:spcBef>
                <a:spcPts val="1200"/>
              </a:spcBef>
              <a:buClr>
                <a:srgbClr val="FF0000"/>
              </a:buClr>
              <a:buSzPct val="90000"/>
              <a:buFont typeface="Wingdings" panose="05000000000000000000" pitchFamily="2" charset="2"/>
              <a:buChar char="Ø"/>
            </a:pPr>
            <a:r>
              <a:rPr lang="zh-CN" altLang="en-US" sz="2400" b="1" dirty="0">
                <a:effectLst>
                  <a:outerShdw blurRad="38100" dist="38100" dir="2700000" algn="tl">
                    <a:srgbClr val="C0C0C0"/>
                  </a:outerShdw>
                </a:effectLst>
                <a:latin typeface="+mn-ea"/>
                <a:ea typeface="+mn-ea"/>
                <a:cs typeface="Times New Roman" panose="02020603050405020304" pitchFamily="18" charset="0"/>
              </a:rPr>
              <a:t>地图切片是采用预生成的方法，将地图存放在服务器端，然后根据用户提交的不同请求，将相应的地图瓦片发送给客户端的过程；</a:t>
            </a:r>
            <a:endParaRPr lang="en-US" altLang="zh-CN" sz="2400" b="1" dirty="0">
              <a:effectLst>
                <a:outerShdw blurRad="38100" dist="38100" dir="2700000" algn="tl">
                  <a:srgbClr val="C0C0C0"/>
                </a:outerShdw>
              </a:effectLst>
              <a:latin typeface="+mn-ea"/>
              <a:ea typeface="+mn-ea"/>
              <a:cs typeface="Times New Roman" panose="02020603050405020304" pitchFamily="18" charset="0"/>
            </a:endParaRPr>
          </a:p>
          <a:p>
            <a:pPr marL="342900" indent="-342900">
              <a:lnSpc>
                <a:spcPct val="125000"/>
              </a:lnSpc>
              <a:spcBef>
                <a:spcPts val="1200"/>
              </a:spcBef>
              <a:buClr>
                <a:srgbClr val="FF0000"/>
              </a:buClr>
              <a:buSzPct val="90000"/>
              <a:buFont typeface="Wingdings" panose="05000000000000000000" pitchFamily="2" charset="2"/>
              <a:buChar char="Ø"/>
            </a:pPr>
            <a:r>
              <a:rPr lang="zh-CN" altLang="en-US" sz="2400" b="1" dirty="0">
                <a:effectLst>
                  <a:outerShdw blurRad="38100" dist="38100" dir="2700000" algn="tl">
                    <a:srgbClr val="C0C0C0"/>
                  </a:outerShdw>
                </a:effectLst>
                <a:latin typeface="+mn-ea"/>
                <a:ea typeface="+mn-ea"/>
                <a:cs typeface="Times New Roman" panose="02020603050405020304" pitchFamily="18" charset="0"/>
              </a:rPr>
              <a:t>它是一种</a:t>
            </a:r>
            <a:r>
              <a:rPr lang="zh-CN" altLang="en-US" sz="2400" b="1" dirty="0">
                <a:solidFill>
                  <a:srgbClr val="C00000"/>
                </a:solidFill>
                <a:effectLst>
                  <a:outerShdw blurRad="38100" dist="38100" dir="2700000" algn="tl">
                    <a:srgbClr val="C0C0C0"/>
                  </a:outerShdw>
                </a:effectLst>
                <a:latin typeface="楷体" panose="02010609060101010101" pitchFamily="49" charset="-122"/>
                <a:ea typeface="楷体" panose="02010609060101010101" pitchFamily="49" charset="-122"/>
                <a:cs typeface="Times New Roman" panose="02020603050405020304" pitchFamily="18" charset="0"/>
              </a:rPr>
              <a:t>多分辨率的层次模型</a:t>
            </a:r>
            <a:r>
              <a:rPr lang="zh-CN" altLang="en-US" sz="2400" b="1" dirty="0">
                <a:effectLst>
                  <a:outerShdw blurRad="38100" dist="38100" dir="2700000" algn="tl">
                    <a:srgbClr val="C0C0C0"/>
                  </a:outerShdw>
                </a:effectLst>
                <a:latin typeface="+mn-ea"/>
                <a:ea typeface="+mn-ea"/>
                <a:cs typeface="Times New Roman" panose="02020603050405020304" pitchFamily="18" charset="0"/>
              </a:rPr>
              <a:t>，按照一定的规则将数据处理成</a:t>
            </a:r>
            <a:r>
              <a:rPr lang="zh-CN" altLang="en-US" sz="2400" b="1" dirty="0">
                <a:solidFill>
                  <a:srgbClr val="008000"/>
                </a:solidFill>
                <a:effectLst>
                  <a:outerShdw blurRad="38100" dist="38100" dir="2700000" algn="tl">
                    <a:srgbClr val="C0C0C0"/>
                  </a:outerShdw>
                </a:effectLst>
                <a:latin typeface="楷体" panose="02010609060101010101" pitchFamily="49" charset="-122"/>
                <a:ea typeface="楷体" panose="02010609060101010101" pitchFamily="49" charset="-122"/>
                <a:cs typeface="Times New Roman" panose="02020603050405020304" pitchFamily="18" charset="0"/>
              </a:rPr>
              <a:t>以“级</a:t>
            </a:r>
            <a:r>
              <a:rPr lang="en-US" altLang="zh-CN" sz="2400" b="1" dirty="0">
                <a:solidFill>
                  <a:srgbClr val="008000"/>
                </a:solidFill>
                <a:effectLst>
                  <a:outerShdw blurRad="38100" dist="38100" dir="2700000" algn="tl">
                    <a:srgbClr val="C0C0C0"/>
                  </a:outerShdw>
                </a:effectLst>
                <a:latin typeface="楷体" panose="02010609060101010101" pitchFamily="49" charset="-122"/>
                <a:ea typeface="楷体" panose="02010609060101010101" pitchFamily="49" charset="-122"/>
                <a:cs typeface="Times New Roman" panose="02020603050405020304" pitchFamily="18" charset="0"/>
              </a:rPr>
              <a:t>-</a:t>
            </a:r>
            <a:r>
              <a:rPr lang="zh-CN" altLang="en-US" sz="2400" b="1" dirty="0">
                <a:solidFill>
                  <a:srgbClr val="008000"/>
                </a:solidFill>
                <a:effectLst>
                  <a:outerShdw blurRad="38100" dist="38100" dir="2700000" algn="tl">
                    <a:srgbClr val="C0C0C0"/>
                  </a:outerShdw>
                </a:effectLst>
                <a:latin typeface="楷体" panose="02010609060101010101" pitchFamily="49" charset="-122"/>
                <a:ea typeface="楷体" panose="02010609060101010101" pitchFamily="49" charset="-122"/>
                <a:cs typeface="Times New Roman" panose="02020603050405020304" pitchFamily="18" charset="0"/>
              </a:rPr>
              <a:t>行</a:t>
            </a:r>
            <a:r>
              <a:rPr lang="en-US" altLang="zh-CN" sz="2400" b="1" dirty="0">
                <a:solidFill>
                  <a:srgbClr val="008000"/>
                </a:solidFill>
                <a:effectLst>
                  <a:outerShdw blurRad="38100" dist="38100" dir="2700000" algn="tl">
                    <a:srgbClr val="C0C0C0"/>
                  </a:outerShdw>
                </a:effectLst>
                <a:latin typeface="楷体" panose="02010609060101010101" pitchFamily="49" charset="-122"/>
                <a:ea typeface="楷体" panose="02010609060101010101" pitchFamily="49" charset="-122"/>
                <a:cs typeface="Times New Roman" panose="02020603050405020304" pitchFamily="18" charset="0"/>
              </a:rPr>
              <a:t>-</a:t>
            </a:r>
            <a:r>
              <a:rPr lang="zh-CN" altLang="en-US" sz="2400" b="1" dirty="0">
                <a:solidFill>
                  <a:srgbClr val="008000"/>
                </a:solidFill>
                <a:effectLst>
                  <a:outerShdw blurRad="38100" dist="38100" dir="2700000" algn="tl">
                    <a:srgbClr val="C0C0C0"/>
                  </a:outerShdw>
                </a:effectLst>
                <a:latin typeface="楷体" panose="02010609060101010101" pitchFamily="49" charset="-122"/>
                <a:ea typeface="楷体" panose="02010609060101010101" pitchFamily="49" charset="-122"/>
                <a:cs typeface="Times New Roman" panose="02020603050405020304" pitchFamily="18" charset="0"/>
              </a:rPr>
              <a:t>列”方式组织的图片集或数据集</a:t>
            </a:r>
            <a:r>
              <a:rPr lang="zh-CN" altLang="en-US" sz="2400" b="1" dirty="0">
                <a:effectLst>
                  <a:outerShdw blurRad="38100" dist="38100" dir="2700000" algn="tl">
                    <a:srgbClr val="C0C0C0"/>
                  </a:outerShdw>
                </a:effectLst>
                <a:latin typeface="+mn-ea"/>
                <a:ea typeface="+mn-ea"/>
                <a:cs typeface="Times New Roman" panose="02020603050405020304" pitchFamily="18" charset="0"/>
              </a:rPr>
              <a:t>，以类似于金字塔的形式存储。</a:t>
            </a:r>
            <a:r>
              <a:rPr lang="zh-CN" altLang="en-US" sz="22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从瓦片金字塔底层到顶层，表示的地理范围不变，但分辨率越来越低</a:t>
            </a:r>
            <a:r>
              <a:rPr lang="zh-CN" altLang="en-US" sz="2200" b="1" dirty="0">
                <a:solidFill>
                  <a:srgbClr val="0000FF"/>
                </a:solidFill>
                <a:effectLst>
                  <a:outerShdw blurRad="38100" dist="38100" dir="2700000" algn="tl">
                    <a:srgbClr val="C0C0C0"/>
                  </a:outerShdw>
                </a:effectLst>
                <a:latin typeface="+mn-ea"/>
                <a:ea typeface="+mn-ea"/>
                <a:cs typeface="Times New Roman" panose="02020603050405020304" pitchFamily="18" charset="0"/>
              </a:rPr>
              <a:t>；</a:t>
            </a:r>
            <a:endParaRPr lang="en-US" altLang="zh-CN" sz="2200" b="1" dirty="0">
              <a:solidFill>
                <a:srgbClr val="0000FF"/>
              </a:solidFill>
              <a:effectLst>
                <a:outerShdw blurRad="38100" dist="38100" dir="2700000" algn="tl">
                  <a:srgbClr val="C0C0C0"/>
                </a:outerShdw>
              </a:effectLst>
              <a:latin typeface="+mn-ea"/>
              <a:ea typeface="+mn-ea"/>
              <a:cs typeface="Times New Roman" panose="02020603050405020304" pitchFamily="18" charset="0"/>
            </a:endParaRPr>
          </a:p>
          <a:p>
            <a:pPr marL="342900" indent="-342900">
              <a:lnSpc>
                <a:spcPct val="125000"/>
              </a:lnSpc>
              <a:spcBef>
                <a:spcPts val="1200"/>
              </a:spcBef>
              <a:buClr>
                <a:srgbClr val="FF0000"/>
              </a:buClr>
              <a:buSzPct val="90000"/>
              <a:buFont typeface="Wingdings" panose="05000000000000000000" pitchFamily="2" charset="2"/>
              <a:buChar char="Ø"/>
            </a:pPr>
            <a:r>
              <a:rPr lang="zh-CN" altLang="en-US" sz="2400" b="1" dirty="0">
                <a:effectLst>
                  <a:outerShdw blurRad="38100" dist="38100" dir="2700000" algn="tl">
                    <a:srgbClr val="C0C0C0"/>
                  </a:outerShdw>
                </a:effectLst>
                <a:latin typeface="+mn-ea"/>
                <a:ea typeface="+mn-ea"/>
                <a:cs typeface="Times New Roman" panose="02020603050405020304" pitchFamily="18" charset="0"/>
              </a:rPr>
              <a:t>地图切片的优势在于能够减小地图加载的时间和带宽消耗，提高地图的显示效率和用户体验。</a:t>
            </a:r>
            <a:endParaRPr lang="en-US" altLang="zh-CN" sz="2400" b="1" dirty="0">
              <a:effectLst>
                <a:outerShdw blurRad="38100" dist="38100" dir="2700000" algn="tl">
                  <a:srgbClr val="C0C0C0"/>
                </a:outerShdw>
              </a:effectLst>
              <a:latin typeface="+mn-ea"/>
              <a:ea typeface="+mn-ea"/>
              <a:cs typeface="Times New Roman" panose="02020603050405020304" pitchFamily="18" charset="0"/>
            </a:endParaRPr>
          </a:p>
        </p:txBody>
      </p:sp>
    </p:spTree>
    <p:extLst>
      <p:ext uri="{BB962C8B-B14F-4D97-AF65-F5344CB8AC3E}">
        <p14:creationId xmlns:p14="http://schemas.microsoft.com/office/powerpoint/2010/main" val="32077908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C699E15-AE83-402D-8141-5CF6022E69D0}"/>
              </a:ext>
            </a:extLst>
          </p:cNvPr>
          <p:cNvSpPr>
            <a:spLocks noGrp="1"/>
          </p:cNvSpPr>
          <p:nvPr>
            <p:ph type="sldNum" sz="quarter" idx="12"/>
          </p:nvPr>
        </p:nvSpPr>
        <p:spPr/>
        <p:txBody>
          <a:bodyPr/>
          <a:lstStyle/>
          <a:p>
            <a:pPr>
              <a:defRPr/>
            </a:pPr>
            <a:fld id="{BA9E6ED8-7A33-4B01-8942-D4BF2F5EE2E3}" type="slidenum">
              <a:rPr lang="en-US" altLang="zh-CN" smtClean="0"/>
              <a:pPr>
                <a:defRPr/>
              </a:pPr>
              <a:t>41</a:t>
            </a:fld>
            <a:endParaRPr lang="en-US" altLang="zh-CN"/>
          </a:p>
        </p:txBody>
      </p:sp>
      <p:pic>
        <p:nvPicPr>
          <p:cNvPr id="2" name="图片 1">
            <a:extLst>
              <a:ext uri="{FF2B5EF4-FFF2-40B4-BE49-F238E27FC236}">
                <a16:creationId xmlns:a16="http://schemas.microsoft.com/office/drawing/2014/main" id="{64393F21-AB3B-4E83-B2CC-84A20F373E0F}"/>
              </a:ext>
            </a:extLst>
          </p:cNvPr>
          <p:cNvPicPr>
            <a:picLocks noChangeAspect="1"/>
          </p:cNvPicPr>
          <p:nvPr/>
        </p:nvPicPr>
        <p:blipFill>
          <a:blip r:embed="rId3"/>
          <a:stretch>
            <a:fillRect/>
          </a:stretch>
        </p:blipFill>
        <p:spPr>
          <a:xfrm>
            <a:off x="573897" y="2852936"/>
            <a:ext cx="7996205" cy="2392028"/>
          </a:xfrm>
          <a:prstGeom prst="rect">
            <a:avLst/>
          </a:prstGeom>
        </p:spPr>
      </p:pic>
      <p:sp>
        <p:nvSpPr>
          <p:cNvPr id="5" name="标题 1">
            <a:extLst>
              <a:ext uri="{FF2B5EF4-FFF2-40B4-BE49-F238E27FC236}">
                <a16:creationId xmlns:a16="http://schemas.microsoft.com/office/drawing/2014/main" id="{A309827C-471D-4011-AD8C-A7F828726235}"/>
              </a:ext>
            </a:extLst>
          </p:cNvPr>
          <p:cNvSpPr txBox="1">
            <a:spLocks/>
          </p:cNvSpPr>
          <p:nvPr/>
        </p:nvSpPr>
        <p:spPr bwMode="auto">
          <a:xfrm>
            <a:off x="248203" y="370874"/>
            <a:ext cx="3888432"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ea typeface="宋体" pitchFamily="2" charset="-122"/>
              </a:defRPr>
            </a:lvl2pPr>
            <a:lvl3pPr algn="l" rtl="0" eaLnBrk="0" fontAlgn="base" hangingPunct="0">
              <a:spcBef>
                <a:spcPct val="0"/>
              </a:spcBef>
              <a:spcAft>
                <a:spcPct val="0"/>
              </a:spcAft>
              <a:defRPr sz="4200">
                <a:solidFill>
                  <a:schemeClr val="tx2"/>
                </a:solidFill>
                <a:latin typeface="Garamond" pitchFamily="18" charset="0"/>
                <a:ea typeface="宋体" pitchFamily="2" charset="-122"/>
              </a:defRPr>
            </a:lvl3pPr>
            <a:lvl4pPr algn="l" rtl="0" eaLnBrk="0" fontAlgn="base" hangingPunct="0">
              <a:spcBef>
                <a:spcPct val="0"/>
              </a:spcBef>
              <a:spcAft>
                <a:spcPct val="0"/>
              </a:spcAft>
              <a:defRPr sz="4200">
                <a:solidFill>
                  <a:schemeClr val="tx2"/>
                </a:solidFill>
                <a:latin typeface="Garamond" pitchFamily="18" charset="0"/>
                <a:ea typeface="宋体" pitchFamily="2" charset="-122"/>
              </a:defRPr>
            </a:lvl4pPr>
            <a:lvl5pPr algn="l" rtl="0" eaLnBrk="0" fontAlgn="base" hangingPunct="0">
              <a:spcBef>
                <a:spcPct val="0"/>
              </a:spcBef>
              <a:spcAft>
                <a:spcPct val="0"/>
              </a:spcAft>
              <a:defRPr sz="4200">
                <a:solidFill>
                  <a:schemeClr val="tx2"/>
                </a:solidFill>
                <a:latin typeface="Garamond" pitchFamily="18" charset="0"/>
                <a:ea typeface="宋体" pitchFamily="2" charset="-122"/>
              </a:defRPr>
            </a:lvl5pPr>
            <a:lvl6pPr marL="457200" algn="l" rtl="0" fontAlgn="base">
              <a:spcBef>
                <a:spcPct val="0"/>
              </a:spcBef>
              <a:spcAft>
                <a:spcPct val="0"/>
              </a:spcAft>
              <a:defRPr sz="4200">
                <a:solidFill>
                  <a:schemeClr val="tx2"/>
                </a:solidFill>
                <a:latin typeface="Garamond" pitchFamily="18" charset="0"/>
                <a:ea typeface="宋体" pitchFamily="2" charset="-122"/>
              </a:defRPr>
            </a:lvl6pPr>
            <a:lvl7pPr marL="914400" algn="l" rtl="0" fontAlgn="base">
              <a:spcBef>
                <a:spcPct val="0"/>
              </a:spcBef>
              <a:spcAft>
                <a:spcPct val="0"/>
              </a:spcAft>
              <a:defRPr sz="4200">
                <a:solidFill>
                  <a:schemeClr val="tx2"/>
                </a:solidFill>
                <a:latin typeface="Garamond" pitchFamily="18" charset="0"/>
                <a:ea typeface="宋体" pitchFamily="2" charset="-122"/>
              </a:defRPr>
            </a:lvl7pPr>
            <a:lvl8pPr marL="1371600" algn="l" rtl="0" fontAlgn="base">
              <a:spcBef>
                <a:spcPct val="0"/>
              </a:spcBef>
              <a:spcAft>
                <a:spcPct val="0"/>
              </a:spcAft>
              <a:defRPr sz="4200">
                <a:solidFill>
                  <a:schemeClr val="tx2"/>
                </a:solidFill>
                <a:latin typeface="Garamond" pitchFamily="18" charset="0"/>
                <a:ea typeface="宋体" pitchFamily="2" charset="-122"/>
              </a:defRPr>
            </a:lvl8pPr>
            <a:lvl9pPr marL="1828800" algn="l" rtl="0" fontAlgn="base">
              <a:spcBef>
                <a:spcPct val="0"/>
              </a:spcBef>
              <a:spcAft>
                <a:spcPct val="0"/>
              </a:spcAft>
              <a:defRPr sz="4200">
                <a:solidFill>
                  <a:schemeClr val="tx2"/>
                </a:solidFill>
                <a:latin typeface="Garamond" pitchFamily="18" charset="0"/>
                <a:ea typeface="宋体" pitchFamily="2" charset="-122"/>
              </a:defRPr>
            </a:lvl9pPr>
          </a:lstStyle>
          <a:p>
            <a:r>
              <a:rPr lang="zh-CN" altLang="en-US" sz="2400" b="1" kern="1200" dirty="0">
                <a:solidFill>
                  <a:schemeClr val="tx1"/>
                </a:solidFill>
                <a:effectLst>
                  <a:outerShdw blurRad="38100" dist="38100" dir="2700000" algn="tl">
                    <a:srgbClr val="C0C0C0"/>
                  </a:outerShdw>
                </a:effectLst>
                <a:latin typeface="楷体" panose="02010609060101010101" pitchFamily="49" charset="-122"/>
                <a:ea typeface="楷体" panose="02010609060101010101" pitchFamily="49" charset="-122"/>
                <a:cs typeface="Times New Roman" panose="02020603050405020304" pitchFamily="18" charset="0"/>
              </a:rPr>
              <a:t>   获取地图切片的流程：</a:t>
            </a:r>
          </a:p>
        </p:txBody>
      </p:sp>
      <p:sp>
        <p:nvSpPr>
          <p:cNvPr id="6" name="矩形 5">
            <a:extLst>
              <a:ext uri="{FF2B5EF4-FFF2-40B4-BE49-F238E27FC236}">
                <a16:creationId xmlns:a16="http://schemas.microsoft.com/office/drawing/2014/main" id="{AC185E35-985A-4ED4-971D-71CF036F5D5C}"/>
              </a:ext>
            </a:extLst>
          </p:cNvPr>
          <p:cNvSpPr/>
          <p:nvPr/>
        </p:nvSpPr>
        <p:spPr>
          <a:xfrm>
            <a:off x="720952" y="946938"/>
            <a:ext cx="8180279" cy="1682577"/>
          </a:xfrm>
          <a:prstGeom prst="rect">
            <a:avLst/>
          </a:prstGeom>
        </p:spPr>
        <p:txBody>
          <a:bodyPr wrap="square">
            <a:spAutoFit/>
          </a:bodyPr>
          <a:lstStyle/>
          <a:p>
            <a:pPr>
              <a:lnSpc>
                <a:spcPct val="150000"/>
              </a:lnSpc>
            </a:pPr>
            <a:r>
              <a:rPr lang="zh-CN" altLang="en-US" sz="2400" b="1" dirty="0">
                <a:solidFill>
                  <a:srgbClr val="0000FF"/>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rPr>
              <a:t>地图切片的加载过程：</a:t>
            </a:r>
            <a:r>
              <a:rPr lang="zh-CN" altLang="en-US" sz="2400" dirty="0"/>
              <a:t>客户端提交一个特定地图范围和级别的请求，服务端通过“级</a:t>
            </a:r>
            <a:r>
              <a:rPr lang="en-US" altLang="zh-CN" sz="2400" dirty="0"/>
              <a:t>-</a:t>
            </a:r>
            <a:r>
              <a:rPr lang="zh-CN" altLang="en-US" sz="2400" dirty="0"/>
              <a:t>行</a:t>
            </a:r>
            <a:r>
              <a:rPr lang="en-US" altLang="zh-CN" sz="2400" dirty="0"/>
              <a:t>-</a:t>
            </a:r>
            <a:r>
              <a:rPr lang="zh-CN" altLang="en-US" sz="2400" dirty="0"/>
              <a:t>列”，返回对应的底图瓦片给客户端，进行渲染。</a:t>
            </a:r>
          </a:p>
        </p:txBody>
      </p:sp>
    </p:spTree>
    <p:extLst>
      <p:ext uri="{BB962C8B-B14F-4D97-AF65-F5344CB8AC3E}">
        <p14:creationId xmlns:p14="http://schemas.microsoft.com/office/powerpoint/2010/main" val="3726716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C699E15-AE83-402D-8141-5CF6022E69D0}"/>
              </a:ext>
            </a:extLst>
          </p:cNvPr>
          <p:cNvSpPr>
            <a:spLocks noGrp="1"/>
          </p:cNvSpPr>
          <p:nvPr>
            <p:ph type="sldNum" sz="quarter" idx="12"/>
          </p:nvPr>
        </p:nvSpPr>
        <p:spPr/>
        <p:txBody>
          <a:bodyPr/>
          <a:lstStyle/>
          <a:p>
            <a:pPr>
              <a:defRPr/>
            </a:pPr>
            <a:fld id="{BA9E6ED8-7A33-4B01-8942-D4BF2F5EE2E3}" type="slidenum">
              <a:rPr lang="en-US" altLang="zh-CN" smtClean="0"/>
              <a:pPr>
                <a:defRPr/>
              </a:pPr>
              <a:t>42</a:t>
            </a:fld>
            <a:endParaRPr lang="en-US" altLang="zh-CN"/>
          </a:p>
        </p:txBody>
      </p:sp>
      <p:sp>
        <p:nvSpPr>
          <p:cNvPr id="6" name="矩形 5">
            <a:extLst>
              <a:ext uri="{FF2B5EF4-FFF2-40B4-BE49-F238E27FC236}">
                <a16:creationId xmlns:a16="http://schemas.microsoft.com/office/drawing/2014/main" id="{8AB7F932-34A6-44EB-B830-C8245F9B7EB6}"/>
              </a:ext>
            </a:extLst>
          </p:cNvPr>
          <p:cNvSpPr/>
          <p:nvPr/>
        </p:nvSpPr>
        <p:spPr>
          <a:xfrm>
            <a:off x="611560" y="332656"/>
            <a:ext cx="3672408" cy="461665"/>
          </a:xfrm>
          <a:prstGeom prst="rect">
            <a:avLst/>
          </a:prstGeom>
        </p:spPr>
        <p:txBody>
          <a:bodyPr wrap="square">
            <a:spAutoFit/>
          </a:bodyPr>
          <a:lstStyle/>
          <a:p>
            <a:r>
              <a:rPr lang="zh-CN" altLang="en-US" sz="2400" b="1" dirty="0">
                <a:effectLst>
                  <a:outerShdw blurRad="38100" dist="38100" dir="2700000" algn="tl">
                    <a:srgbClr val="C0C0C0"/>
                  </a:outerShdw>
                </a:effectLst>
                <a:latin typeface="楷体" panose="02010609060101010101" pitchFamily="49" charset="-122"/>
                <a:ea typeface="楷体" panose="02010609060101010101" pitchFamily="49" charset="-122"/>
                <a:cs typeface="Times New Roman" panose="02020603050405020304" pitchFamily="18" charset="0"/>
              </a:rPr>
              <a:t>切片服务：</a:t>
            </a:r>
          </a:p>
        </p:txBody>
      </p:sp>
      <p:sp>
        <p:nvSpPr>
          <p:cNvPr id="7" name="矩形 6">
            <a:extLst>
              <a:ext uri="{FF2B5EF4-FFF2-40B4-BE49-F238E27FC236}">
                <a16:creationId xmlns:a16="http://schemas.microsoft.com/office/drawing/2014/main" id="{AC57084B-1FB9-48C5-AF43-64909347DBCA}"/>
              </a:ext>
            </a:extLst>
          </p:cNvPr>
          <p:cNvSpPr/>
          <p:nvPr/>
        </p:nvSpPr>
        <p:spPr>
          <a:xfrm>
            <a:off x="611560" y="836712"/>
            <a:ext cx="8208912" cy="4208011"/>
          </a:xfrm>
          <a:prstGeom prst="rect">
            <a:avLst/>
          </a:prstGeom>
        </p:spPr>
        <p:txBody>
          <a:bodyPr wrap="square">
            <a:spAutoFit/>
          </a:bodyPr>
          <a:lstStyle/>
          <a:p>
            <a:pPr marL="342900" indent="-342900">
              <a:lnSpc>
                <a:spcPct val="150000"/>
              </a:lnSpc>
              <a:spcBef>
                <a:spcPts val="1200"/>
              </a:spcBef>
              <a:buClr>
                <a:srgbClr val="FF0000"/>
              </a:buClr>
              <a:buFont typeface="Wingdings" panose="05000000000000000000" pitchFamily="2" charset="2"/>
              <a:buChar char="Ø"/>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常见的切片服务有</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XYZ</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TMS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和</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WMTS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等格式；</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nSpc>
                <a:spcPct val="150000"/>
              </a:lnSpc>
              <a:spcBef>
                <a:spcPts val="1200"/>
              </a:spcBef>
              <a:buClr>
                <a:srgbClr val="FF0000"/>
              </a:buClr>
              <a:buFont typeface="Wingdings" panose="05000000000000000000" pitchFamily="2" charset="2"/>
              <a:buChar char="Ø"/>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XYZ</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是最常用、也最常见的一种切片服务格式，谷歌、高德、</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OSM</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等都是采用这种切片服务；</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nSpc>
                <a:spcPct val="150000"/>
              </a:lnSpc>
              <a:spcBef>
                <a:spcPts val="1200"/>
              </a:spcBef>
              <a:buClr>
                <a:srgbClr val="FF0000"/>
              </a:buClr>
              <a:buFont typeface="Wingdings" panose="05000000000000000000" pitchFamily="2" charset="2"/>
              <a:buChar char="Ø"/>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XYZ</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服务在请求时需要在</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URL</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中指定</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xyz</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参数，其中</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z</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为地图级别，</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为行号，</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为列号。它的切片坐标是</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EPSG:3857</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，切片四至为</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[-20037508.34</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-20037508.34</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20037508.34</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20037508.34]</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54355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43</a:t>
            </a:fld>
            <a:endParaRPr lang="en-US" altLang="zh-CN"/>
          </a:p>
        </p:txBody>
      </p:sp>
      <p:sp>
        <p:nvSpPr>
          <p:cNvPr id="2" name="矩形 1"/>
          <p:cNvSpPr/>
          <p:nvPr/>
        </p:nvSpPr>
        <p:spPr>
          <a:xfrm>
            <a:off x="539552" y="642519"/>
            <a:ext cx="3369833" cy="523220"/>
          </a:xfrm>
          <a:prstGeom prst="rect">
            <a:avLst/>
          </a:prstGeom>
        </p:spPr>
        <p:txBody>
          <a:bodyPr wrap="none">
            <a:spAutoFit/>
          </a:bodyPr>
          <a:lstStyle/>
          <a:p>
            <a:r>
              <a:rPr lang="zh-CN" altLang="en-US" sz="2800" b="1" dirty="0">
                <a:effectLst>
                  <a:outerShdw blurRad="38100" dist="38100" dir="2700000" algn="tl">
                    <a:srgbClr val="000000">
                      <a:alpha val="43137"/>
                    </a:srgbClr>
                  </a:outerShdw>
                </a:effectLst>
              </a:rPr>
              <a:t>（</a:t>
            </a:r>
            <a:r>
              <a:rPr lang="en-US" altLang="zh-CN" sz="2800" b="1" dirty="0">
                <a:effectLst>
                  <a:outerShdw blurRad="38100" dist="38100" dir="2700000" algn="tl">
                    <a:srgbClr val="000000">
                      <a:alpha val="43137"/>
                    </a:srgbClr>
                  </a:outerShdw>
                </a:effectLst>
              </a:rPr>
              <a:t>3</a:t>
            </a:r>
            <a:r>
              <a:rPr lang="zh-CN" altLang="en-US" sz="2800" b="1" dirty="0">
                <a:effectLst>
                  <a:outerShdw blurRad="38100" dist="38100" dir="2700000" algn="tl">
                    <a:srgbClr val="000000">
                      <a:alpha val="43137"/>
                    </a:srgbClr>
                  </a:outerShdw>
                </a:effectLst>
              </a:rPr>
              <a:t>）几何图形绘制</a:t>
            </a:r>
            <a:endParaRPr lang="zh-CN" altLang="en-US" sz="2800" dirty="0"/>
          </a:p>
        </p:txBody>
      </p:sp>
      <p:sp>
        <p:nvSpPr>
          <p:cNvPr id="3" name="Rectangle 1"/>
          <p:cNvSpPr>
            <a:spLocks noChangeArrowheads="1"/>
          </p:cNvSpPr>
          <p:nvPr/>
        </p:nvSpPr>
        <p:spPr bwMode="auto">
          <a:xfrm>
            <a:off x="539552" y="1196752"/>
            <a:ext cx="8352928" cy="4039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25000"/>
              </a:lnSpc>
              <a:spcBef>
                <a:spcPct val="0"/>
              </a:spcBef>
              <a:spcAft>
                <a:spcPct val="0"/>
              </a:spcAft>
              <a:buClrTx/>
              <a:buSzTx/>
              <a:buFontTx/>
              <a:buNone/>
              <a:tabLst/>
            </a:pPr>
            <a:r>
              <a:rPr kumimoji="0" lang="zh-CN" altLang="zh-CN" sz="2800" b="1" i="0" u="none" strike="noStrike" cap="none" normalizeH="0" baseline="0" dirty="0">
                <a:ln>
                  <a:noFill/>
                </a:ln>
                <a:solidFill>
                  <a:srgbClr val="0000FF"/>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交互式图形绘制的原理：</a:t>
            </a:r>
            <a:endParaRPr kumimoji="0" lang="en-US" altLang="zh-CN" sz="2800" b="1" i="0" u="none" strike="noStrike" cap="none" normalizeH="0" baseline="0" dirty="0">
              <a:ln>
                <a:noFill/>
              </a:ln>
              <a:solidFill>
                <a:srgbClr val="0000FF"/>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endParaRPr>
          </a:p>
          <a:p>
            <a:pPr marL="342900" marR="0" lvl="0" indent="-342900" algn="l" defTabSz="914400" rtl="0" eaLnBrk="0" fontAlgn="base" latinLnBrk="0" hangingPunct="0">
              <a:lnSpc>
                <a:spcPct val="114000"/>
              </a:lnSpc>
              <a:spcBef>
                <a:spcPts val="1200"/>
              </a:spcBef>
              <a:spcAft>
                <a:spcPct val="0"/>
              </a:spcAft>
              <a:buClr>
                <a:srgbClr val="00CC00"/>
              </a:buClr>
              <a:buSzPct val="75000"/>
              <a:buFont typeface="Wingdings" panose="05000000000000000000" pitchFamily="2" charset="2"/>
              <a:buChar char="n"/>
              <a:tabLst/>
            </a:pPr>
            <a:r>
              <a:rPr kumimoji="0" lang="zh-CN" altLang="zh-CN"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rPr>
              <a:t>先初始化一个</a:t>
            </a:r>
            <a:r>
              <a:rPr kumimoji="0" lang="zh-CN" altLang="zh-CN" sz="2400" b="1" i="0" u="sng" strike="noStrike" cap="none" normalizeH="0" baseline="0" dirty="0">
                <a:ln>
                  <a:noFill/>
                </a:ln>
                <a:solidFill>
                  <a:srgbClr val="006600"/>
                </a:solidFill>
                <a:effectLst>
                  <a:outerShdw blurRad="38100" dist="38100" dir="2700000" algn="tl">
                    <a:srgbClr val="000000">
                      <a:alpha val="43137"/>
                    </a:srgbClr>
                  </a:outerShdw>
                </a:effectLst>
                <a:latin typeface="Times New Roman" panose="02020603050405020304" pitchFamily="18" charset="0"/>
              </a:rPr>
              <a:t>矢量地图对象并添加到地图容器</a:t>
            </a:r>
            <a:r>
              <a:rPr kumimoji="0" lang="zh-CN" altLang="en-US"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rPr>
              <a:t>；</a:t>
            </a:r>
            <a:endParaRPr kumimoji="0" lang="en-US" altLang="zh-CN"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ndParaRPr>
          </a:p>
          <a:p>
            <a:pPr marL="342900" marR="0" lvl="0" indent="-342900" algn="l" defTabSz="914400" rtl="0" eaLnBrk="0" fontAlgn="base" latinLnBrk="0" hangingPunct="0">
              <a:lnSpc>
                <a:spcPct val="114000"/>
              </a:lnSpc>
              <a:spcBef>
                <a:spcPts val="1200"/>
              </a:spcBef>
              <a:spcAft>
                <a:spcPct val="0"/>
              </a:spcAft>
              <a:buClr>
                <a:srgbClr val="00CC00"/>
              </a:buClr>
              <a:buSzPct val="75000"/>
              <a:buFont typeface="Wingdings" panose="05000000000000000000" pitchFamily="2" charset="2"/>
              <a:buChar char="n"/>
              <a:tabLst/>
            </a:pPr>
            <a:r>
              <a:rPr kumimoji="0" lang="zh-CN" altLang="zh-CN"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rPr>
              <a:t>然后</a:t>
            </a:r>
            <a:r>
              <a:rPr kumimoji="0" lang="zh-CN" altLang="zh-CN" sz="2400" b="1" i="0" u="sng" strike="noStrike" cap="none" normalizeH="0" baseline="0" dirty="0">
                <a:ln>
                  <a:noFill/>
                </a:ln>
                <a:solidFill>
                  <a:srgbClr val="FF0066"/>
                </a:solidFill>
                <a:effectLst>
                  <a:outerShdw blurRad="38100" dist="38100" dir="2700000" algn="tl">
                    <a:srgbClr val="000000">
                      <a:alpha val="43137"/>
                    </a:srgbClr>
                  </a:outerShdw>
                </a:effectLst>
                <a:latin typeface="Times New Roman" panose="02020603050405020304" pitchFamily="18" charset="0"/>
              </a:rPr>
              <a:t>加载交互式图形绘制控件</a:t>
            </a:r>
            <a:r>
              <a:rPr lang="zh-CN" altLang="en-US" sz="2400" b="1" dirty="0">
                <a:effectLst>
                  <a:outerShdw blurRad="38100" dist="38100" dir="2700000" algn="tl">
                    <a:srgbClr val="000000">
                      <a:alpha val="43137"/>
                    </a:srgbClr>
                  </a:outerShdw>
                </a:effectLst>
                <a:latin typeface="Times New Roman" panose="02020603050405020304" pitchFamily="18" charset="0"/>
              </a:rPr>
              <a:t>（</a:t>
            </a:r>
            <a:r>
              <a:rPr kumimoji="0" lang="zh-CN" altLang="en-US"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rPr>
              <a:t>在实例化时设置绘制类型，如点、线、规则多边形、任意多边形，以及几何图形对应的特征参数）；</a:t>
            </a:r>
            <a:endParaRPr kumimoji="0" lang="en-US" altLang="zh-CN"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ndParaRPr>
          </a:p>
          <a:p>
            <a:pPr marL="342900" marR="0" lvl="0" indent="-342900" algn="l" defTabSz="914400" rtl="0" eaLnBrk="0" fontAlgn="base" latinLnBrk="0" hangingPunct="0">
              <a:lnSpc>
                <a:spcPct val="114000"/>
              </a:lnSpc>
              <a:spcBef>
                <a:spcPts val="1200"/>
              </a:spcBef>
              <a:spcAft>
                <a:spcPct val="0"/>
              </a:spcAft>
              <a:buClr>
                <a:srgbClr val="00CC00"/>
              </a:buClr>
              <a:buSzPct val="75000"/>
              <a:buFont typeface="Wingdings" panose="05000000000000000000" pitchFamily="2" charset="2"/>
              <a:buChar char="n"/>
              <a:tabLst/>
            </a:pPr>
            <a:r>
              <a:rPr kumimoji="0" lang="zh-CN" altLang="en-US"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rPr>
              <a:t>最后通过</a:t>
            </a:r>
            <a:r>
              <a:rPr kumimoji="0" lang="zh-CN" altLang="en-US" sz="2400" b="1" i="0" u="sng" strike="noStrike" cap="none" normalizeH="0" baseline="0" dirty="0">
                <a:ln>
                  <a:noFill/>
                </a:ln>
                <a:solidFill>
                  <a:srgbClr val="FF0066"/>
                </a:solidFill>
                <a:effectLst>
                  <a:outerShdw blurRad="38100" dist="38100" dir="2700000" algn="tl">
                    <a:srgbClr val="000000">
                      <a:alpha val="43137"/>
                    </a:srgbClr>
                  </a:outerShdw>
                </a:effectLst>
                <a:latin typeface="Times New Roman" panose="02020603050405020304" pitchFamily="18" charset="0"/>
              </a:rPr>
              <a:t>交互式图形绘制控件</a:t>
            </a:r>
            <a:r>
              <a:rPr kumimoji="0" lang="zh-CN" altLang="en-US"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rPr>
              <a:t>在地图上绘制相应的几何图形，也可以通过</a:t>
            </a:r>
            <a:r>
              <a:rPr kumimoji="0" lang="zh-CN" altLang="en-US" sz="2400" b="1" i="0" u="sng" strike="noStrike" cap="none" normalizeH="0" baseline="0" dirty="0">
                <a:ln>
                  <a:noFill/>
                </a:ln>
                <a:solidFill>
                  <a:srgbClr val="7030A0"/>
                </a:solidFill>
                <a:effectLst>
                  <a:outerShdw blurRad="38100" dist="38100" dir="2700000" algn="tl">
                    <a:srgbClr val="000000">
                      <a:alpha val="43137"/>
                    </a:srgbClr>
                  </a:outerShdw>
                </a:effectLst>
                <a:latin typeface="Times New Roman" panose="02020603050405020304" pitchFamily="18" charset="0"/>
              </a:rPr>
              <a:t>交互式编辑控件</a:t>
            </a:r>
            <a:r>
              <a:rPr kumimoji="0" lang="zh-CN" altLang="en-US"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rPr>
              <a:t>来修改已经绘制好的几何图形。</a:t>
            </a:r>
            <a:endParaRPr kumimoji="0" lang="en-US" altLang="zh-CN"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ndParaRPr>
          </a:p>
        </p:txBody>
      </p:sp>
    </p:spTree>
    <p:extLst>
      <p:ext uri="{BB962C8B-B14F-4D97-AF65-F5344CB8AC3E}">
        <p14:creationId xmlns:p14="http://schemas.microsoft.com/office/powerpoint/2010/main" val="13114936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44</a:t>
            </a:fld>
            <a:endParaRPr lang="en-US" altLang="zh-CN"/>
          </a:p>
        </p:txBody>
      </p:sp>
      <p:sp>
        <p:nvSpPr>
          <p:cNvPr id="3" name="Rectangle 1"/>
          <p:cNvSpPr>
            <a:spLocks noChangeArrowheads="1"/>
          </p:cNvSpPr>
          <p:nvPr/>
        </p:nvSpPr>
        <p:spPr bwMode="auto">
          <a:xfrm>
            <a:off x="539552" y="692696"/>
            <a:ext cx="8352928" cy="334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rPr>
              <a:t>其中，在绘制几何图形时，可以根据需求设置不同的图形样式。在</a:t>
            </a:r>
            <a:r>
              <a:rPr kumimoji="0" lang="en-US" altLang="zh-CN" sz="2400" b="1" i="0" u="none" strike="noStrike" cap="none" normalizeH="0" baseline="0" dirty="0" err="1">
                <a:ln>
                  <a:noFill/>
                </a:ln>
                <a:solidFill>
                  <a:schemeClr val="tx1"/>
                </a:solidFill>
                <a:effectLst>
                  <a:outerShdw blurRad="38100" dist="38100" dir="2700000" algn="tl">
                    <a:srgbClr val="000000">
                      <a:alpha val="43137"/>
                    </a:srgbClr>
                  </a:outerShdw>
                </a:effectLst>
                <a:latin typeface="Times New Roman" panose="02020603050405020304" pitchFamily="18" charset="0"/>
              </a:rPr>
              <a:t>OpenLayers</a:t>
            </a:r>
            <a:r>
              <a:rPr kumimoji="0" lang="en-US" altLang="zh-CN"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rPr>
              <a:t> 5</a:t>
            </a:r>
            <a:r>
              <a:rPr kumimoji="0" lang="zh-CN" altLang="en-US"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rPr>
              <a:t>中，矢量地图为</a:t>
            </a:r>
            <a:r>
              <a:rPr kumimoji="0" lang="en-US" altLang="zh-CN" sz="2400" b="1" i="0" u="none" strike="noStrike" cap="none" normalizeH="0" baseline="0" dirty="0" err="1">
                <a:ln>
                  <a:noFill/>
                </a:ln>
                <a:solidFill>
                  <a:schemeClr val="tx1"/>
                </a:solidFill>
                <a:effectLst>
                  <a:outerShdw blurRad="38100" dist="38100" dir="2700000" algn="tl">
                    <a:srgbClr val="000000">
                      <a:alpha val="43137"/>
                    </a:srgbClr>
                  </a:outerShdw>
                </a:effectLst>
                <a:latin typeface="Times New Roman" panose="02020603050405020304" pitchFamily="18" charset="0"/>
              </a:rPr>
              <a:t>ol.layer.Vector</a:t>
            </a:r>
            <a:r>
              <a:rPr kumimoji="0" lang="zh-CN" altLang="en-US"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rPr>
              <a:t>，交互式图形绘制控件为</a:t>
            </a:r>
            <a:r>
              <a:rPr kumimoji="0" lang="en-US" altLang="zh-CN" sz="2400" b="1" i="0" u="none" strike="noStrike" cap="none" normalizeH="0" baseline="0" dirty="0" err="1">
                <a:ln>
                  <a:noFill/>
                </a:ln>
                <a:solidFill>
                  <a:schemeClr val="tx1"/>
                </a:solidFill>
                <a:effectLst>
                  <a:outerShdw blurRad="38100" dist="38100" dir="2700000" algn="tl">
                    <a:srgbClr val="000000">
                      <a:alpha val="43137"/>
                    </a:srgbClr>
                  </a:outerShdw>
                </a:effectLst>
                <a:latin typeface="Times New Roman" panose="02020603050405020304" pitchFamily="18" charset="0"/>
              </a:rPr>
              <a:t>ol.interaction.Draw</a:t>
            </a:r>
            <a:r>
              <a:rPr kumimoji="0" lang="en-US" altLang="zh-CN"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rPr>
              <a:t>(</a:t>
            </a:r>
            <a:r>
              <a:rPr kumimoji="0" lang="zh-CN" altLang="en-US"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rPr>
              <a:t>包括绘制点、线、多边形等</a:t>
            </a:r>
            <a:r>
              <a:rPr kumimoji="0" lang="en-US" altLang="zh-CN"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rPr>
              <a:t>)</a:t>
            </a:r>
            <a:r>
              <a:rPr kumimoji="0" lang="zh-CN" altLang="en-US"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rPr>
              <a:t>，交互式编辑控件为</a:t>
            </a:r>
            <a:r>
              <a:rPr kumimoji="0" lang="en-US" altLang="zh-CN" sz="2400" b="1" i="0" u="none" strike="noStrike" cap="none" normalizeH="0" baseline="0" dirty="0" err="1">
                <a:ln>
                  <a:noFill/>
                </a:ln>
                <a:solidFill>
                  <a:schemeClr val="tx1"/>
                </a:solidFill>
                <a:effectLst>
                  <a:outerShdw blurRad="38100" dist="38100" dir="2700000" algn="tl">
                    <a:srgbClr val="000000">
                      <a:alpha val="43137"/>
                    </a:srgbClr>
                  </a:outerShdw>
                </a:effectLst>
                <a:latin typeface="Times New Roman" panose="02020603050405020304" pitchFamily="18" charset="0"/>
              </a:rPr>
              <a:t>ol.interaction.Modify</a:t>
            </a:r>
            <a:r>
              <a:rPr kumimoji="0" lang="zh-CN" altLang="en-US"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rPr>
              <a:t>。另外，在进行编辑时，通常需要先选择某个目标，</a:t>
            </a:r>
            <a:r>
              <a:rPr kumimoji="0" lang="en-US" altLang="zh-CN"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rPr>
              <a:t>OpenLayers5</a:t>
            </a:r>
            <a:r>
              <a:rPr kumimoji="0" lang="zh-CN" altLang="en-US"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rPr>
              <a:t>提供的选择要素控件为</a:t>
            </a:r>
            <a:r>
              <a:rPr kumimoji="0" lang="en-US" altLang="zh-CN" sz="2400" b="1" i="0" u="none" strike="noStrike" cap="none" normalizeH="0" baseline="0" dirty="0" err="1">
                <a:ln>
                  <a:noFill/>
                </a:ln>
                <a:solidFill>
                  <a:schemeClr val="tx1"/>
                </a:solidFill>
                <a:effectLst>
                  <a:outerShdw blurRad="38100" dist="38100" dir="2700000" algn="tl">
                    <a:srgbClr val="000000">
                      <a:alpha val="43137"/>
                    </a:srgbClr>
                  </a:outerShdw>
                </a:effectLst>
                <a:latin typeface="Times New Roman" panose="02020603050405020304" pitchFamily="18" charset="0"/>
              </a:rPr>
              <a:t>ol.interaction.Select</a:t>
            </a:r>
            <a:r>
              <a:rPr kumimoji="0" lang="zh-CN" altLang="en-US" sz="2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rPr>
              <a:t>。</a:t>
            </a:r>
            <a:endParaRPr kumimoji="0" lang="zh-CN" altLang="en-US" sz="2400" b="1" i="0" u="none" strike="noStrike" cap="none" normalizeH="0" baseline="0" dirty="0">
              <a:ln>
                <a:noFill/>
              </a:ln>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872907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45</a:t>
            </a:fld>
            <a:endParaRPr lang="en-US" altLang="zh-CN"/>
          </a:p>
        </p:txBody>
      </p:sp>
      <p:sp>
        <p:nvSpPr>
          <p:cNvPr id="3" name="矩形 2"/>
          <p:cNvSpPr/>
          <p:nvPr/>
        </p:nvSpPr>
        <p:spPr>
          <a:xfrm>
            <a:off x="429028" y="620688"/>
            <a:ext cx="4464496" cy="461665"/>
          </a:xfrm>
          <a:prstGeom prst="rect">
            <a:avLst/>
          </a:prstGeom>
        </p:spPr>
        <p:txBody>
          <a:bodyPr wrap="square">
            <a:spAutoFit/>
          </a:bodyPr>
          <a:lstStyle/>
          <a:p>
            <a:r>
              <a:rPr lang="zh-CN" altLang="en-US" sz="2400" b="1" dirty="0">
                <a:solidFill>
                  <a:srgbClr val="0000FF"/>
                </a:solidFill>
                <a:effectLst>
                  <a:outerShdw blurRad="38100" dist="38100" dir="2700000" algn="tl">
                    <a:srgbClr val="000000">
                      <a:alpha val="43137"/>
                    </a:srgbClr>
                  </a:outerShdw>
                </a:effectLst>
              </a:rPr>
              <a:t>示例：几何图形绘制</a:t>
            </a:r>
            <a:endParaRPr lang="en-US" altLang="zh-CN" sz="2400" b="1" dirty="0">
              <a:solidFill>
                <a:srgbClr val="0000FF"/>
              </a:solidFill>
              <a:effectLst>
                <a:outerShdw blurRad="38100" dist="38100" dir="2700000" algn="tl">
                  <a:srgbClr val="000000">
                    <a:alpha val="43137"/>
                  </a:srgbClr>
                </a:outerShdw>
              </a:effectLst>
            </a:endParaRPr>
          </a:p>
        </p:txBody>
      </p:sp>
      <p:sp>
        <p:nvSpPr>
          <p:cNvPr id="2" name="Rectangle 1"/>
          <p:cNvSpPr>
            <a:spLocks noChangeArrowheads="1"/>
          </p:cNvSpPr>
          <p:nvPr/>
        </p:nvSpPr>
        <p:spPr bwMode="auto">
          <a:xfrm>
            <a:off x="395536" y="1196752"/>
            <a:ext cx="864096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zh-CN" altLang="en-US" sz="2400" b="1" dirty="0">
                <a:solidFill>
                  <a:srgbClr val="0000FF"/>
                </a:solidFill>
                <a:effectLst>
                  <a:outerShdw blurRad="38100" dist="38100" dir="2700000" algn="tl">
                    <a:srgbClr val="000000">
                      <a:alpha val="43137"/>
                    </a:srgbClr>
                  </a:outerShdw>
                </a:effectLst>
              </a:rPr>
              <a:t>说明：</a:t>
            </a:r>
            <a:r>
              <a:rPr kumimoji="0" lang="en-US" altLang="zh-CN" sz="2400" b="1" i="0" u="none" strike="noStrike" cap="none" normalizeH="0" baseline="0" dirty="0" err="1">
                <a:ln>
                  <a:noFill/>
                </a:ln>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OpenLayers</a:t>
            </a:r>
            <a:r>
              <a:rPr kumimoji="0" lang="en-US" altLang="zh-CN" sz="2400" b="1" i="0" u="none" strike="noStrike" cap="none" normalizeH="0" baseline="0" dirty="0">
                <a:ln>
                  <a:noFill/>
                </a:ln>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 5</a:t>
            </a:r>
            <a:r>
              <a:rPr kumimoji="0" lang="zh-CN" altLang="en-US" sz="2400" b="1" i="0" u="none" strike="noStrike" cap="none" normalizeH="0" baseline="0" dirty="0">
                <a:ln>
                  <a:noFill/>
                </a:ln>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提供了用户绘图的类</a:t>
            </a:r>
            <a:r>
              <a:rPr kumimoji="0" lang="en-US" altLang="zh-CN" sz="2400" b="1" i="0" u="none" strike="noStrike" cap="none" normalizeH="0" baseline="0" dirty="0" err="1">
                <a:ln>
                  <a:noFill/>
                </a:ln>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ol.</a:t>
            </a:r>
            <a:r>
              <a:rPr lang="en-US" altLang="zh-CN" sz="2400" b="1" dirty="0" err="1">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interaction.Draw</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kumimoji="0" lang="zh-CN" altLang="en-US" sz="2400" b="1" i="0" strike="noStrike" cap="none" normalizeH="0" baseline="0" dirty="0">
                <a:ln>
                  <a:noFill/>
                </a:ln>
                <a:solidFill>
                  <a:srgbClr val="333333"/>
                </a:solidFill>
                <a:effectLst>
                  <a:outerShdw blurRad="38100" dist="38100" dir="2700000" algn="tl">
                    <a:srgbClr val="000000">
                      <a:alpha val="43137"/>
                    </a:srgbClr>
                  </a:outerShdw>
                </a:effectLst>
                <a:latin typeface="+mn-ea"/>
                <a:ea typeface="+mn-ea"/>
                <a:cs typeface="Times New Roman" panose="02020603050405020304" pitchFamily="18" charset="0"/>
              </a:rPr>
              <a:t>支持绘制点、线、多边形、圆等绘制。例子中用鼠标左键单击地图，地图上就会出现待绘制线的起点，随后移动鼠标，就看到了线，再单击地图，就在这个线上添加了点，依次可以添加多个点，如果要完成线的绘制，在最后一个点处，再点击一下鼠标左键即可。</a:t>
            </a:r>
            <a:r>
              <a:rPr kumimoji="0" lang="zh-CN" altLang="en-US" sz="2400" b="1" i="0" strike="noStrike" cap="none" normalizeH="0" baseline="0" dirty="0">
                <a:ln>
                  <a:noFill/>
                </a:ln>
                <a:solidFill>
                  <a:schemeClr val="tx1"/>
                </a:solidFill>
                <a:effectLst>
                  <a:outerShdw blurRad="38100" dist="38100" dir="2700000" algn="tl">
                    <a:srgbClr val="000000">
                      <a:alpha val="43137"/>
                    </a:srgbClr>
                  </a:outerShdw>
                </a:effectLst>
                <a:latin typeface="+mn-ea"/>
                <a:ea typeface="+mn-ea"/>
                <a:cs typeface="Times New Roman" panose="02020603050405020304" pitchFamily="18" charset="0"/>
              </a:rPr>
              <a:t> </a:t>
            </a:r>
          </a:p>
        </p:txBody>
      </p:sp>
    </p:spTree>
    <p:extLst>
      <p:ext uri="{BB962C8B-B14F-4D97-AF65-F5344CB8AC3E}">
        <p14:creationId xmlns:p14="http://schemas.microsoft.com/office/powerpoint/2010/main" val="13646341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313" y="332656"/>
            <a:ext cx="8229600" cy="576064"/>
          </a:xfrm>
        </p:spPr>
        <p:txBody>
          <a:bodyPr/>
          <a:lstStyle/>
          <a:p>
            <a:r>
              <a:rPr lang="zh-CN" altLang="en-US" sz="2400" b="1" kern="1200" dirty="0">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事件机制：</a:t>
            </a:r>
          </a:p>
        </p:txBody>
      </p:sp>
      <p:sp>
        <p:nvSpPr>
          <p:cNvPr id="3" name="内容占位符 2"/>
          <p:cNvSpPr>
            <a:spLocks noGrp="1"/>
          </p:cNvSpPr>
          <p:nvPr>
            <p:ph idx="1"/>
          </p:nvPr>
        </p:nvSpPr>
        <p:spPr>
          <a:xfrm>
            <a:off x="539552" y="785219"/>
            <a:ext cx="8424936" cy="5688632"/>
          </a:xfrm>
        </p:spPr>
        <p:txBody>
          <a:bodyPr>
            <a:noAutofit/>
          </a:bodyPr>
          <a:lstStyle/>
          <a:p>
            <a:pPr marL="0" indent="0">
              <a:lnSpc>
                <a:spcPct val="114000"/>
              </a:lnSpc>
              <a:spcBef>
                <a:spcPts val="300"/>
              </a:spcBef>
              <a:buNone/>
            </a:pPr>
            <a:r>
              <a:rPr lang="en-US" altLang="zh-CN" sz="2000" b="1" dirty="0" err="1">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OpenLayers</a:t>
            </a:r>
            <a:r>
              <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5</a:t>
            </a: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的事件语法统一变更为</a:t>
            </a:r>
            <a:r>
              <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ES6</a:t>
            </a: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规范。</a:t>
            </a:r>
            <a:endPar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a:p>
            <a:pPr>
              <a:lnSpc>
                <a:spcPct val="114000"/>
              </a:lnSpc>
              <a:spcBef>
                <a:spcPts val="300"/>
              </a:spcBef>
            </a:pPr>
            <a:r>
              <a:rPr lang="zh-CN" altLang="en-US" sz="2000" b="1" dirty="0">
                <a:solidFill>
                  <a:srgbClr val="FF0066"/>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地图事件类：</a:t>
            </a:r>
            <a:r>
              <a:rPr lang="en-US" altLang="zh-CN" sz="2000" b="1" dirty="0" err="1">
                <a:solidFill>
                  <a:srgbClr val="FF0066"/>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ol.MapEvent</a:t>
            </a:r>
            <a:r>
              <a:rPr lang="en-US" altLang="zh-CN" sz="2000" b="1" dirty="0">
                <a:solidFill>
                  <a:srgbClr val="FF0066"/>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p>
          <a:p>
            <a:pPr marL="0" indent="0">
              <a:lnSpc>
                <a:spcPct val="114000"/>
              </a:lnSpc>
              <a:spcBef>
                <a:spcPts val="300"/>
              </a:spcBef>
              <a:buNone/>
            </a:pP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地图事件的基类，提供了内部的事件类型；</a:t>
            </a:r>
            <a:endPar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a:p>
            <a:pPr>
              <a:lnSpc>
                <a:spcPct val="114000"/>
              </a:lnSpc>
              <a:spcBef>
                <a:spcPts val="300"/>
              </a:spcBef>
            </a:pPr>
            <a:r>
              <a:rPr lang="zh-CN" altLang="en-US" sz="2000" b="1" dirty="0">
                <a:solidFill>
                  <a:srgbClr val="00800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地图浏览器事件类：</a:t>
            </a:r>
            <a:r>
              <a:rPr lang="en-US" altLang="zh-CN" sz="2000" b="1" dirty="0">
                <a:solidFill>
                  <a:srgbClr val="008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000" b="1" dirty="0" err="1">
                <a:solidFill>
                  <a:srgbClr val="008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ol.MapBrowserEvent</a:t>
            </a:r>
            <a:endParaRPr lang="en-US" altLang="zh-CN" sz="2000" b="1" dirty="0">
              <a:solidFill>
                <a:srgbClr val="008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nSpc>
                <a:spcPct val="114000"/>
              </a:lnSpc>
              <a:spcBef>
                <a:spcPts val="300"/>
              </a:spcBef>
              <a:buNone/>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控制整个地图交互，提供外部设备（如鼠标、触摸屏）与地图交互的主要事件类型，如单击、双击、指针移动、指针拖拽等事件；</a:t>
            </a:r>
            <a:r>
              <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p>
          <a:p>
            <a:pPr>
              <a:lnSpc>
                <a:spcPct val="114000"/>
              </a:lnSpc>
              <a:spcBef>
                <a:spcPts val="300"/>
              </a:spcBef>
            </a:pPr>
            <a:r>
              <a:rPr lang="zh-CN" altLang="en-US" sz="2000" b="1" dirty="0">
                <a:solidFill>
                  <a:srgbClr val="FF0066"/>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对象事件类：</a:t>
            </a:r>
            <a:r>
              <a:rPr lang="en-US" altLang="zh-CN" sz="2000" b="1" dirty="0">
                <a:solidFill>
                  <a:srgbClr val="FF0066"/>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en-US" altLang="zh-CN" sz="2000" b="1" dirty="0" err="1">
                <a:solidFill>
                  <a:srgbClr val="FF0066"/>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ol.Object.Event</a:t>
            </a:r>
            <a:r>
              <a:rPr lang="en-US" altLang="zh-CN" sz="2000" b="1" dirty="0">
                <a:solidFill>
                  <a:srgbClr val="FF0066"/>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属性、参数变更事件</a:t>
            </a:r>
            <a:endPar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a:p>
            <a:pPr marL="0" indent="0">
              <a:lnSpc>
                <a:spcPct val="114000"/>
              </a:lnSpc>
              <a:spcBef>
                <a:spcPts val="300"/>
              </a:spcBef>
              <a:buNone/>
            </a:pP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包含</a:t>
            </a:r>
            <a:r>
              <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change</a:t>
            </a: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t>
            </a:r>
            <a:r>
              <a:rPr lang="en-US" altLang="zh-CN" sz="2000" b="1" dirty="0" err="1">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propertychange</a:t>
            </a: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事件</a:t>
            </a:r>
            <a:endPar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a:p>
            <a:pPr>
              <a:lnSpc>
                <a:spcPct val="114000"/>
              </a:lnSpc>
              <a:spcBef>
                <a:spcPts val="300"/>
              </a:spcBef>
            </a:pP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选择控件事件类</a:t>
            </a:r>
            <a:r>
              <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t>
            </a:r>
            <a:r>
              <a:rPr lang="en-US" altLang="zh-CN" sz="2000" b="1" dirty="0" err="1">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ol.interaction.Select.Event</a:t>
            </a:r>
            <a:r>
              <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t>
            </a: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：包含</a:t>
            </a:r>
            <a:r>
              <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select</a:t>
            </a: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事件；</a:t>
            </a:r>
            <a:endPar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a:p>
            <a:pPr>
              <a:lnSpc>
                <a:spcPct val="114000"/>
              </a:lnSpc>
              <a:spcBef>
                <a:spcPts val="300"/>
              </a:spcBef>
            </a:pP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绘制控件事件类</a:t>
            </a:r>
            <a:r>
              <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t>
            </a:r>
            <a:r>
              <a:rPr lang="en-US" altLang="zh-CN" sz="2000" b="1" dirty="0" err="1">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ol.interaction.Draw.Event</a:t>
            </a:r>
            <a:r>
              <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t>
            </a: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：包含</a:t>
            </a:r>
            <a:r>
              <a:rPr lang="en-US" altLang="zh-CN" sz="2000" b="1" dirty="0" err="1">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drawstart</a:t>
            </a: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t>
            </a:r>
            <a:r>
              <a:rPr lang="en-US" altLang="zh-CN" sz="2000" b="1" dirty="0" err="1">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drawend</a:t>
            </a: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事件；</a:t>
            </a:r>
            <a:endPar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a:p>
            <a:pPr>
              <a:lnSpc>
                <a:spcPct val="114000"/>
              </a:lnSpc>
              <a:spcBef>
                <a:spcPts val="300"/>
              </a:spcBef>
            </a:pP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修改控件事件类</a:t>
            </a:r>
            <a:r>
              <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t>
            </a:r>
            <a:r>
              <a:rPr lang="en-US" altLang="zh-CN" sz="2000" b="1" dirty="0" err="1">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ol.interaction.Modify.Event</a:t>
            </a:r>
            <a:r>
              <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t>
            </a: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：包含 </a:t>
            </a:r>
            <a:r>
              <a:rPr lang="en-US" altLang="zh-CN" sz="2000" b="1" dirty="0" err="1">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modifystart</a:t>
            </a: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t>
            </a:r>
            <a:r>
              <a:rPr lang="en-US" altLang="zh-CN" sz="2000" b="1" dirty="0" err="1">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modifyend</a:t>
            </a: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事件；</a:t>
            </a:r>
            <a:endPar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a:p>
            <a:pPr>
              <a:lnSpc>
                <a:spcPct val="114000"/>
              </a:lnSpc>
              <a:spcBef>
                <a:spcPts val="300"/>
              </a:spcBef>
            </a:pP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集合事件类</a:t>
            </a:r>
            <a:r>
              <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t>
            </a:r>
            <a:r>
              <a:rPr lang="en-US" altLang="zh-CN" sz="2000" b="1" dirty="0" err="1">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ol.Collection.Event</a:t>
            </a:r>
            <a:r>
              <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t>
            </a: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：包含</a:t>
            </a:r>
            <a:r>
              <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add</a:t>
            </a: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t>
            </a:r>
            <a:r>
              <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remove</a:t>
            </a:r>
            <a:r>
              <a:rPr lang="zh-CN" altLang="en-US"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事件；</a:t>
            </a:r>
            <a:endParaRPr lang="en-US" altLang="zh-CN" sz="20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35086176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F978CB7-EF5B-4013-8EC2-1889D125CBFA}"/>
              </a:ext>
            </a:extLst>
          </p:cNvPr>
          <p:cNvSpPr/>
          <p:nvPr/>
        </p:nvSpPr>
        <p:spPr>
          <a:xfrm>
            <a:off x="1187624" y="1052736"/>
            <a:ext cx="7200800" cy="1569660"/>
          </a:xfrm>
          <a:prstGeom prst="rect">
            <a:avLst/>
          </a:prstGeom>
        </p:spPr>
        <p:txBody>
          <a:bodyPr wrap="square">
            <a:spAutoFit/>
          </a:bodyPr>
          <a:lstStyle/>
          <a:p>
            <a:r>
              <a:rPr lang="zh-CN" altLang="en-US" sz="3200" dirty="0"/>
              <a:t>模块式加载：</a:t>
            </a:r>
            <a:endParaRPr lang="en-US" altLang="zh-CN" sz="3200" dirty="0"/>
          </a:p>
          <a:p>
            <a:endParaRPr lang="en-US" altLang="zh-CN" sz="3200" dirty="0"/>
          </a:p>
          <a:p>
            <a:r>
              <a:rPr lang="en-US" altLang="zh-CN" sz="3200" dirty="0"/>
              <a:t>https://www.npmjs.com/package/ol</a:t>
            </a:r>
            <a:endParaRPr lang="zh-CN" altLang="en-US" sz="3200" dirty="0"/>
          </a:p>
        </p:txBody>
      </p:sp>
    </p:spTree>
    <p:extLst>
      <p:ext uri="{BB962C8B-B14F-4D97-AF65-F5344CB8AC3E}">
        <p14:creationId xmlns:p14="http://schemas.microsoft.com/office/powerpoint/2010/main" val="40019300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6"/>
          <p:cNvSpPr txBox="1">
            <a:spLocks/>
          </p:cNvSpPr>
          <p:nvPr/>
        </p:nvSpPr>
        <p:spPr>
          <a:xfrm>
            <a:off x="1259632" y="1700808"/>
            <a:ext cx="6480720" cy="3358461"/>
          </a:xfrm>
          <a:prstGeom prst="rect">
            <a:avLst/>
          </a:prstGeom>
        </p:spPr>
        <p:txBody>
          <a:bodyPr vert="horz" lIns="0" tIns="34290" rIns="0" bIns="3429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eaLnBrk="0" hangingPunct="0">
              <a:lnSpc>
                <a:spcPct val="114000"/>
              </a:lnSpc>
              <a:spcAft>
                <a:spcPct val="0"/>
              </a:spcAft>
              <a:buSzPct val="65000"/>
              <a:buNone/>
            </a:pPr>
            <a:r>
              <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 </a:t>
            </a:r>
            <a:r>
              <a:rPr lang="en-US" altLang="zh-CN" sz="2800" b="1"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GeoServer</a:t>
            </a:r>
            <a:r>
              <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介绍</a:t>
            </a:r>
            <a:endPar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eaLnBrk="0" hangingPunct="0">
              <a:lnSpc>
                <a:spcPct val="114000"/>
              </a:lnSpc>
              <a:spcAft>
                <a:spcPct val="0"/>
              </a:spcAft>
              <a:buSzPct val="65000"/>
              <a:buNone/>
            </a:pPr>
            <a:r>
              <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 </a:t>
            </a:r>
            <a:r>
              <a:rPr lang="en-US" altLang="zh-CN" sz="2800" b="1"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GeoServer</a:t>
            </a:r>
            <a:r>
              <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-Java</a:t>
            </a:r>
            <a:r>
              <a:rPr lang="zh-CN" altLang="en-US"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环境配置与安装</a:t>
            </a:r>
            <a:endPar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eaLnBrk="0" hangingPunct="0">
              <a:lnSpc>
                <a:spcPct val="114000"/>
              </a:lnSpc>
              <a:spcAft>
                <a:spcPct val="0"/>
              </a:spcAft>
              <a:buSzPct val="65000"/>
              <a:buNone/>
            </a:pPr>
            <a:r>
              <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 </a:t>
            </a:r>
            <a:r>
              <a:rPr lang="en-US" altLang="zh-CN" sz="2800" b="1"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GeoServer</a:t>
            </a:r>
            <a:r>
              <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发布</a:t>
            </a:r>
            <a:r>
              <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WMS</a:t>
            </a:r>
            <a:r>
              <a:rPr lang="zh-CN" altLang="en-US"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服务</a:t>
            </a:r>
            <a:endPar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标题 3"/>
          <p:cNvSpPr>
            <a:spLocks noGrp="1"/>
          </p:cNvSpPr>
          <p:nvPr>
            <p:ph type="title"/>
          </p:nvPr>
        </p:nvSpPr>
        <p:spPr>
          <a:xfrm>
            <a:off x="899592" y="692696"/>
            <a:ext cx="7499176" cy="720080"/>
          </a:xfrm>
        </p:spPr>
        <p:txBody>
          <a:bodyPr/>
          <a:lstStyle/>
          <a:p>
            <a:pPr algn="ctr"/>
            <a:r>
              <a:rPr lang="zh-CN" altLang="en-US" sz="2800" b="1" kern="1200" dirty="0">
                <a:solidFill>
                  <a:srgbClr val="0000FF"/>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第三节 </a:t>
            </a:r>
            <a:r>
              <a:rPr lang="en-US" altLang="zh-CN" sz="2800" b="1" kern="1200" dirty="0" err="1">
                <a:solidFill>
                  <a:srgbClr val="0000FF"/>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GeoServer</a:t>
            </a:r>
            <a:endParaRPr lang="zh-CN" altLang="en-US" sz="2800" b="1" kern="1200" dirty="0">
              <a:solidFill>
                <a:srgbClr val="0000FF"/>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55619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6878" y="1052736"/>
            <a:ext cx="7992888" cy="5040560"/>
          </a:xfrm>
        </p:spPr>
        <p:txBody>
          <a:bodyPr/>
          <a:lstStyle/>
          <a:p>
            <a:pPr>
              <a:spcBef>
                <a:spcPts val="1200"/>
              </a:spcBef>
            </a:pP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是 </a:t>
            </a:r>
            <a:r>
              <a:rPr lang="en-US" altLang="zh-CN" sz="2400" b="1" dirty="0" err="1">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OpenGIS</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Web </a:t>
            </a:r>
            <a:r>
              <a:rPr lang="en-US" altLang="zh-CN" sz="2400" b="1" dirty="0" err="1">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Sevice</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规范的 </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J2EE </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实现，利用 </a:t>
            </a:r>
            <a:r>
              <a:rPr lang="en-US" altLang="zh-CN" sz="2400" b="1" dirty="0" err="1">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GeoServer</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可以方便的发布地图数据，允许用户进行更新、删除、插入数据操作，通过 </a:t>
            </a:r>
            <a:r>
              <a:rPr lang="en-US" altLang="zh-CN" sz="2400" b="1" dirty="0" err="1">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GeoServer</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可以在用户之间迅速共享空间地理信息；</a:t>
            </a:r>
            <a:endPar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a:p>
            <a:pPr>
              <a:spcBef>
                <a:spcPts val="1200"/>
              </a:spcBef>
            </a:pP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兼容 </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WMS </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和 </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WFS </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特性；支持 </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PostgreSQL</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MySQL</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Oracle </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t>
            </a:r>
            <a:r>
              <a:rPr lang="en-US" altLang="zh-CN" sz="2400" b="1" dirty="0" err="1">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Shapefile</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t>
            </a:r>
            <a:r>
              <a:rPr lang="en-US" altLang="zh-CN" sz="2400" b="1" dirty="0" err="1">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ArcSDE</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；支持上百种投影；能够将网络地图输出为 </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jpeg </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gif </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en-US" altLang="zh-CN" sz="2400" b="1" dirty="0" err="1">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png</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SVG </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 </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KML </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等格式；</a:t>
            </a:r>
            <a:endPar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a:p>
            <a:pPr>
              <a:spcBef>
                <a:spcPts val="1200"/>
              </a:spcBef>
            </a:pP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能够运行在任何基于 </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J2EE/Servlet </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容器之上；</a:t>
            </a:r>
            <a:endPar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a:p>
            <a:pPr>
              <a:spcBef>
                <a:spcPts val="1200"/>
              </a:spcBef>
            </a:pP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除此之外还包括许多其他的特性；</a:t>
            </a:r>
            <a:endPar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a:p>
            <a:pPr>
              <a:spcBef>
                <a:spcPts val="1200"/>
              </a:spcBef>
            </a:pP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官方网站：</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hlinkClick r:id="rId3"/>
              </a:rPr>
              <a:t>http://geoserver.org/</a:t>
            </a:r>
            <a:endPar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p:txBody>
      </p:sp>
      <p:sp>
        <p:nvSpPr>
          <p:cNvPr id="5" name="内容占位符 6"/>
          <p:cNvSpPr txBox="1">
            <a:spLocks/>
          </p:cNvSpPr>
          <p:nvPr/>
        </p:nvSpPr>
        <p:spPr>
          <a:xfrm>
            <a:off x="556722" y="406895"/>
            <a:ext cx="7776864" cy="504056"/>
          </a:xfrm>
          <a:prstGeom prst="rect">
            <a:avLst/>
          </a:prstGeom>
        </p:spPr>
        <p:txBody>
          <a:bodyPr vert="horz" lIns="0" tIns="34290" rIns="0" bIns="3429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eaLnBrk="0" hangingPunct="0">
              <a:lnSpc>
                <a:spcPct val="114000"/>
              </a:lnSpc>
              <a:spcAft>
                <a:spcPct val="0"/>
              </a:spcAft>
              <a:buSzPct val="65000"/>
              <a:buNone/>
            </a:pPr>
            <a:r>
              <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 </a:t>
            </a:r>
            <a:r>
              <a:rPr lang="en-US" altLang="zh-CN" sz="2800" b="1"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GeoServer</a:t>
            </a:r>
            <a:r>
              <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介绍</a:t>
            </a:r>
            <a:endPar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32994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6"/>
          <p:cNvSpPr txBox="1">
            <a:spLocks/>
          </p:cNvSpPr>
          <p:nvPr/>
        </p:nvSpPr>
        <p:spPr>
          <a:xfrm>
            <a:off x="1403648" y="692696"/>
            <a:ext cx="6552728" cy="2592288"/>
          </a:xfrm>
          <a:prstGeom prst="rect">
            <a:avLst/>
          </a:prstGeom>
        </p:spPr>
        <p:txBody>
          <a:bodyPr vert="horz" lIns="0" tIns="34290" rIns="0" bIns="3429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eaLnBrk="0" hangingPunct="0">
              <a:lnSpc>
                <a:spcPct val="114000"/>
              </a:lnSpc>
              <a:spcAft>
                <a:spcPct val="0"/>
              </a:spcAft>
              <a:buSzPct val="65000"/>
              <a:buNone/>
            </a:pPr>
            <a:r>
              <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 </a:t>
            </a:r>
            <a:r>
              <a:rPr lang="en-US" altLang="zh-CN" sz="2800" b="1"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GeoServer</a:t>
            </a:r>
            <a:r>
              <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-Java</a:t>
            </a:r>
            <a:r>
              <a:rPr lang="zh-CN" altLang="en-US"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环境配置与安装</a:t>
            </a:r>
            <a:endPar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eaLnBrk="0" hangingPunct="0">
              <a:lnSpc>
                <a:spcPct val="114000"/>
              </a:lnSpc>
              <a:spcAft>
                <a:spcPct val="0"/>
              </a:spcAft>
              <a:buSzPct val="65000"/>
              <a:buNone/>
            </a:pPr>
            <a:r>
              <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 </a:t>
            </a:r>
            <a:r>
              <a:rPr lang="en-US" altLang="zh-CN" sz="2800" b="1"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GeoServer</a:t>
            </a:r>
            <a:r>
              <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发布</a:t>
            </a:r>
            <a:r>
              <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WMS/WFS</a:t>
            </a:r>
            <a:r>
              <a:rPr lang="zh-CN" altLang="en-US"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服务</a:t>
            </a:r>
            <a:endPar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eaLnBrk="0" hangingPunct="0">
              <a:lnSpc>
                <a:spcPct val="114000"/>
              </a:lnSpc>
              <a:spcAft>
                <a:spcPct val="0"/>
              </a:spcAft>
              <a:buSzPct val="65000"/>
              <a:buNone/>
            </a:pPr>
            <a:endPar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eaLnBrk="0" hangingPunct="0">
              <a:lnSpc>
                <a:spcPct val="114000"/>
              </a:lnSpc>
              <a:spcAft>
                <a:spcPct val="0"/>
              </a:spcAft>
              <a:buSzPct val="65000"/>
              <a:buNone/>
            </a:pPr>
            <a:r>
              <a:rPr lang="zh-CN" altLang="en-US"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参见</a:t>
            </a:r>
            <a:r>
              <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指导书</a:t>
            </a:r>
            <a:r>
              <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719318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51</a:t>
            </a:fld>
            <a:endParaRPr lang="en-US" altLang="zh-CN"/>
          </a:p>
        </p:txBody>
      </p:sp>
      <p:sp>
        <p:nvSpPr>
          <p:cNvPr id="7" name="内容占位符 6"/>
          <p:cNvSpPr txBox="1">
            <a:spLocks/>
          </p:cNvSpPr>
          <p:nvPr/>
        </p:nvSpPr>
        <p:spPr>
          <a:xfrm>
            <a:off x="683568" y="650366"/>
            <a:ext cx="7776864" cy="648072"/>
          </a:xfrm>
          <a:prstGeom prst="rect">
            <a:avLst/>
          </a:prstGeom>
        </p:spPr>
        <p:txBody>
          <a:bodyPr vert="horz" lIns="0" tIns="34290" rIns="0" bIns="3429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eaLnBrk="0" hangingPunct="0">
              <a:lnSpc>
                <a:spcPct val="114000"/>
              </a:lnSpc>
              <a:spcAft>
                <a:spcPct val="0"/>
              </a:spcAft>
              <a:buSzPct val="65000"/>
              <a:buNone/>
            </a:pPr>
            <a:r>
              <a:rPr lang="zh-CN" altLang="en-US"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上机实验</a:t>
            </a:r>
            <a:r>
              <a:rPr lang="en-US" altLang="zh-CN" sz="2800" b="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a:t>
            </a:r>
            <a:r>
              <a:rPr lang="zh-CN" altLang="en-US" sz="2800" b="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800" b="1"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OpenLayers+GeoServer</a:t>
            </a:r>
            <a:r>
              <a:rPr lang="zh-CN" altLang="en-US"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开发</a:t>
            </a:r>
            <a:endParaRPr lang="en-US" altLang="zh-CN"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8" name="图片 7"/>
          <p:cNvPicPr>
            <a:picLocks noChangeAspect="1"/>
          </p:cNvPicPr>
          <p:nvPr/>
        </p:nvPicPr>
        <p:blipFill>
          <a:blip r:embed="rId2"/>
          <a:stretch>
            <a:fillRect/>
          </a:stretch>
        </p:blipFill>
        <p:spPr>
          <a:xfrm>
            <a:off x="0" y="1412776"/>
            <a:ext cx="9144000" cy="4392488"/>
          </a:xfrm>
          <a:prstGeom prst="rect">
            <a:avLst/>
          </a:prstGeom>
        </p:spPr>
      </p:pic>
    </p:spTree>
    <p:extLst>
      <p:ext uri="{BB962C8B-B14F-4D97-AF65-F5344CB8AC3E}">
        <p14:creationId xmlns:p14="http://schemas.microsoft.com/office/powerpoint/2010/main" val="1944613470"/>
      </p:ext>
    </p:extLst>
  </p:cSld>
  <p:clrMapOvr>
    <a:masterClrMapping/>
  </p:clrMapOvr>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rtlCol="0" anchor="t" anchorCtr="0" compatLnSpc="1">
        <a:prstTxWarp prst="textNoShape">
          <a:avLst/>
        </a:prstTxWarp>
      </a:bodyPr>
      <a:lstStyle>
        <a:defPPr>
          <a:defRPr b="1" dirty="0" smtClean="0">
            <a:latin typeface="Times New Roman" pitchFamily="18" charset="0"/>
            <a:cs typeface="Times New Roman" pitchFamily="18" charset="0"/>
          </a:defRPr>
        </a:defPPr>
      </a:lstStyle>
    </a:spDef>
    <a:lnDef>
      <a:spPr bwMode="auto">
        <a:solidFill>
          <a:schemeClr val="accent1"/>
        </a:solidFill>
        <a:ln w="19050" cap="flat" cmpd="sng" algn="ctr">
          <a:solidFill>
            <a:schemeClr val="tx1"/>
          </a:solidFill>
          <a:prstDash val="solid"/>
          <a:round/>
          <a:headEnd type="none" w="med" len="med"/>
          <a:tailEnd type="none" w="med" len="med"/>
        </a:ln>
        <a:effectLst/>
      </a:spPr>
      <a:body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CDESIGNO</Template>
  <TotalTime>12018</TotalTime>
  <Words>5270</Words>
  <Application>Microsoft Office PowerPoint</Application>
  <PresentationFormat>全屏显示(4:3)</PresentationFormat>
  <Paragraphs>523</Paragraphs>
  <Slides>51</Slides>
  <Notes>45</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51</vt:i4>
      </vt:variant>
    </vt:vector>
  </HeadingPairs>
  <TitlesOfParts>
    <vt:vector size="65" baseType="lpstr">
      <vt:lpstr>黑体</vt:lpstr>
      <vt:lpstr>华文楷体</vt:lpstr>
      <vt:lpstr>华文细黑</vt:lpstr>
      <vt:lpstr>楷体</vt:lpstr>
      <vt:lpstr>宋体</vt:lpstr>
      <vt:lpstr>微软雅黑</vt:lpstr>
      <vt:lpstr>微软雅黑 Light</vt:lpstr>
      <vt:lpstr>幼圆</vt:lpstr>
      <vt:lpstr>Arial</vt:lpstr>
      <vt:lpstr>Calibri</vt:lpstr>
      <vt:lpstr>Garamond</vt:lpstr>
      <vt:lpstr>Times New Roman</vt:lpstr>
      <vt:lpstr>Wingdings</vt:lpstr>
      <vt:lpstr>Edge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第二节  OpenLayers</vt:lpstr>
      <vt:lpstr>一、OpenLayers 概述</vt:lpstr>
      <vt:lpstr>PowerPoint 演示文稿</vt:lpstr>
      <vt:lpstr>PowerPoint 演示文稿</vt:lpstr>
      <vt:lpstr>   3. 应用案例</vt:lpstr>
      <vt:lpstr>PowerPoint 演示文稿</vt:lpstr>
      <vt:lpstr>PowerPoint 演示文稿</vt:lpstr>
      <vt:lpstr>PowerPoint 演示文稿</vt:lpstr>
      <vt:lpstr>（1）OpenLayers 5的数据源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使用API：</vt:lpstr>
      <vt:lpstr>PowerPoint 演示文稿</vt:lpstr>
      <vt:lpstr> 地图组成部分：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i&gt; 坐标系及投影</vt:lpstr>
      <vt:lpstr>   ii&gt; 多源数据叠加</vt:lpstr>
      <vt:lpstr>   iii&gt; 地图切片</vt:lpstr>
      <vt:lpstr>PowerPoint 演示文稿</vt:lpstr>
      <vt:lpstr>PowerPoint 演示文稿</vt:lpstr>
      <vt:lpstr>PowerPoint 演示文稿</vt:lpstr>
      <vt:lpstr>PowerPoint 演示文稿</vt:lpstr>
      <vt:lpstr>PowerPoint 演示文稿</vt:lpstr>
      <vt:lpstr>事件机制：</vt:lpstr>
      <vt:lpstr>PowerPoint 演示文稿</vt:lpstr>
      <vt:lpstr>第三节 GeoServer</vt:lpstr>
      <vt:lpstr>PowerPoint 演示文稿</vt:lpstr>
      <vt:lpstr>PowerPoint 演示文稿</vt:lpstr>
      <vt:lpstr>PowerPoint 演示文稿</vt:lpstr>
    </vt:vector>
  </TitlesOfParts>
  <Company>gis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zhangyi</dc:creator>
  <cp:lastModifiedBy>Aegean</cp:lastModifiedBy>
  <cp:revision>1021</cp:revision>
  <cp:lastPrinted>1601-01-01T00:00:00Z</cp:lastPrinted>
  <dcterms:created xsi:type="dcterms:W3CDTF">2002-03-03T13:16:19Z</dcterms:created>
  <dcterms:modified xsi:type="dcterms:W3CDTF">2026-05-13T07:05:06Z</dcterms:modified>
</cp:coreProperties>
</file>