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a" ContentType="audio/x-ms-wma"/>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 id="2147483676" r:id="rId3"/>
  </p:sldMasterIdLst>
  <p:notesMasterIdLst>
    <p:notesMasterId r:id="rId15"/>
  </p:notesMasterIdLst>
  <p:sldIdLst>
    <p:sldId id="334" r:id="rId4"/>
    <p:sldId id="257" r:id="rId5"/>
    <p:sldId id="315" r:id="rId6"/>
    <p:sldId id="263" r:id="rId7"/>
    <p:sldId id="335" r:id="rId8"/>
    <p:sldId id="336" r:id="rId9"/>
    <p:sldId id="352" r:id="rId10"/>
    <p:sldId id="338" r:id="rId11"/>
    <p:sldId id="347" r:id="rId12"/>
    <p:sldId id="339" r:id="rId13"/>
    <p:sldId id="322" r:id="rId14"/>
  </p:sldIdLst>
  <p:sldSz cx="9144000" cy="5143500" type="screen16x9"/>
  <p:notesSz cx="9144000" cy="6858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DF0"/>
    <a:srgbClr val="000000"/>
    <a:srgbClr val="DAE3F3"/>
    <a:srgbClr val="314865"/>
    <a:srgbClr val="2F5597"/>
    <a:srgbClr val="9D85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38" d="100"/>
          <a:sy n="138" d="100"/>
        </p:scale>
        <p:origin x="84" y="260"/>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2026/6/16</a:t>
            </a:fld>
            <a:endParaRPr lang="zh-CN" altLang="en-US"/>
          </a:p>
        </p:txBody>
      </p:sp>
      <p:sp>
        <p:nvSpPr>
          <p:cNvPr id="4" name="幻灯片图像占位符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E1689F0-D8FB-450F-A36F-553F26501FEE}"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5</a:t>
            </a:fld>
            <a:endParaRPr kumimoji="0" lang="en-US" sz="1200" b="0" i="0" u="none" strike="noStrike" kern="1200" cap="none" spc="0" normalizeH="0" baseline="0" noProof="0">
              <a:ln>
                <a:noFill/>
              </a:ln>
              <a:solidFill>
                <a:prstClr val="black"/>
              </a:solidFill>
              <a:effectLst/>
              <a:uLnTx/>
              <a:uFillTx/>
              <a:latin typeface="等线" panose="02010600030101010101" charset="-122"/>
              <a:ea typeface="+mn-ea"/>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10490FA-BF50-4B16-B630-490134ED6E9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6</a:t>
            </a:fld>
            <a:endParaRPr kumimoji="0" lang="zh-CN" altLang="en-US" sz="12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E1689F0-D8FB-450F-A36F-553F26501FE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E1689F0-D8FB-450F-A36F-553F26501FEE}"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5C8DB37-21FE-466F-861C-5865DBFB1088}" type="slidenum">
              <a:rPr lang="zh-CN" altLang="en-US" smtClean="0"/>
              <a:t>11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6C3FCDB0-F503-47F8-9F54-E1C9EFB6B37B}" type="datetimeFigureOut">
              <a:rPr lang="zh-CN" altLang="en-US" smtClean="0"/>
              <a:t>2026/6/16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F9B3A8-E0B9-43B3-BEF5-43336FBA3202}"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6C3FCDB0-F503-47F8-9F54-E1C9EFB6B37B}" type="datetimeFigureOut">
              <a:rPr lang="zh-CN" altLang="en-US" smtClean="0"/>
              <a:t>2026/6/16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F9B3A8-E0B9-43B3-BEF5-43336FBA3202}"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6C3FCDB0-F503-47F8-9F54-E1C9EFB6B37B}" type="datetimeFigureOut">
              <a:rPr lang="zh-CN" altLang="en-US" smtClean="0"/>
              <a:t>2026/6/16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F9B3A8-E0B9-43B3-BEF5-43336FBA3202}"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369219"/>
            <a:ext cx="3886200" cy="326350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29150" y="1369219"/>
            <a:ext cx="3886200" cy="326350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6C3FCDB0-F503-47F8-9F54-E1C9EFB6B37B}" type="datetimeFigureOut">
              <a:rPr lang="zh-CN" altLang="en-US" smtClean="0"/>
              <a:t>2026/6/16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3F9B3A8-E0B9-43B3-BEF5-43336FBA3202}"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4"/>
            <a:ext cx="7886700" cy="994172"/>
          </a:xfrm>
        </p:spPr>
        <p:txBody>
          <a:bodyPr/>
          <a:lstStyle/>
          <a:p>
            <a:r>
              <a:rPr lang="zh-CN" altLang="en-US"/>
              <a:t>单击此处编辑母版标题样式</a:t>
            </a:r>
          </a:p>
        </p:txBody>
      </p:sp>
      <p:sp>
        <p:nvSpPr>
          <p:cNvPr id="3" name="文本占位符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629842" y="1878806"/>
            <a:ext cx="3868340" cy="276344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29150" y="1878806"/>
            <a:ext cx="3887391" cy="276344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6C3FCDB0-F503-47F8-9F54-E1C9EFB6B37B}" type="datetimeFigureOut">
              <a:rPr lang="zh-CN" altLang="en-US" smtClean="0"/>
              <a:t>2026/6/16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3F9B3A8-E0B9-43B3-BEF5-43336FBA320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C3FCDB0-F503-47F8-9F54-E1C9EFB6B37B}" type="datetimeFigureOut">
              <a:rPr lang="zh-CN" altLang="en-US" smtClean="0"/>
              <a:t>2026/6/16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3F9B3A8-E0B9-43B3-BEF5-43336FBA3202}"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C3FCDB0-F503-47F8-9F54-E1C9EFB6B37B}" type="datetimeFigureOut">
              <a:rPr lang="zh-CN" altLang="en-US" smtClean="0"/>
              <a:t>2026/6/16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3F9B3A8-E0B9-43B3-BEF5-43336FBA320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C3FCDB0-F503-47F8-9F54-E1C9EFB6B37B}" type="datetimeFigureOut">
              <a:rPr lang="zh-CN" altLang="en-US" smtClean="0"/>
              <a:t>2026/6/16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3F9B3A8-E0B9-43B3-BEF5-43336FBA3202}"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C3FCDB0-F503-47F8-9F54-E1C9EFB6B37B}" type="datetimeFigureOut">
              <a:rPr lang="zh-CN" altLang="en-US" smtClean="0"/>
              <a:t>2026/6/16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3F9B3A8-E0B9-43B3-BEF5-43336FBA3202}"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6C3FCDB0-F503-47F8-9F54-E1C9EFB6B37B}" type="datetimeFigureOut">
              <a:rPr lang="zh-CN" altLang="en-US" smtClean="0"/>
              <a:t>2026/6/16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F9B3A8-E0B9-43B3-BEF5-43336FBA3202}"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4"/>
            <a:ext cx="1971675" cy="435887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6C3FCDB0-F503-47F8-9F54-E1C9EFB6B37B}" type="datetimeFigureOut">
              <a:rPr lang="zh-CN" altLang="en-US" smtClean="0"/>
              <a:t>2026/6/16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F9B3A8-E0B9-43B3-BEF5-43336FBA3202}"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4629151"/>
            <a:ext cx="3429000" cy="228600"/>
          </a:xfrm>
          <a:prstGeom prst="rect">
            <a:avLst/>
          </a:prstGeom>
        </p:spPr>
        <p:txBody>
          <a:bodyPr/>
          <a:lstStyle/>
          <a:p>
            <a:fld id="{69F42ADB-7D30-4CDA-A166-333DE990463F}" type="datetimeFigureOut">
              <a:rPr lang="en-US" smtClean="0"/>
              <a:t>6/16/2026</a:t>
            </a:fld>
            <a:endParaRPr lang="en-US" dirty="0"/>
          </a:p>
        </p:txBody>
      </p:sp>
      <p:sp>
        <p:nvSpPr>
          <p:cNvPr id="5" name="Footer Placeholder 4"/>
          <p:cNvSpPr>
            <a:spLocks noGrp="1"/>
          </p:cNvSpPr>
          <p:nvPr>
            <p:ph type="ftr" sz="quarter" idx="11"/>
          </p:nvPr>
        </p:nvSpPr>
        <p:spPr>
          <a:xfrm>
            <a:off x="457200" y="4869657"/>
            <a:ext cx="3429000" cy="212884"/>
          </a:xfrm>
          <a:prstGeom prst="rect">
            <a:avLst/>
          </a:prstGeom>
        </p:spPr>
        <p:txBody>
          <a:bodyPr/>
          <a:lstStyle/>
          <a:p>
            <a:endParaRPr lang="en-US" dirty="0"/>
          </a:p>
        </p:txBody>
      </p:sp>
      <p:sp>
        <p:nvSpPr>
          <p:cNvPr id="6" name="Slide Number Placeholder 5"/>
          <p:cNvSpPr>
            <a:spLocks noGrp="1"/>
          </p:cNvSpPr>
          <p:nvPr>
            <p:ph type="sldNum" sz="quarter" idx="12"/>
          </p:nvPr>
        </p:nvSpPr>
        <p:spPr>
          <a:xfrm rot="16200000">
            <a:off x="8391843" y="4368483"/>
            <a:ext cx="986791" cy="365125"/>
          </a:xfrm>
          <a:prstGeom prst="rect">
            <a:avLst/>
          </a:prstGeom>
        </p:spPr>
        <p:txBody>
          <a:bodyPr/>
          <a:lstStyle/>
          <a:p>
            <a:fld id="{B10D5614-B734-4280-8F57-1D4947433C97}" type="slidenum">
              <a:rPr lang="en-US" smtClean="0"/>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研究方法">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6C3FCDB0-F503-47F8-9F54-E1C9EFB6B37B}" type="datetimeFigureOut">
              <a:rPr lang="zh-CN" altLang="en-US" smtClean="0"/>
              <a:t>2026/6/16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F9B3A8-E0B9-43B3-BEF5-43336FBA3202}"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6C3FCDB0-F503-47F8-9F54-E1C9EFB6B37B}" type="datetimeFigureOut">
              <a:rPr lang="zh-CN" altLang="en-US" smtClean="0"/>
              <a:t>2026/6/16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F9B3A8-E0B9-43B3-BEF5-43336FBA3202}"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305"/>
            <a:ext cx="7886700" cy="2139553"/>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3442099"/>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6C3FCDB0-F503-47F8-9F54-E1C9EFB6B37B}" type="datetimeFigureOut">
              <a:rPr lang="zh-CN" altLang="en-US" smtClean="0"/>
              <a:t>2026/6/16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F9B3A8-E0B9-43B3-BEF5-43336FBA3202}"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369219"/>
            <a:ext cx="3886200" cy="326350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29150" y="1369219"/>
            <a:ext cx="3886200" cy="326350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6C3FCDB0-F503-47F8-9F54-E1C9EFB6B37B}" type="datetimeFigureOut">
              <a:rPr lang="zh-CN" altLang="en-US" smtClean="0"/>
              <a:t>2026/6/16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3F9B3A8-E0B9-43B3-BEF5-43336FBA3202}"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4"/>
            <a:ext cx="7886700" cy="994172"/>
          </a:xfrm>
        </p:spPr>
        <p:txBody>
          <a:bodyPr/>
          <a:lstStyle/>
          <a:p>
            <a:r>
              <a:rPr lang="zh-CN" altLang="en-US"/>
              <a:t>单击此处编辑母版标题样式</a:t>
            </a:r>
          </a:p>
        </p:txBody>
      </p:sp>
      <p:sp>
        <p:nvSpPr>
          <p:cNvPr id="3" name="文本占位符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629842" y="1878806"/>
            <a:ext cx="3868340" cy="276344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1"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29151" y="1878806"/>
            <a:ext cx="3887391" cy="276344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6C3FCDB0-F503-47F8-9F54-E1C9EFB6B37B}" type="datetimeFigureOut">
              <a:rPr lang="zh-CN" altLang="en-US" smtClean="0"/>
              <a:t>2026/6/16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3F9B3A8-E0B9-43B3-BEF5-43336FBA3202}"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C3FCDB0-F503-47F8-9F54-E1C9EFB6B37B}" type="datetimeFigureOut">
              <a:rPr lang="zh-CN" altLang="en-US" smtClean="0"/>
              <a:t>2026/6/16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3F9B3A8-E0B9-43B3-BEF5-43336FBA3202}"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C3FCDB0-F503-47F8-9F54-E1C9EFB6B37B}" type="datetimeFigureOut">
              <a:rPr lang="zh-CN" altLang="en-US" smtClean="0"/>
              <a:t>2026/6/16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3F9B3A8-E0B9-43B3-BEF5-43336FBA3202}"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740570"/>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29841" y="1543051"/>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C3FCDB0-F503-47F8-9F54-E1C9EFB6B37B}" type="datetimeFigureOut">
              <a:rPr lang="zh-CN" altLang="en-US" smtClean="0"/>
              <a:t>2026/6/16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3F9B3A8-E0B9-43B3-BEF5-43336FBA3202}"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740570"/>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1543051"/>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C3FCDB0-F503-47F8-9F54-E1C9EFB6B37B}" type="datetimeFigureOut">
              <a:rPr lang="zh-CN" altLang="en-US" smtClean="0"/>
              <a:t>2026/6/16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3F9B3A8-E0B9-43B3-BEF5-43336FBA3202}"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6C3FCDB0-F503-47F8-9F54-E1C9EFB6B37B}" type="datetimeFigureOut">
              <a:rPr lang="zh-CN" altLang="en-US" smtClean="0"/>
              <a:t>2026/6/16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F9B3A8-E0B9-43B3-BEF5-43336FBA3202}"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6" y="273845"/>
            <a:ext cx="1971675" cy="435887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1" y="273845"/>
            <a:ext cx="5800725" cy="4358879"/>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6C3FCDB0-F503-47F8-9F54-E1C9EFB6B37B}" type="datetimeFigureOut">
              <a:rPr lang="zh-CN" altLang="en-US" smtClean="0"/>
              <a:t>2026/6/16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F9B3A8-E0B9-43B3-BEF5-43336FBA3202}"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4629151"/>
            <a:ext cx="3429000" cy="228600"/>
          </a:xfrm>
          <a:prstGeom prst="rect">
            <a:avLst/>
          </a:prstGeom>
        </p:spPr>
        <p:txBody>
          <a:bodyPr/>
          <a:lstStyle/>
          <a:p>
            <a:fld id="{69F42ADB-7D30-4CDA-A166-333DE990463F}" type="datetimeFigureOut">
              <a:rPr lang="en-US" smtClean="0"/>
              <a:t>6/16/2026</a:t>
            </a:fld>
            <a:endParaRPr lang="en-US" dirty="0"/>
          </a:p>
        </p:txBody>
      </p:sp>
      <p:sp>
        <p:nvSpPr>
          <p:cNvPr id="5" name="Footer Placeholder 4"/>
          <p:cNvSpPr>
            <a:spLocks noGrp="1"/>
          </p:cNvSpPr>
          <p:nvPr>
            <p:ph type="ftr" sz="quarter" idx="11"/>
          </p:nvPr>
        </p:nvSpPr>
        <p:spPr>
          <a:xfrm>
            <a:off x="457200" y="4869657"/>
            <a:ext cx="3429000" cy="212884"/>
          </a:xfrm>
          <a:prstGeom prst="rect">
            <a:avLst/>
          </a:prstGeom>
        </p:spPr>
        <p:txBody>
          <a:bodyPr/>
          <a:lstStyle/>
          <a:p>
            <a:endParaRPr lang="en-US" dirty="0"/>
          </a:p>
        </p:txBody>
      </p:sp>
      <p:sp>
        <p:nvSpPr>
          <p:cNvPr id="6" name="Slide Number Placeholder 5"/>
          <p:cNvSpPr>
            <a:spLocks noGrp="1"/>
          </p:cNvSpPr>
          <p:nvPr>
            <p:ph type="sldNum" sz="quarter" idx="12"/>
          </p:nvPr>
        </p:nvSpPr>
        <p:spPr>
          <a:xfrm rot="16200000">
            <a:off x="8391844" y="4368484"/>
            <a:ext cx="986791" cy="365125"/>
          </a:xfrm>
          <a:prstGeom prst="rect">
            <a:avLst/>
          </a:prstGeom>
        </p:spPr>
        <p:txBody>
          <a:bodyPr/>
          <a:lstStyle/>
          <a:p>
            <a:fld id="{B10D5614-B734-4280-8F57-1D4947433C97}" type="slidenum">
              <a:rPr lang="en-US" smtClean="0"/>
              <a:t>‹#›</a:t>
            </a:fld>
            <a:endParaRPr 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研究方法">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hasCustomPrompt="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单击以编辑母版副标题样式</a:t>
            </a:r>
          </a:p>
        </p:txBody>
      </p:sp>
      <p:sp>
        <p:nvSpPr>
          <p:cNvPr id="4" name="日期占位符 3"/>
          <p:cNvSpPr>
            <a:spLocks noGrp="1"/>
          </p:cNvSpPr>
          <p:nvPr>
            <p:ph type="dt" sz="half" idx="10"/>
          </p:nvPr>
        </p:nvSpPr>
        <p:spPr/>
        <p:txBody>
          <a:bodyPr/>
          <a:lstStyle/>
          <a:p>
            <a:fld id="{A8E1F2BF-171F-45EF-A534-BE42F5A12886}" type="datetimeFigureOut">
              <a:rPr lang="zh-CN" altLang="en-US" smtClean="0"/>
              <a:t>2026/6/16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98F320A-8AF5-4ED9-88F7-F72F6404F7E9}" type="slidenum">
              <a:rPr lang="zh-CN" altLang="en-US" smtClean="0"/>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8E1F2BF-171F-45EF-A534-BE42F5A12886}" type="datetimeFigureOut">
              <a:rPr lang="zh-CN" altLang="en-US" smtClean="0"/>
              <a:t>2026/6/16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98F320A-8AF5-4ED9-88F7-F72F6404F7E9}" type="slidenum">
              <a:rPr lang="zh-CN" altLang="en-US" smtClean="0"/>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hasCustomPrompt="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A8E1F2BF-171F-45EF-A534-BE42F5A12886}" type="datetimeFigureOut">
              <a:rPr lang="zh-CN" altLang="en-US" smtClean="0"/>
              <a:t>2026/6/16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98F320A-8AF5-4ED9-88F7-F72F6404F7E9}" type="slidenum">
              <a:rPr lang="zh-CN" altLang="en-US" smtClean="0"/>
              <a:t>‹#›</a:t>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69219"/>
            <a:ext cx="3886200" cy="326350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29150" y="1369219"/>
            <a:ext cx="3886200" cy="326350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A8E1F2BF-171F-45EF-A534-BE42F5A12886}" type="datetimeFigureOut">
              <a:rPr lang="zh-CN" altLang="en-US" smtClean="0"/>
              <a:t>2026/6/16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98F320A-8AF5-4ED9-88F7-F72F6404F7E9}" type="slidenum">
              <a:rPr lang="zh-CN" altLang="en-US" smtClean="0"/>
              <a:t>‹#›</a:t>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4"/>
            <a:ext cx="7886700" cy="994172"/>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p:cNvSpPr>
            <a:spLocks noGrp="1"/>
          </p:cNvSpPr>
          <p:nvPr>
            <p:ph sz="half" idx="2" hasCustomPrompt="1"/>
          </p:nvPr>
        </p:nvSpPr>
        <p:spPr>
          <a:xfrm>
            <a:off x="629842" y="1878806"/>
            <a:ext cx="3868340" cy="2763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p:cNvSpPr>
            <a:spLocks noGrp="1"/>
          </p:cNvSpPr>
          <p:nvPr>
            <p:ph sz="quarter" idx="4" hasCustomPrompt="1"/>
          </p:nvPr>
        </p:nvSpPr>
        <p:spPr>
          <a:xfrm>
            <a:off x="4629150" y="1878806"/>
            <a:ext cx="3887391" cy="2763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A8E1F2BF-171F-45EF-A534-BE42F5A12886}" type="datetimeFigureOut">
              <a:rPr lang="zh-CN" altLang="en-US" smtClean="0"/>
              <a:t>2026/6/16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98F320A-8AF5-4ED9-88F7-F72F6404F7E9}" type="slidenum">
              <a:rPr lang="zh-CN" altLang="en-US" smtClean="0"/>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8E1F2BF-171F-45EF-A534-BE42F5A12886}" type="datetimeFigureOut">
              <a:rPr lang="zh-CN" altLang="en-US" smtClean="0"/>
              <a:t>2026/6/16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98F320A-8AF5-4ED9-88F7-F72F6404F7E9}" type="slidenum">
              <a:rPr lang="zh-CN" altLang="en-US" smtClean="0"/>
              <a:t>‹#›</a:t>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8E1F2BF-171F-45EF-A534-BE42F5A12886}" type="datetimeFigureOut">
              <a:rPr lang="zh-CN" altLang="en-US" smtClean="0"/>
              <a:t>2026/6/16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98F320A-8AF5-4ED9-88F7-F72F6404F7E9}" type="slidenum">
              <a:rPr lang="zh-CN" altLang="en-US" smtClean="0"/>
              <a:t>‹#›</a:t>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p>
        </p:txBody>
      </p:sp>
      <p:sp>
        <p:nvSpPr>
          <p:cNvPr id="3" name="内容占位符 2"/>
          <p:cNvSpPr>
            <a:spLocks noGrp="1"/>
          </p:cNvSpPr>
          <p:nvPr>
            <p:ph idx="1" hasCustomPrompt="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p:cNvSpPr>
            <a:spLocks noGrp="1"/>
          </p:cNvSpPr>
          <p:nvPr>
            <p:ph type="dt" sz="half" idx="10"/>
          </p:nvPr>
        </p:nvSpPr>
        <p:spPr/>
        <p:txBody>
          <a:bodyPr/>
          <a:lstStyle/>
          <a:p>
            <a:fld id="{A8E1F2BF-171F-45EF-A534-BE42F5A12886}" type="datetimeFigureOut">
              <a:rPr lang="zh-CN" altLang="en-US" smtClean="0"/>
              <a:t>2026/6/16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98F320A-8AF5-4ED9-88F7-F72F6404F7E9}" type="slidenum">
              <a:rPr lang="zh-CN" altLang="en-US" smtClean="0"/>
              <a:t>‹#›</a:t>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hasCustomPrompt="1"/>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p:cNvSpPr>
            <a:spLocks noGrp="1"/>
          </p:cNvSpPr>
          <p:nvPr>
            <p:ph type="dt" sz="half" idx="10"/>
          </p:nvPr>
        </p:nvSpPr>
        <p:spPr/>
        <p:txBody>
          <a:bodyPr/>
          <a:lstStyle/>
          <a:p>
            <a:fld id="{A8E1F2BF-171F-45EF-A534-BE42F5A12886}" type="datetimeFigureOut">
              <a:rPr lang="zh-CN" altLang="en-US" smtClean="0"/>
              <a:t>2026/6/16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98F320A-8AF5-4ED9-88F7-F72F6404F7E9}" type="slidenum">
              <a:rPr lang="zh-CN" altLang="en-US" smtClean="0"/>
              <a:t>‹#›</a:t>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8E1F2BF-171F-45EF-A534-BE42F5A12886}" type="datetimeFigureOut">
              <a:rPr lang="zh-CN" altLang="en-US" smtClean="0"/>
              <a:t>2026/6/16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98F320A-8AF5-4ED9-88F7-F72F6404F7E9}" type="slidenum">
              <a:rPr lang="zh-CN" altLang="en-US" smtClean="0"/>
              <a:t>‹#›</a:t>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4"/>
            <a:ext cx="1971675" cy="4358879"/>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3844"/>
            <a:ext cx="5800725" cy="4358879"/>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8E1F2BF-171F-45EF-A534-BE42F5A12886}" type="datetimeFigureOut">
              <a:rPr lang="zh-CN" altLang="en-US" smtClean="0"/>
              <a:t>2026/6/16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98F320A-8AF5-4ED9-88F7-F72F6404F7E9}" type="slidenum">
              <a:rPr lang="zh-CN" altLang="en-US" smtClean="0"/>
              <a:t>‹#›</a:t>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4629151"/>
            <a:ext cx="3429000" cy="228600"/>
          </a:xfrm>
          <a:prstGeom prst="rect">
            <a:avLst/>
          </a:prstGeom>
        </p:spPr>
        <p:txBody>
          <a:bodyPr/>
          <a:lstStyle/>
          <a:p>
            <a:fld id="{69F42ADB-7D30-4CDA-A166-333DE990463F}" type="datetimeFigureOut">
              <a:rPr lang="en-US" smtClean="0"/>
              <a:t>6/16/2026</a:t>
            </a:fld>
            <a:endParaRPr lang="en-US" dirty="0"/>
          </a:p>
        </p:txBody>
      </p:sp>
      <p:sp>
        <p:nvSpPr>
          <p:cNvPr id="5" name="Footer Placeholder 4"/>
          <p:cNvSpPr>
            <a:spLocks noGrp="1"/>
          </p:cNvSpPr>
          <p:nvPr>
            <p:ph type="ftr" sz="quarter" idx="11"/>
          </p:nvPr>
        </p:nvSpPr>
        <p:spPr>
          <a:xfrm>
            <a:off x="457200" y="4869657"/>
            <a:ext cx="3429000" cy="212884"/>
          </a:xfrm>
          <a:prstGeom prst="rect">
            <a:avLst/>
          </a:prstGeom>
        </p:spPr>
        <p:txBody>
          <a:bodyPr/>
          <a:lstStyle/>
          <a:p>
            <a:endParaRPr lang="en-US" dirty="0"/>
          </a:p>
        </p:txBody>
      </p:sp>
      <p:sp>
        <p:nvSpPr>
          <p:cNvPr id="6" name="Slide Number Placeholder 5"/>
          <p:cNvSpPr>
            <a:spLocks noGrp="1"/>
          </p:cNvSpPr>
          <p:nvPr>
            <p:ph type="sldNum" sz="quarter" idx="12"/>
          </p:nvPr>
        </p:nvSpPr>
        <p:spPr>
          <a:xfrm rot="16200000">
            <a:off x="8391844" y="4368484"/>
            <a:ext cx="986791" cy="365125"/>
          </a:xfrm>
          <a:prstGeom prst="rect">
            <a:avLst/>
          </a:prstGeom>
        </p:spPr>
        <p:txBody>
          <a:bodyPr/>
          <a:lstStyle/>
          <a:p>
            <a:fld id="{B10D5614-B734-4280-8F57-1D4947433C97}"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theme" Target="../theme/theme3.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6C3FCDB0-F503-47F8-9F54-E1C9EFB6B37B}" type="datetimeFigureOut">
              <a:rPr lang="zh-CN" altLang="en-US" smtClean="0"/>
              <a:t>2026/6/16</a:t>
            </a:fld>
            <a:endParaRPr lang="zh-CN" altLang="en-US"/>
          </a:p>
        </p:txBody>
      </p:sp>
      <p:sp>
        <p:nvSpPr>
          <p:cNvPr id="5" name="页脚占位符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73F9B3A8-E0B9-43B3-BEF5-43336FBA320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628650" y="4767264"/>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6C3FCDB0-F503-47F8-9F54-E1C9EFB6B37B}" type="datetimeFigureOut">
              <a:rPr lang="zh-CN" altLang="en-US" smtClean="0"/>
              <a:t>2026/6/16</a:t>
            </a:fld>
            <a:endParaRPr lang="zh-CN" altLang="en-US"/>
          </a:p>
        </p:txBody>
      </p:sp>
      <p:sp>
        <p:nvSpPr>
          <p:cNvPr id="5" name="页脚占位符 4"/>
          <p:cNvSpPr>
            <a:spLocks noGrp="1"/>
          </p:cNvSpPr>
          <p:nvPr>
            <p:ph type="ftr" sz="quarter" idx="3"/>
          </p:nvPr>
        </p:nvSpPr>
        <p:spPr>
          <a:xfrm>
            <a:off x="3028950" y="4767264"/>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4767264"/>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73F9B3A8-E0B9-43B3-BEF5-43336FBA320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A8E1F2BF-171F-45EF-A534-BE42F5A12886}" type="datetimeFigureOut">
              <a:rPr lang="zh-CN" altLang="en-US" smtClean="0"/>
              <a:t>2026/6/16</a:t>
            </a:fld>
            <a:endParaRPr lang="zh-CN" altLang="en-US"/>
          </a:p>
        </p:txBody>
      </p:sp>
      <p:sp>
        <p:nvSpPr>
          <p:cNvPr id="5" name="页脚占位符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98F320A-8AF5-4ED9-88F7-F72F6404F7E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microsoft.com/office/2007/relationships/media" Target="../media/media1.wma"/><Relationship Id="rId7" Type="http://schemas.openxmlformats.org/officeDocument/2006/relationships/image" Target="../media/image2.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png"/><Relationship Id="rId5" Type="http://schemas.openxmlformats.org/officeDocument/2006/relationships/slideLayout" Target="../slideLayouts/slideLayout14.xml"/><Relationship Id="rId4" Type="http://schemas.openxmlformats.org/officeDocument/2006/relationships/audio" Target="../media/media1.wma"/></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1.jpg"/><Relationship Id="rId3" Type="http://schemas.openxmlformats.org/officeDocument/2006/relationships/image" Target="../media/image6.jpeg"/><Relationship Id="rId7" Type="http://schemas.openxmlformats.org/officeDocument/2006/relationships/image" Target="../media/image10.png"/><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image" Target="../media/image8.jpeg"/><Relationship Id="rId4" Type="http://schemas.openxmlformats.org/officeDocument/2006/relationships/image" Target="../media/image7.jpeg"/><Relationship Id="rId9" Type="http://schemas.openxmlformats.org/officeDocument/2006/relationships/image" Target="../media/image12.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15.jpg"/></Relationships>
</file>

<file path=ppt/slides/_rels/slide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2302" y="3316"/>
            <a:ext cx="9144000" cy="5143500"/>
          </a:xfrm>
          <a:prstGeom prst="rect">
            <a:avLst/>
          </a:prstGeom>
          <a:solidFill>
            <a:srgbClr val="314865">
              <a:alpha val="0"/>
            </a:srgbClr>
          </a:solidFill>
        </p:spPr>
      </p:pic>
      <p:sp>
        <p:nvSpPr>
          <p:cNvPr id="8" name="PA_矩形 17"/>
          <p:cNvSpPr/>
          <p:nvPr>
            <p:custDataLst>
              <p:tags r:id="rId1"/>
            </p:custDataLst>
          </p:nvPr>
        </p:nvSpPr>
        <p:spPr>
          <a:xfrm>
            <a:off x="-13520" y="1314135"/>
            <a:ext cx="9145218" cy="1323439"/>
          </a:xfrm>
          <a:prstGeom prst="rect">
            <a:avLst/>
          </a:prstGeom>
        </p:spPr>
        <p:txBody>
          <a:bodyPr wrap="square">
            <a:spAutoFit/>
          </a:bodyPr>
          <a:lstStyle/>
          <a:p>
            <a:pPr algn="ctr">
              <a:spcBef>
                <a:spcPct val="0"/>
              </a:spcBef>
            </a:pPr>
            <a:r>
              <a:rPr lang="zh-CN" altLang="zh-CN" sz="4000" b="1" dirty="0">
                <a:solidFill>
                  <a:prstClr val="white"/>
                </a:solidFill>
                <a:latin typeface="微软雅黑" panose="020B0503020204020204" pitchFamily="34" charset="-122"/>
                <a:ea typeface="微软雅黑" panose="020B0503020204020204" pitchFamily="34" charset="-122"/>
                <a:cs typeface="+mn-ea"/>
              </a:rPr>
              <a:t>露天矿区生态修复与土地复垦</a:t>
            </a:r>
            <a:endParaRPr lang="en-US" altLang="zh-CN" sz="4000" b="1" dirty="0">
              <a:solidFill>
                <a:prstClr val="white"/>
              </a:solidFill>
              <a:latin typeface="微软雅黑" panose="020B0503020204020204" pitchFamily="34" charset="-122"/>
              <a:ea typeface="微软雅黑" panose="020B0503020204020204" pitchFamily="34" charset="-122"/>
              <a:cs typeface="+mn-ea"/>
            </a:endParaRPr>
          </a:p>
          <a:p>
            <a:pPr algn="ctr">
              <a:spcBef>
                <a:spcPct val="0"/>
              </a:spcBef>
            </a:pPr>
            <a:r>
              <a:rPr lang="zh-CN" altLang="zh-CN" sz="4000" b="1" dirty="0">
                <a:solidFill>
                  <a:prstClr val="white"/>
                </a:solidFill>
                <a:latin typeface="微软雅黑" panose="020B0503020204020204" pitchFamily="34" charset="-122"/>
                <a:ea typeface="微软雅黑" panose="020B0503020204020204" pitchFamily="34" charset="-122"/>
                <a:cs typeface="+mn-ea"/>
              </a:rPr>
              <a:t>遥感监测研究</a:t>
            </a:r>
            <a:r>
              <a:rPr lang="zh-CN" altLang="en-US" sz="4000" b="1" dirty="0">
                <a:solidFill>
                  <a:prstClr val="white"/>
                </a:solidFill>
                <a:latin typeface="微软雅黑" panose="020B0503020204020204" pitchFamily="34" charset="-122"/>
                <a:ea typeface="微软雅黑" panose="020B0503020204020204" pitchFamily="34" charset="-122"/>
                <a:cs typeface="+mn-ea"/>
              </a:rPr>
              <a:t>进展</a:t>
            </a:r>
            <a:endParaRPr lang="zh-CN" altLang="en-US" sz="4000" b="1"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9" name="PA_矩形 10"/>
          <p:cNvSpPr/>
          <p:nvPr>
            <p:custDataLst>
              <p:tags r:id="rId2"/>
            </p:custDataLst>
          </p:nvPr>
        </p:nvSpPr>
        <p:spPr>
          <a:xfrm>
            <a:off x="3933017" y="3250796"/>
            <a:ext cx="3978910" cy="461665"/>
          </a:xfrm>
          <a:prstGeom prst="rect">
            <a:avLst/>
          </a:prstGeom>
        </p:spPr>
        <p:txBody>
          <a:bodyPr wrap="square">
            <a:spAutoFit/>
          </a:bodyPr>
          <a:lstStyle/>
          <a:p>
            <a:pPr algn="ctr" defTabSz="914400"/>
            <a:r>
              <a:rPr lang="zh-CN" altLang="en-US" sz="2400" dirty="0">
                <a:solidFill>
                  <a:prstClr val="white"/>
                </a:solidFill>
                <a:latin typeface="微软雅黑" panose="020B0503020204020204" pitchFamily="34" charset="-122"/>
                <a:ea typeface="微软雅黑" panose="020B0503020204020204" pitchFamily="34" charset="-122"/>
              </a:rPr>
              <a:t>环境与测绘学院</a:t>
            </a:r>
          </a:p>
        </p:txBody>
      </p:sp>
      <p:cxnSp>
        <p:nvCxnSpPr>
          <p:cNvPr id="11" name="直接连接符 10"/>
          <p:cNvCxnSpPr/>
          <p:nvPr/>
        </p:nvCxnSpPr>
        <p:spPr>
          <a:xfrm>
            <a:off x="4439382" y="4951718"/>
            <a:ext cx="4692316" cy="18047"/>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3520" y="4938905"/>
            <a:ext cx="4471856" cy="1804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pic>
        <p:nvPicPr>
          <p:cNvPr id="15" name="纯音乐 - Luv Letter.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7"/>
          <a:stretch>
            <a:fillRect/>
          </a:stretch>
        </p:blipFill>
        <p:spPr>
          <a:xfrm>
            <a:off x="9525000" y="-609600"/>
            <a:ext cx="609600" cy="609600"/>
          </a:xfrm>
          <a:prstGeom prst="rect">
            <a:avLst/>
          </a:prstGeom>
        </p:spPr>
      </p:pic>
      <p:sp>
        <p:nvSpPr>
          <p:cNvPr id="2" name="文本框 1"/>
          <p:cNvSpPr txBox="1"/>
          <p:nvPr/>
        </p:nvSpPr>
        <p:spPr>
          <a:xfrm>
            <a:off x="4794302" y="3787074"/>
            <a:ext cx="5745480" cy="1077218"/>
          </a:xfrm>
          <a:prstGeom prst="rect">
            <a:avLst/>
          </a:prstGeom>
          <a:noFill/>
        </p:spPr>
        <p:txBody>
          <a:bodyPr wrap="square" rtlCol="0">
            <a:spAutoFit/>
          </a:bodyPr>
          <a:lstStyle/>
          <a:p>
            <a:pPr algn="l"/>
            <a:r>
              <a:rPr lang="zh-CN" altLang="en-US" sz="1600" b="1" spc="225" dirty="0">
                <a:solidFill>
                  <a:prstClr val="white"/>
                </a:solidFill>
                <a:latin typeface="微软雅黑" panose="020B0503020204020204" pitchFamily="34" charset="-122"/>
                <a:ea typeface="微软雅黑" panose="020B0503020204020204" pitchFamily="34" charset="-122"/>
              </a:rPr>
              <a:t>汇报者：寇佳伟</a:t>
            </a:r>
            <a:endParaRPr lang="en-US" altLang="zh-CN" sz="1600" b="1" spc="225" dirty="0">
              <a:solidFill>
                <a:prstClr val="white"/>
              </a:solidFill>
              <a:latin typeface="微软雅黑" panose="020B0503020204020204" pitchFamily="34" charset="-122"/>
              <a:ea typeface="微软雅黑" panose="020B0503020204020204" pitchFamily="34" charset="-122"/>
            </a:endParaRPr>
          </a:p>
          <a:p>
            <a:pPr algn="l"/>
            <a:r>
              <a:rPr lang="zh-CN" altLang="en-US" sz="1600" b="1" spc="225" dirty="0">
                <a:solidFill>
                  <a:prstClr val="white"/>
                </a:solidFill>
                <a:latin typeface="微软雅黑" panose="020B0503020204020204" pitchFamily="34" charset="-122"/>
                <a:ea typeface="微软雅黑" panose="020B0503020204020204" pitchFamily="34" charset="-122"/>
              </a:rPr>
              <a:t>班级：地信</a:t>
            </a:r>
            <a:r>
              <a:rPr lang="en-US" altLang="zh-CN" sz="1600" b="1" spc="225" dirty="0">
                <a:solidFill>
                  <a:prstClr val="white"/>
                </a:solidFill>
                <a:latin typeface="微软雅黑" panose="020B0503020204020204" pitchFamily="34" charset="-122"/>
                <a:ea typeface="微软雅黑" panose="020B0503020204020204" pitchFamily="34" charset="-122"/>
              </a:rPr>
              <a:t>23-2</a:t>
            </a:r>
            <a:r>
              <a:rPr lang="zh-CN" altLang="en-US" sz="1600" b="1" spc="225" dirty="0">
                <a:solidFill>
                  <a:prstClr val="white"/>
                </a:solidFill>
                <a:latin typeface="微软雅黑" panose="020B0503020204020204" pitchFamily="34" charset="-122"/>
                <a:ea typeface="微软雅黑" panose="020B0503020204020204" pitchFamily="34" charset="-122"/>
              </a:rPr>
              <a:t>班</a:t>
            </a:r>
            <a:endParaRPr lang="en-US" altLang="zh-CN" sz="1600" b="1" spc="225" dirty="0">
              <a:solidFill>
                <a:prstClr val="white"/>
              </a:solidFill>
              <a:latin typeface="微软雅黑" panose="020B0503020204020204" pitchFamily="34" charset="-122"/>
              <a:ea typeface="微软雅黑" panose="020B0503020204020204" pitchFamily="34" charset="-122"/>
            </a:endParaRPr>
          </a:p>
          <a:p>
            <a:pPr algn="l"/>
            <a:r>
              <a:rPr lang="zh-CN" altLang="en-US" sz="1600" b="1" spc="225" dirty="0">
                <a:solidFill>
                  <a:prstClr val="white"/>
                </a:solidFill>
                <a:latin typeface="微软雅黑" panose="020B0503020204020204" pitchFamily="34" charset="-122"/>
                <a:ea typeface="微软雅黑" panose="020B0503020204020204" pitchFamily="34" charset="-122"/>
              </a:rPr>
              <a:t>学号：</a:t>
            </a:r>
            <a:r>
              <a:rPr lang="en-US" altLang="zh-CN" sz="1600" b="1" spc="225" dirty="0">
                <a:solidFill>
                  <a:prstClr val="white"/>
                </a:solidFill>
                <a:latin typeface="微软雅黑" panose="020B0503020204020204" pitchFamily="34" charset="-122"/>
                <a:ea typeface="微软雅黑" panose="020B0503020204020204" pitchFamily="34" charset="-122"/>
              </a:rPr>
              <a:t>07230705</a:t>
            </a:r>
            <a:endParaRPr lang="zh-CN" altLang="en-US" sz="1600" b="1" spc="225" dirty="0">
              <a:solidFill>
                <a:prstClr val="white"/>
              </a:solidFill>
              <a:latin typeface="微软雅黑" panose="020B0503020204020204" pitchFamily="34" charset="-122"/>
              <a:ea typeface="微软雅黑" panose="020B0503020204020204" pitchFamily="34" charset="-122"/>
            </a:endParaRPr>
          </a:p>
          <a:p>
            <a:pPr defTabSz="914400"/>
            <a:endParaRPr lang="en-US" altLang="zh-CN" sz="1600" b="1" spc="225" dirty="0">
              <a:solidFill>
                <a:prstClr val="white"/>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60175" y="253686"/>
            <a:ext cx="2443586" cy="60894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timing>
    <p:tnLst>
      <p:par>
        <p:cTn id="1" dur="indefinite" restart="never" nodeType="tmRoot">
          <p:childTnLst>
            <p:audio>
              <p:cMediaNode vol="80000" numSld="999" showWhenStopped="0">
                <p:cTn id="2" repeatCount="indefinite" fill="remove" display="0">
                  <p:stCondLst>
                    <p:cond delay="indefinite"/>
                  </p:stCondLst>
                  <p:endCondLst>
                    <p:cond evt="onStopAudio" delay="0">
                      <p:tgtEl>
                        <p:sldTgt/>
                      </p:tgtEl>
                    </p:cond>
                  </p:endCondLst>
                </p:cTn>
                <p:tgtEl>
                  <p:spTgt spid="15"/>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0"/>
            <a:ext cx="3446018" cy="5143500"/>
            <a:chOff x="0" y="0"/>
            <a:chExt cx="4594690" cy="6858000"/>
          </a:xfrm>
          <a:solidFill>
            <a:srgbClr val="2F5597"/>
          </a:solidFill>
        </p:grpSpPr>
        <p:grpSp>
          <p:nvGrpSpPr>
            <p:cNvPr id="5" name="组合 4"/>
            <p:cNvGrpSpPr/>
            <p:nvPr/>
          </p:nvGrpSpPr>
          <p:grpSpPr>
            <a:xfrm>
              <a:off x="0" y="0"/>
              <a:ext cx="4594690" cy="6858000"/>
              <a:chOff x="0" y="0"/>
              <a:chExt cx="4594690" cy="6858000"/>
            </a:xfrm>
            <a:grpFill/>
          </p:grpSpPr>
          <p:sp>
            <p:nvSpPr>
              <p:cNvPr id="15" name="等腰三角形 14"/>
              <p:cNvSpPr/>
              <p:nvPr/>
            </p:nvSpPr>
            <p:spPr>
              <a:xfrm rot="5400000">
                <a:off x="3835529" y="2888903"/>
                <a:ext cx="815395" cy="702927"/>
              </a:xfrm>
              <a:prstGeom prst="triangle">
                <a:avLst/>
              </a:prstGeom>
              <a:grp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sp>
            <p:nvSpPr>
              <p:cNvPr id="16" name="矩形 15"/>
              <p:cNvSpPr/>
              <p:nvPr/>
            </p:nvSpPr>
            <p:spPr>
              <a:xfrm>
                <a:off x="0" y="0"/>
                <a:ext cx="4027470" cy="6858000"/>
              </a:xfrm>
              <a:prstGeom prst="rect">
                <a:avLst/>
              </a:prstGeom>
              <a:grp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grpSp>
        <p:sp>
          <p:nvSpPr>
            <p:cNvPr id="6" name="椭圆 5"/>
            <p:cNvSpPr/>
            <p:nvPr/>
          </p:nvSpPr>
          <p:spPr>
            <a:xfrm>
              <a:off x="1058238" y="1181528"/>
              <a:ext cx="2126751" cy="2126751"/>
            </a:xfrm>
            <a:prstGeom prst="ellipse">
              <a:avLst/>
            </a:prstGeom>
            <a:grpFill/>
            <a:ln w="1111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sp>
          <p:nvSpPr>
            <p:cNvPr id="7" name="文本框 6"/>
            <p:cNvSpPr txBox="1"/>
            <p:nvPr/>
          </p:nvSpPr>
          <p:spPr>
            <a:xfrm>
              <a:off x="1051071" y="4065580"/>
              <a:ext cx="2174240" cy="552027"/>
            </a:xfrm>
            <a:prstGeom prst="rect">
              <a:avLst/>
            </a:prstGeom>
            <a:grpFill/>
          </p:spPr>
          <p:txBody>
            <a:bodyPr wrap="none" rtlCol="0">
              <a:spAutoFit/>
            </a:bodyPr>
            <a:lstStyle/>
            <a:p>
              <a:r>
                <a:rPr lang="zh-CN" altLang="en-US" sz="2100" spc="750" dirty="0">
                  <a:solidFill>
                    <a:schemeClr val="bg1"/>
                  </a:solidFill>
                  <a:latin typeface="汉仪菱心体简" panose="02010609000101010101" pitchFamily="49" charset="-122"/>
                  <a:ea typeface="汉仪菱心体简" panose="02010609000101010101" pitchFamily="49" charset="-122"/>
                </a:rPr>
                <a:t>项目大纲</a:t>
              </a:r>
            </a:p>
          </p:txBody>
        </p:sp>
        <p:sp>
          <p:nvSpPr>
            <p:cNvPr id="8" name="文本框 7"/>
            <p:cNvSpPr txBox="1"/>
            <p:nvPr/>
          </p:nvSpPr>
          <p:spPr>
            <a:xfrm>
              <a:off x="1387610" y="4718952"/>
              <a:ext cx="1304204" cy="492443"/>
            </a:xfrm>
            <a:prstGeom prst="rect">
              <a:avLst/>
            </a:prstGeom>
            <a:grpFill/>
          </p:spPr>
          <p:txBody>
            <a:bodyPr wrap="none" rtlCol="0">
              <a:spAutoFit/>
            </a:bodyPr>
            <a:lstStyle/>
            <a:p>
              <a:r>
                <a:rPr lang="en-US" altLang="zh-CN" sz="1800" dirty="0">
                  <a:solidFill>
                    <a:schemeClr val="bg1"/>
                  </a:solidFill>
                  <a:latin typeface="Adobe Caslon Pro Bold" panose="0205070206050A020403" pitchFamily="18" charset="0"/>
                  <a:ea typeface="Kozuka Gothic Pro B" panose="020B0800000000000000" pitchFamily="34" charset="-128"/>
                </a:rPr>
                <a:t>contents</a:t>
              </a:r>
              <a:endParaRPr lang="zh-CN" altLang="en-US" sz="1800" dirty="0">
                <a:solidFill>
                  <a:schemeClr val="bg1"/>
                </a:solidFill>
                <a:latin typeface="Adobe Caslon Pro Bold" panose="0205070206050A020403" pitchFamily="18" charset="0"/>
                <a:ea typeface="Kozuka Gothic Pro B" panose="020B0800000000000000" pitchFamily="34" charset="-128"/>
              </a:endParaRPr>
            </a:p>
          </p:txBody>
        </p:sp>
        <p:grpSp>
          <p:nvGrpSpPr>
            <p:cNvPr id="9" name="组合 8"/>
            <p:cNvGrpSpPr/>
            <p:nvPr/>
          </p:nvGrpSpPr>
          <p:grpSpPr>
            <a:xfrm flipH="1">
              <a:off x="722518" y="4925660"/>
              <a:ext cx="637650" cy="48248"/>
              <a:chOff x="2782883" y="4944533"/>
              <a:chExt cx="637650" cy="48248"/>
            </a:xfrm>
            <a:grpFill/>
          </p:grpSpPr>
          <p:cxnSp>
            <p:nvCxnSpPr>
              <p:cNvPr id="13" name="直接连接符 12"/>
              <p:cNvCxnSpPr/>
              <p:nvPr/>
            </p:nvCxnSpPr>
            <p:spPr>
              <a:xfrm>
                <a:off x="2806654" y="4968657"/>
                <a:ext cx="613879" cy="0"/>
              </a:xfrm>
              <a:prstGeom prst="line">
                <a:avLst/>
              </a:prstGeom>
              <a:grpFill/>
              <a:ln>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椭圆 13"/>
              <p:cNvSpPr/>
              <p:nvPr/>
            </p:nvSpPr>
            <p:spPr>
              <a:xfrm flipH="1">
                <a:off x="2782883" y="4944533"/>
                <a:ext cx="53139" cy="4824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grpSp>
        <p:grpSp>
          <p:nvGrpSpPr>
            <p:cNvPr id="10" name="组合 9"/>
            <p:cNvGrpSpPr/>
            <p:nvPr/>
          </p:nvGrpSpPr>
          <p:grpSpPr>
            <a:xfrm>
              <a:off x="2716862" y="4925660"/>
              <a:ext cx="637650" cy="48248"/>
              <a:chOff x="2782883" y="4944533"/>
              <a:chExt cx="637650" cy="48248"/>
            </a:xfrm>
            <a:grpFill/>
          </p:grpSpPr>
          <p:cxnSp>
            <p:nvCxnSpPr>
              <p:cNvPr id="11" name="直接连接符 10"/>
              <p:cNvCxnSpPr/>
              <p:nvPr/>
            </p:nvCxnSpPr>
            <p:spPr>
              <a:xfrm>
                <a:off x="2806654" y="4968657"/>
                <a:ext cx="613879" cy="0"/>
              </a:xfrm>
              <a:prstGeom prst="line">
                <a:avLst/>
              </a:prstGeom>
              <a:grpFill/>
              <a:ln>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flipH="1">
                <a:off x="2782883" y="4944533"/>
                <a:ext cx="53139" cy="4824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grpSp>
      </p:grpSp>
      <p:pic>
        <p:nvPicPr>
          <p:cNvPr id="17" name="图片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2955" y="1266290"/>
            <a:ext cx="858212" cy="858212"/>
          </a:xfrm>
          <a:prstGeom prst="rect">
            <a:avLst/>
          </a:prstGeom>
        </p:spPr>
      </p:pic>
      <p:grpSp>
        <p:nvGrpSpPr>
          <p:cNvPr id="18" name="组合 17"/>
          <p:cNvGrpSpPr/>
          <p:nvPr/>
        </p:nvGrpSpPr>
        <p:grpSpPr>
          <a:xfrm>
            <a:off x="4403733" y="454629"/>
            <a:ext cx="3158730" cy="523929"/>
            <a:chOff x="7343421" y="1218073"/>
            <a:chExt cx="3698501" cy="613458"/>
          </a:xfrm>
        </p:grpSpPr>
        <p:sp>
          <p:nvSpPr>
            <p:cNvPr id="19" name="椭圆 18"/>
            <p:cNvSpPr/>
            <p:nvPr/>
          </p:nvSpPr>
          <p:spPr>
            <a:xfrm>
              <a:off x="7343421" y="1218073"/>
              <a:ext cx="613458" cy="613458"/>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bg1"/>
                  </a:solidFill>
                  <a:latin typeface="汉仪菱心体简" panose="02010609000101010101" pitchFamily="49" charset="-122"/>
                  <a:ea typeface="汉仪菱心体简" panose="02010609000101010101" pitchFamily="49" charset="-122"/>
                </a:rPr>
                <a:t>01</a:t>
              </a:r>
              <a:endParaRPr lang="zh-CN" altLang="en-US" sz="1100" dirty="0"/>
            </a:p>
          </p:txBody>
        </p:sp>
        <p:sp>
          <p:nvSpPr>
            <p:cNvPr id="20" name="文本框 19"/>
            <p:cNvSpPr txBox="1"/>
            <p:nvPr/>
          </p:nvSpPr>
          <p:spPr>
            <a:xfrm>
              <a:off x="8303109" y="1254980"/>
              <a:ext cx="2738813" cy="540554"/>
            </a:xfrm>
            <a:prstGeom prst="rect">
              <a:avLst/>
            </a:prstGeom>
            <a:noFill/>
          </p:spPr>
          <p:txBody>
            <a:bodyPr wrap="none" rtlCol="0">
              <a:spAutoFit/>
            </a:bodyPr>
            <a:lstStyle/>
            <a:p>
              <a:r>
                <a:rPr lang="zh-CN" altLang="en-US" sz="2400" dirty="0">
                  <a:solidFill>
                    <a:srgbClr val="2F5597"/>
                  </a:solidFill>
                  <a:latin typeface="汉仪菱心体简" panose="02010609000101010101" pitchFamily="49" charset="-122"/>
                  <a:ea typeface="汉仪菱心体简" panose="02010609000101010101" pitchFamily="49" charset="-122"/>
                </a:rPr>
                <a:t>研究背景与现状</a:t>
              </a:r>
            </a:p>
          </p:txBody>
        </p:sp>
      </p:grpSp>
      <p:grpSp>
        <p:nvGrpSpPr>
          <p:cNvPr id="21" name="组合 20"/>
          <p:cNvGrpSpPr/>
          <p:nvPr/>
        </p:nvGrpSpPr>
        <p:grpSpPr>
          <a:xfrm>
            <a:off x="4380274" y="1291035"/>
            <a:ext cx="2874450" cy="523928"/>
            <a:chOff x="7343420" y="2320799"/>
            <a:chExt cx="3365639" cy="613458"/>
          </a:xfrm>
        </p:grpSpPr>
        <p:sp>
          <p:nvSpPr>
            <p:cNvPr id="22" name="文本框 21"/>
            <p:cNvSpPr txBox="1"/>
            <p:nvPr/>
          </p:nvSpPr>
          <p:spPr>
            <a:xfrm>
              <a:off x="8330619" y="2358033"/>
              <a:ext cx="2378440" cy="540555"/>
            </a:xfrm>
            <a:prstGeom prst="rect">
              <a:avLst/>
            </a:prstGeom>
            <a:noFill/>
          </p:spPr>
          <p:txBody>
            <a:bodyPr wrap="none" rtlCol="0">
              <a:spAutoFit/>
            </a:bodyPr>
            <a:lstStyle/>
            <a:p>
              <a:r>
                <a:rPr lang="zh-CN" altLang="en-US" sz="2400" dirty="0">
                  <a:solidFill>
                    <a:srgbClr val="2F5597"/>
                  </a:solidFill>
                  <a:latin typeface="汉仪菱心体简" panose="02010609000101010101" pitchFamily="49" charset="-122"/>
                  <a:ea typeface="汉仪菱心体简" panose="02010609000101010101" pitchFamily="49" charset="-122"/>
                </a:rPr>
                <a:t>遥感监测内容</a:t>
              </a:r>
            </a:p>
          </p:txBody>
        </p:sp>
        <p:sp>
          <p:nvSpPr>
            <p:cNvPr id="23" name="椭圆 22"/>
            <p:cNvSpPr/>
            <p:nvPr/>
          </p:nvSpPr>
          <p:spPr>
            <a:xfrm>
              <a:off x="7343420" y="2320799"/>
              <a:ext cx="613459" cy="613458"/>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bg1"/>
                  </a:solidFill>
                  <a:latin typeface="汉仪菱心体简" panose="02010609000101010101" pitchFamily="49" charset="-122"/>
                  <a:ea typeface="汉仪菱心体简" panose="02010609000101010101" pitchFamily="49" charset="-122"/>
                </a:rPr>
                <a:t>02</a:t>
              </a:r>
              <a:endParaRPr lang="zh-CN" altLang="en-US" sz="1100" dirty="0"/>
            </a:p>
          </p:txBody>
        </p:sp>
      </p:grpSp>
      <p:grpSp>
        <p:nvGrpSpPr>
          <p:cNvPr id="24" name="组合 23"/>
          <p:cNvGrpSpPr/>
          <p:nvPr/>
        </p:nvGrpSpPr>
        <p:grpSpPr>
          <a:xfrm>
            <a:off x="4380274" y="2196448"/>
            <a:ext cx="2874450" cy="523928"/>
            <a:chOff x="7343421" y="3528018"/>
            <a:chExt cx="3365640" cy="613458"/>
          </a:xfrm>
        </p:grpSpPr>
        <p:sp>
          <p:nvSpPr>
            <p:cNvPr id="25" name="文本框 24"/>
            <p:cNvSpPr txBox="1"/>
            <p:nvPr/>
          </p:nvSpPr>
          <p:spPr>
            <a:xfrm>
              <a:off x="8330620" y="3565252"/>
              <a:ext cx="2378441" cy="540555"/>
            </a:xfrm>
            <a:prstGeom prst="rect">
              <a:avLst/>
            </a:prstGeom>
            <a:noFill/>
          </p:spPr>
          <p:txBody>
            <a:bodyPr wrap="none" rtlCol="0">
              <a:spAutoFit/>
            </a:bodyPr>
            <a:lstStyle/>
            <a:p>
              <a:r>
                <a:rPr lang="zh-CN" altLang="en-US" sz="2400" dirty="0">
                  <a:solidFill>
                    <a:srgbClr val="2F5597"/>
                  </a:solidFill>
                  <a:latin typeface="汉仪菱心体简" panose="02010609000101010101" pitchFamily="49" charset="-122"/>
                  <a:ea typeface="汉仪菱心体简" panose="02010609000101010101" pitchFamily="49" charset="-122"/>
                </a:rPr>
                <a:t>遥感监测方法</a:t>
              </a:r>
            </a:p>
          </p:txBody>
        </p:sp>
        <p:sp>
          <p:nvSpPr>
            <p:cNvPr id="26" name="椭圆 25"/>
            <p:cNvSpPr/>
            <p:nvPr/>
          </p:nvSpPr>
          <p:spPr>
            <a:xfrm>
              <a:off x="7343421" y="3528018"/>
              <a:ext cx="613458" cy="613458"/>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bg1"/>
                  </a:solidFill>
                  <a:latin typeface="汉仪菱心体简" panose="02010609000101010101" pitchFamily="49" charset="-122"/>
                  <a:ea typeface="汉仪菱心体简" panose="02010609000101010101" pitchFamily="49" charset="-122"/>
                </a:rPr>
                <a:t>03</a:t>
              </a:r>
              <a:endParaRPr lang="zh-CN" altLang="en-US" sz="1100" dirty="0"/>
            </a:p>
          </p:txBody>
        </p:sp>
      </p:grpSp>
      <p:grpSp>
        <p:nvGrpSpPr>
          <p:cNvPr id="27" name="组合 26"/>
          <p:cNvGrpSpPr/>
          <p:nvPr/>
        </p:nvGrpSpPr>
        <p:grpSpPr>
          <a:xfrm>
            <a:off x="4380271" y="3101862"/>
            <a:ext cx="2259242" cy="523928"/>
            <a:chOff x="7343421" y="4735237"/>
            <a:chExt cx="2645304" cy="613458"/>
          </a:xfrm>
        </p:grpSpPr>
        <p:sp>
          <p:nvSpPr>
            <p:cNvPr id="28" name="文本框 27"/>
            <p:cNvSpPr txBox="1"/>
            <p:nvPr/>
          </p:nvSpPr>
          <p:spPr>
            <a:xfrm>
              <a:off x="8331024" y="4772471"/>
              <a:ext cx="1657701" cy="540555"/>
            </a:xfrm>
            <a:prstGeom prst="rect">
              <a:avLst/>
            </a:prstGeom>
            <a:noFill/>
          </p:spPr>
          <p:txBody>
            <a:bodyPr wrap="none" rtlCol="0">
              <a:spAutoFit/>
            </a:bodyPr>
            <a:lstStyle/>
            <a:p>
              <a:r>
                <a:rPr lang="zh-CN" altLang="en-US" sz="2400" dirty="0">
                  <a:solidFill>
                    <a:srgbClr val="2F5597"/>
                  </a:solidFill>
                  <a:latin typeface="汉仪菱心体简" panose="02010609000101010101" pitchFamily="49" charset="-122"/>
                  <a:ea typeface="汉仪菱心体简" panose="02010609000101010101" pitchFamily="49" charset="-122"/>
                </a:rPr>
                <a:t>典型实例</a:t>
              </a:r>
            </a:p>
          </p:txBody>
        </p:sp>
        <p:sp>
          <p:nvSpPr>
            <p:cNvPr id="29" name="椭圆 28"/>
            <p:cNvSpPr/>
            <p:nvPr/>
          </p:nvSpPr>
          <p:spPr>
            <a:xfrm>
              <a:off x="7343421" y="4735237"/>
              <a:ext cx="613458" cy="613458"/>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bg1"/>
                  </a:solidFill>
                  <a:latin typeface="汉仪菱心体简" panose="02010609000101010101" pitchFamily="49" charset="-122"/>
                  <a:ea typeface="汉仪菱心体简" panose="02010609000101010101" pitchFamily="49" charset="-122"/>
                </a:rPr>
                <a:t>04</a:t>
              </a:r>
              <a:endParaRPr lang="zh-CN" altLang="en-US" sz="1100" dirty="0"/>
            </a:p>
          </p:txBody>
        </p:sp>
      </p:grpSp>
      <p:sp>
        <p:nvSpPr>
          <p:cNvPr id="2" name="文本框 1">
            <a:extLst>
              <a:ext uri="{FF2B5EF4-FFF2-40B4-BE49-F238E27FC236}">
                <a16:creationId xmlns:a16="http://schemas.microsoft.com/office/drawing/2014/main" id="{1CA9EF74-0DCC-9F9A-2066-C21D7D418E49}"/>
              </a:ext>
            </a:extLst>
          </p:cNvPr>
          <p:cNvSpPr txBox="1"/>
          <p:nvPr/>
        </p:nvSpPr>
        <p:spPr>
          <a:xfrm>
            <a:off x="5223360" y="4039076"/>
            <a:ext cx="1723549" cy="461665"/>
          </a:xfrm>
          <a:prstGeom prst="rect">
            <a:avLst/>
          </a:prstGeom>
          <a:noFill/>
        </p:spPr>
        <p:txBody>
          <a:bodyPr wrap="none" rtlCol="0">
            <a:spAutoFit/>
          </a:bodyPr>
          <a:lstStyle/>
          <a:p>
            <a:r>
              <a:rPr lang="zh-CN" altLang="en-US" sz="2400" dirty="0">
                <a:solidFill>
                  <a:srgbClr val="2F5597"/>
                </a:solidFill>
                <a:latin typeface="汉仪菱心体简" panose="02010609000101010101" pitchFamily="49" charset="-122"/>
                <a:ea typeface="汉仪菱心体简" panose="02010609000101010101" pitchFamily="49" charset="-122"/>
              </a:rPr>
              <a:t>总结与展望</a:t>
            </a:r>
          </a:p>
        </p:txBody>
      </p:sp>
      <p:sp>
        <p:nvSpPr>
          <p:cNvPr id="3" name="椭圆 2">
            <a:extLst>
              <a:ext uri="{FF2B5EF4-FFF2-40B4-BE49-F238E27FC236}">
                <a16:creationId xmlns:a16="http://schemas.microsoft.com/office/drawing/2014/main" id="{599FEB18-3F84-C0E9-15F6-7F82167BDE9B}"/>
              </a:ext>
            </a:extLst>
          </p:cNvPr>
          <p:cNvSpPr/>
          <p:nvPr/>
        </p:nvSpPr>
        <p:spPr>
          <a:xfrm>
            <a:off x="4380270" y="3976812"/>
            <a:ext cx="523928" cy="523928"/>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bg1"/>
                </a:solidFill>
                <a:latin typeface="汉仪菱心体简" panose="02010609000101010101" pitchFamily="49" charset="-122"/>
                <a:ea typeface="汉仪菱心体简" panose="02010609000101010101" pitchFamily="49" charset="-122"/>
              </a:rPr>
              <a:t>05</a:t>
            </a:r>
            <a:endParaRPr lang="zh-CN" altLang="en-US" sz="110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文本框 29"/>
          <p:cNvSpPr txBox="1"/>
          <p:nvPr/>
        </p:nvSpPr>
        <p:spPr>
          <a:xfrm>
            <a:off x="6447051" y="1501658"/>
            <a:ext cx="2628942" cy="734317"/>
          </a:xfrm>
          <a:prstGeom prst="rect">
            <a:avLst/>
          </a:prstGeom>
          <a:noFill/>
        </p:spPr>
        <p:txBody>
          <a:bodyPr wrap="square" rtlCol="0">
            <a:noAutofit/>
          </a:bodyPr>
          <a:lstStyle/>
          <a:p>
            <a:pPr algn="just"/>
            <a:r>
              <a:rPr lang="zh-CN" altLang="zh-CN" dirty="0">
                <a:latin typeface="宋体" panose="02010600030101010101" pitchFamily="2" charset="-122"/>
                <a:ea typeface="宋体" panose="02010600030101010101" pitchFamily="2" charset="-122"/>
              </a:rPr>
              <a:t>如何科学评价矿区生态修复与土地复垦成效</a:t>
            </a:r>
            <a:r>
              <a:rPr lang="zh-CN" altLang="en-US" dirty="0">
                <a:latin typeface="宋体" panose="02010600030101010101" pitchFamily="2" charset="-122"/>
                <a:ea typeface="宋体" panose="02010600030101010101" pitchFamily="2" charset="-122"/>
              </a:rPr>
              <a:t>？</a:t>
            </a:r>
            <a:endParaRPr lang="zh-CN" altLang="en-US" sz="2400" dirty="0">
              <a:solidFill>
                <a:srgbClr val="314865"/>
              </a:solidFill>
              <a:latin typeface="宋体" panose="02010600030101010101" pitchFamily="2" charset="-122"/>
              <a:ea typeface="宋体" panose="02010600030101010101" pitchFamily="2" charset="-122"/>
            </a:endParaRPr>
          </a:p>
        </p:txBody>
      </p:sp>
      <p:sp>
        <p:nvSpPr>
          <p:cNvPr id="46" name="文本框 105"/>
          <p:cNvSpPr txBox="1"/>
          <p:nvPr/>
        </p:nvSpPr>
        <p:spPr>
          <a:xfrm>
            <a:off x="0" y="50930"/>
            <a:ext cx="4068336" cy="706755"/>
          </a:xfrm>
          <a:prstGeom prst="rect">
            <a:avLst/>
          </a:prstGeom>
          <a:noFill/>
        </p:spPr>
        <p:txBody>
          <a:bodyPr wrap="square" rtlCol="0">
            <a:noAutofit/>
          </a:bodyPr>
          <a:lstStyle/>
          <a:p>
            <a:pPr algn="just"/>
            <a:r>
              <a:rPr lang="en-US" altLang="zh-CN" sz="2000" b="1" dirty="0">
                <a:solidFill>
                  <a:srgbClr val="314865"/>
                </a:solidFill>
                <a:latin typeface="Arial" panose="020B0604020202020204" pitchFamily="34" charset="0"/>
                <a:ea typeface="微软雅黑" panose="020B0503020204020204" pitchFamily="34" charset="-122"/>
                <a:sym typeface="+mn-ea"/>
              </a:rPr>
              <a:t>01 </a:t>
            </a:r>
            <a:r>
              <a:rPr lang="zh-CN" altLang="en-US" sz="2000" b="1" dirty="0">
                <a:solidFill>
                  <a:srgbClr val="314865"/>
                </a:solidFill>
                <a:latin typeface="Arial" panose="020B0604020202020204" pitchFamily="34" charset="0"/>
                <a:ea typeface="微软雅黑" panose="020B0503020204020204" pitchFamily="34" charset="-122"/>
                <a:sym typeface="+mn-ea"/>
              </a:rPr>
              <a:t>研究背景与现状</a:t>
            </a:r>
            <a:endParaRPr lang="zh-CN" altLang="en-US" sz="2000" b="1" dirty="0">
              <a:solidFill>
                <a:srgbClr val="314865"/>
              </a:solidFill>
              <a:latin typeface="Arial" panose="020B0604020202020204" pitchFamily="34" charset="0"/>
              <a:ea typeface="微软雅黑" panose="020B0503020204020204" pitchFamily="34" charset="-122"/>
              <a:sym typeface="Arial" panose="020B0604020202020204" pitchFamily="34" charset="0"/>
            </a:endParaRPr>
          </a:p>
        </p:txBody>
      </p:sp>
      <p:sp>
        <p:nvSpPr>
          <p:cNvPr id="2" name="文本框 1"/>
          <p:cNvSpPr txBox="1"/>
          <p:nvPr/>
        </p:nvSpPr>
        <p:spPr>
          <a:xfrm>
            <a:off x="134823" y="576239"/>
            <a:ext cx="8714821" cy="400110"/>
          </a:xfrm>
          <a:prstGeom prst="rect">
            <a:avLst/>
          </a:prstGeom>
          <a:noFill/>
        </p:spPr>
        <p:txBody>
          <a:bodyPr wrap="square" rtlCol="0">
            <a:spAutoFit/>
          </a:bodyPr>
          <a:lstStyle/>
          <a:p>
            <a:pPr algn="just"/>
            <a:r>
              <a:rPr lang="zh-CN" altLang="zh-CN" sz="2000" dirty="0">
                <a:latin typeface="宋体" panose="02010600030101010101" pitchFamily="2" charset="-122"/>
                <a:ea typeface="宋体" panose="02010600030101010101" pitchFamily="2" charset="-122"/>
              </a:rPr>
              <a:t>露天矿开采会造成植被、土壤和地貌等生态要素的持续扰动，主要表现为：</a:t>
            </a:r>
            <a:endParaRPr lang="zh-CN" altLang="en-US" sz="2000" dirty="0">
              <a:latin typeface="宋体" panose="02010600030101010101" pitchFamily="2" charset="-122"/>
              <a:ea typeface="宋体" panose="02010600030101010101" pitchFamily="2" charset="-122"/>
            </a:endParaRPr>
          </a:p>
        </p:txBody>
      </p:sp>
      <p:sp>
        <p:nvSpPr>
          <p:cNvPr id="3" name="文本框 2"/>
          <p:cNvSpPr txBox="1"/>
          <p:nvPr/>
        </p:nvSpPr>
        <p:spPr>
          <a:xfrm>
            <a:off x="6463815" y="3347670"/>
            <a:ext cx="2595415" cy="1998881"/>
          </a:xfrm>
          <a:prstGeom prst="rect">
            <a:avLst/>
          </a:prstGeom>
          <a:noFill/>
        </p:spPr>
        <p:txBody>
          <a:bodyPr wrap="square" rtlCol="0">
            <a:noAutofit/>
          </a:bodyPr>
          <a:lstStyle/>
          <a:p>
            <a:pPr algn="just"/>
            <a:r>
              <a:rPr lang="zh-CN" altLang="en-US" sz="1600" dirty="0">
                <a:latin typeface="宋体" panose="02010600030101010101" pitchFamily="2" charset="-122"/>
                <a:ea typeface="宋体" panose="02010600030101010101" pitchFamily="2" charset="-122"/>
              </a:rPr>
              <a:t>美国地质调查局（</a:t>
            </a:r>
            <a:r>
              <a:rPr lang="zh-CN" altLang="zh-CN" sz="1600" dirty="0">
                <a:latin typeface="宋体" panose="02010600030101010101" pitchFamily="2" charset="-122"/>
                <a:ea typeface="宋体" panose="02010600030101010101" pitchFamily="2" charset="-122"/>
              </a:rPr>
              <a:t>USGS</a:t>
            </a:r>
            <a:r>
              <a:rPr lang="zh-CN" altLang="en-US" sz="1600" dirty="0">
                <a:latin typeface="宋体" panose="02010600030101010101" pitchFamily="2" charset="-122"/>
                <a:ea typeface="宋体" panose="02010600030101010101" pitchFamily="2" charset="-122"/>
              </a:rPr>
              <a:t>）相关研究表明，</a:t>
            </a:r>
            <a:r>
              <a:rPr lang="zh-CN" altLang="zh-CN" sz="1600" dirty="0">
                <a:latin typeface="宋体" panose="02010600030101010101" pitchFamily="2" charset="-122"/>
                <a:ea typeface="宋体" panose="02010600030101010101" pitchFamily="2" charset="-122"/>
              </a:rPr>
              <a:t>遥感</a:t>
            </a:r>
            <a:r>
              <a:rPr lang="zh-CN" altLang="en-US" sz="1600" dirty="0">
                <a:latin typeface="宋体" panose="02010600030101010101" pitchFamily="2" charset="-122"/>
                <a:ea typeface="宋体" panose="02010600030101010101" pitchFamily="2" charset="-122"/>
              </a:rPr>
              <a:t>技术</a:t>
            </a:r>
            <a:r>
              <a:rPr lang="zh-CN" altLang="zh-CN" sz="1600" dirty="0">
                <a:latin typeface="宋体" panose="02010600030101010101" pitchFamily="2" charset="-122"/>
                <a:ea typeface="宋体" panose="02010600030101010101" pitchFamily="2" charset="-122"/>
              </a:rPr>
              <a:t>可用于矿区扰动识别、植被恢复评价和地形变化监测，为矿区生态修复的长期评估提供技术支撑。</a:t>
            </a:r>
            <a:endParaRPr lang="zh-CN" sz="1600" dirty="0">
              <a:solidFill>
                <a:srgbClr val="314865"/>
              </a:solidFill>
              <a:latin typeface="宋体" panose="02010600030101010101" pitchFamily="2" charset="-122"/>
              <a:ea typeface="宋体" panose="02010600030101010101" pitchFamily="2" charset="-122"/>
              <a:sym typeface="+mn-ea"/>
            </a:endParaRPr>
          </a:p>
        </p:txBody>
      </p:sp>
      <p:cxnSp>
        <p:nvCxnSpPr>
          <p:cNvPr id="4" name="直接连接符 3">
            <a:extLst>
              <a:ext uri="{FF2B5EF4-FFF2-40B4-BE49-F238E27FC236}">
                <a16:creationId xmlns:a16="http://schemas.microsoft.com/office/drawing/2014/main" id="{BA5BBFE8-4E93-153F-77EE-9A8989112F5B}"/>
              </a:ext>
            </a:extLst>
          </p:cNvPr>
          <p:cNvCxnSpPr/>
          <p:nvPr/>
        </p:nvCxnSpPr>
        <p:spPr>
          <a:xfrm>
            <a:off x="2551522" y="235719"/>
            <a:ext cx="671342" cy="0"/>
          </a:xfrm>
          <a:prstGeom prst="line">
            <a:avLst/>
          </a:prstGeom>
          <a:ln>
            <a:solidFill>
              <a:srgbClr val="314865"/>
            </a:solidFill>
          </a:ln>
        </p:spPr>
        <p:style>
          <a:lnRef idx="1">
            <a:schemeClr val="accent1"/>
          </a:lnRef>
          <a:fillRef idx="0">
            <a:schemeClr val="accent1"/>
          </a:fillRef>
          <a:effectRef idx="0">
            <a:schemeClr val="accent1"/>
          </a:effectRef>
          <a:fontRef idx="minor">
            <a:schemeClr val="tx1"/>
          </a:fontRef>
        </p:style>
      </p:cxnSp>
      <p:sp>
        <p:nvSpPr>
          <p:cNvPr id="5" name="文本框 105">
            <a:extLst>
              <a:ext uri="{FF2B5EF4-FFF2-40B4-BE49-F238E27FC236}">
                <a16:creationId xmlns:a16="http://schemas.microsoft.com/office/drawing/2014/main" id="{293D3C55-953D-9463-0DDA-CDF329EC0D58}"/>
              </a:ext>
            </a:extLst>
          </p:cNvPr>
          <p:cNvSpPr txBox="1"/>
          <p:nvPr/>
        </p:nvSpPr>
        <p:spPr>
          <a:xfrm>
            <a:off x="3222830" y="50930"/>
            <a:ext cx="2010316" cy="36933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314865"/>
                </a:solidFill>
                <a:effectLst/>
                <a:uLnTx/>
                <a:uFillTx/>
                <a:latin typeface="Arial" panose="020B0604020202020204" pitchFamily="34" charset="0"/>
                <a:ea typeface="微软雅黑" panose="020B0503020204020204" pitchFamily="34" charset="-122"/>
                <a:cs typeface="+mn-cs"/>
                <a:sym typeface="+mn-ea"/>
              </a:rPr>
              <a:t>研究背景</a:t>
            </a:r>
          </a:p>
        </p:txBody>
      </p:sp>
      <p:grpSp>
        <p:nvGrpSpPr>
          <p:cNvPr id="16" name="组合 15">
            <a:extLst>
              <a:ext uri="{FF2B5EF4-FFF2-40B4-BE49-F238E27FC236}">
                <a16:creationId xmlns:a16="http://schemas.microsoft.com/office/drawing/2014/main" id="{AB67C8DE-4F10-C70D-DF13-EC386373393E}"/>
              </a:ext>
            </a:extLst>
          </p:cNvPr>
          <p:cNvGrpSpPr/>
          <p:nvPr/>
        </p:nvGrpSpPr>
        <p:grpSpPr>
          <a:xfrm>
            <a:off x="134823" y="1153846"/>
            <a:ext cx="1980000" cy="1332000"/>
            <a:chOff x="132714" y="896008"/>
            <a:chExt cx="1938994" cy="1292662"/>
          </a:xfrm>
        </p:grpSpPr>
        <p:pic>
          <p:nvPicPr>
            <p:cNvPr id="9" name="图片 8">
              <a:extLst>
                <a:ext uri="{FF2B5EF4-FFF2-40B4-BE49-F238E27FC236}">
                  <a16:creationId xmlns:a16="http://schemas.microsoft.com/office/drawing/2014/main" id="{419A5006-AFE5-6086-4FC9-19FB44067C1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2714" y="896009"/>
              <a:ext cx="969497" cy="646331"/>
            </a:xfrm>
            <a:prstGeom prst="rect">
              <a:avLst/>
            </a:prstGeom>
          </p:spPr>
        </p:pic>
        <p:pic>
          <p:nvPicPr>
            <p:cNvPr id="11" name="图片 10">
              <a:extLst>
                <a:ext uri="{FF2B5EF4-FFF2-40B4-BE49-F238E27FC236}">
                  <a16:creationId xmlns:a16="http://schemas.microsoft.com/office/drawing/2014/main" id="{76A27B96-3982-65D2-EBED-F421CCDE291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02211" y="896008"/>
              <a:ext cx="969497" cy="646331"/>
            </a:xfrm>
            <a:prstGeom prst="rect">
              <a:avLst/>
            </a:prstGeom>
          </p:spPr>
        </p:pic>
        <p:pic>
          <p:nvPicPr>
            <p:cNvPr id="13" name="图片 12">
              <a:extLst>
                <a:ext uri="{FF2B5EF4-FFF2-40B4-BE49-F238E27FC236}">
                  <a16:creationId xmlns:a16="http://schemas.microsoft.com/office/drawing/2014/main" id="{5C92B3CD-4570-396A-9240-A4FFD81793D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2714" y="1542339"/>
              <a:ext cx="969497" cy="646331"/>
            </a:xfrm>
            <a:prstGeom prst="rect">
              <a:avLst/>
            </a:prstGeom>
          </p:spPr>
        </p:pic>
        <p:pic>
          <p:nvPicPr>
            <p:cNvPr id="15" name="图片 14">
              <a:extLst>
                <a:ext uri="{FF2B5EF4-FFF2-40B4-BE49-F238E27FC236}">
                  <a16:creationId xmlns:a16="http://schemas.microsoft.com/office/drawing/2014/main" id="{D792164D-A263-D544-C88A-3E1B8DD7B0B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02211" y="1542338"/>
              <a:ext cx="969497" cy="646331"/>
            </a:xfrm>
            <a:prstGeom prst="rect">
              <a:avLst/>
            </a:prstGeom>
          </p:spPr>
        </p:pic>
      </p:grpSp>
      <p:sp>
        <p:nvSpPr>
          <p:cNvPr id="18" name="文本框 17">
            <a:extLst>
              <a:ext uri="{FF2B5EF4-FFF2-40B4-BE49-F238E27FC236}">
                <a16:creationId xmlns:a16="http://schemas.microsoft.com/office/drawing/2014/main" id="{1020B730-B591-17BC-8601-0A7A67D462E8}"/>
              </a:ext>
            </a:extLst>
          </p:cNvPr>
          <p:cNvSpPr txBox="1"/>
          <p:nvPr/>
        </p:nvSpPr>
        <p:spPr>
          <a:xfrm>
            <a:off x="475035" y="2485045"/>
            <a:ext cx="1258570" cy="369332"/>
          </a:xfrm>
          <a:prstGeom prst="rect">
            <a:avLst/>
          </a:prstGeom>
          <a:noFill/>
        </p:spPr>
        <p:txBody>
          <a:bodyPr wrap="square">
            <a:spAutoFit/>
          </a:bodyPr>
          <a:lstStyle/>
          <a:p>
            <a:pPr algn="just"/>
            <a:r>
              <a:rPr lang="zh-CN" altLang="zh-CN" dirty="0">
                <a:latin typeface="宋体" panose="02010600030101010101" pitchFamily="2" charset="-122"/>
                <a:ea typeface="宋体" panose="02010600030101010101" pitchFamily="2" charset="-122"/>
              </a:rPr>
              <a:t>植被破坏</a:t>
            </a:r>
            <a:endParaRPr lang="zh-CN" altLang="en-US" dirty="0">
              <a:latin typeface="宋体" panose="02010600030101010101" pitchFamily="2" charset="-122"/>
              <a:ea typeface="宋体" panose="02010600030101010101" pitchFamily="2" charset="-122"/>
            </a:endParaRPr>
          </a:p>
        </p:txBody>
      </p:sp>
      <p:pic>
        <p:nvPicPr>
          <p:cNvPr id="20" name="图片 19">
            <a:extLst>
              <a:ext uri="{FF2B5EF4-FFF2-40B4-BE49-F238E27FC236}">
                <a16:creationId xmlns:a16="http://schemas.microsoft.com/office/drawing/2014/main" id="{EE56652C-E38F-B6DB-0E07-FE11DD3C5756}"/>
              </a:ext>
            </a:extLst>
          </p:cNvPr>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2317383" y="1146755"/>
            <a:ext cx="1980000" cy="1332000"/>
          </a:xfrm>
          <a:prstGeom prst="rect">
            <a:avLst/>
          </a:prstGeom>
        </p:spPr>
      </p:pic>
      <p:sp>
        <p:nvSpPr>
          <p:cNvPr id="23" name="文本框 22">
            <a:extLst>
              <a:ext uri="{FF2B5EF4-FFF2-40B4-BE49-F238E27FC236}">
                <a16:creationId xmlns:a16="http://schemas.microsoft.com/office/drawing/2014/main" id="{F6225CE7-AA70-CB0E-959E-13EDB297E2F6}"/>
              </a:ext>
            </a:extLst>
          </p:cNvPr>
          <p:cNvSpPr txBox="1"/>
          <p:nvPr/>
        </p:nvSpPr>
        <p:spPr>
          <a:xfrm>
            <a:off x="2678098" y="2495706"/>
            <a:ext cx="1258570" cy="369332"/>
          </a:xfrm>
          <a:prstGeom prst="rect">
            <a:avLst/>
          </a:prstGeom>
          <a:noFill/>
        </p:spPr>
        <p:txBody>
          <a:bodyPr wrap="square">
            <a:spAutoFit/>
          </a:bodyPr>
          <a:lstStyle/>
          <a:p>
            <a:pPr algn="just"/>
            <a:r>
              <a:rPr lang="zh-CN" altLang="en-US" dirty="0">
                <a:latin typeface="宋体" panose="02010600030101010101" pitchFamily="2" charset="-122"/>
                <a:ea typeface="宋体" panose="02010600030101010101" pitchFamily="2" charset="-122"/>
              </a:rPr>
              <a:t>土地裸露</a:t>
            </a:r>
          </a:p>
        </p:txBody>
      </p:sp>
      <p:sp>
        <p:nvSpPr>
          <p:cNvPr id="24" name="文本框 23">
            <a:extLst>
              <a:ext uri="{FF2B5EF4-FFF2-40B4-BE49-F238E27FC236}">
                <a16:creationId xmlns:a16="http://schemas.microsoft.com/office/drawing/2014/main" id="{77985F9E-8D39-C33F-267A-74FAF002A5EA}"/>
              </a:ext>
            </a:extLst>
          </p:cNvPr>
          <p:cNvSpPr txBox="1"/>
          <p:nvPr/>
        </p:nvSpPr>
        <p:spPr>
          <a:xfrm>
            <a:off x="4720526" y="2485845"/>
            <a:ext cx="1258570" cy="369332"/>
          </a:xfrm>
          <a:prstGeom prst="rect">
            <a:avLst/>
          </a:prstGeom>
          <a:noFill/>
        </p:spPr>
        <p:txBody>
          <a:bodyPr wrap="square">
            <a:spAutoFit/>
          </a:bodyPr>
          <a:lstStyle/>
          <a:p>
            <a:pPr algn="just"/>
            <a:r>
              <a:rPr lang="zh-CN" altLang="en-US" dirty="0">
                <a:latin typeface="宋体" panose="02010600030101010101" pitchFamily="2" charset="-122"/>
                <a:ea typeface="宋体" panose="02010600030101010101" pitchFamily="2" charset="-122"/>
              </a:rPr>
              <a:t>地貌破坏</a:t>
            </a:r>
          </a:p>
        </p:txBody>
      </p:sp>
      <p:pic>
        <p:nvPicPr>
          <p:cNvPr id="26" name="图片 25">
            <a:extLst>
              <a:ext uri="{FF2B5EF4-FFF2-40B4-BE49-F238E27FC236}">
                <a16:creationId xmlns:a16="http://schemas.microsoft.com/office/drawing/2014/main" id="{2CAC5F46-5088-1CCB-B61D-C382D4496701}"/>
              </a:ext>
            </a:extLst>
          </p:cNvPr>
          <p:cNvPicPr>
            <a:picLocks/>
          </p:cNvPicPr>
          <p:nvPr/>
        </p:nvPicPr>
        <p:blipFill>
          <a:blip r:embed="rId7" cstate="print">
            <a:extLst>
              <a:ext uri="{28A0092B-C50C-407E-A947-70E740481C1C}">
                <a14:useLocalDpi xmlns:a14="http://schemas.microsoft.com/office/drawing/2010/main" val="0"/>
              </a:ext>
            </a:extLst>
          </a:blip>
          <a:srcRect l="3774" t="40894" r="3685" b="3263"/>
          <a:stretch>
            <a:fillRect/>
          </a:stretch>
        </p:blipFill>
        <p:spPr>
          <a:xfrm>
            <a:off x="4359811" y="1071269"/>
            <a:ext cx="1980000" cy="1332000"/>
          </a:xfrm>
          <a:prstGeom prst="rect">
            <a:avLst/>
          </a:prstGeom>
        </p:spPr>
      </p:pic>
      <p:pic>
        <p:nvPicPr>
          <p:cNvPr id="28" name="图片 27">
            <a:extLst>
              <a:ext uri="{FF2B5EF4-FFF2-40B4-BE49-F238E27FC236}">
                <a16:creationId xmlns:a16="http://schemas.microsoft.com/office/drawing/2014/main" id="{457475C2-93BF-0F89-820D-83397CF0BBFC}"/>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1211960" y="3082571"/>
            <a:ext cx="1980000" cy="1332000"/>
          </a:xfrm>
          <a:prstGeom prst="rect">
            <a:avLst/>
          </a:prstGeom>
        </p:spPr>
      </p:pic>
      <p:sp>
        <p:nvSpPr>
          <p:cNvPr id="33" name="文本框 32">
            <a:extLst>
              <a:ext uri="{FF2B5EF4-FFF2-40B4-BE49-F238E27FC236}">
                <a16:creationId xmlns:a16="http://schemas.microsoft.com/office/drawing/2014/main" id="{C6B6DFDC-CFD2-8C5A-AFF6-F061CBAC4E2B}"/>
              </a:ext>
            </a:extLst>
          </p:cNvPr>
          <p:cNvSpPr txBox="1"/>
          <p:nvPr/>
        </p:nvSpPr>
        <p:spPr>
          <a:xfrm>
            <a:off x="1627071" y="4447334"/>
            <a:ext cx="1258570" cy="369332"/>
          </a:xfrm>
          <a:prstGeom prst="rect">
            <a:avLst/>
          </a:prstGeom>
          <a:noFill/>
        </p:spPr>
        <p:txBody>
          <a:bodyPr wrap="square">
            <a:spAutoFit/>
          </a:bodyPr>
          <a:lstStyle/>
          <a:p>
            <a:pPr algn="just"/>
            <a:r>
              <a:rPr lang="zh-CN" altLang="en-US" dirty="0">
                <a:latin typeface="宋体" panose="02010600030101010101" pitchFamily="2" charset="-122"/>
                <a:ea typeface="宋体" panose="02010600030101010101" pitchFamily="2" charset="-122"/>
              </a:rPr>
              <a:t>水土流失</a:t>
            </a:r>
          </a:p>
        </p:txBody>
      </p:sp>
      <p:pic>
        <p:nvPicPr>
          <p:cNvPr id="35" name="图片 34">
            <a:extLst>
              <a:ext uri="{FF2B5EF4-FFF2-40B4-BE49-F238E27FC236}">
                <a16:creationId xmlns:a16="http://schemas.microsoft.com/office/drawing/2014/main" id="{E2150B38-E763-D801-1D06-BD9951EF8058}"/>
              </a:ext>
            </a:extLst>
          </p:cNvPr>
          <p:cNvPicPr>
            <a:picLocks/>
          </p:cNvPicPr>
          <p:nvPr/>
        </p:nvPicPr>
        <p:blipFill>
          <a:blip r:embed="rId9" cstate="print">
            <a:extLst>
              <a:ext uri="{28A0092B-C50C-407E-A947-70E740481C1C}">
                <a14:useLocalDpi xmlns:a14="http://schemas.microsoft.com/office/drawing/2010/main" val="0"/>
              </a:ext>
            </a:extLst>
          </a:blip>
          <a:stretch>
            <a:fillRect/>
          </a:stretch>
        </p:blipFill>
        <p:spPr>
          <a:xfrm>
            <a:off x="3568870" y="3115334"/>
            <a:ext cx="1980000" cy="1332000"/>
          </a:xfrm>
          <a:prstGeom prst="rect">
            <a:avLst/>
          </a:prstGeom>
        </p:spPr>
      </p:pic>
      <p:sp>
        <p:nvSpPr>
          <p:cNvPr id="36" name="文本框 35">
            <a:extLst>
              <a:ext uri="{FF2B5EF4-FFF2-40B4-BE49-F238E27FC236}">
                <a16:creationId xmlns:a16="http://schemas.microsoft.com/office/drawing/2014/main" id="{9512ACAE-D114-4F11-4F9B-0B878E1EB23A}"/>
              </a:ext>
            </a:extLst>
          </p:cNvPr>
          <p:cNvSpPr txBox="1"/>
          <p:nvPr/>
        </p:nvSpPr>
        <p:spPr>
          <a:xfrm>
            <a:off x="4011530" y="4447334"/>
            <a:ext cx="1120940" cy="369332"/>
          </a:xfrm>
          <a:prstGeom prst="rect">
            <a:avLst/>
          </a:prstGeom>
          <a:noFill/>
        </p:spPr>
        <p:txBody>
          <a:bodyPr wrap="square">
            <a:spAutoFit/>
          </a:bodyPr>
          <a:lstStyle/>
          <a:p>
            <a:pPr algn="just"/>
            <a:r>
              <a:rPr lang="zh-CN" altLang="en-US" dirty="0">
                <a:latin typeface="宋体" panose="02010600030101010101" pitchFamily="2" charset="-122"/>
                <a:ea typeface="宋体" panose="02010600030101010101" pitchFamily="2" charset="-122"/>
              </a:rPr>
              <a:t>土壤退化</a:t>
            </a:r>
          </a:p>
        </p:txBody>
      </p:sp>
      <p:cxnSp>
        <p:nvCxnSpPr>
          <p:cNvPr id="43" name="直接箭头连接符 42">
            <a:extLst>
              <a:ext uri="{FF2B5EF4-FFF2-40B4-BE49-F238E27FC236}">
                <a16:creationId xmlns:a16="http://schemas.microsoft.com/office/drawing/2014/main" id="{A14D41C5-3E34-BEF2-9564-0EEB12C90A51}"/>
              </a:ext>
            </a:extLst>
          </p:cNvPr>
          <p:cNvCxnSpPr>
            <a:cxnSpLocks/>
          </p:cNvCxnSpPr>
          <p:nvPr/>
        </p:nvCxnSpPr>
        <p:spPr>
          <a:xfrm>
            <a:off x="7761523" y="2348230"/>
            <a:ext cx="0" cy="81409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文本框 105"/>
          <p:cNvSpPr txBox="1"/>
          <p:nvPr/>
        </p:nvSpPr>
        <p:spPr>
          <a:xfrm>
            <a:off x="59267" y="80025"/>
            <a:ext cx="3737353" cy="706755"/>
          </a:xfrm>
          <a:prstGeom prst="rect">
            <a:avLst/>
          </a:prstGeom>
          <a:noFill/>
        </p:spPr>
        <p:txBody>
          <a:bodyPr wrap="square" rtlCol="0">
            <a:noAutofit/>
          </a:bodyPr>
          <a:lstStyle/>
          <a:p>
            <a:r>
              <a:rPr lang="en-US" altLang="zh-CN" sz="2000" b="1" dirty="0">
                <a:solidFill>
                  <a:srgbClr val="314865"/>
                </a:solidFill>
                <a:latin typeface="Arial" panose="020B0604020202020204" pitchFamily="34" charset="0"/>
                <a:ea typeface="微软雅黑" panose="020B0503020204020204" pitchFamily="34" charset="-122"/>
                <a:sym typeface="+mn-ea"/>
              </a:rPr>
              <a:t>01 </a:t>
            </a:r>
            <a:r>
              <a:rPr lang="zh-CN" altLang="en-US" sz="2000" b="1" dirty="0">
                <a:solidFill>
                  <a:srgbClr val="314865"/>
                </a:solidFill>
                <a:latin typeface="Arial" panose="020B0604020202020204" pitchFamily="34" charset="0"/>
                <a:ea typeface="微软雅黑" panose="020B0503020204020204" pitchFamily="34" charset="-122"/>
                <a:sym typeface="+mn-ea"/>
              </a:rPr>
              <a:t>研究背景与现状</a:t>
            </a:r>
            <a:endParaRPr lang="zh-CN" altLang="en-US" sz="2000" b="1" dirty="0">
              <a:solidFill>
                <a:srgbClr val="314865"/>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6" name="直接连接符 5">
            <a:extLst>
              <a:ext uri="{FF2B5EF4-FFF2-40B4-BE49-F238E27FC236}">
                <a16:creationId xmlns:a16="http://schemas.microsoft.com/office/drawing/2014/main" id="{5B3306E8-9C37-5430-8600-C6B2FB31B97B}"/>
              </a:ext>
            </a:extLst>
          </p:cNvPr>
          <p:cNvCxnSpPr/>
          <p:nvPr/>
        </p:nvCxnSpPr>
        <p:spPr>
          <a:xfrm>
            <a:off x="2597242" y="264691"/>
            <a:ext cx="671342" cy="0"/>
          </a:xfrm>
          <a:prstGeom prst="line">
            <a:avLst/>
          </a:prstGeom>
          <a:ln>
            <a:solidFill>
              <a:srgbClr val="314865"/>
            </a:solidFill>
          </a:ln>
        </p:spPr>
        <p:style>
          <a:lnRef idx="1">
            <a:schemeClr val="accent1"/>
          </a:lnRef>
          <a:fillRef idx="0">
            <a:schemeClr val="accent1"/>
          </a:fillRef>
          <a:effectRef idx="0">
            <a:schemeClr val="accent1"/>
          </a:effectRef>
          <a:fontRef idx="minor">
            <a:schemeClr val="tx1"/>
          </a:fontRef>
        </p:style>
      </p:cxnSp>
      <p:sp>
        <p:nvSpPr>
          <p:cNvPr id="7" name="文本框 105">
            <a:extLst>
              <a:ext uri="{FF2B5EF4-FFF2-40B4-BE49-F238E27FC236}">
                <a16:creationId xmlns:a16="http://schemas.microsoft.com/office/drawing/2014/main" id="{7C841D63-B107-E6C0-8950-8A8CCED5EC80}"/>
              </a:ext>
            </a:extLst>
          </p:cNvPr>
          <p:cNvSpPr txBox="1"/>
          <p:nvPr/>
        </p:nvSpPr>
        <p:spPr>
          <a:xfrm>
            <a:off x="3268584" y="80025"/>
            <a:ext cx="201031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314865"/>
                </a:solidFill>
                <a:effectLst/>
                <a:uLnTx/>
                <a:uFillTx/>
                <a:latin typeface="Arial" panose="020B0604020202020204" pitchFamily="34" charset="0"/>
                <a:ea typeface="微软雅黑" panose="020B0503020204020204" pitchFamily="34" charset="-122"/>
                <a:cs typeface="+mn-cs"/>
                <a:sym typeface="+mn-ea"/>
              </a:rPr>
              <a:t>国内外研究现状</a:t>
            </a:r>
          </a:p>
        </p:txBody>
      </p:sp>
      <p:cxnSp>
        <p:nvCxnSpPr>
          <p:cNvPr id="8" name="直接连接符 15">
            <a:extLst>
              <a:ext uri="{FF2B5EF4-FFF2-40B4-BE49-F238E27FC236}">
                <a16:creationId xmlns:a16="http://schemas.microsoft.com/office/drawing/2014/main" id="{0662F91E-7AB0-6B88-C78A-1CF34D5F84CE}"/>
              </a:ext>
            </a:extLst>
          </p:cNvPr>
          <p:cNvCxnSpPr>
            <a:cxnSpLocks/>
          </p:cNvCxnSpPr>
          <p:nvPr/>
        </p:nvCxnSpPr>
        <p:spPr>
          <a:xfrm>
            <a:off x="4394118" y="1418590"/>
            <a:ext cx="0" cy="2574290"/>
          </a:xfrm>
          <a:prstGeom prst="line">
            <a:avLst/>
          </a:prstGeom>
          <a:ln w="25400">
            <a:solidFill>
              <a:srgbClr val="314865"/>
            </a:solidFill>
            <a:prstDash val="dash"/>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400F4CB9-EBFF-1852-9CA0-546566A2A950}"/>
              </a:ext>
            </a:extLst>
          </p:cNvPr>
          <p:cNvSpPr txBox="1"/>
          <p:nvPr/>
        </p:nvSpPr>
        <p:spPr>
          <a:xfrm>
            <a:off x="401238" y="1285361"/>
            <a:ext cx="4170762" cy="2824299"/>
          </a:xfrm>
          <a:prstGeom prst="rect">
            <a:avLst/>
          </a:prstGeom>
          <a:noFill/>
        </p:spPr>
        <p:txBody>
          <a:bodyPr wrap="square" rtlCol="0">
            <a:spAutoFit/>
          </a:bodyPr>
          <a:lstStyle/>
          <a:p>
            <a:pPr marL="285750" indent="-285750" algn="just" defTabSz="685800">
              <a:lnSpc>
                <a:spcPct val="200000"/>
              </a:lnSpc>
              <a:buFont typeface="Arial" panose="020B0604020202020204" pitchFamily="34" charset="0"/>
              <a:buChar char="•"/>
            </a:pPr>
            <a:r>
              <a:rPr lang="zh-CN" altLang="zh-CN" dirty="0">
                <a:latin typeface="Times New Roman" panose="02020603050405020304" pitchFamily="18" charset="0"/>
                <a:ea typeface="宋体" panose="02010600030101010101" pitchFamily="2" charset="-122"/>
              </a:rPr>
              <a:t>侧重长期恢复</a:t>
            </a:r>
            <a:r>
              <a:rPr lang="zh-CN" altLang="en-US" dirty="0">
                <a:latin typeface="Times New Roman" panose="02020603050405020304" pitchFamily="18" charset="0"/>
                <a:ea typeface="宋体" panose="02010600030101010101" pitchFamily="2" charset="-122"/>
              </a:rPr>
              <a:t>过程</a:t>
            </a:r>
            <a:r>
              <a:rPr lang="zh-CN" altLang="zh-CN" dirty="0">
                <a:latin typeface="Times New Roman" panose="02020603050405020304" pitchFamily="18" charset="0"/>
                <a:ea typeface="宋体" panose="02010600030101010101" pitchFamily="2" charset="-122"/>
              </a:rPr>
              <a:t>监测</a:t>
            </a:r>
            <a:endParaRPr lang="en-US" altLang="zh-CN" dirty="0">
              <a:latin typeface="Times New Roman" panose="02020603050405020304" pitchFamily="18" charset="0"/>
              <a:ea typeface="宋体" panose="02010600030101010101" pitchFamily="2" charset="-122"/>
            </a:endParaRPr>
          </a:p>
          <a:p>
            <a:pPr marL="285750" indent="-285750" algn="just" defTabSz="685800">
              <a:lnSpc>
                <a:spcPct val="200000"/>
              </a:lnSpc>
              <a:buFont typeface="Arial" panose="020B0604020202020204" pitchFamily="34" charset="0"/>
              <a:buChar char="•"/>
            </a:pPr>
            <a:r>
              <a:rPr lang="zh-CN" altLang="zh-CN" sz="2000" b="1" dirty="0">
                <a:latin typeface="Times New Roman" panose="02020603050405020304" pitchFamily="18" charset="0"/>
                <a:ea typeface="宋体" panose="02010600030101010101" pitchFamily="2" charset="-122"/>
              </a:rPr>
              <a:t>Landsat长期序列监测矿区演变</a:t>
            </a:r>
            <a:endParaRPr lang="en-US" altLang="zh-CN" sz="2000" b="1" dirty="0">
              <a:latin typeface="Times New Roman" panose="02020603050405020304" pitchFamily="18" charset="0"/>
              <a:ea typeface="宋体" panose="02010600030101010101" pitchFamily="2" charset="-122"/>
            </a:endParaRPr>
          </a:p>
          <a:p>
            <a:pPr marL="285750" indent="-285750" algn="just" defTabSz="685800">
              <a:lnSpc>
                <a:spcPct val="200000"/>
              </a:lnSpc>
              <a:buFont typeface="Arial" panose="020B0604020202020204" pitchFamily="34" charset="0"/>
              <a:buChar char="•"/>
            </a:pPr>
            <a:r>
              <a:rPr lang="zh-CN" altLang="zh-CN" dirty="0">
                <a:latin typeface="Times New Roman" panose="02020603050405020304" pitchFamily="18" charset="0"/>
                <a:ea typeface="宋体" panose="02010600030101010101" pitchFamily="2" charset="-122"/>
              </a:rPr>
              <a:t>LiDAR、SAR、高光谱广泛应用</a:t>
            </a:r>
            <a:endParaRPr lang="en-US" altLang="zh-CN" dirty="0">
              <a:latin typeface="Times New Roman" panose="02020603050405020304" pitchFamily="18" charset="0"/>
              <a:ea typeface="宋体" panose="02010600030101010101" pitchFamily="2" charset="-122"/>
            </a:endParaRPr>
          </a:p>
          <a:p>
            <a:pPr marL="285750" indent="-285750" algn="just" defTabSz="685800">
              <a:lnSpc>
                <a:spcPct val="200000"/>
              </a:lnSpc>
              <a:buFont typeface="Arial" panose="020B0604020202020204" pitchFamily="34" charset="0"/>
              <a:buChar char="•"/>
            </a:pPr>
            <a:r>
              <a:rPr lang="zh-CN" altLang="zh-CN" dirty="0">
                <a:latin typeface="Times New Roman" panose="02020603050405020304" pitchFamily="18" charset="0"/>
                <a:ea typeface="宋体" panose="02010600030101010101" pitchFamily="2" charset="-122"/>
              </a:rPr>
              <a:t>关注生态系统功能恢复</a:t>
            </a:r>
            <a:endParaRPr lang="en-US" altLang="zh-CN" dirty="0">
              <a:latin typeface="Times New Roman" panose="02020603050405020304" pitchFamily="18" charset="0"/>
              <a:ea typeface="宋体" panose="02010600030101010101" pitchFamily="2" charset="-122"/>
            </a:endParaRPr>
          </a:p>
          <a:p>
            <a:pPr marL="285750" indent="-285750" algn="just" defTabSz="685800">
              <a:lnSpc>
                <a:spcPct val="200000"/>
              </a:lnSpc>
              <a:buFont typeface="Arial" panose="020B0604020202020204" pitchFamily="34" charset="0"/>
              <a:buChar char="•"/>
            </a:pPr>
            <a:r>
              <a:rPr lang="zh-CN" altLang="zh-CN" dirty="0">
                <a:latin typeface="Times New Roman" panose="02020603050405020304" pitchFamily="18" charset="0"/>
                <a:ea typeface="宋体" panose="02010600030101010101" pitchFamily="2" charset="-122"/>
              </a:rPr>
              <a:t>多源遥感与AI智能监测</a:t>
            </a:r>
            <a:endParaRPr lang="zh-CN" altLang="en-US" dirty="0">
              <a:solidFill>
                <a:prstClr val="black"/>
              </a:solidFill>
              <a:latin typeface="Times New Roman" panose="02020603050405020304" pitchFamily="18" charset="0"/>
              <a:ea typeface="宋体" panose="02010600030101010101" pitchFamily="2" charset="-122"/>
            </a:endParaRPr>
          </a:p>
        </p:txBody>
      </p:sp>
      <p:sp>
        <p:nvSpPr>
          <p:cNvPr id="24" name="矩形 23">
            <a:extLst>
              <a:ext uri="{FF2B5EF4-FFF2-40B4-BE49-F238E27FC236}">
                <a16:creationId xmlns:a16="http://schemas.microsoft.com/office/drawing/2014/main" id="{61C6BF86-631C-6E90-6B7B-D1DA44340F53}"/>
              </a:ext>
            </a:extLst>
          </p:cNvPr>
          <p:cNvSpPr/>
          <p:nvPr/>
        </p:nvSpPr>
        <p:spPr>
          <a:xfrm>
            <a:off x="754933" y="763273"/>
            <a:ext cx="3265170" cy="484505"/>
          </a:xfrm>
          <a:prstGeom prst="rect">
            <a:avLst/>
          </a:prstGeom>
          <a:solidFill>
            <a:srgbClr val="314865"/>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r>
              <a:rPr lang="zh-CN" altLang="en-US" b="1"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国外研究现状</a:t>
            </a:r>
          </a:p>
        </p:txBody>
      </p:sp>
      <p:sp>
        <p:nvSpPr>
          <p:cNvPr id="30" name="文本框 29">
            <a:extLst>
              <a:ext uri="{FF2B5EF4-FFF2-40B4-BE49-F238E27FC236}">
                <a16:creationId xmlns:a16="http://schemas.microsoft.com/office/drawing/2014/main" id="{2DEF287F-4E1E-AC57-FD57-AFBDB72FEEA4}"/>
              </a:ext>
            </a:extLst>
          </p:cNvPr>
          <p:cNvSpPr txBox="1"/>
          <p:nvPr/>
        </p:nvSpPr>
        <p:spPr>
          <a:xfrm>
            <a:off x="4766607" y="1285361"/>
            <a:ext cx="4170762" cy="2824299"/>
          </a:xfrm>
          <a:prstGeom prst="rect">
            <a:avLst/>
          </a:prstGeom>
          <a:noFill/>
        </p:spPr>
        <p:txBody>
          <a:bodyPr wrap="square" rtlCol="0">
            <a:spAutoFit/>
          </a:bodyPr>
          <a:lstStyle/>
          <a:p>
            <a:pPr marL="285750" indent="-285750" algn="just" defTabSz="685800">
              <a:lnSpc>
                <a:spcPct val="200000"/>
              </a:lnSpc>
              <a:buFont typeface="Arial" panose="020B0604020202020204" pitchFamily="34" charset="0"/>
              <a:buChar char="•"/>
            </a:pPr>
            <a:r>
              <a:rPr lang="zh-CN" altLang="zh-CN" dirty="0">
                <a:latin typeface="Times New Roman" panose="02020603050405020304" pitchFamily="18" charset="0"/>
                <a:ea typeface="宋体" panose="02010600030101010101" pitchFamily="2" charset="-122"/>
              </a:rPr>
              <a:t>服务</a:t>
            </a:r>
            <a:r>
              <a:rPr lang="zh-CN" altLang="en-US" dirty="0">
                <a:latin typeface="Times New Roman" panose="02020603050405020304" pitchFamily="18" charset="0"/>
                <a:ea typeface="宋体" panose="02010600030101010101" pitchFamily="2" charset="-122"/>
              </a:rPr>
              <a:t>生态修复工程评价</a:t>
            </a:r>
            <a:endParaRPr lang="en-US" altLang="zh-CN" dirty="0">
              <a:latin typeface="Times New Roman" panose="02020603050405020304" pitchFamily="18" charset="0"/>
              <a:ea typeface="宋体" panose="02010600030101010101" pitchFamily="2" charset="-122"/>
            </a:endParaRPr>
          </a:p>
          <a:p>
            <a:pPr marL="285750" indent="-285750" algn="just" defTabSz="685800">
              <a:lnSpc>
                <a:spcPct val="200000"/>
              </a:lnSpc>
              <a:buFont typeface="Arial" panose="020B0604020202020204" pitchFamily="34" charset="0"/>
              <a:buChar char="•"/>
            </a:pPr>
            <a:r>
              <a:rPr lang="zh-CN" altLang="zh-CN" dirty="0">
                <a:latin typeface="Times New Roman" panose="02020603050405020304" pitchFamily="18" charset="0"/>
                <a:ea typeface="宋体" panose="02010600030101010101" pitchFamily="2" charset="-122"/>
              </a:rPr>
              <a:t>NDVI、土地利用变化监测</a:t>
            </a:r>
            <a:endParaRPr lang="en-US" altLang="zh-CN" dirty="0">
              <a:latin typeface="Times New Roman" panose="02020603050405020304" pitchFamily="18" charset="0"/>
              <a:ea typeface="宋体" panose="02010600030101010101" pitchFamily="2" charset="-122"/>
            </a:endParaRPr>
          </a:p>
          <a:p>
            <a:pPr marL="285750" indent="-285750" algn="just" defTabSz="685800">
              <a:lnSpc>
                <a:spcPct val="200000"/>
              </a:lnSpc>
              <a:buFont typeface="Arial" panose="020B0604020202020204" pitchFamily="34" charset="0"/>
              <a:buChar char="•"/>
            </a:pPr>
            <a:r>
              <a:rPr lang="zh-CN" altLang="zh-CN" sz="2000" b="1" dirty="0">
                <a:latin typeface="Times New Roman" panose="02020603050405020304" pitchFamily="18" charset="0"/>
                <a:ea typeface="宋体" panose="02010600030101010101" pitchFamily="2" charset="-122"/>
              </a:rPr>
              <a:t>RSEI生态质量评价应用广泛</a:t>
            </a:r>
            <a:endParaRPr lang="en-US" altLang="zh-CN" sz="2000" b="1" dirty="0">
              <a:latin typeface="Times New Roman" panose="02020603050405020304" pitchFamily="18" charset="0"/>
              <a:ea typeface="宋体" panose="02010600030101010101" pitchFamily="2" charset="-122"/>
            </a:endParaRPr>
          </a:p>
          <a:p>
            <a:pPr marL="285750" indent="-285750" algn="just" defTabSz="685800">
              <a:lnSpc>
                <a:spcPct val="200000"/>
              </a:lnSpc>
              <a:buFont typeface="Arial" panose="020B0604020202020204" pitchFamily="34" charset="0"/>
              <a:buChar char="•"/>
            </a:pPr>
            <a:r>
              <a:rPr lang="zh-CN" altLang="zh-CN" dirty="0">
                <a:latin typeface="Times New Roman" panose="02020603050405020304" pitchFamily="18" charset="0"/>
                <a:ea typeface="宋体" panose="02010600030101010101" pitchFamily="2" charset="-122"/>
              </a:rPr>
              <a:t>关注生态修复与复垦成效</a:t>
            </a:r>
            <a:endParaRPr lang="en-US" altLang="zh-CN" dirty="0">
              <a:latin typeface="Times New Roman" panose="02020603050405020304" pitchFamily="18" charset="0"/>
              <a:ea typeface="宋体" panose="02010600030101010101" pitchFamily="2" charset="-122"/>
            </a:endParaRPr>
          </a:p>
          <a:p>
            <a:pPr marL="285750" indent="-285750" algn="just" defTabSz="685800">
              <a:lnSpc>
                <a:spcPct val="200000"/>
              </a:lnSpc>
              <a:buFont typeface="Arial" panose="020B0604020202020204" pitchFamily="34" charset="0"/>
              <a:buChar char="•"/>
            </a:pPr>
            <a:r>
              <a:rPr lang="zh-CN" altLang="zh-CN" dirty="0">
                <a:latin typeface="Times New Roman" panose="02020603050405020304" pitchFamily="18" charset="0"/>
                <a:ea typeface="宋体" panose="02010600030101010101" pitchFamily="2" charset="-122"/>
              </a:rPr>
              <a:t>GEE平台与机器学习快速发展</a:t>
            </a:r>
            <a:endParaRPr lang="zh-CN" altLang="en-US" dirty="0">
              <a:solidFill>
                <a:prstClr val="black"/>
              </a:solidFill>
              <a:latin typeface="Times New Roman" panose="02020603050405020304" pitchFamily="18" charset="0"/>
              <a:ea typeface="宋体" panose="02010600030101010101" pitchFamily="2" charset="-122"/>
            </a:endParaRPr>
          </a:p>
        </p:txBody>
      </p:sp>
      <p:grpSp>
        <p:nvGrpSpPr>
          <p:cNvPr id="35" name="组合 34">
            <a:extLst>
              <a:ext uri="{FF2B5EF4-FFF2-40B4-BE49-F238E27FC236}">
                <a16:creationId xmlns:a16="http://schemas.microsoft.com/office/drawing/2014/main" id="{5A34E228-0526-EF9A-06FE-584765A9B490}"/>
              </a:ext>
            </a:extLst>
          </p:cNvPr>
          <p:cNvGrpSpPr/>
          <p:nvPr/>
        </p:nvGrpSpPr>
        <p:grpSpPr>
          <a:xfrm>
            <a:off x="218441" y="4356720"/>
            <a:ext cx="9533212" cy="673688"/>
            <a:chOff x="-397230" y="4323172"/>
            <a:chExt cx="9533212" cy="673688"/>
          </a:xfrm>
        </p:grpSpPr>
        <p:sp>
          <p:nvSpPr>
            <p:cNvPr id="19" name="文本框 18">
              <a:extLst>
                <a:ext uri="{FF2B5EF4-FFF2-40B4-BE49-F238E27FC236}">
                  <a16:creationId xmlns:a16="http://schemas.microsoft.com/office/drawing/2014/main" id="{5D0FD2F7-CF41-F9DD-F3AF-5D6B76201A9F}"/>
                </a:ext>
              </a:extLst>
            </p:cNvPr>
            <p:cNvSpPr txBox="1"/>
            <p:nvPr/>
          </p:nvSpPr>
          <p:spPr>
            <a:xfrm>
              <a:off x="-397230" y="4323172"/>
              <a:ext cx="9533212" cy="673688"/>
            </a:xfrm>
            <a:prstGeom prst="rect">
              <a:avLst/>
            </a:prstGeom>
            <a:noFill/>
          </p:spPr>
          <p:txBody>
            <a:bodyPr wrap="square" rtlCol="0">
              <a:noAutofit/>
            </a:bodyPr>
            <a:lstStyle/>
            <a:p>
              <a:pPr algn="just" defTabSz="685800">
                <a:spcBef>
                  <a:spcPct val="0"/>
                </a:spcBef>
                <a:spcAft>
                  <a:spcPct val="0"/>
                </a:spcAft>
              </a:pPr>
              <a:r>
                <a:rPr lang="zh-CN" altLang="en-US" sz="1700" dirty="0">
                  <a:solidFill>
                    <a:prstClr val="black"/>
                  </a:solidFill>
                  <a:latin typeface="宋体" panose="02010600030101010101" pitchFamily="2" charset="-122"/>
                  <a:ea typeface="宋体" panose="02010600030101010101" pitchFamily="2" charset="-122"/>
                </a:rPr>
                <a:t>植被恢复监测       土地利用变化分析       生态质量综合评价       智能化遥感监测</a:t>
              </a:r>
            </a:p>
          </p:txBody>
        </p:sp>
        <p:sp>
          <p:nvSpPr>
            <p:cNvPr id="32" name="箭头: 右 31">
              <a:extLst>
                <a:ext uri="{FF2B5EF4-FFF2-40B4-BE49-F238E27FC236}">
                  <a16:creationId xmlns:a16="http://schemas.microsoft.com/office/drawing/2014/main" id="{0F8B05E7-6083-7090-5F13-CEE8244406BF}"/>
                </a:ext>
              </a:extLst>
            </p:cNvPr>
            <p:cNvSpPr/>
            <p:nvPr/>
          </p:nvSpPr>
          <p:spPr>
            <a:xfrm>
              <a:off x="1048979" y="4402815"/>
              <a:ext cx="609600" cy="2082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箭头: 右 32">
              <a:extLst>
                <a:ext uri="{FF2B5EF4-FFF2-40B4-BE49-F238E27FC236}">
                  <a16:creationId xmlns:a16="http://schemas.microsoft.com/office/drawing/2014/main" id="{9F19AFF8-2EB6-D2CC-D109-E2C5593AF5CE}"/>
                </a:ext>
              </a:extLst>
            </p:cNvPr>
            <p:cNvSpPr/>
            <p:nvPr/>
          </p:nvSpPr>
          <p:spPr>
            <a:xfrm>
              <a:off x="3491022" y="4395191"/>
              <a:ext cx="609600" cy="2082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箭头: 右 33">
              <a:extLst>
                <a:ext uri="{FF2B5EF4-FFF2-40B4-BE49-F238E27FC236}">
                  <a16:creationId xmlns:a16="http://schemas.microsoft.com/office/drawing/2014/main" id="{9BA41ADA-0AA4-D23B-908E-2CD0D0CE7546}"/>
                </a:ext>
              </a:extLst>
            </p:cNvPr>
            <p:cNvSpPr/>
            <p:nvPr/>
          </p:nvSpPr>
          <p:spPr>
            <a:xfrm>
              <a:off x="6008702" y="4395191"/>
              <a:ext cx="609600" cy="2082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 name="矩形 35">
            <a:extLst>
              <a:ext uri="{FF2B5EF4-FFF2-40B4-BE49-F238E27FC236}">
                <a16:creationId xmlns:a16="http://schemas.microsoft.com/office/drawing/2014/main" id="{409ED07C-F813-17C6-DC57-F957A5286CE3}"/>
              </a:ext>
            </a:extLst>
          </p:cNvPr>
          <p:cNvSpPr/>
          <p:nvPr/>
        </p:nvSpPr>
        <p:spPr>
          <a:xfrm>
            <a:off x="4773348" y="763273"/>
            <a:ext cx="3265170" cy="486000"/>
          </a:xfrm>
          <a:prstGeom prst="rect">
            <a:avLst/>
          </a:prstGeom>
          <a:solidFill>
            <a:srgbClr val="314865"/>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r>
              <a:rPr lang="zh-CN" altLang="en-US" b="1"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国内研究现状</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15"/>
          <p:cNvCxnSpPr/>
          <p:nvPr/>
        </p:nvCxnSpPr>
        <p:spPr>
          <a:xfrm>
            <a:off x="4347936" y="1030749"/>
            <a:ext cx="0" cy="3574034"/>
          </a:xfrm>
          <a:prstGeom prst="line">
            <a:avLst/>
          </a:prstGeom>
          <a:ln w="25400">
            <a:solidFill>
              <a:srgbClr val="314865"/>
            </a:solidFill>
            <a:prstDash val="dash"/>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5168756" y="532601"/>
            <a:ext cx="3265170" cy="484505"/>
          </a:xfrm>
          <a:prstGeom prst="rect">
            <a:avLst/>
          </a:prstGeom>
          <a:solidFill>
            <a:srgbClr val="314865"/>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r>
              <a:rPr lang="zh-CN" altLang="en-US" b="1"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地形恢复监测</a:t>
            </a:r>
          </a:p>
        </p:txBody>
      </p:sp>
      <p:sp>
        <p:nvSpPr>
          <p:cNvPr id="46" name="文本框 105"/>
          <p:cNvSpPr txBox="1"/>
          <p:nvPr/>
        </p:nvSpPr>
        <p:spPr>
          <a:xfrm>
            <a:off x="0" y="69637"/>
            <a:ext cx="3450988" cy="400050"/>
          </a:xfrm>
          <a:prstGeom prst="rect">
            <a:avLst/>
          </a:prstGeom>
          <a:noFill/>
        </p:spPr>
        <p:txBody>
          <a:bodyPr wrap="square" rtlCol="0">
            <a:noAutofit/>
          </a:bodyPr>
          <a:lstStyle/>
          <a:p>
            <a:pPr defTabSz="685800"/>
            <a:r>
              <a:rPr lang="en-US" altLang="zh-CN" sz="2000" b="1" dirty="0">
                <a:solidFill>
                  <a:srgbClr val="314865"/>
                </a:solidFill>
                <a:latin typeface="Arial" panose="020B0604020202020204" pitchFamily="34" charset="0"/>
                <a:ea typeface="微软雅黑" panose="020B0503020204020204" pitchFamily="34" charset="-122"/>
                <a:sym typeface="Arial" panose="020B0604020202020204" pitchFamily="34" charset="0"/>
              </a:rPr>
              <a:t>02 </a:t>
            </a:r>
            <a:r>
              <a:rPr lang="zh-CN" altLang="en-US" sz="2000" b="1" dirty="0">
                <a:solidFill>
                  <a:srgbClr val="314865"/>
                </a:solidFill>
                <a:latin typeface="Arial" panose="020B0604020202020204" pitchFamily="34" charset="0"/>
                <a:ea typeface="微软雅黑" panose="020B0503020204020204" pitchFamily="34" charset="-122"/>
                <a:sym typeface="Arial" panose="020B0604020202020204" pitchFamily="34" charset="0"/>
              </a:rPr>
              <a:t>遥感监测内容</a:t>
            </a:r>
          </a:p>
        </p:txBody>
      </p:sp>
      <p:sp>
        <p:nvSpPr>
          <p:cNvPr id="3" name="文本框 2"/>
          <p:cNvSpPr txBox="1"/>
          <p:nvPr/>
        </p:nvSpPr>
        <p:spPr>
          <a:xfrm>
            <a:off x="142828" y="4209050"/>
            <a:ext cx="3807975" cy="673688"/>
          </a:xfrm>
          <a:prstGeom prst="rect">
            <a:avLst/>
          </a:prstGeom>
          <a:noFill/>
        </p:spPr>
        <p:txBody>
          <a:bodyPr wrap="square" rtlCol="0">
            <a:noAutofit/>
          </a:bodyPr>
          <a:lstStyle/>
          <a:p>
            <a:pPr defTabSz="685800">
              <a:spcBef>
                <a:spcPct val="0"/>
              </a:spcBef>
              <a:spcAft>
                <a:spcPct val="0"/>
              </a:spcAft>
            </a:pPr>
            <a:r>
              <a:rPr lang="zh-CN" altLang="en-US" sz="1400" b="1" dirty="0">
                <a:solidFill>
                  <a:prstClr val="black"/>
                </a:solidFill>
                <a:latin typeface="宋体" panose="02010600030101010101" pitchFamily="2" charset="-122"/>
                <a:ea typeface="宋体" panose="02010600030101010101" pitchFamily="2" charset="-122"/>
              </a:rPr>
              <a:t>监测意义：</a:t>
            </a:r>
            <a:r>
              <a:rPr lang="zh-CN" altLang="zh-CN" sz="1400" dirty="0">
                <a:latin typeface="宋体" panose="02010600030101010101" pitchFamily="2" charset="-122"/>
                <a:ea typeface="宋体" panose="02010600030101010101" pitchFamily="2" charset="-122"/>
              </a:rPr>
              <a:t>反映矿区植被恢复水平，是评价生态修复成效最直观的指标。</a:t>
            </a:r>
            <a:endParaRPr lang="zh-CN" altLang="en-US" sz="1400" b="1" dirty="0">
              <a:solidFill>
                <a:prstClr val="black"/>
              </a:solidFill>
              <a:latin typeface="宋体" panose="02010600030101010101" pitchFamily="2" charset="-122"/>
              <a:ea typeface="宋体" panose="02010600030101010101" pitchFamily="2" charset="-122"/>
            </a:endParaRPr>
          </a:p>
        </p:txBody>
      </p:sp>
      <p:sp>
        <p:nvSpPr>
          <p:cNvPr id="5" name="矩形 4">
            <a:extLst>
              <a:ext uri="{FF2B5EF4-FFF2-40B4-BE49-F238E27FC236}">
                <a16:creationId xmlns:a16="http://schemas.microsoft.com/office/drawing/2014/main" id="{E5CB9191-D303-CA09-ADC7-9FCFBFF376FF}"/>
              </a:ext>
            </a:extLst>
          </p:cNvPr>
          <p:cNvSpPr/>
          <p:nvPr/>
        </p:nvSpPr>
        <p:spPr>
          <a:xfrm>
            <a:off x="334619" y="532601"/>
            <a:ext cx="3265170" cy="484505"/>
          </a:xfrm>
          <a:prstGeom prst="rect">
            <a:avLst/>
          </a:prstGeom>
          <a:solidFill>
            <a:srgbClr val="314865"/>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r>
              <a:rPr lang="zh-CN" altLang="en-US" b="1"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植被恢复监测</a:t>
            </a:r>
          </a:p>
        </p:txBody>
      </p:sp>
      <p:sp>
        <p:nvSpPr>
          <p:cNvPr id="14" name="文本框 13">
            <a:extLst>
              <a:ext uri="{FF2B5EF4-FFF2-40B4-BE49-F238E27FC236}">
                <a16:creationId xmlns:a16="http://schemas.microsoft.com/office/drawing/2014/main" id="{B34C0DAA-9BD1-45AE-D52C-B6372D14583A}"/>
              </a:ext>
            </a:extLst>
          </p:cNvPr>
          <p:cNvSpPr txBox="1"/>
          <p:nvPr/>
        </p:nvSpPr>
        <p:spPr>
          <a:xfrm>
            <a:off x="223362" y="1239202"/>
            <a:ext cx="1057275" cy="358775"/>
          </a:xfrm>
          <a:prstGeom prst="rect">
            <a:avLst/>
          </a:prstGeom>
        </p:spPr>
        <p:txBody>
          <a:bodyPr wrap="none" rtlCol="0">
            <a:noAutofit/>
          </a:bodyPr>
          <a:lstStyle/>
          <a:p>
            <a:r>
              <a:rPr lang="zh-CN" altLang="en-US" sz="1600" b="1" dirty="0">
                <a:solidFill>
                  <a:srgbClr val="2F5597"/>
                </a:solidFill>
              </a:rPr>
              <a:t>监测内容</a:t>
            </a:r>
          </a:p>
        </p:txBody>
      </p:sp>
      <p:sp>
        <p:nvSpPr>
          <p:cNvPr id="16" name="文本框 15">
            <a:extLst>
              <a:ext uri="{FF2B5EF4-FFF2-40B4-BE49-F238E27FC236}">
                <a16:creationId xmlns:a16="http://schemas.microsoft.com/office/drawing/2014/main" id="{AB524977-1D50-B5BE-D41D-D9BF059212C2}"/>
              </a:ext>
            </a:extLst>
          </p:cNvPr>
          <p:cNvSpPr txBox="1"/>
          <p:nvPr/>
        </p:nvSpPr>
        <p:spPr>
          <a:xfrm>
            <a:off x="278739" y="1605445"/>
            <a:ext cx="3877582" cy="1011367"/>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zh-CN" altLang="zh-CN" sz="1400" dirty="0">
                <a:latin typeface="宋体" panose="02010600030101010101" pitchFamily="2" charset="-122"/>
                <a:ea typeface="宋体" panose="02010600030101010101" pitchFamily="2" charset="-122"/>
              </a:rPr>
              <a:t>植被覆盖度变化 </a:t>
            </a:r>
            <a:endParaRPr lang="en-US" altLang="zh-CN" sz="1400" dirty="0">
              <a:latin typeface="宋体" panose="02010600030101010101" pitchFamily="2" charset="-122"/>
              <a:ea typeface="宋体" panose="02010600030101010101" pitchFamily="2" charset="-122"/>
            </a:endParaRPr>
          </a:p>
          <a:p>
            <a:pPr marL="285750" indent="-285750" algn="just">
              <a:lnSpc>
                <a:spcPct val="150000"/>
              </a:lnSpc>
              <a:buFont typeface="Arial" panose="020B0604020202020204" pitchFamily="34" charset="0"/>
              <a:buChar char="•"/>
            </a:pPr>
            <a:r>
              <a:rPr lang="zh-CN" altLang="zh-CN" sz="1400" dirty="0">
                <a:latin typeface="宋体" panose="02010600030101010101" pitchFamily="2" charset="-122"/>
                <a:ea typeface="宋体" panose="02010600030101010101" pitchFamily="2" charset="-122"/>
              </a:rPr>
              <a:t>植被长势恢复情况 </a:t>
            </a:r>
            <a:endParaRPr lang="en-US" altLang="zh-CN" sz="1400" dirty="0">
              <a:latin typeface="宋体" panose="02010600030101010101" pitchFamily="2" charset="-122"/>
              <a:ea typeface="宋体" panose="02010600030101010101" pitchFamily="2" charset="-122"/>
            </a:endParaRPr>
          </a:p>
          <a:p>
            <a:pPr marL="285750" indent="-285750" algn="just">
              <a:lnSpc>
                <a:spcPct val="150000"/>
              </a:lnSpc>
              <a:buFont typeface="Arial" panose="020B0604020202020204" pitchFamily="34" charset="0"/>
              <a:buChar char="•"/>
            </a:pPr>
            <a:r>
              <a:rPr lang="zh-CN" altLang="zh-CN" sz="1400" dirty="0">
                <a:latin typeface="宋体" panose="02010600030101010101" pitchFamily="2" charset="-122"/>
                <a:ea typeface="宋体" panose="02010600030101010101" pitchFamily="2" charset="-122"/>
              </a:rPr>
              <a:t>复垦区绿化效果</a:t>
            </a:r>
            <a:endParaRPr lang="zh-CN" altLang="en-US" sz="1400" dirty="0">
              <a:latin typeface="宋体" panose="02010600030101010101" pitchFamily="2" charset="-122"/>
              <a:ea typeface="宋体" panose="02010600030101010101" pitchFamily="2" charset="-122"/>
            </a:endParaRPr>
          </a:p>
        </p:txBody>
      </p:sp>
      <p:sp>
        <p:nvSpPr>
          <p:cNvPr id="17" name="文本框 16">
            <a:extLst>
              <a:ext uri="{FF2B5EF4-FFF2-40B4-BE49-F238E27FC236}">
                <a16:creationId xmlns:a16="http://schemas.microsoft.com/office/drawing/2014/main" id="{46ADD509-D0B7-F583-362F-9D051B0DDAF7}"/>
              </a:ext>
            </a:extLst>
          </p:cNvPr>
          <p:cNvSpPr txBox="1"/>
          <p:nvPr/>
        </p:nvSpPr>
        <p:spPr>
          <a:xfrm>
            <a:off x="142828" y="2946488"/>
            <a:ext cx="1057275" cy="358775"/>
          </a:xfrm>
          <a:prstGeom prst="rect">
            <a:avLst/>
          </a:prstGeom>
        </p:spPr>
        <p:txBody>
          <a:bodyPr wrap="none" rtlCol="0">
            <a:noAutofit/>
          </a:bodyPr>
          <a:lstStyle/>
          <a:p>
            <a:r>
              <a:rPr lang="zh-CN" altLang="en-US" sz="1600" b="1" dirty="0">
                <a:solidFill>
                  <a:srgbClr val="2F5597"/>
                </a:solidFill>
              </a:rPr>
              <a:t>常用指标</a:t>
            </a:r>
          </a:p>
        </p:txBody>
      </p:sp>
      <p:sp>
        <p:nvSpPr>
          <p:cNvPr id="20" name="文本框 19">
            <a:extLst>
              <a:ext uri="{FF2B5EF4-FFF2-40B4-BE49-F238E27FC236}">
                <a16:creationId xmlns:a16="http://schemas.microsoft.com/office/drawing/2014/main" id="{A04BAA27-3B63-C878-B1CA-7029D200F50C}"/>
              </a:ext>
            </a:extLst>
          </p:cNvPr>
          <p:cNvSpPr txBox="1"/>
          <p:nvPr/>
        </p:nvSpPr>
        <p:spPr>
          <a:xfrm>
            <a:off x="334619" y="3197683"/>
            <a:ext cx="3877582" cy="1011367"/>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altLang="zh-CN" sz="1400" dirty="0">
                <a:latin typeface="Times New Roman" panose="02020603050405020304" pitchFamily="18" charset="0"/>
                <a:ea typeface="宋体" panose="02010600030101010101" pitchFamily="2" charset="-122"/>
              </a:rPr>
              <a:t>NDVI</a:t>
            </a:r>
            <a:r>
              <a:rPr lang="zh-CN" altLang="en-US" sz="1400" dirty="0">
                <a:latin typeface="Times New Roman" panose="02020603050405020304" pitchFamily="18" charset="0"/>
                <a:ea typeface="宋体" panose="02010600030101010101" pitchFamily="2" charset="-122"/>
              </a:rPr>
              <a:t>（归一化植被指数）</a:t>
            </a:r>
            <a:r>
              <a:rPr lang="zh-CN" altLang="zh-CN" sz="1400" dirty="0">
                <a:latin typeface="Times New Roman" panose="02020603050405020304" pitchFamily="18" charset="0"/>
                <a:ea typeface="宋体" panose="02010600030101010101" pitchFamily="2" charset="-122"/>
              </a:rPr>
              <a:t> </a:t>
            </a:r>
            <a:endParaRPr lang="en-US" altLang="zh-CN" sz="1400" dirty="0">
              <a:latin typeface="Times New Roman" panose="02020603050405020304" pitchFamily="18" charset="0"/>
              <a:ea typeface="宋体" panose="02010600030101010101" pitchFamily="2" charset="-122"/>
            </a:endParaRPr>
          </a:p>
          <a:p>
            <a:pPr marL="285750" indent="-285750" algn="just">
              <a:lnSpc>
                <a:spcPct val="150000"/>
              </a:lnSpc>
              <a:buFont typeface="Arial" panose="020B0604020202020204" pitchFamily="34" charset="0"/>
              <a:buChar char="•"/>
            </a:pPr>
            <a:r>
              <a:rPr lang="en-US" altLang="zh-CN" sz="1400" dirty="0">
                <a:latin typeface="Times New Roman" panose="02020603050405020304" pitchFamily="18" charset="0"/>
                <a:ea typeface="宋体" panose="02010600030101010101" pitchFamily="2" charset="-122"/>
              </a:rPr>
              <a:t>EVI</a:t>
            </a:r>
            <a:r>
              <a:rPr lang="zh-CN" altLang="en-US" sz="1400" dirty="0">
                <a:latin typeface="Times New Roman" panose="02020603050405020304" pitchFamily="18" charset="0"/>
                <a:ea typeface="宋体" panose="02010600030101010101" pitchFamily="2" charset="-122"/>
              </a:rPr>
              <a:t>（增强植被指数）</a:t>
            </a:r>
            <a:r>
              <a:rPr lang="zh-CN" altLang="zh-CN" sz="1400" dirty="0">
                <a:latin typeface="Times New Roman" panose="02020603050405020304" pitchFamily="18" charset="0"/>
                <a:ea typeface="宋体" panose="02010600030101010101" pitchFamily="2" charset="-122"/>
              </a:rPr>
              <a:t> </a:t>
            </a:r>
            <a:endParaRPr lang="en-US" altLang="zh-CN" sz="1400" dirty="0">
              <a:latin typeface="Times New Roman" panose="02020603050405020304" pitchFamily="18" charset="0"/>
              <a:ea typeface="宋体" panose="02010600030101010101" pitchFamily="2" charset="-122"/>
            </a:endParaRPr>
          </a:p>
          <a:p>
            <a:pPr marL="285750" indent="-285750" algn="just">
              <a:lnSpc>
                <a:spcPct val="150000"/>
              </a:lnSpc>
              <a:buFont typeface="Arial" panose="020B0604020202020204" pitchFamily="34" charset="0"/>
              <a:buChar char="•"/>
            </a:pPr>
            <a:r>
              <a:rPr lang="en-US" altLang="zh-CN" sz="1400" dirty="0">
                <a:latin typeface="Times New Roman" panose="02020603050405020304" pitchFamily="18" charset="0"/>
                <a:ea typeface="宋体" panose="02010600030101010101" pitchFamily="2" charset="-122"/>
              </a:rPr>
              <a:t>FVC</a:t>
            </a:r>
            <a:r>
              <a:rPr lang="zh-CN" altLang="en-US" sz="1400" dirty="0">
                <a:latin typeface="Times New Roman" panose="02020603050405020304" pitchFamily="18" charset="0"/>
                <a:ea typeface="宋体" panose="02010600030101010101" pitchFamily="2" charset="-122"/>
              </a:rPr>
              <a:t>（植被覆盖度）</a:t>
            </a:r>
          </a:p>
        </p:txBody>
      </p:sp>
      <p:sp>
        <p:nvSpPr>
          <p:cNvPr id="26" name="文本框 25">
            <a:extLst>
              <a:ext uri="{FF2B5EF4-FFF2-40B4-BE49-F238E27FC236}">
                <a16:creationId xmlns:a16="http://schemas.microsoft.com/office/drawing/2014/main" id="{8DD60FB7-B0BA-3EAA-F48D-62E5151CE9FB}"/>
              </a:ext>
            </a:extLst>
          </p:cNvPr>
          <p:cNvSpPr txBox="1"/>
          <p:nvPr/>
        </p:nvSpPr>
        <p:spPr>
          <a:xfrm>
            <a:off x="4715531" y="4209050"/>
            <a:ext cx="3807975" cy="673688"/>
          </a:xfrm>
          <a:prstGeom prst="rect">
            <a:avLst/>
          </a:prstGeom>
          <a:noFill/>
        </p:spPr>
        <p:txBody>
          <a:bodyPr wrap="square" rtlCol="0">
            <a:noAutofit/>
          </a:bodyPr>
          <a:lstStyle/>
          <a:p>
            <a:pPr defTabSz="685800">
              <a:spcBef>
                <a:spcPct val="0"/>
              </a:spcBef>
              <a:spcAft>
                <a:spcPct val="0"/>
              </a:spcAft>
            </a:pPr>
            <a:r>
              <a:rPr lang="zh-CN" altLang="en-US" sz="1400" b="1" dirty="0">
                <a:solidFill>
                  <a:prstClr val="black"/>
                </a:solidFill>
                <a:latin typeface="宋体" panose="02010600030101010101" pitchFamily="2" charset="-122"/>
                <a:ea typeface="宋体" panose="02010600030101010101" pitchFamily="2" charset="-122"/>
              </a:rPr>
              <a:t>监测意义：</a:t>
            </a:r>
            <a:r>
              <a:rPr lang="zh-CN" altLang="zh-CN" sz="1400" dirty="0">
                <a:latin typeface="宋体" panose="02010600030101010101" pitchFamily="2" charset="-122"/>
                <a:ea typeface="宋体" panose="02010600030101010101" pitchFamily="2" charset="-122"/>
              </a:rPr>
              <a:t>评价矿区地貌恢复与工程治理效果。</a:t>
            </a:r>
            <a:endParaRPr lang="zh-CN" altLang="en-US" sz="1400" b="1" dirty="0">
              <a:solidFill>
                <a:prstClr val="black"/>
              </a:solidFill>
              <a:latin typeface="宋体" panose="02010600030101010101" pitchFamily="2" charset="-122"/>
              <a:ea typeface="宋体" panose="02010600030101010101" pitchFamily="2" charset="-122"/>
            </a:endParaRPr>
          </a:p>
        </p:txBody>
      </p:sp>
      <p:sp>
        <p:nvSpPr>
          <p:cNvPr id="27" name="文本框 26">
            <a:extLst>
              <a:ext uri="{FF2B5EF4-FFF2-40B4-BE49-F238E27FC236}">
                <a16:creationId xmlns:a16="http://schemas.microsoft.com/office/drawing/2014/main" id="{F6489351-1F00-870D-47E2-5D09EA2E4531}"/>
              </a:ext>
            </a:extLst>
          </p:cNvPr>
          <p:cNvSpPr txBox="1"/>
          <p:nvPr/>
        </p:nvSpPr>
        <p:spPr>
          <a:xfrm>
            <a:off x="4796065" y="1239202"/>
            <a:ext cx="1057275" cy="358775"/>
          </a:xfrm>
          <a:prstGeom prst="rect">
            <a:avLst/>
          </a:prstGeom>
        </p:spPr>
        <p:txBody>
          <a:bodyPr wrap="none" rtlCol="0">
            <a:noAutofit/>
          </a:bodyPr>
          <a:lstStyle/>
          <a:p>
            <a:r>
              <a:rPr lang="zh-CN" altLang="en-US" sz="1600" b="1" dirty="0">
                <a:solidFill>
                  <a:srgbClr val="2F5597"/>
                </a:solidFill>
              </a:rPr>
              <a:t>监测内容</a:t>
            </a:r>
          </a:p>
        </p:txBody>
      </p:sp>
      <p:sp>
        <p:nvSpPr>
          <p:cNvPr id="28" name="文本框 27">
            <a:extLst>
              <a:ext uri="{FF2B5EF4-FFF2-40B4-BE49-F238E27FC236}">
                <a16:creationId xmlns:a16="http://schemas.microsoft.com/office/drawing/2014/main" id="{9C4B2891-150E-04E3-262D-59F5999781C9}"/>
              </a:ext>
            </a:extLst>
          </p:cNvPr>
          <p:cNvSpPr txBox="1"/>
          <p:nvPr/>
        </p:nvSpPr>
        <p:spPr>
          <a:xfrm>
            <a:off x="4907322" y="1562746"/>
            <a:ext cx="3877582" cy="1348511"/>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zh-CN" altLang="zh-CN" sz="1400" dirty="0">
                <a:latin typeface="宋体" panose="02010600030101010101" pitchFamily="2" charset="-122"/>
                <a:ea typeface="宋体" panose="02010600030101010101" pitchFamily="2" charset="-122"/>
              </a:rPr>
              <a:t>采坑回填</a:t>
            </a:r>
            <a:r>
              <a:rPr lang="zh-CN" altLang="en-US" sz="1400" dirty="0">
                <a:latin typeface="宋体" panose="02010600030101010101" pitchFamily="2" charset="-122"/>
                <a:ea typeface="宋体" panose="02010600030101010101" pitchFamily="2" charset="-122"/>
              </a:rPr>
              <a:t>与整治</a:t>
            </a:r>
            <a:r>
              <a:rPr lang="zh-CN" altLang="zh-CN" sz="1400" dirty="0">
                <a:latin typeface="宋体" panose="02010600030101010101" pitchFamily="2" charset="-122"/>
                <a:ea typeface="宋体" panose="02010600030101010101" pitchFamily="2" charset="-122"/>
              </a:rPr>
              <a:t>情况 </a:t>
            </a:r>
            <a:endParaRPr lang="en-US" altLang="zh-CN" sz="1400" dirty="0">
              <a:latin typeface="宋体" panose="02010600030101010101" pitchFamily="2" charset="-122"/>
              <a:ea typeface="宋体" panose="02010600030101010101" pitchFamily="2" charset="-122"/>
            </a:endParaRPr>
          </a:p>
          <a:p>
            <a:pPr marL="285750" indent="-285750" algn="just">
              <a:lnSpc>
                <a:spcPct val="150000"/>
              </a:lnSpc>
              <a:buFont typeface="Arial" panose="020B0604020202020204" pitchFamily="34" charset="0"/>
              <a:buChar char="•"/>
            </a:pPr>
            <a:r>
              <a:rPr lang="zh-CN" altLang="zh-CN" sz="1400" dirty="0">
                <a:latin typeface="宋体" panose="02010600030101010101" pitchFamily="2" charset="-122"/>
                <a:ea typeface="宋体" panose="02010600030101010101" pitchFamily="2" charset="-122"/>
              </a:rPr>
              <a:t>排土场整形</a:t>
            </a:r>
            <a:r>
              <a:rPr lang="zh-CN" altLang="en-US" sz="1400" dirty="0">
                <a:latin typeface="宋体" panose="02010600030101010101" pitchFamily="2" charset="-122"/>
                <a:ea typeface="宋体" panose="02010600030101010101" pitchFamily="2" charset="-122"/>
              </a:rPr>
              <a:t>与稳定</a:t>
            </a:r>
            <a:r>
              <a:rPr lang="zh-CN" altLang="zh-CN" sz="1400" dirty="0">
                <a:latin typeface="宋体" panose="02010600030101010101" pitchFamily="2" charset="-122"/>
                <a:ea typeface="宋体" panose="02010600030101010101" pitchFamily="2" charset="-122"/>
              </a:rPr>
              <a:t>效果</a:t>
            </a:r>
            <a:endParaRPr lang="en-US" altLang="zh-CN" sz="1400" dirty="0">
              <a:latin typeface="宋体" panose="02010600030101010101" pitchFamily="2" charset="-122"/>
              <a:ea typeface="宋体" panose="02010600030101010101" pitchFamily="2" charset="-122"/>
            </a:endParaRPr>
          </a:p>
          <a:p>
            <a:pPr marL="285750" indent="-285750" algn="just">
              <a:lnSpc>
                <a:spcPct val="150000"/>
              </a:lnSpc>
              <a:buFont typeface="Arial" panose="020B0604020202020204" pitchFamily="34" charset="0"/>
              <a:buChar char="•"/>
            </a:pPr>
            <a:r>
              <a:rPr lang="zh-CN" altLang="zh-CN" sz="1400" dirty="0">
                <a:latin typeface="宋体" panose="02010600030101010101" pitchFamily="2" charset="-122"/>
                <a:ea typeface="宋体" panose="02010600030101010101" pitchFamily="2" charset="-122"/>
              </a:rPr>
              <a:t>边坡稳定性 </a:t>
            </a:r>
            <a:endParaRPr lang="en-US" altLang="zh-CN" sz="1400" dirty="0">
              <a:latin typeface="宋体" panose="02010600030101010101" pitchFamily="2" charset="-122"/>
              <a:ea typeface="宋体" panose="02010600030101010101" pitchFamily="2" charset="-122"/>
            </a:endParaRPr>
          </a:p>
          <a:p>
            <a:pPr marL="285750" indent="-285750" algn="just">
              <a:lnSpc>
                <a:spcPct val="150000"/>
              </a:lnSpc>
              <a:buFont typeface="Arial" panose="020B0604020202020204" pitchFamily="34" charset="0"/>
              <a:buChar char="•"/>
            </a:pPr>
            <a:r>
              <a:rPr lang="zh-CN" altLang="zh-CN" sz="1400" dirty="0">
                <a:latin typeface="宋体" panose="02010600030101010101" pitchFamily="2" charset="-122"/>
                <a:ea typeface="宋体" panose="02010600030101010101" pitchFamily="2" charset="-122"/>
              </a:rPr>
              <a:t>地貌重塑过程</a:t>
            </a:r>
            <a:endParaRPr lang="zh-CN" altLang="en-US" sz="1400" dirty="0">
              <a:latin typeface="宋体" panose="02010600030101010101" pitchFamily="2" charset="-122"/>
              <a:ea typeface="宋体" panose="02010600030101010101" pitchFamily="2" charset="-122"/>
            </a:endParaRPr>
          </a:p>
        </p:txBody>
      </p:sp>
      <p:sp>
        <p:nvSpPr>
          <p:cNvPr id="29" name="文本框 28">
            <a:extLst>
              <a:ext uri="{FF2B5EF4-FFF2-40B4-BE49-F238E27FC236}">
                <a16:creationId xmlns:a16="http://schemas.microsoft.com/office/drawing/2014/main" id="{3F83CED6-78C3-E297-FFB8-B4011B086F3E}"/>
              </a:ext>
            </a:extLst>
          </p:cNvPr>
          <p:cNvSpPr txBox="1"/>
          <p:nvPr/>
        </p:nvSpPr>
        <p:spPr>
          <a:xfrm>
            <a:off x="4796065" y="2940582"/>
            <a:ext cx="1057275" cy="358775"/>
          </a:xfrm>
          <a:prstGeom prst="rect">
            <a:avLst/>
          </a:prstGeom>
        </p:spPr>
        <p:txBody>
          <a:bodyPr wrap="none" rtlCol="0">
            <a:noAutofit/>
          </a:bodyPr>
          <a:lstStyle/>
          <a:p>
            <a:r>
              <a:rPr lang="zh-CN" altLang="en-US" sz="1600" b="1" dirty="0">
                <a:solidFill>
                  <a:srgbClr val="2F5597"/>
                </a:solidFill>
              </a:rPr>
              <a:t>常用指标</a:t>
            </a:r>
          </a:p>
        </p:txBody>
      </p:sp>
      <p:sp>
        <p:nvSpPr>
          <p:cNvPr id="30" name="文本框 29">
            <a:extLst>
              <a:ext uri="{FF2B5EF4-FFF2-40B4-BE49-F238E27FC236}">
                <a16:creationId xmlns:a16="http://schemas.microsoft.com/office/drawing/2014/main" id="{520D1765-D933-90D5-AC85-2502D8AF4659}"/>
              </a:ext>
            </a:extLst>
          </p:cNvPr>
          <p:cNvSpPr txBox="1"/>
          <p:nvPr/>
        </p:nvSpPr>
        <p:spPr>
          <a:xfrm>
            <a:off x="4907322" y="3197683"/>
            <a:ext cx="3877582" cy="1020985"/>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zh-CN" altLang="en-US" sz="1400" dirty="0">
                <a:latin typeface="Times New Roman" panose="02020603050405020304" pitchFamily="18" charset="0"/>
                <a:ea typeface="宋体" panose="02010600030101010101" pitchFamily="2" charset="-122"/>
              </a:rPr>
              <a:t>高程</a:t>
            </a:r>
            <a:endParaRPr lang="en-US" altLang="zh-CN" sz="1400" dirty="0">
              <a:latin typeface="Times New Roman" panose="02020603050405020304" pitchFamily="18" charset="0"/>
              <a:ea typeface="宋体" panose="02010600030101010101" pitchFamily="2" charset="-122"/>
            </a:endParaRPr>
          </a:p>
          <a:p>
            <a:pPr marL="285750" indent="-285750" algn="just">
              <a:lnSpc>
                <a:spcPct val="150000"/>
              </a:lnSpc>
              <a:buFont typeface="Arial" panose="020B0604020202020204" pitchFamily="34" charset="0"/>
              <a:buChar char="•"/>
            </a:pPr>
            <a:r>
              <a:rPr lang="zh-CN" altLang="en-US" sz="1400" dirty="0">
                <a:latin typeface="Times New Roman" panose="02020603050405020304" pitchFamily="18" charset="0"/>
                <a:ea typeface="宋体" panose="02010600030101010101" pitchFamily="2" charset="-122"/>
              </a:rPr>
              <a:t>坡度</a:t>
            </a:r>
            <a:r>
              <a:rPr lang="zh-CN" altLang="zh-CN" sz="1400" dirty="0">
                <a:latin typeface="Times New Roman" panose="02020603050405020304" pitchFamily="18" charset="0"/>
                <a:ea typeface="宋体" panose="02010600030101010101" pitchFamily="2" charset="-122"/>
              </a:rPr>
              <a:t> </a:t>
            </a:r>
            <a:endParaRPr lang="en-US" altLang="zh-CN" sz="1400" dirty="0">
              <a:latin typeface="Times New Roman" panose="02020603050405020304" pitchFamily="18" charset="0"/>
              <a:ea typeface="宋体" panose="02010600030101010101" pitchFamily="2" charset="-122"/>
            </a:endParaRPr>
          </a:p>
          <a:p>
            <a:pPr marL="285750" indent="-285750" algn="just">
              <a:lnSpc>
                <a:spcPct val="150000"/>
              </a:lnSpc>
              <a:buFont typeface="Arial" panose="020B0604020202020204" pitchFamily="34" charset="0"/>
              <a:buChar char="•"/>
            </a:pPr>
            <a:r>
              <a:rPr lang="zh-CN" altLang="en-US" sz="1400" dirty="0">
                <a:latin typeface="Times New Roman" panose="02020603050405020304" pitchFamily="18" charset="0"/>
                <a:ea typeface="宋体" panose="02010600030101010101" pitchFamily="2" charset="-122"/>
              </a:rPr>
              <a:t>地形起伏度</a:t>
            </a:r>
          </a:p>
        </p:txBody>
      </p:sp>
      <p:sp>
        <p:nvSpPr>
          <p:cNvPr id="32" name="文本框 31">
            <a:extLst>
              <a:ext uri="{FF2B5EF4-FFF2-40B4-BE49-F238E27FC236}">
                <a16:creationId xmlns:a16="http://schemas.microsoft.com/office/drawing/2014/main" id="{1552C262-4E8C-2A17-BA79-4265BEF86CDB}"/>
              </a:ext>
            </a:extLst>
          </p:cNvPr>
          <p:cNvSpPr txBox="1"/>
          <p:nvPr/>
        </p:nvSpPr>
        <p:spPr>
          <a:xfrm>
            <a:off x="0" y="4759050"/>
            <a:ext cx="9144000" cy="369332"/>
          </a:xfrm>
          <a:prstGeom prst="rect">
            <a:avLst/>
          </a:prstGeom>
          <a:noFill/>
        </p:spPr>
        <p:txBody>
          <a:bodyPr wrap="square">
            <a:spAutoFit/>
          </a:bodyPr>
          <a:lstStyle/>
          <a:p>
            <a:pPr algn="ctr"/>
            <a:r>
              <a:rPr lang="zh-CN" altLang="en-US" dirty="0">
                <a:latin typeface="宋体" panose="02010600030101010101" pitchFamily="2" charset="-122"/>
                <a:ea typeface="宋体" panose="02010600030101010101" pitchFamily="2" charset="-122"/>
              </a:rPr>
              <a:t>植被恢复监测 </a:t>
            </a: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地形恢复监测             生态修复评价</a:t>
            </a:r>
            <a:endParaRPr lang="zh-CN" altLang="en-US" b="1" dirty="0">
              <a:latin typeface="宋体" panose="02010600030101010101" pitchFamily="2" charset="-122"/>
              <a:ea typeface="宋体" panose="02010600030101010101" pitchFamily="2" charset="-122"/>
            </a:endParaRPr>
          </a:p>
        </p:txBody>
      </p:sp>
      <p:sp>
        <p:nvSpPr>
          <p:cNvPr id="33" name="箭头: 右 32">
            <a:extLst>
              <a:ext uri="{FF2B5EF4-FFF2-40B4-BE49-F238E27FC236}">
                <a16:creationId xmlns:a16="http://schemas.microsoft.com/office/drawing/2014/main" id="{EF621356-69DD-EF5A-906C-B2F5FCB79042}"/>
              </a:ext>
            </a:extLst>
          </p:cNvPr>
          <p:cNvSpPr/>
          <p:nvPr/>
        </p:nvSpPr>
        <p:spPr>
          <a:xfrm>
            <a:off x="5102970" y="4839576"/>
            <a:ext cx="609600" cy="2082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6" name="图片 35">
            <a:extLst>
              <a:ext uri="{FF2B5EF4-FFF2-40B4-BE49-F238E27FC236}">
                <a16:creationId xmlns:a16="http://schemas.microsoft.com/office/drawing/2014/main" id="{5E897FF5-0891-3CFF-C1E0-C7FE489BC47F}"/>
              </a:ext>
            </a:extLst>
          </p:cNvPr>
          <p:cNvPicPr>
            <a:picLocks/>
          </p:cNvPicPr>
          <p:nvPr/>
        </p:nvPicPr>
        <p:blipFill>
          <a:blip r:embed="rId3" cstate="print">
            <a:extLst>
              <a:ext uri="{28A0092B-C50C-407E-A947-70E740481C1C}">
                <a14:useLocalDpi xmlns:a14="http://schemas.microsoft.com/office/drawing/2010/main" val="0"/>
              </a:ext>
            </a:extLst>
          </a:blip>
          <a:srcRect r="52663"/>
          <a:stretch>
            <a:fillRect/>
          </a:stretch>
        </p:blipFill>
        <p:spPr>
          <a:xfrm>
            <a:off x="2094210" y="1386308"/>
            <a:ext cx="2173189" cy="1811375"/>
          </a:xfrm>
          <a:prstGeom prst="rect">
            <a:avLst/>
          </a:prstGeom>
        </p:spPr>
      </p:pic>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15">
            <a:extLst>
              <a:ext uri="{FF2B5EF4-FFF2-40B4-BE49-F238E27FC236}">
                <a16:creationId xmlns:a16="http://schemas.microsoft.com/office/drawing/2014/main" id="{5BA79D37-297F-FABD-CF08-8DA6A15DC6DA}"/>
              </a:ext>
            </a:extLst>
          </p:cNvPr>
          <p:cNvCxnSpPr/>
          <p:nvPr/>
        </p:nvCxnSpPr>
        <p:spPr>
          <a:xfrm>
            <a:off x="4347936" y="1030749"/>
            <a:ext cx="0" cy="3574034"/>
          </a:xfrm>
          <a:prstGeom prst="line">
            <a:avLst/>
          </a:prstGeom>
          <a:ln w="25400">
            <a:solidFill>
              <a:srgbClr val="314865"/>
            </a:solidFill>
            <a:prstDash val="dash"/>
          </a:ln>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308CA923-8C14-ED9C-74AA-5C390223B8E0}"/>
              </a:ext>
            </a:extLst>
          </p:cNvPr>
          <p:cNvSpPr/>
          <p:nvPr/>
        </p:nvSpPr>
        <p:spPr>
          <a:xfrm>
            <a:off x="5168756" y="532601"/>
            <a:ext cx="3265170" cy="484505"/>
          </a:xfrm>
          <a:prstGeom prst="rect">
            <a:avLst/>
          </a:prstGeom>
          <a:solidFill>
            <a:srgbClr val="314865"/>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r>
              <a:rPr lang="zh-CN" altLang="en-US" b="1"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生态质量评价</a:t>
            </a:r>
          </a:p>
        </p:txBody>
      </p:sp>
      <p:sp>
        <p:nvSpPr>
          <p:cNvPr id="7" name="文本框 105">
            <a:extLst>
              <a:ext uri="{FF2B5EF4-FFF2-40B4-BE49-F238E27FC236}">
                <a16:creationId xmlns:a16="http://schemas.microsoft.com/office/drawing/2014/main" id="{E4E43543-2116-7AB0-ED18-A35486B1DC56}"/>
              </a:ext>
            </a:extLst>
          </p:cNvPr>
          <p:cNvSpPr txBox="1"/>
          <p:nvPr/>
        </p:nvSpPr>
        <p:spPr>
          <a:xfrm>
            <a:off x="0" y="69637"/>
            <a:ext cx="3450988" cy="400050"/>
          </a:xfrm>
          <a:prstGeom prst="rect">
            <a:avLst/>
          </a:prstGeom>
          <a:noFill/>
        </p:spPr>
        <p:txBody>
          <a:bodyPr wrap="square" rtlCol="0">
            <a:noAutofit/>
          </a:bodyPr>
          <a:lstStyle/>
          <a:p>
            <a:pPr defTabSz="685800"/>
            <a:r>
              <a:rPr lang="en-US" altLang="zh-CN" sz="2000" b="1" dirty="0">
                <a:solidFill>
                  <a:srgbClr val="314865"/>
                </a:solidFill>
                <a:latin typeface="Arial" panose="020B0604020202020204" pitchFamily="34" charset="0"/>
                <a:ea typeface="微软雅黑" panose="020B0503020204020204" pitchFamily="34" charset="-122"/>
                <a:sym typeface="Arial" panose="020B0604020202020204" pitchFamily="34" charset="0"/>
              </a:rPr>
              <a:t>02 </a:t>
            </a:r>
            <a:r>
              <a:rPr lang="zh-CN" altLang="en-US" sz="2000" b="1" dirty="0">
                <a:solidFill>
                  <a:srgbClr val="314865"/>
                </a:solidFill>
                <a:latin typeface="Arial" panose="020B0604020202020204" pitchFamily="34" charset="0"/>
                <a:ea typeface="微软雅黑" panose="020B0503020204020204" pitchFamily="34" charset="-122"/>
                <a:sym typeface="Arial" panose="020B0604020202020204" pitchFamily="34" charset="0"/>
              </a:rPr>
              <a:t>遥感监测内容</a:t>
            </a:r>
          </a:p>
        </p:txBody>
      </p:sp>
      <p:sp>
        <p:nvSpPr>
          <p:cNvPr id="8" name="文本框 7">
            <a:extLst>
              <a:ext uri="{FF2B5EF4-FFF2-40B4-BE49-F238E27FC236}">
                <a16:creationId xmlns:a16="http://schemas.microsoft.com/office/drawing/2014/main" id="{D141788A-27E0-D926-0888-1E037076111F}"/>
              </a:ext>
            </a:extLst>
          </p:cNvPr>
          <p:cNvSpPr txBox="1"/>
          <p:nvPr/>
        </p:nvSpPr>
        <p:spPr>
          <a:xfrm>
            <a:off x="142828" y="4209050"/>
            <a:ext cx="3807975" cy="673688"/>
          </a:xfrm>
          <a:prstGeom prst="rect">
            <a:avLst/>
          </a:prstGeom>
          <a:noFill/>
        </p:spPr>
        <p:txBody>
          <a:bodyPr wrap="square" rtlCol="0">
            <a:noAutofit/>
          </a:bodyPr>
          <a:lstStyle/>
          <a:p>
            <a:pPr defTabSz="685800">
              <a:spcBef>
                <a:spcPct val="0"/>
              </a:spcBef>
              <a:spcAft>
                <a:spcPct val="0"/>
              </a:spcAft>
            </a:pPr>
            <a:r>
              <a:rPr lang="zh-CN" altLang="en-US" sz="1400" b="1" dirty="0">
                <a:solidFill>
                  <a:prstClr val="black"/>
                </a:solidFill>
                <a:latin typeface="宋体" panose="02010600030101010101" pitchFamily="2" charset="-122"/>
                <a:ea typeface="宋体" panose="02010600030101010101" pitchFamily="2" charset="-122"/>
              </a:rPr>
              <a:t>监测意义：</a:t>
            </a:r>
            <a:r>
              <a:rPr lang="zh-CN" altLang="zh-CN" sz="1400" dirty="0">
                <a:latin typeface="宋体" panose="02010600030101010101" pitchFamily="2" charset="-122"/>
                <a:ea typeface="宋体" panose="02010600030101010101" pitchFamily="2" charset="-122"/>
              </a:rPr>
              <a:t>评价土地功能恢复情况。</a:t>
            </a:r>
            <a:endParaRPr lang="zh-CN" altLang="en-US" sz="1400" b="1" dirty="0">
              <a:solidFill>
                <a:prstClr val="black"/>
              </a:solidFill>
              <a:latin typeface="宋体" panose="02010600030101010101" pitchFamily="2" charset="-122"/>
              <a:ea typeface="宋体" panose="02010600030101010101" pitchFamily="2" charset="-122"/>
            </a:endParaRPr>
          </a:p>
        </p:txBody>
      </p:sp>
      <p:sp>
        <p:nvSpPr>
          <p:cNvPr id="10" name="矩形 9">
            <a:extLst>
              <a:ext uri="{FF2B5EF4-FFF2-40B4-BE49-F238E27FC236}">
                <a16:creationId xmlns:a16="http://schemas.microsoft.com/office/drawing/2014/main" id="{9576C3A0-A560-31E5-8E2E-5AADD1FEAD9E}"/>
              </a:ext>
            </a:extLst>
          </p:cNvPr>
          <p:cNvSpPr/>
          <p:nvPr/>
        </p:nvSpPr>
        <p:spPr>
          <a:xfrm>
            <a:off x="334619" y="532601"/>
            <a:ext cx="3265170" cy="484505"/>
          </a:xfrm>
          <a:prstGeom prst="rect">
            <a:avLst/>
          </a:prstGeom>
          <a:solidFill>
            <a:srgbClr val="314865"/>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r>
              <a:rPr lang="zh-CN" altLang="en-US" b="1" dirty="0">
                <a:solidFill>
                  <a:prstClr val="white"/>
                </a:solidFill>
                <a:latin typeface="微软雅黑" panose="020B0503020204020204" pitchFamily="34" charset="-122"/>
                <a:ea typeface="微软雅黑" panose="020B0503020204020204" pitchFamily="34" charset="-122"/>
                <a:cs typeface="微软雅黑" panose="020B0503020204020204" pitchFamily="34" charset="-122"/>
              </a:rPr>
              <a:t>土地复垦监测</a:t>
            </a:r>
          </a:p>
        </p:txBody>
      </p:sp>
      <p:sp>
        <p:nvSpPr>
          <p:cNvPr id="11" name="文本框 10">
            <a:extLst>
              <a:ext uri="{FF2B5EF4-FFF2-40B4-BE49-F238E27FC236}">
                <a16:creationId xmlns:a16="http://schemas.microsoft.com/office/drawing/2014/main" id="{F75220F5-AC96-A02E-D7B7-26443ECBE22B}"/>
              </a:ext>
            </a:extLst>
          </p:cNvPr>
          <p:cNvSpPr txBox="1"/>
          <p:nvPr/>
        </p:nvSpPr>
        <p:spPr>
          <a:xfrm>
            <a:off x="223362" y="1239202"/>
            <a:ext cx="1057275" cy="358775"/>
          </a:xfrm>
          <a:prstGeom prst="rect">
            <a:avLst/>
          </a:prstGeom>
        </p:spPr>
        <p:txBody>
          <a:bodyPr wrap="none" rtlCol="0">
            <a:noAutofit/>
          </a:bodyPr>
          <a:lstStyle/>
          <a:p>
            <a:r>
              <a:rPr lang="zh-CN" altLang="en-US" sz="1600" b="1" dirty="0">
                <a:solidFill>
                  <a:srgbClr val="2F5597"/>
                </a:solidFill>
              </a:rPr>
              <a:t>监测内容</a:t>
            </a:r>
          </a:p>
        </p:txBody>
      </p:sp>
      <p:sp>
        <p:nvSpPr>
          <p:cNvPr id="12" name="文本框 11">
            <a:extLst>
              <a:ext uri="{FF2B5EF4-FFF2-40B4-BE49-F238E27FC236}">
                <a16:creationId xmlns:a16="http://schemas.microsoft.com/office/drawing/2014/main" id="{604CC33C-6D41-8969-E034-299165ACF424}"/>
              </a:ext>
            </a:extLst>
          </p:cNvPr>
          <p:cNvSpPr txBox="1"/>
          <p:nvPr/>
        </p:nvSpPr>
        <p:spPr>
          <a:xfrm>
            <a:off x="271788" y="1646143"/>
            <a:ext cx="3877582" cy="1025345"/>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zh-CN" altLang="en-US" sz="1400" dirty="0">
                <a:latin typeface="宋体" panose="02010600030101010101" pitchFamily="2" charset="-122"/>
                <a:ea typeface="宋体" panose="02010600030101010101" pitchFamily="2" charset="-122"/>
              </a:rPr>
              <a:t>林地恢复</a:t>
            </a:r>
            <a:r>
              <a:rPr lang="zh-CN" altLang="zh-CN" sz="1400" dirty="0">
                <a:latin typeface="宋体" panose="02010600030101010101" pitchFamily="2" charset="-122"/>
                <a:ea typeface="宋体" panose="02010600030101010101" pitchFamily="2" charset="-122"/>
              </a:rPr>
              <a:t> </a:t>
            </a:r>
            <a:endParaRPr lang="en-US" altLang="zh-CN" sz="1400" dirty="0">
              <a:latin typeface="宋体" panose="02010600030101010101" pitchFamily="2" charset="-122"/>
              <a:ea typeface="宋体" panose="02010600030101010101" pitchFamily="2" charset="-122"/>
            </a:endParaRPr>
          </a:p>
          <a:p>
            <a:pPr marL="285750" indent="-285750" algn="just">
              <a:lnSpc>
                <a:spcPct val="150000"/>
              </a:lnSpc>
              <a:buFont typeface="Arial" panose="020B0604020202020204" pitchFamily="34" charset="0"/>
              <a:buChar char="•"/>
            </a:pPr>
            <a:r>
              <a:rPr lang="zh-CN" altLang="en-US" sz="1400" dirty="0">
                <a:latin typeface="宋体" panose="02010600030101010101" pitchFamily="2" charset="-122"/>
                <a:ea typeface="宋体" panose="02010600030101010101" pitchFamily="2" charset="-122"/>
              </a:rPr>
              <a:t>草地恢复</a:t>
            </a:r>
            <a:r>
              <a:rPr lang="zh-CN" altLang="zh-CN" sz="1400" dirty="0">
                <a:latin typeface="宋体" panose="02010600030101010101" pitchFamily="2" charset="-122"/>
                <a:ea typeface="宋体" panose="02010600030101010101" pitchFamily="2" charset="-122"/>
              </a:rPr>
              <a:t> </a:t>
            </a:r>
            <a:endParaRPr lang="en-US" altLang="zh-CN" sz="1400" dirty="0">
              <a:latin typeface="宋体" panose="02010600030101010101" pitchFamily="2" charset="-122"/>
              <a:ea typeface="宋体" panose="02010600030101010101" pitchFamily="2" charset="-122"/>
            </a:endParaRPr>
          </a:p>
          <a:p>
            <a:pPr marL="285750" indent="-285750" algn="just">
              <a:lnSpc>
                <a:spcPct val="150000"/>
              </a:lnSpc>
              <a:buFont typeface="Arial" panose="020B0604020202020204" pitchFamily="34" charset="0"/>
              <a:buChar char="•"/>
            </a:pPr>
            <a:r>
              <a:rPr lang="zh-CN" altLang="zh-CN" sz="1400" dirty="0">
                <a:latin typeface="宋体" panose="02010600030101010101" pitchFamily="2" charset="-122"/>
                <a:ea typeface="宋体" panose="02010600030101010101" pitchFamily="2" charset="-122"/>
              </a:rPr>
              <a:t>耕地恢复</a:t>
            </a:r>
            <a:endParaRPr lang="zh-CN" altLang="en-US" sz="1400" dirty="0">
              <a:latin typeface="宋体" panose="02010600030101010101" pitchFamily="2" charset="-122"/>
              <a:ea typeface="宋体" panose="02010600030101010101" pitchFamily="2" charset="-122"/>
            </a:endParaRPr>
          </a:p>
        </p:txBody>
      </p:sp>
      <p:sp>
        <p:nvSpPr>
          <p:cNvPr id="13" name="文本框 12">
            <a:extLst>
              <a:ext uri="{FF2B5EF4-FFF2-40B4-BE49-F238E27FC236}">
                <a16:creationId xmlns:a16="http://schemas.microsoft.com/office/drawing/2014/main" id="{755B5664-F511-F931-26CD-ACAEFCF55990}"/>
              </a:ext>
            </a:extLst>
          </p:cNvPr>
          <p:cNvSpPr txBox="1"/>
          <p:nvPr/>
        </p:nvSpPr>
        <p:spPr>
          <a:xfrm>
            <a:off x="202559" y="3429035"/>
            <a:ext cx="1057275" cy="358775"/>
          </a:xfrm>
          <a:prstGeom prst="rect">
            <a:avLst/>
          </a:prstGeom>
        </p:spPr>
        <p:txBody>
          <a:bodyPr wrap="none" rtlCol="0">
            <a:noAutofit/>
          </a:bodyPr>
          <a:lstStyle/>
          <a:p>
            <a:r>
              <a:rPr lang="zh-CN" altLang="en-US" sz="1600" b="1" dirty="0">
                <a:solidFill>
                  <a:srgbClr val="2F5597"/>
                </a:solidFill>
              </a:rPr>
              <a:t>常用指标</a:t>
            </a:r>
          </a:p>
        </p:txBody>
      </p:sp>
      <p:sp>
        <p:nvSpPr>
          <p:cNvPr id="14" name="文本框 13">
            <a:extLst>
              <a:ext uri="{FF2B5EF4-FFF2-40B4-BE49-F238E27FC236}">
                <a16:creationId xmlns:a16="http://schemas.microsoft.com/office/drawing/2014/main" id="{98DFE3D2-B9FF-ADDB-610C-65D8B18B1881}"/>
              </a:ext>
            </a:extLst>
          </p:cNvPr>
          <p:cNvSpPr txBox="1"/>
          <p:nvPr/>
        </p:nvSpPr>
        <p:spPr>
          <a:xfrm>
            <a:off x="287442" y="3726681"/>
            <a:ext cx="3877582" cy="379015"/>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zh-CN" altLang="en-US" sz="1400" dirty="0">
                <a:latin typeface="Times New Roman" panose="02020603050405020304" pitchFamily="18" charset="0"/>
              </a:rPr>
              <a:t>土地利用</a:t>
            </a:r>
            <a:r>
              <a:rPr lang="en-US" altLang="zh-CN" sz="1400" dirty="0">
                <a:latin typeface="Times New Roman" panose="02020603050405020304" pitchFamily="18" charset="0"/>
              </a:rPr>
              <a:t>/</a:t>
            </a:r>
            <a:r>
              <a:rPr lang="zh-CN" altLang="en-US" sz="1400" dirty="0">
                <a:latin typeface="Times New Roman" panose="02020603050405020304" pitchFamily="18" charset="0"/>
              </a:rPr>
              <a:t>覆被数据</a:t>
            </a:r>
            <a:endParaRPr lang="zh-CN" altLang="en-US" sz="1400" dirty="0">
              <a:latin typeface="Times New Roman" panose="02020603050405020304" pitchFamily="18" charset="0"/>
              <a:ea typeface="宋体" panose="02010600030101010101" pitchFamily="2" charset="-122"/>
            </a:endParaRPr>
          </a:p>
        </p:txBody>
      </p:sp>
      <p:sp>
        <p:nvSpPr>
          <p:cNvPr id="15" name="文本框 14">
            <a:extLst>
              <a:ext uri="{FF2B5EF4-FFF2-40B4-BE49-F238E27FC236}">
                <a16:creationId xmlns:a16="http://schemas.microsoft.com/office/drawing/2014/main" id="{C7DABA1C-1CC4-0EEE-49F0-7FBA82BF6B82}"/>
              </a:ext>
            </a:extLst>
          </p:cNvPr>
          <p:cNvSpPr txBox="1"/>
          <p:nvPr/>
        </p:nvSpPr>
        <p:spPr>
          <a:xfrm>
            <a:off x="4642928" y="4200378"/>
            <a:ext cx="3807975" cy="673688"/>
          </a:xfrm>
          <a:prstGeom prst="rect">
            <a:avLst/>
          </a:prstGeom>
          <a:noFill/>
        </p:spPr>
        <p:txBody>
          <a:bodyPr wrap="square" rtlCol="0">
            <a:noAutofit/>
          </a:bodyPr>
          <a:lstStyle/>
          <a:p>
            <a:pPr defTabSz="685800">
              <a:spcBef>
                <a:spcPct val="0"/>
              </a:spcBef>
              <a:spcAft>
                <a:spcPct val="0"/>
              </a:spcAft>
            </a:pPr>
            <a:r>
              <a:rPr lang="zh-CN" altLang="en-US" sz="1400" b="1" dirty="0">
                <a:solidFill>
                  <a:prstClr val="black"/>
                </a:solidFill>
                <a:latin typeface="宋体" panose="02010600030101010101" pitchFamily="2" charset="-122"/>
                <a:ea typeface="宋体" panose="02010600030101010101" pitchFamily="2" charset="-122"/>
              </a:rPr>
              <a:t>监测意义：</a:t>
            </a:r>
            <a:r>
              <a:rPr lang="zh-CN" altLang="zh-CN" sz="1400" dirty="0">
                <a:latin typeface="宋体" panose="02010600030101010101" pitchFamily="2" charset="-122"/>
                <a:ea typeface="宋体" panose="02010600030101010101" pitchFamily="2" charset="-122"/>
              </a:rPr>
              <a:t>综合评价矿区生态环境改善水平。</a:t>
            </a:r>
            <a:endParaRPr lang="zh-CN" altLang="en-US" sz="1400" b="1" dirty="0">
              <a:solidFill>
                <a:prstClr val="black"/>
              </a:solidFill>
              <a:latin typeface="宋体" panose="02010600030101010101" pitchFamily="2" charset="-122"/>
              <a:ea typeface="宋体" panose="02010600030101010101" pitchFamily="2" charset="-122"/>
            </a:endParaRPr>
          </a:p>
        </p:txBody>
      </p:sp>
      <p:sp>
        <p:nvSpPr>
          <p:cNvPr id="16" name="文本框 15">
            <a:extLst>
              <a:ext uri="{FF2B5EF4-FFF2-40B4-BE49-F238E27FC236}">
                <a16:creationId xmlns:a16="http://schemas.microsoft.com/office/drawing/2014/main" id="{B86FA909-1213-5BC3-41A3-55A57244C00A}"/>
              </a:ext>
            </a:extLst>
          </p:cNvPr>
          <p:cNvSpPr txBox="1"/>
          <p:nvPr/>
        </p:nvSpPr>
        <p:spPr>
          <a:xfrm>
            <a:off x="4572000" y="1207113"/>
            <a:ext cx="1057275" cy="358775"/>
          </a:xfrm>
          <a:prstGeom prst="rect">
            <a:avLst/>
          </a:prstGeom>
        </p:spPr>
        <p:txBody>
          <a:bodyPr wrap="none" rtlCol="0">
            <a:noAutofit/>
          </a:bodyPr>
          <a:lstStyle/>
          <a:p>
            <a:r>
              <a:rPr lang="zh-CN" altLang="en-US" sz="1600" b="1" dirty="0">
                <a:solidFill>
                  <a:srgbClr val="2F5597"/>
                </a:solidFill>
              </a:rPr>
              <a:t>监测内容</a:t>
            </a:r>
          </a:p>
        </p:txBody>
      </p:sp>
      <p:sp>
        <p:nvSpPr>
          <p:cNvPr id="17" name="文本框 16">
            <a:extLst>
              <a:ext uri="{FF2B5EF4-FFF2-40B4-BE49-F238E27FC236}">
                <a16:creationId xmlns:a16="http://schemas.microsoft.com/office/drawing/2014/main" id="{64DC7574-9D84-C402-A221-91134F3D6E47}"/>
              </a:ext>
            </a:extLst>
          </p:cNvPr>
          <p:cNvSpPr txBox="1"/>
          <p:nvPr/>
        </p:nvSpPr>
        <p:spPr>
          <a:xfrm>
            <a:off x="4556344" y="1505809"/>
            <a:ext cx="3877582" cy="705834"/>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zh-CN" altLang="zh-CN" sz="1400" dirty="0">
                <a:latin typeface="宋体" panose="02010600030101010101" pitchFamily="2" charset="-122"/>
                <a:ea typeface="宋体" panose="02010600030101010101" pitchFamily="2" charset="-122"/>
              </a:rPr>
              <a:t>生态环境整体变化 </a:t>
            </a:r>
            <a:endParaRPr lang="en-US" altLang="zh-CN" sz="1400" dirty="0">
              <a:latin typeface="宋体" panose="02010600030101010101" pitchFamily="2" charset="-122"/>
              <a:ea typeface="宋体" panose="02010600030101010101" pitchFamily="2" charset="-122"/>
            </a:endParaRPr>
          </a:p>
          <a:p>
            <a:pPr marL="285750" indent="-285750" algn="just">
              <a:lnSpc>
                <a:spcPct val="150000"/>
              </a:lnSpc>
              <a:buFont typeface="Arial" panose="020B0604020202020204" pitchFamily="34" charset="0"/>
              <a:buChar char="•"/>
            </a:pPr>
            <a:r>
              <a:rPr lang="zh-CN" altLang="zh-CN" sz="1400" dirty="0">
                <a:latin typeface="宋体" panose="02010600030101010101" pitchFamily="2" charset="-122"/>
                <a:ea typeface="宋体" panose="02010600030101010101" pitchFamily="2" charset="-122"/>
              </a:rPr>
              <a:t>修复前后生态质量差异 </a:t>
            </a:r>
            <a:endParaRPr lang="en-US" altLang="zh-CN" sz="1400" dirty="0">
              <a:latin typeface="宋体" panose="02010600030101010101" pitchFamily="2" charset="-122"/>
              <a:ea typeface="宋体" panose="02010600030101010101" pitchFamily="2" charset="-122"/>
            </a:endParaRPr>
          </a:p>
        </p:txBody>
      </p:sp>
      <p:sp>
        <p:nvSpPr>
          <p:cNvPr id="19" name="文本框 18">
            <a:extLst>
              <a:ext uri="{FF2B5EF4-FFF2-40B4-BE49-F238E27FC236}">
                <a16:creationId xmlns:a16="http://schemas.microsoft.com/office/drawing/2014/main" id="{9F7CD203-07B6-509D-1112-3E9B4C876FBA}"/>
              </a:ext>
            </a:extLst>
          </p:cNvPr>
          <p:cNvSpPr txBox="1"/>
          <p:nvPr/>
        </p:nvSpPr>
        <p:spPr>
          <a:xfrm>
            <a:off x="4637130" y="2936416"/>
            <a:ext cx="1057275" cy="358775"/>
          </a:xfrm>
          <a:prstGeom prst="rect">
            <a:avLst/>
          </a:prstGeom>
        </p:spPr>
        <p:txBody>
          <a:bodyPr wrap="none" rtlCol="0">
            <a:noAutofit/>
          </a:bodyPr>
          <a:lstStyle/>
          <a:p>
            <a:r>
              <a:rPr lang="zh-CN" altLang="en-US" sz="1600" b="1" dirty="0">
                <a:solidFill>
                  <a:srgbClr val="2F5597"/>
                </a:solidFill>
              </a:rPr>
              <a:t>常用指标</a:t>
            </a:r>
          </a:p>
        </p:txBody>
      </p:sp>
      <p:sp>
        <p:nvSpPr>
          <p:cNvPr id="20" name="文本框 19">
            <a:extLst>
              <a:ext uri="{FF2B5EF4-FFF2-40B4-BE49-F238E27FC236}">
                <a16:creationId xmlns:a16="http://schemas.microsoft.com/office/drawing/2014/main" id="{9796421C-89A7-FD3C-3E32-6D52FFFF3137}"/>
              </a:ext>
            </a:extLst>
          </p:cNvPr>
          <p:cNvSpPr txBox="1"/>
          <p:nvPr/>
        </p:nvSpPr>
        <p:spPr>
          <a:xfrm>
            <a:off x="4715531" y="3239448"/>
            <a:ext cx="3877582" cy="1025345"/>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zh-CN" altLang="zh-CN" sz="1400" dirty="0">
                <a:latin typeface="Times New Roman" panose="02020603050405020304" pitchFamily="18" charset="0"/>
                <a:ea typeface="宋体" panose="02010600030101010101" pitchFamily="2" charset="-122"/>
              </a:rPr>
              <a:t>RSEI（遥感生态指数） </a:t>
            </a:r>
            <a:endParaRPr lang="en-US" altLang="zh-CN" sz="1400" dirty="0">
              <a:latin typeface="Times New Roman" panose="02020603050405020304" pitchFamily="18" charset="0"/>
              <a:ea typeface="宋体" panose="02010600030101010101" pitchFamily="2" charset="-122"/>
            </a:endParaRPr>
          </a:p>
          <a:p>
            <a:pPr marL="285750" indent="-285750" algn="just">
              <a:lnSpc>
                <a:spcPct val="150000"/>
              </a:lnSpc>
              <a:buFont typeface="Arial" panose="020B0604020202020204" pitchFamily="34" charset="0"/>
              <a:buChar char="•"/>
            </a:pPr>
            <a:r>
              <a:rPr lang="zh-CN" altLang="zh-CN" sz="1400" dirty="0">
                <a:latin typeface="Times New Roman" panose="02020603050405020304" pitchFamily="18" charset="0"/>
                <a:ea typeface="宋体" panose="02010600030101010101" pitchFamily="2" charset="-122"/>
              </a:rPr>
              <a:t>MRSEI（改进遥感生态指数） </a:t>
            </a:r>
            <a:endParaRPr lang="en-US" altLang="zh-CN" sz="1400" dirty="0">
              <a:latin typeface="Times New Roman" panose="02020603050405020304" pitchFamily="18" charset="0"/>
              <a:ea typeface="宋体" panose="02010600030101010101" pitchFamily="2" charset="-122"/>
            </a:endParaRPr>
          </a:p>
          <a:p>
            <a:pPr marL="285750" indent="-285750" algn="just">
              <a:lnSpc>
                <a:spcPct val="150000"/>
              </a:lnSpc>
              <a:buFont typeface="Arial" panose="020B0604020202020204" pitchFamily="34" charset="0"/>
              <a:buChar char="•"/>
            </a:pPr>
            <a:r>
              <a:rPr lang="zh-CN" altLang="zh-CN" sz="1400" dirty="0">
                <a:latin typeface="Times New Roman" panose="02020603050405020304" pitchFamily="18" charset="0"/>
                <a:ea typeface="宋体" panose="02010600030101010101" pitchFamily="2" charset="-122"/>
              </a:rPr>
              <a:t>OM-RSEI（优化改进遥感生态指数）</a:t>
            </a:r>
            <a:endParaRPr lang="zh-CN" altLang="en-US" sz="1400" dirty="0">
              <a:latin typeface="Times New Roman" panose="02020603050405020304" pitchFamily="18" charset="0"/>
              <a:ea typeface="宋体" panose="02010600030101010101" pitchFamily="2" charset="-122"/>
            </a:endParaRPr>
          </a:p>
        </p:txBody>
      </p:sp>
      <p:sp>
        <p:nvSpPr>
          <p:cNvPr id="23" name="文本框 22">
            <a:extLst>
              <a:ext uri="{FF2B5EF4-FFF2-40B4-BE49-F238E27FC236}">
                <a16:creationId xmlns:a16="http://schemas.microsoft.com/office/drawing/2014/main" id="{6BA7181D-AE46-C137-7A9F-EBE014B97155}"/>
              </a:ext>
            </a:extLst>
          </p:cNvPr>
          <p:cNvSpPr txBox="1"/>
          <p:nvPr/>
        </p:nvSpPr>
        <p:spPr>
          <a:xfrm>
            <a:off x="0" y="4711106"/>
            <a:ext cx="9144000" cy="369332"/>
          </a:xfrm>
          <a:prstGeom prst="rect">
            <a:avLst/>
          </a:prstGeom>
          <a:noFill/>
        </p:spPr>
        <p:txBody>
          <a:bodyPr wrap="square">
            <a:spAutoFit/>
          </a:bodyPr>
          <a:lstStyle/>
          <a:p>
            <a:pPr algn="ctr"/>
            <a:r>
              <a:rPr lang="zh-CN" altLang="zh-CN" dirty="0">
                <a:latin typeface="宋体" panose="02010600030101010101" pitchFamily="2" charset="-122"/>
                <a:ea typeface="宋体" panose="02010600030101010101" pitchFamily="2" charset="-122"/>
              </a:rPr>
              <a:t>遥感监测已从单一植被恢复评价发展为土地复垦与生态质量综合评价</a:t>
            </a:r>
            <a:endParaRPr lang="zh-CN" altLang="en-US" dirty="0">
              <a:solidFill>
                <a:srgbClr val="FF0000"/>
              </a:solidFill>
              <a:latin typeface="宋体" panose="02010600030101010101" pitchFamily="2" charset="-122"/>
              <a:ea typeface="宋体" panose="02010600030101010101" pitchFamily="2" charset="-122"/>
            </a:endParaRPr>
          </a:p>
        </p:txBody>
      </p:sp>
      <p:pic>
        <p:nvPicPr>
          <p:cNvPr id="25" name="图片 24">
            <a:extLst>
              <a:ext uri="{FF2B5EF4-FFF2-40B4-BE49-F238E27FC236}">
                <a16:creationId xmlns:a16="http://schemas.microsoft.com/office/drawing/2014/main" id="{8A5A9618-02E5-73D2-CC1B-5EE1A64811F3}"/>
              </a:ext>
            </a:extLst>
          </p:cNvPr>
          <p:cNvPicPr>
            <a:picLocks/>
          </p:cNvPicPr>
          <p:nvPr/>
        </p:nvPicPr>
        <p:blipFill>
          <a:blip r:embed="rId3" cstate="print">
            <a:extLst>
              <a:ext uri="{28A0092B-C50C-407E-A947-70E740481C1C}">
                <a14:useLocalDpi xmlns:a14="http://schemas.microsoft.com/office/drawing/2010/main" val="0"/>
              </a:ext>
            </a:extLst>
          </a:blip>
          <a:srcRect b="47605"/>
          <a:stretch>
            <a:fillRect/>
          </a:stretch>
        </p:blipFill>
        <p:spPr>
          <a:xfrm>
            <a:off x="1627428" y="1291457"/>
            <a:ext cx="2537596" cy="2387058"/>
          </a:xfrm>
          <a:prstGeom prst="rect">
            <a:avLst/>
          </a:prstGeom>
        </p:spPr>
      </p:pic>
      <p:pic>
        <p:nvPicPr>
          <p:cNvPr id="27" name="图片 26">
            <a:extLst>
              <a:ext uri="{FF2B5EF4-FFF2-40B4-BE49-F238E27FC236}">
                <a16:creationId xmlns:a16="http://schemas.microsoft.com/office/drawing/2014/main" id="{3C4CB18C-1327-2806-BD52-417C17017E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90035" y="2176228"/>
            <a:ext cx="3340601" cy="11918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50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9210" y="62291"/>
            <a:ext cx="4572000" cy="3987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314865"/>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03 </a:t>
            </a:r>
            <a:r>
              <a:rPr kumimoji="0" lang="zh-CN" altLang="en-US" sz="2000" b="1" i="0" u="none" strike="noStrike" kern="1200" cap="none" spc="0" normalizeH="0" baseline="0" noProof="0" dirty="0">
                <a:ln>
                  <a:noFill/>
                </a:ln>
                <a:solidFill>
                  <a:srgbClr val="314865"/>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遥感监测方法</a:t>
            </a:r>
            <a:endParaRPr kumimoji="0" lang="zh-CN" altLang="en-US" sz="1400" b="1" i="0" u="none" strike="noStrike" kern="1200" cap="none" spc="0" normalizeH="0" baseline="0" noProof="0" dirty="0">
              <a:ln>
                <a:noFill/>
              </a:ln>
              <a:solidFill>
                <a:srgbClr val="314865"/>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pic>
        <p:nvPicPr>
          <p:cNvPr id="3" name="图片 2">
            <a:extLst>
              <a:ext uri="{FF2B5EF4-FFF2-40B4-BE49-F238E27FC236}">
                <a16:creationId xmlns:a16="http://schemas.microsoft.com/office/drawing/2014/main" id="{3E0C5658-F0F7-0C06-905A-C033B75446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6862" y="472747"/>
            <a:ext cx="6010275" cy="390525"/>
          </a:xfrm>
          <a:prstGeom prst="rect">
            <a:avLst/>
          </a:prstGeom>
        </p:spPr>
      </p:pic>
      <p:sp>
        <p:nvSpPr>
          <p:cNvPr id="16" name="矩形 15">
            <a:extLst>
              <a:ext uri="{FF2B5EF4-FFF2-40B4-BE49-F238E27FC236}">
                <a16:creationId xmlns:a16="http://schemas.microsoft.com/office/drawing/2014/main" id="{AF5D29D7-A6CA-C8A6-BC09-0533162C4EAA}"/>
              </a:ext>
            </a:extLst>
          </p:cNvPr>
          <p:cNvSpPr/>
          <p:nvPr/>
        </p:nvSpPr>
        <p:spPr>
          <a:xfrm>
            <a:off x="198235" y="992335"/>
            <a:ext cx="4104000" cy="1764000"/>
          </a:xfrm>
          <a:prstGeom prst="rect">
            <a:avLst/>
          </a:prstGeom>
          <a:solidFill>
            <a:schemeClr val="bg1"/>
          </a:solidFill>
          <a:ln>
            <a:solidFill>
              <a:schemeClr val="tx1"/>
            </a:solidFill>
            <a:prstDash val="sys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CN" altLang="en-US" dirty="0"/>
          </a:p>
        </p:txBody>
      </p:sp>
      <p:sp>
        <p:nvSpPr>
          <p:cNvPr id="20" name="矩形 19">
            <a:extLst>
              <a:ext uri="{FF2B5EF4-FFF2-40B4-BE49-F238E27FC236}">
                <a16:creationId xmlns:a16="http://schemas.microsoft.com/office/drawing/2014/main" id="{B8E9F731-11D9-2E8B-1157-4456C889DE20}"/>
              </a:ext>
            </a:extLst>
          </p:cNvPr>
          <p:cNvSpPr/>
          <p:nvPr/>
        </p:nvSpPr>
        <p:spPr>
          <a:xfrm>
            <a:off x="4728663" y="987382"/>
            <a:ext cx="4104000" cy="1764000"/>
          </a:xfrm>
          <a:prstGeom prst="rect">
            <a:avLst/>
          </a:prstGeom>
          <a:solidFill>
            <a:schemeClr val="bg1"/>
          </a:solidFill>
          <a:ln>
            <a:solidFill>
              <a:schemeClr val="tx1"/>
            </a:solidFill>
            <a:prstDash val="sys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CN" altLang="en-US" dirty="0"/>
          </a:p>
        </p:txBody>
      </p:sp>
      <p:sp>
        <p:nvSpPr>
          <p:cNvPr id="26" name="矩形 25">
            <a:extLst>
              <a:ext uri="{FF2B5EF4-FFF2-40B4-BE49-F238E27FC236}">
                <a16:creationId xmlns:a16="http://schemas.microsoft.com/office/drawing/2014/main" id="{EC9BA07D-3E52-A634-BB74-A0D6155FCA79}"/>
              </a:ext>
            </a:extLst>
          </p:cNvPr>
          <p:cNvSpPr/>
          <p:nvPr/>
        </p:nvSpPr>
        <p:spPr>
          <a:xfrm>
            <a:off x="4746620" y="2974626"/>
            <a:ext cx="4104000" cy="1764000"/>
          </a:xfrm>
          <a:prstGeom prst="rect">
            <a:avLst/>
          </a:prstGeom>
          <a:solidFill>
            <a:schemeClr val="bg1"/>
          </a:solidFill>
          <a:ln>
            <a:solidFill>
              <a:schemeClr val="tx1"/>
            </a:solidFill>
            <a:prstDash val="sys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just"/>
            <a:r>
              <a:rPr lang="zh-CN" altLang="zh-CN" dirty="0"/>
              <a:t>LUCC</a:t>
            </a:r>
            <a:endParaRPr lang="zh-CN" altLang="zh-CN" dirty="0">
              <a:solidFill>
                <a:schemeClr val="tx1"/>
              </a:solidFill>
            </a:endParaRPr>
          </a:p>
        </p:txBody>
      </p:sp>
      <p:sp>
        <p:nvSpPr>
          <p:cNvPr id="27" name="矩形 26">
            <a:extLst>
              <a:ext uri="{FF2B5EF4-FFF2-40B4-BE49-F238E27FC236}">
                <a16:creationId xmlns:a16="http://schemas.microsoft.com/office/drawing/2014/main" id="{8FC67DDD-F561-FBC5-6AF4-C809282F86F9}"/>
              </a:ext>
            </a:extLst>
          </p:cNvPr>
          <p:cNvSpPr/>
          <p:nvPr/>
        </p:nvSpPr>
        <p:spPr>
          <a:xfrm>
            <a:off x="198236" y="2990778"/>
            <a:ext cx="4104000" cy="1764000"/>
          </a:xfrm>
          <a:prstGeom prst="rect">
            <a:avLst/>
          </a:prstGeom>
          <a:solidFill>
            <a:schemeClr val="bg1"/>
          </a:solidFill>
          <a:ln>
            <a:solidFill>
              <a:schemeClr val="tx1"/>
            </a:solidFill>
            <a:prstDash val="sysDot"/>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CN" altLang="en-US" dirty="0"/>
          </a:p>
        </p:txBody>
      </p:sp>
      <p:sp>
        <p:nvSpPr>
          <p:cNvPr id="31" name="文本框 30">
            <a:extLst>
              <a:ext uri="{FF2B5EF4-FFF2-40B4-BE49-F238E27FC236}">
                <a16:creationId xmlns:a16="http://schemas.microsoft.com/office/drawing/2014/main" id="{F4857F34-E020-BD69-3CE7-2DBAA5F43C7F}"/>
              </a:ext>
            </a:extLst>
          </p:cNvPr>
          <p:cNvSpPr txBox="1"/>
          <p:nvPr/>
        </p:nvSpPr>
        <p:spPr>
          <a:xfrm>
            <a:off x="-39297" y="4804946"/>
            <a:ext cx="9144000" cy="338554"/>
          </a:xfrm>
          <a:prstGeom prst="rect">
            <a:avLst/>
          </a:prstGeom>
          <a:noFill/>
        </p:spPr>
        <p:txBody>
          <a:bodyPr wrap="square">
            <a:spAutoFit/>
          </a:bodyPr>
          <a:lstStyle/>
          <a:p>
            <a:pPr algn="ctr">
              <a:buNone/>
            </a:pPr>
            <a:r>
              <a:rPr lang="zh-CN" altLang="zh-CN" sz="1600" b="1" dirty="0">
                <a:latin typeface="宋体" panose="02010600030101010101" pitchFamily="2" charset="-122"/>
                <a:ea typeface="宋体" panose="02010600030101010101" pitchFamily="2" charset="-122"/>
              </a:rPr>
              <a:t>露天矿区遥感监测已形成“多源数据获取—特征提取—变化</a:t>
            </a:r>
            <a:r>
              <a:rPr lang="zh-CN" altLang="en-US" sz="1600" b="1" dirty="0">
                <a:latin typeface="宋体" panose="02010600030101010101" pitchFamily="2" charset="-122"/>
                <a:ea typeface="宋体" panose="02010600030101010101" pitchFamily="2" charset="-122"/>
              </a:rPr>
              <a:t>监测</a:t>
            </a:r>
            <a:r>
              <a:rPr lang="zh-CN" altLang="zh-CN" sz="1600" b="1" dirty="0">
                <a:latin typeface="宋体" panose="02010600030101010101" pitchFamily="2" charset="-122"/>
                <a:ea typeface="宋体" panose="02010600030101010101" pitchFamily="2" charset="-122"/>
              </a:rPr>
              <a:t>—生态评价”的完整技术体系。</a:t>
            </a:r>
            <a:endParaRPr lang="zh-CN" altLang="zh-CN" sz="1600" dirty="0">
              <a:latin typeface="宋体" panose="02010600030101010101" pitchFamily="2" charset="-122"/>
              <a:ea typeface="宋体" panose="02010600030101010101" pitchFamily="2" charset="-122"/>
            </a:endParaRPr>
          </a:p>
        </p:txBody>
      </p:sp>
      <p:sp>
        <p:nvSpPr>
          <p:cNvPr id="32" name="文本框 31">
            <a:extLst>
              <a:ext uri="{FF2B5EF4-FFF2-40B4-BE49-F238E27FC236}">
                <a16:creationId xmlns:a16="http://schemas.microsoft.com/office/drawing/2014/main" id="{51CE522C-990F-B07F-370A-7C4ED138EAEC}"/>
              </a:ext>
            </a:extLst>
          </p:cNvPr>
          <p:cNvSpPr txBox="1"/>
          <p:nvPr/>
        </p:nvSpPr>
        <p:spPr>
          <a:xfrm>
            <a:off x="137276" y="948998"/>
            <a:ext cx="1330960" cy="338554"/>
          </a:xfrm>
          <a:prstGeom prst="rect">
            <a:avLst/>
          </a:prstGeom>
          <a:noFill/>
        </p:spPr>
        <p:txBody>
          <a:bodyPr wrap="square" rtlCol="0">
            <a:spAutoFit/>
          </a:bodyPr>
          <a:lstStyle/>
          <a:p>
            <a:r>
              <a:rPr lang="zh-CN" altLang="en-US" sz="1600" b="1" dirty="0">
                <a:latin typeface="宋体" panose="02010600030101010101" pitchFamily="2" charset="-122"/>
                <a:ea typeface="宋体" panose="02010600030101010101" pitchFamily="2" charset="-122"/>
              </a:rPr>
              <a:t>数据获取</a:t>
            </a:r>
          </a:p>
        </p:txBody>
      </p:sp>
      <p:sp>
        <p:nvSpPr>
          <p:cNvPr id="35" name="文本框 34">
            <a:extLst>
              <a:ext uri="{FF2B5EF4-FFF2-40B4-BE49-F238E27FC236}">
                <a16:creationId xmlns:a16="http://schemas.microsoft.com/office/drawing/2014/main" id="{18FE1472-507C-F776-2F7C-0652F2C3FDBB}"/>
              </a:ext>
            </a:extLst>
          </p:cNvPr>
          <p:cNvSpPr txBox="1"/>
          <p:nvPr/>
        </p:nvSpPr>
        <p:spPr>
          <a:xfrm>
            <a:off x="4667703" y="944046"/>
            <a:ext cx="1330960" cy="338554"/>
          </a:xfrm>
          <a:prstGeom prst="rect">
            <a:avLst/>
          </a:prstGeom>
          <a:noFill/>
        </p:spPr>
        <p:txBody>
          <a:bodyPr wrap="square" rtlCol="0">
            <a:spAutoFit/>
          </a:bodyPr>
          <a:lstStyle/>
          <a:p>
            <a:r>
              <a:rPr lang="zh-CN" altLang="en-US" sz="1600" b="1" dirty="0">
                <a:latin typeface="宋体" panose="02010600030101010101" pitchFamily="2" charset="-122"/>
                <a:ea typeface="宋体" panose="02010600030101010101" pitchFamily="2" charset="-122"/>
              </a:rPr>
              <a:t>影像预处理</a:t>
            </a:r>
          </a:p>
        </p:txBody>
      </p:sp>
      <p:sp>
        <p:nvSpPr>
          <p:cNvPr id="36" name="文本框 35">
            <a:extLst>
              <a:ext uri="{FF2B5EF4-FFF2-40B4-BE49-F238E27FC236}">
                <a16:creationId xmlns:a16="http://schemas.microsoft.com/office/drawing/2014/main" id="{EA68039A-B5D3-DEBD-C58A-B5A27A04CEFC}"/>
              </a:ext>
            </a:extLst>
          </p:cNvPr>
          <p:cNvSpPr txBox="1"/>
          <p:nvPr/>
        </p:nvSpPr>
        <p:spPr>
          <a:xfrm>
            <a:off x="4685660" y="2947441"/>
            <a:ext cx="1330960" cy="338554"/>
          </a:xfrm>
          <a:prstGeom prst="rect">
            <a:avLst/>
          </a:prstGeom>
          <a:noFill/>
        </p:spPr>
        <p:txBody>
          <a:bodyPr wrap="square" rtlCol="0">
            <a:spAutoFit/>
          </a:bodyPr>
          <a:lstStyle/>
          <a:p>
            <a:r>
              <a:rPr lang="zh-CN" altLang="en-US" sz="1600" b="1" dirty="0">
                <a:latin typeface="宋体" panose="02010600030101010101" pitchFamily="2" charset="-122"/>
                <a:ea typeface="宋体" panose="02010600030101010101" pitchFamily="2" charset="-122"/>
              </a:rPr>
              <a:t>信息提取</a:t>
            </a:r>
          </a:p>
        </p:txBody>
      </p:sp>
      <p:sp>
        <p:nvSpPr>
          <p:cNvPr id="37" name="文本框 36">
            <a:extLst>
              <a:ext uri="{FF2B5EF4-FFF2-40B4-BE49-F238E27FC236}">
                <a16:creationId xmlns:a16="http://schemas.microsoft.com/office/drawing/2014/main" id="{B2D3DE15-2391-0779-E9E0-52CAF43D916F}"/>
              </a:ext>
            </a:extLst>
          </p:cNvPr>
          <p:cNvSpPr txBox="1"/>
          <p:nvPr/>
        </p:nvSpPr>
        <p:spPr>
          <a:xfrm>
            <a:off x="137276" y="2947441"/>
            <a:ext cx="1849120" cy="338554"/>
          </a:xfrm>
          <a:prstGeom prst="rect">
            <a:avLst/>
          </a:prstGeom>
          <a:noFill/>
        </p:spPr>
        <p:txBody>
          <a:bodyPr wrap="square" rtlCol="0">
            <a:spAutoFit/>
          </a:bodyPr>
          <a:lstStyle/>
          <a:p>
            <a:r>
              <a:rPr lang="zh-CN" altLang="en-US" sz="1600" b="1" dirty="0">
                <a:latin typeface="宋体" panose="02010600030101010101" pitchFamily="2" charset="-122"/>
                <a:ea typeface="宋体" panose="02010600030101010101" pitchFamily="2" charset="-122"/>
              </a:rPr>
              <a:t>变化监测与评价</a:t>
            </a:r>
          </a:p>
        </p:txBody>
      </p:sp>
      <p:pic>
        <p:nvPicPr>
          <p:cNvPr id="40" name="图片 39" descr="地図・空中写真・地理調査 | 国土地理院">
            <a:extLst>
              <a:ext uri="{FF2B5EF4-FFF2-40B4-BE49-F238E27FC236}">
                <a16:creationId xmlns:a16="http://schemas.microsoft.com/office/drawing/2014/main" id="{2974E7CC-7851-4BD8-8EC8-D195E5BC6685}"/>
              </a:ext>
            </a:extLst>
          </p:cNvPr>
          <p:cNvPicPr>
            <a:picLocks noChangeAspect="1"/>
          </p:cNvPicPr>
          <p:nvPr/>
        </p:nvPicPr>
        <p:blipFill>
          <a:blip r:embed="rId3"/>
          <a:stretch>
            <a:fillRect/>
          </a:stretch>
        </p:blipFill>
        <p:spPr>
          <a:xfrm>
            <a:off x="2528757" y="1014907"/>
            <a:ext cx="1742440" cy="975396"/>
          </a:xfrm>
          <a:prstGeom prst="rect">
            <a:avLst/>
          </a:prstGeom>
        </p:spPr>
      </p:pic>
      <p:sp>
        <p:nvSpPr>
          <p:cNvPr id="43" name="文本框 42">
            <a:extLst>
              <a:ext uri="{FF2B5EF4-FFF2-40B4-BE49-F238E27FC236}">
                <a16:creationId xmlns:a16="http://schemas.microsoft.com/office/drawing/2014/main" id="{A8B7943B-614F-104C-E75A-150ACBB0BC3E}"/>
              </a:ext>
            </a:extLst>
          </p:cNvPr>
          <p:cNvSpPr txBox="1"/>
          <p:nvPr/>
        </p:nvSpPr>
        <p:spPr>
          <a:xfrm>
            <a:off x="219897" y="1275210"/>
            <a:ext cx="2580729" cy="1169551"/>
          </a:xfrm>
          <a:prstGeom prst="rect">
            <a:avLst/>
          </a:prstGeom>
          <a:noFill/>
        </p:spPr>
        <p:txBody>
          <a:bodyPr wrap="square">
            <a:spAutoFit/>
          </a:bodyPr>
          <a:lstStyle/>
          <a:p>
            <a:pPr algn="just"/>
            <a:r>
              <a:rPr lang="zh-CN" altLang="zh-CN" sz="1400" dirty="0">
                <a:latin typeface="Times New Roman" panose="02020603050405020304" pitchFamily="18" charset="0"/>
                <a:ea typeface="宋体" panose="02010600030101010101" pitchFamily="2" charset="-122"/>
              </a:rPr>
              <a:t>Landsat</a:t>
            </a:r>
            <a:r>
              <a:rPr lang="en-US" altLang="zh-CN" sz="1400" dirty="0">
                <a:latin typeface="Times New Roman" panose="02020603050405020304" pitchFamily="18" charset="0"/>
                <a:ea typeface="宋体" panose="02010600030101010101" pitchFamily="2" charset="-122"/>
              </a:rPr>
              <a:t>    —</a:t>
            </a:r>
            <a:r>
              <a:rPr lang="zh-CN" altLang="en-US" sz="1400" dirty="0">
                <a:latin typeface="Times New Roman" panose="02020603050405020304" pitchFamily="18" charset="0"/>
                <a:ea typeface="宋体" panose="02010600030101010101" pitchFamily="2" charset="-122"/>
              </a:rPr>
              <a:t>长时序监测</a:t>
            </a:r>
            <a:endParaRPr lang="en-US" altLang="zh-CN" sz="1400" dirty="0">
              <a:latin typeface="Times New Roman" panose="02020603050405020304" pitchFamily="18" charset="0"/>
              <a:ea typeface="宋体" panose="02010600030101010101" pitchFamily="2" charset="-122"/>
            </a:endParaRPr>
          </a:p>
          <a:p>
            <a:pPr algn="just"/>
            <a:r>
              <a:rPr lang="zh-CN" altLang="zh-CN" sz="1400" dirty="0">
                <a:latin typeface="Times New Roman" panose="02020603050405020304" pitchFamily="18" charset="0"/>
                <a:ea typeface="宋体" panose="02010600030101010101" pitchFamily="2" charset="-122"/>
              </a:rPr>
              <a:t>Sentinel-2</a:t>
            </a:r>
            <a:r>
              <a:rPr lang="en-US" altLang="zh-CN" sz="1400" dirty="0">
                <a:latin typeface="Times New Roman" panose="02020603050405020304" pitchFamily="18" charset="0"/>
                <a:ea typeface="宋体" panose="02010600030101010101" pitchFamily="2" charset="-122"/>
              </a:rPr>
              <a:t> —</a:t>
            </a:r>
            <a:r>
              <a:rPr lang="zh-CN" altLang="en-US" sz="1400" dirty="0">
                <a:latin typeface="Times New Roman" panose="02020603050405020304" pitchFamily="18" charset="0"/>
                <a:ea typeface="宋体" panose="02010600030101010101" pitchFamily="2" charset="-122"/>
              </a:rPr>
              <a:t>土地覆盖分类</a:t>
            </a:r>
            <a:endParaRPr lang="en-US" altLang="zh-CN" sz="1400" dirty="0">
              <a:latin typeface="Times New Roman" panose="02020603050405020304" pitchFamily="18" charset="0"/>
              <a:ea typeface="宋体" panose="02010600030101010101" pitchFamily="2" charset="-122"/>
            </a:endParaRPr>
          </a:p>
          <a:p>
            <a:pPr algn="just"/>
            <a:r>
              <a:rPr lang="zh-CN" altLang="en-US" sz="1400" dirty="0">
                <a:latin typeface="Times New Roman" panose="02020603050405020304" pitchFamily="18" charset="0"/>
                <a:ea typeface="宋体" panose="02010600030101010101" pitchFamily="2" charset="-122"/>
              </a:rPr>
              <a:t>无人机    </a:t>
            </a:r>
            <a:r>
              <a:rPr lang="en-US" altLang="zh-CN" sz="1400" dirty="0">
                <a:latin typeface="Times New Roman" panose="02020603050405020304" pitchFamily="18" charset="0"/>
                <a:ea typeface="宋体" panose="02010600030101010101" pitchFamily="2" charset="-122"/>
              </a:rPr>
              <a:t> —</a:t>
            </a:r>
            <a:r>
              <a:rPr lang="zh-CN" altLang="en-US" sz="1400" dirty="0">
                <a:latin typeface="Times New Roman" panose="02020603050405020304" pitchFamily="18" charset="0"/>
                <a:ea typeface="宋体" panose="02010600030101010101" pitchFamily="2" charset="-122"/>
              </a:rPr>
              <a:t>精细化调查</a:t>
            </a:r>
            <a:endParaRPr lang="en-US" altLang="zh-CN" sz="1400" dirty="0">
              <a:latin typeface="Times New Roman" panose="02020603050405020304" pitchFamily="18" charset="0"/>
              <a:ea typeface="宋体" panose="02010600030101010101" pitchFamily="2" charset="-122"/>
            </a:endParaRPr>
          </a:p>
          <a:p>
            <a:pPr algn="just"/>
            <a:r>
              <a:rPr lang="en-US" altLang="zh-CN" sz="1400" dirty="0">
                <a:latin typeface="Times New Roman" panose="02020603050405020304" pitchFamily="18" charset="0"/>
                <a:ea typeface="宋体" panose="02010600030101010101" pitchFamily="2" charset="-122"/>
              </a:rPr>
              <a:t>LiDAR      —</a:t>
            </a:r>
            <a:r>
              <a:rPr lang="zh-CN" altLang="en-US" sz="1400" dirty="0">
                <a:latin typeface="Times New Roman" panose="02020603050405020304" pitchFamily="18" charset="0"/>
                <a:ea typeface="宋体" panose="02010600030101010101" pitchFamily="2" charset="-122"/>
              </a:rPr>
              <a:t>三维地形监测</a:t>
            </a:r>
            <a:endParaRPr lang="en-US" altLang="zh-CN" sz="1400" dirty="0">
              <a:latin typeface="Times New Roman" panose="02020603050405020304" pitchFamily="18" charset="0"/>
              <a:ea typeface="宋体" panose="02010600030101010101" pitchFamily="2" charset="-122"/>
            </a:endParaRPr>
          </a:p>
          <a:p>
            <a:pPr algn="just"/>
            <a:r>
              <a:rPr lang="en-US" altLang="zh-CN" sz="1400" dirty="0">
                <a:latin typeface="Times New Roman" panose="02020603050405020304" pitchFamily="18" charset="0"/>
                <a:ea typeface="宋体" panose="02010600030101010101" pitchFamily="2" charset="-122"/>
              </a:rPr>
              <a:t>SAR        —</a:t>
            </a:r>
            <a:r>
              <a:rPr lang="zh-CN" altLang="en-US" sz="1400" dirty="0">
                <a:latin typeface="Times New Roman" panose="02020603050405020304" pitchFamily="18" charset="0"/>
                <a:ea typeface="宋体" panose="02010600030101010101" pitchFamily="2" charset="-122"/>
              </a:rPr>
              <a:t>地表形变监测</a:t>
            </a:r>
          </a:p>
        </p:txBody>
      </p:sp>
      <p:sp>
        <p:nvSpPr>
          <p:cNvPr id="49" name="文本框 48">
            <a:extLst>
              <a:ext uri="{FF2B5EF4-FFF2-40B4-BE49-F238E27FC236}">
                <a16:creationId xmlns:a16="http://schemas.microsoft.com/office/drawing/2014/main" id="{68BECC4C-701C-0F3E-2D26-7A4197CED0C7}"/>
              </a:ext>
            </a:extLst>
          </p:cNvPr>
          <p:cNvSpPr txBox="1"/>
          <p:nvPr/>
        </p:nvSpPr>
        <p:spPr>
          <a:xfrm>
            <a:off x="198236" y="2440691"/>
            <a:ext cx="4103999" cy="307777"/>
          </a:xfrm>
          <a:prstGeom prst="rect">
            <a:avLst/>
          </a:prstGeom>
          <a:noFill/>
        </p:spPr>
        <p:txBody>
          <a:bodyPr wrap="square">
            <a:spAutoFit/>
          </a:bodyPr>
          <a:lstStyle/>
          <a:p>
            <a:pPr algn="ctr"/>
            <a:r>
              <a:rPr lang="zh-CN" altLang="zh-CN" sz="1400" dirty="0">
                <a:latin typeface="宋体" panose="02010600030101010101" pitchFamily="2" charset="-122"/>
                <a:ea typeface="宋体" panose="02010600030101010101" pitchFamily="2" charset="-122"/>
              </a:rPr>
              <a:t>构建多尺度、多时相遥感数据体系</a:t>
            </a:r>
            <a:endParaRPr lang="zh-CN" altLang="en-US" sz="1400" dirty="0">
              <a:latin typeface="宋体" panose="02010600030101010101" pitchFamily="2" charset="-122"/>
              <a:ea typeface="宋体" panose="02010600030101010101" pitchFamily="2" charset="-122"/>
            </a:endParaRPr>
          </a:p>
        </p:txBody>
      </p:sp>
      <p:sp>
        <p:nvSpPr>
          <p:cNvPr id="52" name="文本框 51">
            <a:extLst>
              <a:ext uri="{FF2B5EF4-FFF2-40B4-BE49-F238E27FC236}">
                <a16:creationId xmlns:a16="http://schemas.microsoft.com/office/drawing/2014/main" id="{2792AC24-2726-66A0-E215-71438D65C222}"/>
              </a:ext>
            </a:extLst>
          </p:cNvPr>
          <p:cNvSpPr txBox="1"/>
          <p:nvPr/>
        </p:nvSpPr>
        <p:spPr>
          <a:xfrm>
            <a:off x="5449952" y="1210626"/>
            <a:ext cx="1920382" cy="1169551"/>
          </a:xfrm>
          <a:prstGeom prst="rect">
            <a:avLst/>
          </a:prstGeom>
          <a:noFill/>
        </p:spPr>
        <p:txBody>
          <a:bodyPr wrap="square">
            <a:spAutoFit/>
          </a:bodyPr>
          <a:lstStyle/>
          <a:p>
            <a:pPr marL="285750" indent="-285750">
              <a:buFont typeface="Arial" panose="020B0604020202020204" pitchFamily="34" charset="0"/>
              <a:buChar char="•"/>
            </a:pPr>
            <a:r>
              <a:rPr lang="zh-CN" altLang="zh-CN" sz="1400" dirty="0">
                <a:latin typeface="宋体" panose="02010600030101010101" pitchFamily="2" charset="-122"/>
                <a:ea typeface="宋体" panose="02010600030101010101" pitchFamily="2" charset="-122"/>
              </a:rPr>
              <a:t>几何校正</a:t>
            </a:r>
            <a:endParaRPr lang="en-US" altLang="zh-CN" sz="1400"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zh-CN" sz="1400" dirty="0">
                <a:latin typeface="宋体" panose="02010600030101010101" pitchFamily="2" charset="-122"/>
                <a:ea typeface="宋体" panose="02010600030101010101" pitchFamily="2" charset="-122"/>
              </a:rPr>
              <a:t>辐射/大气校正</a:t>
            </a:r>
            <a:endParaRPr lang="en-US" altLang="zh-CN" sz="1400"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zh-CN" sz="1400" dirty="0">
                <a:latin typeface="宋体" panose="02010600030101010101" pitchFamily="2" charset="-122"/>
                <a:ea typeface="宋体" panose="02010600030101010101" pitchFamily="2" charset="-122"/>
              </a:rPr>
              <a:t>云层去除</a:t>
            </a:r>
            <a:endParaRPr lang="en-US" altLang="zh-CN" sz="1400"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zh-CN" sz="1400" dirty="0">
                <a:latin typeface="宋体" panose="02010600030101010101" pitchFamily="2" charset="-122"/>
                <a:ea typeface="宋体" panose="02010600030101010101" pitchFamily="2" charset="-122"/>
              </a:rPr>
              <a:t>数据配准</a:t>
            </a:r>
            <a:endParaRPr lang="en-US" altLang="zh-CN" sz="1400"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zh-CN" sz="1400" dirty="0">
                <a:latin typeface="宋体" panose="02010600030101010101" pitchFamily="2" charset="-122"/>
                <a:ea typeface="宋体" panose="02010600030101010101" pitchFamily="2" charset="-122"/>
              </a:rPr>
              <a:t>多源数据融合</a:t>
            </a:r>
            <a:endParaRPr lang="zh-CN" altLang="en-US" sz="1400" dirty="0">
              <a:latin typeface="宋体" panose="02010600030101010101" pitchFamily="2" charset="-122"/>
              <a:ea typeface="宋体" panose="02010600030101010101" pitchFamily="2" charset="-122"/>
            </a:endParaRPr>
          </a:p>
        </p:txBody>
      </p:sp>
      <p:pic>
        <p:nvPicPr>
          <p:cNvPr id="54" name="图片 53">
            <a:extLst>
              <a:ext uri="{FF2B5EF4-FFF2-40B4-BE49-F238E27FC236}">
                <a16:creationId xmlns:a16="http://schemas.microsoft.com/office/drawing/2014/main" id="{2CE325B2-7070-0D24-06DB-47B7F1307B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47475" y="1056738"/>
            <a:ext cx="630222" cy="1379001"/>
          </a:xfrm>
          <a:prstGeom prst="rect">
            <a:avLst/>
          </a:prstGeom>
        </p:spPr>
      </p:pic>
      <p:sp>
        <p:nvSpPr>
          <p:cNvPr id="56" name="文本框 55">
            <a:extLst>
              <a:ext uri="{FF2B5EF4-FFF2-40B4-BE49-F238E27FC236}">
                <a16:creationId xmlns:a16="http://schemas.microsoft.com/office/drawing/2014/main" id="{3B75E8FB-B34E-2907-040A-266E45F819F4}"/>
              </a:ext>
            </a:extLst>
          </p:cNvPr>
          <p:cNvSpPr txBox="1"/>
          <p:nvPr/>
        </p:nvSpPr>
        <p:spPr>
          <a:xfrm>
            <a:off x="4728663" y="2421624"/>
            <a:ext cx="4103999" cy="307777"/>
          </a:xfrm>
          <a:prstGeom prst="rect">
            <a:avLst/>
          </a:prstGeom>
          <a:noFill/>
        </p:spPr>
        <p:txBody>
          <a:bodyPr wrap="square">
            <a:spAutoFit/>
          </a:bodyPr>
          <a:lstStyle/>
          <a:p>
            <a:pPr algn="ctr"/>
            <a:r>
              <a:rPr lang="zh-CN" altLang="zh-CN" sz="1400" dirty="0">
                <a:latin typeface="宋体" panose="02010600030101010101" pitchFamily="2" charset="-122"/>
                <a:ea typeface="宋体" panose="02010600030101010101" pitchFamily="2" charset="-122"/>
              </a:rPr>
              <a:t>提高多时相遥感数据的一致性与可靠性</a:t>
            </a:r>
            <a:endParaRPr lang="zh-CN" altLang="en-US" sz="1400" dirty="0">
              <a:latin typeface="宋体" panose="02010600030101010101" pitchFamily="2" charset="-122"/>
              <a:ea typeface="宋体" panose="02010600030101010101" pitchFamily="2" charset="-122"/>
            </a:endParaRPr>
          </a:p>
        </p:txBody>
      </p:sp>
      <p:sp>
        <p:nvSpPr>
          <p:cNvPr id="58" name="文本框 57">
            <a:extLst>
              <a:ext uri="{FF2B5EF4-FFF2-40B4-BE49-F238E27FC236}">
                <a16:creationId xmlns:a16="http://schemas.microsoft.com/office/drawing/2014/main" id="{57079C9A-7848-BDDA-1660-8EFD81D69917}"/>
              </a:ext>
            </a:extLst>
          </p:cNvPr>
          <p:cNvSpPr txBox="1"/>
          <p:nvPr/>
        </p:nvSpPr>
        <p:spPr>
          <a:xfrm>
            <a:off x="4783140" y="3254682"/>
            <a:ext cx="4104000" cy="307777"/>
          </a:xfrm>
          <a:prstGeom prst="rect">
            <a:avLst/>
          </a:prstGeom>
          <a:noFill/>
        </p:spPr>
        <p:txBody>
          <a:bodyPr wrap="square">
            <a:spAutoFit/>
          </a:bodyPr>
          <a:lstStyle/>
          <a:p>
            <a:pPr algn="ctr">
              <a:buNone/>
            </a:pPr>
            <a:r>
              <a:rPr lang="zh-CN" altLang="zh-CN" sz="1400" b="1" dirty="0">
                <a:latin typeface="宋体" panose="02010600030101010101" pitchFamily="2" charset="-122"/>
                <a:ea typeface="宋体" panose="02010600030101010101" pitchFamily="2" charset="-122"/>
              </a:rPr>
              <a:t>植被特征</a:t>
            </a:r>
            <a:r>
              <a:rPr lang="en-US" altLang="zh-CN" sz="1400" b="1" dirty="0">
                <a:latin typeface="宋体" panose="02010600030101010101" pitchFamily="2" charset="-122"/>
                <a:ea typeface="宋体" panose="02010600030101010101" pitchFamily="2" charset="-122"/>
              </a:rPr>
              <a:t>  </a:t>
            </a:r>
            <a:r>
              <a:rPr lang="zh-CN" altLang="zh-CN" sz="1400" b="1" dirty="0">
                <a:latin typeface="宋体" panose="02010600030101010101" pitchFamily="2" charset="-122"/>
                <a:ea typeface="宋体" panose="02010600030101010101" pitchFamily="2" charset="-122"/>
              </a:rPr>
              <a:t>土地特征</a:t>
            </a:r>
            <a:r>
              <a:rPr lang="en-US" altLang="zh-CN" sz="1400" b="1" dirty="0">
                <a:latin typeface="宋体" panose="02010600030101010101" pitchFamily="2" charset="-122"/>
                <a:ea typeface="宋体" panose="02010600030101010101" pitchFamily="2" charset="-122"/>
              </a:rPr>
              <a:t>  </a:t>
            </a:r>
            <a:r>
              <a:rPr lang="zh-CN" altLang="zh-CN" sz="1400" b="1" dirty="0">
                <a:latin typeface="宋体" panose="02010600030101010101" pitchFamily="2" charset="-122"/>
                <a:ea typeface="宋体" panose="02010600030101010101" pitchFamily="2" charset="-122"/>
              </a:rPr>
              <a:t>地形特征</a:t>
            </a:r>
            <a:r>
              <a:rPr lang="en-US" altLang="zh-CN" sz="1400" b="1" dirty="0">
                <a:latin typeface="宋体" panose="02010600030101010101" pitchFamily="2" charset="-122"/>
                <a:ea typeface="宋体" panose="02010600030101010101" pitchFamily="2" charset="-122"/>
              </a:rPr>
              <a:t>  </a:t>
            </a:r>
            <a:r>
              <a:rPr lang="zh-CN" altLang="zh-CN" sz="1400" b="1" dirty="0">
                <a:latin typeface="宋体" panose="02010600030101010101" pitchFamily="2" charset="-122"/>
                <a:ea typeface="宋体" panose="02010600030101010101" pitchFamily="2" charset="-122"/>
              </a:rPr>
              <a:t>生态特征</a:t>
            </a:r>
            <a:endParaRPr lang="zh-CN" altLang="zh-CN" sz="1400" dirty="0">
              <a:latin typeface="宋体" panose="02010600030101010101" pitchFamily="2" charset="-122"/>
              <a:ea typeface="宋体" panose="02010600030101010101" pitchFamily="2" charset="-122"/>
            </a:endParaRPr>
          </a:p>
        </p:txBody>
      </p:sp>
      <p:sp>
        <p:nvSpPr>
          <p:cNvPr id="59" name="箭头: 右 58">
            <a:extLst>
              <a:ext uri="{FF2B5EF4-FFF2-40B4-BE49-F238E27FC236}">
                <a16:creationId xmlns:a16="http://schemas.microsoft.com/office/drawing/2014/main" id="{B6CF6508-EF91-C4F6-42E9-96D3A6E6EE48}"/>
              </a:ext>
            </a:extLst>
          </p:cNvPr>
          <p:cNvSpPr/>
          <p:nvPr/>
        </p:nvSpPr>
        <p:spPr>
          <a:xfrm>
            <a:off x="4302235" y="1825957"/>
            <a:ext cx="426428" cy="32491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60" name="箭头: 右 59">
            <a:extLst>
              <a:ext uri="{FF2B5EF4-FFF2-40B4-BE49-F238E27FC236}">
                <a16:creationId xmlns:a16="http://schemas.microsoft.com/office/drawing/2014/main" id="{F97CD7ED-EB83-83B5-93A3-34AB2437C8EB}"/>
              </a:ext>
            </a:extLst>
          </p:cNvPr>
          <p:cNvSpPr/>
          <p:nvPr/>
        </p:nvSpPr>
        <p:spPr>
          <a:xfrm flipH="1">
            <a:off x="4320191" y="3729126"/>
            <a:ext cx="426428" cy="32491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箭头: 下 60">
            <a:extLst>
              <a:ext uri="{FF2B5EF4-FFF2-40B4-BE49-F238E27FC236}">
                <a16:creationId xmlns:a16="http://schemas.microsoft.com/office/drawing/2014/main" id="{5F8ADD44-701F-06BB-9497-2C804C03D317}"/>
              </a:ext>
            </a:extLst>
          </p:cNvPr>
          <p:cNvSpPr/>
          <p:nvPr/>
        </p:nvSpPr>
        <p:spPr>
          <a:xfrm>
            <a:off x="6578953" y="2744940"/>
            <a:ext cx="403419" cy="21609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25BE9B98-C359-0699-531C-A49D4B024048}"/>
              </a:ext>
            </a:extLst>
          </p:cNvPr>
          <p:cNvSpPr txBox="1"/>
          <p:nvPr/>
        </p:nvSpPr>
        <p:spPr>
          <a:xfrm>
            <a:off x="5139352" y="3594429"/>
            <a:ext cx="762605" cy="646331"/>
          </a:xfrm>
          <a:prstGeom prst="rect">
            <a:avLst/>
          </a:prstGeom>
          <a:noFill/>
        </p:spPr>
        <p:txBody>
          <a:bodyPr wrap="square">
            <a:spAutoFit/>
          </a:bodyPr>
          <a:lstStyle/>
          <a:p>
            <a:pPr marL="171450" indent="-171450">
              <a:buFont typeface="Arial" panose="020B0604020202020204" pitchFamily="34" charset="0"/>
              <a:buChar char="•"/>
            </a:pPr>
            <a:r>
              <a:rPr lang="zh-CN" altLang="zh-CN" sz="1200" dirty="0">
                <a:latin typeface="Times New Roman" panose="02020603050405020304" pitchFamily="18" charset="0"/>
              </a:rPr>
              <a:t>NDVI </a:t>
            </a:r>
            <a:endParaRPr lang="en-US" altLang="zh-CN" sz="1200" dirty="0">
              <a:latin typeface="Times New Roman" panose="02020603050405020304" pitchFamily="18" charset="0"/>
            </a:endParaRPr>
          </a:p>
          <a:p>
            <a:pPr marL="171450" indent="-171450">
              <a:buFont typeface="Arial" panose="020B0604020202020204" pitchFamily="34" charset="0"/>
              <a:buChar char="•"/>
            </a:pPr>
            <a:r>
              <a:rPr lang="zh-CN" altLang="zh-CN" sz="1200" dirty="0">
                <a:latin typeface="Times New Roman" panose="02020603050405020304" pitchFamily="18" charset="0"/>
              </a:rPr>
              <a:t>EVI </a:t>
            </a:r>
            <a:endParaRPr lang="en-US" altLang="zh-CN" sz="1200" dirty="0">
              <a:latin typeface="Times New Roman" panose="02020603050405020304" pitchFamily="18" charset="0"/>
            </a:endParaRPr>
          </a:p>
          <a:p>
            <a:pPr marL="171450" indent="-171450">
              <a:buFont typeface="Arial" panose="020B0604020202020204" pitchFamily="34" charset="0"/>
              <a:buChar char="•"/>
            </a:pPr>
            <a:r>
              <a:rPr lang="zh-CN" altLang="zh-CN" sz="1200" dirty="0">
                <a:latin typeface="Times New Roman" panose="02020603050405020304" pitchFamily="18" charset="0"/>
              </a:rPr>
              <a:t>FVC</a:t>
            </a:r>
            <a:endParaRPr lang="zh-CN" altLang="en-US" sz="1200" dirty="0">
              <a:latin typeface="Times New Roman" panose="02020603050405020304" pitchFamily="18" charset="0"/>
            </a:endParaRPr>
          </a:p>
        </p:txBody>
      </p:sp>
      <p:sp>
        <p:nvSpPr>
          <p:cNvPr id="64" name="文本框 63">
            <a:extLst>
              <a:ext uri="{FF2B5EF4-FFF2-40B4-BE49-F238E27FC236}">
                <a16:creationId xmlns:a16="http://schemas.microsoft.com/office/drawing/2014/main" id="{31F3DE25-8FF1-43BC-9315-249DC0A8DAF8}"/>
              </a:ext>
            </a:extLst>
          </p:cNvPr>
          <p:cNvSpPr txBox="1"/>
          <p:nvPr/>
        </p:nvSpPr>
        <p:spPr>
          <a:xfrm>
            <a:off x="5938477" y="3595228"/>
            <a:ext cx="1043895" cy="646331"/>
          </a:xfrm>
          <a:prstGeom prst="rect">
            <a:avLst/>
          </a:prstGeom>
          <a:noFill/>
        </p:spPr>
        <p:txBody>
          <a:bodyPr wrap="square">
            <a:spAutoFit/>
          </a:bodyPr>
          <a:lstStyle>
            <a:defPPr>
              <a:defRPr lang="zh-CN"/>
            </a:defPPr>
            <a:lvl1pPr marL="171450" indent="-171450">
              <a:buFont typeface="Arial" panose="020B0604020202020204" pitchFamily="34" charset="0"/>
              <a:buChar char="•"/>
              <a:defRPr sz="1200">
                <a:latin typeface="Times New Roman" panose="02020603050405020304" pitchFamily="18" charset="0"/>
              </a:defRPr>
            </a:lvl1pPr>
          </a:lstStyle>
          <a:p>
            <a:r>
              <a:rPr lang="zh-CN" altLang="zh-CN" dirty="0"/>
              <a:t>LUCC </a:t>
            </a:r>
            <a:endParaRPr lang="en-US" altLang="zh-CN" dirty="0"/>
          </a:p>
          <a:p>
            <a:r>
              <a:rPr lang="zh-CN" altLang="zh-CN" dirty="0"/>
              <a:t>土地利用分类</a:t>
            </a:r>
            <a:endParaRPr lang="zh-CN" altLang="en-US" dirty="0"/>
          </a:p>
        </p:txBody>
      </p:sp>
      <p:sp>
        <p:nvSpPr>
          <p:cNvPr id="65" name="文本框 64">
            <a:extLst>
              <a:ext uri="{FF2B5EF4-FFF2-40B4-BE49-F238E27FC236}">
                <a16:creationId xmlns:a16="http://schemas.microsoft.com/office/drawing/2014/main" id="{0A74E1D9-C760-3E2C-D80B-55E0481AD546}"/>
              </a:ext>
            </a:extLst>
          </p:cNvPr>
          <p:cNvSpPr txBox="1"/>
          <p:nvPr/>
        </p:nvSpPr>
        <p:spPr>
          <a:xfrm>
            <a:off x="6957179" y="3593221"/>
            <a:ext cx="718741" cy="461665"/>
          </a:xfrm>
          <a:prstGeom prst="rect">
            <a:avLst/>
          </a:prstGeom>
          <a:noFill/>
        </p:spPr>
        <p:txBody>
          <a:bodyPr wrap="square" rtlCol="0">
            <a:spAutoFit/>
          </a:bodyPr>
          <a:lstStyle/>
          <a:p>
            <a:pPr marL="171450" indent="-171450">
              <a:buFont typeface="Arial" panose="020B0604020202020204" pitchFamily="34" charset="0"/>
              <a:buChar char="•"/>
            </a:pPr>
            <a:r>
              <a:rPr lang="zh-CN" altLang="zh-CN" sz="1200" dirty="0">
                <a:latin typeface="Times New Roman" panose="02020603050405020304" pitchFamily="18" charset="0"/>
              </a:rPr>
              <a:t>DEM </a:t>
            </a:r>
            <a:endParaRPr lang="en-US" altLang="zh-CN" sz="1200" dirty="0">
              <a:latin typeface="Times New Roman" panose="02020603050405020304" pitchFamily="18" charset="0"/>
            </a:endParaRPr>
          </a:p>
          <a:p>
            <a:pPr marL="171450" indent="-171450">
              <a:buFont typeface="Arial" panose="020B0604020202020204" pitchFamily="34" charset="0"/>
              <a:buChar char="•"/>
            </a:pPr>
            <a:r>
              <a:rPr lang="zh-CN" altLang="zh-CN" sz="1200" dirty="0">
                <a:latin typeface="Times New Roman" panose="02020603050405020304" pitchFamily="18" charset="0"/>
              </a:rPr>
              <a:t>DSM</a:t>
            </a:r>
            <a:endParaRPr lang="zh-CN" altLang="en-US" sz="1200" dirty="0">
              <a:latin typeface="Times New Roman" panose="02020603050405020304" pitchFamily="18" charset="0"/>
            </a:endParaRPr>
          </a:p>
        </p:txBody>
      </p:sp>
      <p:sp>
        <p:nvSpPr>
          <p:cNvPr id="66" name="文本框 65">
            <a:extLst>
              <a:ext uri="{FF2B5EF4-FFF2-40B4-BE49-F238E27FC236}">
                <a16:creationId xmlns:a16="http://schemas.microsoft.com/office/drawing/2014/main" id="{93106256-2CCD-6B0E-ACED-0452551735ED}"/>
              </a:ext>
            </a:extLst>
          </p:cNvPr>
          <p:cNvSpPr txBox="1"/>
          <p:nvPr/>
        </p:nvSpPr>
        <p:spPr>
          <a:xfrm>
            <a:off x="7736880" y="3593220"/>
            <a:ext cx="897926" cy="461665"/>
          </a:xfrm>
          <a:prstGeom prst="rect">
            <a:avLst/>
          </a:prstGeom>
          <a:noFill/>
        </p:spPr>
        <p:txBody>
          <a:bodyPr wrap="square" rtlCol="0">
            <a:spAutoFit/>
          </a:bodyPr>
          <a:lstStyle/>
          <a:p>
            <a:pPr marL="171450" indent="-171450">
              <a:buFont typeface="Arial" panose="020B0604020202020204" pitchFamily="34" charset="0"/>
              <a:buChar char="•"/>
            </a:pPr>
            <a:r>
              <a:rPr lang="zh-CN" altLang="zh-CN" sz="1200" dirty="0">
                <a:latin typeface="Times New Roman" panose="02020603050405020304" pitchFamily="18" charset="0"/>
              </a:rPr>
              <a:t>RSEI</a:t>
            </a:r>
            <a:endParaRPr lang="en-US" altLang="zh-CN" sz="1200" dirty="0">
              <a:latin typeface="Times New Roman" panose="02020603050405020304" pitchFamily="18" charset="0"/>
            </a:endParaRPr>
          </a:p>
          <a:p>
            <a:pPr marL="171450" indent="-171450">
              <a:buFont typeface="Arial" panose="020B0604020202020204" pitchFamily="34" charset="0"/>
              <a:buChar char="•"/>
            </a:pPr>
            <a:r>
              <a:rPr lang="zh-CN" altLang="zh-CN" sz="1200" dirty="0">
                <a:latin typeface="Times New Roman" panose="02020603050405020304" pitchFamily="18" charset="0"/>
              </a:rPr>
              <a:t>MRSEI</a:t>
            </a:r>
            <a:endParaRPr lang="zh-CN" altLang="en-US" sz="1200" dirty="0">
              <a:latin typeface="Times New Roman" panose="02020603050405020304" pitchFamily="18" charset="0"/>
            </a:endParaRPr>
          </a:p>
        </p:txBody>
      </p:sp>
      <p:sp>
        <p:nvSpPr>
          <p:cNvPr id="68" name="文本框 67">
            <a:extLst>
              <a:ext uri="{FF2B5EF4-FFF2-40B4-BE49-F238E27FC236}">
                <a16:creationId xmlns:a16="http://schemas.microsoft.com/office/drawing/2014/main" id="{2A2DD302-BD31-D8FC-7336-EDDF88897B75}"/>
              </a:ext>
            </a:extLst>
          </p:cNvPr>
          <p:cNvSpPr txBox="1"/>
          <p:nvPr/>
        </p:nvSpPr>
        <p:spPr>
          <a:xfrm>
            <a:off x="4746619" y="4210202"/>
            <a:ext cx="4103999" cy="523220"/>
          </a:xfrm>
          <a:prstGeom prst="rect">
            <a:avLst/>
          </a:prstGeom>
          <a:noFill/>
        </p:spPr>
        <p:txBody>
          <a:bodyPr wrap="square">
            <a:spAutoFit/>
          </a:bodyPr>
          <a:lstStyle/>
          <a:p>
            <a:pPr algn="ctr"/>
            <a:r>
              <a:rPr lang="zh-CN" altLang="zh-CN" sz="1400" dirty="0">
                <a:latin typeface="宋体" panose="02010600030101010101" pitchFamily="2" charset="-122"/>
                <a:ea typeface="宋体" panose="02010600030101010101" pitchFamily="2" charset="-122"/>
              </a:rPr>
              <a:t>提取植被、土地、地形和生态等关键特征，为矿区生态修复评价提供基础数据</a:t>
            </a:r>
            <a:endParaRPr lang="zh-CN" altLang="en-US" sz="1400" dirty="0">
              <a:latin typeface="宋体" panose="02010600030101010101" pitchFamily="2" charset="-122"/>
              <a:ea typeface="宋体" panose="02010600030101010101" pitchFamily="2" charset="-122"/>
            </a:endParaRPr>
          </a:p>
        </p:txBody>
      </p:sp>
      <p:sp>
        <p:nvSpPr>
          <p:cNvPr id="69" name="文本框 68">
            <a:extLst>
              <a:ext uri="{FF2B5EF4-FFF2-40B4-BE49-F238E27FC236}">
                <a16:creationId xmlns:a16="http://schemas.microsoft.com/office/drawing/2014/main" id="{991C5E4E-D65A-B660-8EA9-EA40BE020C76}"/>
              </a:ext>
            </a:extLst>
          </p:cNvPr>
          <p:cNvSpPr txBox="1"/>
          <p:nvPr/>
        </p:nvSpPr>
        <p:spPr>
          <a:xfrm>
            <a:off x="198235" y="3188509"/>
            <a:ext cx="4104000" cy="307777"/>
          </a:xfrm>
          <a:prstGeom prst="rect">
            <a:avLst/>
          </a:prstGeom>
          <a:noFill/>
        </p:spPr>
        <p:txBody>
          <a:bodyPr wrap="square">
            <a:spAutoFit/>
          </a:bodyPr>
          <a:lstStyle/>
          <a:p>
            <a:pPr algn="ctr">
              <a:buNone/>
            </a:pPr>
            <a:r>
              <a:rPr lang="zh-CN" altLang="en-US" sz="1400" b="1" dirty="0">
                <a:latin typeface="宋体" panose="02010600030101010101" pitchFamily="2" charset="-122"/>
                <a:ea typeface="宋体" panose="02010600030101010101" pitchFamily="2" charset="-122"/>
              </a:rPr>
              <a:t>变化监测</a:t>
            </a:r>
            <a:r>
              <a:rPr lang="en-US" altLang="zh-CN" sz="1400" b="1" dirty="0">
                <a:latin typeface="宋体" panose="02010600030101010101" pitchFamily="2" charset="-122"/>
                <a:ea typeface="宋体" panose="02010600030101010101" pitchFamily="2" charset="-122"/>
              </a:rPr>
              <a:t>            </a:t>
            </a:r>
            <a:r>
              <a:rPr lang="zh-CN" altLang="en-US" sz="1400" b="1" dirty="0">
                <a:latin typeface="宋体" panose="02010600030101010101" pitchFamily="2" charset="-122"/>
                <a:ea typeface="宋体" panose="02010600030101010101" pitchFamily="2" charset="-122"/>
              </a:rPr>
              <a:t>评价内容</a:t>
            </a:r>
            <a:endParaRPr lang="zh-CN" altLang="zh-CN" sz="1400" dirty="0">
              <a:latin typeface="宋体" panose="02010600030101010101" pitchFamily="2" charset="-122"/>
              <a:ea typeface="宋体" panose="02010600030101010101" pitchFamily="2" charset="-122"/>
            </a:endParaRPr>
          </a:p>
        </p:txBody>
      </p:sp>
      <p:sp>
        <p:nvSpPr>
          <p:cNvPr id="70" name="文本框 69">
            <a:extLst>
              <a:ext uri="{FF2B5EF4-FFF2-40B4-BE49-F238E27FC236}">
                <a16:creationId xmlns:a16="http://schemas.microsoft.com/office/drawing/2014/main" id="{FD265453-46A3-21C7-8EF6-E52A63C35B54}"/>
              </a:ext>
            </a:extLst>
          </p:cNvPr>
          <p:cNvSpPr txBox="1"/>
          <p:nvPr/>
        </p:nvSpPr>
        <p:spPr>
          <a:xfrm>
            <a:off x="626425" y="3483726"/>
            <a:ext cx="1683309" cy="830997"/>
          </a:xfrm>
          <a:prstGeom prst="rect">
            <a:avLst/>
          </a:prstGeom>
          <a:noFill/>
        </p:spPr>
        <p:txBody>
          <a:bodyPr wrap="square">
            <a:spAutoFit/>
          </a:bodyPr>
          <a:lstStyle/>
          <a:p>
            <a:pPr marL="171450" indent="-171450">
              <a:buFont typeface="Arial" panose="020B0604020202020204" pitchFamily="34" charset="0"/>
              <a:buChar char="•"/>
            </a:pPr>
            <a:r>
              <a:rPr lang="zh-CN" altLang="en-US" sz="1200" dirty="0">
                <a:latin typeface="宋体" panose="02010600030101010101" pitchFamily="2" charset="-122"/>
                <a:ea typeface="宋体" panose="02010600030101010101" pitchFamily="2" charset="-122"/>
              </a:rPr>
              <a:t>时序变化分析</a:t>
            </a:r>
            <a:r>
              <a:rPr lang="zh-CN" altLang="zh-CN" sz="1200" dirty="0">
                <a:latin typeface="宋体" panose="02010600030101010101" pitchFamily="2" charset="-122"/>
                <a:ea typeface="宋体" panose="02010600030101010101" pitchFamily="2" charset="-122"/>
              </a:rPr>
              <a:t> </a:t>
            </a:r>
            <a:endParaRPr lang="en-US" altLang="zh-CN" sz="1200" dirty="0">
              <a:latin typeface="宋体" panose="02010600030101010101" pitchFamily="2" charset="-122"/>
              <a:ea typeface="宋体" panose="02010600030101010101" pitchFamily="2" charset="-122"/>
            </a:endParaRPr>
          </a:p>
          <a:p>
            <a:pPr marL="171450" indent="-171450">
              <a:buFont typeface="Arial" panose="020B0604020202020204" pitchFamily="34" charset="0"/>
              <a:buChar char="•"/>
            </a:pPr>
            <a:r>
              <a:rPr lang="zh-CN" altLang="en-US" sz="1200" dirty="0">
                <a:latin typeface="宋体" panose="02010600030101010101" pitchFamily="2" charset="-122"/>
                <a:ea typeface="宋体" panose="02010600030101010101" pitchFamily="2" charset="-122"/>
              </a:rPr>
              <a:t>土地利用变化监测</a:t>
            </a:r>
            <a:endParaRPr lang="en-US" altLang="zh-CN" sz="1200" dirty="0">
              <a:latin typeface="宋体" panose="02010600030101010101" pitchFamily="2" charset="-122"/>
              <a:ea typeface="宋体" panose="02010600030101010101" pitchFamily="2" charset="-122"/>
            </a:endParaRPr>
          </a:p>
          <a:p>
            <a:pPr marL="171450" indent="-171450">
              <a:buFont typeface="Arial" panose="020B0604020202020204" pitchFamily="34" charset="0"/>
              <a:buChar char="•"/>
            </a:pPr>
            <a:r>
              <a:rPr lang="zh-CN" altLang="en-US" sz="1200" dirty="0">
                <a:latin typeface="宋体" panose="02010600030101010101" pitchFamily="2" charset="-122"/>
                <a:ea typeface="宋体" panose="02010600030101010101" pitchFamily="2" charset="-122"/>
              </a:rPr>
              <a:t>地形变化监测</a:t>
            </a:r>
            <a:endParaRPr lang="en-US" altLang="zh-CN" sz="1200" dirty="0">
              <a:latin typeface="宋体" panose="02010600030101010101" pitchFamily="2" charset="-122"/>
              <a:ea typeface="宋体" panose="02010600030101010101" pitchFamily="2" charset="-122"/>
            </a:endParaRPr>
          </a:p>
          <a:p>
            <a:pPr marL="171450" indent="-171450">
              <a:buFont typeface="Arial" panose="020B0604020202020204" pitchFamily="34" charset="0"/>
              <a:buChar char="•"/>
            </a:pPr>
            <a:r>
              <a:rPr lang="en-US" altLang="zh-CN" sz="1200" dirty="0">
                <a:latin typeface="宋体" panose="02010600030101010101" pitchFamily="2" charset="-122"/>
                <a:ea typeface="宋体" panose="02010600030101010101" pitchFamily="2" charset="-122"/>
              </a:rPr>
              <a:t>RSEI</a:t>
            </a:r>
            <a:r>
              <a:rPr lang="zh-CN" altLang="en-US" sz="1200" dirty="0">
                <a:latin typeface="宋体" panose="02010600030101010101" pitchFamily="2" charset="-122"/>
                <a:ea typeface="宋体" panose="02010600030101010101" pitchFamily="2" charset="-122"/>
              </a:rPr>
              <a:t>动态监测</a:t>
            </a:r>
          </a:p>
        </p:txBody>
      </p:sp>
      <p:sp>
        <p:nvSpPr>
          <p:cNvPr id="71" name="文本框 70">
            <a:extLst>
              <a:ext uri="{FF2B5EF4-FFF2-40B4-BE49-F238E27FC236}">
                <a16:creationId xmlns:a16="http://schemas.microsoft.com/office/drawing/2014/main" id="{7226D15C-3011-B27E-E3B7-09E4E01383F4}"/>
              </a:ext>
            </a:extLst>
          </p:cNvPr>
          <p:cNvSpPr txBox="1"/>
          <p:nvPr/>
        </p:nvSpPr>
        <p:spPr>
          <a:xfrm>
            <a:off x="2622904" y="3476083"/>
            <a:ext cx="1345706" cy="830997"/>
          </a:xfrm>
          <a:prstGeom prst="rect">
            <a:avLst/>
          </a:prstGeom>
          <a:noFill/>
        </p:spPr>
        <p:txBody>
          <a:bodyPr wrap="square">
            <a:spAutoFit/>
          </a:bodyPr>
          <a:lstStyle/>
          <a:p>
            <a:pPr marL="171450" indent="-171450">
              <a:buFont typeface="Arial" panose="020B0604020202020204" pitchFamily="34" charset="0"/>
              <a:buChar char="•"/>
            </a:pPr>
            <a:r>
              <a:rPr lang="zh-CN" altLang="en-US" sz="1200" dirty="0">
                <a:latin typeface="宋体" panose="02010600030101010101" pitchFamily="2" charset="-122"/>
                <a:ea typeface="宋体" panose="02010600030101010101" pitchFamily="2" charset="-122"/>
              </a:rPr>
              <a:t>植被恢复</a:t>
            </a:r>
            <a:r>
              <a:rPr lang="zh-CN" altLang="zh-CN" sz="1200" dirty="0">
                <a:latin typeface="宋体" panose="02010600030101010101" pitchFamily="2" charset="-122"/>
                <a:ea typeface="宋体" panose="02010600030101010101" pitchFamily="2" charset="-122"/>
              </a:rPr>
              <a:t> </a:t>
            </a:r>
            <a:endParaRPr lang="en-US" altLang="zh-CN" sz="1200" dirty="0">
              <a:latin typeface="宋体" panose="02010600030101010101" pitchFamily="2" charset="-122"/>
              <a:ea typeface="宋体" panose="02010600030101010101" pitchFamily="2" charset="-122"/>
            </a:endParaRPr>
          </a:p>
          <a:p>
            <a:pPr marL="171450" indent="-171450">
              <a:buFont typeface="Arial" panose="020B0604020202020204" pitchFamily="34" charset="0"/>
              <a:buChar char="•"/>
            </a:pPr>
            <a:r>
              <a:rPr lang="zh-CN" altLang="en-US" sz="1200" dirty="0">
                <a:latin typeface="宋体" panose="02010600030101010101" pitchFamily="2" charset="-122"/>
                <a:ea typeface="宋体" panose="02010600030101010101" pitchFamily="2" charset="-122"/>
              </a:rPr>
              <a:t>土地复垦</a:t>
            </a:r>
            <a:endParaRPr lang="en-US" altLang="zh-CN" sz="1200" dirty="0">
              <a:latin typeface="宋体" panose="02010600030101010101" pitchFamily="2" charset="-122"/>
              <a:ea typeface="宋体" panose="02010600030101010101" pitchFamily="2" charset="-122"/>
            </a:endParaRPr>
          </a:p>
          <a:p>
            <a:pPr marL="171450" indent="-171450">
              <a:buFont typeface="Arial" panose="020B0604020202020204" pitchFamily="34" charset="0"/>
              <a:buChar char="•"/>
            </a:pPr>
            <a:r>
              <a:rPr lang="zh-CN" altLang="en-US" sz="1200" dirty="0">
                <a:latin typeface="宋体" panose="02010600030101010101" pitchFamily="2" charset="-122"/>
                <a:ea typeface="宋体" panose="02010600030101010101" pitchFamily="2" charset="-122"/>
              </a:rPr>
              <a:t>地貌恢复</a:t>
            </a:r>
            <a:endParaRPr lang="en-US" altLang="zh-CN" sz="1200" dirty="0">
              <a:latin typeface="宋体" panose="02010600030101010101" pitchFamily="2" charset="-122"/>
              <a:ea typeface="宋体" panose="02010600030101010101" pitchFamily="2" charset="-122"/>
            </a:endParaRPr>
          </a:p>
          <a:p>
            <a:pPr marL="171450" indent="-171450">
              <a:buFont typeface="Arial" panose="020B0604020202020204" pitchFamily="34" charset="0"/>
              <a:buChar char="•"/>
            </a:pPr>
            <a:r>
              <a:rPr lang="zh-CN" altLang="en-US" sz="1200" dirty="0">
                <a:latin typeface="宋体" panose="02010600030101010101" pitchFamily="2" charset="-122"/>
                <a:ea typeface="宋体" panose="02010600030101010101" pitchFamily="2" charset="-122"/>
              </a:rPr>
              <a:t>生态质量改善</a:t>
            </a:r>
          </a:p>
        </p:txBody>
      </p:sp>
      <p:sp>
        <p:nvSpPr>
          <p:cNvPr id="73" name="文本框 72">
            <a:extLst>
              <a:ext uri="{FF2B5EF4-FFF2-40B4-BE49-F238E27FC236}">
                <a16:creationId xmlns:a16="http://schemas.microsoft.com/office/drawing/2014/main" id="{7588B4E4-9A68-4203-70A0-67410187E2C2}"/>
              </a:ext>
            </a:extLst>
          </p:cNvPr>
          <p:cNvSpPr txBox="1"/>
          <p:nvPr/>
        </p:nvSpPr>
        <p:spPr>
          <a:xfrm>
            <a:off x="210176" y="4255536"/>
            <a:ext cx="4121954" cy="523220"/>
          </a:xfrm>
          <a:prstGeom prst="rect">
            <a:avLst/>
          </a:prstGeom>
          <a:noFill/>
        </p:spPr>
        <p:txBody>
          <a:bodyPr wrap="square">
            <a:spAutoFit/>
          </a:bodyPr>
          <a:lstStyle/>
          <a:p>
            <a:pPr algn="ctr"/>
            <a:r>
              <a:rPr lang="zh-CN" altLang="zh-CN" sz="1400" dirty="0">
                <a:latin typeface="宋体" panose="02010600030101010101" pitchFamily="2" charset="-122"/>
                <a:ea typeface="宋体" panose="02010600030101010101" pitchFamily="2" charset="-122"/>
              </a:rPr>
              <a:t>基于多时相遥感数据，实现矿区开采—复垦—恢复全过程动态评价</a:t>
            </a:r>
            <a:endParaRPr lang="zh-CN" altLang="en-US" sz="1400" dirty="0">
              <a:latin typeface="宋体" panose="02010600030101010101" pitchFamily="2" charset="-122"/>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0" y="122465"/>
            <a:ext cx="4572000" cy="398780"/>
          </a:xfrm>
          <a:prstGeom prst="rect">
            <a:avLst/>
          </a:prstGeom>
          <a:noFill/>
        </p:spPr>
        <p:txBody>
          <a:bodyPr wrap="square">
            <a:spAutoFit/>
          </a:bodyPr>
          <a:lstStyle/>
          <a:p>
            <a:pPr marR="0" indent="0" defTabSz="914400" fontAlgn="auto">
              <a:lnSpc>
                <a:spcPct val="100000"/>
              </a:lnSpc>
              <a:spcBef>
                <a:spcPts val="0"/>
              </a:spcBef>
              <a:spcAft>
                <a:spcPts val="0"/>
              </a:spcAft>
              <a:buClrTx/>
              <a:buSzTx/>
              <a:buFontTx/>
              <a:buNone/>
              <a:defRPr/>
            </a:pPr>
            <a:r>
              <a:rPr kumimoji="0" lang="en-US" altLang="zh-CN" sz="2000" b="1" i="0" kern="1200" cap="none" spc="0" normalizeH="0" baseline="0" noProof="0" dirty="0">
                <a:solidFill>
                  <a:srgbClr val="314865"/>
                </a:solidFill>
                <a:latin typeface="Arial" panose="020B0604020202020204" pitchFamily="34" charset="0"/>
                <a:ea typeface="微软雅黑" panose="020B0503020204020204" pitchFamily="34" charset="-122"/>
                <a:cs typeface="+mn-cs"/>
                <a:sym typeface="Arial" panose="020B0604020202020204" pitchFamily="34" charset="0"/>
              </a:rPr>
              <a:t>04 </a:t>
            </a:r>
            <a:r>
              <a:rPr kumimoji="0" lang="zh-CN" altLang="en-US" sz="2000" b="1" i="0" kern="1200" cap="none" spc="0" normalizeH="0" baseline="0" noProof="0" dirty="0">
                <a:solidFill>
                  <a:srgbClr val="314865"/>
                </a:solidFill>
                <a:latin typeface="Arial" panose="020B0604020202020204" pitchFamily="34" charset="0"/>
                <a:ea typeface="微软雅黑" panose="020B0503020204020204" pitchFamily="34" charset="-122"/>
                <a:cs typeface="+mn-cs"/>
                <a:sym typeface="Arial" panose="020B0604020202020204" pitchFamily="34" charset="0"/>
              </a:rPr>
              <a:t>典型实例</a:t>
            </a:r>
          </a:p>
        </p:txBody>
      </p:sp>
      <p:sp>
        <p:nvSpPr>
          <p:cNvPr id="24" name="文本框 23">
            <a:extLst>
              <a:ext uri="{FF2B5EF4-FFF2-40B4-BE49-F238E27FC236}">
                <a16:creationId xmlns:a16="http://schemas.microsoft.com/office/drawing/2014/main" id="{0E9191EF-151B-3001-445D-9ACF1D132500}"/>
              </a:ext>
            </a:extLst>
          </p:cNvPr>
          <p:cNvSpPr txBox="1"/>
          <p:nvPr/>
        </p:nvSpPr>
        <p:spPr>
          <a:xfrm>
            <a:off x="50800" y="521245"/>
            <a:ext cx="6314440" cy="369332"/>
          </a:xfrm>
          <a:prstGeom prst="rect">
            <a:avLst/>
          </a:prstGeom>
          <a:noFill/>
        </p:spPr>
        <p:txBody>
          <a:bodyPr wrap="square">
            <a:spAutoFit/>
          </a:bodyPr>
          <a:lstStyle/>
          <a:p>
            <a:pPr algn="just">
              <a:defRPr/>
            </a:pPr>
            <a:r>
              <a:rPr lang="zh-CN" altLang="en-US" b="1" dirty="0">
                <a:solidFill>
                  <a:srgbClr val="314865"/>
                </a:solidFill>
                <a:latin typeface="Arial" panose="020B0604020202020204" pitchFamily="34" charset="0"/>
                <a:ea typeface="微软雅黑" panose="020B0503020204020204" pitchFamily="34" charset="-122"/>
              </a:rPr>
              <a:t>美国中</a:t>
            </a:r>
            <a:r>
              <a:rPr lang="zh-CN" altLang="zh-CN" b="1" dirty="0">
                <a:solidFill>
                  <a:srgbClr val="314865"/>
                </a:solidFill>
                <a:latin typeface="Arial" panose="020B0604020202020204" pitchFamily="34" charset="0"/>
                <a:ea typeface="微软雅黑" panose="020B0503020204020204" pitchFamily="34" charset="-122"/>
              </a:rPr>
              <a:t>阿巴拉契亚露天煤矿</a:t>
            </a:r>
            <a:r>
              <a:rPr lang="en-US" altLang="zh-CN" b="1" dirty="0">
                <a:solidFill>
                  <a:srgbClr val="314865"/>
                </a:solidFill>
                <a:latin typeface="Arial" panose="020B0604020202020204" pitchFamily="34" charset="0"/>
                <a:ea typeface="微软雅黑" panose="020B0503020204020204" pitchFamily="34" charset="-122"/>
              </a:rPr>
              <a:t> —— </a:t>
            </a:r>
            <a:r>
              <a:rPr lang="zh-CN" altLang="zh-CN" b="1" dirty="0">
                <a:solidFill>
                  <a:srgbClr val="314865"/>
                </a:solidFill>
                <a:latin typeface="Arial" panose="020B0604020202020204" pitchFamily="34" charset="0"/>
                <a:ea typeface="微软雅黑" panose="020B0503020204020204" pitchFamily="34" charset="-122"/>
              </a:rPr>
              <a:t>杜克大学</a:t>
            </a:r>
            <a:r>
              <a:rPr lang="zh-CN" altLang="en-US" b="1" dirty="0">
                <a:solidFill>
                  <a:srgbClr val="314865"/>
                </a:solidFill>
                <a:latin typeface="Arial" panose="020B0604020202020204" pitchFamily="34" charset="0"/>
                <a:ea typeface="微软雅黑" panose="020B0503020204020204" pitchFamily="34" charset="-122"/>
              </a:rPr>
              <a:t>相关研究</a:t>
            </a:r>
            <a:endParaRPr lang="zh-CN" altLang="zh-CN" b="1" dirty="0">
              <a:solidFill>
                <a:srgbClr val="314865"/>
              </a:solidFill>
              <a:latin typeface="Arial" panose="020B0604020202020204" pitchFamily="34" charset="0"/>
              <a:ea typeface="微软雅黑" panose="020B0503020204020204" pitchFamily="34" charset="-122"/>
            </a:endParaRPr>
          </a:p>
        </p:txBody>
      </p:sp>
      <p:pic>
        <p:nvPicPr>
          <p:cNvPr id="30" name="图片 29">
            <a:extLst>
              <a:ext uri="{FF2B5EF4-FFF2-40B4-BE49-F238E27FC236}">
                <a16:creationId xmlns:a16="http://schemas.microsoft.com/office/drawing/2014/main" id="{2BE63B10-DBD9-3673-41B4-702674A3A9F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3406" y="920025"/>
            <a:ext cx="3917268" cy="2031455"/>
          </a:xfrm>
          <a:prstGeom prst="rect">
            <a:avLst/>
          </a:prstGeom>
        </p:spPr>
      </p:pic>
      <p:pic>
        <p:nvPicPr>
          <p:cNvPr id="38" name="图片 37">
            <a:extLst>
              <a:ext uri="{FF2B5EF4-FFF2-40B4-BE49-F238E27FC236}">
                <a16:creationId xmlns:a16="http://schemas.microsoft.com/office/drawing/2014/main" id="{C786729B-D7BB-3C44-9FE6-F3E59A6008A5}"/>
              </a:ext>
            </a:extLst>
          </p:cNvPr>
          <p:cNvPicPr>
            <a:picLocks/>
          </p:cNvPicPr>
          <p:nvPr/>
        </p:nvPicPr>
        <p:blipFill>
          <a:blip r:embed="rId4">
            <a:extLst>
              <a:ext uri="{28A0092B-C50C-407E-A947-70E740481C1C}">
                <a14:useLocalDpi xmlns:a14="http://schemas.microsoft.com/office/drawing/2010/main" val="0"/>
              </a:ext>
            </a:extLst>
          </a:blip>
          <a:srcRect l="53062" b="55211"/>
          <a:stretch>
            <a:fillRect/>
          </a:stretch>
        </p:blipFill>
        <p:spPr>
          <a:xfrm>
            <a:off x="5152248" y="2917786"/>
            <a:ext cx="3083560" cy="1910597"/>
          </a:xfrm>
          <a:prstGeom prst="rect">
            <a:avLst/>
          </a:prstGeom>
        </p:spPr>
      </p:pic>
      <p:sp>
        <p:nvSpPr>
          <p:cNvPr id="40" name="文本框 39">
            <a:extLst>
              <a:ext uri="{FF2B5EF4-FFF2-40B4-BE49-F238E27FC236}">
                <a16:creationId xmlns:a16="http://schemas.microsoft.com/office/drawing/2014/main" id="{6DF92779-B33E-15FE-79DE-A34FC29DD477}"/>
              </a:ext>
            </a:extLst>
          </p:cNvPr>
          <p:cNvSpPr txBox="1"/>
          <p:nvPr/>
        </p:nvSpPr>
        <p:spPr>
          <a:xfrm>
            <a:off x="4299937" y="1032817"/>
            <a:ext cx="4788183" cy="338554"/>
          </a:xfrm>
          <a:prstGeom prst="rect">
            <a:avLst/>
          </a:prstGeom>
          <a:noFill/>
        </p:spPr>
        <p:txBody>
          <a:bodyPr wrap="square">
            <a:spAutoFit/>
          </a:bodyPr>
          <a:lstStyle/>
          <a:p>
            <a:pPr>
              <a:buNone/>
            </a:pPr>
            <a:r>
              <a:rPr lang="zh-CN" altLang="zh-CN" sz="1600" b="1" dirty="0">
                <a:latin typeface="宋体" panose="02010600030101010101" pitchFamily="2" charset="-122"/>
                <a:ea typeface="宋体" panose="02010600030101010101" pitchFamily="2" charset="-122"/>
              </a:rPr>
              <a:t>研究区</a:t>
            </a:r>
            <a:r>
              <a:rPr lang="zh-CN" altLang="en-US" sz="1600" b="1" dirty="0">
                <a:latin typeface="宋体" panose="02010600030101010101" pitchFamily="2" charset="-122"/>
                <a:ea typeface="宋体" panose="02010600030101010101" pitchFamily="2" charset="-122"/>
              </a:rPr>
              <a:t>：</a:t>
            </a:r>
            <a:r>
              <a:rPr lang="zh-CN" altLang="zh-CN" sz="1600" dirty="0">
                <a:latin typeface="Times New Roman" panose="02020603050405020304" pitchFamily="18" charset="0"/>
                <a:ea typeface="宋体" panose="02010600030101010101" pitchFamily="2" charset="-122"/>
              </a:rPr>
              <a:t>美国中阿巴拉契亚煤矿区 </a:t>
            </a:r>
            <a:r>
              <a:rPr lang="zh-CN" altLang="en-US" sz="1600" dirty="0">
                <a:latin typeface="Times New Roman" panose="02020603050405020304" pitchFamily="18" charset="0"/>
                <a:ea typeface="宋体" panose="02010600030101010101" pitchFamily="2" charset="-122"/>
              </a:rPr>
              <a:t>（</a:t>
            </a:r>
            <a:r>
              <a:rPr lang="zh-CN" altLang="zh-CN" sz="1600" dirty="0">
                <a:latin typeface="Times New Roman" panose="02020603050405020304" pitchFamily="18" charset="0"/>
                <a:ea typeface="宋体" panose="02010600030101010101" pitchFamily="2" charset="-122"/>
              </a:rPr>
              <a:t>1985–2015年</a:t>
            </a:r>
            <a:r>
              <a:rPr lang="zh-CN" altLang="en-US" sz="1600" dirty="0">
                <a:latin typeface="Times New Roman" panose="02020603050405020304" pitchFamily="18" charset="0"/>
                <a:ea typeface="宋体" panose="02010600030101010101" pitchFamily="2" charset="-122"/>
              </a:rPr>
              <a:t>）</a:t>
            </a:r>
            <a:endParaRPr lang="zh-CN" altLang="zh-CN" sz="1600" dirty="0">
              <a:latin typeface="Times New Roman" panose="02020603050405020304" pitchFamily="18" charset="0"/>
              <a:ea typeface="宋体" panose="02010600030101010101" pitchFamily="2" charset="-122"/>
            </a:endParaRPr>
          </a:p>
        </p:txBody>
      </p:sp>
      <p:sp>
        <p:nvSpPr>
          <p:cNvPr id="42" name="文本框 41">
            <a:extLst>
              <a:ext uri="{FF2B5EF4-FFF2-40B4-BE49-F238E27FC236}">
                <a16:creationId xmlns:a16="http://schemas.microsoft.com/office/drawing/2014/main" id="{26E8F293-9552-84AE-8FD2-BDCA2F433940}"/>
              </a:ext>
            </a:extLst>
          </p:cNvPr>
          <p:cNvSpPr txBox="1"/>
          <p:nvPr/>
        </p:nvSpPr>
        <p:spPr>
          <a:xfrm>
            <a:off x="4310674" y="1538311"/>
            <a:ext cx="4678680" cy="338554"/>
          </a:xfrm>
          <a:prstGeom prst="rect">
            <a:avLst/>
          </a:prstGeom>
          <a:noFill/>
        </p:spPr>
        <p:txBody>
          <a:bodyPr wrap="square">
            <a:spAutoFit/>
          </a:bodyPr>
          <a:lstStyle/>
          <a:p>
            <a:pPr>
              <a:buNone/>
            </a:pPr>
            <a:r>
              <a:rPr lang="zh-CN" altLang="zh-CN" sz="1600" b="1" dirty="0">
                <a:latin typeface="宋体" panose="02010600030101010101" pitchFamily="2" charset="-122"/>
                <a:ea typeface="宋体" panose="02010600030101010101" pitchFamily="2" charset="-122"/>
              </a:rPr>
              <a:t>数据</a:t>
            </a:r>
            <a:r>
              <a:rPr lang="zh-CN" altLang="en-US" sz="1600" b="1" dirty="0">
                <a:latin typeface="宋体" panose="02010600030101010101" pitchFamily="2" charset="-122"/>
                <a:ea typeface="宋体" panose="02010600030101010101" pitchFamily="2" charset="-122"/>
              </a:rPr>
              <a:t>：</a:t>
            </a:r>
            <a:r>
              <a:rPr lang="zh-CN" altLang="zh-CN" sz="1600" dirty="0">
                <a:latin typeface="Times New Roman" panose="02020603050405020304" pitchFamily="18" charset="0"/>
                <a:ea typeface="宋体" panose="02010600030101010101" pitchFamily="2" charset="-122"/>
              </a:rPr>
              <a:t>Landsat 5/7/8 </a:t>
            </a:r>
            <a:r>
              <a:rPr lang="zh-CN" altLang="en-US" sz="1600" dirty="0">
                <a:latin typeface="Times New Roman" panose="02020603050405020304" pitchFamily="18" charset="0"/>
                <a:ea typeface="宋体" panose="02010600030101010101" pitchFamily="2" charset="-122"/>
              </a:rPr>
              <a:t>、</a:t>
            </a:r>
            <a:r>
              <a:rPr lang="zh-CN" altLang="zh-CN" sz="1600" dirty="0">
                <a:latin typeface="Times New Roman" panose="02020603050405020304" pitchFamily="18" charset="0"/>
                <a:ea typeface="宋体" panose="02010600030101010101" pitchFamily="2" charset="-122"/>
              </a:rPr>
              <a:t>Google Earth Engine</a:t>
            </a:r>
            <a:r>
              <a:rPr lang="zh-CN" altLang="en-US" sz="1600" dirty="0">
                <a:latin typeface="Times New Roman" panose="02020603050405020304" pitchFamily="18" charset="0"/>
                <a:ea typeface="宋体" panose="02010600030101010101" pitchFamily="2" charset="-122"/>
              </a:rPr>
              <a:t>平台</a:t>
            </a:r>
            <a:endParaRPr lang="zh-CN" altLang="zh-CN" sz="1600" dirty="0">
              <a:latin typeface="Times New Roman" panose="02020603050405020304" pitchFamily="18" charset="0"/>
              <a:ea typeface="宋体" panose="02010600030101010101" pitchFamily="2" charset="-122"/>
            </a:endParaRPr>
          </a:p>
        </p:txBody>
      </p:sp>
      <p:sp>
        <p:nvSpPr>
          <p:cNvPr id="44" name="文本框 43">
            <a:extLst>
              <a:ext uri="{FF2B5EF4-FFF2-40B4-BE49-F238E27FC236}">
                <a16:creationId xmlns:a16="http://schemas.microsoft.com/office/drawing/2014/main" id="{3A201F2B-0DCE-8852-FB41-CA2ABF7D00A1}"/>
              </a:ext>
            </a:extLst>
          </p:cNvPr>
          <p:cNvSpPr txBox="1"/>
          <p:nvPr/>
        </p:nvSpPr>
        <p:spPr>
          <a:xfrm>
            <a:off x="4354688" y="2011952"/>
            <a:ext cx="4678680" cy="830997"/>
          </a:xfrm>
          <a:prstGeom prst="rect">
            <a:avLst/>
          </a:prstGeom>
          <a:noFill/>
        </p:spPr>
        <p:txBody>
          <a:bodyPr wrap="square">
            <a:spAutoFit/>
          </a:bodyPr>
          <a:lstStyle/>
          <a:p>
            <a:r>
              <a:rPr lang="zh-CN" altLang="en-US" sz="1600" b="1" dirty="0">
                <a:latin typeface="宋体" panose="02010600030101010101" pitchFamily="2" charset="-122"/>
                <a:ea typeface="宋体" panose="02010600030101010101" pitchFamily="2" charset="-122"/>
              </a:rPr>
              <a:t>研究</a:t>
            </a:r>
            <a:r>
              <a:rPr lang="zh-CN" altLang="zh-CN" sz="1600" b="1" dirty="0">
                <a:latin typeface="宋体" panose="02010600030101010101" pitchFamily="2" charset="-122"/>
                <a:ea typeface="宋体" panose="02010600030101010101" pitchFamily="2" charset="-122"/>
              </a:rPr>
              <a:t>目标</a:t>
            </a:r>
            <a:r>
              <a:rPr lang="zh-CN" altLang="en-US" sz="1600" b="1" dirty="0">
                <a:latin typeface="宋体" panose="02010600030101010101" pitchFamily="2" charset="-122"/>
                <a:ea typeface="宋体" panose="02010600030101010101" pitchFamily="2" charset="-122"/>
              </a:rPr>
              <a:t>：</a:t>
            </a:r>
            <a:endParaRPr lang="zh-CN" altLang="zh-CN" sz="1600" b="1" dirty="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zh-CN" sz="1600" dirty="0">
                <a:latin typeface="宋体" panose="02010600030101010101" pitchFamily="2" charset="-122"/>
                <a:ea typeface="宋体" panose="02010600030101010101" pitchFamily="2" charset="-122"/>
              </a:rPr>
              <a:t>提取露天煤矿年度扰动范围 </a:t>
            </a:r>
          </a:p>
          <a:p>
            <a:pPr marL="285750" indent="-285750">
              <a:buFont typeface="Arial" panose="020B0604020202020204" pitchFamily="34" charset="0"/>
              <a:buChar char="•"/>
            </a:pPr>
            <a:r>
              <a:rPr lang="zh-CN" altLang="zh-CN" sz="1600" dirty="0">
                <a:latin typeface="宋体" panose="02010600030101010101" pitchFamily="2" charset="-122"/>
                <a:ea typeface="宋体" panose="02010600030101010101" pitchFamily="2" charset="-122"/>
              </a:rPr>
              <a:t>分析矿区长期扩张过程</a:t>
            </a:r>
          </a:p>
        </p:txBody>
      </p:sp>
      <p:sp>
        <p:nvSpPr>
          <p:cNvPr id="46" name="文本框 45">
            <a:extLst>
              <a:ext uri="{FF2B5EF4-FFF2-40B4-BE49-F238E27FC236}">
                <a16:creationId xmlns:a16="http://schemas.microsoft.com/office/drawing/2014/main" id="{A3FAE9C9-7E74-7ADE-2C6A-D4B34CD18312}"/>
              </a:ext>
            </a:extLst>
          </p:cNvPr>
          <p:cNvSpPr txBox="1"/>
          <p:nvPr/>
        </p:nvSpPr>
        <p:spPr>
          <a:xfrm>
            <a:off x="231140" y="3634066"/>
            <a:ext cx="4678680" cy="1077218"/>
          </a:xfrm>
          <a:prstGeom prst="rect">
            <a:avLst/>
          </a:prstGeom>
          <a:noFill/>
        </p:spPr>
        <p:txBody>
          <a:bodyPr wrap="square">
            <a:spAutoFit/>
          </a:bodyPr>
          <a:lstStyle/>
          <a:p>
            <a:r>
              <a:rPr lang="zh-CN" altLang="zh-CN" sz="1600" b="1" dirty="0">
                <a:latin typeface="Times New Roman" panose="02020603050405020304" pitchFamily="18" charset="0"/>
                <a:ea typeface="宋体" panose="02010600030101010101" pitchFamily="2" charset="-122"/>
              </a:rPr>
              <a:t>主要结果</a:t>
            </a:r>
          </a:p>
          <a:p>
            <a:pPr marL="285750" indent="-285750">
              <a:buFont typeface="Arial" panose="020B0604020202020204" pitchFamily="34" charset="0"/>
              <a:buChar char="•"/>
            </a:pPr>
            <a:r>
              <a:rPr lang="zh-CN" altLang="zh-CN" sz="1600" dirty="0">
                <a:latin typeface="Times New Roman" panose="02020603050405020304" pitchFamily="18" charset="0"/>
                <a:ea typeface="宋体" panose="02010600030101010101" pitchFamily="2" charset="-122"/>
              </a:rPr>
              <a:t>建立1985–2015年矿区年度扰动数据库 </a:t>
            </a:r>
          </a:p>
          <a:p>
            <a:pPr marL="285750" indent="-285750">
              <a:buFont typeface="Arial" panose="020B0604020202020204" pitchFamily="34" charset="0"/>
              <a:buChar char="•"/>
            </a:pPr>
            <a:r>
              <a:rPr lang="zh-CN" altLang="zh-CN" sz="1600" dirty="0">
                <a:latin typeface="Times New Roman" panose="02020603050405020304" pitchFamily="18" charset="0"/>
                <a:ea typeface="宋体" panose="02010600030101010101" pitchFamily="2" charset="-122"/>
              </a:rPr>
              <a:t>累计</a:t>
            </a:r>
            <a:r>
              <a:rPr lang="zh-CN" altLang="en-US" sz="1600" dirty="0">
                <a:latin typeface="Times New Roman" panose="02020603050405020304" pitchFamily="18" charset="0"/>
                <a:ea typeface="宋体" panose="02010600030101010101" pitchFamily="2" charset="-122"/>
              </a:rPr>
              <a:t>扰动</a:t>
            </a:r>
            <a:r>
              <a:rPr lang="zh-CN" altLang="zh-CN" sz="1600" dirty="0">
                <a:latin typeface="Times New Roman" panose="02020603050405020304" pitchFamily="18" charset="0"/>
                <a:ea typeface="宋体" panose="02010600030101010101" pitchFamily="2" charset="-122"/>
              </a:rPr>
              <a:t>面积由约3000 km²增长至近6000 km² </a:t>
            </a:r>
          </a:p>
          <a:p>
            <a:pPr marL="285750" indent="-285750">
              <a:buFont typeface="Arial" panose="020B0604020202020204" pitchFamily="34" charset="0"/>
              <a:buChar char="•"/>
            </a:pPr>
            <a:r>
              <a:rPr lang="zh-CN" altLang="zh-CN" sz="1600" dirty="0">
                <a:latin typeface="Times New Roman" panose="02020603050405020304" pitchFamily="18" charset="0"/>
                <a:ea typeface="宋体" panose="02010600030101010101" pitchFamily="2" charset="-122"/>
              </a:rPr>
              <a:t>露天采矿活动持续扩张</a:t>
            </a:r>
          </a:p>
        </p:txBody>
      </p:sp>
      <p:sp>
        <p:nvSpPr>
          <p:cNvPr id="48" name="文本框 47">
            <a:extLst>
              <a:ext uri="{FF2B5EF4-FFF2-40B4-BE49-F238E27FC236}">
                <a16:creationId xmlns:a16="http://schemas.microsoft.com/office/drawing/2014/main" id="{A05B3F2D-4EC1-A310-4CF1-D20BFD0CB82A}"/>
              </a:ext>
            </a:extLst>
          </p:cNvPr>
          <p:cNvSpPr txBox="1"/>
          <p:nvPr/>
        </p:nvSpPr>
        <p:spPr>
          <a:xfrm>
            <a:off x="5661660" y="4815526"/>
            <a:ext cx="2639060" cy="261610"/>
          </a:xfrm>
          <a:prstGeom prst="rect">
            <a:avLst/>
          </a:prstGeom>
          <a:noFill/>
        </p:spPr>
        <p:txBody>
          <a:bodyPr wrap="square">
            <a:spAutoFit/>
          </a:bodyPr>
          <a:lstStyle/>
          <a:p>
            <a:r>
              <a:rPr lang="zh-CN" altLang="zh-CN" sz="1100" dirty="0">
                <a:solidFill>
                  <a:srgbClr val="202020"/>
                </a:solidFill>
                <a:latin typeface="宋体" panose="02010600030101010101" pitchFamily="2" charset="-122"/>
                <a:ea typeface="宋体" panose="02010600030101010101" pitchFamily="2" charset="-122"/>
              </a:rPr>
              <a:t>逐年矿区扰动范围与累计扰动面积变化</a:t>
            </a:r>
            <a:endParaRPr lang="zh-CN" altLang="en-US" sz="1100" dirty="0">
              <a:solidFill>
                <a:srgbClr val="202020"/>
              </a:solidFill>
              <a:latin typeface="宋体" panose="02010600030101010101" pitchFamily="2" charset="-122"/>
              <a:ea typeface="宋体" panose="02010600030101010101" pitchFamily="2" charset="-122"/>
            </a:endParaRPr>
          </a:p>
        </p:txBody>
      </p:sp>
      <p:sp>
        <p:nvSpPr>
          <p:cNvPr id="50" name="文本框 49">
            <a:extLst>
              <a:ext uri="{FF2B5EF4-FFF2-40B4-BE49-F238E27FC236}">
                <a16:creationId xmlns:a16="http://schemas.microsoft.com/office/drawing/2014/main" id="{4E705A99-D182-AE44-7D4F-004039511F2B}"/>
              </a:ext>
            </a:extLst>
          </p:cNvPr>
          <p:cNvSpPr txBox="1"/>
          <p:nvPr/>
        </p:nvSpPr>
        <p:spPr>
          <a:xfrm>
            <a:off x="1123808" y="3053924"/>
            <a:ext cx="2324384" cy="261610"/>
          </a:xfrm>
          <a:prstGeom prst="rect">
            <a:avLst/>
          </a:prstGeom>
          <a:noFill/>
        </p:spPr>
        <p:txBody>
          <a:bodyPr wrap="square">
            <a:spAutoFit/>
          </a:bodyPr>
          <a:lstStyle/>
          <a:p>
            <a:r>
              <a:rPr lang="zh-CN" altLang="zh-CN" sz="1100" dirty="0">
                <a:solidFill>
                  <a:srgbClr val="202020"/>
                </a:solidFill>
                <a:latin typeface="宋体" panose="02010600030101010101" pitchFamily="2" charset="-122"/>
                <a:ea typeface="宋体" panose="02010600030101010101" pitchFamily="2" charset="-122"/>
              </a:rPr>
              <a:t>NDVI 图像示例及相关真彩色图像</a:t>
            </a:r>
            <a:endParaRPr lang="zh-CN" altLang="en-US" sz="1100" dirty="0">
              <a:solidFill>
                <a:srgbClr val="202020"/>
              </a:solidFill>
              <a:latin typeface="宋体" panose="02010600030101010101" pitchFamily="2" charset="-122"/>
              <a:ea typeface="宋体" panose="02010600030101010101" pitchFamily="2" charset="-122"/>
            </a:endParaRP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0" y="122465"/>
            <a:ext cx="4572000" cy="3987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314865"/>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04 </a:t>
            </a:r>
            <a:r>
              <a:rPr kumimoji="0" lang="zh-CN" altLang="en-US" sz="2000" b="1" i="0" u="none" strike="noStrike" kern="1200" cap="none" spc="0" normalizeH="0" baseline="0" noProof="0" dirty="0">
                <a:ln>
                  <a:noFill/>
                </a:ln>
                <a:solidFill>
                  <a:srgbClr val="314865"/>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典型实例</a:t>
            </a:r>
          </a:p>
        </p:txBody>
      </p:sp>
      <p:sp>
        <p:nvSpPr>
          <p:cNvPr id="22" name="文本框 21">
            <a:extLst>
              <a:ext uri="{FF2B5EF4-FFF2-40B4-BE49-F238E27FC236}">
                <a16:creationId xmlns:a16="http://schemas.microsoft.com/office/drawing/2014/main" id="{550F59F3-585D-FB2F-2748-D52CE4C4119D}"/>
              </a:ext>
            </a:extLst>
          </p:cNvPr>
          <p:cNvSpPr txBox="1"/>
          <p:nvPr/>
        </p:nvSpPr>
        <p:spPr>
          <a:xfrm>
            <a:off x="35560" y="478274"/>
            <a:ext cx="8326120" cy="646331"/>
          </a:xfrm>
          <a:prstGeom prst="rect">
            <a:avLst/>
          </a:prstGeom>
          <a:noFill/>
        </p:spPr>
        <p:txBody>
          <a:bodyPr wrap="square">
            <a:spAutoFit/>
          </a:bodyPr>
          <a:lstStyle/>
          <a:p>
            <a:r>
              <a:rPr lang="zh-CN" altLang="zh-CN" b="1" dirty="0">
                <a:solidFill>
                  <a:srgbClr val="314865"/>
                </a:solidFill>
                <a:latin typeface="Arial" panose="020B0604020202020204" pitchFamily="34" charset="0"/>
                <a:ea typeface="微软雅黑" panose="020B0503020204020204" pitchFamily="34" charset="-122"/>
              </a:rPr>
              <a:t>中国山西安太堡露天煤矿排土场</a:t>
            </a:r>
            <a:r>
              <a:rPr lang="en-US" altLang="zh-CN" b="1" dirty="0">
                <a:solidFill>
                  <a:srgbClr val="314865"/>
                </a:solidFill>
                <a:latin typeface="Arial" panose="020B0604020202020204" pitchFamily="34" charset="0"/>
                <a:ea typeface="微软雅黑" panose="020B0503020204020204" pitchFamily="34" charset="-122"/>
              </a:rPr>
              <a:t> ——</a:t>
            </a:r>
            <a:r>
              <a:rPr lang="zh-CN" altLang="zh-CN" b="1" dirty="0">
                <a:solidFill>
                  <a:srgbClr val="314865"/>
                </a:solidFill>
                <a:latin typeface="Arial" panose="020B0604020202020204" pitchFamily="34" charset="0"/>
                <a:ea typeface="微软雅黑" panose="020B0503020204020204" pitchFamily="34" charset="-122"/>
              </a:rPr>
              <a:t>中国地质大学（北京）</a:t>
            </a:r>
            <a:r>
              <a:rPr lang="zh-CN" altLang="en-US" b="1" dirty="0">
                <a:solidFill>
                  <a:srgbClr val="314865"/>
                </a:solidFill>
                <a:latin typeface="Arial" panose="020B0604020202020204" pitchFamily="34" charset="0"/>
                <a:ea typeface="微软雅黑" panose="020B0503020204020204" pitchFamily="34" charset="-122"/>
              </a:rPr>
              <a:t>、</a:t>
            </a:r>
            <a:r>
              <a:rPr lang="zh-CN" altLang="zh-CN" b="1" dirty="0">
                <a:solidFill>
                  <a:srgbClr val="314865"/>
                </a:solidFill>
                <a:latin typeface="Arial" panose="020B0604020202020204" pitchFamily="34" charset="0"/>
                <a:ea typeface="微软雅黑" panose="020B0503020204020204" pitchFamily="34" charset="-122"/>
              </a:rPr>
              <a:t>自然资源部</a:t>
            </a:r>
          </a:p>
          <a:p>
            <a:pPr algn="just">
              <a:buNone/>
              <a:defRPr/>
            </a:pPr>
            <a:endParaRPr lang="zh-CN" altLang="zh-CN" b="1" dirty="0">
              <a:solidFill>
                <a:srgbClr val="314865"/>
              </a:solidFill>
              <a:latin typeface="Arial" panose="020B0604020202020204" pitchFamily="34" charset="0"/>
              <a:ea typeface="微软雅黑" panose="020B0503020204020204" pitchFamily="34" charset="-122"/>
            </a:endParaRPr>
          </a:p>
        </p:txBody>
      </p:sp>
      <p:sp>
        <p:nvSpPr>
          <p:cNvPr id="28" name="文本框 27">
            <a:extLst>
              <a:ext uri="{FF2B5EF4-FFF2-40B4-BE49-F238E27FC236}">
                <a16:creationId xmlns:a16="http://schemas.microsoft.com/office/drawing/2014/main" id="{E571BDB3-CEDB-81B9-AD2B-E68217461EE9}"/>
              </a:ext>
            </a:extLst>
          </p:cNvPr>
          <p:cNvSpPr txBox="1"/>
          <p:nvPr/>
        </p:nvSpPr>
        <p:spPr>
          <a:xfrm>
            <a:off x="224282" y="961591"/>
            <a:ext cx="4021838" cy="584775"/>
          </a:xfrm>
          <a:prstGeom prst="rect">
            <a:avLst/>
          </a:prstGeom>
          <a:noFill/>
        </p:spPr>
        <p:txBody>
          <a:bodyPr wrap="square">
            <a:spAutoFit/>
          </a:bodyPr>
          <a:lstStyle/>
          <a:p>
            <a:pPr>
              <a:buNone/>
            </a:pPr>
            <a:r>
              <a:rPr lang="zh-CN" altLang="zh-CN" sz="1600" b="1" dirty="0">
                <a:latin typeface="Times New Roman" panose="02020603050405020304" pitchFamily="18" charset="0"/>
                <a:ea typeface="宋体" panose="02010600030101010101" pitchFamily="2" charset="-122"/>
              </a:rPr>
              <a:t>研究区</a:t>
            </a:r>
            <a:r>
              <a:rPr lang="zh-CN" altLang="en-US" sz="1600" b="1" dirty="0">
                <a:latin typeface="Times New Roman" panose="02020603050405020304" pitchFamily="18" charset="0"/>
                <a:ea typeface="宋体" panose="02010600030101010101" pitchFamily="2" charset="-122"/>
              </a:rPr>
              <a:t>：</a:t>
            </a:r>
            <a:r>
              <a:rPr lang="zh-CN" altLang="zh-CN" sz="1600" dirty="0">
                <a:latin typeface="Times New Roman" panose="02020603050405020304" pitchFamily="18" charset="0"/>
                <a:ea typeface="宋体" panose="02010600030101010101" pitchFamily="2" charset="-122"/>
              </a:rPr>
              <a:t>山西平朔矿区安太堡露天煤矿</a:t>
            </a:r>
            <a:r>
              <a:rPr lang="zh-CN" altLang="en-US" sz="1600" dirty="0">
                <a:latin typeface="Times New Roman" panose="02020603050405020304" pitchFamily="18" charset="0"/>
                <a:ea typeface="宋体" panose="02010600030101010101" pitchFamily="2" charset="-122"/>
              </a:rPr>
              <a:t>（</a:t>
            </a:r>
            <a:r>
              <a:rPr lang="zh-CN" altLang="zh-CN" sz="1600" dirty="0">
                <a:latin typeface="Times New Roman" panose="02020603050405020304" pitchFamily="18" charset="0"/>
                <a:ea typeface="宋体" panose="02010600030101010101" pitchFamily="2" charset="-122"/>
              </a:rPr>
              <a:t>1986–2020年</a:t>
            </a:r>
            <a:r>
              <a:rPr lang="zh-CN" altLang="en-US" sz="1600" dirty="0">
                <a:latin typeface="Times New Roman" panose="02020603050405020304" pitchFamily="18" charset="0"/>
                <a:ea typeface="宋体" panose="02010600030101010101" pitchFamily="2" charset="-122"/>
              </a:rPr>
              <a:t>）</a:t>
            </a:r>
            <a:endParaRPr lang="zh-CN" altLang="zh-CN" sz="1600" dirty="0">
              <a:latin typeface="Times New Roman" panose="02020603050405020304" pitchFamily="18" charset="0"/>
              <a:ea typeface="宋体" panose="02010600030101010101" pitchFamily="2" charset="-122"/>
            </a:endParaRPr>
          </a:p>
        </p:txBody>
      </p:sp>
      <p:sp>
        <p:nvSpPr>
          <p:cNvPr id="30" name="文本框 29">
            <a:extLst>
              <a:ext uri="{FF2B5EF4-FFF2-40B4-BE49-F238E27FC236}">
                <a16:creationId xmlns:a16="http://schemas.microsoft.com/office/drawing/2014/main" id="{A8604299-C145-7C28-BE87-1B1A90AC2378}"/>
              </a:ext>
            </a:extLst>
          </p:cNvPr>
          <p:cNvSpPr txBox="1"/>
          <p:nvPr/>
        </p:nvSpPr>
        <p:spPr>
          <a:xfrm>
            <a:off x="224282" y="1673402"/>
            <a:ext cx="4602480" cy="338554"/>
          </a:xfrm>
          <a:prstGeom prst="rect">
            <a:avLst/>
          </a:prstGeom>
          <a:noFill/>
        </p:spPr>
        <p:txBody>
          <a:bodyPr wrap="square">
            <a:spAutoFit/>
          </a:bodyPr>
          <a:lstStyle/>
          <a:p>
            <a:pPr>
              <a:buNone/>
            </a:pPr>
            <a:r>
              <a:rPr lang="zh-CN" altLang="zh-CN" sz="1600" b="1" dirty="0">
                <a:latin typeface="Times New Roman" panose="02020603050405020304" pitchFamily="18" charset="0"/>
                <a:ea typeface="宋体" panose="02010600030101010101" pitchFamily="2" charset="-122"/>
              </a:rPr>
              <a:t>数据</a:t>
            </a:r>
            <a:r>
              <a:rPr lang="zh-CN" altLang="en-US" sz="1600" b="1" dirty="0">
                <a:latin typeface="Times New Roman" panose="02020603050405020304" pitchFamily="18" charset="0"/>
                <a:ea typeface="宋体" panose="02010600030101010101" pitchFamily="2" charset="-122"/>
              </a:rPr>
              <a:t>：</a:t>
            </a:r>
            <a:r>
              <a:rPr lang="zh-CN" altLang="zh-CN" sz="1600" dirty="0">
                <a:latin typeface="Times New Roman" panose="02020603050405020304" pitchFamily="18" charset="0"/>
                <a:ea typeface="宋体" panose="02010600030101010101" pitchFamily="2" charset="-122"/>
              </a:rPr>
              <a:t>Landsat长时间序列影像</a:t>
            </a:r>
            <a:r>
              <a:rPr lang="zh-CN" altLang="en-US" sz="1600" dirty="0">
                <a:latin typeface="Times New Roman" panose="02020603050405020304" pitchFamily="18" charset="0"/>
                <a:ea typeface="宋体" panose="02010600030101010101" pitchFamily="2" charset="-122"/>
              </a:rPr>
              <a:t>，</a:t>
            </a:r>
            <a:r>
              <a:rPr lang="zh-CN" altLang="zh-CN" sz="1600" dirty="0">
                <a:latin typeface="Times New Roman" panose="02020603050405020304" pitchFamily="18" charset="0"/>
                <a:ea typeface="宋体" panose="02010600030101010101" pitchFamily="2" charset="-122"/>
              </a:rPr>
              <a:t>NDVI植被指数</a:t>
            </a:r>
          </a:p>
        </p:txBody>
      </p:sp>
      <p:sp>
        <p:nvSpPr>
          <p:cNvPr id="32" name="文本框 31">
            <a:extLst>
              <a:ext uri="{FF2B5EF4-FFF2-40B4-BE49-F238E27FC236}">
                <a16:creationId xmlns:a16="http://schemas.microsoft.com/office/drawing/2014/main" id="{4E0CF976-952A-405F-B850-B914CDFC66B9}"/>
              </a:ext>
            </a:extLst>
          </p:cNvPr>
          <p:cNvSpPr txBox="1"/>
          <p:nvPr/>
        </p:nvSpPr>
        <p:spPr>
          <a:xfrm>
            <a:off x="261613" y="2097630"/>
            <a:ext cx="4602480" cy="1077218"/>
          </a:xfrm>
          <a:prstGeom prst="rect">
            <a:avLst/>
          </a:prstGeom>
          <a:noFill/>
        </p:spPr>
        <p:txBody>
          <a:bodyPr wrap="square">
            <a:spAutoFit/>
          </a:bodyPr>
          <a:lstStyle/>
          <a:p>
            <a:pPr>
              <a:buNone/>
            </a:pPr>
            <a:r>
              <a:rPr lang="zh-CN" altLang="zh-CN" sz="1600" b="1" dirty="0">
                <a:latin typeface="宋体" panose="02010600030101010101" pitchFamily="2" charset="-122"/>
                <a:ea typeface="宋体" panose="02010600030101010101" pitchFamily="2" charset="-122"/>
              </a:rPr>
              <a:t>研究目标</a:t>
            </a:r>
            <a:r>
              <a:rPr lang="zh-CN" altLang="en-US" sz="1600" b="1" dirty="0">
                <a:latin typeface="宋体" panose="02010600030101010101" pitchFamily="2" charset="-122"/>
                <a:ea typeface="宋体" panose="02010600030101010101" pitchFamily="2" charset="-122"/>
              </a:rPr>
              <a:t>：</a:t>
            </a:r>
            <a:endParaRPr lang="zh-CN" altLang="zh-CN" sz="1600" b="1" dirty="0">
              <a:latin typeface="宋体" panose="02010600030101010101" pitchFamily="2" charset="-122"/>
              <a:ea typeface="宋体" panose="02010600030101010101" pitchFamily="2" charset="-122"/>
            </a:endParaRPr>
          </a:p>
          <a:p>
            <a:pPr>
              <a:buFont typeface="Arial" panose="020B0604020202020204" pitchFamily="34" charset="0"/>
              <a:buChar char="•"/>
            </a:pPr>
            <a:r>
              <a:rPr lang="en-US" altLang="zh-CN" sz="1600" dirty="0">
                <a:latin typeface="宋体" panose="02010600030101010101" pitchFamily="2" charset="-122"/>
                <a:ea typeface="宋体" panose="02010600030101010101" pitchFamily="2" charset="-122"/>
              </a:rPr>
              <a:t>  </a:t>
            </a:r>
            <a:r>
              <a:rPr lang="zh-CN" altLang="zh-CN" sz="1600" dirty="0">
                <a:latin typeface="宋体" panose="02010600030101010101" pitchFamily="2" charset="-122"/>
                <a:ea typeface="宋体" panose="02010600030101010101" pitchFamily="2" charset="-122"/>
              </a:rPr>
              <a:t>监测排土场植被恢复过程 </a:t>
            </a:r>
          </a:p>
          <a:p>
            <a:pPr>
              <a:buFont typeface="Arial" panose="020B0604020202020204" pitchFamily="34" charset="0"/>
              <a:buChar char="•"/>
            </a:pPr>
            <a:r>
              <a:rPr lang="en-US" altLang="zh-CN" sz="1600" dirty="0">
                <a:latin typeface="宋体" panose="02010600030101010101" pitchFamily="2" charset="-122"/>
                <a:ea typeface="宋体" panose="02010600030101010101" pitchFamily="2" charset="-122"/>
              </a:rPr>
              <a:t>  </a:t>
            </a:r>
            <a:r>
              <a:rPr lang="zh-CN" altLang="zh-CN" sz="1600" dirty="0">
                <a:latin typeface="宋体" panose="02010600030101010101" pitchFamily="2" charset="-122"/>
                <a:ea typeface="宋体" panose="02010600030101010101" pitchFamily="2" charset="-122"/>
              </a:rPr>
              <a:t>评价土地复垦成效 </a:t>
            </a:r>
          </a:p>
          <a:p>
            <a:pPr>
              <a:buFont typeface="Arial" panose="020B0604020202020204" pitchFamily="34" charset="0"/>
              <a:buChar char="•"/>
            </a:pPr>
            <a:r>
              <a:rPr lang="en-US" altLang="zh-CN" sz="1600" dirty="0">
                <a:latin typeface="宋体" panose="02010600030101010101" pitchFamily="2" charset="-122"/>
                <a:ea typeface="宋体" panose="02010600030101010101" pitchFamily="2" charset="-122"/>
              </a:rPr>
              <a:t>  </a:t>
            </a:r>
            <a:r>
              <a:rPr lang="zh-CN" altLang="zh-CN" sz="1600" dirty="0">
                <a:latin typeface="宋体" panose="02010600030101010101" pitchFamily="2" charset="-122"/>
                <a:ea typeface="宋体" panose="02010600030101010101" pitchFamily="2" charset="-122"/>
              </a:rPr>
              <a:t>分析不同排土场恢复差异</a:t>
            </a:r>
          </a:p>
        </p:txBody>
      </p:sp>
      <p:sp>
        <p:nvSpPr>
          <p:cNvPr id="34" name="文本框 33">
            <a:extLst>
              <a:ext uri="{FF2B5EF4-FFF2-40B4-BE49-F238E27FC236}">
                <a16:creationId xmlns:a16="http://schemas.microsoft.com/office/drawing/2014/main" id="{A52908F7-2621-E9FB-F769-42C049A7A144}"/>
              </a:ext>
            </a:extLst>
          </p:cNvPr>
          <p:cNvSpPr txBox="1"/>
          <p:nvPr/>
        </p:nvSpPr>
        <p:spPr>
          <a:xfrm>
            <a:off x="5233924" y="3545638"/>
            <a:ext cx="3127756" cy="1077218"/>
          </a:xfrm>
          <a:prstGeom prst="rect">
            <a:avLst/>
          </a:prstGeom>
          <a:noFill/>
        </p:spPr>
        <p:txBody>
          <a:bodyPr wrap="square">
            <a:spAutoFit/>
          </a:bodyPr>
          <a:lstStyle/>
          <a:p>
            <a:pPr>
              <a:buNone/>
            </a:pPr>
            <a:r>
              <a:rPr lang="zh-CN" altLang="zh-CN" sz="1600" b="1" dirty="0">
                <a:latin typeface="Times New Roman" panose="02020603050405020304" pitchFamily="18" charset="0"/>
                <a:ea typeface="宋体" panose="02010600030101010101" pitchFamily="2" charset="-122"/>
              </a:rPr>
              <a:t>主要结果</a:t>
            </a:r>
          </a:p>
          <a:p>
            <a:pPr>
              <a:buFont typeface="Arial" panose="020B0604020202020204" pitchFamily="34" charset="0"/>
              <a:buChar char="•"/>
            </a:pPr>
            <a:r>
              <a:rPr lang="en-US" altLang="zh-CN" sz="1600" dirty="0">
                <a:latin typeface="Times New Roman" panose="02020603050405020304" pitchFamily="18" charset="0"/>
                <a:ea typeface="宋体" panose="02010600030101010101" pitchFamily="2" charset="-122"/>
              </a:rPr>
              <a:t>    </a:t>
            </a:r>
            <a:r>
              <a:rPr lang="zh-CN" altLang="zh-CN" sz="1600" dirty="0">
                <a:latin typeface="Times New Roman" panose="02020603050405020304" pitchFamily="18" charset="0"/>
                <a:ea typeface="宋体" panose="02010600030101010101" pitchFamily="2" charset="-122"/>
              </a:rPr>
              <a:t>NDVI整体呈持续上升趋势 </a:t>
            </a:r>
          </a:p>
          <a:p>
            <a:pPr>
              <a:buFont typeface="Arial" panose="020B0604020202020204" pitchFamily="34" charset="0"/>
              <a:buChar char="•"/>
            </a:pPr>
            <a:r>
              <a:rPr lang="en-US" altLang="zh-CN" sz="1600" dirty="0">
                <a:latin typeface="Times New Roman" panose="02020603050405020304" pitchFamily="18" charset="0"/>
                <a:ea typeface="宋体" panose="02010600030101010101" pitchFamily="2" charset="-122"/>
              </a:rPr>
              <a:t>    </a:t>
            </a:r>
            <a:r>
              <a:rPr lang="zh-CN" altLang="zh-CN" sz="1600" dirty="0">
                <a:latin typeface="Times New Roman" panose="02020603050405020304" pitchFamily="18" charset="0"/>
                <a:ea typeface="宋体" panose="02010600030101010101" pitchFamily="2" charset="-122"/>
              </a:rPr>
              <a:t>植被覆盖度显著提高 </a:t>
            </a:r>
          </a:p>
          <a:p>
            <a:pPr>
              <a:buFont typeface="Arial" panose="020B0604020202020204" pitchFamily="34" charset="0"/>
              <a:buChar char="•"/>
            </a:pPr>
            <a:r>
              <a:rPr lang="en-US" altLang="zh-CN" sz="1600" dirty="0">
                <a:latin typeface="Times New Roman" panose="02020603050405020304" pitchFamily="18" charset="0"/>
                <a:ea typeface="宋体" panose="02010600030101010101" pitchFamily="2" charset="-122"/>
              </a:rPr>
              <a:t>    </a:t>
            </a:r>
            <a:r>
              <a:rPr lang="zh-CN" altLang="zh-CN" sz="1600" dirty="0">
                <a:latin typeface="Times New Roman" panose="02020603050405020304" pitchFamily="18" charset="0"/>
                <a:ea typeface="宋体" panose="02010600030101010101" pitchFamily="2" charset="-122"/>
              </a:rPr>
              <a:t>不同排土场恢复速度存在差异</a:t>
            </a:r>
          </a:p>
        </p:txBody>
      </p:sp>
      <p:pic>
        <p:nvPicPr>
          <p:cNvPr id="36" name="图片 35">
            <a:extLst>
              <a:ext uri="{FF2B5EF4-FFF2-40B4-BE49-F238E27FC236}">
                <a16:creationId xmlns:a16="http://schemas.microsoft.com/office/drawing/2014/main" id="{37DAD6E2-A44D-444E-B78E-61B1C8BE63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15484" y="849064"/>
            <a:ext cx="3280156" cy="2325784"/>
          </a:xfrm>
          <a:prstGeom prst="rect">
            <a:avLst/>
          </a:prstGeom>
        </p:spPr>
      </p:pic>
      <p:pic>
        <p:nvPicPr>
          <p:cNvPr id="39" name="图片 38">
            <a:extLst>
              <a:ext uri="{FF2B5EF4-FFF2-40B4-BE49-F238E27FC236}">
                <a16:creationId xmlns:a16="http://schemas.microsoft.com/office/drawing/2014/main" id="{F446DE33-15CC-60E1-E71B-0EA2ACFBCF5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7813" y="3248447"/>
            <a:ext cx="4602480" cy="1854397"/>
          </a:xfrm>
          <a:prstGeom prst="rect">
            <a:avLst/>
          </a:prstGeom>
        </p:spPr>
      </p:pic>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2095" y="110521"/>
            <a:ext cx="4572000" cy="398780"/>
          </a:xfrm>
          <a:prstGeom prst="rect">
            <a:avLst/>
          </a:prstGeom>
          <a:noFill/>
        </p:spPr>
        <p:txBody>
          <a:bodyPr wrap="square">
            <a:spAutoFit/>
          </a:bodyPr>
          <a:lstStyle/>
          <a:p>
            <a:pPr marR="0" indent="0" defTabSz="914400" fontAlgn="auto">
              <a:lnSpc>
                <a:spcPct val="100000"/>
              </a:lnSpc>
              <a:spcBef>
                <a:spcPts val="0"/>
              </a:spcBef>
              <a:spcAft>
                <a:spcPts val="0"/>
              </a:spcAft>
              <a:buClrTx/>
              <a:buSzTx/>
              <a:buFontTx/>
              <a:buNone/>
              <a:defRPr/>
            </a:pPr>
            <a:r>
              <a:rPr kumimoji="0" lang="en-US" altLang="zh-CN" sz="2000" b="1" i="0" kern="1200" cap="none" spc="0" normalizeH="0" baseline="0" noProof="0" dirty="0">
                <a:solidFill>
                  <a:srgbClr val="314865"/>
                </a:solidFill>
                <a:latin typeface="Arial" panose="020B0604020202020204" pitchFamily="34" charset="0"/>
                <a:ea typeface="微软雅黑" panose="020B0503020204020204" pitchFamily="34" charset="-122"/>
                <a:cs typeface="+mn-cs"/>
                <a:sym typeface="Arial" panose="020B0604020202020204" pitchFamily="34" charset="0"/>
              </a:rPr>
              <a:t>05 </a:t>
            </a:r>
            <a:r>
              <a:rPr kumimoji="0" lang="zh-CN" altLang="en-US" sz="2000" b="1" i="0" kern="1200" cap="none" spc="0" normalizeH="0" baseline="0" noProof="0" dirty="0">
                <a:solidFill>
                  <a:srgbClr val="314865"/>
                </a:solidFill>
                <a:latin typeface="Arial" panose="020B0604020202020204" pitchFamily="34" charset="0"/>
                <a:ea typeface="微软雅黑" panose="020B0503020204020204" pitchFamily="34" charset="-122"/>
                <a:cs typeface="+mn-cs"/>
                <a:sym typeface="Arial" panose="020B0604020202020204" pitchFamily="34" charset="0"/>
              </a:rPr>
              <a:t>总结与展望</a:t>
            </a:r>
          </a:p>
        </p:txBody>
      </p:sp>
      <p:sp>
        <p:nvSpPr>
          <p:cNvPr id="6" name="文本框 5">
            <a:extLst>
              <a:ext uri="{FF2B5EF4-FFF2-40B4-BE49-F238E27FC236}">
                <a16:creationId xmlns:a16="http://schemas.microsoft.com/office/drawing/2014/main" id="{D9088044-6C6B-E036-303B-D5A739904396}"/>
              </a:ext>
            </a:extLst>
          </p:cNvPr>
          <p:cNvSpPr txBox="1"/>
          <p:nvPr/>
        </p:nvSpPr>
        <p:spPr>
          <a:xfrm>
            <a:off x="85596" y="559624"/>
            <a:ext cx="136220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b="1" dirty="0">
                <a:solidFill>
                  <a:srgbClr val="314865"/>
                </a:solidFill>
                <a:latin typeface="微软雅黑" panose="020B0503020204020204" pitchFamily="34" charset="-122"/>
                <a:ea typeface="微软雅黑" panose="020B0503020204020204" pitchFamily="34" charset="-122"/>
              </a:rPr>
              <a:t>研究总结</a:t>
            </a:r>
            <a:endParaRPr kumimoji="0" lang="en-US" sz="2000" b="1" i="0" u="none" strike="noStrike" kern="1200" cap="none" spc="0" normalizeH="0" baseline="0" noProof="0" dirty="0">
              <a:ln>
                <a:noFill/>
              </a:ln>
              <a:solidFill>
                <a:srgbClr val="314865"/>
              </a:solidFill>
              <a:effectLst/>
              <a:uLnTx/>
              <a:uFillTx/>
              <a:latin typeface="微软雅黑" panose="020B0503020204020204" pitchFamily="34" charset="-122"/>
              <a:ea typeface="微软雅黑" panose="020B0503020204020204" pitchFamily="34" charset="-122"/>
              <a:cs typeface="+mn-cs"/>
            </a:endParaRPr>
          </a:p>
        </p:txBody>
      </p:sp>
      <p:sp>
        <p:nvSpPr>
          <p:cNvPr id="24" name="文本框 23">
            <a:extLst>
              <a:ext uri="{FF2B5EF4-FFF2-40B4-BE49-F238E27FC236}">
                <a16:creationId xmlns:a16="http://schemas.microsoft.com/office/drawing/2014/main" id="{BCFFCFA5-35AF-A2A2-8E2C-CD7BBCD38B58}"/>
              </a:ext>
            </a:extLst>
          </p:cNvPr>
          <p:cNvSpPr txBox="1"/>
          <p:nvPr/>
        </p:nvSpPr>
        <p:spPr>
          <a:xfrm>
            <a:off x="932180" y="809292"/>
            <a:ext cx="7279640" cy="1689373"/>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zh-CN" altLang="zh-CN" dirty="0">
                <a:latin typeface="宋体" panose="02010600030101010101" pitchFamily="2" charset="-122"/>
                <a:ea typeface="宋体" panose="02010600030101010101" pitchFamily="2" charset="-122"/>
              </a:rPr>
              <a:t>露天矿开采会造成植被破坏、地貌改变和生态退化。 </a:t>
            </a:r>
            <a:endParaRPr lang="en-US" altLang="zh-CN" dirty="0">
              <a:latin typeface="宋体" panose="02010600030101010101" pitchFamily="2" charset="-122"/>
              <a:ea typeface="宋体" panose="02010600030101010101" pitchFamily="2" charset="-122"/>
            </a:endParaRPr>
          </a:p>
          <a:p>
            <a:pPr marL="285750" indent="-285750" algn="just">
              <a:lnSpc>
                <a:spcPct val="150000"/>
              </a:lnSpc>
              <a:buFont typeface="Arial" panose="020B0604020202020204" pitchFamily="34" charset="0"/>
              <a:buChar char="•"/>
            </a:pPr>
            <a:r>
              <a:rPr lang="zh-CN" altLang="zh-CN" dirty="0">
                <a:latin typeface="宋体" panose="02010600030101010101" pitchFamily="2" charset="-122"/>
                <a:ea typeface="宋体" panose="02010600030101010101" pitchFamily="2" charset="-122"/>
              </a:rPr>
              <a:t>遥感能够实现矿区生态修复与土地复垦的</a:t>
            </a:r>
            <a:r>
              <a:rPr lang="zh-CN" altLang="en-US" dirty="0">
                <a:latin typeface="宋体" panose="02010600030101010101" pitchFamily="2" charset="-122"/>
                <a:ea typeface="宋体" panose="02010600030101010101" pitchFamily="2" charset="-122"/>
              </a:rPr>
              <a:t>全过程</a:t>
            </a:r>
            <a:r>
              <a:rPr lang="zh-CN" altLang="zh-CN" dirty="0">
                <a:latin typeface="宋体" panose="02010600030101010101" pitchFamily="2" charset="-122"/>
                <a:ea typeface="宋体" panose="02010600030101010101" pitchFamily="2" charset="-122"/>
              </a:rPr>
              <a:t>动态监测。 </a:t>
            </a:r>
            <a:endParaRPr lang="en-US" altLang="zh-CN" dirty="0">
              <a:latin typeface="宋体" panose="02010600030101010101" pitchFamily="2" charset="-122"/>
              <a:ea typeface="宋体" panose="02010600030101010101" pitchFamily="2" charset="-122"/>
            </a:endParaRPr>
          </a:p>
          <a:p>
            <a:pPr marL="285750" indent="-285750" algn="just">
              <a:lnSpc>
                <a:spcPct val="150000"/>
              </a:lnSpc>
              <a:buFont typeface="Arial" panose="020B0604020202020204" pitchFamily="34" charset="0"/>
              <a:buChar char="•"/>
            </a:pPr>
            <a:r>
              <a:rPr lang="zh-CN" altLang="zh-CN" dirty="0">
                <a:latin typeface="宋体" panose="02010600030101010101" pitchFamily="2" charset="-122"/>
                <a:ea typeface="宋体" panose="02010600030101010101" pitchFamily="2" charset="-122"/>
              </a:rPr>
              <a:t>监测内容已由植被恢复扩展到土地复垦和生态质量综合评价。 </a:t>
            </a:r>
            <a:endParaRPr lang="en-US" altLang="zh-CN" dirty="0">
              <a:latin typeface="宋体" panose="02010600030101010101" pitchFamily="2" charset="-122"/>
              <a:ea typeface="宋体" panose="02010600030101010101" pitchFamily="2" charset="-122"/>
            </a:endParaRPr>
          </a:p>
          <a:p>
            <a:pPr marL="285750" indent="-285750" algn="just">
              <a:lnSpc>
                <a:spcPct val="150000"/>
              </a:lnSpc>
              <a:buFont typeface="Arial" panose="020B0604020202020204" pitchFamily="34" charset="0"/>
              <a:buChar char="•"/>
            </a:pPr>
            <a:r>
              <a:rPr lang="zh-CN" altLang="zh-CN" dirty="0">
                <a:latin typeface="宋体" panose="02010600030101010101" pitchFamily="2" charset="-122"/>
                <a:ea typeface="宋体" panose="02010600030101010101" pitchFamily="2" charset="-122"/>
              </a:rPr>
              <a:t>国内外案例表明，遥感技术能够有效评价矿区生态修复成效。</a:t>
            </a:r>
            <a:endParaRPr lang="zh-CN" altLang="en-US" dirty="0">
              <a:latin typeface="宋体" panose="02010600030101010101" pitchFamily="2" charset="-122"/>
              <a:ea typeface="宋体" panose="02010600030101010101" pitchFamily="2" charset="-122"/>
            </a:endParaRPr>
          </a:p>
        </p:txBody>
      </p:sp>
      <p:sp>
        <p:nvSpPr>
          <p:cNvPr id="25" name="文本框 24">
            <a:extLst>
              <a:ext uri="{FF2B5EF4-FFF2-40B4-BE49-F238E27FC236}">
                <a16:creationId xmlns:a16="http://schemas.microsoft.com/office/drawing/2014/main" id="{CB924853-42D5-0222-D1AE-C8798669B690}"/>
              </a:ext>
            </a:extLst>
          </p:cNvPr>
          <p:cNvSpPr txBox="1"/>
          <p:nvPr/>
        </p:nvSpPr>
        <p:spPr>
          <a:xfrm>
            <a:off x="85596" y="2471631"/>
            <a:ext cx="136220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314865"/>
                </a:solidFill>
                <a:effectLst/>
                <a:uLnTx/>
                <a:uFillTx/>
                <a:latin typeface="微软雅黑" panose="020B0503020204020204" pitchFamily="34" charset="-122"/>
                <a:ea typeface="微软雅黑" panose="020B0503020204020204" pitchFamily="34" charset="-122"/>
                <a:cs typeface="+mn-cs"/>
              </a:rPr>
              <a:t>未来趋势</a:t>
            </a:r>
            <a:endParaRPr kumimoji="0" lang="en-US" sz="2000" b="1" i="0" u="none" strike="noStrike" kern="1200" cap="none" spc="0" normalizeH="0" baseline="0" noProof="0" dirty="0">
              <a:ln>
                <a:noFill/>
              </a:ln>
              <a:solidFill>
                <a:srgbClr val="314865"/>
              </a:solidFill>
              <a:effectLst/>
              <a:uLnTx/>
              <a:uFillTx/>
              <a:latin typeface="微软雅黑" panose="020B0503020204020204" pitchFamily="34" charset="-122"/>
              <a:ea typeface="微软雅黑" panose="020B0503020204020204" pitchFamily="34" charset="-122"/>
              <a:cs typeface="+mn-cs"/>
            </a:endParaRPr>
          </a:p>
        </p:txBody>
      </p:sp>
      <p:sp>
        <p:nvSpPr>
          <p:cNvPr id="27" name="文本框 26">
            <a:extLst>
              <a:ext uri="{FF2B5EF4-FFF2-40B4-BE49-F238E27FC236}">
                <a16:creationId xmlns:a16="http://schemas.microsoft.com/office/drawing/2014/main" id="{81F48FD2-3D9A-E655-88F3-F2EC786A095C}"/>
              </a:ext>
            </a:extLst>
          </p:cNvPr>
          <p:cNvSpPr txBox="1"/>
          <p:nvPr/>
        </p:nvSpPr>
        <p:spPr>
          <a:xfrm>
            <a:off x="932180" y="2798656"/>
            <a:ext cx="4602480" cy="1712135"/>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zh-CN" altLang="zh-CN" dirty="0">
                <a:latin typeface="Times New Roman" panose="02020603050405020304" pitchFamily="18" charset="0"/>
                <a:ea typeface="宋体" panose="02010600030101010101" pitchFamily="2" charset="-122"/>
              </a:rPr>
              <a:t>多源遥感融合（光学、SAR、LiDAR）</a:t>
            </a:r>
            <a:endParaRPr lang="en-US" altLang="zh-CN" dirty="0">
              <a:latin typeface="Times New Roman" panose="02020603050405020304" pitchFamily="18" charset="0"/>
              <a:ea typeface="宋体" panose="02010600030101010101" pitchFamily="2" charset="-122"/>
            </a:endParaRPr>
          </a:p>
          <a:p>
            <a:pPr marL="285750" indent="-285750" algn="just">
              <a:lnSpc>
                <a:spcPct val="150000"/>
              </a:lnSpc>
              <a:buFont typeface="Arial" panose="020B0604020202020204" pitchFamily="34" charset="0"/>
              <a:buChar char="•"/>
            </a:pPr>
            <a:r>
              <a:rPr lang="zh-CN" altLang="zh-CN" dirty="0">
                <a:latin typeface="Times New Roman" panose="02020603050405020304" pitchFamily="18" charset="0"/>
                <a:ea typeface="宋体" panose="02010600030101010101" pitchFamily="2" charset="-122"/>
              </a:rPr>
              <a:t>Google Earth Engine云平台应用 </a:t>
            </a:r>
            <a:endParaRPr lang="en-US" altLang="zh-CN" dirty="0">
              <a:latin typeface="Times New Roman" panose="02020603050405020304" pitchFamily="18" charset="0"/>
              <a:ea typeface="宋体" panose="02010600030101010101" pitchFamily="2" charset="-122"/>
            </a:endParaRPr>
          </a:p>
          <a:p>
            <a:pPr marL="285750" indent="-285750" algn="just">
              <a:lnSpc>
                <a:spcPct val="150000"/>
              </a:lnSpc>
              <a:buFont typeface="Arial" panose="020B0604020202020204" pitchFamily="34" charset="0"/>
              <a:buChar char="•"/>
            </a:pPr>
            <a:r>
              <a:rPr lang="zh-CN" altLang="zh-CN" dirty="0">
                <a:latin typeface="Times New Roman" panose="02020603050405020304" pitchFamily="18" charset="0"/>
                <a:ea typeface="宋体" panose="02010600030101010101" pitchFamily="2" charset="-122"/>
              </a:rPr>
              <a:t>人工智能辅助自动</a:t>
            </a:r>
            <a:r>
              <a:rPr lang="zh-CN" altLang="en-US" dirty="0">
                <a:latin typeface="Times New Roman" panose="02020603050405020304" pitchFamily="18" charset="0"/>
                <a:ea typeface="宋体" panose="02010600030101010101" pitchFamily="2" charset="-122"/>
              </a:rPr>
              <a:t>识别与</a:t>
            </a:r>
            <a:r>
              <a:rPr lang="zh-CN" altLang="zh-CN" dirty="0">
                <a:latin typeface="Times New Roman" panose="02020603050405020304" pitchFamily="18" charset="0"/>
                <a:ea typeface="宋体" panose="02010600030101010101" pitchFamily="2" charset="-122"/>
              </a:rPr>
              <a:t>监测 </a:t>
            </a:r>
            <a:endParaRPr lang="en-US" altLang="zh-CN" dirty="0">
              <a:latin typeface="Times New Roman" panose="02020603050405020304" pitchFamily="18" charset="0"/>
              <a:ea typeface="宋体" panose="02010600030101010101" pitchFamily="2" charset="-122"/>
            </a:endParaRPr>
          </a:p>
          <a:p>
            <a:pPr marL="285750" indent="-285750" algn="just">
              <a:lnSpc>
                <a:spcPct val="150000"/>
              </a:lnSpc>
              <a:buFont typeface="Arial" panose="020B0604020202020204" pitchFamily="34" charset="0"/>
              <a:buChar char="•"/>
            </a:pPr>
            <a:r>
              <a:rPr lang="zh-CN" altLang="zh-CN" dirty="0">
                <a:latin typeface="Times New Roman" panose="02020603050405020304" pitchFamily="18" charset="0"/>
                <a:ea typeface="宋体" panose="02010600030101010101" pitchFamily="2" charset="-122"/>
              </a:rPr>
              <a:t>智能化生态质量综合评价</a:t>
            </a:r>
            <a:endParaRPr lang="zh-CN" altLang="en-US" dirty="0">
              <a:latin typeface="Times New Roman" panose="02020603050405020304" pitchFamily="18" charset="0"/>
              <a:ea typeface="宋体" panose="02010600030101010101" pitchFamily="2" charset="-122"/>
            </a:endParaRPr>
          </a:p>
        </p:txBody>
      </p:sp>
      <p:sp>
        <p:nvSpPr>
          <p:cNvPr id="29" name="文本框 28">
            <a:extLst>
              <a:ext uri="{FF2B5EF4-FFF2-40B4-BE49-F238E27FC236}">
                <a16:creationId xmlns:a16="http://schemas.microsoft.com/office/drawing/2014/main" id="{4C598ED1-95FA-5992-9CEE-C8746B23A25E}"/>
              </a:ext>
            </a:extLst>
          </p:cNvPr>
          <p:cNvSpPr txBox="1"/>
          <p:nvPr/>
        </p:nvSpPr>
        <p:spPr>
          <a:xfrm>
            <a:off x="0" y="4626116"/>
            <a:ext cx="9144000" cy="338554"/>
          </a:xfrm>
          <a:prstGeom prst="rect">
            <a:avLst/>
          </a:prstGeom>
          <a:noFill/>
        </p:spPr>
        <p:txBody>
          <a:bodyPr wrap="square">
            <a:spAutoFit/>
          </a:bodyPr>
          <a:lstStyle/>
          <a:p>
            <a:pPr algn="ctr"/>
            <a:r>
              <a:rPr lang="zh-CN" altLang="zh-CN" sz="1600" b="1" dirty="0">
                <a:solidFill>
                  <a:schemeClr val="accent1">
                    <a:lumMod val="75000"/>
                  </a:schemeClr>
                </a:solidFill>
                <a:latin typeface="宋体" panose="02010600030101010101" pitchFamily="2" charset="-122"/>
                <a:ea typeface="宋体" panose="02010600030101010101" pitchFamily="2" charset="-122"/>
              </a:rPr>
              <a:t>露天矿区遥感监测正由单一指标评价，向多源融合、智能识别和全过程综合评价方向发展。</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1"/>
          <p:cNvSpPr/>
          <p:nvPr/>
        </p:nvSpPr>
        <p:spPr>
          <a:xfrm>
            <a:off x="-646332" y="-87086"/>
            <a:ext cx="9144000" cy="5143501"/>
          </a:xfrm>
          <a:custGeom>
            <a:avLst/>
            <a:gdLst>
              <a:gd name="connsiteX0" fmla="*/ 0 w 12192000"/>
              <a:gd name="connsiteY0" fmla="*/ 0 h 5943600"/>
              <a:gd name="connsiteX1" fmla="*/ 12192000 w 12192000"/>
              <a:gd name="connsiteY1" fmla="*/ 0 h 5943600"/>
              <a:gd name="connsiteX2" fmla="*/ 12192000 w 12192000"/>
              <a:gd name="connsiteY2" fmla="*/ 5943600 h 5943600"/>
              <a:gd name="connsiteX3" fmla="*/ 0 w 12192000"/>
              <a:gd name="connsiteY3" fmla="*/ 5943600 h 5943600"/>
              <a:gd name="connsiteX4" fmla="*/ 0 w 12192000"/>
              <a:gd name="connsiteY4" fmla="*/ 0 h 5943600"/>
              <a:gd name="connsiteX0-1" fmla="*/ 0 w 12192000"/>
              <a:gd name="connsiteY0-2" fmla="*/ 0 h 5943600"/>
              <a:gd name="connsiteX1-3" fmla="*/ 10000343 w 12192000"/>
              <a:gd name="connsiteY1-4" fmla="*/ 1233714 h 5943600"/>
              <a:gd name="connsiteX2-5" fmla="*/ 12192000 w 12192000"/>
              <a:gd name="connsiteY2-6" fmla="*/ 5943600 h 5943600"/>
              <a:gd name="connsiteX3-7" fmla="*/ 0 w 12192000"/>
              <a:gd name="connsiteY3-8" fmla="*/ 5943600 h 5943600"/>
              <a:gd name="connsiteX4-9" fmla="*/ 0 w 12192000"/>
              <a:gd name="connsiteY4-10" fmla="*/ 0 h 5943600"/>
              <a:gd name="connsiteX0-11" fmla="*/ 0 w 12192000"/>
              <a:gd name="connsiteY0-12" fmla="*/ 0 h 5943600"/>
              <a:gd name="connsiteX1-13" fmla="*/ 10537372 w 12192000"/>
              <a:gd name="connsiteY1-14" fmla="*/ 1623664 h 5943600"/>
              <a:gd name="connsiteX2-15" fmla="*/ 12192000 w 12192000"/>
              <a:gd name="connsiteY2-16" fmla="*/ 5943600 h 5943600"/>
              <a:gd name="connsiteX3-17" fmla="*/ 0 w 12192000"/>
              <a:gd name="connsiteY3-18" fmla="*/ 5943600 h 5943600"/>
              <a:gd name="connsiteX4-19" fmla="*/ 0 w 12192000"/>
              <a:gd name="connsiteY4-20" fmla="*/ 0 h 59436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192000" h="5943600">
                <a:moveTo>
                  <a:pt x="0" y="0"/>
                </a:moveTo>
                <a:lnTo>
                  <a:pt x="10537372" y="1623664"/>
                </a:lnTo>
                <a:lnTo>
                  <a:pt x="12192000" y="5943600"/>
                </a:lnTo>
                <a:lnTo>
                  <a:pt x="0" y="5943600"/>
                </a:lnTo>
                <a:lnTo>
                  <a:pt x="0" y="0"/>
                </a:lnTo>
                <a:close/>
              </a:path>
            </a:pathLst>
          </a:custGeom>
          <a:solidFill>
            <a:srgbClr val="3148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ea typeface="微软雅黑" panose="020B0503020204020204" pitchFamily="34" charset="-122"/>
            </a:endParaRPr>
          </a:p>
        </p:txBody>
      </p:sp>
      <p:sp>
        <p:nvSpPr>
          <p:cNvPr id="5" name="等腰三角形 4"/>
          <p:cNvSpPr/>
          <p:nvPr/>
        </p:nvSpPr>
        <p:spPr>
          <a:xfrm>
            <a:off x="7037887" y="1400175"/>
            <a:ext cx="2111828" cy="3743326"/>
          </a:xfrm>
          <a:prstGeom prst="triangle">
            <a:avLst>
              <a:gd name="adj" fmla="val 41044"/>
            </a:avLst>
          </a:prstGeom>
          <a:solidFill>
            <a:srgbClr val="E2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ea typeface="微软雅黑" panose="020B0503020204020204" pitchFamily="34" charset="-122"/>
            </a:endParaRPr>
          </a:p>
        </p:txBody>
      </p:sp>
      <p:sp>
        <p:nvSpPr>
          <p:cNvPr id="6" name="矩形 6"/>
          <p:cNvSpPr/>
          <p:nvPr/>
        </p:nvSpPr>
        <p:spPr>
          <a:xfrm>
            <a:off x="7851337" y="1"/>
            <a:ext cx="1292663" cy="664028"/>
          </a:xfrm>
          <a:custGeom>
            <a:avLst/>
            <a:gdLst>
              <a:gd name="connsiteX0" fmla="*/ 0 w 1723550"/>
              <a:gd name="connsiteY0" fmla="*/ 0 h 885371"/>
              <a:gd name="connsiteX1" fmla="*/ 1723550 w 1723550"/>
              <a:gd name="connsiteY1" fmla="*/ 0 h 885371"/>
              <a:gd name="connsiteX2" fmla="*/ 1723550 w 1723550"/>
              <a:gd name="connsiteY2" fmla="*/ 885371 h 885371"/>
              <a:gd name="connsiteX3" fmla="*/ 0 w 1723550"/>
              <a:gd name="connsiteY3" fmla="*/ 885371 h 885371"/>
              <a:gd name="connsiteX4" fmla="*/ 0 w 1723550"/>
              <a:gd name="connsiteY4" fmla="*/ 0 h 885371"/>
              <a:gd name="connsiteX0-1" fmla="*/ 0 w 1723550"/>
              <a:gd name="connsiteY0-2" fmla="*/ 0 h 885371"/>
              <a:gd name="connsiteX1-3" fmla="*/ 1723550 w 1723550"/>
              <a:gd name="connsiteY1-4" fmla="*/ 0 h 885371"/>
              <a:gd name="connsiteX2-5" fmla="*/ 1723550 w 1723550"/>
              <a:gd name="connsiteY2-6" fmla="*/ 885371 h 885371"/>
              <a:gd name="connsiteX3-7" fmla="*/ 1451428 w 1723550"/>
              <a:gd name="connsiteY3-8" fmla="*/ 275771 h 885371"/>
              <a:gd name="connsiteX4-9" fmla="*/ 0 w 1723550"/>
              <a:gd name="connsiteY4-10" fmla="*/ 0 h 88537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723550" h="885371">
                <a:moveTo>
                  <a:pt x="0" y="0"/>
                </a:moveTo>
                <a:lnTo>
                  <a:pt x="1723550" y="0"/>
                </a:lnTo>
                <a:lnTo>
                  <a:pt x="1723550" y="885371"/>
                </a:lnTo>
                <a:lnTo>
                  <a:pt x="1451428" y="275771"/>
                </a:lnTo>
                <a:lnTo>
                  <a:pt x="0" y="0"/>
                </a:lnTo>
                <a:close/>
              </a:path>
            </a:pathLst>
          </a:custGeom>
          <a:solidFill>
            <a:srgbClr val="3148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ea typeface="微软雅黑" panose="020B0503020204020204" pitchFamily="34" charset="-122"/>
            </a:endParaRPr>
          </a:p>
        </p:txBody>
      </p:sp>
      <p:sp>
        <p:nvSpPr>
          <p:cNvPr id="7" name="矩形 6"/>
          <p:cNvSpPr/>
          <p:nvPr/>
        </p:nvSpPr>
        <p:spPr>
          <a:xfrm>
            <a:off x="-646332" y="1592600"/>
            <a:ext cx="9790332" cy="707886"/>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r>
              <a:rPr lang="zh-CN" altLang="en-US" sz="4000" dirty="0">
                <a:ln>
                  <a:prstDash val="solid"/>
                </a:ln>
                <a:solidFill>
                  <a:schemeClr val="bg1"/>
                </a:solidFill>
                <a:latin typeface="微软雅黑" panose="020B0503020204020204" pitchFamily="34" charset="-122"/>
                <a:ea typeface="微软雅黑" panose="020B0503020204020204" pitchFamily="34" charset="-122"/>
              </a:rPr>
              <a:t>敬请老师批评指正</a:t>
            </a:r>
          </a:p>
        </p:txBody>
      </p:sp>
      <p:sp>
        <p:nvSpPr>
          <p:cNvPr id="9" name="矩形 8"/>
          <p:cNvSpPr/>
          <p:nvPr/>
        </p:nvSpPr>
        <p:spPr>
          <a:xfrm>
            <a:off x="3433707" y="3704215"/>
            <a:ext cx="1685732" cy="338554"/>
          </a:xfrm>
          <a:prstGeom prst="rect">
            <a:avLst/>
          </a:prstGeom>
          <a:solidFill>
            <a:srgbClr val="DF4413"/>
          </a:solid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r>
              <a:rPr lang="zh-CN" altLang="en-US" sz="1600" b="1" dirty="0">
                <a:ln>
                  <a:prstDash val="solid"/>
                </a:ln>
                <a:solidFill>
                  <a:schemeClr val="bg1"/>
                </a:solidFill>
                <a:latin typeface="微软雅黑" panose="020B0503020204020204" pitchFamily="34" charset="-122"/>
                <a:ea typeface="微软雅黑" panose="020B0503020204020204" pitchFamily="34" charset="-122"/>
              </a:rPr>
              <a:t>汇报人：寇佳伟</a:t>
            </a:r>
          </a:p>
        </p:txBody>
      </p:sp>
      <p:cxnSp>
        <p:nvCxnSpPr>
          <p:cNvPr id="13" name="直接连接符 12"/>
          <p:cNvCxnSpPr/>
          <p:nvPr/>
        </p:nvCxnSpPr>
        <p:spPr>
          <a:xfrm>
            <a:off x="3037840" y="-162560"/>
            <a:ext cx="6532880" cy="1026160"/>
          </a:xfrm>
          <a:prstGeom prst="line">
            <a:avLst/>
          </a:prstGeom>
          <a:ln>
            <a:solidFill>
              <a:srgbClr val="314865"/>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4400" advClick="0" advTm="2976"/>
    </mc:Choice>
    <mc:Fallback xmlns="">
      <p:transition spd="slow" advClick="0" advTm="2976"/>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PA" val="v3.0.1"/>
</p:tagLst>
</file>

<file path=ppt/tags/tag2.xml><?xml version="1.0" encoding="utf-8"?>
<p:tagLst xmlns:a="http://schemas.openxmlformats.org/drawingml/2006/main" xmlns:r="http://schemas.openxmlformats.org/officeDocument/2006/relationships" xmlns:p="http://schemas.openxmlformats.org/presentationml/2006/main">
  <p:tag name="PA" val="v3.0.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864</TotalTime>
  <Words>883</Words>
  <Application>Microsoft Office PowerPoint</Application>
  <PresentationFormat>全屏显示(16:9)</PresentationFormat>
  <Paragraphs>169</Paragraphs>
  <Slides>11</Slides>
  <Notes>6</Notes>
  <HiddenSlides>0</HiddenSlides>
  <MMClips>1</MMClips>
  <ScaleCrop>false</ScaleCrop>
  <HeadingPairs>
    <vt:vector size="6" baseType="variant">
      <vt:variant>
        <vt:lpstr>已用的字体</vt:lpstr>
      </vt:variant>
      <vt:variant>
        <vt:i4>9</vt:i4>
      </vt:variant>
      <vt:variant>
        <vt:lpstr>主题</vt:lpstr>
      </vt:variant>
      <vt:variant>
        <vt:i4>3</vt:i4>
      </vt:variant>
      <vt:variant>
        <vt:lpstr>幻灯片标题</vt:lpstr>
      </vt:variant>
      <vt:variant>
        <vt:i4>11</vt:i4>
      </vt:variant>
    </vt:vector>
  </HeadingPairs>
  <TitlesOfParts>
    <vt:vector size="23" baseType="lpstr">
      <vt:lpstr>Adobe Caslon Pro Bold</vt:lpstr>
      <vt:lpstr>等线</vt:lpstr>
      <vt:lpstr>等线 Light</vt:lpstr>
      <vt:lpstr>汉仪菱心体简</vt:lpstr>
      <vt:lpstr>宋体</vt:lpstr>
      <vt:lpstr>微软雅黑</vt:lpstr>
      <vt:lpstr>Arial</vt:lpstr>
      <vt:lpstr>Calibri</vt:lpstr>
      <vt:lpstr>Times New Roman</vt:lpstr>
      <vt:lpstr>Office 主题​​</vt:lpstr>
      <vt:lpstr>1_Office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 R 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China</dc:creator>
  <cp:lastModifiedBy>佳伟 寇</cp:lastModifiedBy>
  <cp:revision>98</cp:revision>
  <cp:lastPrinted>2026-06-16T13:07:52Z</cp:lastPrinted>
  <dcterms:created xsi:type="dcterms:W3CDTF">2025-04-29T06:27:00Z</dcterms:created>
  <dcterms:modified xsi:type="dcterms:W3CDTF">2026-06-16T13:07:56Z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2052-11.1.0.10009</vt:lpwstr>
  </property>
  <property fmtid="{D5CDD505-2E9C-101B-9397-08002B2CF9AE}" pid="3" name="ICV">
    <vt:lpwstr>12F1DF2969E84FCB924C56D7BBC4B280_13</vt:lpwstr>
  </property>
</Properties>
</file>