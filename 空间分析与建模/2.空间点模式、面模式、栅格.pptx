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0"/>
  </p:notesMasterIdLst>
  <p:sldIdLst>
    <p:sldId id="256" r:id="rId3"/>
    <p:sldId id="391" r:id="rId4"/>
    <p:sldId id="378" r:id="rId5"/>
    <p:sldId id="379" r:id="rId6"/>
    <p:sldId id="405" r:id="rId7"/>
    <p:sldId id="385" r:id="rId8"/>
    <p:sldId id="398" r:id="rId9"/>
    <p:sldId id="399" r:id="rId10"/>
    <p:sldId id="388" r:id="rId11"/>
    <p:sldId id="389" r:id="rId12"/>
    <p:sldId id="400" r:id="rId13"/>
    <p:sldId id="402" r:id="rId14"/>
    <p:sldId id="401" r:id="rId15"/>
    <p:sldId id="403" r:id="rId16"/>
    <p:sldId id="404" r:id="rId17"/>
    <p:sldId id="406" r:id="rId18"/>
    <p:sldId id="407" r:id="rId19"/>
    <p:sldId id="410" r:id="rId20"/>
    <p:sldId id="411" r:id="rId21"/>
    <p:sldId id="409" r:id="rId22"/>
    <p:sldId id="408" r:id="rId23"/>
    <p:sldId id="414" r:id="rId24"/>
    <p:sldId id="415" r:id="rId25"/>
    <p:sldId id="416" r:id="rId26"/>
    <p:sldId id="386" r:id="rId27"/>
    <p:sldId id="387" r:id="rId28"/>
    <p:sldId id="3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8" autoAdjust="0"/>
    <p:restoredTop sz="92947" autoAdjust="0"/>
  </p:normalViewPr>
  <p:slideViewPr>
    <p:cSldViewPr snapToGrid="0" snapToObjects="1">
      <p:cViewPr varScale="1">
        <p:scale>
          <a:sx n="64" d="100"/>
          <a:sy n="64" d="100"/>
        </p:scale>
        <p:origin x="66" y="32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p:spPr>
        <p:txBody>
          <a:bodyPr lIns="0" tIns="0" rIns="0" bIns="0" anchor="ctr"/>
          <a:lstStyle/>
          <a:p>
            <a:r>
              <a:rPr lang="en-US" sz="1800" b="0" strike="noStrike" spc="-1">
                <a:solidFill>
                  <a:srgbClr val="000000"/>
                </a:solidFill>
                <a:latin typeface="Calibri"/>
              </a:rPr>
              <a:t>Click to move the slide</a:t>
            </a:r>
          </a:p>
        </p:txBody>
      </p:sp>
      <p:sp>
        <p:nvSpPr>
          <p:cNvPr id="83" name="PlaceHolder 2"/>
          <p:cNvSpPr>
            <a:spLocks noGrp="1"/>
          </p:cNvSpPr>
          <p:nvPr>
            <p:ph type="body"/>
          </p:nvPr>
        </p:nvSpPr>
        <p:spPr>
          <a:xfrm>
            <a:off x="777240" y="4777560"/>
            <a:ext cx="6217560" cy="4525920"/>
          </a:xfrm>
          <a:prstGeom prst="rect">
            <a:avLst/>
          </a:prstGeom>
        </p:spPr>
        <p:txBody>
          <a:bodyPr lIns="0" tIns="0" rIns="0" bIns="0"/>
          <a:lstStyle/>
          <a:p>
            <a:r>
              <a:rPr lang="en-US" sz="2000" b="0" strike="noStrike" spc="-1">
                <a:latin typeface="Arial"/>
              </a:rPr>
              <a:t>Click to edit the notes format</a:t>
            </a:r>
          </a:p>
        </p:txBody>
      </p:sp>
      <p:sp>
        <p:nvSpPr>
          <p:cNvPr id="84" name="PlaceHolder 3"/>
          <p:cNvSpPr>
            <a:spLocks noGrp="1"/>
          </p:cNvSpPr>
          <p:nvPr>
            <p:ph type="hdr"/>
          </p:nvPr>
        </p:nvSpPr>
        <p:spPr>
          <a:xfrm>
            <a:off x="0" y="0"/>
            <a:ext cx="3372840" cy="502560"/>
          </a:xfrm>
          <a:prstGeom prst="rect">
            <a:avLst/>
          </a:prstGeom>
        </p:spPr>
        <p:txBody>
          <a:bodyPr lIns="0" tIns="0" rIns="0" bIns="0"/>
          <a:lstStyle/>
          <a:p>
            <a:r>
              <a:rPr lang="en-US" sz="1400" b="0" strike="noStrike" spc="-1">
                <a:latin typeface="Times New Roman"/>
              </a:rPr>
              <a:t> </a:t>
            </a:r>
          </a:p>
        </p:txBody>
      </p:sp>
      <p:sp>
        <p:nvSpPr>
          <p:cNvPr id="85" name="PlaceHolder 4"/>
          <p:cNvSpPr>
            <a:spLocks noGrp="1"/>
          </p:cNvSpPr>
          <p:nvPr>
            <p:ph type="dt"/>
          </p:nvPr>
        </p:nvSpPr>
        <p:spPr>
          <a:xfrm>
            <a:off x="4399200" y="0"/>
            <a:ext cx="3372840" cy="502560"/>
          </a:xfrm>
          <a:prstGeom prst="rect">
            <a:avLst/>
          </a:prstGeom>
        </p:spPr>
        <p:txBody>
          <a:bodyPr lIns="0" tIns="0" rIns="0" bIns="0"/>
          <a:lstStyle/>
          <a:p>
            <a:pPr algn="r"/>
            <a:r>
              <a:rPr lang="en-US" sz="1400" b="0" strike="noStrike" spc="-1">
                <a:latin typeface="Times New Roman"/>
              </a:rPr>
              <a:t> </a:t>
            </a:r>
          </a:p>
        </p:txBody>
      </p:sp>
      <p:sp>
        <p:nvSpPr>
          <p:cNvPr id="86" name="PlaceHolder 5"/>
          <p:cNvSpPr>
            <a:spLocks noGrp="1"/>
          </p:cNvSpPr>
          <p:nvPr>
            <p:ph type="ftr"/>
          </p:nvPr>
        </p:nvSpPr>
        <p:spPr>
          <a:xfrm>
            <a:off x="0" y="9555480"/>
            <a:ext cx="3372840" cy="502560"/>
          </a:xfrm>
          <a:prstGeom prst="rect">
            <a:avLst/>
          </a:prstGeom>
        </p:spPr>
        <p:txBody>
          <a:bodyPr lIns="0" tIns="0" rIns="0" bIns="0" anchor="b"/>
          <a:lstStyle/>
          <a:p>
            <a:r>
              <a:rPr lang="en-US" sz="1400" b="0" strike="noStrike" spc="-1">
                <a:latin typeface="Times New Roman"/>
              </a:rPr>
              <a:t> </a:t>
            </a:r>
          </a:p>
        </p:txBody>
      </p:sp>
      <p:sp>
        <p:nvSpPr>
          <p:cNvPr id="87" name="PlaceHolder 6"/>
          <p:cNvSpPr>
            <a:spLocks noGrp="1"/>
          </p:cNvSpPr>
          <p:nvPr>
            <p:ph type="sldNum"/>
          </p:nvPr>
        </p:nvSpPr>
        <p:spPr>
          <a:xfrm>
            <a:off x="4399200" y="9555480"/>
            <a:ext cx="3372840" cy="502560"/>
          </a:xfrm>
          <a:prstGeom prst="rect">
            <a:avLst/>
          </a:prstGeom>
        </p:spPr>
        <p:txBody>
          <a:bodyPr lIns="0" tIns="0" rIns="0" bIns="0" anchor="b"/>
          <a:lstStyle/>
          <a:p>
            <a:pPr algn="r"/>
            <a:fld id="{908B7764-EFB8-4175-BCC0-6F2C7D149380}" type="slidenum">
              <a:rPr lang="en-US" sz="1400" b="0" strike="noStrike" spc="-1">
                <a:latin typeface="Times New Roman"/>
              </a:rPr>
              <a:t>‹#›</a:t>
            </a:fld>
            <a:endParaRPr lang="en-US" sz="1400" b="0" strike="noStrike" spc="-1">
              <a:latin typeface="Times New Roman"/>
            </a:endParaRPr>
          </a:p>
        </p:txBody>
      </p:sp>
    </p:spTree>
    <p:extLst>
      <p:ext uri="{BB962C8B-B14F-4D97-AF65-F5344CB8AC3E}">
        <p14:creationId xmlns:p14="http://schemas.microsoft.com/office/powerpoint/2010/main" val="3575079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noRot="1" noChangeAspect="1"/>
          </p:cNvSpPr>
          <p:nvPr>
            <p:ph type="sldImg"/>
          </p:nvPr>
        </p:nvSpPr>
        <p:spPr>
          <a:xfrm>
            <a:off x="685800" y="1143000"/>
            <a:ext cx="5486400" cy="3086100"/>
          </a:xfrm>
          <a:prstGeom prst="rect">
            <a:avLst/>
          </a:prstGeom>
        </p:spPr>
      </p:sp>
      <p:sp>
        <p:nvSpPr>
          <p:cNvPr id="274" name="PlaceHolder 2"/>
          <p:cNvSpPr>
            <a:spLocks noGrp="1"/>
          </p:cNvSpPr>
          <p:nvPr>
            <p:ph type="body"/>
          </p:nvPr>
        </p:nvSpPr>
        <p:spPr>
          <a:xfrm>
            <a:off x="685800" y="4400640"/>
            <a:ext cx="5486040" cy="3600000"/>
          </a:xfrm>
          <a:prstGeom prst="rect">
            <a:avLst/>
          </a:prstGeom>
        </p:spPr>
        <p:txBody>
          <a:bodyPr/>
          <a:lstStyle/>
          <a:p>
            <a:endParaRPr lang="en-US" sz="2000" b="0" strike="noStrike" spc="-1" dirty="0">
              <a:latin typeface="Arial"/>
            </a:endParaRPr>
          </a:p>
        </p:txBody>
      </p:sp>
      <p:sp>
        <p:nvSpPr>
          <p:cNvPr id="275" name="TextShape 3"/>
          <p:cNvSpPr txBox="1"/>
          <p:nvPr/>
        </p:nvSpPr>
        <p:spPr>
          <a:xfrm>
            <a:off x="3884760" y="8685360"/>
            <a:ext cx="2971440" cy="458280"/>
          </a:xfrm>
          <a:prstGeom prst="rect">
            <a:avLst/>
          </a:prstGeom>
          <a:noFill/>
          <a:ln>
            <a:noFill/>
          </a:ln>
        </p:spPr>
        <p:txBody>
          <a:bodyPr anchor="b"/>
          <a:lstStyle/>
          <a:p>
            <a:pPr algn="r">
              <a:lnSpc>
                <a:spcPct val="100000"/>
              </a:lnSpc>
            </a:pPr>
            <a:fld id="{9E614F80-9018-4DA3-BA56-3F909697F0D9}" type="slidenum">
              <a:rPr lang="en-US" sz="1200" b="0" strike="noStrike" spc="-1">
                <a:solidFill>
                  <a:srgbClr val="000000"/>
                </a:solidFill>
                <a:latin typeface="+mn-lt"/>
                <a:ea typeface="+mn-ea"/>
              </a:rPr>
              <a:t>1</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a:t>
            </a:fld>
            <a:endParaRPr lang="en-US" sz="1200" b="0" strike="noStrike" spc="-1">
              <a:latin typeface="Times New Roman"/>
            </a:endParaRPr>
          </a:p>
        </p:txBody>
      </p:sp>
    </p:spTree>
    <p:extLst>
      <p:ext uri="{BB962C8B-B14F-4D97-AF65-F5344CB8AC3E}">
        <p14:creationId xmlns:p14="http://schemas.microsoft.com/office/powerpoint/2010/main" val="1766834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3</a:t>
            </a:fld>
            <a:endParaRPr lang="en-US" sz="1200" b="0" strike="noStrike" spc="-1">
              <a:latin typeface="Times New Roman"/>
            </a:endParaRPr>
          </a:p>
        </p:txBody>
      </p:sp>
    </p:spTree>
    <p:extLst>
      <p:ext uri="{BB962C8B-B14F-4D97-AF65-F5344CB8AC3E}">
        <p14:creationId xmlns:p14="http://schemas.microsoft.com/office/powerpoint/2010/main" val="2980842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dirty="0">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4</a:t>
            </a:fld>
            <a:endParaRPr lang="en-US" sz="1200" b="0" strike="noStrike" spc="-1">
              <a:latin typeface="Times New Roman"/>
            </a:endParaRPr>
          </a:p>
        </p:txBody>
      </p:sp>
    </p:spTree>
    <p:extLst>
      <p:ext uri="{BB962C8B-B14F-4D97-AF65-F5344CB8AC3E}">
        <p14:creationId xmlns:p14="http://schemas.microsoft.com/office/powerpoint/2010/main" val="3628464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5</a:t>
            </a:fld>
            <a:endParaRPr lang="en-US" sz="1200" b="0" strike="noStrike" spc="-1">
              <a:latin typeface="Times New Roman"/>
            </a:endParaRPr>
          </a:p>
        </p:txBody>
      </p:sp>
    </p:spTree>
    <p:extLst>
      <p:ext uri="{BB962C8B-B14F-4D97-AF65-F5344CB8AC3E}">
        <p14:creationId xmlns:p14="http://schemas.microsoft.com/office/powerpoint/2010/main" val="2240107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6</a:t>
            </a:fld>
            <a:endParaRPr lang="en-US" sz="1200" b="0" strike="noStrike" spc="-1">
              <a:latin typeface="Times New Roman"/>
            </a:endParaRPr>
          </a:p>
        </p:txBody>
      </p:sp>
    </p:spTree>
    <p:extLst>
      <p:ext uri="{BB962C8B-B14F-4D97-AF65-F5344CB8AC3E}">
        <p14:creationId xmlns:p14="http://schemas.microsoft.com/office/powerpoint/2010/main" val="4219916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7</a:t>
            </a:fld>
            <a:endParaRPr lang="en-US" sz="1200" b="0" strike="noStrike" spc="-1">
              <a:latin typeface="Times New Roman"/>
            </a:endParaRPr>
          </a:p>
        </p:txBody>
      </p:sp>
    </p:spTree>
    <p:extLst>
      <p:ext uri="{BB962C8B-B14F-4D97-AF65-F5344CB8AC3E}">
        <p14:creationId xmlns:p14="http://schemas.microsoft.com/office/powerpoint/2010/main" val="217451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8</a:t>
            </a:fld>
            <a:endParaRPr lang="en-US" sz="1200" b="0" strike="noStrike" spc="-1">
              <a:latin typeface="Times New Roman"/>
            </a:endParaRPr>
          </a:p>
        </p:txBody>
      </p:sp>
    </p:spTree>
    <p:extLst>
      <p:ext uri="{BB962C8B-B14F-4D97-AF65-F5344CB8AC3E}">
        <p14:creationId xmlns:p14="http://schemas.microsoft.com/office/powerpoint/2010/main" val="3055293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9</a:t>
            </a:fld>
            <a:endParaRPr lang="en-US" sz="1200" b="0" strike="noStrike" spc="-1">
              <a:latin typeface="Times New Roman"/>
            </a:endParaRPr>
          </a:p>
        </p:txBody>
      </p:sp>
    </p:spTree>
    <p:extLst>
      <p:ext uri="{BB962C8B-B14F-4D97-AF65-F5344CB8AC3E}">
        <p14:creationId xmlns:p14="http://schemas.microsoft.com/office/powerpoint/2010/main" val="2439971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10</a:t>
            </a:fld>
            <a:endParaRPr lang="en-US" sz="1200" b="0" strike="noStrike" spc="-1">
              <a:latin typeface="Times New Roman"/>
            </a:endParaRPr>
          </a:p>
        </p:txBody>
      </p:sp>
    </p:spTree>
    <p:extLst>
      <p:ext uri="{BB962C8B-B14F-4D97-AF65-F5344CB8AC3E}">
        <p14:creationId xmlns:p14="http://schemas.microsoft.com/office/powerpoint/2010/main" val="2298209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11</a:t>
            </a:fld>
            <a:endParaRPr lang="en-US" sz="1200" b="0" strike="noStrike" spc="-1">
              <a:latin typeface="Times New Roman"/>
            </a:endParaRPr>
          </a:p>
        </p:txBody>
      </p:sp>
    </p:spTree>
    <p:extLst>
      <p:ext uri="{BB962C8B-B14F-4D97-AF65-F5344CB8AC3E}">
        <p14:creationId xmlns:p14="http://schemas.microsoft.com/office/powerpoint/2010/main" val="1719157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12</a:t>
            </a:fld>
            <a:endParaRPr lang="en-US" sz="1200" b="0" strike="noStrike" spc="-1">
              <a:latin typeface="Times New Roman"/>
            </a:endParaRPr>
          </a:p>
        </p:txBody>
      </p:sp>
    </p:spTree>
    <p:extLst>
      <p:ext uri="{BB962C8B-B14F-4D97-AF65-F5344CB8AC3E}">
        <p14:creationId xmlns:p14="http://schemas.microsoft.com/office/powerpoint/2010/main" val="2290510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13</a:t>
            </a:fld>
            <a:endParaRPr lang="en-US" sz="1200" b="0" strike="noStrike" spc="-1">
              <a:latin typeface="Times New Roman"/>
            </a:endParaRPr>
          </a:p>
        </p:txBody>
      </p:sp>
    </p:spTree>
    <p:extLst>
      <p:ext uri="{BB962C8B-B14F-4D97-AF65-F5344CB8AC3E}">
        <p14:creationId xmlns:p14="http://schemas.microsoft.com/office/powerpoint/2010/main" val="3509757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14</a:t>
            </a:fld>
            <a:endParaRPr lang="en-US" sz="1200" b="0" strike="noStrike" spc="-1">
              <a:latin typeface="Times New Roman"/>
            </a:endParaRPr>
          </a:p>
        </p:txBody>
      </p:sp>
    </p:spTree>
    <p:extLst>
      <p:ext uri="{BB962C8B-B14F-4D97-AF65-F5344CB8AC3E}">
        <p14:creationId xmlns:p14="http://schemas.microsoft.com/office/powerpoint/2010/main" val="201207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15</a:t>
            </a:fld>
            <a:endParaRPr lang="en-US" sz="1200" b="0" strike="noStrike" spc="-1">
              <a:latin typeface="Times New Roman"/>
            </a:endParaRPr>
          </a:p>
        </p:txBody>
      </p:sp>
    </p:spTree>
    <p:extLst>
      <p:ext uri="{BB962C8B-B14F-4D97-AF65-F5344CB8AC3E}">
        <p14:creationId xmlns:p14="http://schemas.microsoft.com/office/powerpoint/2010/main" val="3245740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16</a:t>
            </a:fld>
            <a:endParaRPr lang="en-US" sz="1200" b="0" strike="noStrike" spc="-1">
              <a:latin typeface="Times New Roman"/>
            </a:endParaRPr>
          </a:p>
        </p:txBody>
      </p:sp>
    </p:spTree>
    <p:extLst>
      <p:ext uri="{BB962C8B-B14F-4D97-AF65-F5344CB8AC3E}">
        <p14:creationId xmlns:p14="http://schemas.microsoft.com/office/powerpoint/2010/main" val="7501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17</a:t>
            </a:fld>
            <a:endParaRPr lang="en-US" sz="1200" b="0" strike="noStrike" spc="-1">
              <a:latin typeface="Times New Roman"/>
            </a:endParaRPr>
          </a:p>
        </p:txBody>
      </p:sp>
    </p:spTree>
    <p:extLst>
      <p:ext uri="{BB962C8B-B14F-4D97-AF65-F5344CB8AC3E}">
        <p14:creationId xmlns:p14="http://schemas.microsoft.com/office/powerpoint/2010/main" val="3162541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18</a:t>
            </a:fld>
            <a:endParaRPr lang="en-US" sz="1200" b="0" strike="noStrike" spc="-1">
              <a:latin typeface="Times New Roman"/>
            </a:endParaRPr>
          </a:p>
        </p:txBody>
      </p:sp>
    </p:spTree>
    <p:extLst>
      <p:ext uri="{BB962C8B-B14F-4D97-AF65-F5344CB8AC3E}">
        <p14:creationId xmlns:p14="http://schemas.microsoft.com/office/powerpoint/2010/main" val="3296909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19</a:t>
            </a:fld>
            <a:endParaRPr lang="en-US" sz="1200" b="0" strike="noStrike" spc="-1">
              <a:latin typeface="Times New Roman"/>
            </a:endParaRPr>
          </a:p>
        </p:txBody>
      </p:sp>
    </p:spTree>
    <p:extLst>
      <p:ext uri="{BB962C8B-B14F-4D97-AF65-F5344CB8AC3E}">
        <p14:creationId xmlns:p14="http://schemas.microsoft.com/office/powerpoint/2010/main" val="1554604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20</a:t>
            </a:fld>
            <a:endParaRPr lang="en-US" sz="1200" b="0" strike="noStrike" spc="-1">
              <a:latin typeface="Times New Roman"/>
            </a:endParaRPr>
          </a:p>
        </p:txBody>
      </p:sp>
    </p:spTree>
    <p:extLst>
      <p:ext uri="{BB962C8B-B14F-4D97-AF65-F5344CB8AC3E}">
        <p14:creationId xmlns:p14="http://schemas.microsoft.com/office/powerpoint/2010/main" val="386312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21</a:t>
            </a:fld>
            <a:endParaRPr lang="en-US" sz="1200" b="0" strike="noStrike" spc="-1">
              <a:latin typeface="Times New Roman"/>
            </a:endParaRPr>
          </a:p>
        </p:txBody>
      </p:sp>
    </p:spTree>
    <p:extLst>
      <p:ext uri="{BB962C8B-B14F-4D97-AF65-F5344CB8AC3E}">
        <p14:creationId xmlns:p14="http://schemas.microsoft.com/office/powerpoint/2010/main" val="40794897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22</a:t>
            </a:fld>
            <a:endParaRPr lang="en-US" sz="1200" b="0" strike="noStrike" spc="-1">
              <a:latin typeface="Times New Roman"/>
            </a:endParaRPr>
          </a:p>
        </p:txBody>
      </p:sp>
    </p:spTree>
    <p:extLst>
      <p:ext uri="{BB962C8B-B14F-4D97-AF65-F5344CB8AC3E}">
        <p14:creationId xmlns:p14="http://schemas.microsoft.com/office/powerpoint/2010/main" val="2863188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23</a:t>
            </a:fld>
            <a:endParaRPr lang="en-US" sz="1200" b="0" strike="noStrike" spc="-1">
              <a:latin typeface="Times New Roman"/>
            </a:endParaRPr>
          </a:p>
        </p:txBody>
      </p:sp>
    </p:spTree>
    <p:extLst>
      <p:ext uri="{BB962C8B-B14F-4D97-AF65-F5344CB8AC3E}">
        <p14:creationId xmlns:p14="http://schemas.microsoft.com/office/powerpoint/2010/main" val="31090416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24</a:t>
            </a:fld>
            <a:endParaRPr lang="en-US" sz="1200" b="0" strike="noStrike" spc="-1">
              <a:latin typeface="Times New Roman"/>
            </a:endParaRPr>
          </a:p>
        </p:txBody>
      </p:sp>
    </p:spTree>
    <p:extLst>
      <p:ext uri="{BB962C8B-B14F-4D97-AF65-F5344CB8AC3E}">
        <p14:creationId xmlns:p14="http://schemas.microsoft.com/office/powerpoint/2010/main" val="8341086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25</a:t>
            </a:fld>
            <a:endParaRPr lang="en-US" sz="1200" b="0" strike="noStrike" spc="-1">
              <a:latin typeface="Times New Roman"/>
            </a:endParaRPr>
          </a:p>
        </p:txBody>
      </p:sp>
    </p:spTree>
    <p:extLst>
      <p:ext uri="{BB962C8B-B14F-4D97-AF65-F5344CB8AC3E}">
        <p14:creationId xmlns:p14="http://schemas.microsoft.com/office/powerpoint/2010/main" val="10604875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 name="PlaceHolder 1"/>
          <p:cNvSpPr>
            <a:spLocks noGrp="1" noRot="1" noChangeAspect="1"/>
          </p:cNvSpPr>
          <p:nvPr>
            <p:ph type="sldImg"/>
          </p:nvPr>
        </p:nvSpPr>
        <p:spPr>
          <a:xfrm>
            <a:off x="685800" y="1143000"/>
            <a:ext cx="5486400" cy="3086100"/>
          </a:xfrm>
          <a:prstGeom prst="rect">
            <a:avLst/>
          </a:prstGeom>
        </p:spPr>
      </p:sp>
      <p:sp>
        <p:nvSpPr>
          <p:cNvPr id="277" name="PlaceHolder 2"/>
          <p:cNvSpPr>
            <a:spLocks noGrp="1"/>
          </p:cNvSpPr>
          <p:nvPr>
            <p:ph type="body"/>
          </p:nvPr>
        </p:nvSpPr>
        <p:spPr>
          <a:xfrm>
            <a:off x="685800" y="4400640"/>
            <a:ext cx="5486040" cy="3600000"/>
          </a:xfrm>
          <a:prstGeom prst="rect">
            <a:avLst/>
          </a:prstGeom>
        </p:spPr>
        <p:txBody>
          <a:bodyPr/>
          <a:lstStyle/>
          <a:p>
            <a:endParaRPr lang="en-US" sz="2000" b="0" strike="noStrike" spc="-1">
              <a:latin typeface="Arial"/>
            </a:endParaRPr>
          </a:p>
        </p:txBody>
      </p:sp>
      <p:sp>
        <p:nvSpPr>
          <p:cNvPr id="278" name="TextShape 3"/>
          <p:cNvSpPr txBox="1"/>
          <p:nvPr/>
        </p:nvSpPr>
        <p:spPr>
          <a:xfrm>
            <a:off x="3884760" y="8685360"/>
            <a:ext cx="2971440" cy="458280"/>
          </a:xfrm>
          <a:prstGeom prst="rect">
            <a:avLst/>
          </a:prstGeom>
          <a:noFill/>
          <a:ln>
            <a:noFill/>
          </a:ln>
        </p:spPr>
        <p:txBody>
          <a:bodyPr anchor="b"/>
          <a:lstStyle/>
          <a:p>
            <a:pPr algn="r">
              <a:lnSpc>
                <a:spcPct val="100000"/>
              </a:lnSpc>
            </a:pPr>
            <a:fld id="{E1802DBC-5E3B-4B30-90D5-CB36492C7C37}" type="slidenum">
              <a:rPr lang="en-US" sz="1200" b="0" strike="noStrike" spc="-1">
                <a:solidFill>
                  <a:srgbClr val="000000"/>
                </a:solidFill>
                <a:latin typeface="+mn-lt"/>
                <a:ea typeface="+mn-ea"/>
              </a:rPr>
              <a:t>26</a:t>
            </a:fld>
            <a:endParaRPr lang="en-US" sz="1200" b="0" strike="noStrike" spc="-1">
              <a:latin typeface="Times New Roman"/>
            </a:endParaRPr>
          </a:p>
        </p:txBody>
      </p:sp>
    </p:spTree>
    <p:extLst>
      <p:ext uri="{BB962C8B-B14F-4D97-AF65-F5344CB8AC3E}">
        <p14:creationId xmlns:p14="http://schemas.microsoft.com/office/powerpoint/2010/main" val="4129011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p:spPr>
        <p:txBody>
          <a:bodyPr lIns="0" tIns="0" rIns="0" bIns="0" anchor="ct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7"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8"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2"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5"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9"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p:spPr>
        <p:txBody>
          <a:bodyPr lIns="0" tIns="0" rIns="0" bIns="0" anchor="ct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7"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8"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lstStyle/>
          <a:p>
            <a:pPr>
              <a:lnSpc>
                <a:spcPct val="100000"/>
              </a:lnSpc>
            </a:pPr>
            <a:fld id="{826C9AFF-2694-4A22-B93E-108F5664B276}" type="datetime">
              <a:rPr lang="en-US" sz="1200" b="0" strike="noStrike" spc="-1">
                <a:solidFill>
                  <a:srgbClr val="8B8B8B"/>
                </a:solidFill>
                <a:latin typeface="Calibri"/>
              </a:rPr>
              <a:t>2/26/2023</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lstStyle/>
          <a:p>
            <a:pPr algn="r">
              <a:lnSpc>
                <a:spcPct val="100000"/>
              </a:lnSpc>
            </a:pPr>
            <a:fld id="{F91C1216-BF53-4F8E-9172-9D28C03D248C}"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p:nvPr>
        </p:nvSpPr>
        <p:spPr>
          <a:xfrm>
            <a:off x="838080" y="6356520"/>
            <a:ext cx="2742840" cy="364680"/>
          </a:xfrm>
          <a:prstGeom prst="rect">
            <a:avLst/>
          </a:prstGeom>
        </p:spPr>
        <p:txBody>
          <a:bodyPr anchor="ctr"/>
          <a:lstStyle/>
          <a:p>
            <a:pPr>
              <a:lnSpc>
                <a:spcPct val="100000"/>
              </a:lnSpc>
            </a:pPr>
            <a:fld id="{65F560FF-AA2F-45FE-8D57-AA4BC211A1F0}" type="datetime">
              <a:rPr lang="en-US" sz="1200" b="0" strike="noStrike" spc="-1">
                <a:solidFill>
                  <a:srgbClr val="8B8B8B"/>
                </a:solidFill>
                <a:latin typeface="Calibri"/>
              </a:rPr>
              <a:t>2/26/2023</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lstStyle/>
          <a:p>
            <a:endParaRPr lang="en-US" sz="24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lstStyle/>
          <a:p>
            <a:pPr algn="r">
              <a:lnSpc>
                <a:spcPct val="100000"/>
              </a:lnSpc>
            </a:pPr>
            <a:fld id="{E6BEA6BD-762B-4B3C-A16D-CA29445B8788}"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mailto:xrzhou@asu.ed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emf"/></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9.emf"/><Relationship Id="rId5" Type="http://schemas.openxmlformats.org/officeDocument/2006/relationships/image" Target="../media/image18.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0.emf"/><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Picture 3"/>
          <p:cNvPicPr/>
          <p:nvPr/>
        </p:nvPicPr>
        <p:blipFill>
          <a:blip r:embed="rId3"/>
          <a:stretch/>
        </p:blipFill>
        <p:spPr>
          <a:xfrm>
            <a:off x="0" y="0"/>
            <a:ext cx="12191760" cy="6857640"/>
          </a:xfrm>
          <a:prstGeom prst="rect">
            <a:avLst/>
          </a:prstGeom>
          <a:ln>
            <a:noFill/>
          </a:ln>
        </p:spPr>
      </p:pic>
      <p:sp>
        <p:nvSpPr>
          <p:cNvPr id="90" name="TextShape 2"/>
          <p:cNvSpPr txBox="1"/>
          <p:nvPr/>
        </p:nvSpPr>
        <p:spPr>
          <a:xfrm>
            <a:off x="209880" y="1724890"/>
            <a:ext cx="11708640" cy="909949"/>
          </a:xfrm>
          <a:prstGeom prst="rect">
            <a:avLst/>
          </a:prstGeom>
          <a:noFill/>
          <a:ln>
            <a:noFill/>
          </a:ln>
        </p:spPr>
        <p:txBody>
          <a:bodyPr anchor="b"/>
          <a:lstStyle/>
          <a:p>
            <a:pPr algn="ctr">
              <a:lnSpc>
                <a:spcPct val="90000"/>
              </a:lnSpc>
            </a:pPr>
            <a:r>
              <a:rPr lang="zh-CN" altLang="en-US" sz="4400" b="1" spc="-1" dirty="0">
                <a:solidFill>
                  <a:srgbClr val="FF0000"/>
                </a:solidFill>
                <a:latin typeface="华文楷体" panose="02010600040101010101" pitchFamily="2" charset="-122"/>
                <a:ea typeface="华文楷体" panose="02010600040101010101" pitchFamily="2" charset="-122"/>
              </a:rPr>
              <a:t>空间统计</a:t>
            </a:r>
            <a:r>
              <a:rPr lang="en-US" altLang="zh-CN" sz="4400" b="1" spc="-1" dirty="0">
                <a:solidFill>
                  <a:srgbClr val="FF0000"/>
                </a:solidFill>
                <a:latin typeface="华文楷体" panose="02010600040101010101" pitchFamily="2" charset="-122"/>
                <a:ea typeface="华文楷体" panose="02010600040101010101" pitchFamily="2" charset="-122"/>
              </a:rPr>
              <a:t>/</a:t>
            </a:r>
            <a:r>
              <a:rPr lang="zh-CN" altLang="en-US" sz="4400" b="1" spc="-1" dirty="0">
                <a:solidFill>
                  <a:srgbClr val="FF0000"/>
                </a:solidFill>
                <a:latin typeface="华文楷体" panose="02010600040101010101" pitchFamily="2" charset="-122"/>
                <a:ea typeface="华文楷体" panose="02010600040101010101" pitchFamily="2" charset="-122"/>
              </a:rPr>
              <a:t>地统计学</a:t>
            </a:r>
            <a:endParaRPr lang="en-US" sz="4400" b="1" strike="noStrike" spc="-1" dirty="0">
              <a:solidFill>
                <a:srgbClr val="FF0000"/>
              </a:solidFill>
              <a:latin typeface="华文楷体" panose="02010600040101010101" pitchFamily="2" charset="-122"/>
              <a:ea typeface="华文楷体" panose="02010600040101010101" pitchFamily="2" charset="-122"/>
            </a:endParaRPr>
          </a:p>
        </p:txBody>
      </p:sp>
      <p:sp>
        <p:nvSpPr>
          <p:cNvPr id="91" name="TextShape 3"/>
          <p:cNvSpPr txBox="1"/>
          <p:nvPr/>
        </p:nvSpPr>
        <p:spPr>
          <a:xfrm>
            <a:off x="648720" y="4582390"/>
            <a:ext cx="11099880" cy="685489"/>
          </a:xfrm>
          <a:prstGeom prst="rect">
            <a:avLst/>
          </a:prstGeom>
          <a:noFill/>
          <a:ln>
            <a:noFill/>
          </a:ln>
        </p:spPr>
        <p:txBody>
          <a:bodyPr/>
          <a:lstStyle/>
          <a:p>
            <a:pPr algn="ctr">
              <a:lnSpc>
                <a:spcPct val="90000"/>
              </a:lnSpc>
              <a:spcBef>
                <a:spcPts val="1001"/>
              </a:spcBef>
            </a:pPr>
            <a:r>
              <a:rPr lang="zh-CN" altLang="en-US" sz="2400" b="1" strike="noStrike" spc="-1" dirty="0">
                <a:solidFill>
                  <a:srgbClr val="FFFFFF"/>
                </a:solidFill>
                <a:latin typeface="Arial"/>
              </a:rPr>
              <a:t>周熙然</a:t>
            </a:r>
            <a:r>
              <a:rPr lang="en-US" sz="2400" b="1" strike="noStrike" spc="-1" dirty="0">
                <a:solidFill>
                  <a:srgbClr val="FFFFFF"/>
                </a:solidFill>
                <a:latin typeface="Arial"/>
              </a:rPr>
              <a:t>   </a:t>
            </a:r>
            <a:r>
              <a:rPr lang="en-US" sz="2400" b="1" u="sng" strike="noStrike" spc="-1" dirty="0">
                <a:solidFill>
                  <a:srgbClr val="FFFF00"/>
                </a:solidFill>
                <a:uFillTx/>
                <a:latin typeface="Arial"/>
                <a:hlinkClick r:id="rId4"/>
              </a:rPr>
              <a:t>xrzhou@</a:t>
            </a:r>
            <a:r>
              <a:rPr lang="en-US" altLang="zh-CN" sz="2400" b="1" u="sng" strike="noStrike" spc="-1" dirty="0">
                <a:solidFill>
                  <a:srgbClr val="FFFF00"/>
                </a:solidFill>
                <a:uFillTx/>
                <a:latin typeface="Arial"/>
                <a:hlinkClick r:id="rId4"/>
              </a:rPr>
              <a:t>cumt</a:t>
            </a:r>
            <a:r>
              <a:rPr lang="en-US" sz="2400" b="1" u="sng" strike="noStrike" spc="-1" dirty="0">
                <a:solidFill>
                  <a:srgbClr val="FFFF00"/>
                </a:solidFill>
                <a:uFillTx/>
                <a:latin typeface="Arial"/>
                <a:hlinkClick r:id="rId4"/>
              </a:rPr>
              <a:t>.edu</a:t>
            </a:r>
            <a:r>
              <a:rPr lang="en-US" sz="2400" b="1" u="sng" strike="noStrike" spc="-1" dirty="0">
                <a:solidFill>
                  <a:srgbClr val="FFFF00"/>
                </a:solidFill>
                <a:uFillTx/>
                <a:latin typeface="Arial"/>
              </a:rPr>
              <a:t>.cn</a:t>
            </a:r>
            <a:r>
              <a:rPr lang="en-US" sz="2400" b="1" strike="noStrike" spc="-1" dirty="0">
                <a:solidFill>
                  <a:srgbClr val="FFFFFF"/>
                </a:solidFill>
                <a:latin typeface="Arial"/>
              </a:rPr>
              <a:t> </a:t>
            </a:r>
            <a:endParaRPr lang="en-US" sz="2400" b="0" strike="noStrike" spc="-1" dirty="0">
              <a:latin typeface="Arial"/>
            </a:endParaRPr>
          </a:p>
          <a:p>
            <a:pPr algn="ctr">
              <a:lnSpc>
                <a:spcPct val="90000"/>
              </a:lnSpc>
              <a:spcBef>
                <a:spcPts val="1001"/>
              </a:spcBef>
            </a:pPr>
            <a:endParaRPr lang="en-US" sz="2400" b="0" strike="noStrike" spc="-1" dirty="0">
              <a:latin typeface="Arial"/>
            </a:endParaRPr>
          </a:p>
        </p:txBody>
      </p:sp>
      <p:sp>
        <p:nvSpPr>
          <p:cNvPr id="92" name="CustomShape 4"/>
          <p:cNvSpPr/>
          <p:nvPr/>
        </p:nvSpPr>
        <p:spPr>
          <a:xfrm>
            <a:off x="3114720" y="5650560"/>
            <a:ext cx="5961960" cy="825120"/>
          </a:xfrm>
          <a:prstGeom prst="rect">
            <a:avLst/>
          </a:prstGeom>
          <a:noFill/>
          <a:ln>
            <a:noFill/>
          </a:ln>
        </p:spPr>
        <p:style>
          <a:lnRef idx="0">
            <a:scrgbClr r="0" g="0" b="0"/>
          </a:lnRef>
          <a:fillRef idx="0">
            <a:scrgbClr r="0" g="0" b="0"/>
          </a:fillRef>
          <a:effectRef idx="0">
            <a:scrgbClr r="0" g="0" b="0"/>
          </a:effectRef>
          <a:fontRef idx="minor"/>
        </p:style>
        <p:txBody>
          <a:bodyPr/>
          <a:lstStyle/>
          <a:p>
            <a:pPr algn="ctr">
              <a:lnSpc>
                <a:spcPct val="90000"/>
              </a:lnSpc>
              <a:spcBef>
                <a:spcPts val="1001"/>
              </a:spcBef>
            </a:pPr>
            <a:r>
              <a:rPr lang="zh-CN" altLang="en-US" b="1" strike="noStrike" spc="-1" dirty="0">
                <a:solidFill>
                  <a:srgbClr val="FFFFFF"/>
                </a:solidFill>
                <a:latin typeface="Arial"/>
              </a:rPr>
              <a:t>环境与测绘学院，中国矿业大学</a:t>
            </a:r>
            <a:endParaRPr lang="en-US" altLang="zh-CN" b="1" strike="noStrike" spc="-1" dirty="0">
              <a:solidFill>
                <a:srgbClr val="FFFFFF"/>
              </a:solidFill>
              <a:latin typeface="Arial"/>
            </a:endParaRPr>
          </a:p>
          <a:p>
            <a:pPr algn="ctr">
              <a:lnSpc>
                <a:spcPct val="90000"/>
              </a:lnSpc>
              <a:spcBef>
                <a:spcPts val="1001"/>
              </a:spcBef>
            </a:pPr>
            <a:r>
              <a:rPr lang="en-US" b="1" strike="noStrike" spc="-1" dirty="0">
                <a:solidFill>
                  <a:srgbClr val="FFFFFF"/>
                </a:solidFill>
                <a:latin typeface="Arial"/>
              </a:rPr>
              <a:t>03/19/2021</a:t>
            </a:r>
            <a:endParaRPr lang="en-US" b="0" strike="noStrike" spc="-1" dirty="0">
              <a:latin typeface="Arial"/>
            </a:endParaRPr>
          </a:p>
          <a:p>
            <a:pPr algn="ctr">
              <a:lnSpc>
                <a:spcPct val="90000"/>
              </a:lnSpc>
              <a:spcBef>
                <a:spcPts val="1001"/>
              </a:spcBef>
            </a:pPr>
            <a:r>
              <a:rPr lang="zh-CN" altLang="en-US" b="1" spc="-1" dirty="0">
                <a:solidFill>
                  <a:srgbClr val="FFFFFF"/>
                </a:solidFill>
                <a:latin typeface="Arial"/>
              </a:rPr>
              <a:t>江苏省，徐州</a:t>
            </a:r>
            <a:endParaRPr lang="en-US" b="0" strike="noStrike" spc="-1" dirty="0">
              <a:latin typeface="Arial"/>
            </a:endParaRPr>
          </a:p>
        </p:txBody>
      </p:sp>
      <p:pic>
        <p:nvPicPr>
          <p:cNvPr id="215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562" y="301288"/>
            <a:ext cx="3143250" cy="904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50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6607" y="349593"/>
            <a:ext cx="3871913" cy="65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194119"/>
            <a:ext cx="11521080" cy="5265675"/>
          </a:xfrm>
          <a:prstGeom prst="rect">
            <a:avLst/>
          </a:prstGeom>
          <a:noFill/>
          <a:ln>
            <a:noFill/>
          </a:ln>
        </p:spPr>
        <p:txBody>
          <a:bodyPr>
            <a:normAutofit/>
          </a:bodyPr>
          <a:lstStyle/>
          <a:p>
            <a:pPr>
              <a:lnSpc>
                <a:spcPct val="90000"/>
              </a:lnSpc>
              <a:spcBef>
                <a:spcPts val="1001"/>
              </a:spcBef>
            </a:pPr>
            <a:endParaRPr lang="en-US" altLang="zh-CN" sz="2000" b="0" strike="noStrike"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nSpc>
                <a:spcPct val="90000"/>
              </a:lnSpc>
              <a:spcBef>
                <a:spcPts val="1001"/>
              </a:spcBef>
            </a:pPr>
            <a:endParaRPr lang="en-US" altLang="zh-CN" sz="20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课程之家 </a:t>
            </a:r>
            <a:r>
              <a:rPr lang="en-US" altLang="zh-CN"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Course Community</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88262" y="1304530"/>
            <a:ext cx="3931505" cy="5044852"/>
          </a:xfrm>
          <a:prstGeom prst="rect">
            <a:avLst/>
          </a:prstGeom>
        </p:spPr>
      </p:pic>
    </p:spTree>
    <p:extLst>
      <p:ext uri="{BB962C8B-B14F-4D97-AF65-F5344CB8AC3E}">
        <p14:creationId xmlns:p14="http://schemas.microsoft.com/office/powerpoint/2010/main" val="372528180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246840" y="2774803"/>
            <a:ext cx="11797676"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4000" b="1" strike="noStrike" spc="-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rPr>
              <a:t>第二章 空间点模式、面模式、空间栅格模式</a:t>
            </a:r>
            <a:endParaRPr lang="en-US" sz="4000" b="0" strike="noStrike" spc="-1" dirty="0">
              <a:solidFill>
                <a:schemeClr val="accent2"/>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456088533"/>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空间点模式</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文本框 4"/>
          <p:cNvSpPr txBox="1"/>
          <p:nvPr/>
        </p:nvSpPr>
        <p:spPr>
          <a:xfrm>
            <a:off x="3874739" y="2046434"/>
            <a:ext cx="5315585" cy="2238241"/>
          </a:xfrm>
          <a:prstGeom prst="rect">
            <a:avLst/>
          </a:prstGeom>
          <a:noFill/>
        </p:spPr>
        <p:txBody>
          <a:bodyPr wrap="square" rtlCol="0" anchor="t">
            <a:spAutoFit/>
          </a:bodyPr>
          <a:lstStyle/>
          <a:p>
            <a:pPr marL="457200" indent="-457200" latinLnBrk="0">
              <a:lnSpc>
                <a:spcPct val="150000"/>
              </a:lnSpc>
              <a:buClr>
                <a:srgbClr val="78A5FF"/>
              </a:buClr>
              <a:buFont typeface="Wingdings" panose="05000000000000000000" charset="0"/>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点模式空间分析概念</a:t>
            </a:r>
          </a:p>
          <a:p>
            <a:pPr marL="457200" indent="-457200" latinLnBrk="0">
              <a:lnSpc>
                <a:spcPct val="150000"/>
              </a:lnSpc>
              <a:buClr>
                <a:srgbClr val="78A5FF"/>
              </a:buClr>
              <a:buFont typeface="Wingdings" panose="05000000000000000000" charset="0"/>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点模式空间分析方法</a:t>
            </a:r>
          </a:p>
          <a:p>
            <a:pPr marL="457200" indent="-457200" latinLnBrk="0">
              <a:lnSpc>
                <a:spcPct val="150000"/>
              </a:lnSpc>
              <a:buClr>
                <a:srgbClr val="78A5FF"/>
              </a:buClr>
              <a:buFont typeface="Wingdings" panose="05000000000000000000" charset="0"/>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基于密度的点模式分析</a:t>
            </a:r>
          </a:p>
          <a:p>
            <a:pPr marL="457200" indent="-457200" latinLnBrk="0">
              <a:lnSpc>
                <a:spcPct val="150000"/>
              </a:lnSpc>
              <a:buClr>
                <a:srgbClr val="78A5FF"/>
              </a:buClr>
              <a:buFont typeface="Wingdings" panose="05000000000000000000" charset="0"/>
              <a:buChar char="Ø"/>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基于距离的点模式分析</a:t>
            </a:r>
          </a:p>
        </p:txBody>
      </p:sp>
    </p:spTree>
    <p:extLst>
      <p:ext uri="{BB962C8B-B14F-4D97-AF65-F5344CB8AC3E}">
        <p14:creationId xmlns:p14="http://schemas.microsoft.com/office/powerpoint/2010/main" val="349480912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194120"/>
            <a:ext cx="11521080" cy="5234760"/>
          </a:xfrm>
          <a:prstGeom prst="rect">
            <a:avLst/>
          </a:prstGeom>
          <a:noFill/>
          <a:ln>
            <a:noFill/>
          </a:ln>
        </p:spPr>
        <p:txBody>
          <a:bodyPr>
            <a:normAutofit/>
          </a:bodyPr>
          <a:lstStyle/>
          <a:p>
            <a:pPr marL="57150" algn="just">
              <a:lnSpc>
                <a:spcPct val="150000"/>
              </a:lnSpc>
              <a:buClr>
                <a:srgbClr val="0066CC"/>
              </a:buClr>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点模式类型</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点的疏密：均匀或者不均匀</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点的方位，点的分布方向</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点的数量：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点的大小：代表的含义</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其他：如点的一些动态变化等。</a:t>
            </a: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57150" algn="just">
              <a:lnSpc>
                <a:spcPct val="150000"/>
              </a:lnSpc>
              <a:buClr>
                <a:srgbClr val="0066CC"/>
              </a:buCl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空间点模式概念</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29889166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194120"/>
            <a:ext cx="11521080" cy="5234760"/>
          </a:xfrm>
          <a:prstGeom prst="rect">
            <a:avLst/>
          </a:prstGeom>
          <a:noFill/>
          <a:ln>
            <a:noFill/>
          </a:ln>
        </p:spPr>
        <p:txBody>
          <a:bodyPr>
            <a:normAutofit/>
          </a:bodyPr>
          <a:lstStyle/>
          <a:p>
            <a:pPr marL="57150" algn="just">
              <a:lnSpc>
                <a:spcPct val="150000"/>
              </a:lnSpc>
              <a:buClr>
                <a:srgbClr val="0066CC"/>
              </a:buClr>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点模式区分为3 种基本类型</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聚集分布</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随机分布</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均匀分布</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400050" indent="-342900" algn="just">
              <a:lnSpc>
                <a:spcPct val="150000"/>
              </a:lnSpc>
              <a:buClr>
                <a:srgbClr val="0066CC"/>
              </a:buClr>
              <a:buFont typeface="Arial" panose="020B0604020202020204" pitchFamily="34" charset="0"/>
              <a:buChar cha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a:p>
            <a:pPr marL="57150" algn="just">
              <a:lnSpc>
                <a:spcPct val="150000"/>
              </a:lnSpc>
              <a:buClr>
                <a:srgbClr val="0066CC"/>
              </a:buClr>
            </a:pPr>
            <a:r>
              <a:rPr lang="zh-CN" altLang="en-US" sz="2400" u="sng" dirty="0">
                <a:latin typeface="Times New Roman" panose="02020603050405020304" pitchFamily="18" charset="0"/>
                <a:ea typeface="楷体" panose="02010609060101010101" pitchFamily="49" charset="-122"/>
                <a:cs typeface="Times New Roman" panose="02020603050405020304" pitchFamily="18" charset="0"/>
              </a:rPr>
              <a:t>三种基本类型随着空间尺度的变化而变化么？</a:t>
            </a:r>
          </a:p>
          <a:p>
            <a:pPr marL="57150" algn="just">
              <a:lnSpc>
                <a:spcPct val="150000"/>
              </a:lnSpc>
              <a:buClr>
                <a:srgbClr val="0066CC"/>
              </a:buCl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空间点模式概念</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243565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194120"/>
            <a:ext cx="11521080" cy="5234760"/>
          </a:xfrm>
          <a:prstGeom prst="rect">
            <a:avLst/>
          </a:prstGeom>
          <a:noFill/>
          <a:ln>
            <a:noFill/>
          </a:ln>
        </p:spPr>
        <p:txBody>
          <a:bodyPr>
            <a:normAutofit/>
          </a:bodyPr>
          <a:lstStyle/>
          <a:p>
            <a:pPr marL="57150" algn="just">
              <a:lnSpc>
                <a:spcPct val="150000"/>
              </a:lnSpc>
              <a:buClr>
                <a:srgbClr val="0066CC"/>
              </a:buCl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空间点模式概念</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4" descr="Related image">
            <a:extLst>
              <a:ext uri="{FF2B5EF4-FFF2-40B4-BE49-F238E27FC236}">
                <a16:creationId xmlns:a16="http://schemas.microsoft.com/office/drawing/2014/main" id="{883EBEEA-A9AF-415C-842A-16D0537F34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811" y="2131657"/>
            <a:ext cx="10469209" cy="3255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91393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194120"/>
            <a:ext cx="11521080" cy="5234760"/>
          </a:xfrm>
          <a:prstGeom prst="rect">
            <a:avLst/>
          </a:prstGeom>
          <a:noFill/>
          <a:ln>
            <a:noFill/>
          </a:ln>
        </p:spPr>
        <p:txBody>
          <a:bodyPr>
            <a:normAutofit/>
          </a:bodyPr>
          <a:lstStyle/>
          <a:p>
            <a:pPr marL="57150" algn="just">
              <a:lnSpc>
                <a:spcPct val="150000"/>
              </a:lnSpc>
              <a:buClr>
                <a:srgbClr val="0066CC"/>
              </a:buClr>
            </a:pPr>
            <a:endParaRPr lang="en-US" altLang="zh-CN" sz="2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98"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空间点模式概念</a:t>
            </a:r>
            <a:endParaRPr lang="en-US" sz="3200" b="0" strike="noStrike" spc="-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6" name="Picture 3">
            <a:extLst>
              <a:ext uri="{FF2B5EF4-FFF2-40B4-BE49-F238E27FC236}">
                <a16:creationId xmlns:a16="http://schemas.microsoft.com/office/drawing/2014/main" id="{DDD4D877-CD5B-41D8-A1AE-9748FC51C2DA}"/>
              </a:ext>
            </a:extLst>
          </p:cNvPr>
          <p:cNvPicPr>
            <a:picLocks noChangeAspect="1"/>
          </p:cNvPicPr>
          <p:nvPr/>
        </p:nvPicPr>
        <p:blipFill>
          <a:blip r:embed="rId4"/>
          <a:stretch>
            <a:fillRect/>
          </a:stretch>
        </p:blipFill>
        <p:spPr>
          <a:xfrm>
            <a:off x="1519722" y="1891927"/>
            <a:ext cx="2677407" cy="2607103"/>
          </a:xfrm>
          <a:prstGeom prst="rect">
            <a:avLst/>
          </a:prstGeom>
        </p:spPr>
      </p:pic>
      <p:pic>
        <p:nvPicPr>
          <p:cNvPr id="7" name="Picture 4">
            <a:extLst>
              <a:ext uri="{FF2B5EF4-FFF2-40B4-BE49-F238E27FC236}">
                <a16:creationId xmlns:a16="http://schemas.microsoft.com/office/drawing/2014/main" id="{69F14141-02A4-427D-AE3A-192D10303BEB}"/>
              </a:ext>
            </a:extLst>
          </p:cNvPr>
          <p:cNvPicPr>
            <a:picLocks noChangeAspect="1"/>
          </p:cNvPicPr>
          <p:nvPr/>
        </p:nvPicPr>
        <p:blipFill>
          <a:blip r:embed="rId5"/>
          <a:stretch>
            <a:fillRect/>
          </a:stretch>
        </p:blipFill>
        <p:spPr>
          <a:xfrm>
            <a:off x="4729633" y="1891925"/>
            <a:ext cx="2646703" cy="2607104"/>
          </a:xfrm>
          <a:prstGeom prst="rect">
            <a:avLst/>
          </a:prstGeom>
        </p:spPr>
      </p:pic>
      <p:pic>
        <p:nvPicPr>
          <p:cNvPr id="8" name="Picture 5">
            <a:extLst>
              <a:ext uri="{FF2B5EF4-FFF2-40B4-BE49-F238E27FC236}">
                <a16:creationId xmlns:a16="http://schemas.microsoft.com/office/drawing/2014/main" id="{0E1ECB7E-0839-42CC-B457-EC820F8461ED}"/>
              </a:ext>
            </a:extLst>
          </p:cNvPr>
          <p:cNvPicPr>
            <a:picLocks noChangeAspect="1"/>
          </p:cNvPicPr>
          <p:nvPr/>
        </p:nvPicPr>
        <p:blipFill>
          <a:blip r:embed="rId6"/>
          <a:stretch>
            <a:fillRect/>
          </a:stretch>
        </p:blipFill>
        <p:spPr>
          <a:xfrm>
            <a:off x="7908840" y="1891927"/>
            <a:ext cx="2646705" cy="2607105"/>
          </a:xfrm>
          <a:prstGeom prst="rect">
            <a:avLst/>
          </a:prstGeom>
        </p:spPr>
      </p:pic>
    </p:spTree>
    <p:extLst>
      <p:ext uri="{BB962C8B-B14F-4D97-AF65-F5344CB8AC3E}">
        <p14:creationId xmlns:p14="http://schemas.microsoft.com/office/powerpoint/2010/main" val="225962305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480930"/>
            <a:ext cx="11521080" cy="4947950"/>
          </a:xfrm>
          <a:prstGeom prst="rect">
            <a:avLst/>
          </a:prstGeom>
          <a:noFill/>
          <a:ln>
            <a:noFill/>
          </a:ln>
        </p:spPr>
        <p:txBody>
          <a:bodyPr>
            <a:normAutofit/>
          </a:bodyPr>
          <a:lstStyle/>
          <a:p>
            <a:pPr marL="342900" indent="-3600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从统计学的角度，地物或事件出现在空间任意位置的可能性都是相同的，或者说出现在任何位置都是有可能的。</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从统计学的角度，没有外力的情况下，点分布模式是随机分布的。</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若点模式为规则或聚集模式，则说明地物或时间至今可 能存在某种联系。 </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600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基于时间轴分析，可以研究一种地物或现象的分布模式是否对另一种地物</a:t>
            </a:r>
            <a:r>
              <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现象的分布模式产生影 响。</a:t>
            </a:r>
            <a:endParaRPr lang="en-US" altLang="zh-CN" sz="22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4"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点空间分析概念</a:t>
            </a:r>
            <a:endParaRPr lang="en-US" altLang="zh-CN"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768174971"/>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341783"/>
            <a:ext cx="11521080" cy="5087097"/>
          </a:xfrm>
          <a:prstGeom prst="rect">
            <a:avLst/>
          </a:prstGeom>
          <a:noFill/>
          <a:ln>
            <a:noFill/>
          </a:ln>
        </p:spPr>
        <p:txBody>
          <a:bodyPr>
            <a:normAutofit/>
          </a:bodyPr>
          <a:lstStyle/>
          <a:p>
            <a:pPr>
              <a:spcBef>
                <a:spcPts val="1200"/>
              </a:spcBef>
            </a:pPr>
            <a:r>
              <a:rPr lang="zh-CN" altLang="en-US" sz="2800" b="1"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空间点模式的研究方法</a:t>
            </a:r>
            <a:endParaRPr lang="en-US" altLang="zh-CN" sz="2800" b="1"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1200"/>
              </a:spcBef>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全局法：观察所有样本点的分布模式</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1200"/>
              </a:spcBef>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局部法：观察样本点之间的模式。</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1200"/>
              </a:spcBef>
            </a:pP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algn="just">
              <a:spcBef>
                <a:spcPts val="1200"/>
              </a:spcBef>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点模式主要研究的是点分布的哪些模式？</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聚集性</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gn="just">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分散性</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5"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点模式空间分析</a:t>
            </a:r>
            <a:endParaRPr lang="en-US" altLang="zh-CN"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8776384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1200"/>
              </a:spcBef>
            </a:pPr>
            <a:r>
              <a:rPr lang="zh-CN" altLang="en-US" sz="2800" b="1"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点模式的分析方法两种： </a:t>
            </a:r>
            <a:endParaRPr lang="en-US" altLang="zh-CN" sz="2800" b="1"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以聚集为研究对象，基于密度的方法：通过点的密度或频率分布研究点的分布的空间模式。</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1200"/>
              </a:spcBef>
              <a:buFont typeface="Arial" panose="020B0604020202020204" pitchFamily="34" charset="0"/>
              <a:buChar char="•"/>
            </a:pP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以分散为研究对象，基于距离的方法：通过测度最近邻点的距离</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1200"/>
              </a:spcBef>
              <a:buFont typeface="Arial" panose="020B0604020202020204" pitchFamily="34" charset="0"/>
              <a:buChar char="•"/>
            </a:pP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1200"/>
              </a:spcBef>
              <a:buFont typeface="Arial" panose="020B0604020202020204" pitchFamily="34" charset="0"/>
              <a:buChar char="•"/>
            </a:pPr>
            <a:r>
              <a:rPr lang="zh-CN" altLang="en-US" sz="2400" u="sng"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基于密度的方法：</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主要有样方计数法和核函数方法。</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1200"/>
              </a:spcBef>
              <a:buFont typeface="Arial" panose="020B0604020202020204" pitchFamily="34" charset="0"/>
              <a:buChar char="•"/>
            </a:pPr>
            <a:r>
              <a:rPr lang="zh-CN" altLang="en-US" sz="2400" u="sng"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基于距离的方法：</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主要有最近邻距离法，包括最近邻指数、 </a:t>
            </a:r>
            <a:r>
              <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F- </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a:t>
            </a:r>
            <a:r>
              <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K-</a:t>
            </a:r>
            <a:r>
              <a:rPr lang="zh-CN" altLang="en-US"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函数方法等。</a:t>
            </a:r>
            <a:endParaRPr lang="en-US" altLang="zh-CN" sz="24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Tree>
    <p:extLst>
      <p:ext uri="{BB962C8B-B14F-4D97-AF65-F5344CB8AC3E}">
        <p14:creationId xmlns:p14="http://schemas.microsoft.com/office/powerpoint/2010/main" val="311265110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点模式分析：</a:t>
            </a:r>
          </a:p>
          <a:p>
            <a:pPr marL="285750" indent="-28575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模式判断：要从全局上揭示事件的分布是随机的、聚集的，还是规则的模式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尺度效应：还要描述尺度相关的分布模式，描述两类事件分布模式的关系及其随时间的演化</a:t>
            </a:r>
          </a:p>
          <a:p>
            <a:pPr marL="285750" indent="-285750">
              <a:spcBef>
                <a:spcPts val="600"/>
              </a:spcBef>
              <a:buFont typeface="Arial" panose="020B0604020202020204" pitchFamily="34" charset="0"/>
              <a:buChar char="•"/>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全局点模式：主要基于一阶性质的测度，可根据过程的密度即单位面积上平均的事件数量定量地描述。</a:t>
            </a:r>
          </a:p>
          <a:p>
            <a:pPr marL="285750" indent="-285750">
              <a:spcBef>
                <a:spcPts val="600"/>
              </a:spcBef>
              <a:buFont typeface="Arial" panose="020B0604020202020204" pitchFamily="34" charset="0"/>
              <a:buChar char="•"/>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空间依赖性：主要基于二阶性质的测度，采用点和点之间距离的关系描述</a:t>
            </a:r>
            <a:endParaRPr lang="en-US" altLang="zh-CN" sz="32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Tree>
    <p:extLst>
      <p:ext uri="{BB962C8B-B14F-4D97-AF65-F5344CB8AC3E}">
        <p14:creationId xmlns:p14="http://schemas.microsoft.com/office/powerpoint/2010/main" val="64397207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600"/>
              </a:spcBef>
            </a:pPr>
            <a:r>
              <a:rPr lang="zh-CN" altLang="en-US" sz="2800" b="1" dirty="0"/>
              <a:t>一阶效应：</a:t>
            </a:r>
            <a:endParaRPr lang="en-US" altLang="zh-CN" sz="2800" b="1" dirty="0"/>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一般用</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点过程密度</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λ(S)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描述，指在点</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处单位面积内事件的平均数目。用数学极限公式可定义为：</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是指在点</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周围一个足够小的邻域；</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表示数学期望；</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Y(ds)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ds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内事件的数目。</a:t>
            </a:r>
            <a:endParaRPr lang="en-US" altLang="zh-CN" sz="32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3" name="图片 2"/>
          <p:cNvPicPr>
            <a:picLocks noChangeAspect="1"/>
          </p:cNvPicPr>
          <p:nvPr/>
        </p:nvPicPr>
        <p:blipFill>
          <a:blip r:embed="rId4"/>
          <a:stretch>
            <a:fillRect/>
          </a:stretch>
        </p:blipFill>
        <p:spPr>
          <a:xfrm>
            <a:off x="4389161" y="2372967"/>
            <a:ext cx="3095625" cy="857250"/>
          </a:xfrm>
          <a:prstGeom prst="rect">
            <a:avLst/>
          </a:prstGeom>
        </p:spPr>
      </p:pic>
    </p:spTree>
    <p:extLst>
      <p:ext uri="{BB962C8B-B14F-4D97-AF65-F5344CB8AC3E}">
        <p14:creationId xmlns:p14="http://schemas.microsoft.com/office/powerpoint/2010/main" val="385011940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600"/>
              </a:spcBef>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点模式的一阶效应有两种分析方法：</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样方计数法</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核密度方法</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样方计数法：</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将研究区域划分为面积相等的子区域（样方），统计每一个样方中的事件数量，除样方的面积得到点分布的密度。</a:t>
            </a:r>
          </a:p>
          <a:p>
            <a:pPr>
              <a:spcBef>
                <a:spcPts val="600"/>
              </a:spcBef>
            </a:pPr>
            <a:r>
              <a:rPr lang="zh-CN" altLang="en-US" sz="2400" i="1" u="sng" dirty="0">
                <a:latin typeface="Times New Roman" panose="02020603050405020304" pitchFamily="18" charset="0"/>
                <a:ea typeface="楷体" panose="02010609060101010101" pitchFamily="49" charset="-122"/>
                <a:cs typeface="Times New Roman" panose="02020603050405020304" pitchFamily="18" charset="0"/>
              </a:rPr>
              <a:t>缺陷？</a:t>
            </a:r>
            <a:endParaRPr lang="en-US" altLang="zh-CN" sz="2400" i="1" u="sng"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核密度估计：</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基于样本点的位置产生光滑的密度直方图的方法。</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Tree>
    <p:extLst>
      <p:ext uri="{BB962C8B-B14F-4D97-AF65-F5344CB8AC3E}">
        <p14:creationId xmlns:p14="http://schemas.microsoft.com/office/powerpoint/2010/main" val="2661468958"/>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600"/>
              </a:spcBef>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二阶效应：</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通过研究区域中两个足够小的样方内事件数目之间的相互关系来描述。用数学极限公式可表示为：</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1" baseline="-25000" dirty="0" err="1">
                <a:latin typeface="Times New Roman" panose="02020603050405020304" pitchFamily="18" charset="0"/>
                <a:ea typeface="楷体" panose="02010609060101010101" pitchFamily="49" charset="-122"/>
                <a:cs typeface="Times New Roman" panose="02020603050405020304" pitchFamily="18" charset="0"/>
              </a:rPr>
              <a:t>si</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a:t>
            </a:r>
            <a:r>
              <a:rPr lang="en-US" altLang="zh-CN" sz="2400" b="1" baseline="-25000" dirty="0" err="1">
                <a:latin typeface="Times New Roman" panose="02020603050405020304" pitchFamily="18" charset="0"/>
                <a:ea typeface="楷体" panose="02010609060101010101" pitchFamily="49" charset="-122"/>
                <a:cs typeface="Times New Roman" panose="02020603050405020304" pitchFamily="18" charset="0"/>
              </a:rPr>
              <a:t>sj</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分别表示</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si</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sj</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周围足够小的邻；</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表示数学期望</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 </a:t>
            </a:r>
          </a:p>
          <a:p>
            <a:pPr marL="285750" indent="-28575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Y(</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dsi</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Y(</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dsj</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分别指</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dsi</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dsj</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两个小区域内的事件个数。</a:t>
            </a:r>
            <a:endParaRPr lang="zh-CN" altLang="en-US" sz="3600" b="1"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4" name="图片 3"/>
          <p:cNvPicPr>
            <a:picLocks noChangeAspect="1"/>
          </p:cNvPicPr>
          <p:nvPr/>
        </p:nvPicPr>
        <p:blipFill>
          <a:blip r:embed="rId4"/>
          <a:stretch>
            <a:fillRect/>
          </a:stretch>
        </p:blipFill>
        <p:spPr>
          <a:xfrm>
            <a:off x="3522385" y="2469252"/>
            <a:ext cx="4829175" cy="885825"/>
          </a:xfrm>
          <a:prstGeom prst="rect">
            <a:avLst/>
          </a:prstGeom>
        </p:spPr>
      </p:pic>
    </p:spTree>
    <p:extLst>
      <p:ext uri="{BB962C8B-B14F-4D97-AF65-F5344CB8AC3E}">
        <p14:creationId xmlns:p14="http://schemas.microsoft.com/office/powerpoint/2010/main" val="382833764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600"/>
              </a:spcBef>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点模式的二阶性质分析：</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通过点之间的距离进行研究，如最近邻距离。</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最近邻距离估计：</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随机选择的对象</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事件与其最近邻之间的距离</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随机选择的空间上的位置与最近邻的对象</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事件之间的距离</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Tree>
    <p:extLst>
      <p:ext uri="{BB962C8B-B14F-4D97-AF65-F5344CB8AC3E}">
        <p14:creationId xmlns:p14="http://schemas.microsoft.com/office/powerpoint/2010/main" val="942302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361661"/>
            <a:ext cx="11521080" cy="5067219"/>
          </a:xfrm>
          <a:prstGeom prst="rect">
            <a:avLst/>
          </a:prstGeom>
          <a:noFill/>
          <a:ln>
            <a:noFill/>
          </a:ln>
        </p:spPr>
        <p:txBody>
          <a:bodyPr>
            <a:normAutofit/>
          </a:bodyPr>
          <a:lstStyle/>
          <a:p>
            <a:pPr>
              <a:spcBef>
                <a:spcPts val="600"/>
              </a:spcBef>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样方分析（</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Quadrat analysis, QA</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8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基本思想：</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通过点分布密度的变化来探索空间分布模式。</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QA</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的计算过程：</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将研究的区域划分为规则的正方形网格区域（样方）。</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统计落人每一个样方中点的数量。</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统计出所有样方包含点数量的频率分布。</a:t>
            </a:r>
          </a:p>
          <a:p>
            <a:pPr marL="342900" indent="-342900">
              <a:spcBef>
                <a:spcPts val="600"/>
              </a:spcBef>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将观测得到的频率分布和已知的频率分布或理论上的随机分布（如泊松分布）作比较，判断点模式的类型。</a:t>
            </a:r>
            <a:endParaRPr lang="en-US" altLang="zh-CN" sz="32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sp>
        <p:nvSpPr>
          <p:cNvPr id="4" name="CustomShape 2"/>
          <p:cNvSpPr/>
          <p:nvPr/>
        </p:nvSpPr>
        <p:spPr>
          <a:xfrm>
            <a:off x="161640" y="542880"/>
            <a:ext cx="11945160" cy="650880"/>
          </a:xfrm>
          <a:prstGeom prst="rect">
            <a:avLst/>
          </a:prstGeom>
          <a:noFill/>
          <a:ln>
            <a:noFill/>
          </a:ln>
        </p:spPr>
        <p:style>
          <a:lnRef idx="0">
            <a:scrgbClr r="0" g="0" b="0"/>
          </a:lnRef>
          <a:fillRef idx="0">
            <a:scrgbClr r="0" g="0" b="0"/>
          </a:fillRef>
          <a:effectRef idx="0">
            <a:scrgbClr r="0" g="0" b="0"/>
          </a:effectRef>
          <a:fontRef idx="minor"/>
        </p:style>
        <p:txBody>
          <a:bodyPr anchor="ctr">
            <a:normAutofit/>
          </a:bodyPr>
          <a:lstStyle/>
          <a:p>
            <a:pPr algn="ctr">
              <a:lnSpc>
                <a:spcPct val="90000"/>
              </a:lnSpc>
            </a:pP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点模式空间分析</a:t>
            </a:r>
            <a:r>
              <a:rPr lang="en-US" altLang="zh-CN"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rPr>
              <a:t>基于密度的方法</a:t>
            </a:r>
            <a:endParaRPr lang="en-US" altLang="zh-CN" sz="3200" b="1" spc="-1" dirty="0">
              <a:solidFill>
                <a:srgbClr val="2E75B6"/>
              </a:solidFill>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05121193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662152" y="1479995"/>
            <a:ext cx="10874724" cy="3848750"/>
          </a:xfrm>
          <a:prstGeom prst="rect">
            <a:avLst/>
          </a:prstGeom>
        </p:spPr>
      </p:pic>
    </p:spTree>
    <p:extLst>
      <p:ext uri="{BB962C8B-B14F-4D97-AF65-F5344CB8AC3E}">
        <p14:creationId xmlns:p14="http://schemas.microsoft.com/office/powerpoint/2010/main" val="2691307506"/>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1033671"/>
            <a:ext cx="11521080" cy="5395210"/>
          </a:xfrm>
          <a:prstGeom prst="rect">
            <a:avLst/>
          </a:prstGeom>
          <a:noFill/>
          <a:ln>
            <a:noFill/>
          </a:ln>
        </p:spPr>
        <p:txBody>
          <a:bodyPr>
            <a:normAutofit/>
          </a:bodyPr>
          <a:lstStyle/>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样方的尺寸选择对计算结果会产生很大的影响。</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根据</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Greig</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-Smith</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于</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1962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年的试验以及</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Tylor</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Griffith</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err="1">
                <a:latin typeface="Times New Roman" panose="02020603050405020304" pitchFamily="18" charset="0"/>
                <a:ea typeface="楷体" panose="02010609060101010101" pitchFamily="49" charset="-122"/>
                <a:cs typeface="Times New Roman" panose="02020603050405020304" pitchFamily="18" charset="0"/>
              </a:rPr>
              <a:t>Amrhein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的研究，最优的样方尺寸可根据区域的面积和分布于其中的点的数量确定：</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Q</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是样方的尺寸</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面积</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为研究区域的面积；</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是研究区域中点的数量。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5169630" y="2867244"/>
            <a:ext cx="1852500" cy="1044000"/>
          </a:xfrm>
          <a:prstGeom prst="rect">
            <a:avLst/>
          </a:prstGeom>
        </p:spPr>
      </p:pic>
    </p:spTree>
    <p:extLst>
      <p:ext uri="{BB962C8B-B14F-4D97-AF65-F5344CB8AC3E}">
        <p14:creationId xmlns:p14="http://schemas.microsoft.com/office/powerpoint/2010/main" val="197797666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样方分析中点模式的显著性检验：</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K-S</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Kolmogorov-Smirnov</a:t>
            </a: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检验（频率分布）</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基本原理：通过比较观测频率分布和某一“标准”的频率分布，确定观测分布模式的显著性。</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a:p>
            <a:pPr marL="285750" indent="-285750">
              <a:spcBef>
                <a:spcPts val="600"/>
              </a:spcBef>
              <a:buFont typeface="Arial" panose="020B0604020202020204" pitchFamily="34" charset="0"/>
              <a:buChar char="•"/>
            </a:pPr>
            <a:r>
              <a:rPr lang="en-US" altLang="zh-CN" sz="2400" b="1" i="1" dirty="0">
                <a:latin typeface="Times New Roman" panose="02020603050405020304" pitchFamily="18" charset="0"/>
                <a:ea typeface="楷体" panose="02010609060101010101" pitchFamily="49" charset="-122"/>
                <a:cs typeface="Times New Roman" panose="02020603050405020304" pitchFamily="18" charset="0"/>
              </a:rPr>
              <a:t>χ</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检验（方差均值比较）</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488968" y="3970766"/>
            <a:ext cx="4622385" cy="1426182"/>
          </a:xfrm>
          <a:prstGeom prst="rect">
            <a:avLst/>
          </a:prstGeom>
        </p:spPr>
      </p:pic>
      <p:pic>
        <p:nvPicPr>
          <p:cNvPr id="3" name="图片 2"/>
          <p:cNvPicPr>
            <a:picLocks noChangeAspect="1"/>
          </p:cNvPicPr>
          <p:nvPr/>
        </p:nvPicPr>
        <p:blipFill>
          <a:blip r:embed="rId5"/>
          <a:stretch>
            <a:fillRect/>
          </a:stretch>
        </p:blipFill>
        <p:spPr>
          <a:xfrm>
            <a:off x="5367131" y="3864813"/>
            <a:ext cx="3136426" cy="1796291"/>
          </a:xfrm>
          <a:prstGeom prst="rect">
            <a:avLst/>
          </a:prstGeom>
        </p:spPr>
      </p:pic>
      <p:pic>
        <p:nvPicPr>
          <p:cNvPr id="4" name="图片 3"/>
          <p:cNvPicPr>
            <a:picLocks noChangeAspect="1"/>
          </p:cNvPicPr>
          <p:nvPr/>
        </p:nvPicPr>
        <p:blipFill>
          <a:blip r:embed="rId6"/>
          <a:stretch>
            <a:fillRect/>
          </a:stretch>
        </p:blipFill>
        <p:spPr>
          <a:xfrm>
            <a:off x="9139703" y="4292859"/>
            <a:ext cx="2755057" cy="791776"/>
          </a:xfrm>
          <a:prstGeom prst="rect">
            <a:avLst/>
          </a:prstGeom>
        </p:spPr>
      </p:pic>
    </p:spTree>
    <p:extLst>
      <p:ext uri="{BB962C8B-B14F-4D97-AF65-F5344CB8AC3E}">
        <p14:creationId xmlns:p14="http://schemas.microsoft.com/office/powerpoint/2010/main" val="3041525587"/>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152906" y="32944"/>
            <a:ext cx="7228630" cy="1589031"/>
          </a:xfrm>
          <a:prstGeom prst="rect">
            <a:avLst/>
          </a:prstGeom>
        </p:spPr>
      </p:pic>
      <p:pic>
        <p:nvPicPr>
          <p:cNvPr id="3" name="图片 2"/>
          <p:cNvPicPr>
            <a:picLocks noChangeAspect="1"/>
          </p:cNvPicPr>
          <p:nvPr/>
        </p:nvPicPr>
        <p:blipFill>
          <a:blip r:embed="rId5"/>
          <a:stretch>
            <a:fillRect/>
          </a:stretch>
        </p:blipFill>
        <p:spPr>
          <a:xfrm>
            <a:off x="3530993" y="1577141"/>
            <a:ext cx="8561584" cy="4952086"/>
          </a:xfrm>
          <a:prstGeom prst="rect">
            <a:avLst/>
          </a:prstGeom>
        </p:spPr>
      </p:pic>
      <p:sp>
        <p:nvSpPr>
          <p:cNvPr id="96" name="TextShape 1"/>
          <p:cNvSpPr txBox="1"/>
          <p:nvPr/>
        </p:nvSpPr>
        <p:spPr>
          <a:xfrm>
            <a:off x="3640535" y="1750145"/>
            <a:ext cx="851339" cy="485510"/>
          </a:xfrm>
          <a:prstGeom prst="rect">
            <a:avLst/>
          </a:prstGeom>
          <a:solidFill>
            <a:schemeClr val="bg1"/>
          </a:solidFill>
          <a:ln>
            <a:solidFill>
              <a:schemeClr val="bg1"/>
            </a:solidFill>
          </a:ln>
        </p:spPr>
        <p:txBody>
          <a:bodyPr>
            <a:normAutofit/>
          </a:bodyPr>
          <a:lstStyle/>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图片 3"/>
          <p:cNvPicPr>
            <a:picLocks noChangeAspect="1"/>
          </p:cNvPicPr>
          <p:nvPr/>
        </p:nvPicPr>
        <p:blipFill>
          <a:blip r:embed="rId6"/>
          <a:stretch>
            <a:fillRect/>
          </a:stretch>
        </p:blipFill>
        <p:spPr>
          <a:xfrm>
            <a:off x="9779028" y="542520"/>
            <a:ext cx="1916446" cy="702024"/>
          </a:xfrm>
          <a:prstGeom prst="rect">
            <a:avLst/>
          </a:prstGeom>
        </p:spPr>
      </p:pic>
      <p:sp>
        <p:nvSpPr>
          <p:cNvPr id="5" name="矩形 4"/>
          <p:cNvSpPr/>
          <p:nvPr/>
        </p:nvSpPr>
        <p:spPr>
          <a:xfrm>
            <a:off x="152906" y="5823350"/>
            <a:ext cx="3288937" cy="830997"/>
          </a:xfrm>
          <a:prstGeom prst="rect">
            <a:avLst/>
          </a:prstGeom>
        </p:spPr>
        <p:txBody>
          <a:bodyPr wrap="square">
            <a:spAutoFit/>
          </a:bodyPr>
          <a:lstStyle/>
          <a:p>
            <a:r>
              <a:rPr lang="zh-CN" altLang="en-US" sz="1600" dirty="0"/>
              <a:t>实例来自于：https://wenku.baidu.com/view/de5c9d29915f804d2b16c1a5.html </a:t>
            </a:r>
          </a:p>
        </p:txBody>
      </p:sp>
    </p:spTree>
    <p:extLst>
      <p:ext uri="{BB962C8B-B14F-4D97-AF65-F5344CB8AC3E}">
        <p14:creationId xmlns:p14="http://schemas.microsoft.com/office/powerpoint/2010/main" val="116581404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 name="Picture 12"/>
          <p:cNvPicPr/>
          <p:nvPr/>
        </p:nvPicPr>
        <p:blipFill>
          <a:blip r:embed="rId3"/>
          <a:stretch/>
        </p:blipFill>
        <p:spPr>
          <a:xfrm>
            <a:off x="0" y="0"/>
            <a:ext cx="12191760" cy="542520"/>
          </a:xfrm>
          <a:prstGeom prst="rect">
            <a:avLst/>
          </a:prstGeom>
          <a:ln>
            <a:noFill/>
          </a:ln>
        </p:spPr>
      </p:pic>
      <p:sp>
        <p:nvSpPr>
          <p:cNvPr id="96" name="TextShape 1"/>
          <p:cNvSpPr txBox="1"/>
          <p:nvPr/>
        </p:nvSpPr>
        <p:spPr>
          <a:xfrm>
            <a:off x="1755227" y="1992900"/>
            <a:ext cx="851339" cy="485510"/>
          </a:xfrm>
          <a:prstGeom prst="rect">
            <a:avLst/>
          </a:prstGeom>
          <a:solidFill>
            <a:schemeClr val="bg1"/>
          </a:solidFill>
          <a:ln>
            <a:solidFill>
              <a:schemeClr val="bg1"/>
            </a:solidFill>
          </a:ln>
        </p:spPr>
        <p:txBody>
          <a:bodyPr>
            <a:normAutofit/>
          </a:bodyPr>
          <a:lstStyle/>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4" name="图片 3"/>
          <p:cNvPicPr>
            <a:picLocks noChangeAspect="1"/>
          </p:cNvPicPr>
          <p:nvPr/>
        </p:nvPicPr>
        <p:blipFill>
          <a:blip r:embed="rId4"/>
          <a:stretch>
            <a:fillRect/>
          </a:stretch>
        </p:blipFill>
        <p:spPr>
          <a:xfrm>
            <a:off x="9779028" y="542520"/>
            <a:ext cx="1916446" cy="702024"/>
          </a:xfrm>
          <a:prstGeom prst="rect">
            <a:avLst/>
          </a:prstGeom>
        </p:spPr>
      </p:pic>
      <p:pic>
        <p:nvPicPr>
          <p:cNvPr id="5" name="图片 4"/>
          <p:cNvPicPr>
            <a:picLocks noChangeAspect="1"/>
          </p:cNvPicPr>
          <p:nvPr/>
        </p:nvPicPr>
        <p:blipFill>
          <a:blip r:embed="rId5"/>
          <a:stretch>
            <a:fillRect/>
          </a:stretch>
        </p:blipFill>
        <p:spPr>
          <a:xfrm>
            <a:off x="695739" y="703712"/>
            <a:ext cx="8782032" cy="5647392"/>
          </a:xfrm>
          <a:prstGeom prst="rect">
            <a:avLst/>
          </a:prstGeom>
        </p:spPr>
      </p:pic>
      <p:sp>
        <p:nvSpPr>
          <p:cNvPr id="6" name="矩形 5"/>
          <p:cNvSpPr/>
          <p:nvPr/>
        </p:nvSpPr>
        <p:spPr>
          <a:xfrm>
            <a:off x="8711279" y="5972325"/>
            <a:ext cx="3288937" cy="830997"/>
          </a:xfrm>
          <a:prstGeom prst="rect">
            <a:avLst/>
          </a:prstGeom>
        </p:spPr>
        <p:txBody>
          <a:bodyPr wrap="square">
            <a:spAutoFit/>
          </a:bodyPr>
          <a:lstStyle/>
          <a:p>
            <a:r>
              <a:rPr lang="zh-CN" altLang="en-US" sz="1600" dirty="0"/>
              <a:t>实例来自于：https://wenku.baidu.com/view/de5c9d29915f804d2b16c1a5.html </a:t>
            </a:r>
          </a:p>
        </p:txBody>
      </p:sp>
    </p:spTree>
    <p:extLst>
      <p:ext uri="{BB962C8B-B14F-4D97-AF65-F5344CB8AC3E}">
        <p14:creationId xmlns:p14="http://schemas.microsoft.com/office/powerpoint/2010/main" val="4192310582"/>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55497"/>
            <a:ext cx="11521080" cy="5473383"/>
          </a:xfrm>
          <a:prstGeom prst="rect">
            <a:avLst/>
          </a:prstGeom>
          <a:noFill/>
          <a:ln>
            <a:noFill/>
          </a:ln>
        </p:spPr>
        <p:txBody>
          <a:bodyPr>
            <a:normAutofit/>
          </a:bodyPr>
          <a:lstStyle/>
          <a:p>
            <a:pPr>
              <a:spcBef>
                <a:spcPts val="600"/>
              </a:spcBef>
            </a:pP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核密度估计法（</a:t>
            </a:r>
            <a:r>
              <a:rPr lang="en-US" altLang="zh-CN" sz="2800" b="1" dirty="0">
                <a:latin typeface="Times New Roman" panose="02020603050405020304" pitchFamily="18" charset="0"/>
                <a:ea typeface="楷体" panose="02010609060101010101" pitchFamily="49" charset="-122"/>
                <a:cs typeface="Times New Roman" panose="02020603050405020304" pitchFamily="18" charset="0"/>
              </a:rPr>
              <a:t>Kernel Density Estimation</a:t>
            </a:r>
            <a:r>
              <a:rPr lang="zh-CN" altLang="en-US" sz="2800" b="1"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根据随机理论，对象</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事件可以发生在空间的任何位置上，但是在不同的位置上事件发生的概率不一样。</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基本思想：</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使用对象</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事件的空间密度分析和表示空间点模式。</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2481208" y="3255592"/>
            <a:ext cx="6692757" cy="3282570"/>
          </a:xfrm>
          <a:prstGeom prst="rect">
            <a:avLst/>
          </a:prstGeom>
        </p:spPr>
      </p:pic>
    </p:spTree>
    <p:extLst>
      <p:ext uri="{BB962C8B-B14F-4D97-AF65-F5344CB8AC3E}">
        <p14:creationId xmlns:p14="http://schemas.microsoft.com/office/powerpoint/2010/main" val="4190122760"/>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55497"/>
            <a:ext cx="11521080" cy="5473383"/>
          </a:xfrm>
          <a:prstGeom prst="rect">
            <a:avLst/>
          </a:prstGeom>
          <a:noFill/>
          <a:ln>
            <a:noFill/>
          </a:ln>
        </p:spPr>
        <p:txBody>
          <a:bodyPr>
            <a:normAutofit/>
          </a:bodyPr>
          <a:lstStyle/>
          <a:p>
            <a:pPr>
              <a:spcBef>
                <a:spcPts val="600"/>
              </a:spcBef>
            </a:pPr>
            <a:r>
              <a:rPr lang="zh-CN" altLang="en-US" sz="2400" b="1" dirty="0">
                <a:latin typeface="Times New Roman" panose="02020603050405020304" pitchFamily="18" charset="0"/>
                <a:ea typeface="楷体" panose="02010609060101010101" pitchFamily="49" charset="-122"/>
                <a:cs typeface="Times New Roman" panose="02020603050405020304" pitchFamily="18" charset="0"/>
              </a:rPr>
              <a:t>计算定义：</a:t>
            </a:r>
            <a:endParaRPr lang="en-US" altLang="zh-CN" sz="2400" b="1"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设点集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Xl</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Xn</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是当作从分布密度函数为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的总体中抽取的样本，估计</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在某点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处的值</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f(x)</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用</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Rosenblatt-</a:t>
            </a: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Parzen</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核估计</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 </a:t>
            </a: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k()</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称为核函数；</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h&gt;0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，为带宽；</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spcBef>
                <a:spcPts val="600"/>
              </a:spcBef>
              <a:buFont typeface="Arial" panose="020B0604020202020204" pitchFamily="34" charset="0"/>
              <a:buChar char="•"/>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(x-Xi)</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表示估值点</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到事件</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Xi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处的距离。</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pP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2" name="图片 1"/>
          <p:cNvPicPr>
            <a:picLocks noChangeAspect="1"/>
          </p:cNvPicPr>
          <p:nvPr/>
        </p:nvPicPr>
        <p:blipFill>
          <a:blip r:embed="rId4"/>
          <a:stretch>
            <a:fillRect/>
          </a:stretch>
        </p:blipFill>
        <p:spPr>
          <a:xfrm>
            <a:off x="3629226" y="3157009"/>
            <a:ext cx="4015018" cy="865324"/>
          </a:xfrm>
          <a:prstGeom prst="rect">
            <a:avLst/>
          </a:prstGeom>
        </p:spPr>
      </p:pic>
    </p:spTree>
    <p:extLst>
      <p:ext uri="{BB962C8B-B14F-4D97-AF65-F5344CB8AC3E}">
        <p14:creationId xmlns:p14="http://schemas.microsoft.com/office/powerpoint/2010/main" val="350842825"/>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1200"/>
              </a:spcBef>
            </a:pPr>
            <a:endParaRPr lang="en-US" altLang="zh-CN" sz="22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4" name="Picture 2" descr="A close up of text on a white background&#10;&#10;Description automatically generated">
            <a:extLst>
              <a:ext uri="{FF2B5EF4-FFF2-40B4-BE49-F238E27FC236}">
                <a16:creationId xmlns:a16="http://schemas.microsoft.com/office/drawing/2014/main" id="{161A4921-8E55-4316-B6D7-2D9704351C47}"/>
              </a:ext>
            </a:extLst>
          </p:cNvPr>
          <p:cNvPicPr>
            <a:picLocks noChangeAspect="1"/>
          </p:cNvPicPr>
          <p:nvPr/>
        </p:nvPicPr>
        <p:blipFill rotWithShape="1">
          <a:blip r:embed="rId4">
            <a:extLst>
              <a:ext uri="{28A0092B-C50C-407E-A947-70E740481C1C}">
                <a14:useLocalDpi xmlns:a14="http://schemas.microsoft.com/office/drawing/2010/main" val="0"/>
              </a:ext>
            </a:extLst>
          </a:blip>
          <a:srcRect l="10625" t="23750" b="4851"/>
          <a:stretch/>
        </p:blipFill>
        <p:spPr>
          <a:xfrm>
            <a:off x="2135695" y="1238116"/>
            <a:ext cx="8172400" cy="4896544"/>
          </a:xfrm>
          <a:prstGeom prst="rect">
            <a:avLst/>
          </a:prstGeom>
          <a:ln>
            <a:noFill/>
          </a:ln>
          <a:effectLst>
            <a:softEdge rad="112500"/>
          </a:effectLst>
        </p:spPr>
      </p:pic>
    </p:spTree>
    <p:extLst>
      <p:ext uri="{BB962C8B-B14F-4D97-AF65-F5344CB8AC3E}">
        <p14:creationId xmlns:p14="http://schemas.microsoft.com/office/powerpoint/2010/main" val="382687978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extShape 1"/>
          <p:cNvSpPr txBox="1"/>
          <p:nvPr/>
        </p:nvSpPr>
        <p:spPr>
          <a:xfrm>
            <a:off x="373680" y="943897"/>
            <a:ext cx="11521080" cy="5484983"/>
          </a:xfrm>
          <a:prstGeom prst="rect">
            <a:avLst/>
          </a:prstGeom>
          <a:noFill/>
          <a:ln>
            <a:noFill/>
          </a:ln>
        </p:spPr>
        <p:txBody>
          <a:bodyPr>
            <a:normAutofit/>
          </a:bodyPr>
          <a:lstStyle/>
          <a:p>
            <a:pPr>
              <a:spcBef>
                <a:spcPts val="1200"/>
              </a:spcBef>
            </a:pPr>
            <a:endParaRPr lang="en-US" altLang="zh-CN" sz="2200" spc="-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7" name="Picture 12"/>
          <p:cNvPicPr/>
          <p:nvPr/>
        </p:nvPicPr>
        <p:blipFill>
          <a:blip r:embed="rId3"/>
          <a:stretch/>
        </p:blipFill>
        <p:spPr>
          <a:xfrm>
            <a:off x="0" y="0"/>
            <a:ext cx="12191760" cy="542520"/>
          </a:xfrm>
          <a:prstGeom prst="rect">
            <a:avLst/>
          </a:prstGeom>
          <a:ln>
            <a:noFill/>
          </a:ln>
        </p:spPr>
      </p:pic>
      <p:pic>
        <p:nvPicPr>
          <p:cNvPr id="4" name="Picture 3" descr="vector&amp;ras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2119" y="1138756"/>
            <a:ext cx="4465637"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p:cNvSpPr txBox="1">
            <a:spLocks noChangeArrowheads="1"/>
          </p:cNvSpPr>
          <p:nvPr/>
        </p:nvSpPr>
        <p:spPr bwMode="auto">
          <a:xfrm>
            <a:off x="2407444" y="4451869"/>
            <a:ext cx="165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800">
                <a:ea typeface="宋体" panose="02010600030101010101" pitchFamily="2" charset="-122"/>
              </a:rPr>
              <a:t>Real World</a:t>
            </a:r>
          </a:p>
        </p:txBody>
      </p:sp>
      <p:sp>
        <p:nvSpPr>
          <p:cNvPr id="6" name="Text Box 5"/>
          <p:cNvSpPr txBox="1">
            <a:spLocks noChangeArrowheads="1"/>
          </p:cNvSpPr>
          <p:nvPr/>
        </p:nvSpPr>
        <p:spPr bwMode="auto">
          <a:xfrm>
            <a:off x="2407444" y="2867544"/>
            <a:ext cx="165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800">
                <a:solidFill>
                  <a:srgbClr val="0000FF"/>
                </a:solidFill>
                <a:ea typeface="宋体" panose="02010600030101010101" pitchFamily="2" charset="-122"/>
              </a:rPr>
              <a:t>Vector Data</a:t>
            </a:r>
          </a:p>
        </p:txBody>
      </p:sp>
      <p:sp>
        <p:nvSpPr>
          <p:cNvPr id="7" name="Text Box 6"/>
          <p:cNvSpPr txBox="1">
            <a:spLocks noChangeArrowheads="1"/>
          </p:cNvSpPr>
          <p:nvPr/>
        </p:nvSpPr>
        <p:spPr bwMode="auto">
          <a:xfrm>
            <a:off x="2478881" y="1283219"/>
            <a:ext cx="1657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800" dirty="0">
                <a:solidFill>
                  <a:srgbClr val="0000FF"/>
                </a:solidFill>
                <a:ea typeface="宋体" panose="02010600030101010101" pitchFamily="2" charset="-122"/>
              </a:rPr>
              <a:t>Raster Data</a:t>
            </a:r>
          </a:p>
        </p:txBody>
      </p:sp>
      <p:grpSp>
        <p:nvGrpSpPr>
          <p:cNvPr id="8" name="Group 7"/>
          <p:cNvGrpSpPr>
            <a:grpSpLocks/>
          </p:cNvGrpSpPr>
          <p:nvPr/>
        </p:nvGrpSpPr>
        <p:grpSpPr bwMode="auto">
          <a:xfrm>
            <a:off x="5431631" y="1427681"/>
            <a:ext cx="5329238" cy="4392613"/>
            <a:chOff x="2200" y="1253"/>
            <a:chExt cx="3357" cy="2767"/>
          </a:xfrm>
        </p:grpSpPr>
        <p:sp>
          <p:nvSpPr>
            <p:cNvPr id="9" name="Freeform 8"/>
            <p:cNvSpPr>
              <a:spLocks/>
            </p:cNvSpPr>
            <p:nvPr/>
          </p:nvSpPr>
          <p:spPr bwMode="auto">
            <a:xfrm>
              <a:off x="2245" y="3067"/>
              <a:ext cx="2585" cy="953"/>
            </a:xfrm>
            <a:custGeom>
              <a:avLst/>
              <a:gdLst>
                <a:gd name="T0" fmla="*/ 0 w 2268"/>
                <a:gd name="T1" fmla="*/ 12 h 1951"/>
                <a:gd name="T2" fmla="*/ 0 w 2268"/>
                <a:gd name="T3" fmla="*/ 13 h 1951"/>
                <a:gd name="T4" fmla="*/ 5667 w 2268"/>
                <a:gd name="T5" fmla="*/ 13 h 1951"/>
                <a:gd name="T6" fmla="*/ 5667 w 2268"/>
                <a:gd name="T7" fmla="*/ 0 h 1951"/>
                <a:gd name="T8" fmla="*/ 0 60000 65536"/>
                <a:gd name="T9" fmla="*/ 0 60000 65536"/>
                <a:gd name="T10" fmla="*/ 0 60000 65536"/>
                <a:gd name="T11" fmla="*/ 0 60000 65536"/>
                <a:gd name="T12" fmla="*/ 0 w 2268"/>
                <a:gd name="T13" fmla="*/ 0 h 1951"/>
                <a:gd name="T14" fmla="*/ 2268 w 2268"/>
                <a:gd name="T15" fmla="*/ 1951 h 1951"/>
              </a:gdLst>
              <a:ahLst/>
              <a:cxnLst>
                <a:cxn ang="T8">
                  <a:pos x="T0" y="T1"/>
                </a:cxn>
                <a:cxn ang="T9">
                  <a:pos x="T2" y="T3"/>
                </a:cxn>
                <a:cxn ang="T10">
                  <a:pos x="T4" y="T5"/>
                </a:cxn>
                <a:cxn ang="T11">
                  <a:pos x="T6" y="T7"/>
                </a:cxn>
              </a:cxnLst>
              <a:rect l="T12" t="T13" r="T14" b="T15"/>
              <a:pathLst>
                <a:path w="2268" h="1951">
                  <a:moveTo>
                    <a:pt x="0" y="1769"/>
                  </a:moveTo>
                  <a:lnTo>
                    <a:pt x="0" y="1951"/>
                  </a:lnTo>
                  <a:lnTo>
                    <a:pt x="2268" y="1951"/>
                  </a:lnTo>
                  <a:lnTo>
                    <a:pt x="2268" y="0"/>
                  </a:lnTo>
                </a:path>
              </a:pathLst>
            </a:custGeom>
            <a:noFill/>
            <a:ln w="28575">
              <a:solidFill>
                <a:schemeClr val="hlink"/>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10" name="AutoShape 9"/>
            <p:cNvSpPr>
              <a:spLocks noChangeArrowheads="1"/>
            </p:cNvSpPr>
            <p:nvPr/>
          </p:nvSpPr>
          <p:spPr bwMode="auto">
            <a:xfrm>
              <a:off x="2200" y="1752"/>
              <a:ext cx="90" cy="2086"/>
            </a:xfrm>
            <a:prstGeom prst="cube">
              <a:avLst>
                <a:gd name="adj" fmla="val 25000"/>
              </a:avLst>
            </a:prstGeom>
            <a:solidFill>
              <a:schemeClr val="folHlink">
                <a:alpha val="70195"/>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11" name="Text Box 10"/>
            <p:cNvSpPr txBox="1">
              <a:spLocks noChangeArrowheads="1"/>
            </p:cNvSpPr>
            <p:nvPr/>
          </p:nvSpPr>
          <p:spPr bwMode="auto">
            <a:xfrm>
              <a:off x="4105" y="2387"/>
              <a:ext cx="1452" cy="495"/>
            </a:xfrm>
            <a:prstGeom prst="rect">
              <a:avLst/>
            </a:prstGeom>
            <a:solidFill>
              <a:schemeClr val="folHlink">
                <a:alpha val="50980"/>
              </a:schemeClr>
            </a:solidFill>
            <a:ln w="6350">
              <a:solidFill>
                <a:schemeClr val="folHlink"/>
              </a:solidFill>
              <a:miter lim="800000"/>
              <a:headEnd/>
              <a:tailEnd/>
            </a:ln>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800" dirty="0">
                  <a:solidFill>
                    <a:schemeClr val="tx2"/>
                  </a:solidFill>
                  <a:ea typeface="宋体" panose="02010600030101010101" pitchFamily="2" charset="-122"/>
                </a:rPr>
                <a:t>1 pixel  = 10mX10m </a:t>
              </a:r>
            </a:p>
            <a:p>
              <a:pPr>
                <a:spcBef>
                  <a:spcPct val="50000"/>
                </a:spcBef>
              </a:pPr>
              <a:r>
                <a:rPr lang="zh-CN" altLang="en-US" sz="1800" dirty="0">
                  <a:solidFill>
                    <a:schemeClr val="tx2"/>
                  </a:solidFill>
                  <a:ea typeface="宋体" panose="02010600030101010101" pitchFamily="2" charset="-122"/>
                </a:rPr>
                <a:t>分辨率 </a:t>
              </a:r>
              <a:r>
                <a:rPr lang="en-US" altLang="zh-CN" sz="1800" dirty="0">
                  <a:solidFill>
                    <a:schemeClr val="tx2"/>
                  </a:solidFill>
                  <a:ea typeface="宋体" panose="02010600030101010101" pitchFamily="2" charset="-122"/>
                </a:rPr>
                <a:t>= 10m</a:t>
              </a:r>
            </a:p>
          </p:txBody>
        </p:sp>
        <p:sp>
          <p:nvSpPr>
            <p:cNvPr id="12" name="Freeform 11"/>
            <p:cNvSpPr>
              <a:spLocks/>
            </p:cNvSpPr>
            <p:nvPr/>
          </p:nvSpPr>
          <p:spPr bwMode="auto">
            <a:xfrm>
              <a:off x="2245" y="1525"/>
              <a:ext cx="2585" cy="726"/>
            </a:xfrm>
            <a:custGeom>
              <a:avLst/>
              <a:gdLst>
                <a:gd name="T0" fmla="*/ 0 w 2585"/>
                <a:gd name="T1" fmla="*/ 227 h 726"/>
                <a:gd name="T2" fmla="*/ 0 w 2585"/>
                <a:gd name="T3" fmla="*/ 0 h 726"/>
                <a:gd name="T4" fmla="*/ 2495 w 2585"/>
                <a:gd name="T5" fmla="*/ 0 h 726"/>
                <a:gd name="T6" fmla="*/ 2585 w 2585"/>
                <a:gd name="T7" fmla="*/ 0 h 726"/>
                <a:gd name="T8" fmla="*/ 2585 w 2585"/>
                <a:gd name="T9" fmla="*/ 726 h 726"/>
                <a:gd name="T10" fmla="*/ 0 60000 65536"/>
                <a:gd name="T11" fmla="*/ 0 60000 65536"/>
                <a:gd name="T12" fmla="*/ 0 60000 65536"/>
                <a:gd name="T13" fmla="*/ 0 60000 65536"/>
                <a:gd name="T14" fmla="*/ 0 60000 65536"/>
                <a:gd name="T15" fmla="*/ 0 w 2585"/>
                <a:gd name="T16" fmla="*/ 0 h 726"/>
                <a:gd name="T17" fmla="*/ 2585 w 2585"/>
                <a:gd name="T18" fmla="*/ 726 h 726"/>
              </a:gdLst>
              <a:ahLst/>
              <a:cxnLst>
                <a:cxn ang="T10">
                  <a:pos x="T0" y="T1"/>
                </a:cxn>
                <a:cxn ang="T11">
                  <a:pos x="T2" y="T3"/>
                </a:cxn>
                <a:cxn ang="T12">
                  <a:pos x="T4" y="T5"/>
                </a:cxn>
                <a:cxn ang="T13">
                  <a:pos x="T6" y="T7"/>
                </a:cxn>
                <a:cxn ang="T14">
                  <a:pos x="T8" y="T9"/>
                </a:cxn>
              </a:cxnLst>
              <a:rect l="T15" t="T16" r="T17" b="T18"/>
              <a:pathLst>
                <a:path w="2585" h="726">
                  <a:moveTo>
                    <a:pt x="0" y="227"/>
                  </a:moveTo>
                  <a:lnTo>
                    <a:pt x="0" y="0"/>
                  </a:lnTo>
                  <a:lnTo>
                    <a:pt x="2495" y="0"/>
                  </a:lnTo>
                  <a:lnTo>
                    <a:pt x="2585" y="0"/>
                  </a:lnTo>
                  <a:lnTo>
                    <a:pt x="2585" y="726"/>
                  </a:lnTo>
                </a:path>
              </a:pathLst>
            </a:custGeom>
            <a:noFill/>
            <a:ln w="28575">
              <a:solidFill>
                <a:schemeClr val="hlink"/>
              </a:solidFill>
              <a:round/>
              <a:headEnd/>
              <a:tailEnd type="arrow" w="med" len="me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grpSp>
          <p:nvGrpSpPr>
            <p:cNvPr id="13" name="Group 12"/>
            <p:cNvGrpSpPr>
              <a:grpSpLocks/>
            </p:cNvGrpSpPr>
            <p:nvPr/>
          </p:nvGrpSpPr>
          <p:grpSpPr bwMode="auto">
            <a:xfrm>
              <a:off x="3198" y="3566"/>
              <a:ext cx="453" cy="454"/>
              <a:chOff x="3198" y="3566"/>
              <a:chExt cx="453" cy="454"/>
            </a:xfrm>
          </p:grpSpPr>
          <p:sp>
            <p:nvSpPr>
              <p:cNvPr id="18" name="Freeform 13"/>
              <p:cNvSpPr>
                <a:spLocks/>
              </p:cNvSpPr>
              <p:nvPr/>
            </p:nvSpPr>
            <p:spPr bwMode="auto">
              <a:xfrm>
                <a:off x="3243" y="3657"/>
                <a:ext cx="408" cy="53"/>
              </a:xfrm>
              <a:custGeom>
                <a:avLst/>
                <a:gdLst>
                  <a:gd name="T0" fmla="*/ 0 w 408"/>
                  <a:gd name="T1" fmla="*/ 8 h 53"/>
                  <a:gd name="T2" fmla="*/ 181 w 408"/>
                  <a:gd name="T3" fmla="*/ 8 h 53"/>
                  <a:gd name="T4" fmla="*/ 408 w 408"/>
                  <a:gd name="T5" fmla="*/ 53 h 53"/>
                  <a:gd name="T6" fmla="*/ 0 60000 65536"/>
                  <a:gd name="T7" fmla="*/ 0 60000 65536"/>
                  <a:gd name="T8" fmla="*/ 0 60000 65536"/>
                  <a:gd name="T9" fmla="*/ 0 w 408"/>
                  <a:gd name="T10" fmla="*/ 0 h 53"/>
                  <a:gd name="T11" fmla="*/ 408 w 408"/>
                  <a:gd name="T12" fmla="*/ 53 h 53"/>
                </a:gdLst>
                <a:ahLst/>
                <a:cxnLst>
                  <a:cxn ang="T6">
                    <a:pos x="T0" y="T1"/>
                  </a:cxn>
                  <a:cxn ang="T7">
                    <a:pos x="T2" y="T3"/>
                  </a:cxn>
                  <a:cxn ang="T8">
                    <a:pos x="T4" y="T5"/>
                  </a:cxn>
                </a:cxnLst>
                <a:rect l="T9" t="T10" r="T11" b="T12"/>
                <a:pathLst>
                  <a:path w="408" h="53">
                    <a:moveTo>
                      <a:pt x="0" y="8"/>
                    </a:moveTo>
                    <a:cubicBezTo>
                      <a:pt x="56" y="4"/>
                      <a:pt x="113" y="0"/>
                      <a:pt x="181" y="8"/>
                    </a:cubicBezTo>
                    <a:cubicBezTo>
                      <a:pt x="249" y="16"/>
                      <a:pt x="328" y="34"/>
                      <a:pt x="408"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19" name="Freeform 14"/>
              <p:cNvSpPr>
                <a:spLocks/>
              </p:cNvSpPr>
              <p:nvPr/>
            </p:nvSpPr>
            <p:spPr bwMode="auto">
              <a:xfrm>
                <a:off x="3198" y="3884"/>
                <a:ext cx="408" cy="53"/>
              </a:xfrm>
              <a:custGeom>
                <a:avLst/>
                <a:gdLst>
                  <a:gd name="T0" fmla="*/ 0 w 408"/>
                  <a:gd name="T1" fmla="*/ 8 h 53"/>
                  <a:gd name="T2" fmla="*/ 181 w 408"/>
                  <a:gd name="T3" fmla="*/ 8 h 53"/>
                  <a:gd name="T4" fmla="*/ 408 w 408"/>
                  <a:gd name="T5" fmla="*/ 53 h 53"/>
                  <a:gd name="T6" fmla="*/ 0 60000 65536"/>
                  <a:gd name="T7" fmla="*/ 0 60000 65536"/>
                  <a:gd name="T8" fmla="*/ 0 60000 65536"/>
                  <a:gd name="T9" fmla="*/ 0 w 408"/>
                  <a:gd name="T10" fmla="*/ 0 h 53"/>
                  <a:gd name="T11" fmla="*/ 408 w 408"/>
                  <a:gd name="T12" fmla="*/ 53 h 53"/>
                </a:gdLst>
                <a:ahLst/>
                <a:cxnLst>
                  <a:cxn ang="T6">
                    <a:pos x="T0" y="T1"/>
                  </a:cxn>
                  <a:cxn ang="T7">
                    <a:pos x="T2" y="T3"/>
                  </a:cxn>
                  <a:cxn ang="T8">
                    <a:pos x="T4" y="T5"/>
                  </a:cxn>
                </a:cxnLst>
                <a:rect l="T9" t="T10" r="T11" b="T12"/>
                <a:pathLst>
                  <a:path w="408" h="53">
                    <a:moveTo>
                      <a:pt x="0" y="8"/>
                    </a:moveTo>
                    <a:cubicBezTo>
                      <a:pt x="56" y="4"/>
                      <a:pt x="113" y="0"/>
                      <a:pt x="181" y="8"/>
                    </a:cubicBezTo>
                    <a:cubicBezTo>
                      <a:pt x="249" y="16"/>
                      <a:pt x="328" y="34"/>
                      <a:pt x="408"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20" name="Freeform 15"/>
              <p:cNvSpPr>
                <a:spLocks/>
              </p:cNvSpPr>
              <p:nvPr/>
            </p:nvSpPr>
            <p:spPr bwMode="auto">
              <a:xfrm rot="-5527266">
                <a:off x="3383" y="3789"/>
                <a:ext cx="408" cy="53"/>
              </a:xfrm>
              <a:custGeom>
                <a:avLst/>
                <a:gdLst>
                  <a:gd name="T0" fmla="*/ 0 w 408"/>
                  <a:gd name="T1" fmla="*/ 8 h 53"/>
                  <a:gd name="T2" fmla="*/ 181 w 408"/>
                  <a:gd name="T3" fmla="*/ 8 h 53"/>
                  <a:gd name="T4" fmla="*/ 408 w 408"/>
                  <a:gd name="T5" fmla="*/ 53 h 53"/>
                  <a:gd name="T6" fmla="*/ 0 60000 65536"/>
                  <a:gd name="T7" fmla="*/ 0 60000 65536"/>
                  <a:gd name="T8" fmla="*/ 0 60000 65536"/>
                  <a:gd name="T9" fmla="*/ 0 w 408"/>
                  <a:gd name="T10" fmla="*/ 0 h 53"/>
                  <a:gd name="T11" fmla="*/ 408 w 408"/>
                  <a:gd name="T12" fmla="*/ 53 h 53"/>
                </a:gdLst>
                <a:ahLst/>
                <a:cxnLst>
                  <a:cxn ang="T6">
                    <a:pos x="T0" y="T1"/>
                  </a:cxn>
                  <a:cxn ang="T7">
                    <a:pos x="T2" y="T3"/>
                  </a:cxn>
                  <a:cxn ang="T8">
                    <a:pos x="T4" y="T5"/>
                  </a:cxn>
                </a:cxnLst>
                <a:rect l="T9" t="T10" r="T11" b="T12"/>
                <a:pathLst>
                  <a:path w="408" h="53">
                    <a:moveTo>
                      <a:pt x="0" y="8"/>
                    </a:moveTo>
                    <a:cubicBezTo>
                      <a:pt x="56" y="4"/>
                      <a:pt x="113" y="0"/>
                      <a:pt x="181" y="8"/>
                    </a:cubicBezTo>
                    <a:cubicBezTo>
                      <a:pt x="249" y="16"/>
                      <a:pt x="328" y="34"/>
                      <a:pt x="408"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21" name="Freeform 16"/>
              <p:cNvSpPr>
                <a:spLocks/>
              </p:cNvSpPr>
              <p:nvPr/>
            </p:nvSpPr>
            <p:spPr bwMode="auto">
              <a:xfrm rot="-5527266">
                <a:off x="3111" y="3743"/>
                <a:ext cx="408" cy="53"/>
              </a:xfrm>
              <a:custGeom>
                <a:avLst/>
                <a:gdLst>
                  <a:gd name="T0" fmla="*/ 0 w 408"/>
                  <a:gd name="T1" fmla="*/ 8 h 53"/>
                  <a:gd name="T2" fmla="*/ 181 w 408"/>
                  <a:gd name="T3" fmla="*/ 8 h 53"/>
                  <a:gd name="T4" fmla="*/ 408 w 408"/>
                  <a:gd name="T5" fmla="*/ 53 h 53"/>
                  <a:gd name="T6" fmla="*/ 0 60000 65536"/>
                  <a:gd name="T7" fmla="*/ 0 60000 65536"/>
                  <a:gd name="T8" fmla="*/ 0 60000 65536"/>
                  <a:gd name="T9" fmla="*/ 0 w 408"/>
                  <a:gd name="T10" fmla="*/ 0 h 53"/>
                  <a:gd name="T11" fmla="*/ 408 w 408"/>
                  <a:gd name="T12" fmla="*/ 53 h 53"/>
                </a:gdLst>
                <a:ahLst/>
                <a:cxnLst>
                  <a:cxn ang="T6">
                    <a:pos x="T0" y="T1"/>
                  </a:cxn>
                  <a:cxn ang="T7">
                    <a:pos x="T2" y="T3"/>
                  </a:cxn>
                  <a:cxn ang="T8">
                    <a:pos x="T4" y="T5"/>
                  </a:cxn>
                </a:cxnLst>
                <a:rect l="T9" t="T10" r="T11" b="T12"/>
                <a:pathLst>
                  <a:path w="408" h="53">
                    <a:moveTo>
                      <a:pt x="0" y="8"/>
                    </a:moveTo>
                    <a:cubicBezTo>
                      <a:pt x="56" y="4"/>
                      <a:pt x="113" y="0"/>
                      <a:pt x="181" y="8"/>
                    </a:cubicBezTo>
                    <a:cubicBezTo>
                      <a:pt x="249" y="16"/>
                      <a:pt x="328" y="34"/>
                      <a:pt x="408" y="53"/>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grpSp>
        <p:sp>
          <p:nvSpPr>
            <p:cNvPr id="14" name="Text Box 17"/>
            <p:cNvSpPr txBox="1">
              <a:spLocks noChangeArrowheads="1"/>
            </p:cNvSpPr>
            <p:nvPr/>
          </p:nvSpPr>
          <p:spPr bwMode="auto">
            <a:xfrm>
              <a:off x="3515" y="3748"/>
              <a:ext cx="31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200">
                  <a:ea typeface="宋体" panose="02010600030101010101" pitchFamily="2" charset="-122"/>
                </a:rPr>
                <a:t>10M</a:t>
              </a:r>
            </a:p>
          </p:txBody>
        </p:sp>
        <p:sp>
          <p:nvSpPr>
            <p:cNvPr id="15" name="Text Box 18"/>
            <p:cNvSpPr txBox="1">
              <a:spLocks noChangeArrowheads="1"/>
            </p:cNvSpPr>
            <p:nvPr/>
          </p:nvSpPr>
          <p:spPr bwMode="auto">
            <a:xfrm>
              <a:off x="3288" y="3521"/>
              <a:ext cx="31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200">
                  <a:ea typeface="宋体" panose="02010600030101010101" pitchFamily="2" charset="-122"/>
                </a:rPr>
                <a:t>10M</a:t>
              </a:r>
            </a:p>
          </p:txBody>
        </p:sp>
        <p:sp>
          <p:nvSpPr>
            <p:cNvPr id="16" name="Rectangle 19"/>
            <p:cNvSpPr>
              <a:spLocks noChangeArrowheads="1"/>
            </p:cNvSpPr>
            <p:nvPr/>
          </p:nvSpPr>
          <p:spPr bwMode="auto">
            <a:xfrm>
              <a:off x="3379" y="1253"/>
              <a:ext cx="180" cy="182"/>
            </a:xfrm>
            <a:prstGeom prst="rect">
              <a:avLst/>
            </a:prstGeom>
            <a:solidFill>
              <a:srgbClr val="FFCC66"/>
            </a:solidFill>
            <a:ln w="9525">
              <a:solidFill>
                <a:srgbClr val="FFCC66"/>
              </a:solidFill>
              <a:miter lim="800000"/>
              <a:headEnd/>
              <a:tailEnd/>
            </a:ln>
          </p:spPr>
          <p:txBody>
            <a:bodyPr wrap="none" anchor="ct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endParaRPr lang="zh-CN" altLang="en-US">
                <a:ea typeface="宋体" panose="02010600030101010101" pitchFamily="2" charset="-122"/>
              </a:endParaRPr>
            </a:p>
          </p:txBody>
        </p:sp>
        <p:sp>
          <p:nvSpPr>
            <p:cNvPr id="17" name="Text Box 20"/>
            <p:cNvSpPr txBox="1">
              <a:spLocks noChangeArrowheads="1"/>
            </p:cNvSpPr>
            <p:nvPr/>
          </p:nvSpPr>
          <p:spPr bwMode="auto">
            <a:xfrm>
              <a:off x="3606" y="1253"/>
              <a:ext cx="5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b="1">
                  <a:solidFill>
                    <a:schemeClr val="bg1"/>
                  </a:solidFill>
                  <a:latin typeface="Arial" panose="020B0604020202020204" pitchFamily="34" charset="0"/>
                </a:defRPr>
              </a:lvl1pPr>
              <a:lvl2pPr marL="742950" indent="-285750">
                <a:defRPr sz="1400" b="1">
                  <a:solidFill>
                    <a:schemeClr val="bg1"/>
                  </a:solidFill>
                  <a:latin typeface="Arial" panose="020B0604020202020204" pitchFamily="34" charset="0"/>
                </a:defRPr>
              </a:lvl2pPr>
              <a:lvl3pPr marL="1143000" indent="-228600">
                <a:defRPr sz="1400" b="1">
                  <a:solidFill>
                    <a:schemeClr val="bg1"/>
                  </a:solidFill>
                  <a:latin typeface="Arial" panose="020B0604020202020204" pitchFamily="34" charset="0"/>
                </a:defRPr>
              </a:lvl3pPr>
              <a:lvl4pPr marL="1600200" indent="-228600">
                <a:defRPr sz="1400" b="1">
                  <a:solidFill>
                    <a:schemeClr val="bg1"/>
                  </a:solidFill>
                  <a:latin typeface="Arial" panose="020B0604020202020204" pitchFamily="34" charset="0"/>
                </a:defRPr>
              </a:lvl4pPr>
              <a:lvl5pPr marL="2057400" indent="-228600">
                <a:defRPr sz="1400" b="1">
                  <a:solidFill>
                    <a:schemeClr val="bg1"/>
                  </a:solidFill>
                  <a:latin typeface="Arial" panose="020B0604020202020204" pitchFamily="34" charset="0"/>
                </a:defRPr>
              </a:lvl5pPr>
              <a:lvl6pPr marL="2514600" indent="-228600" algn="ctr" eaLnBrk="0" fontAlgn="base" hangingPunct="0">
                <a:spcBef>
                  <a:spcPct val="30000"/>
                </a:spcBef>
                <a:spcAft>
                  <a:spcPct val="0"/>
                </a:spcAft>
                <a:defRPr sz="1400" b="1">
                  <a:solidFill>
                    <a:schemeClr val="bg1"/>
                  </a:solidFill>
                  <a:latin typeface="Arial" panose="020B0604020202020204" pitchFamily="34" charset="0"/>
                </a:defRPr>
              </a:lvl6pPr>
              <a:lvl7pPr marL="2971800" indent="-228600" algn="ctr" eaLnBrk="0" fontAlgn="base" hangingPunct="0">
                <a:spcBef>
                  <a:spcPct val="30000"/>
                </a:spcBef>
                <a:spcAft>
                  <a:spcPct val="0"/>
                </a:spcAft>
                <a:defRPr sz="1400" b="1">
                  <a:solidFill>
                    <a:schemeClr val="bg1"/>
                  </a:solidFill>
                  <a:latin typeface="Arial" panose="020B0604020202020204" pitchFamily="34" charset="0"/>
                </a:defRPr>
              </a:lvl7pPr>
              <a:lvl8pPr marL="3429000" indent="-228600" algn="ctr" eaLnBrk="0" fontAlgn="base" hangingPunct="0">
                <a:spcBef>
                  <a:spcPct val="30000"/>
                </a:spcBef>
                <a:spcAft>
                  <a:spcPct val="0"/>
                </a:spcAft>
                <a:defRPr sz="1400" b="1">
                  <a:solidFill>
                    <a:schemeClr val="bg1"/>
                  </a:solidFill>
                  <a:latin typeface="Arial" panose="020B0604020202020204" pitchFamily="34" charset="0"/>
                </a:defRPr>
              </a:lvl8pPr>
              <a:lvl9pPr marL="3886200" indent="-228600" algn="ctr" eaLnBrk="0" fontAlgn="base" hangingPunct="0">
                <a:spcBef>
                  <a:spcPct val="30000"/>
                </a:spcBef>
                <a:spcAft>
                  <a:spcPct val="0"/>
                </a:spcAft>
                <a:defRPr sz="1400" b="1">
                  <a:solidFill>
                    <a:schemeClr val="bg1"/>
                  </a:solidFill>
                  <a:latin typeface="Arial" panose="020B0604020202020204" pitchFamily="34" charset="0"/>
                </a:defRPr>
              </a:lvl9pPr>
            </a:lstStyle>
            <a:p>
              <a:pPr>
                <a:spcBef>
                  <a:spcPct val="50000"/>
                </a:spcBef>
              </a:pPr>
              <a:r>
                <a:rPr lang="en-US" altLang="zh-CN" sz="1200">
                  <a:ea typeface="宋体" panose="02010600030101010101" pitchFamily="2" charset="-122"/>
                </a:rPr>
                <a:t>1 Pixel</a:t>
              </a:r>
            </a:p>
          </p:txBody>
        </p:sp>
      </p:grpSp>
    </p:spTree>
    <p:extLst>
      <p:ext uri="{BB962C8B-B14F-4D97-AF65-F5344CB8AC3E}">
        <p14:creationId xmlns:p14="http://schemas.microsoft.com/office/powerpoint/2010/main" val="1135776775"/>
      </p:ext>
    </p:extLst>
  </p:cSld>
  <p:clrMapOvr>
    <a:masterClrMapping/>
  </p:clrMapOvr>
  <p:timing>
    <p:tnLst>
      <p:par>
        <p:cTn id="1" dur="indefinite" restart="never" nodeType="tmRoot">
          <p:childTnLst>
            <p:seq>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ge result for artificial intellig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760" cy="6858000"/>
          </a:xfrm>
          <a:prstGeom prst="rect">
            <a:avLst/>
          </a:prstGeom>
          <a:noFill/>
          <a:extLst>
            <a:ext uri="{909E8E84-426E-40DD-AFC4-6F175D3DCCD1}">
              <a14:hiddenFill xmlns:a14="http://schemas.microsoft.com/office/drawing/2010/main">
                <a:solidFill>
                  <a:srgbClr val="FFFFFF"/>
                </a:solidFill>
              </a14:hiddenFill>
            </a:ext>
          </a:extLst>
        </p:spPr>
      </p:pic>
      <p:sp>
        <p:nvSpPr>
          <p:cNvPr id="268" name="TextShape 1"/>
          <p:cNvSpPr txBox="1"/>
          <p:nvPr/>
        </p:nvSpPr>
        <p:spPr>
          <a:xfrm>
            <a:off x="373680" y="2019600"/>
            <a:ext cx="11521080" cy="4627080"/>
          </a:xfrm>
          <a:prstGeom prst="rect">
            <a:avLst/>
          </a:prstGeom>
          <a:noFill/>
          <a:ln>
            <a:noFill/>
          </a:ln>
        </p:spPr>
        <p:txBody>
          <a:bodyPr>
            <a:normAutofit/>
          </a:bodyPr>
          <a:lstStyle/>
          <a:p>
            <a:pPr>
              <a:lnSpc>
                <a:spcPct val="90000"/>
              </a:lnSpc>
              <a:spcBef>
                <a:spcPts val="1001"/>
              </a:spcBef>
            </a:pP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p:txBody>
      </p:sp>
      <p:sp>
        <p:nvSpPr>
          <p:cNvPr id="269" name="CustomShape 2"/>
          <p:cNvSpPr/>
          <p:nvPr/>
        </p:nvSpPr>
        <p:spPr>
          <a:xfrm>
            <a:off x="670680" y="467280"/>
            <a:ext cx="11521080" cy="4350960"/>
          </a:xfrm>
          <a:prstGeom prst="rect">
            <a:avLst/>
          </a:prstGeom>
          <a:noFill/>
          <a:ln>
            <a:noFill/>
          </a:ln>
        </p:spPr>
        <p:style>
          <a:lnRef idx="0">
            <a:scrgbClr r="0" g="0" b="0"/>
          </a:lnRef>
          <a:fillRef idx="0">
            <a:scrgbClr r="0" g="0" b="0"/>
          </a:fillRef>
          <a:effectRef idx="0">
            <a:scrgbClr r="0" g="0" b="0"/>
          </a:effectRef>
          <a:fontRef idx="minor"/>
        </p:style>
      </p:sp>
      <p:sp>
        <p:nvSpPr>
          <p:cNvPr id="271" name="CustomShape 3"/>
          <p:cNvSpPr/>
          <p:nvPr/>
        </p:nvSpPr>
        <p:spPr>
          <a:xfrm>
            <a:off x="2229120" y="4237920"/>
            <a:ext cx="7348320" cy="914760"/>
          </a:xfrm>
          <a:prstGeom prst="rect">
            <a:avLst/>
          </a:prstGeom>
          <a:noFill/>
          <a:ln>
            <a:noFill/>
          </a:ln>
        </p:spPr>
        <p:style>
          <a:lnRef idx="0">
            <a:scrgbClr r="0" g="0" b="0"/>
          </a:lnRef>
          <a:fillRef idx="0">
            <a:scrgbClr r="0" g="0" b="0"/>
          </a:fillRef>
          <a:effectRef idx="0">
            <a:scrgbClr r="0" g="0" b="0"/>
          </a:effectRef>
          <a:fontRef idx="minor"/>
        </p:style>
        <p:txBody>
          <a:bodyPr wrap="none"/>
          <a:lstStyle/>
          <a:p>
            <a:pPr algn="ctr">
              <a:lnSpc>
                <a:spcPct val="100000"/>
              </a:lnSpc>
            </a:pPr>
            <a:r>
              <a:rPr lang="en-US" sz="5400" b="1" i="1" strike="noStrike" spc="-1" dirty="0">
                <a:solidFill>
                  <a:srgbClr val="FFFF00"/>
                </a:solidFill>
                <a:latin typeface="Times New Roman"/>
              </a:rPr>
              <a:t>Comments and questions?</a:t>
            </a:r>
            <a:endParaRPr lang="en-US" sz="5400" b="0" strike="noStrike" spc="-1" dirty="0">
              <a:solidFill>
                <a:srgbClr val="FFFF00"/>
              </a:solidFill>
              <a:latin typeface="Arial"/>
            </a:endParaRPr>
          </a:p>
        </p:txBody>
      </p:sp>
      <p:sp>
        <p:nvSpPr>
          <p:cNvPr id="272" name="CustomShape 4"/>
          <p:cNvSpPr/>
          <p:nvPr/>
        </p:nvSpPr>
        <p:spPr>
          <a:xfrm>
            <a:off x="4583520" y="2044080"/>
            <a:ext cx="2813040" cy="914760"/>
          </a:xfrm>
          <a:prstGeom prst="rect">
            <a:avLst/>
          </a:prstGeom>
          <a:noFill/>
          <a:ln>
            <a:noFill/>
          </a:ln>
        </p:spPr>
        <p:style>
          <a:lnRef idx="0">
            <a:scrgbClr r="0" g="0" b="0"/>
          </a:lnRef>
          <a:fillRef idx="0">
            <a:scrgbClr r="0" g="0" b="0"/>
          </a:fillRef>
          <a:effectRef idx="0">
            <a:scrgbClr r="0" g="0" b="0"/>
          </a:effectRef>
          <a:fontRef idx="minor"/>
        </p:style>
        <p:txBody>
          <a:bodyPr wrap="none"/>
          <a:lstStyle/>
          <a:p>
            <a:pPr algn="ctr">
              <a:lnSpc>
                <a:spcPct val="100000"/>
              </a:lnSpc>
            </a:pPr>
            <a:r>
              <a:rPr lang="zh-CN" altLang="en-US" sz="5400" b="1" spc="-1" dirty="0">
                <a:solidFill>
                  <a:srgbClr val="FF5D11"/>
                </a:solidFill>
                <a:latin typeface="Arial"/>
              </a:rPr>
              <a:t>谢谢</a:t>
            </a:r>
            <a:r>
              <a:rPr lang="en-US" sz="5400" b="1" strike="noStrike" spc="-1" dirty="0">
                <a:solidFill>
                  <a:srgbClr val="FF5D11"/>
                </a:solidFill>
                <a:latin typeface="Arial"/>
              </a:rPr>
              <a:t>!</a:t>
            </a:r>
            <a:endParaRPr lang="en-US" sz="5400" b="0" strike="noStrike" spc="-1" dirty="0">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00"/>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00"/>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FFFF00"/>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10919</TotalTime>
  <Words>1189</Words>
  <Application>Microsoft Office PowerPoint</Application>
  <PresentationFormat>宽屏</PresentationFormat>
  <Paragraphs>172</Paragraphs>
  <Slides>27</Slides>
  <Notes>26</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27</vt:i4>
      </vt:variant>
    </vt:vector>
  </HeadingPairs>
  <TitlesOfParts>
    <vt:vector size="39" baseType="lpstr">
      <vt:lpstr>DejaVu Sans</vt:lpstr>
      <vt:lpstr>华文楷体</vt:lpstr>
      <vt:lpstr>楷体</vt:lpstr>
      <vt:lpstr>宋体</vt:lpstr>
      <vt:lpstr>Arial</vt:lpstr>
      <vt:lpstr>Calibri</vt:lpstr>
      <vt:lpstr>Calibri Light</vt:lpstr>
      <vt:lpstr>Symbol</vt:lpstr>
      <vt:lpstr>Times New Roman</vt:lpstr>
      <vt:lpstr>Wingdings</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&amp; neural network in computer vision</dc:title>
  <dc:subject/>
  <dc:creator>Xiran Zhou (Student)</dc:creator>
  <dc:description/>
  <cp:lastModifiedBy>Xiran</cp:lastModifiedBy>
  <cp:revision>761</cp:revision>
  <dcterms:created xsi:type="dcterms:W3CDTF">2016-02-09T16:31:27Z</dcterms:created>
  <dcterms:modified xsi:type="dcterms:W3CDTF">2023-02-26T11:11:29Z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15.0028</vt:lpwstr>
  </property>
  <property fmtid="{D5CDD505-2E9C-101B-9397-08002B2CF9AE}" pid="3" name="HiddenSlides">
    <vt:i4>0</vt:i4>
  </property>
  <property fmtid="{D5CDD505-2E9C-101B-9397-08002B2CF9AE}" pid="4" name="HyperlinksChanged">
    <vt:bool>true</vt:bool>
  </property>
  <property fmtid="{D5CDD505-2E9C-101B-9397-08002B2CF9AE}" pid="5" name="LinksUpToDate">
    <vt:bool>true</vt:bool>
  </property>
  <property fmtid="{D5CDD505-2E9C-101B-9397-08002B2CF9AE}" pid="6" name="MMClips">
    <vt:i4>0</vt:i4>
  </property>
  <property fmtid="{D5CDD505-2E9C-101B-9397-08002B2CF9AE}" pid="7" name="Notes">
    <vt:i4>69</vt:i4>
  </property>
  <property fmtid="{D5CDD505-2E9C-101B-9397-08002B2CF9AE}" pid="8" name="PresentationFormat">
    <vt:lpwstr>Widescreen</vt:lpwstr>
  </property>
  <property fmtid="{D5CDD505-2E9C-101B-9397-08002B2CF9AE}" pid="9" name="ScaleCrop">
    <vt:bool>true</vt:bool>
  </property>
  <property fmtid="{D5CDD505-2E9C-101B-9397-08002B2CF9AE}" pid="10" name="ShareDoc">
    <vt:bool>true</vt:bool>
  </property>
  <property fmtid="{D5CDD505-2E9C-101B-9397-08002B2CF9AE}" pid="11" name="Slides">
    <vt:i4>70</vt:i4>
  </property>
</Properties>
</file>