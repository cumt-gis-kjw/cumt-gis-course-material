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3" r:id="rId2"/>
  </p:sldMasterIdLst>
  <p:notesMasterIdLst>
    <p:notesMasterId r:id="rId78"/>
  </p:notesMasterIdLst>
  <p:handoutMasterIdLst>
    <p:handoutMasterId r:id="rId79"/>
  </p:handoutMasterIdLst>
  <p:sldIdLst>
    <p:sldId id="408" r:id="rId3"/>
    <p:sldId id="529" r:id="rId4"/>
    <p:sldId id="696" r:id="rId5"/>
    <p:sldId id="685" r:id="rId6"/>
    <p:sldId id="687" r:id="rId7"/>
    <p:sldId id="689" r:id="rId8"/>
    <p:sldId id="686" r:id="rId9"/>
    <p:sldId id="697" r:id="rId10"/>
    <p:sldId id="698" r:id="rId11"/>
    <p:sldId id="702" r:id="rId12"/>
    <p:sldId id="703" r:id="rId13"/>
    <p:sldId id="704" r:id="rId14"/>
    <p:sldId id="705" r:id="rId15"/>
    <p:sldId id="706" r:id="rId16"/>
    <p:sldId id="707" r:id="rId17"/>
    <p:sldId id="708" r:id="rId18"/>
    <p:sldId id="709" r:id="rId19"/>
    <p:sldId id="710" r:id="rId20"/>
    <p:sldId id="711" r:id="rId21"/>
    <p:sldId id="712" r:id="rId22"/>
    <p:sldId id="713" r:id="rId23"/>
    <p:sldId id="714" r:id="rId24"/>
    <p:sldId id="720" r:id="rId25"/>
    <p:sldId id="721" r:id="rId26"/>
    <p:sldId id="828" r:id="rId27"/>
    <p:sldId id="816" r:id="rId28"/>
    <p:sldId id="817" r:id="rId29"/>
    <p:sldId id="818" r:id="rId30"/>
    <p:sldId id="820" r:id="rId31"/>
    <p:sldId id="819" r:id="rId32"/>
    <p:sldId id="822" r:id="rId33"/>
    <p:sldId id="823" r:id="rId34"/>
    <p:sldId id="824" r:id="rId35"/>
    <p:sldId id="825" r:id="rId36"/>
    <p:sldId id="826" r:id="rId37"/>
    <p:sldId id="723" r:id="rId38"/>
    <p:sldId id="724" r:id="rId39"/>
    <p:sldId id="725" r:id="rId40"/>
    <p:sldId id="726" r:id="rId41"/>
    <p:sldId id="727" r:id="rId42"/>
    <p:sldId id="728" r:id="rId43"/>
    <p:sldId id="729" r:id="rId44"/>
    <p:sldId id="730" r:id="rId45"/>
    <p:sldId id="746" r:id="rId46"/>
    <p:sldId id="747" r:id="rId47"/>
    <p:sldId id="748" r:id="rId48"/>
    <p:sldId id="749" r:id="rId49"/>
    <p:sldId id="757" r:id="rId50"/>
    <p:sldId id="758" r:id="rId51"/>
    <p:sldId id="759" r:id="rId52"/>
    <p:sldId id="760" r:id="rId53"/>
    <p:sldId id="763" r:id="rId54"/>
    <p:sldId id="764" r:id="rId55"/>
    <p:sldId id="765" r:id="rId56"/>
    <p:sldId id="766" r:id="rId57"/>
    <p:sldId id="767" r:id="rId58"/>
    <p:sldId id="768" r:id="rId59"/>
    <p:sldId id="775" r:id="rId60"/>
    <p:sldId id="776" r:id="rId61"/>
    <p:sldId id="777" r:id="rId62"/>
    <p:sldId id="778" r:id="rId63"/>
    <p:sldId id="791" r:id="rId64"/>
    <p:sldId id="792" r:id="rId65"/>
    <p:sldId id="793" r:id="rId66"/>
    <p:sldId id="794" r:id="rId67"/>
    <p:sldId id="796" r:id="rId68"/>
    <p:sldId id="797" r:id="rId69"/>
    <p:sldId id="798" r:id="rId70"/>
    <p:sldId id="799" r:id="rId71"/>
    <p:sldId id="800" r:id="rId72"/>
    <p:sldId id="801" r:id="rId73"/>
    <p:sldId id="802" r:id="rId74"/>
    <p:sldId id="803" r:id="rId75"/>
    <p:sldId id="804" r:id="rId76"/>
    <p:sldId id="815" r:id="rId77"/>
  </p:sldIdLst>
  <p:sldSz cx="9144000" cy="6858000" type="screen4x3"/>
  <p:notesSz cx="6858000" cy="9144000"/>
  <p:defaultTextStyle>
    <a:defPPr>
      <a:defRPr lang="zh-CN"/>
    </a:defPPr>
    <a:lvl1pPr algn="l" rtl="0" fontAlgn="base">
      <a:spcBef>
        <a:spcPct val="0"/>
      </a:spcBef>
      <a:spcAft>
        <a:spcPct val="0"/>
      </a:spcAft>
      <a:defRPr kern="1200">
        <a:solidFill>
          <a:srgbClr val="000000"/>
        </a:solidFill>
        <a:latin typeface="Arial" pitchFamily="34" charset="0"/>
        <a:ea typeface="黑体" pitchFamily="49" charset="-122"/>
        <a:cs typeface="+mn-cs"/>
      </a:defRPr>
    </a:lvl1pPr>
    <a:lvl2pPr marL="457200" algn="l" rtl="0" fontAlgn="base">
      <a:spcBef>
        <a:spcPct val="0"/>
      </a:spcBef>
      <a:spcAft>
        <a:spcPct val="0"/>
      </a:spcAft>
      <a:defRPr kern="1200">
        <a:solidFill>
          <a:srgbClr val="000000"/>
        </a:solidFill>
        <a:latin typeface="Arial" pitchFamily="34" charset="0"/>
        <a:ea typeface="黑体" pitchFamily="49" charset="-122"/>
        <a:cs typeface="+mn-cs"/>
      </a:defRPr>
    </a:lvl2pPr>
    <a:lvl3pPr marL="914400" algn="l" rtl="0" fontAlgn="base">
      <a:spcBef>
        <a:spcPct val="0"/>
      </a:spcBef>
      <a:spcAft>
        <a:spcPct val="0"/>
      </a:spcAft>
      <a:defRPr kern="1200">
        <a:solidFill>
          <a:srgbClr val="000000"/>
        </a:solidFill>
        <a:latin typeface="Arial" pitchFamily="34" charset="0"/>
        <a:ea typeface="黑体" pitchFamily="49" charset="-122"/>
        <a:cs typeface="+mn-cs"/>
      </a:defRPr>
    </a:lvl3pPr>
    <a:lvl4pPr marL="1371600" algn="l" rtl="0" fontAlgn="base">
      <a:spcBef>
        <a:spcPct val="0"/>
      </a:spcBef>
      <a:spcAft>
        <a:spcPct val="0"/>
      </a:spcAft>
      <a:defRPr kern="1200">
        <a:solidFill>
          <a:srgbClr val="000000"/>
        </a:solidFill>
        <a:latin typeface="Arial" pitchFamily="34" charset="0"/>
        <a:ea typeface="黑体" pitchFamily="49" charset="-122"/>
        <a:cs typeface="+mn-cs"/>
      </a:defRPr>
    </a:lvl4pPr>
    <a:lvl5pPr marL="1828800" algn="l" rtl="0" fontAlgn="base">
      <a:spcBef>
        <a:spcPct val="0"/>
      </a:spcBef>
      <a:spcAft>
        <a:spcPct val="0"/>
      </a:spcAft>
      <a:defRPr kern="1200">
        <a:solidFill>
          <a:srgbClr val="000000"/>
        </a:solidFill>
        <a:latin typeface="Arial" pitchFamily="34" charset="0"/>
        <a:ea typeface="黑体" pitchFamily="49" charset="-122"/>
        <a:cs typeface="+mn-cs"/>
      </a:defRPr>
    </a:lvl5pPr>
    <a:lvl6pPr marL="2286000" algn="l" defTabSz="914400" rtl="0" eaLnBrk="1" latinLnBrk="0" hangingPunct="1">
      <a:defRPr kern="1200">
        <a:solidFill>
          <a:srgbClr val="000000"/>
        </a:solidFill>
        <a:latin typeface="Arial" pitchFamily="34" charset="0"/>
        <a:ea typeface="黑体" pitchFamily="49" charset="-122"/>
        <a:cs typeface="+mn-cs"/>
      </a:defRPr>
    </a:lvl6pPr>
    <a:lvl7pPr marL="2743200" algn="l" defTabSz="914400" rtl="0" eaLnBrk="1" latinLnBrk="0" hangingPunct="1">
      <a:defRPr kern="1200">
        <a:solidFill>
          <a:srgbClr val="000000"/>
        </a:solidFill>
        <a:latin typeface="Arial" pitchFamily="34" charset="0"/>
        <a:ea typeface="黑体" pitchFamily="49" charset="-122"/>
        <a:cs typeface="+mn-cs"/>
      </a:defRPr>
    </a:lvl7pPr>
    <a:lvl8pPr marL="3200400" algn="l" defTabSz="914400" rtl="0" eaLnBrk="1" latinLnBrk="0" hangingPunct="1">
      <a:defRPr kern="1200">
        <a:solidFill>
          <a:srgbClr val="000000"/>
        </a:solidFill>
        <a:latin typeface="Arial" pitchFamily="34" charset="0"/>
        <a:ea typeface="黑体" pitchFamily="49" charset="-122"/>
        <a:cs typeface="+mn-cs"/>
      </a:defRPr>
    </a:lvl8pPr>
    <a:lvl9pPr marL="3657600" algn="l" defTabSz="914400" rtl="0" eaLnBrk="1" latinLnBrk="0" hangingPunct="1">
      <a:defRPr kern="1200">
        <a:solidFill>
          <a:srgbClr val="000000"/>
        </a:solidFill>
        <a:latin typeface="Arial" pitchFamily="34" charset="0"/>
        <a:ea typeface="黑体" pitchFamily="49" charset="-122"/>
        <a:cs typeface="+mn-cs"/>
      </a:defRPr>
    </a:lvl9pPr>
  </p:defaultTextStyle>
  <p:extLst>
    <p:ext uri="{EFAFB233-063F-42B5-8137-9DF3F51BA10A}">
      <p15:sldGuideLst xmlns:p15="http://schemas.microsoft.com/office/powerpoint/2012/main">
        <p15:guide id="1" orient="horz" pos="754">
          <p15:clr>
            <a:srgbClr val="A4A3A4"/>
          </p15:clr>
        </p15:guide>
        <p15:guide id="2" pos="20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360CAC"/>
    <a:srgbClr val="2B0989"/>
    <a:srgbClr val="076510"/>
    <a:srgbClr val="66FF33"/>
    <a:srgbClr val="FFCC99"/>
    <a:srgbClr val="FFFF99"/>
    <a:srgbClr val="FFFFCC"/>
    <a:srgbClr val="5C00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86565" autoAdjust="0"/>
  </p:normalViewPr>
  <p:slideViewPr>
    <p:cSldViewPr>
      <p:cViewPr varScale="1">
        <p:scale>
          <a:sx n="98" d="100"/>
          <a:sy n="98" d="100"/>
        </p:scale>
        <p:origin x="1472" y="68"/>
      </p:cViewPr>
      <p:guideLst>
        <p:guide orient="horz" pos="754"/>
        <p:guide pos="204"/>
      </p:guideLst>
    </p:cSldViewPr>
  </p:slideViewPr>
  <p:outlineViewPr>
    <p:cViewPr>
      <p:scale>
        <a:sx n="33" d="100"/>
        <a:sy n="33" d="100"/>
      </p:scale>
      <p:origin x="0" y="78"/>
    </p:cViewPr>
  </p:outlineViewPr>
  <p:notesTextViewPr>
    <p:cViewPr>
      <p:scale>
        <a:sx n="3" d="2"/>
        <a:sy n="3" d="2"/>
      </p:scale>
      <p:origin x="0" y="0"/>
    </p:cViewPr>
  </p:notesTextViewPr>
  <p:sorterViewPr>
    <p:cViewPr varScale="1">
      <p:scale>
        <a:sx n="100" d="100"/>
        <a:sy n="100" d="100"/>
      </p:scale>
      <p:origin x="0" y="0"/>
    </p:cViewPr>
  </p:sorterViewPr>
  <p:notesViewPr>
    <p:cSldViewPr>
      <p:cViewPr varScale="1">
        <p:scale>
          <a:sx n="59" d="100"/>
          <a:sy n="59" d="100"/>
        </p:scale>
        <p:origin x="-19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 Id="rId6" Type="http://schemas.openxmlformats.org/officeDocument/2006/relationships/image" Target="../media/image27.emf"/><Relationship Id="rId5" Type="http://schemas.openxmlformats.org/officeDocument/2006/relationships/image" Target="../media/image26.wmf"/><Relationship Id="rId4" Type="http://schemas.openxmlformats.org/officeDocument/2006/relationships/image" Target="../media/image2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4" Type="http://schemas.openxmlformats.org/officeDocument/2006/relationships/image" Target="../media/image4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 Id="rId4" Type="http://schemas.openxmlformats.org/officeDocument/2006/relationships/image" Target="../media/image52.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image" Target="../media/image5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solidFill>
                  <a:schemeClr val="tx1"/>
                </a:solidFill>
                <a:latin typeface="Arial" pitchFamily="34" charset="0"/>
                <a:ea typeface="宋体" pitchFamily="2" charset="-122"/>
              </a:defRPr>
            </a:lvl1pPr>
          </a:lstStyle>
          <a:p>
            <a:pPr>
              <a:defRPr/>
            </a:pPr>
            <a:endParaRPr lang="en-US" altLang="zh-CN"/>
          </a:p>
        </p:txBody>
      </p:sp>
      <p:sp>
        <p:nvSpPr>
          <p:cNvPr id="460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latin typeface="Arial" pitchFamily="34" charset="0"/>
                <a:ea typeface="宋体" pitchFamily="2" charset="-122"/>
              </a:defRPr>
            </a:lvl1pPr>
          </a:lstStyle>
          <a:p>
            <a:pPr>
              <a:defRPr/>
            </a:pPr>
            <a:endParaRPr lang="en-US" altLang="zh-CN"/>
          </a:p>
        </p:txBody>
      </p:sp>
      <p:sp>
        <p:nvSpPr>
          <p:cNvPr id="460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solidFill>
                  <a:schemeClr val="tx1"/>
                </a:solidFill>
                <a:latin typeface="Arial" pitchFamily="34" charset="0"/>
                <a:ea typeface="宋体" pitchFamily="2" charset="-122"/>
              </a:defRPr>
            </a:lvl1pPr>
          </a:lstStyle>
          <a:p>
            <a:pPr>
              <a:defRPr/>
            </a:pPr>
            <a:endParaRPr lang="en-US" altLang="zh-CN"/>
          </a:p>
        </p:txBody>
      </p:sp>
      <p:sp>
        <p:nvSpPr>
          <p:cNvPr id="460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latin typeface="Arial" pitchFamily="34" charset="0"/>
                <a:ea typeface="宋体" pitchFamily="2" charset="-122"/>
              </a:defRPr>
            </a:lvl1pPr>
          </a:lstStyle>
          <a:p>
            <a:pPr>
              <a:defRPr/>
            </a:pPr>
            <a:fld id="{B740EF9B-891C-4B91-843C-6DB9E37C67D5}" type="slidenum">
              <a:rPr lang="en-US" altLang="zh-CN"/>
              <a:pPr>
                <a:defRPr/>
              </a:pPr>
              <a:t>‹#›</a:t>
            </a:fld>
            <a:endParaRPr lang="en-US" altLang="zh-CN"/>
          </a:p>
        </p:txBody>
      </p:sp>
    </p:spTree>
    <p:extLst>
      <p:ext uri="{BB962C8B-B14F-4D97-AF65-F5344CB8AC3E}">
        <p14:creationId xmlns:p14="http://schemas.microsoft.com/office/powerpoint/2010/main" val="4824882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solidFill>
                  <a:schemeClr val="tx1"/>
                </a:solidFill>
                <a:latin typeface="Arial" pitchFamily="34" charset="0"/>
                <a:ea typeface="宋体" pitchFamily="2" charset="-122"/>
              </a:defRPr>
            </a:lvl1pPr>
          </a:lstStyle>
          <a:p>
            <a:pPr>
              <a:defRPr/>
            </a:pPr>
            <a:endParaRPr lang="en-US" altLang="zh-CN"/>
          </a:p>
        </p:txBody>
      </p:sp>
      <p:sp>
        <p:nvSpPr>
          <p:cNvPr id="665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latin typeface="Arial" pitchFamily="34" charset="0"/>
                <a:ea typeface="宋体" pitchFamily="2" charset="-122"/>
              </a:defRPr>
            </a:lvl1pPr>
          </a:lstStyle>
          <a:p>
            <a:pPr>
              <a:defRPr/>
            </a:pPr>
            <a:endParaRPr lang="en-US" altLang="zh-CN"/>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65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solidFill>
                  <a:schemeClr val="tx1"/>
                </a:solidFill>
                <a:latin typeface="Arial" pitchFamily="34" charset="0"/>
                <a:ea typeface="宋体" pitchFamily="2" charset="-122"/>
              </a:defRPr>
            </a:lvl1pPr>
          </a:lstStyle>
          <a:p>
            <a:pPr>
              <a:defRPr/>
            </a:pPr>
            <a:endParaRPr lang="en-US" altLang="zh-CN"/>
          </a:p>
        </p:txBody>
      </p:sp>
      <p:sp>
        <p:nvSpPr>
          <p:cNvPr id="665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latin typeface="Arial" pitchFamily="34" charset="0"/>
                <a:ea typeface="宋体" pitchFamily="2" charset="-122"/>
              </a:defRPr>
            </a:lvl1pPr>
          </a:lstStyle>
          <a:p>
            <a:pPr>
              <a:defRPr/>
            </a:pPr>
            <a:fld id="{5F9C3DD9-8F23-4F2B-AE83-37B68B8A7F9A}" type="slidenum">
              <a:rPr lang="en-US" altLang="zh-CN"/>
              <a:pPr>
                <a:defRPr/>
              </a:pPr>
              <a:t>‹#›</a:t>
            </a:fld>
            <a:endParaRPr lang="en-US" altLang="zh-CN"/>
          </a:p>
        </p:txBody>
      </p:sp>
    </p:spTree>
    <p:extLst>
      <p:ext uri="{BB962C8B-B14F-4D97-AF65-F5344CB8AC3E}">
        <p14:creationId xmlns:p14="http://schemas.microsoft.com/office/powerpoint/2010/main" val="3126097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151744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Times New Roman" panose="02020603050405020304" pitchFamily="18" charset="0"/>
                <a:ea typeface="宋体" pitchFamily="2" charset="-122"/>
                <a:cs typeface="Times New Roman" panose="02020603050405020304" pitchFamily="18" charset="0"/>
              </a:rPr>
              <a:t>Tobler, W. R. 1970. “A Computer Movie Simulating Urban Growth in the Detroit Region.” Economic Geography 46(sup1): 234–240. doi:10.2307/143141.</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4</a:t>
            </a:fld>
            <a:endParaRPr lang="en-US" altLang="zh-CN"/>
          </a:p>
        </p:txBody>
      </p:sp>
    </p:spTree>
    <p:extLst>
      <p:ext uri="{BB962C8B-B14F-4D97-AF65-F5344CB8AC3E}">
        <p14:creationId xmlns:p14="http://schemas.microsoft.com/office/powerpoint/2010/main" val="935940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0000CC"/>
                </a:solidFill>
                <a:latin typeface="Times New Roman" panose="02020603050405020304" pitchFamily="18" charset="0"/>
                <a:cs typeface="Times New Roman" panose="02020603050405020304" pitchFamily="18" charset="0"/>
              </a:rPr>
              <a:t>李小文</a:t>
            </a:r>
            <a:r>
              <a:rPr lang="en-US" altLang="zh-CN" sz="1200" dirty="0">
                <a:solidFill>
                  <a:srgbClr val="0000CC"/>
                </a:solidFill>
                <a:latin typeface="Times New Roman" panose="02020603050405020304" pitchFamily="18" charset="0"/>
                <a:cs typeface="Times New Roman" panose="02020603050405020304" pitchFamily="18" charset="0"/>
              </a:rPr>
              <a:t>,</a:t>
            </a:r>
            <a:r>
              <a:rPr lang="zh-CN" altLang="en-US" sz="1200" dirty="0">
                <a:solidFill>
                  <a:srgbClr val="0000CC"/>
                </a:solidFill>
                <a:latin typeface="Times New Roman" panose="02020603050405020304" pitchFamily="18" charset="0"/>
                <a:cs typeface="Times New Roman" panose="02020603050405020304" pitchFamily="18" charset="0"/>
              </a:rPr>
              <a:t>曹春香</a:t>
            </a:r>
            <a:r>
              <a:rPr lang="en-US" altLang="zh-CN" sz="1200" dirty="0">
                <a:solidFill>
                  <a:srgbClr val="0000CC"/>
                </a:solidFill>
                <a:latin typeface="Times New Roman" panose="02020603050405020304" pitchFamily="18" charset="0"/>
                <a:cs typeface="Times New Roman" panose="02020603050405020304" pitchFamily="18" charset="0"/>
              </a:rPr>
              <a:t>,</a:t>
            </a:r>
            <a:r>
              <a:rPr lang="zh-CN" altLang="en-US" sz="1200" dirty="0">
                <a:solidFill>
                  <a:srgbClr val="0000CC"/>
                </a:solidFill>
                <a:latin typeface="Times New Roman" panose="02020603050405020304" pitchFamily="18" charset="0"/>
                <a:cs typeface="Times New Roman" panose="02020603050405020304" pitchFamily="18" charset="0"/>
              </a:rPr>
              <a:t>常超一</a:t>
            </a:r>
            <a:r>
              <a:rPr lang="en-US" altLang="zh-CN" sz="1200" dirty="0">
                <a:solidFill>
                  <a:srgbClr val="0000CC"/>
                </a:solidFill>
                <a:latin typeface="Times New Roman" panose="02020603050405020304" pitchFamily="18" charset="0"/>
                <a:cs typeface="Times New Roman" panose="02020603050405020304" pitchFamily="18" charset="0"/>
              </a:rPr>
              <a:t>. </a:t>
            </a:r>
            <a:r>
              <a:rPr lang="zh-CN" altLang="en-US" sz="1200" dirty="0">
                <a:solidFill>
                  <a:srgbClr val="0000CC"/>
                </a:solidFill>
                <a:latin typeface="Times New Roman" panose="02020603050405020304" pitchFamily="18" charset="0"/>
                <a:cs typeface="Times New Roman" panose="02020603050405020304" pitchFamily="18" charset="0"/>
              </a:rPr>
              <a:t>地理学第一定律与时空邻近度的提出</a:t>
            </a:r>
            <a:r>
              <a:rPr lang="en-US" altLang="zh-CN" sz="1200" dirty="0">
                <a:solidFill>
                  <a:srgbClr val="0000CC"/>
                </a:solidFill>
                <a:latin typeface="Times New Roman" panose="02020603050405020304" pitchFamily="18" charset="0"/>
                <a:cs typeface="Times New Roman" panose="02020603050405020304" pitchFamily="18" charset="0"/>
              </a:rPr>
              <a:t>[J]. </a:t>
            </a:r>
            <a:r>
              <a:rPr lang="zh-CN" altLang="en-US" sz="1200" dirty="0">
                <a:solidFill>
                  <a:srgbClr val="0000CC"/>
                </a:solidFill>
                <a:latin typeface="Times New Roman" panose="02020603050405020304" pitchFamily="18" charset="0"/>
                <a:cs typeface="Times New Roman" panose="02020603050405020304" pitchFamily="18" charset="0"/>
              </a:rPr>
              <a:t>自然杂志</a:t>
            </a:r>
            <a:r>
              <a:rPr lang="en-US" altLang="zh-CN" sz="1200" dirty="0">
                <a:solidFill>
                  <a:srgbClr val="0000CC"/>
                </a:solidFill>
                <a:latin typeface="Times New Roman" panose="02020603050405020304" pitchFamily="18" charset="0"/>
                <a:cs typeface="Times New Roman" panose="02020603050405020304" pitchFamily="18" charset="0"/>
              </a:rPr>
              <a:t>, 2007, 29(2): 69-71.</a:t>
            </a:r>
            <a:endParaRPr lang="zh-CN" altLang="en-US" sz="1200" dirty="0">
              <a:solidFill>
                <a:srgbClr val="0000CC"/>
              </a:solidFill>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a:t>
            </a:fld>
            <a:endParaRPr lang="en-US" altLang="zh-CN"/>
          </a:p>
        </p:txBody>
      </p:sp>
    </p:spTree>
    <p:extLst>
      <p:ext uri="{BB962C8B-B14F-4D97-AF65-F5344CB8AC3E}">
        <p14:creationId xmlns:p14="http://schemas.microsoft.com/office/powerpoint/2010/main" val="69598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0000CC"/>
                </a:solidFill>
                <a:latin typeface="Times New Roman" panose="02020603050405020304" pitchFamily="18" charset="0"/>
                <a:cs typeface="Times New Roman" panose="02020603050405020304" pitchFamily="18" charset="0"/>
              </a:rPr>
              <a:t>李小文</a:t>
            </a:r>
            <a:r>
              <a:rPr lang="en-US" altLang="zh-CN" sz="1200" dirty="0">
                <a:solidFill>
                  <a:srgbClr val="0000CC"/>
                </a:solidFill>
                <a:latin typeface="Times New Roman" panose="02020603050405020304" pitchFamily="18" charset="0"/>
                <a:cs typeface="Times New Roman" panose="02020603050405020304" pitchFamily="18" charset="0"/>
              </a:rPr>
              <a:t>,</a:t>
            </a:r>
            <a:r>
              <a:rPr lang="zh-CN" altLang="en-US" sz="1200" dirty="0">
                <a:solidFill>
                  <a:srgbClr val="0000CC"/>
                </a:solidFill>
                <a:latin typeface="Times New Roman" panose="02020603050405020304" pitchFamily="18" charset="0"/>
                <a:cs typeface="Times New Roman" panose="02020603050405020304" pitchFamily="18" charset="0"/>
              </a:rPr>
              <a:t>曹春香</a:t>
            </a:r>
            <a:r>
              <a:rPr lang="en-US" altLang="zh-CN" sz="1200" dirty="0">
                <a:solidFill>
                  <a:srgbClr val="0000CC"/>
                </a:solidFill>
                <a:latin typeface="Times New Roman" panose="02020603050405020304" pitchFamily="18" charset="0"/>
                <a:cs typeface="Times New Roman" panose="02020603050405020304" pitchFamily="18" charset="0"/>
              </a:rPr>
              <a:t>,</a:t>
            </a:r>
            <a:r>
              <a:rPr lang="zh-CN" altLang="en-US" sz="1200" dirty="0">
                <a:solidFill>
                  <a:srgbClr val="0000CC"/>
                </a:solidFill>
                <a:latin typeface="Times New Roman" panose="02020603050405020304" pitchFamily="18" charset="0"/>
                <a:cs typeface="Times New Roman" panose="02020603050405020304" pitchFamily="18" charset="0"/>
              </a:rPr>
              <a:t>常超一</a:t>
            </a:r>
            <a:r>
              <a:rPr lang="en-US" altLang="zh-CN" sz="1200" dirty="0">
                <a:solidFill>
                  <a:srgbClr val="0000CC"/>
                </a:solidFill>
                <a:latin typeface="Times New Roman" panose="02020603050405020304" pitchFamily="18" charset="0"/>
                <a:cs typeface="Times New Roman" panose="02020603050405020304" pitchFamily="18" charset="0"/>
              </a:rPr>
              <a:t>. </a:t>
            </a:r>
            <a:r>
              <a:rPr lang="zh-CN" altLang="en-US" sz="1200" dirty="0">
                <a:solidFill>
                  <a:srgbClr val="0000CC"/>
                </a:solidFill>
                <a:latin typeface="Times New Roman" panose="02020603050405020304" pitchFamily="18" charset="0"/>
                <a:cs typeface="Times New Roman" panose="02020603050405020304" pitchFamily="18" charset="0"/>
              </a:rPr>
              <a:t>地理学第一定律与时空邻近度的提出</a:t>
            </a:r>
            <a:r>
              <a:rPr lang="en-US" altLang="zh-CN" sz="1200" dirty="0">
                <a:solidFill>
                  <a:srgbClr val="0000CC"/>
                </a:solidFill>
                <a:latin typeface="Times New Roman" panose="02020603050405020304" pitchFamily="18" charset="0"/>
                <a:cs typeface="Times New Roman" panose="02020603050405020304" pitchFamily="18" charset="0"/>
              </a:rPr>
              <a:t>[J]. </a:t>
            </a:r>
            <a:r>
              <a:rPr lang="zh-CN" altLang="en-US" sz="1200" dirty="0">
                <a:solidFill>
                  <a:srgbClr val="0000CC"/>
                </a:solidFill>
                <a:latin typeface="Times New Roman" panose="02020603050405020304" pitchFamily="18" charset="0"/>
                <a:cs typeface="Times New Roman" panose="02020603050405020304" pitchFamily="18" charset="0"/>
              </a:rPr>
              <a:t>自然杂志</a:t>
            </a:r>
            <a:r>
              <a:rPr lang="en-US" altLang="zh-CN" sz="1200" dirty="0">
                <a:solidFill>
                  <a:srgbClr val="0000CC"/>
                </a:solidFill>
                <a:latin typeface="Times New Roman" panose="02020603050405020304" pitchFamily="18" charset="0"/>
                <a:cs typeface="Times New Roman" panose="02020603050405020304" pitchFamily="18" charset="0"/>
              </a:rPr>
              <a:t>, 2007, 29(2): 69-71.</a:t>
            </a:r>
            <a:endParaRPr lang="zh-CN" altLang="en-US" sz="1200" dirty="0">
              <a:solidFill>
                <a:srgbClr val="0000CC"/>
              </a:solidFill>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a:t>
            </a:fld>
            <a:endParaRPr lang="en-US" altLang="zh-CN"/>
          </a:p>
        </p:txBody>
      </p:sp>
    </p:spTree>
    <p:extLst>
      <p:ext uri="{BB962C8B-B14F-4D97-AF65-F5344CB8AC3E}">
        <p14:creationId xmlns:p14="http://schemas.microsoft.com/office/powerpoint/2010/main" val="871212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Times New Roman" panose="02020603050405020304" pitchFamily="18" charset="0"/>
                <a:ea typeface="宋体" pitchFamily="2" charset="-122"/>
                <a:cs typeface="Times New Roman" panose="02020603050405020304" pitchFamily="18" charset="0"/>
              </a:rPr>
              <a:t>Goodchild, M. F. 2004b. “The Validity and Usefulness of Laws in Geographic Information Science and Geography.” Annals of the Association of American Geographers 94: 300–303.</a:t>
            </a:r>
          </a:p>
          <a:p>
            <a:r>
              <a:rPr lang="en-US" altLang="zh-CN" sz="1200" b="0" i="0" u="none" strike="noStrike" kern="1200" baseline="0" dirty="0">
                <a:solidFill>
                  <a:schemeClr val="tx1"/>
                </a:solidFill>
                <a:latin typeface="Times New Roman" panose="02020603050405020304" pitchFamily="18" charset="0"/>
                <a:ea typeface="宋体" pitchFamily="2" charset="-122"/>
                <a:cs typeface="Times New Roman" panose="02020603050405020304" pitchFamily="18" charset="0"/>
              </a:rPr>
              <a:t>doi:10.1111/j.1467-8306.2004.09402008.x.</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7</a:t>
            </a:fld>
            <a:endParaRPr lang="en-US" altLang="zh-CN"/>
          </a:p>
        </p:txBody>
      </p:sp>
    </p:spTree>
    <p:extLst>
      <p:ext uri="{BB962C8B-B14F-4D97-AF65-F5344CB8AC3E}">
        <p14:creationId xmlns:p14="http://schemas.microsoft.com/office/powerpoint/2010/main" val="2789112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itchFamily="34" charset="0"/>
                <a:ea typeface="宋体" pitchFamily="2" charset="-122"/>
                <a:cs typeface="+mn-cs"/>
              </a:rPr>
              <a:t>A‐Xing Zhu, </a:t>
            </a:r>
            <a:r>
              <a:rPr lang="en-US" altLang="zh-CN" sz="1200" b="0" i="0" u="none" strike="noStrike" kern="1200" baseline="0" dirty="0" err="1">
                <a:solidFill>
                  <a:schemeClr val="tx1"/>
                </a:solidFill>
                <a:latin typeface="Arial" pitchFamily="34" charset="0"/>
                <a:ea typeface="宋体" pitchFamily="2" charset="-122"/>
                <a:cs typeface="+mn-cs"/>
              </a:rPr>
              <a:t>Guonian</a:t>
            </a:r>
            <a:r>
              <a:rPr lang="en-US" altLang="zh-CN" sz="1200" b="0" i="0" u="none" strike="noStrike" kern="1200" baseline="0" dirty="0">
                <a:solidFill>
                  <a:schemeClr val="tx1"/>
                </a:solidFill>
                <a:latin typeface="Arial" pitchFamily="34" charset="0"/>
                <a:ea typeface="宋体" pitchFamily="2" charset="-122"/>
                <a:cs typeface="+mn-cs"/>
              </a:rPr>
              <a:t> Lu, Jing Liu, Cheng‐</a:t>
            </a:r>
            <a:r>
              <a:rPr lang="en-US" altLang="zh-CN" sz="1200" b="0" i="0" u="none" strike="noStrike" kern="1200" baseline="0" dirty="0" err="1">
                <a:solidFill>
                  <a:schemeClr val="tx1"/>
                </a:solidFill>
                <a:latin typeface="Arial" pitchFamily="34" charset="0"/>
                <a:ea typeface="宋体" pitchFamily="2" charset="-122"/>
                <a:cs typeface="+mn-cs"/>
              </a:rPr>
              <a:t>Zhi</a:t>
            </a:r>
            <a:r>
              <a:rPr lang="en-US" altLang="zh-CN" sz="1200" b="0" i="0" u="none" strike="noStrike" kern="1200" baseline="0" dirty="0">
                <a:solidFill>
                  <a:schemeClr val="tx1"/>
                </a:solidFill>
                <a:latin typeface="Arial" pitchFamily="34" charset="0"/>
                <a:ea typeface="宋体" pitchFamily="2" charset="-122"/>
                <a:cs typeface="+mn-cs"/>
              </a:rPr>
              <a:t> Qin &amp; </a:t>
            </a:r>
            <a:r>
              <a:rPr lang="en-US" altLang="zh-CN" sz="1200" b="0" i="0" u="none" strike="noStrike" kern="1200" baseline="0" dirty="0" err="1">
                <a:solidFill>
                  <a:schemeClr val="tx1"/>
                </a:solidFill>
                <a:latin typeface="Arial" pitchFamily="34" charset="0"/>
                <a:ea typeface="宋体" pitchFamily="2" charset="-122"/>
                <a:cs typeface="+mn-cs"/>
              </a:rPr>
              <a:t>Chenghu</a:t>
            </a:r>
            <a:endParaRPr lang="en-US" altLang="zh-CN" sz="1200" b="0" i="0" u="none" strike="noStrike" kern="1200" baseline="0" dirty="0">
              <a:solidFill>
                <a:schemeClr val="tx1"/>
              </a:solidFill>
              <a:latin typeface="Arial" pitchFamily="34" charset="0"/>
              <a:ea typeface="宋体" pitchFamily="2" charset="-122"/>
              <a:cs typeface="+mn-cs"/>
            </a:endParaRPr>
          </a:p>
          <a:p>
            <a:r>
              <a:rPr lang="en-US" altLang="zh-CN" sz="1200" b="0" i="0" u="none" strike="noStrike" kern="1200" baseline="0" dirty="0">
                <a:solidFill>
                  <a:schemeClr val="tx1"/>
                </a:solidFill>
                <a:latin typeface="Arial" pitchFamily="34" charset="0"/>
                <a:ea typeface="宋体" pitchFamily="2" charset="-122"/>
                <a:cs typeface="+mn-cs"/>
              </a:rPr>
              <a:t>Zhou (2018): Spatial prediction based on Third Law of Geography, Annals of GIS, DOI:</a:t>
            </a:r>
          </a:p>
          <a:p>
            <a:r>
              <a:rPr lang="en-US" altLang="zh-CN" sz="1200" b="0" i="0" u="none" strike="noStrike" kern="1200" baseline="0" dirty="0">
                <a:solidFill>
                  <a:schemeClr val="tx1"/>
                </a:solidFill>
                <a:latin typeface="Arial" pitchFamily="34" charset="0"/>
                <a:ea typeface="宋体" pitchFamily="2" charset="-122"/>
                <a:cs typeface="+mn-cs"/>
              </a:rPr>
              <a:t>10.1080/19475683.2018.1534890</a:t>
            </a:r>
            <a:endParaRPr lang="zh-CN" altLang="en-US" dirty="0"/>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8</a:t>
            </a:fld>
            <a:endParaRPr lang="en-US" altLang="zh-CN"/>
          </a:p>
        </p:txBody>
      </p:sp>
    </p:spTree>
    <p:extLst>
      <p:ext uri="{BB962C8B-B14F-4D97-AF65-F5344CB8AC3E}">
        <p14:creationId xmlns:p14="http://schemas.microsoft.com/office/powerpoint/2010/main" val="2208623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分别起哪些作用？</a:t>
            </a:r>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12</a:t>
            </a:fld>
            <a:endParaRPr lang="en-US" altLang="zh-CN"/>
          </a:p>
        </p:txBody>
      </p:sp>
    </p:spTree>
    <p:extLst>
      <p:ext uri="{BB962C8B-B14F-4D97-AF65-F5344CB8AC3E}">
        <p14:creationId xmlns:p14="http://schemas.microsoft.com/office/powerpoint/2010/main" val="1720595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13</a:t>
            </a:fld>
            <a:endParaRPr lang="en-US" altLang="zh-CN"/>
          </a:p>
        </p:txBody>
      </p:sp>
    </p:spTree>
    <p:extLst>
      <p:ext uri="{BB962C8B-B14F-4D97-AF65-F5344CB8AC3E}">
        <p14:creationId xmlns:p14="http://schemas.microsoft.com/office/powerpoint/2010/main" val="3061921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14</a:t>
            </a:fld>
            <a:endParaRPr lang="en-US" altLang="zh-CN"/>
          </a:p>
        </p:txBody>
      </p:sp>
    </p:spTree>
    <p:extLst>
      <p:ext uri="{BB962C8B-B14F-4D97-AF65-F5344CB8AC3E}">
        <p14:creationId xmlns:p14="http://schemas.microsoft.com/office/powerpoint/2010/main" val="3567783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50000"/>
              </a:spcBef>
              <a:buClr>
                <a:srgbClr val="0000CC"/>
              </a:buClr>
              <a:buSzTx/>
              <a:buFont typeface="Wingdings" panose="05000000000000000000" pitchFamily="2" charset="2"/>
              <a:buChar char="u"/>
            </a:pPr>
            <a:r>
              <a:rPr lang="zh-CN" altLang="en-US" sz="1200" b="0" dirty="0">
                <a:latin typeface="Times New Roman" panose="02020603050405020304" pitchFamily="18" charset="0"/>
                <a:cs typeface="Times New Roman" panose="02020603050405020304" pitchFamily="18" charset="0"/>
              </a:rPr>
              <a:t>度量关系约束最强烈；</a:t>
            </a:r>
          </a:p>
          <a:p>
            <a:pPr eaLnBrk="1" hangingPunct="1">
              <a:spcBef>
                <a:spcPct val="50000"/>
              </a:spcBef>
              <a:buClr>
                <a:srgbClr val="0000CC"/>
              </a:buClr>
              <a:buSzTx/>
              <a:buFont typeface="Wingdings" panose="05000000000000000000" pitchFamily="2" charset="2"/>
              <a:buChar char="u"/>
            </a:pPr>
            <a:r>
              <a:rPr lang="zh-CN" altLang="en-US" sz="1200" b="0" dirty="0">
                <a:latin typeface="Times New Roman" panose="02020603050405020304" pitchFamily="18" charset="0"/>
                <a:cs typeface="Times New Roman" panose="02020603050405020304" pitchFamily="18" charset="0"/>
              </a:rPr>
              <a:t>顺序关系次之；</a:t>
            </a:r>
          </a:p>
          <a:p>
            <a:pPr eaLnBrk="1" hangingPunct="1">
              <a:spcBef>
                <a:spcPct val="50000"/>
              </a:spcBef>
              <a:buClr>
                <a:srgbClr val="0000CC"/>
              </a:buClr>
              <a:buSzTx/>
              <a:buFont typeface="Wingdings" panose="05000000000000000000" pitchFamily="2" charset="2"/>
              <a:buChar char="u"/>
            </a:pPr>
            <a:r>
              <a:rPr lang="zh-CN" altLang="en-US" sz="1200" b="0" dirty="0">
                <a:latin typeface="Times New Roman" panose="02020603050405020304" pitchFamily="18" charset="0"/>
                <a:cs typeface="Times New Roman" panose="02020603050405020304" pitchFamily="18" charset="0"/>
              </a:rPr>
              <a:t>拓扑关系最弱</a:t>
            </a:r>
            <a:endParaRPr lang="zh-CN" altLang="en-US" dirty="0"/>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15</a:t>
            </a:fld>
            <a:endParaRPr lang="en-US" altLang="zh-CN"/>
          </a:p>
        </p:txBody>
      </p:sp>
    </p:spTree>
    <p:extLst>
      <p:ext uri="{BB962C8B-B14F-4D97-AF65-F5344CB8AC3E}">
        <p14:creationId xmlns:p14="http://schemas.microsoft.com/office/powerpoint/2010/main" val="993737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16</a:t>
            </a:fld>
            <a:endParaRPr lang="en-US" altLang="zh-CN"/>
          </a:p>
        </p:txBody>
      </p:sp>
    </p:spTree>
    <p:extLst>
      <p:ext uri="{BB962C8B-B14F-4D97-AF65-F5344CB8AC3E}">
        <p14:creationId xmlns:p14="http://schemas.microsoft.com/office/powerpoint/2010/main" val="1625070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约</a:t>
            </a:r>
            <a:r>
              <a:rPr lang="en-US" altLang="zh-CN" dirty="0"/>
              <a:t>6900</a:t>
            </a:r>
            <a:r>
              <a:rPr lang="zh-CN" altLang="en-US" dirty="0"/>
              <a:t>英里，合</a:t>
            </a:r>
            <a:r>
              <a:rPr lang="en-US" altLang="zh-CN" dirty="0"/>
              <a:t>11000</a:t>
            </a:r>
            <a:r>
              <a:rPr lang="zh-CN" altLang="en-US" dirty="0"/>
              <a:t>公里</a:t>
            </a:r>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19</a:t>
            </a:fld>
            <a:endParaRPr lang="en-US" altLang="zh-CN"/>
          </a:p>
        </p:txBody>
      </p:sp>
    </p:spTree>
    <p:extLst>
      <p:ext uri="{BB962C8B-B14F-4D97-AF65-F5344CB8AC3E}">
        <p14:creationId xmlns:p14="http://schemas.microsoft.com/office/powerpoint/2010/main" val="3708725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anose="02010600030101010101" pitchFamily="2" charset="-122"/>
              </a:rPr>
              <a:t>大圆：地球表面二点与球心构成的平面构成的大圆圈。 </a:t>
            </a:r>
          </a:p>
        </p:txBody>
      </p:sp>
    </p:spTree>
    <p:extLst>
      <p:ext uri="{BB962C8B-B14F-4D97-AF65-F5344CB8AC3E}">
        <p14:creationId xmlns:p14="http://schemas.microsoft.com/office/powerpoint/2010/main" val="3594480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36</a:t>
            </a:fld>
            <a:endParaRPr lang="en-US" altLang="zh-CN"/>
          </a:p>
        </p:txBody>
      </p:sp>
    </p:spTree>
    <p:extLst>
      <p:ext uri="{BB962C8B-B14F-4D97-AF65-F5344CB8AC3E}">
        <p14:creationId xmlns:p14="http://schemas.microsoft.com/office/powerpoint/2010/main" val="27397040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37</a:t>
            </a:fld>
            <a:endParaRPr lang="en-US" altLang="zh-CN"/>
          </a:p>
        </p:txBody>
      </p:sp>
    </p:spTree>
    <p:extLst>
      <p:ext uri="{BB962C8B-B14F-4D97-AF65-F5344CB8AC3E}">
        <p14:creationId xmlns:p14="http://schemas.microsoft.com/office/powerpoint/2010/main" val="1173710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ea typeface="宋体" panose="02010600030101010101" pitchFamily="2" charset="-122"/>
              </a:rPr>
              <a:t>Minimum bounding </a:t>
            </a:r>
            <a:r>
              <a:rPr lang="en-US" altLang="zh-CN" i="1" u="sng" dirty="0">
                <a:ea typeface="宋体" panose="02010600030101010101" pitchFamily="2" charset="-122"/>
              </a:rPr>
              <a:t>rectangle</a:t>
            </a:r>
            <a:r>
              <a:rPr lang="en-US" altLang="zh-CN" dirty="0">
                <a:ea typeface="宋体" panose="02010600030101010101" pitchFamily="2" charset="-122"/>
              </a:rPr>
              <a:t> (</a:t>
            </a:r>
            <a:r>
              <a:rPr lang="en-US" altLang="zh-CN" i="1" u="sng" dirty="0">
                <a:ea typeface="宋体" panose="02010600030101010101" pitchFamily="2" charset="-122"/>
              </a:rPr>
              <a:t>MBR</a:t>
            </a:r>
            <a:r>
              <a:rPr lang="en-US" altLang="zh-CN" dirty="0">
                <a:ea typeface="宋体" panose="02010600030101010101" pitchFamily="2" charset="-122"/>
              </a:rPr>
              <a:t> </a:t>
            </a:r>
            <a:r>
              <a:rPr lang="zh-CN" altLang="en-US" dirty="0">
                <a:ea typeface="宋体" panose="02010600030101010101" pitchFamily="2" charset="-122"/>
              </a:rPr>
              <a:t>网络释义 短语 </a:t>
            </a:r>
            <a:r>
              <a:rPr lang="en-US" altLang="zh-CN" dirty="0">
                <a:ea typeface="宋体" panose="02010600030101010101" pitchFamily="2" charset="-122"/>
              </a:rPr>
              <a:t>Minimum bounding </a:t>
            </a:r>
            <a:r>
              <a:rPr lang="en-US" altLang="zh-CN" i="1" u="sng" dirty="0">
                <a:ea typeface="宋体" panose="02010600030101010101" pitchFamily="2" charset="-122"/>
              </a:rPr>
              <a:t>rectangle</a:t>
            </a:r>
            <a:r>
              <a:rPr lang="en-US" altLang="zh-CN" dirty="0">
                <a:ea typeface="宋体" panose="02010600030101010101" pitchFamily="2" charset="-122"/>
              </a:rPr>
              <a:t> (</a:t>
            </a:r>
            <a:r>
              <a:rPr lang="en-US" altLang="zh-CN" i="1" u="sng" dirty="0">
                <a:ea typeface="宋体" panose="02010600030101010101" pitchFamily="2" charset="-122"/>
              </a:rPr>
              <a:t>MBR</a:t>
            </a:r>
            <a:r>
              <a:rPr lang="en-US" altLang="zh-CN" dirty="0">
                <a:ea typeface="宋体" panose="02010600030101010101" pitchFamily="2" charset="-122"/>
              </a:rPr>
              <a:t>) </a:t>
            </a:r>
            <a:r>
              <a:rPr lang="zh-CN" altLang="en-US" dirty="0">
                <a:ea typeface="宋体" panose="02010600030101010101" pitchFamily="2" charset="-122"/>
              </a:rPr>
              <a:t>最小外包矩形 </a:t>
            </a:r>
          </a:p>
          <a:p>
            <a:endParaRPr lang="zh-CN" altLang="en-US" dirty="0">
              <a:ea typeface="宋体" panose="02010600030101010101" pitchFamily="2" charset="-122"/>
            </a:endParaRPr>
          </a:p>
        </p:txBody>
      </p:sp>
    </p:spTree>
    <p:extLst>
      <p:ext uri="{BB962C8B-B14F-4D97-AF65-F5344CB8AC3E}">
        <p14:creationId xmlns:p14="http://schemas.microsoft.com/office/powerpoint/2010/main" val="3290350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a:t>
            </a:r>
            <a:r>
              <a:rPr lang="zh-CN" altLang="en-US" dirty="0"/>
              <a:t>月</a:t>
            </a:r>
            <a:r>
              <a:rPr lang="en-US" altLang="zh-CN" dirty="0"/>
              <a:t>25</a:t>
            </a:r>
            <a:r>
              <a:rPr lang="zh-CN" altLang="en-US" dirty="0"/>
              <a:t>日晚上</a:t>
            </a:r>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45</a:t>
            </a:fld>
            <a:endParaRPr lang="en-US" altLang="zh-CN"/>
          </a:p>
        </p:txBody>
      </p:sp>
    </p:spTree>
    <p:extLst>
      <p:ext uri="{BB962C8B-B14F-4D97-AF65-F5344CB8AC3E}">
        <p14:creationId xmlns:p14="http://schemas.microsoft.com/office/powerpoint/2010/main" val="7895437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宋体" panose="02010600030101010101" pitchFamily="2" charset="-122"/>
              </a:rPr>
              <a:t>SR</a:t>
            </a:r>
            <a:r>
              <a:rPr lang="zh-CN" altLang="en-US">
                <a:ea typeface="宋体" panose="02010600030101010101" pitchFamily="2" charset="-122"/>
              </a:rPr>
              <a:t>：空间关系； </a:t>
            </a:r>
            <a:r>
              <a:rPr lang="en-US" altLang="zh-CN">
                <a:ea typeface="宋体" panose="02010600030101010101" pitchFamily="2" charset="-122"/>
              </a:rPr>
              <a:t>TR</a:t>
            </a:r>
            <a:r>
              <a:rPr lang="zh-CN" altLang="en-US">
                <a:ea typeface="宋体" panose="02010600030101010101" pitchFamily="2" charset="-122"/>
              </a:rPr>
              <a:t>：时间关系。</a:t>
            </a:r>
            <a:endParaRPr lang="en-US" altLang="zh-CN">
              <a:ea typeface="宋体" panose="02010600030101010101" pitchFamily="2" charset="-122"/>
            </a:endParaRPr>
          </a:p>
        </p:txBody>
      </p:sp>
    </p:spTree>
    <p:extLst>
      <p:ext uri="{BB962C8B-B14F-4D97-AF65-F5344CB8AC3E}">
        <p14:creationId xmlns:p14="http://schemas.microsoft.com/office/powerpoint/2010/main" val="333822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49</a:t>
            </a:fld>
            <a:endParaRPr lang="en-US" altLang="zh-CN"/>
          </a:p>
        </p:txBody>
      </p:sp>
    </p:spTree>
    <p:extLst>
      <p:ext uri="{BB962C8B-B14F-4D97-AF65-F5344CB8AC3E}">
        <p14:creationId xmlns:p14="http://schemas.microsoft.com/office/powerpoint/2010/main" val="21252479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50</a:t>
            </a:fld>
            <a:endParaRPr lang="en-US" altLang="zh-CN"/>
          </a:p>
        </p:txBody>
      </p:sp>
    </p:spTree>
    <p:extLst>
      <p:ext uri="{BB962C8B-B14F-4D97-AF65-F5344CB8AC3E}">
        <p14:creationId xmlns:p14="http://schemas.microsoft.com/office/powerpoint/2010/main" val="42093002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51</a:t>
            </a:fld>
            <a:endParaRPr lang="en-US" altLang="zh-CN"/>
          </a:p>
        </p:txBody>
      </p:sp>
    </p:spTree>
    <p:extLst>
      <p:ext uri="{BB962C8B-B14F-4D97-AF65-F5344CB8AC3E}">
        <p14:creationId xmlns:p14="http://schemas.microsoft.com/office/powerpoint/2010/main" val="20154006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8E74174-B1D2-4AF2-B17D-268B1B507A84}" type="slidenum">
              <a:rPr lang="en-US" altLang="zh-CN"/>
              <a:pPr>
                <a:spcBef>
                  <a:spcPct val="0"/>
                </a:spcBef>
              </a:pPr>
              <a:t>53</a:t>
            </a:fld>
            <a:endParaRPr lang="en-US" altLang="zh-CN"/>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ea typeface="宋体" panose="02010600030101010101" pitchFamily="2" charset="-122"/>
              </a:rPr>
              <a:t>3</a:t>
            </a:r>
            <a:r>
              <a:rPr lang="zh-CN" altLang="en-US" dirty="0">
                <a:ea typeface="宋体" panose="02010600030101010101" pitchFamily="2" charset="-122"/>
              </a:rPr>
              <a:t>月</a:t>
            </a:r>
            <a:r>
              <a:rPr lang="en-US" altLang="zh-CN" dirty="0">
                <a:ea typeface="宋体" panose="02010600030101010101" pitchFamily="2" charset="-122"/>
              </a:rPr>
              <a:t>3</a:t>
            </a:r>
            <a:r>
              <a:rPr lang="zh-CN" altLang="en-US" dirty="0">
                <a:ea typeface="宋体" panose="02010600030101010101" pitchFamily="2" charset="-122"/>
              </a:rPr>
              <a:t>日</a:t>
            </a:r>
            <a:endParaRPr lang="en-US" altLang="zh-CN" dirty="0">
              <a:ea typeface="宋体" panose="02010600030101010101" pitchFamily="2" charset="-122"/>
            </a:endParaRPr>
          </a:p>
          <a:p>
            <a:pPr eaLnBrk="1" hangingPunct="1"/>
            <a:r>
              <a:rPr lang="zh-CN" altLang="en-US" dirty="0">
                <a:ea typeface="宋体" panose="02010600030101010101" pitchFamily="2" charset="-122"/>
              </a:rPr>
              <a:t>概念化：把具有共同特征的事物归为一类，而把不同特征的事物放在不同类中。</a:t>
            </a:r>
          </a:p>
          <a:p>
            <a:pPr eaLnBrk="1" hangingPunct="1"/>
            <a:r>
              <a:rPr lang="zh-CN" altLang="en-US" dirty="0">
                <a:ea typeface="宋体" panose="02010600030101010101" pitchFamily="2" charset="-122"/>
              </a:rPr>
              <a:t>地理实体通过概念化得到辨识，地理知识通过概念化得以概括和精简。</a:t>
            </a:r>
          </a:p>
          <a:p>
            <a:pPr eaLnBrk="1" hangingPunct="1"/>
            <a:r>
              <a:rPr lang="zh-CN" altLang="en-US" dirty="0">
                <a:ea typeface="宋体" panose="02010600030101010101" pitchFamily="2" charset="-122"/>
              </a:rPr>
              <a:t>地理概念化：是地理世界已知地理实体、实体属性和实体间关系的知识库，依据概念化知识记忆和理解地理世界。</a:t>
            </a:r>
          </a:p>
          <a:p>
            <a:pPr eaLnBrk="1" hangingPunct="1"/>
            <a:endParaRPr lang="en-US" altLang="zh-CN" dirty="0">
              <a:ea typeface="宋体" panose="02010600030101010101" pitchFamily="2" charset="-122"/>
            </a:endParaRPr>
          </a:p>
          <a:p>
            <a:pPr eaLnBrk="1" hangingPunct="1"/>
            <a:r>
              <a:rPr lang="zh-CN" altLang="en-US" dirty="0">
                <a:ea typeface="宋体" panose="02010600030101010101" pitchFamily="2" charset="-122"/>
              </a:rPr>
              <a:t>地理概念化与空间数据聚类具有密切联系。概念对应一个集合，对应一个类。</a:t>
            </a:r>
          </a:p>
        </p:txBody>
      </p:sp>
    </p:spTree>
    <p:extLst>
      <p:ext uri="{BB962C8B-B14F-4D97-AF65-F5344CB8AC3E}">
        <p14:creationId xmlns:p14="http://schemas.microsoft.com/office/powerpoint/2010/main" val="536198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54</a:t>
            </a:fld>
            <a:endParaRPr lang="en-US" altLang="zh-CN"/>
          </a:p>
        </p:txBody>
      </p:sp>
    </p:spTree>
    <p:extLst>
      <p:ext uri="{BB962C8B-B14F-4D97-AF65-F5344CB8AC3E}">
        <p14:creationId xmlns:p14="http://schemas.microsoft.com/office/powerpoint/2010/main" val="30856294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55</a:t>
            </a:fld>
            <a:endParaRPr lang="en-US" altLang="zh-CN"/>
          </a:p>
        </p:txBody>
      </p:sp>
    </p:spTree>
    <p:extLst>
      <p:ext uri="{BB962C8B-B14F-4D97-AF65-F5344CB8AC3E}">
        <p14:creationId xmlns:p14="http://schemas.microsoft.com/office/powerpoint/2010/main" val="104587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56</a:t>
            </a:fld>
            <a:endParaRPr lang="en-US" altLang="zh-CN"/>
          </a:p>
        </p:txBody>
      </p:sp>
    </p:spTree>
    <p:extLst>
      <p:ext uri="{BB962C8B-B14F-4D97-AF65-F5344CB8AC3E}">
        <p14:creationId xmlns:p14="http://schemas.microsoft.com/office/powerpoint/2010/main" val="14223317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57</a:t>
            </a:fld>
            <a:endParaRPr lang="en-US" altLang="zh-CN"/>
          </a:p>
        </p:txBody>
      </p:sp>
    </p:spTree>
    <p:extLst>
      <p:ext uri="{BB962C8B-B14F-4D97-AF65-F5344CB8AC3E}">
        <p14:creationId xmlns:p14="http://schemas.microsoft.com/office/powerpoint/2010/main" val="2628906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58</a:t>
            </a:fld>
            <a:endParaRPr lang="en-US" altLang="zh-CN"/>
          </a:p>
        </p:txBody>
      </p:sp>
    </p:spTree>
    <p:extLst>
      <p:ext uri="{BB962C8B-B14F-4D97-AF65-F5344CB8AC3E}">
        <p14:creationId xmlns:p14="http://schemas.microsoft.com/office/powerpoint/2010/main" val="3196255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59</a:t>
            </a:fld>
            <a:endParaRPr lang="en-US" altLang="zh-CN"/>
          </a:p>
        </p:txBody>
      </p:sp>
    </p:spTree>
    <p:extLst>
      <p:ext uri="{BB962C8B-B14F-4D97-AF65-F5344CB8AC3E}">
        <p14:creationId xmlns:p14="http://schemas.microsoft.com/office/powerpoint/2010/main" val="3520426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60</a:t>
            </a:fld>
            <a:endParaRPr lang="en-US" altLang="zh-CN"/>
          </a:p>
        </p:txBody>
      </p:sp>
    </p:spTree>
    <p:extLst>
      <p:ext uri="{BB962C8B-B14F-4D97-AF65-F5344CB8AC3E}">
        <p14:creationId xmlns:p14="http://schemas.microsoft.com/office/powerpoint/2010/main" val="41909087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61</a:t>
            </a:fld>
            <a:endParaRPr lang="en-US" altLang="zh-CN"/>
          </a:p>
        </p:txBody>
      </p:sp>
    </p:spTree>
    <p:extLst>
      <p:ext uri="{BB962C8B-B14F-4D97-AF65-F5344CB8AC3E}">
        <p14:creationId xmlns:p14="http://schemas.microsoft.com/office/powerpoint/2010/main" val="21041423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63</a:t>
            </a:fld>
            <a:endParaRPr lang="en-US" altLang="zh-CN"/>
          </a:p>
        </p:txBody>
      </p:sp>
    </p:spTree>
    <p:extLst>
      <p:ext uri="{BB962C8B-B14F-4D97-AF65-F5344CB8AC3E}">
        <p14:creationId xmlns:p14="http://schemas.microsoft.com/office/powerpoint/2010/main" val="16494465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骰子（</a:t>
            </a:r>
            <a:r>
              <a:rPr lang="en-US" altLang="zh-CN" dirty="0" err="1"/>
              <a:t>tóu</a:t>
            </a:r>
            <a:r>
              <a:rPr lang="en-US" altLang="zh-CN" dirty="0"/>
              <a:t> </a:t>
            </a:r>
            <a:r>
              <a:rPr lang="en-US" altLang="zh-CN" dirty="0" err="1"/>
              <a:t>zi</a:t>
            </a:r>
            <a:r>
              <a:rPr lang="zh-CN" altLang="en-US" dirty="0"/>
              <a:t>），北方的很多的地区又叫色子</a:t>
            </a:r>
            <a:r>
              <a:rPr lang="en-US" altLang="zh-CN" dirty="0"/>
              <a:t>(</a:t>
            </a:r>
            <a:r>
              <a:rPr lang="en-US" altLang="zh-CN" dirty="0" err="1"/>
              <a:t>shǎi</a:t>
            </a:r>
            <a:r>
              <a:rPr lang="en-US" altLang="zh-CN" dirty="0"/>
              <a:t> </a:t>
            </a:r>
            <a:r>
              <a:rPr lang="en-US" altLang="zh-CN" dirty="0" err="1"/>
              <a:t>zi</a:t>
            </a:r>
            <a:r>
              <a:rPr lang="en-US" altLang="zh-CN" dirty="0"/>
              <a:t>)</a:t>
            </a:r>
            <a:endParaRPr lang="zh-CN" altLang="en-US" dirty="0"/>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64</a:t>
            </a:fld>
            <a:endParaRPr lang="en-US" altLang="zh-CN"/>
          </a:p>
        </p:txBody>
      </p:sp>
    </p:spTree>
    <p:extLst>
      <p:ext uri="{BB962C8B-B14F-4D97-AF65-F5344CB8AC3E}">
        <p14:creationId xmlns:p14="http://schemas.microsoft.com/office/powerpoint/2010/main" val="25458422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65</a:t>
            </a:fld>
            <a:endParaRPr lang="en-US" altLang="zh-CN"/>
          </a:p>
        </p:txBody>
      </p:sp>
    </p:spTree>
    <p:extLst>
      <p:ext uri="{BB962C8B-B14F-4D97-AF65-F5344CB8AC3E}">
        <p14:creationId xmlns:p14="http://schemas.microsoft.com/office/powerpoint/2010/main" val="3528782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20170508</a:t>
            </a:r>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66</a:t>
            </a:fld>
            <a:endParaRPr lang="en-US" altLang="zh-CN"/>
          </a:p>
        </p:txBody>
      </p:sp>
    </p:spTree>
    <p:extLst>
      <p:ext uri="{BB962C8B-B14F-4D97-AF65-F5344CB8AC3E}">
        <p14:creationId xmlns:p14="http://schemas.microsoft.com/office/powerpoint/2010/main" val="2537998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67</a:t>
            </a:fld>
            <a:endParaRPr lang="en-US" altLang="zh-CN"/>
          </a:p>
        </p:txBody>
      </p:sp>
    </p:spTree>
    <p:extLst>
      <p:ext uri="{BB962C8B-B14F-4D97-AF65-F5344CB8AC3E}">
        <p14:creationId xmlns:p14="http://schemas.microsoft.com/office/powerpoint/2010/main" val="4137812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68</a:t>
            </a:fld>
            <a:endParaRPr lang="en-US" altLang="zh-CN"/>
          </a:p>
        </p:txBody>
      </p:sp>
    </p:spTree>
    <p:extLst>
      <p:ext uri="{BB962C8B-B14F-4D97-AF65-F5344CB8AC3E}">
        <p14:creationId xmlns:p14="http://schemas.microsoft.com/office/powerpoint/2010/main" val="17149882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69</a:t>
            </a:fld>
            <a:endParaRPr lang="en-US" altLang="zh-CN"/>
          </a:p>
        </p:txBody>
      </p:sp>
    </p:spTree>
    <p:extLst>
      <p:ext uri="{BB962C8B-B14F-4D97-AF65-F5344CB8AC3E}">
        <p14:creationId xmlns:p14="http://schemas.microsoft.com/office/powerpoint/2010/main" val="19352951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70</a:t>
            </a:fld>
            <a:endParaRPr lang="en-US" altLang="zh-CN"/>
          </a:p>
        </p:txBody>
      </p:sp>
    </p:spTree>
    <p:extLst>
      <p:ext uri="{BB962C8B-B14F-4D97-AF65-F5344CB8AC3E}">
        <p14:creationId xmlns:p14="http://schemas.microsoft.com/office/powerpoint/2010/main" val="3160424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F9C3DD9-8F23-4F2B-AE83-37B68B8A7F9A}" type="slidenum">
              <a:rPr lang="en-US" altLang="zh-CN" smtClean="0"/>
              <a:pPr>
                <a:defRPr/>
              </a:pPr>
              <a:t>72</a:t>
            </a:fld>
            <a:endParaRPr lang="en-US" altLang="zh-CN"/>
          </a:p>
        </p:txBody>
      </p:sp>
    </p:spTree>
    <p:extLst>
      <p:ext uri="{BB962C8B-B14F-4D97-AF65-F5344CB8AC3E}">
        <p14:creationId xmlns:p14="http://schemas.microsoft.com/office/powerpoint/2010/main" val="27949029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bg1"/>
          <p:cNvPicPr>
            <a:picLocks noChangeAspect="1" noChangeArrowheads="1"/>
          </p:cNvPicPr>
          <p:nvPr/>
        </p:nvPicPr>
        <p:blipFill>
          <a:blip r:embed="rId2">
            <a:lum bright="-12000"/>
            <a:extLst>
              <a:ext uri="{28A0092B-C50C-407E-A947-70E740481C1C}">
                <a14:useLocalDpi xmlns:a14="http://schemas.microsoft.com/office/drawing/2010/main" val="0"/>
              </a:ext>
            </a:extLst>
          </a:blip>
          <a:srcRect/>
          <a:stretch>
            <a:fillRect/>
          </a:stretch>
        </p:blipFill>
        <p:spPr bwMode="auto">
          <a:xfrm>
            <a:off x="-36513" y="0"/>
            <a:ext cx="91805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p:nvPr>
        </p:nvSpPr>
        <p:spPr>
          <a:xfrm>
            <a:off x="468313" y="2041525"/>
            <a:ext cx="8207375" cy="1679575"/>
          </a:xfrm>
        </p:spPr>
        <p:txBody>
          <a:bodyPr>
            <a:spAutoFit/>
          </a:bodyPr>
          <a:lstStyle>
            <a:lvl1pPr marL="0" algn="ctr">
              <a:defRPr sz="4600">
                <a:solidFill>
                  <a:schemeClr val="tx1"/>
                </a:solidFill>
              </a:defRPr>
            </a:lvl1pPr>
          </a:lstStyle>
          <a:p>
            <a:r>
              <a:rPr lang="zh-CN" altLang="en-US"/>
              <a:t>主标题文本样式：黑体</a:t>
            </a:r>
            <a:r>
              <a:rPr lang="en-US" altLang="zh-CN"/>
              <a:t>/34</a:t>
            </a:r>
            <a:r>
              <a:rPr lang="zh-CN" altLang="en-US"/>
              <a:t>号  </a:t>
            </a:r>
            <a:r>
              <a:rPr lang="en-US" altLang="zh-CN"/>
              <a:t>Arial/34pt</a:t>
            </a:r>
          </a:p>
        </p:txBody>
      </p:sp>
      <p:sp>
        <p:nvSpPr>
          <p:cNvPr id="80900" name="Rectangle 4"/>
          <p:cNvSpPr>
            <a:spLocks noGrp="1" noChangeArrowheads="1"/>
          </p:cNvSpPr>
          <p:nvPr>
            <p:ph type="subTitle" idx="1"/>
          </p:nvPr>
        </p:nvSpPr>
        <p:spPr>
          <a:xfrm>
            <a:off x="468313" y="4221163"/>
            <a:ext cx="8207375" cy="601662"/>
          </a:xfrm>
        </p:spPr>
        <p:txBody>
          <a:bodyPr/>
          <a:lstStyle>
            <a:lvl1pPr marL="0" indent="0" algn="ctr">
              <a:spcBef>
                <a:spcPct val="0"/>
              </a:spcBef>
              <a:buFont typeface="Wingdings" pitchFamily="2" charset="2"/>
              <a:buNone/>
              <a:defRPr b="0">
                <a:solidFill>
                  <a:schemeClr val="tx2"/>
                </a:solidFill>
              </a:defRPr>
            </a:lvl1pPr>
          </a:lstStyle>
          <a:p>
            <a:r>
              <a:rPr lang="zh-CN" altLang="en-US"/>
              <a:t>副标题文本样式：华文细黑</a:t>
            </a:r>
            <a:r>
              <a:rPr lang="en-US" altLang="zh-CN"/>
              <a:t>/18</a:t>
            </a:r>
            <a:r>
              <a:rPr lang="zh-CN" altLang="en-US"/>
              <a:t>号  </a:t>
            </a:r>
            <a:r>
              <a:rPr lang="en-US" altLang="zh-CN"/>
              <a:t>Arial/18pt</a:t>
            </a:r>
          </a:p>
        </p:txBody>
      </p:sp>
    </p:spTree>
    <p:extLst>
      <p:ext uri="{BB962C8B-B14F-4D97-AF65-F5344CB8AC3E}">
        <p14:creationId xmlns:p14="http://schemas.microsoft.com/office/powerpoint/2010/main" val="139067134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a:ln/>
        </p:spPr>
        <p:txBody>
          <a:bodyPr/>
          <a:lstStyle>
            <a:lvl1pPr>
              <a:defRPr/>
            </a:lvl1pPr>
          </a:lstStyle>
          <a:p>
            <a:pPr>
              <a:defRPr/>
            </a:pPr>
            <a:fld id="{F2022BCA-CEF6-49A1-BA1D-26724DAA5E0F}" type="slidenum">
              <a:rPr lang="zh-CN" altLang="en-US"/>
              <a:pPr>
                <a:defRPr/>
              </a:pPr>
              <a:t>‹#›</a:t>
            </a:fld>
            <a:endParaRPr lang="en-US" altLang="zh-CN"/>
          </a:p>
        </p:txBody>
      </p:sp>
    </p:spTree>
    <p:extLst>
      <p:ext uri="{BB962C8B-B14F-4D97-AF65-F5344CB8AC3E}">
        <p14:creationId xmlns:p14="http://schemas.microsoft.com/office/powerpoint/2010/main" val="50535688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FFB017E2-A819-45B0-ADA2-5E7883AB44A0}" type="slidenum">
              <a:rPr lang="zh-CN" altLang="en-US"/>
              <a:pPr>
                <a:defRPr/>
              </a:pPr>
              <a:t>‹#›</a:t>
            </a:fld>
            <a:endParaRPr lang="en-US" altLang="zh-CN"/>
          </a:p>
        </p:txBody>
      </p:sp>
    </p:spTree>
    <p:extLst>
      <p:ext uri="{BB962C8B-B14F-4D97-AF65-F5344CB8AC3E}">
        <p14:creationId xmlns:p14="http://schemas.microsoft.com/office/powerpoint/2010/main" val="140577511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8"/>
          <p:cNvSpPr>
            <a:spLocks noGrp="1" noChangeArrowheads="1"/>
          </p:cNvSpPr>
          <p:nvPr>
            <p:ph type="dt" sz="half" idx="10"/>
          </p:nvPr>
        </p:nvSpPr>
        <p:spPr>
          <a:xfrm>
            <a:off x="685800" y="6172200"/>
            <a:ext cx="1905000" cy="457200"/>
          </a:xfrm>
          <a:prstGeom prst="rect">
            <a:avLst/>
          </a:prstGeom>
          <a:ln/>
        </p:spPr>
        <p:txBody>
          <a:bodyPr/>
          <a:lstStyle>
            <a:lvl1pPr>
              <a:defRPr/>
            </a:lvl1pPr>
          </a:lstStyle>
          <a:p>
            <a:pPr>
              <a:defRPr/>
            </a:pPr>
            <a:endParaRPr lang="en-US" altLang="zh-CN"/>
          </a:p>
        </p:txBody>
      </p:sp>
      <p:sp>
        <p:nvSpPr>
          <p:cNvPr id="4" name="Rectangle 9"/>
          <p:cNvSpPr>
            <a:spLocks noGrp="1" noChangeArrowheads="1"/>
          </p:cNvSpPr>
          <p:nvPr>
            <p:ph type="ftr" sz="quarter" idx="11"/>
          </p:nvPr>
        </p:nvSpPr>
        <p:spPr>
          <a:xfrm>
            <a:off x="3124200" y="6172200"/>
            <a:ext cx="2895600" cy="457200"/>
          </a:xfrm>
          <a:prstGeom prst="rect">
            <a:avLst/>
          </a:prstGeom>
          <a:ln/>
        </p:spPr>
        <p:txBody>
          <a:bodyPr/>
          <a:lstStyle>
            <a:lvl1pPr>
              <a:defRPr/>
            </a:lvl1pPr>
          </a:lstStyle>
          <a:p>
            <a:pPr>
              <a:defRPr/>
            </a:pPr>
            <a:endParaRPr lang="en-US" altLang="zh-CN"/>
          </a:p>
        </p:txBody>
      </p:sp>
      <p:sp>
        <p:nvSpPr>
          <p:cNvPr id="5" name="Rectangle 10"/>
          <p:cNvSpPr>
            <a:spLocks noGrp="1" noChangeArrowheads="1"/>
          </p:cNvSpPr>
          <p:nvPr>
            <p:ph type="sldNum" sz="quarter" idx="12"/>
          </p:nvPr>
        </p:nvSpPr>
        <p:spPr>
          <a:ln/>
        </p:spPr>
        <p:txBody>
          <a:bodyPr/>
          <a:lstStyle>
            <a:lvl1pPr>
              <a:defRPr/>
            </a:lvl1pPr>
          </a:lstStyle>
          <a:p>
            <a:pPr>
              <a:defRPr/>
            </a:pPr>
            <a:fld id="{3636DDEE-37EB-435D-95C8-A4172B1111CA}" type="slidenum">
              <a:rPr lang="en-US" altLang="zh-CN"/>
              <a:pPr>
                <a:defRPr/>
              </a:pPr>
              <a:t>‹#›</a:t>
            </a:fld>
            <a:endParaRPr lang="en-US" altLang="zh-CN"/>
          </a:p>
        </p:txBody>
      </p:sp>
    </p:spTree>
    <p:extLst>
      <p:ext uri="{BB962C8B-B14F-4D97-AF65-F5344CB8AC3E}">
        <p14:creationId xmlns:p14="http://schemas.microsoft.com/office/powerpoint/2010/main" val="2505539314"/>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bg4-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0" y="115888"/>
            <a:ext cx="867568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1" tIns="45716" rIns="91431" bIns="45716" numCol="1" anchor="ctr" anchorCtr="0" compatLnSpc="1">
            <a:prstTxWarp prst="textNoShape">
              <a:avLst/>
            </a:prstTxWarp>
          </a:bodyPr>
          <a:lstStyle/>
          <a:p>
            <a:pPr lvl="0"/>
            <a:r>
              <a:rPr lang="zh-CN" altLang="en-US"/>
              <a:t>标题文本样式：黑体</a:t>
            </a:r>
            <a:r>
              <a:rPr lang="en-US" altLang="zh-CN"/>
              <a:t>/26</a:t>
            </a:r>
            <a:r>
              <a:rPr lang="zh-CN" altLang="en-US"/>
              <a:t>号  </a:t>
            </a:r>
            <a:r>
              <a:rPr lang="en-US" altLang="zh-CN"/>
              <a:t>Arial/26pt</a:t>
            </a:r>
          </a:p>
        </p:txBody>
      </p:sp>
      <p:sp>
        <p:nvSpPr>
          <p:cNvPr id="1028" name="Rectangle 4"/>
          <p:cNvSpPr>
            <a:spLocks noGrp="1" noChangeArrowheads="1"/>
          </p:cNvSpPr>
          <p:nvPr>
            <p:ph type="body" idx="1"/>
          </p:nvPr>
        </p:nvSpPr>
        <p:spPr bwMode="auto">
          <a:xfrm>
            <a:off x="468313" y="1196975"/>
            <a:ext cx="8207375"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1" tIns="45716" rIns="91431" bIns="45716" numCol="1" anchor="t" anchorCtr="0" compatLnSpc="1">
            <a:prstTxWarp prst="textNoShape">
              <a:avLst/>
            </a:prstTxWarp>
            <a:spAutoFit/>
          </a:bodyPr>
          <a:lstStyle/>
          <a:p>
            <a:pPr lvl="0"/>
            <a:r>
              <a:rPr lang="zh-CN" altLang="en-US"/>
              <a:t>第一级内容文本样式：黑体</a:t>
            </a:r>
            <a:r>
              <a:rPr lang="en-US" altLang="zh-CN"/>
              <a:t>/20</a:t>
            </a:r>
            <a:r>
              <a:rPr lang="zh-CN" altLang="en-US"/>
              <a:t>号  </a:t>
            </a:r>
            <a:r>
              <a:rPr lang="en-US" altLang="zh-CN"/>
              <a:t>Arial/20pt</a:t>
            </a:r>
          </a:p>
          <a:p>
            <a:pPr lvl="1"/>
            <a:r>
              <a:rPr lang="zh-CN" altLang="en-US"/>
              <a:t>第二级内容文本样式：华文细黑</a:t>
            </a:r>
            <a:r>
              <a:rPr lang="en-US" altLang="zh-CN"/>
              <a:t>/18</a:t>
            </a:r>
            <a:r>
              <a:rPr lang="zh-CN" altLang="en-US"/>
              <a:t>号  </a:t>
            </a:r>
            <a:r>
              <a:rPr lang="en-US" altLang="zh-CN"/>
              <a:t>Arial/18pt</a:t>
            </a:r>
          </a:p>
          <a:p>
            <a:pPr lvl="2"/>
            <a:r>
              <a:rPr lang="zh-CN" altLang="en-US"/>
              <a:t>第三级内容文本样式：华文细黑</a:t>
            </a:r>
            <a:r>
              <a:rPr lang="en-US" altLang="zh-CN"/>
              <a:t>/16</a:t>
            </a:r>
            <a:r>
              <a:rPr lang="zh-CN" altLang="en-US"/>
              <a:t>号  </a:t>
            </a:r>
            <a:r>
              <a:rPr lang="en-US" altLang="zh-CN"/>
              <a:t>Arial/16pt</a:t>
            </a:r>
          </a:p>
          <a:p>
            <a:pPr lvl="3"/>
            <a:r>
              <a:rPr lang="zh-CN" altLang="en-US"/>
              <a:t>第四级内容文本样式：华文细黑</a:t>
            </a:r>
            <a:r>
              <a:rPr lang="en-US" altLang="zh-CN"/>
              <a:t>/14</a:t>
            </a:r>
            <a:r>
              <a:rPr lang="zh-CN" altLang="en-US"/>
              <a:t>号  </a:t>
            </a:r>
            <a:r>
              <a:rPr lang="en-US" altLang="zh-CN"/>
              <a:t>Arial/14pt</a:t>
            </a:r>
          </a:p>
          <a:p>
            <a:pPr lvl="4"/>
            <a:r>
              <a:rPr lang="zh-CN" altLang="en-US"/>
              <a:t>第五级内容文本样式：华文细黑</a:t>
            </a:r>
            <a:r>
              <a:rPr lang="en-US" altLang="zh-CN"/>
              <a:t>/12</a:t>
            </a:r>
            <a:r>
              <a:rPr lang="zh-CN" altLang="en-US"/>
              <a:t>号  </a:t>
            </a:r>
            <a:r>
              <a:rPr lang="en-US" altLang="zh-CN"/>
              <a:t>Arial/12pt</a:t>
            </a:r>
          </a:p>
        </p:txBody>
      </p:sp>
      <p:sp>
        <p:nvSpPr>
          <p:cNvPr id="79877" name="Rectangle 5"/>
          <p:cNvSpPr>
            <a:spLocks noGrp="1" noChangeArrowheads="1"/>
          </p:cNvSpPr>
          <p:nvPr>
            <p:ph type="sldNum" sz="quarter" idx="4"/>
          </p:nvPr>
        </p:nvSpPr>
        <p:spPr bwMode="auto">
          <a:xfrm>
            <a:off x="6974904" y="6600651"/>
            <a:ext cx="2133600" cy="212725"/>
          </a:xfrm>
          <a:prstGeom prst="rect">
            <a:avLst/>
          </a:prstGeom>
          <a:noFill/>
          <a:ln w="9525">
            <a:noFill/>
            <a:miter lim="800000"/>
            <a:headEnd/>
            <a:tailEnd/>
          </a:ln>
          <a:effectLst/>
        </p:spPr>
        <p:txBody>
          <a:bodyPr vert="horz" wrap="square" lIns="91431" tIns="45716" rIns="91431" bIns="45716" numCol="1" anchor="t" anchorCtr="0" compatLnSpc="1">
            <a:prstTxWarp prst="textNoShape">
              <a:avLst/>
            </a:prstTxWarp>
          </a:bodyPr>
          <a:lstStyle>
            <a:lvl1pPr algn="r">
              <a:defRPr sz="1000">
                <a:solidFill>
                  <a:schemeClr val="tx1"/>
                </a:solidFill>
                <a:latin typeface="+mn-lt"/>
                <a:ea typeface="微软雅黑" pitchFamily="34" charset="-122"/>
              </a:defRPr>
            </a:lvl1pPr>
          </a:lstStyle>
          <a:p>
            <a:pPr>
              <a:defRPr/>
            </a:pPr>
            <a:r>
              <a:rPr lang="zh-CN" altLang="en-US"/>
              <a:t>第 </a:t>
            </a:r>
            <a:fld id="{8F76A9B2-DD45-4D33-8DB1-6314D7AF9863}" type="slidenum">
              <a:rPr lang="zh-CN" altLang="en-US"/>
              <a:pPr>
                <a:defRPr/>
              </a:pPr>
              <a:t>‹#›</a:t>
            </a:fld>
            <a:r>
              <a:rPr lang="en-US" altLang="zh-CN"/>
              <a:t> </a:t>
            </a:r>
            <a:r>
              <a:rPr lang="zh-CN" altLang="en-US"/>
              <a:t>页</a:t>
            </a:r>
          </a:p>
        </p:txBody>
      </p:sp>
    </p:spTree>
  </p:cSld>
  <p:clrMap bg1="dk2" tx1="lt1" bg2="dk1" tx2="lt2" accent1="accent1" accent2="accent2" accent3="accent3" accent4="accent4" accent5="accent5" accent6="accent6" hlink="hlink" folHlink="folHlink"/>
  <p:sldLayoutIdLst>
    <p:sldLayoutId id="2147484594" r:id="rId1"/>
  </p:sldLayoutIdLst>
  <p:transition/>
  <p:hf hdr="0" ftr="0" dt="0"/>
  <p:txStyles>
    <p:titleStyle>
      <a:lvl1pPr marL="361950" indent="-361950" algn="l" rtl="0" eaLnBrk="0" fontAlgn="base" hangingPunct="0">
        <a:spcBef>
          <a:spcPct val="0"/>
        </a:spcBef>
        <a:spcAft>
          <a:spcPct val="0"/>
        </a:spcAft>
        <a:defRPr sz="2800" b="1">
          <a:solidFill>
            <a:schemeClr val="tx2"/>
          </a:solidFill>
          <a:latin typeface="+mj-lt"/>
          <a:ea typeface="+mj-ea"/>
          <a:cs typeface="+mj-cs"/>
        </a:defRPr>
      </a:lvl1pPr>
      <a:lvl2pPr marL="361950" indent="-361950" algn="l" rtl="0" eaLnBrk="0" fontAlgn="base" hangingPunct="0">
        <a:spcBef>
          <a:spcPct val="0"/>
        </a:spcBef>
        <a:spcAft>
          <a:spcPct val="0"/>
        </a:spcAft>
        <a:defRPr sz="2800" b="1">
          <a:solidFill>
            <a:schemeClr val="tx2"/>
          </a:solidFill>
          <a:latin typeface="微软雅黑" pitchFamily="34" charset="-122"/>
          <a:ea typeface="宋体" pitchFamily="2" charset="-122"/>
        </a:defRPr>
      </a:lvl2pPr>
      <a:lvl3pPr marL="361950" indent="-361950" algn="l" rtl="0" eaLnBrk="0" fontAlgn="base" hangingPunct="0">
        <a:spcBef>
          <a:spcPct val="0"/>
        </a:spcBef>
        <a:spcAft>
          <a:spcPct val="0"/>
        </a:spcAft>
        <a:defRPr sz="2800" b="1">
          <a:solidFill>
            <a:schemeClr val="tx2"/>
          </a:solidFill>
          <a:latin typeface="微软雅黑" pitchFamily="34" charset="-122"/>
          <a:ea typeface="宋体" pitchFamily="2" charset="-122"/>
        </a:defRPr>
      </a:lvl3pPr>
      <a:lvl4pPr marL="361950" indent="-361950" algn="l" rtl="0" eaLnBrk="0" fontAlgn="base" hangingPunct="0">
        <a:spcBef>
          <a:spcPct val="0"/>
        </a:spcBef>
        <a:spcAft>
          <a:spcPct val="0"/>
        </a:spcAft>
        <a:defRPr sz="2800" b="1">
          <a:solidFill>
            <a:schemeClr val="tx2"/>
          </a:solidFill>
          <a:latin typeface="微软雅黑" pitchFamily="34" charset="-122"/>
          <a:ea typeface="宋体" pitchFamily="2" charset="-122"/>
        </a:defRPr>
      </a:lvl4pPr>
      <a:lvl5pPr marL="361950" indent="-361950" algn="l" rtl="0" eaLnBrk="0" fontAlgn="base" hangingPunct="0">
        <a:spcBef>
          <a:spcPct val="0"/>
        </a:spcBef>
        <a:spcAft>
          <a:spcPct val="0"/>
        </a:spcAft>
        <a:defRPr sz="2800" b="1">
          <a:solidFill>
            <a:schemeClr val="tx2"/>
          </a:solidFill>
          <a:latin typeface="微软雅黑" pitchFamily="34" charset="-122"/>
          <a:ea typeface="宋体" pitchFamily="2" charset="-122"/>
        </a:defRPr>
      </a:lvl5pPr>
      <a:lvl6pPr marL="819150" algn="l" rtl="0" fontAlgn="base">
        <a:spcBef>
          <a:spcPct val="0"/>
        </a:spcBef>
        <a:spcAft>
          <a:spcPct val="0"/>
        </a:spcAft>
        <a:defRPr sz="2800" b="1">
          <a:solidFill>
            <a:schemeClr val="tx2"/>
          </a:solidFill>
          <a:latin typeface="微软雅黑" pitchFamily="34" charset="-122"/>
          <a:ea typeface="宋体" pitchFamily="2" charset="-122"/>
        </a:defRPr>
      </a:lvl6pPr>
      <a:lvl7pPr marL="1276350" algn="l" rtl="0" fontAlgn="base">
        <a:spcBef>
          <a:spcPct val="0"/>
        </a:spcBef>
        <a:spcAft>
          <a:spcPct val="0"/>
        </a:spcAft>
        <a:defRPr sz="2800" b="1">
          <a:solidFill>
            <a:schemeClr val="tx2"/>
          </a:solidFill>
          <a:latin typeface="微软雅黑" pitchFamily="34" charset="-122"/>
          <a:ea typeface="宋体" pitchFamily="2" charset="-122"/>
        </a:defRPr>
      </a:lvl7pPr>
      <a:lvl8pPr marL="1733550" algn="l" rtl="0" fontAlgn="base">
        <a:spcBef>
          <a:spcPct val="0"/>
        </a:spcBef>
        <a:spcAft>
          <a:spcPct val="0"/>
        </a:spcAft>
        <a:defRPr sz="2800" b="1">
          <a:solidFill>
            <a:schemeClr val="tx2"/>
          </a:solidFill>
          <a:latin typeface="微软雅黑" pitchFamily="34" charset="-122"/>
          <a:ea typeface="宋体" pitchFamily="2" charset="-122"/>
        </a:defRPr>
      </a:lvl8pPr>
      <a:lvl9pPr marL="2190750" algn="l" rtl="0" fontAlgn="base">
        <a:spcBef>
          <a:spcPct val="0"/>
        </a:spcBef>
        <a:spcAft>
          <a:spcPct val="0"/>
        </a:spcAft>
        <a:defRPr sz="2800" b="1">
          <a:solidFill>
            <a:schemeClr val="tx2"/>
          </a:solidFill>
          <a:latin typeface="微软雅黑" pitchFamily="34" charset="-122"/>
          <a:ea typeface="宋体" pitchFamily="2" charset="-122"/>
        </a:defRPr>
      </a:lvl9pPr>
    </p:titleStyle>
    <p:bodyStyle>
      <a:lvl1pPr marL="180975" indent="-180975" algn="l" rtl="0" eaLnBrk="0" fontAlgn="ctr" hangingPunct="0">
        <a:lnSpc>
          <a:spcPct val="120000"/>
        </a:lnSpc>
        <a:spcBef>
          <a:spcPct val="20000"/>
        </a:spcBef>
        <a:spcAft>
          <a:spcPct val="0"/>
        </a:spcAft>
        <a:buClr>
          <a:schemeClr val="tx1"/>
        </a:buClr>
        <a:buSzPct val="60000"/>
        <a:buFont typeface="Wingdings" pitchFamily="2" charset="2"/>
        <a:buChar char="n"/>
        <a:defRPr sz="2400" b="1">
          <a:solidFill>
            <a:schemeClr val="tx1"/>
          </a:solidFill>
          <a:latin typeface="+mn-lt"/>
          <a:ea typeface="+mn-ea"/>
          <a:cs typeface="+mn-cs"/>
        </a:defRPr>
      </a:lvl1pPr>
      <a:lvl2pPr marL="541338" indent="-180975" algn="l" rtl="0" eaLnBrk="0" fontAlgn="ctr" hangingPunct="0">
        <a:lnSpc>
          <a:spcPct val="120000"/>
        </a:lnSpc>
        <a:spcBef>
          <a:spcPct val="20000"/>
        </a:spcBef>
        <a:spcAft>
          <a:spcPct val="0"/>
        </a:spcAft>
        <a:buClr>
          <a:schemeClr val="tx1"/>
        </a:buClr>
        <a:buSzPct val="60000"/>
        <a:buFont typeface="Wingdings" pitchFamily="2" charset="2"/>
        <a:buChar char="n"/>
        <a:defRPr sz="2000">
          <a:solidFill>
            <a:schemeClr val="tx1"/>
          </a:solidFill>
          <a:latin typeface="+mn-lt"/>
          <a:ea typeface="+mn-ea"/>
        </a:defRPr>
      </a:lvl2pPr>
      <a:lvl3pPr marL="895350" indent="-174625" algn="l" rtl="0" eaLnBrk="0" fontAlgn="ctr" hangingPunct="0">
        <a:lnSpc>
          <a:spcPct val="120000"/>
        </a:lnSpc>
        <a:spcBef>
          <a:spcPct val="20000"/>
        </a:spcBef>
        <a:spcAft>
          <a:spcPct val="0"/>
        </a:spcAft>
        <a:buClr>
          <a:schemeClr val="tx1"/>
        </a:buClr>
        <a:buSzPct val="60000"/>
        <a:buFont typeface="Wingdings" pitchFamily="2" charset="2"/>
        <a:buChar char="n"/>
        <a:defRPr sz="2400">
          <a:solidFill>
            <a:schemeClr val="tx1"/>
          </a:solidFill>
          <a:latin typeface="+mn-lt"/>
          <a:ea typeface="+mn-ea"/>
        </a:defRPr>
      </a:lvl3pPr>
      <a:lvl4pPr marL="1255713" indent="-180975" algn="l" rtl="0" eaLnBrk="0" fontAlgn="ctr" hangingPunct="0">
        <a:lnSpc>
          <a:spcPct val="120000"/>
        </a:lnSpc>
        <a:spcBef>
          <a:spcPct val="20000"/>
        </a:spcBef>
        <a:spcAft>
          <a:spcPct val="0"/>
        </a:spcAft>
        <a:buClr>
          <a:schemeClr val="tx1"/>
        </a:buClr>
        <a:buSzPct val="60000"/>
        <a:buFont typeface="Wingdings" pitchFamily="2" charset="2"/>
        <a:buChar char="n"/>
        <a:defRPr sz="1600">
          <a:solidFill>
            <a:schemeClr val="tx1"/>
          </a:solidFill>
          <a:latin typeface="+mn-lt"/>
          <a:ea typeface="+mn-ea"/>
        </a:defRPr>
      </a:lvl4pPr>
      <a:lvl5pPr marL="1619250" indent="-184150" algn="l" rtl="0" eaLnBrk="0" fontAlgn="ctr" hangingPunct="0">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5pPr>
      <a:lvl6pPr marL="2076450" indent="-184150" algn="l" rtl="0" fontAlgn="ctr">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6pPr>
      <a:lvl7pPr marL="2533650" indent="-184150" algn="l" rtl="0" fontAlgn="ctr">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7pPr>
      <a:lvl8pPr marL="2990850" indent="-184150" algn="l" rtl="0" fontAlgn="ctr">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8pPr>
      <a:lvl9pPr marL="3448050" indent="-184150" algn="l" rtl="0" fontAlgn="ctr">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 descr="bg3-L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2413" cy="685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5"/>
          <p:cNvSpPr>
            <a:spLocks noGrp="1" noChangeArrowheads="1"/>
          </p:cNvSpPr>
          <p:nvPr>
            <p:ph type="sldNum" sz="quarter" idx="4"/>
          </p:nvPr>
        </p:nvSpPr>
        <p:spPr bwMode="auto">
          <a:xfrm>
            <a:off x="6975475"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solidFill>
                  <a:schemeClr val="tx1"/>
                </a:solidFill>
                <a:latin typeface="Arial" pitchFamily="34" charset="0"/>
                <a:ea typeface="宋体" pitchFamily="2" charset="-122"/>
              </a:defRPr>
            </a:lvl1pPr>
          </a:lstStyle>
          <a:p>
            <a:pPr>
              <a:defRPr/>
            </a:pPr>
            <a:fld id="{D5A30EC7-D711-411A-B2B0-F8CDB7B0A10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571" r:id="rId1"/>
    <p:sldLayoutId id="2147484576" r:id="rId2"/>
    <p:sldLayoutId id="2147484595" r:id="rId3"/>
  </p:sldLayoutIdLst>
  <p:transition/>
  <p:hf hdr="0" ftr="0" dt="0"/>
  <p:txStyles>
    <p:titleStyle>
      <a:lvl1pPr marL="361950" indent="-361950" algn="l" rtl="0" eaLnBrk="0" fontAlgn="base" hangingPunct="0">
        <a:spcBef>
          <a:spcPct val="0"/>
        </a:spcBef>
        <a:spcAft>
          <a:spcPct val="0"/>
        </a:spcAft>
        <a:defRPr sz="2800" b="1">
          <a:solidFill>
            <a:schemeClr val="bg1"/>
          </a:solidFill>
          <a:latin typeface="+mj-lt"/>
          <a:ea typeface="+mj-ea"/>
          <a:cs typeface="+mj-cs"/>
        </a:defRPr>
      </a:lvl1pPr>
      <a:lvl2pPr marL="361950" indent="-361950" algn="l" rtl="0" eaLnBrk="0" fontAlgn="base" hangingPunct="0">
        <a:spcBef>
          <a:spcPct val="0"/>
        </a:spcBef>
        <a:spcAft>
          <a:spcPct val="0"/>
        </a:spcAft>
        <a:defRPr sz="2800" b="1">
          <a:solidFill>
            <a:schemeClr val="bg1"/>
          </a:solidFill>
          <a:latin typeface="Arial" pitchFamily="34" charset="0"/>
          <a:ea typeface="微软雅黑" pitchFamily="34" charset="-122"/>
        </a:defRPr>
      </a:lvl2pPr>
      <a:lvl3pPr marL="361950" indent="-361950" algn="l" rtl="0" eaLnBrk="0" fontAlgn="base" hangingPunct="0">
        <a:spcBef>
          <a:spcPct val="0"/>
        </a:spcBef>
        <a:spcAft>
          <a:spcPct val="0"/>
        </a:spcAft>
        <a:defRPr sz="2800" b="1">
          <a:solidFill>
            <a:schemeClr val="bg1"/>
          </a:solidFill>
          <a:latin typeface="Arial" pitchFamily="34" charset="0"/>
          <a:ea typeface="微软雅黑" pitchFamily="34" charset="-122"/>
        </a:defRPr>
      </a:lvl3pPr>
      <a:lvl4pPr marL="361950" indent="-361950" algn="l" rtl="0" eaLnBrk="0" fontAlgn="base" hangingPunct="0">
        <a:spcBef>
          <a:spcPct val="0"/>
        </a:spcBef>
        <a:spcAft>
          <a:spcPct val="0"/>
        </a:spcAft>
        <a:defRPr sz="2800" b="1">
          <a:solidFill>
            <a:schemeClr val="bg1"/>
          </a:solidFill>
          <a:latin typeface="Arial" pitchFamily="34" charset="0"/>
          <a:ea typeface="微软雅黑" pitchFamily="34" charset="-122"/>
        </a:defRPr>
      </a:lvl4pPr>
      <a:lvl5pPr marL="361950" indent="-361950" algn="l" rtl="0" eaLnBrk="0" fontAlgn="base" hangingPunct="0">
        <a:spcBef>
          <a:spcPct val="0"/>
        </a:spcBef>
        <a:spcAft>
          <a:spcPct val="0"/>
        </a:spcAft>
        <a:defRPr sz="2800" b="1">
          <a:solidFill>
            <a:schemeClr val="bg1"/>
          </a:solidFill>
          <a:latin typeface="Arial" pitchFamily="34" charset="0"/>
          <a:ea typeface="微软雅黑" pitchFamily="34" charset="-122"/>
        </a:defRPr>
      </a:lvl5pPr>
      <a:lvl6pPr marL="819150" algn="l" rtl="0" fontAlgn="base">
        <a:spcBef>
          <a:spcPct val="0"/>
        </a:spcBef>
        <a:spcAft>
          <a:spcPct val="0"/>
        </a:spcAft>
        <a:defRPr sz="2800" b="1">
          <a:solidFill>
            <a:schemeClr val="bg1"/>
          </a:solidFill>
          <a:latin typeface="Arial" pitchFamily="34" charset="0"/>
          <a:ea typeface="微软雅黑" pitchFamily="34" charset="-122"/>
        </a:defRPr>
      </a:lvl6pPr>
      <a:lvl7pPr marL="1276350" algn="l" rtl="0" fontAlgn="base">
        <a:spcBef>
          <a:spcPct val="0"/>
        </a:spcBef>
        <a:spcAft>
          <a:spcPct val="0"/>
        </a:spcAft>
        <a:defRPr sz="2800" b="1">
          <a:solidFill>
            <a:schemeClr val="bg1"/>
          </a:solidFill>
          <a:latin typeface="Arial" pitchFamily="34" charset="0"/>
          <a:ea typeface="微软雅黑" pitchFamily="34" charset="-122"/>
        </a:defRPr>
      </a:lvl7pPr>
      <a:lvl8pPr marL="1733550" algn="l" rtl="0" fontAlgn="base">
        <a:spcBef>
          <a:spcPct val="0"/>
        </a:spcBef>
        <a:spcAft>
          <a:spcPct val="0"/>
        </a:spcAft>
        <a:defRPr sz="2800" b="1">
          <a:solidFill>
            <a:schemeClr val="bg1"/>
          </a:solidFill>
          <a:latin typeface="Arial" pitchFamily="34" charset="0"/>
          <a:ea typeface="微软雅黑" pitchFamily="34" charset="-122"/>
        </a:defRPr>
      </a:lvl8pPr>
      <a:lvl9pPr marL="2190750" algn="l" rtl="0" fontAlgn="base">
        <a:spcBef>
          <a:spcPct val="0"/>
        </a:spcBef>
        <a:spcAft>
          <a:spcPct val="0"/>
        </a:spcAft>
        <a:defRPr sz="2800" b="1">
          <a:solidFill>
            <a:schemeClr val="bg1"/>
          </a:solidFill>
          <a:latin typeface="Arial" pitchFamily="34" charset="0"/>
          <a:ea typeface="微软雅黑" pitchFamily="34" charset="-122"/>
        </a:defRPr>
      </a:lvl9pPr>
    </p:titleStyle>
    <p:bodyStyle>
      <a:lvl1pPr marL="180975" indent="-180975" algn="l" rtl="0" eaLnBrk="0" fontAlgn="ctr" hangingPunct="0">
        <a:lnSpc>
          <a:spcPct val="120000"/>
        </a:lnSpc>
        <a:spcBef>
          <a:spcPct val="20000"/>
        </a:spcBef>
        <a:spcAft>
          <a:spcPct val="0"/>
        </a:spcAft>
        <a:buClr>
          <a:schemeClr val="tx1"/>
        </a:buClr>
        <a:buSzPct val="60000"/>
        <a:buFont typeface="Wingdings" pitchFamily="2" charset="2"/>
        <a:buChar char="n"/>
        <a:defRPr sz="2400" b="1">
          <a:solidFill>
            <a:schemeClr val="tx1"/>
          </a:solidFill>
          <a:latin typeface="+mn-lt"/>
          <a:ea typeface="+mn-ea"/>
          <a:cs typeface="+mn-cs"/>
        </a:defRPr>
      </a:lvl1pPr>
      <a:lvl2pPr marL="541338" indent="-180975" algn="l" rtl="0" eaLnBrk="0" fontAlgn="ctr" hangingPunct="0">
        <a:lnSpc>
          <a:spcPct val="120000"/>
        </a:lnSpc>
        <a:spcBef>
          <a:spcPct val="20000"/>
        </a:spcBef>
        <a:spcAft>
          <a:spcPct val="0"/>
        </a:spcAft>
        <a:buClr>
          <a:schemeClr val="tx1"/>
        </a:buClr>
        <a:buSzPct val="60000"/>
        <a:buFont typeface="Wingdings" pitchFamily="2" charset="2"/>
        <a:buChar char="n"/>
        <a:defRPr sz="2000">
          <a:solidFill>
            <a:schemeClr val="tx1"/>
          </a:solidFill>
          <a:latin typeface="+mn-lt"/>
          <a:ea typeface="+mn-ea"/>
        </a:defRPr>
      </a:lvl2pPr>
      <a:lvl3pPr marL="895350" indent="-174625" algn="l" rtl="0" eaLnBrk="0" fontAlgn="ctr" hangingPunct="0">
        <a:lnSpc>
          <a:spcPct val="120000"/>
        </a:lnSpc>
        <a:spcBef>
          <a:spcPct val="20000"/>
        </a:spcBef>
        <a:spcAft>
          <a:spcPct val="0"/>
        </a:spcAft>
        <a:buClr>
          <a:schemeClr val="tx1"/>
        </a:buClr>
        <a:buSzPct val="60000"/>
        <a:buFont typeface="Wingdings" pitchFamily="2" charset="2"/>
        <a:buChar char="n"/>
        <a:defRPr sz="2400">
          <a:solidFill>
            <a:schemeClr val="tx1"/>
          </a:solidFill>
          <a:latin typeface="+mn-lt"/>
          <a:ea typeface="+mn-ea"/>
        </a:defRPr>
      </a:lvl3pPr>
      <a:lvl4pPr marL="1255713" indent="-180975" algn="l" rtl="0" eaLnBrk="0" fontAlgn="ctr" hangingPunct="0">
        <a:lnSpc>
          <a:spcPct val="120000"/>
        </a:lnSpc>
        <a:spcBef>
          <a:spcPct val="20000"/>
        </a:spcBef>
        <a:spcAft>
          <a:spcPct val="0"/>
        </a:spcAft>
        <a:buClr>
          <a:schemeClr val="tx1"/>
        </a:buClr>
        <a:buSzPct val="60000"/>
        <a:buFont typeface="Wingdings" pitchFamily="2" charset="2"/>
        <a:buChar char="n"/>
        <a:defRPr sz="1600">
          <a:solidFill>
            <a:schemeClr val="tx1"/>
          </a:solidFill>
          <a:latin typeface="+mn-lt"/>
          <a:ea typeface="+mn-ea"/>
        </a:defRPr>
      </a:lvl4pPr>
      <a:lvl5pPr marL="1619250" indent="-184150" algn="l" rtl="0" eaLnBrk="0" fontAlgn="ctr" hangingPunct="0">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5pPr>
      <a:lvl6pPr marL="2076450" indent="-184150" algn="l" rtl="0" fontAlgn="ctr">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6pPr>
      <a:lvl7pPr marL="2533650" indent="-184150" algn="l" rtl="0" fontAlgn="ctr">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7pPr>
      <a:lvl8pPr marL="2990850" indent="-184150" algn="l" rtl="0" fontAlgn="ctr">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8pPr>
      <a:lvl9pPr marL="3448050" indent="-184150" algn="l" rtl="0" fontAlgn="ctr">
        <a:lnSpc>
          <a:spcPct val="120000"/>
        </a:lnSpc>
        <a:spcBef>
          <a:spcPct val="20000"/>
        </a:spcBef>
        <a:spcAft>
          <a:spcPct val="0"/>
        </a:spcAft>
        <a:buClr>
          <a:schemeClr val="tx1"/>
        </a:buClr>
        <a:buSzPct val="60000"/>
        <a:buFont typeface="Wingdings" pitchFamily="2" charset="2"/>
        <a:buChar char="n"/>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gif"/></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7.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4.emf"/><Relationship Id="rId13" Type="http://schemas.openxmlformats.org/officeDocument/2006/relationships/image" Target="../media/image26.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3.emf"/><Relationship Id="rId11" Type="http://schemas.openxmlformats.org/officeDocument/2006/relationships/image" Target="../media/image28.png"/><Relationship Id="rId5" Type="http://schemas.openxmlformats.org/officeDocument/2006/relationships/oleObject" Target="../embeddings/oleObject3.bin"/><Relationship Id="rId15" Type="http://schemas.openxmlformats.org/officeDocument/2006/relationships/image" Target="../media/image27.emf"/><Relationship Id="rId10" Type="http://schemas.openxmlformats.org/officeDocument/2006/relationships/image" Target="../media/image25.emf"/><Relationship Id="rId4" Type="http://schemas.openxmlformats.org/officeDocument/2006/relationships/image" Target="../media/image22.emf"/><Relationship Id="rId9" Type="http://schemas.openxmlformats.org/officeDocument/2006/relationships/oleObject" Target="../embeddings/oleObject5.bin"/><Relationship Id="rId14" Type="http://schemas.openxmlformats.org/officeDocument/2006/relationships/oleObject" Target="../embeddings/oleObject7.bin"/></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25.emf"/><Relationship Id="rId4"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1.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emf"/></Relationships>
</file>

<file path=ppt/slides/_rels/slide36.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image" Target="../media/image46.png"/><Relationship Id="rId3" Type="http://schemas.openxmlformats.org/officeDocument/2006/relationships/notesSlide" Target="../notesSlides/notesSlide14.xml"/><Relationship Id="rId7" Type="http://schemas.openxmlformats.org/officeDocument/2006/relationships/oleObject" Target="../embeddings/oleObject13.bin"/><Relationship Id="rId12" Type="http://schemas.openxmlformats.org/officeDocument/2006/relationships/image" Target="../media/image44.wmf"/><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image" Target="../media/image41.wmf"/><Relationship Id="rId11" Type="http://schemas.openxmlformats.org/officeDocument/2006/relationships/oleObject" Target="../embeddings/oleObject15.bin"/><Relationship Id="rId5" Type="http://schemas.openxmlformats.org/officeDocument/2006/relationships/oleObject" Target="../embeddings/oleObject12.bin"/><Relationship Id="rId15" Type="http://schemas.openxmlformats.org/officeDocument/2006/relationships/image" Target="../media/image48.png"/><Relationship Id="rId10" Type="http://schemas.openxmlformats.org/officeDocument/2006/relationships/image" Target="../media/image43.wmf"/><Relationship Id="rId4" Type="http://schemas.openxmlformats.org/officeDocument/2006/relationships/image" Target="../media/image45.png"/><Relationship Id="rId9" Type="http://schemas.openxmlformats.org/officeDocument/2006/relationships/oleObject" Target="../embeddings/oleObject14.bin"/><Relationship Id="rId14" Type="http://schemas.openxmlformats.org/officeDocument/2006/relationships/image" Target="../media/image47.png"/></Relationships>
</file>

<file path=ppt/slides/_rels/slide37.xml.rels><?xml version="1.0" encoding="UTF-8" standalone="yes"?>
<Relationships xmlns="http://schemas.openxmlformats.org/package/2006/relationships"><Relationship Id="rId8" Type="http://schemas.openxmlformats.org/officeDocument/2006/relationships/image" Target="../media/image50.emf"/><Relationship Id="rId13" Type="http://schemas.openxmlformats.org/officeDocument/2006/relationships/oleObject" Target="../embeddings/oleObject19.bin"/><Relationship Id="rId3" Type="http://schemas.openxmlformats.org/officeDocument/2006/relationships/notesSlide" Target="../notesSlides/notesSlide15.xml"/><Relationship Id="rId7" Type="http://schemas.openxmlformats.org/officeDocument/2006/relationships/oleObject" Target="../embeddings/oleObject17.bin"/><Relationship Id="rId12" Type="http://schemas.openxmlformats.org/officeDocument/2006/relationships/image" Target="../media/image55.png"/><Relationship Id="rId2" Type="http://schemas.openxmlformats.org/officeDocument/2006/relationships/slideLayout" Target="../slideLayouts/slideLayout3.xml"/><Relationship Id="rId1" Type="http://schemas.openxmlformats.org/officeDocument/2006/relationships/vmlDrawing" Target="../drawings/vmlDrawing9.vml"/><Relationship Id="rId6" Type="http://schemas.openxmlformats.org/officeDocument/2006/relationships/image" Target="../media/image53.png"/><Relationship Id="rId11" Type="http://schemas.openxmlformats.org/officeDocument/2006/relationships/image" Target="../media/image51.emf"/><Relationship Id="rId5" Type="http://schemas.openxmlformats.org/officeDocument/2006/relationships/image" Target="../media/image49.emf"/><Relationship Id="rId15" Type="http://schemas.openxmlformats.org/officeDocument/2006/relationships/image" Target="../media/image56.png"/><Relationship Id="rId10" Type="http://schemas.openxmlformats.org/officeDocument/2006/relationships/oleObject" Target="../embeddings/oleObject18.bin"/><Relationship Id="rId4" Type="http://schemas.openxmlformats.org/officeDocument/2006/relationships/oleObject" Target="../embeddings/oleObject16.bin"/><Relationship Id="rId9" Type="http://schemas.openxmlformats.org/officeDocument/2006/relationships/image" Target="../media/image54.png"/><Relationship Id="rId14" Type="http://schemas.openxmlformats.org/officeDocument/2006/relationships/image" Target="../media/image52.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3.xml"/><Relationship Id="rId1" Type="http://schemas.openxmlformats.org/officeDocument/2006/relationships/vmlDrawing" Target="../drawings/vmlDrawing10.vml"/><Relationship Id="rId6" Type="http://schemas.openxmlformats.org/officeDocument/2006/relationships/image" Target="../media/image58.emf"/><Relationship Id="rId5" Type="http://schemas.openxmlformats.org/officeDocument/2006/relationships/oleObject" Target="../embeddings/oleObject21.bin"/><Relationship Id="rId4" Type="http://schemas.openxmlformats.org/officeDocument/2006/relationships/image" Target="../media/image57.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3.xml"/><Relationship Id="rId1" Type="http://schemas.openxmlformats.org/officeDocument/2006/relationships/vmlDrawing" Target="../drawings/vmlDrawing11.vml"/><Relationship Id="rId4" Type="http://schemas.openxmlformats.org/officeDocument/2006/relationships/image" Target="../media/image59.emf"/></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62.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4.bin"/><Relationship Id="rId5" Type="http://schemas.openxmlformats.org/officeDocument/2006/relationships/image" Target="../media/image63.png"/><Relationship Id="rId4" Type="http://schemas.openxmlformats.org/officeDocument/2006/relationships/image" Target="../media/image61.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7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76.png"/></Relationships>
</file>

<file path=ppt/slides/_rels/slide6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80.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WordArt 3"/>
          <p:cNvSpPr>
            <a:spLocks noChangeArrowheads="1" noChangeShapeType="1" noTextEdit="1"/>
          </p:cNvSpPr>
          <p:nvPr/>
        </p:nvSpPr>
        <p:spPr bwMode="auto">
          <a:xfrm>
            <a:off x="1943708" y="1530263"/>
            <a:ext cx="5904656" cy="864096"/>
          </a:xfrm>
          <a:prstGeom prst="rect">
            <a:avLst/>
          </a:prstGeom>
        </p:spPr>
        <p:txBody>
          <a:bodyPr wrap="none" fromWordArt="1">
            <a:prstTxWarp prst="textPlain">
              <a:avLst>
                <a:gd name="adj" fmla="val 50000"/>
              </a:avLst>
            </a:prstTxWarp>
          </a:bodyPr>
          <a:lstStyle/>
          <a:p>
            <a:pPr algn="ctr"/>
            <a:r>
              <a:rPr lang="zh-CN" altLang="en-US" sz="3600" dirty="0">
                <a:solidFill>
                  <a:srgbClr val="FFFF00"/>
                </a:solidFill>
                <a:latin typeface="Times New Roman" panose="02020603050405020304" pitchFamily="18" charset="0"/>
                <a:cs typeface="Times New Roman" panose="02020603050405020304" pitchFamily="18" charset="0"/>
              </a:rPr>
              <a:t>第二章   空间数据分析理论</a:t>
            </a:r>
            <a:endParaRPr lang="zh-CN" altLang="en-US" sz="3600" b="1" kern="10" spc="720" dirty="0">
              <a:ln w="6350">
                <a:solidFill>
                  <a:srgbClr val="E1E6EB"/>
                </a:solidFill>
                <a:round/>
                <a:headEnd/>
                <a:tailEnd/>
              </a:ln>
              <a:solidFill>
                <a:srgbClr val="FFFF00"/>
              </a:solidFill>
              <a:latin typeface="Times New Roman" panose="02020603050405020304" pitchFamily="18" charset="0"/>
              <a:ea typeface="微软雅黑"/>
              <a:cs typeface="Times New Roman" panose="02020603050405020304" pitchFamily="18" charset="0"/>
            </a:endParaRPr>
          </a:p>
        </p:txBody>
      </p:sp>
      <p:pic>
        <p:nvPicPr>
          <p:cNvPr id="5124" name="Picture 4" descr="图片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141" y="2564904"/>
            <a:ext cx="7351713" cy="7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副标题 1">
            <a:extLst>
              <a:ext uri="{FF2B5EF4-FFF2-40B4-BE49-F238E27FC236}">
                <a16:creationId xmlns:a16="http://schemas.microsoft.com/office/drawing/2014/main" id="{4C08C4BA-15AD-4A45-9E0A-B06B053E5DFA}"/>
              </a:ext>
            </a:extLst>
          </p:cNvPr>
          <p:cNvSpPr>
            <a:spLocks noGrp="1"/>
          </p:cNvSpPr>
          <p:nvPr>
            <p:ph type="subTitle" idx="1"/>
          </p:nvPr>
        </p:nvSpPr>
        <p:spPr>
          <a:xfrm>
            <a:off x="1484429" y="3398860"/>
            <a:ext cx="6823214" cy="2160583"/>
          </a:xfrm>
        </p:spPr>
        <p:txBody>
          <a:bodyPr/>
          <a:lstStyle/>
          <a:p>
            <a:r>
              <a:rPr lang="zh-CN" altLang="en-US" sz="3200" b="1" dirty="0">
                <a:solidFill>
                  <a:srgbClr val="66FF33"/>
                </a:solidFill>
                <a:latin typeface="Times New Roman" panose="02020603050405020304" pitchFamily="18" charset="0"/>
                <a:cs typeface="Times New Roman" panose="02020603050405020304" pitchFamily="18" charset="0"/>
              </a:rPr>
              <a:t>授课教师：周熙然</a:t>
            </a:r>
            <a:endParaRPr lang="en-US" altLang="zh-CN" sz="3200" b="1" dirty="0">
              <a:solidFill>
                <a:srgbClr val="66FF33"/>
              </a:solidFill>
              <a:latin typeface="Times New Roman" panose="02020603050405020304" pitchFamily="18" charset="0"/>
              <a:cs typeface="Times New Roman" panose="02020603050405020304" pitchFamily="18" charset="0"/>
            </a:endParaRPr>
          </a:p>
          <a:p>
            <a:r>
              <a:rPr lang="zh-CN" altLang="en-US" b="1" dirty="0">
                <a:solidFill>
                  <a:srgbClr val="66FF33"/>
                </a:solidFill>
                <a:latin typeface="Times New Roman" panose="02020603050405020304" pitchFamily="18" charset="0"/>
                <a:cs typeface="Times New Roman" panose="02020603050405020304" pitchFamily="18" charset="0"/>
              </a:rPr>
              <a:t>中国矿业大学环境与测绘学院</a:t>
            </a:r>
            <a:endParaRPr lang="en-US" altLang="zh-CN" b="1" dirty="0">
              <a:solidFill>
                <a:srgbClr val="66FF33"/>
              </a:solidFill>
              <a:latin typeface="Times New Roman" panose="02020603050405020304" pitchFamily="18" charset="0"/>
              <a:cs typeface="Times New Roman" panose="02020603050405020304" pitchFamily="18" charset="0"/>
            </a:endParaRPr>
          </a:p>
          <a:p>
            <a:r>
              <a:rPr lang="zh-CN" altLang="en-US" sz="3200" b="1" dirty="0">
                <a:solidFill>
                  <a:srgbClr val="66FF33"/>
                </a:solidFill>
                <a:latin typeface="Times New Roman" panose="02020603050405020304" pitchFamily="18" charset="0"/>
                <a:cs typeface="Times New Roman" panose="02020603050405020304" pitchFamily="18" charset="0"/>
              </a:rPr>
              <a:t>课件提供：秦昆、许艳青</a:t>
            </a:r>
            <a:endParaRPr lang="en-US" altLang="zh-CN" sz="3200" b="1" dirty="0">
              <a:solidFill>
                <a:srgbClr val="66FF33"/>
              </a:solidFill>
              <a:latin typeface="Times New Roman" panose="02020603050405020304" pitchFamily="18" charset="0"/>
              <a:cs typeface="Times New Roman" panose="02020603050405020304" pitchFamily="18" charset="0"/>
            </a:endParaRPr>
          </a:p>
          <a:p>
            <a:r>
              <a:rPr lang="zh-CN" altLang="en-US" b="1" dirty="0">
                <a:solidFill>
                  <a:srgbClr val="66FF33"/>
                </a:solidFill>
                <a:latin typeface="Times New Roman" panose="02020603050405020304" pitchFamily="18" charset="0"/>
                <a:cs typeface="Times New Roman" panose="02020603050405020304" pitchFamily="18" charset="0"/>
              </a:rPr>
              <a:t>武汉大学遥感信息工程学院</a:t>
            </a:r>
          </a:p>
        </p:txBody>
      </p:sp>
      <p:sp>
        <p:nvSpPr>
          <p:cNvPr id="7" name="TextBox 5">
            <a:extLst>
              <a:ext uri="{FF2B5EF4-FFF2-40B4-BE49-F238E27FC236}">
                <a16:creationId xmlns:a16="http://schemas.microsoft.com/office/drawing/2014/main" id="{6E5127AC-CE33-4D37-BF65-29E4845D8AE6}"/>
              </a:ext>
            </a:extLst>
          </p:cNvPr>
          <p:cNvSpPr txBox="1">
            <a:spLocks noChangeArrowheads="1"/>
          </p:cNvSpPr>
          <p:nvPr/>
        </p:nvSpPr>
        <p:spPr bwMode="auto">
          <a:xfrm>
            <a:off x="539552" y="321668"/>
            <a:ext cx="7992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rgbClr val="000000"/>
                </a:solidFill>
                <a:latin typeface="Arial" panose="020B0604020202020204" pitchFamily="34" charset="0"/>
                <a:ea typeface="黑体" panose="02010609060101010101" pitchFamily="49" charset="-122"/>
              </a:defRPr>
            </a:lvl1pPr>
            <a:lvl2pPr marL="742950" indent="-285750" eaLnBrk="0" hangingPunct="0">
              <a:defRPr>
                <a:solidFill>
                  <a:srgbClr val="000000"/>
                </a:solidFill>
                <a:latin typeface="Arial" panose="020B0604020202020204" pitchFamily="34" charset="0"/>
                <a:ea typeface="黑体" panose="02010609060101010101" pitchFamily="49" charset="-122"/>
              </a:defRPr>
            </a:lvl2pPr>
            <a:lvl3pPr marL="1143000" indent="-228600" eaLnBrk="0" hangingPunct="0">
              <a:defRPr>
                <a:solidFill>
                  <a:srgbClr val="000000"/>
                </a:solidFill>
                <a:latin typeface="Arial" panose="020B0604020202020204" pitchFamily="34" charset="0"/>
                <a:ea typeface="黑体" panose="02010609060101010101" pitchFamily="49" charset="-122"/>
              </a:defRPr>
            </a:lvl3pPr>
            <a:lvl4pPr marL="1600200" indent="-228600" eaLnBrk="0" hangingPunct="0">
              <a:defRPr>
                <a:solidFill>
                  <a:srgbClr val="000000"/>
                </a:solidFill>
                <a:latin typeface="Arial" panose="020B0604020202020204" pitchFamily="34" charset="0"/>
                <a:ea typeface="黑体" panose="02010609060101010101" pitchFamily="49" charset="-122"/>
              </a:defRPr>
            </a:lvl4pPr>
            <a:lvl5pPr marL="2057400" indent="-228600" eaLnBrk="0" hangingPunct="0">
              <a:defRPr>
                <a:solidFill>
                  <a:srgbClr val="000000"/>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黑体" panose="02010609060101010101" pitchFamily="49" charset="-122"/>
              </a:defRPr>
            </a:lvl9pPr>
          </a:lstStyle>
          <a:p>
            <a:pPr algn="ctr">
              <a:spcBef>
                <a:spcPct val="50000"/>
              </a:spcBef>
              <a:buClrTx/>
              <a:buSzTx/>
              <a:buFontTx/>
              <a:buNone/>
            </a:pPr>
            <a:r>
              <a:rPr lang="zh-CN" altLang="en-US" sz="2400" dirty="0">
                <a:solidFill>
                  <a:srgbClr val="FFFF00"/>
                </a:solidFill>
                <a:latin typeface="Times New Roman" panose="02020603050405020304" pitchFamily="18" charset="0"/>
                <a:cs typeface="Times New Roman" panose="02020603050405020304" pitchFamily="18" charset="0"/>
              </a:rPr>
              <a:t>课件摘自武汉大学遥感科学与技术地理信息工程方向</a:t>
            </a:r>
          </a:p>
        </p:txBody>
      </p:sp>
    </p:spTree>
  </p:cSld>
  <p:clrMapOvr>
    <a:masterClrMapping/>
  </p:clrMapOvr>
  <p:transition advTm="241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4"/>
          <p:cNvSpPr txBox="1">
            <a:spLocks noChangeArrowheads="1"/>
          </p:cNvSpPr>
          <p:nvPr/>
        </p:nvSpPr>
        <p:spPr bwMode="auto">
          <a:xfrm>
            <a:off x="522288" y="116632"/>
            <a:ext cx="8370192"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Wingdings" panose="05000000000000000000" pitchFamily="2" charset="2"/>
              <a:buNone/>
            </a:pPr>
            <a:r>
              <a:rPr lang="zh-CN" altLang="en-US" sz="4000" dirty="0">
                <a:solidFill>
                  <a:srgbClr val="FFFF00"/>
                </a:solidFill>
                <a:latin typeface="Times New Roman" panose="02020603050405020304" pitchFamily="18" charset="0"/>
              </a:rPr>
              <a:t>目   录 </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2</a:t>
            </a:fld>
            <a:endParaRPr lang="en-US" altLang="zh-CN"/>
          </a:p>
        </p:txBody>
      </p:sp>
      <p:sp>
        <p:nvSpPr>
          <p:cNvPr id="5" name="Text Box 4"/>
          <p:cNvSpPr txBox="1">
            <a:spLocks noChangeArrowheads="1"/>
          </p:cNvSpPr>
          <p:nvPr/>
        </p:nvSpPr>
        <p:spPr bwMode="auto">
          <a:xfrm>
            <a:off x="2411760" y="2060848"/>
            <a:ext cx="5167312" cy="312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1200"/>
              </a:spcBef>
              <a:buClrTx/>
              <a:buSzTx/>
              <a:buFont typeface="Wingdings" panose="05000000000000000000" pitchFamily="2" charset="2"/>
              <a:buNone/>
            </a:pPr>
            <a:r>
              <a:rPr lang="en-US" altLang="zh-CN" dirty="0">
                <a:latin typeface="Times New Roman" panose="02020603050405020304" pitchFamily="18" charset="0"/>
              </a:rPr>
              <a:t>2.1  </a:t>
            </a:r>
            <a:r>
              <a:rPr lang="zh-CN" altLang="en-US" dirty="0">
                <a:latin typeface="Times New Roman" panose="02020603050405020304" pitchFamily="18" charset="0"/>
              </a:rPr>
              <a:t>地理学定律</a:t>
            </a:r>
            <a:endParaRPr lang="en-US" altLang="zh-CN" dirty="0">
              <a:latin typeface="Times New Roman" panose="02020603050405020304" pitchFamily="18" charset="0"/>
            </a:endParaRPr>
          </a:p>
          <a:p>
            <a:pPr>
              <a:spcBef>
                <a:spcPts val="1200"/>
              </a:spcBef>
              <a:buClrTx/>
              <a:buSzTx/>
              <a:buNone/>
            </a:pPr>
            <a:r>
              <a:rPr lang="en-US" altLang="zh-CN" dirty="0">
                <a:latin typeface="Times New Roman" panose="02020603050405020304" pitchFamily="18" charset="0"/>
              </a:rPr>
              <a:t>2.2  </a:t>
            </a:r>
            <a:r>
              <a:rPr lang="zh-CN" altLang="en-US" dirty="0">
                <a:latin typeface="Times New Roman" panose="02020603050405020304" pitchFamily="18" charset="0"/>
              </a:rPr>
              <a:t>空间关系理论</a:t>
            </a:r>
          </a:p>
          <a:p>
            <a:pPr>
              <a:spcBef>
                <a:spcPts val="1200"/>
              </a:spcBef>
              <a:buClrTx/>
              <a:buSzTx/>
              <a:buNone/>
            </a:pPr>
            <a:r>
              <a:rPr lang="en-US" altLang="zh-CN" dirty="0">
                <a:latin typeface="Times New Roman" panose="02020603050405020304" pitchFamily="18" charset="0"/>
              </a:rPr>
              <a:t>2.3  </a:t>
            </a:r>
            <a:r>
              <a:rPr lang="zh-CN" altLang="en-US" dirty="0">
                <a:latin typeface="Times New Roman" panose="02020603050405020304" pitchFamily="18" charset="0"/>
              </a:rPr>
              <a:t>空间认知理论</a:t>
            </a:r>
            <a:endParaRPr lang="zh-CN" altLang="en-US" b="0" dirty="0">
              <a:latin typeface="Times New Roman" panose="02020603050405020304" pitchFamily="18" charset="0"/>
            </a:endParaRPr>
          </a:p>
          <a:p>
            <a:pPr>
              <a:spcBef>
                <a:spcPts val="1200"/>
              </a:spcBef>
              <a:buClrTx/>
              <a:buSzTx/>
              <a:buNone/>
            </a:pPr>
            <a:r>
              <a:rPr lang="en-US" altLang="zh-CN" dirty="0">
                <a:latin typeface="Times New Roman" panose="02020603050405020304" pitchFamily="18" charset="0"/>
              </a:rPr>
              <a:t>2.4  </a:t>
            </a:r>
            <a:r>
              <a:rPr lang="zh-CN" altLang="en-US" dirty="0">
                <a:latin typeface="Times New Roman" panose="02020603050405020304" pitchFamily="18" charset="0"/>
              </a:rPr>
              <a:t>空间推理理论</a:t>
            </a:r>
            <a:endParaRPr lang="en-US" altLang="zh-CN" dirty="0">
              <a:latin typeface="Times New Roman" panose="02020603050405020304" pitchFamily="18" charset="0"/>
            </a:endParaRPr>
          </a:p>
          <a:p>
            <a:pPr marL="0" lvl="1" indent="0">
              <a:spcBef>
                <a:spcPts val="1200"/>
              </a:spcBef>
              <a:buNone/>
            </a:pPr>
            <a:r>
              <a:rPr lang="en-US" altLang="zh-CN" sz="3200" dirty="0">
                <a:latin typeface="Times New Roman" panose="02020603050405020304" pitchFamily="18" charset="0"/>
              </a:rPr>
              <a:t>2.5  </a:t>
            </a:r>
            <a:r>
              <a:rPr lang="zh-CN" altLang="en-US" sz="3200" dirty="0">
                <a:latin typeface="Times New Roman" panose="02020603050405020304" pitchFamily="18" charset="0"/>
              </a:rPr>
              <a:t>空间分析不确定性理论</a:t>
            </a:r>
            <a:endParaRPr lang="en-US" altLang="zh-CN" sz="3200" dirty="0">
              <a:latin typeface="Times New Roman" panose="02020603050405020304" pitchFamily="18" charset="0"/>
            </a:endParaRPr>
          </a:p>
        </p:txBody>
      </p:sp>
    </p:spTree>
    <p:extLst>
      <p:ext uri="{BB962C8B-B14F-4D97-AF65-F5344CB8AC3E}">
        <p14:creationId xmlns:p14="http://schemas.microsoft.com/office/powerpoint/2010/main" val="125910856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2209627" y="2420888"/>
            <a:ext cx="5832648"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bg1"/>
              </a:buClr>
              <a:buFont typeface="Wingdings" panose="05000000000000000000" pitchFamily="2" charset="2"/>
              <a:buNone/>
            </a:pPr>
            <a:r>
              <a:rPr lang="en-US" altLang="zh-CN" sz="4800" dirty="0">
                <a:solidFill>
                  <a:srgbClr val="0000CC"/>
                </a:solidFill>
                <a:latin typeface="Times New Roman" panose="02020603050405020304" pitchFamily="18" charset="0"/>
              </a:rPr>
              <a:t>2.1 </a:t>
            </a:r>
            <a:r>
              <a:rPr lang="zh-CN" altLang="en-US" sz="4800" dirty="0">
                <a:solidFill>
                  <a:srgbClr val="0000CC"/>
                </a:solidFill>
                <a:latin typeface="Times New Roman" panose="02020603050405020304" pitchFamily="18" charset="0"/>
              </a:rPr>
              <a:t>地理学定律</a:t>
            </a:r>
            <a:endParaRPr lang="en-US" altLang="zh-CN" sz="4800" dirty="0">
              <a:solidFill>
                <a:srgbClr val="0000CC"/>
              </a:solidFill>
              <a:latin typeface="Times New Roman" panose="02020603050405020304" pitchFamily="18" charset="0"/>
            </a:endParaRPr>
          </a:p>
          <a:p>
            <a:pPr eaLnBrk="1" hangingPunct="1">
              <a:spcBef>
                <a:spcPct val="50000"/>
              </a:spcBef>
              <a:buClr>
                <a:schemeClr val="bg1"/>
              </a:buClr>
              <a:buFont typeface="Wingdings" panose="05000000000000000000" pitchFamily="2" charset="2"/>
              <a:buNone/>
            </a:pPr>
            <a:r>
              <a:rPr lang="en-US" altLang="zh-CN" sz="4000" dirty="0">
                <a:latin typeface="Times New Roman" panose="02020603050405020304" pitchFamily="18" charset="0"/>
              </a:rPr>
              <a:t>2.1.1 </a:t>
            </a:r>
            <a:r>
              <a:rPr lang="zh-CN" altLang="en-US" sz="4000" dirty="0">
                <a:latin typeface="Times New Roman" panose="02020603050405020304" pitchFamily="18" charset="0"/>
              </a:rPr>
              <a:t>地理学第一定律</a:t>
            </a:r>
            <a:endParaRPr lang="en-US" altLang="zh-CN" sz="4000" dirty="0">
              <a:latin typeface="Times New Roman" panose="02020603050405020304" pitchFamily="18" charset="0"/>
            </a:endParaRPr>
          </a:p>
          <a:p>
            <a:pPr>
              <a:spcBef>
                <a:spcPct val="50000"/>
              </a:spcBef>
              <a:buClr>
                <a:schemeClr val="bg1"/>
              </a:buClr>
              <a:buNone/>
            </a:pPr>
            <a:r>
              <a:rPr lang="en-US" altLang="zh-CN" sz="4000" dirty="0">
                <a:latin typeface="Times New Roman" panose="02020603050405020304" pitchFamily="18" charset="0"/>
              </a:rPr>
              <a:t>2.1.2 </a:t>
            </a:r>
            <a:r>
              <a:rPr lang="zh-CN" altLang="en-US" sz="4000" dirty="0">
                <a:latin typeface="Times New Roman" panose="02020603050405020304" pitchFamily="18" charset="0"/>
              </a:rPr>
              <a:t>地理学第二定律</a:t>
            </a:r>
            <a:r>
              <a:rPr lang="en-US" altLang="zh-CN" sz="4000" dirty="0">
                <a:latin typeface="Times New Roman" panose="02020603050405020304" pitchFamily="18" charset="0"/>
              </a:rPr>
              <a:t>?</a:t>
            </a:r>
          </a:p>
          <a:p>
            <a:pPr>
              <a:spcBef>
                <a:spcPct val="50000"/>
              </a:spcBef>
              <a:buClr>
                <a:schemeClr val="bg1"/>
              </a:buClr>
              <a:buNone/>
            </a:pPr>
            <a:r>
              <a:rPr lang="en-US" altLang="zh-CN" sz="4000" dirty="0">
                <a:latin typeface="Times New Roman" panose="02020603050405020304" pitchFamily="18" charset="0"/>
              </a:rPr>
              <a:t>2.1.3 </a:t>
            </a:r>
            <a:r>
              <a:rPr lang="zh-CN" altLang="en-US" sz="4000" dirty="0">
                <a:latin typeface="Times New Roman" panose="02020603050405020304" pitchFamily="18" charset="0"/>
              </a:rPr>
              <a:t>地理学第三定律</a:t>
            </a:r>
            <a:r>
              <a:rPr lang="en-US" altLang="zh-CN" sz="4000" dirty="0">
                <a:latin typeface="Times New Roman" panose="02020603050405020304" pitchFamily="18" charset="0"/>
              </a:rPr>
              <a:t>??</a:t>
            </a:r>
            <a:endParaRPr lang="zh-CN" altLang="en-US" sz="4000" b="0" dirty="0">
              <a:latin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3</a:t>
            </a:fld>
            <a:endParaRPr lang="en-US" altLang="zh-CN"/>
          </a:p>
        </p:txBody>
      </p:sp>
      <p:sp>
        <p:nvSpPr>
          <p:cNvPr id="15" name="矩形 14">
            <a:extLst>
              <a:ext uri="{FF2B5EF4-FFF2-40B4-BE49-F238E27FC236}">
                <a16:creationId xmlns:a16="http://schemas.microsoft.com/office/drawing/2014/main" id="{51B0AE25-C780-4E66-981A-7366431F921F}"/>
              </a:ext>
            </a:extLst>
          </p:cNvPr>
          <p:cNvSpPr/>
          <p:nvPr/>
        </p:nvSpPr>
        <p:spPr>
          <a:xfrm>
            <a:off x="323528" y="1052736"/>
            <a:ext cx="3037458" cy="707886"/>
          </a:xfrm>
          <a:prstGeom prst="rect">
            <a:avLst/>
          </a:prstGeom>
          <a:noFill/>
          <a:ln>
            <a:solidFill>
              <a:schemeClr val="accent1"/>
            </a:solidFill>
          </a:ln>
        </p:spPr>
        <p:txBody>
          <a:bodyPr wrap="square">
            <a:spAutoFit/>
          </a:bodyPr>
          <a:lstStyle/>
          <a:p>
            <a:r>
              <a:rPr lang="zh-CN" altLang="en-US" sz="4000" b="1" spc="3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本节内容：</a:t>
            </a:r>
            <a:endParaRPr lang="zh-CN" altLang="en-US" sz="4000" b="1" spc="3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TextBox 6"/>
          <p:cNvSpPr txBox="1">
            <a:spLocks noChangeArrowheads="1"/>
          </p:cNvSpPr>
          <p:nvPr/>
        </p:nvSpPr>
        <p:spPr bwMode="auto">
          <a:xfrm>
            <a:off x="2915816" y="38527"/>
            <a:ext cx="41157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2.1   </a:t>
            </a:r>
            <a:r>
              <a:rPr lang="zh-CN" altLang="en-US" sz="4000" dirty="0">
                <a:solidFill>
                  <a:srgbClr val="FFFF00"/>
                </a:solidFill>
                <a:latin typeface="Times New Roman" panose="02020603050405020304" pitchFamily="18" charset="0"/>
                <a:cs typeface="Times New Roman" panose="02020603050405020304" pitchFamily="18" charset="0"/>
              </a:rPr>
              <a:t>地理学定律</a:t>
            </a:r>
          </a:p>
        </p:txBody>
      </p:sp>
    </p:spTree>
    <p:extLst>
      <p:ext uri="{BB962C8B-B14F-4D97-AF65-F5344CB8AC3E}">
        <p14:creationId xmlns:p14="http://schemas.microsoft.com/office/powerpoint/2010/main" val="409261300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Text Box 2"/>
          <p:cNvSpPr txBox="1">
            <a:spLocks noChangeArrowheads="1"/>
          </p:cNvSpPr>
          <p:nvPr/>
        </p:nvSpPr>
        <p:spPr bwMode="auto">
          <a:xfrm>
            <a:off x="227500" y="1988840"/>
            <a:ext cx="8709025" cy="284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
                <a:srgbClr val="0000CC"/>
              </a:buClr>
              <a:buSzTx/>
              <a:buFont typeface="Wingdings" panose="05000000000000000000" pitchFamily="2" charset="2"/>
              <a:buChar char="u"/>
            </a:pPr>
            <a:r>
              <a:rPr lang="en-US" altLang="zh-CN" sz="2800" b="0" dirty="0">
                <a:latin typeface="Times New Roman" panose="02020603050405020304" pitchFamily="18" charset="0"/>
                <a:cs typeface="Times New Roman" panose="02020603050405020304" pitchFamily="18" charset="0"/>
              </a:rPr>
              <a:t>Tobler</a:t>
            </a:r>
            <a:r>
              <a:rPr lang="zh-CN" altLang="en-US" sz="2800" b="0" dirty="0">
                <a:latin typeface="Times New Roman" panose="02020603050405020304" pitchFamily="18" charset="0"/>
                <a:cs typeface="Times New Roman" panose="02020603050405020304" pitchFamily="18" charset="0"/>
              </a:rPr>
              <a:t>于</a:t>
            </a:r>
            <a:r>
              <a:rPr lang="en-US" altLang="zh-CN" sz="2800" b="0" dirty="0">
                <a:solidFill>
                  <a:srgbClr val="0000CC"/>
                </a:solidFill>
                <a:latin typeface="Times New Roman" panose="02020603050405020304" pitchFamily="18" charset="0"/>
                <a:cs typeface="Times New Roman" panose="02020603050405020304" pitchFamily="18" charset="0"/>
              </a:rPr>
              <a:t>1970</a:t>
            </a:r>
            <a:r>
              <a:rPr lang="zh-CN" altLang="en-US" sz="2800" b="0" dirty="0">
                <a:solidFill>
                  <a:srgbClr val="0000CC"/>
                </a:solidFill>
                <a:latin typeface="Times New Roman" panose="02020603050405020304" pitchFamily="18" charset="0"/>
                <a:cs typeface="Times New Roman" panose="02020603050405020304" pitchFamily="18" charset="0"/>
              </a:rPr>
              <a:t>年</a:t>
            </a:r>
            <a:r>
              <a:rPr lang="zh-CN" altLang="en-US" sz="2800" b="0" dirty="0">
                <a:latin typeface="Times New Roman" panose="02020603050405020304" pitchFamily="18" charset="0"/>
                <a:cs typeface="Times New Roman" panose="02020603050405020304" pitchFamily="18" charset="0"/>
              </a:rPr>
              <a:t>提出了描述地理现象空间相互作用的“地理学第一定律”：</a:t>
            </a:r>
            <a:r>
              <a:rPr lang="zh-CN" altLang="en-US" sz="2800" b="0" dirty="0">
                <a:solidFill>
                  <a:srgbClr val="0000CC"/>
                </a:solidFill>
                <a:latin typeface="Times New Roman" panose="02020603050405020304" pitchFamily="18" charset="0"/>
                <a:cs typeface="Times New Roman" panose="02020603050405020304" pitchFamily="18" charset="0"/>
              </a:rPr>
              <a:t>“任何事物都是空间相关的，距离近的事物比距离远的事物的空间相关性更大” </a:t>
            </a:r>
            <a:r>
              <a:rPr lang="zh-CN" altLang="en-US" sz="2800" b="0" dirty="0">
                <a:latin typeface="Times New Roman" panose="02020603050405020304" pitchFamily="18" charset="0"/>
                <a:cs typeface="Times New Roman" panose="02020603050405020304" pitchFamily="18" charset="0"/>
              </a:rPr>
              <a:t>。（相近即相似）</a:t>
            </a:r>
          </a:p>
          <a:p>
            <a:pPr>
              <a:spcBef>
                <a:spcPct val="50000"/>
              </a:spcBef>
              <a:buClr>
                <a:srgbClr val="0000CC"/>
              </a:buClr>
              <a:buSzTx/>
              <a:buFont typeface="Wingdings" panose="05000000000000000000" pitchFamily="2" charset="2"/>
              <a:buChar char="u"/>
            </a:pPr>
            <a:r>
              <a:rPr lang="en-US" altLang="zh-CN" sz="2800" b="0" dirty="0">
                <a:latin typeface="Times New Roman" panose="02020603050405020304" pitchFamily="18" charset="0"/>
                <a:cs typeface="Times New Roman" panose="02020603050405020304" pitchFamily="18" charset="0"/>
              </a:rPr>
              <a:t>Cliff</a:t>
            </a:r>
            <a:r>
              <a:rPr lang="zh-CN" altLang="en-US" sz="2800" b="0" dirty="0">
                <a:latin typeface="Times New Roman" panose="02020603050405020304" pitchFamily="18" charset="0"/>
                <a:cs typeface="Times New Roman" panose="02020603050405020304" pitchFamily="18" charset="0"/>
              </a:rPr>
              <a:t>和</a:t>
            </a:r>
            <a:r>
              <a:rPr lang="en-US" altLang="zh-CN" sz="2800" b="0" dirty="0">
                <a:latin typeface="Times New Roman" panose="02020603050405020304" pitchFamily="18" charset="0"/>
                <a:cs typeface="Times New Roman" panose="02020603050405020304" pitchFamily="18" charset="0"/>
              </a:rPr>
              <a:t>Ord</a:t>
            </a:r>
            <a:r>
              <a:rPr lang="en-US" altLang="zh-CN" sz="2800" b="0" dirty="0">
                <a:solidFill>
                  <a:srgbClr val="0000CC"/>
                </a:solidFill>
                <a:latin typeface="Times New Roman" panose="02020603050405020304" pitchFamily="18" charset="0"/>
                <a:cs typeface="Times New Roman" panose="02020603050405020304" pitchFamily="18" charset="0"/>
              </a:rPr>
              <a:t>1973</a:t>
            </a:r>
            <a:r>
              <a:rPr lang="zh-CN" altLang="en-US" sz="2800" b="0" dirty="0">
                <a:solidFill>
                  <a:srgbClr val="0000CC"/>
                </a:solidFill>
                <a:latin typeface="Times New Roman" panose="02020603050405020304" pitchFamily="18" charset="0"/>
                <a:cs typeface="Times New Roman" panose="02020603050405020304" pitchFamily="18" charset="0"/>
              </a:rPr>
              <a:t>年</a:t>
            </a:r>
            <a:r>
              <a:rPr lang="zh-CN" altLang="en-US" sz="2800" b="0" dirty="0">
                <a:latin typeface="Times New Roman" panose="02020603050405020304" pitchFamily="18" charset="0"/>
                <a:cs typeface="Times New Roman" panose="02020603050405020304" pitchFamily="18" charset="0"/>
              </a:rPr>
              <a:t>出版专著揭示了</a:t>
            </a:r>
            <a:r>
              <a:rPr lang="zh-CN" altLang="en-US" sz="2800" b="0" dirty="0">
                <a:solidFill>
                  <a:srgbClr val="360CAC"/>
                </a:solidFill>
                <a:latin typeface="Times New Roman" panose="02020603050405020304" pitchFamily="18" charset="0"/>
                <a:cs typeface="Times New Roman" panose="02020603050405020304" pitchFamily="18" charset="0"/>
              </a:rPr>
              <a:t>空间自相关</a:t>
            </a:r>
            <a:r>
              <a:rPr lang="zh-CN" altLang="en-US" sz="2800" b="0" dirty="0">
                <a:latin typeface="Times New Roman" panose="02020603050405020304" pitchFamily="18" charset="0"/>
                <a:cs typeface="Times New Roman" panose="02020603050405020304" pitchFamily="18" charset="0"/>
              </a:rPr>
              <a:t>的概念，使研究者能够从统计上评估数据的</a:t>
            </a:r>
            <a:r>
              <a:rPr lang="zh-CN" altLang="en-US" sz="2800" b="0" dirty="0">
                <a:solidFill>
                  <a:srgbClr val="0000CC"/>
                </a:solidFill>
                <a:latin typeface="Times New Roman" panose="02020603050405020304" pitchFamily="18" charset="0"/>
                <a:cs typeface="Times New Roman" panose="02020603050405020304" pitchFamily="18" charset="0"/>
              </a:rPr>
              <a:t>空间依赖性程度</a:t>
            </a:r>
            <a:r>
              <a:rPr lang="zh-CN" altLang="en-US" sz="2800" b="0" dirty="0">
                <a:latin typeface="Times New Roman" panose="02020603050405020304" pitchFamily="18" charset="0"/>
                <a:cs typeface="Times New Roman" panose="02020603050405020304" pitchFamily="18" charset="0"/>
              </a:rPr>
              <a:t>。</a:t>
            </a:r>
          </a:p>
        </p:txBody>
      </p:sp>
      <p:sp>
        <p:nvSpPr>
          <p:cNvPr id="4" name="TextBox 6"/>
          <p:cNvSpPr txBox="1">
            <a:spLocks noChangeArrowheads="1"/>
          </p:cNvSpPr>
          <p:nvPr/>
        </p:nvSpPr>
        <p:spPr bwMode="auto">
          <a:xfrm>
            <a:off x="240248" y="116632"/>
            <a:ext cx="41157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2.1   </a:t>
            </a:r>
            <a:r>
              <a:rPr lang="zh-CN" altLang="en-US" sz="4000" dirty="0">
                <a:solidFill>
                  <a:srgbClr val="FFFF00"/>
                </a:solidFill>
                <a:latin typeface="Times New Roman" panose="02020603050405020304" pitchFamily="18" charset="0"/>
                <a:cs typeface="Times New Roman" panose="02020603050405020304" pitchFamily="18" charset="0"/>
              </a:rPr>
              <a:t>地理学定律</a:t>
            </a:r>
          </a:p>
        </p:txBody>
      </p:sp>
      <p:sp>
        <p:nvSpPr>
          <p:cNvPr id="3" name="灯片编号占位符 2"/>
          <p:cNvSpPr>
            <a:spLocks noGrp="1"/>
          </p:cNvSpPr>
          <p:nvPr>
            <p:ph type="sldNum" sz="quarter" idx="10"/>
          </p:nvPr>
        </p:nvSpPr>
        <p:spPr/>
        <p:txBody>
          <a:bodyPr/>
          <a:lstStyle/>
          <a:p>
            <a:pPr>
              <a:defRPr/>
            </a:pPr>
            <a:fld id="{F2022BCA-CEF6-49A1-BA1D-26724DAA5E0F}" type="slidenum">
              <a:rPr lang="zh-CN" altLang="en-US" smtClean="0">
                <a:latin typeface="Times New Roman" panose="02020603050405020304" pitchFamily="18" charset="0"/>
                <a:cs typeface="Times New Roman" panose="02020603050405020304" pitchFamily="18" charset="0"/>
              </a:rPr>
              <a:pPr>
                <a:defRPr/>
              </a:pPr>
              <a:t>4</a:t>
            </a:fld>
            <a:endParaRPr lang="en-US" altLang="zh-CN">
              <a:latin typeface="Times New Roman" panose="02020603050405020304" pitchFamily="18" charset="0"/>
              <a:cs typeface="Times New Roman" panose="02020603050405020304" pitchFamily="18" charset="0"/>
            </a:endParaRPr>
          </a:p>
        </p:txBody>
      </p:sp>
      <p:sp>
        <p:nvSpPr>
          <p:cNvPr id="7" name="TextBox 6"/>
          <p:cNvSpPr txBox="1">
            <a:spLocks noChangeArrowheads="1"/>
          </p:cNvSpPr>
          <p:nvPr/>
        </p:nvSpPr>
        <p:spPr bwMode="auto">
          <a:xfrm>
            <a:off x="395536" y="1092800"/>
            <a:ext cx="77881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dirty="0">
                <a:solidFill>
                  <a:srgbClr val="0000CC"/>
                </a:solidFill>
                <a:latin typeface="Times New Roman" panose="02020603050405020304" pitchFamily="18" charset="0"/>
                <a:cs typeface="Times New Roman" panose="02020603050405020304" pitchFamily="18" charset="0"/>
              </a:rPr>
              <a:t>2.1.1  </a:t>
            </a:r>
            <a:r>
              <a:rPr lang="zh-CN" altLang="en-US" dirty="0">
                <a:solidFill>
                  <a:srgbClr val="0000CC"/>
                </a:solidFill>
                <a:latin typeface="Times New Roman" panose="02020603050405020304" pitchFamily="18" charset="0"/>
                <a:cs typeface="Times New Roman" panose="02020603050405020304" pitchFamily="18" charset="0"/>
              </a:rPr>
              <a:t>地理学第一定律：空间相关性</a:t>
            </a:r>
          </a:p>
        </p:txBody>
      </p:sp>
      <p:sp>
        <p:nvSpPr>
          <p:cNvPr id="2" name="文本框 1"/>
          <p:cNvSpPr txBox="1"/>
          <p:nvPr/>
        </p:nvSpPr>
        <p:spPr>
          <a:xfrm>
            <a:off x="227500" y="4812090"/>
            <a:ext cx="8635324" cy="1384995"/>
          </a:xfrm>
          <a:prstGeom prst="rect">
            <a:avLst/>
          </a:prstGeom>
          <a:noFill/>
        </p:spPr>
        <p:txBody>
          <a:bodyPr wrap="square" rtlCol="0">
            <a:spAutoFit/>
          </a:bodyPr>
          <a:lstStyle/>
          <a:p>
            <a:pPr algn="just">
              <a:spcBef>
                <a:spcPts val="0"/>
              </a:spcBef>
            </a:pPr>
            <a:r>
              <a:rPr lang="en-US" altLang="zh-CN" sz="2800" b="1" dirty="0">
                <a:solidFill>
                  <a:srgbClr val="0000CC"/>
                </a:solidFill>
                <a:latin typeface="Times New Roman" panose="02020603050405020304" pitchFamily="18" charset="0"/>
                <a:cs typeface="Times New Roman" panose="02020603050405020304" pitchFamily="18" charset="0"/>
              </a:rPr>
              <a:t>Tobler's First Law (TFL): </a:t>
            </a:r>
            <a:r>
              <a:rPr lang="en-US" altLang="zh-CN" sz="2800" b="1" dirty="0">
                <a:latin typeface="Times New Roman" panose="02020603050405020304" pitchFamily="18" charset="0"/>
                <a:cs typeface="Times New Roman" panose="02020603050405020304" pitchFamily="18" charset="0"/>
              </a:rPr>
              <a:t>Everything is related to everything else, but near things are more related than distant things. </a:t>
            </a:r>
          </a:p>
        </p:txBody>
      </p:sp>
      <p:sp>
        <p:nvSpPr>
          <p:cNvPr id="5" name="文本框 4"/>
          <p:cNvSpPr txBox="1"/>
          <p:nvPr/>
        </p:nvSpPr>
        <p:spPr>
          <a:xfrm>
            <a:off x="107504" y="6167442"/>
            <a:ext cx="8755320" cy="646331"/>
          </a:xfrm>
          <a:prstGeom prst="rect">
            <a:avLst/>
          </a:prstGeom>
          <a:noFill/>
        </p:spPr>
        <p:txBody>
          <a:bodyPr wrap="square" rtlCol="0">
            <a:spAutoFit/>
          </a:bodyPr>
          <a:lstStyle/>
          <a:p>
            <a:r>
              <a:rPr lang="en-US" altLang="zh-CN" dirty="0">
                <a:solidFill>
                  <a:schemeClr val="tx1"/>
                </a:solidFill>
                <a:latin typeface="Times New Roman" panose="02020603050405020304" pitchFamily="18" charset="0"/>
                <a:ea typeface="宋体" pitchFamily="2" charset="-122"/>
                <a:cs typeface="Times New Roman" panose="02020603050405020304" pitchFamily="18" charset="0"/>
              </a:rPr>
              <a:t>Tobler, W. R. 1970. </a:t>
            </a:r>
            <a:r>
              <a:rPr lang="en-US" altLang="zh-CN" dirty="0">
                <a:solidFill>
                  <a:srgbClr val="0000CC"/>
                </a:solidFill>
                <a:latin typeface="Times New Roman" panose="02020603050405020304" pitchFamily="18" charset="0"/>
                <a:ea typeface="宋体" pitchFamily="2" charset="-122"/>
                <a:cs typeface="Times New Roman" panose="02020603050405020304" pitchFamily="18" charset="0"/>
              </a:rPr>
              <a:t>A Computer Movie Simulating Urban Growth in the Detroit Region</a:t>
            </a:r>
            <a:r>
              <a:rPr lang="en-US" altLang="zh-CN" dirty="0">
                <a:solidFill>
                  <a:schemeClr val="tx1"/>
                </a:solidFill>
                <a:latin typeface="Times New Roman" panose="02020603050405020304" pitchFamily="18" charset="0"/>
                <a:ea typeface="宋体" pitchFamily="2" charset="-122"/>
                <a:cs typeface="Times New Roman" panose="02020603050405020304" pitchFamily="18" charset="0"/>
              </a:rPr>
              <a:t>. Economic Geography 46(sup1): 234–240. doi:10.2307/143141.</a:t>
            </a:r>
            <a:endParaRPr lang="zh-CN" altLang="en-US" dirty="0"/>
          </a:p>
        </p:txBody>
      </p:sp>
    </p:spTree>
    <p:extLst>
      <p:ext uri="{BB962C8B-B14F-4D97-AF65-F5344CB8AC3E}">
        <p14:creationId xmlns:p14="http://schemas.microsoft.com/office/powerpoint/2010/main" val="402074541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latin typeface="Times New Roman" panose="02020603050405020304" pitchFamily="18" charset="0"/>
                <a:cs typeface="Times New Roman" panose="02020603050405020304" pitchFamily="18" charset="0"/>
              </a:rPr>
              <a:pPr>
                <a:defRPr/>
              </a:pPr>
              <a:t>5</a:t>
            </a:fld>
            <a:endParaRPr lang="en-US" altLang="zh-CN">
              <a:latin typeface="Times New Roman" panose="02020603050405020304" pitchFamily="18" charset="0"/>
              <a:cs typeface="Times New Roman" panose="02020603050405020304" pitchFamily="18" charset="0"/>
            </a:endParaRPr>
          </a:p>
        </p:txBody>
      </p:sp>
      <p:sp>
        <p:nvSpPr>
          <p:cNvPr id="3" name="TextBox 6"/>
          <p:cNvSpPr txBox="1">
            <a:spLocks noChangeArrowheads="1"/>
          </p:cNvSpPr>
          <p:nvPr/>
        </p:nvSpPr>
        <p:spPr bwMode="auto">
          <a:xfrm>
            <a:off x="5364088" y="91255"/>
            <a:ext cx="39717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chemeClr val="tx2"/>
                </a:solidFill>
                <a:latin typeface="Times New Roman" panose="02020603050405020304" pitchFamily="18" charset="0"/>
                <a:cs typeface="Times New Roman" panose="02020603050405020304" pitchFamily="18" charset="0"/>
              </a:rPr>
              <a:t>2.1   </a:t>
            </a:r>
            <a:r>
              <a:rPr lang="zh-CN" altLang="en-US" sz="4000" dirty="0">
                <a:solidFill>
                  <a:schemeClr val="tx2"/>
                </a:solidFill>
                <a:latin typeface="Times New Roman" panose="02020603050405020304" pitchFamily="18" charset="0"/>
                <a:cs typeface="Times New Roman" panose="02020603050405020304" pitchFamily="18" charset="0"/>
              </a:rPr>
              <a:t>地理学定律</a:t>
            </a:r>
          </a:p>
        </p:txBody>
      </p:sp>
      <p:sp>
        <p:nvSpPr>
          <p:cNvPr id="5" name="文本框 4"/>
          <p:cNvSpPr txBox="1"/>
          <p:nvPr/>
        </p:nvSpPr>
        <p:spPr>
          <a:xfrm>
            <a:off x="104801" y="2329997"/>
            <a:ext cx="3393273" cy="4047262"/>
          </a:xfrm>
          <a:prstGeom prst="rect">
            <a:avLst/>
          </a:prstGeom>
          <a:noFill/>
        </p:spPr>
        <p:txBody>
          <a:bodyPr wrap="square" rtlCol="0">
            <a:spAutoFit/>
          </a:bodyPr>
          <a:lstStyle/>
          <a:p>
            <a:pPr>
              <a:spcBef>
                <a:spcPts val="600"/>
              </a:spcBef>
              <a:spcAft>
                <a:spcPts val="0"/>
              </a:spcAft>
            </a:pPr>
            <a:r>
              <a:rPr lang="zh-CN" altLang="en-US" sz="2800" dirty="0">
                <a:solidFill>
                  <a:srgbClr val="0000CC"/>
                </a:solidFill>
                <a:latin typeface="Times New Roman" panose="02020603050405020304" pitchFamily="18" charset="0"/>
                <a:cs typeface="Times New Roman" panose="02020603050405020304" pitchFamily="18" charset="0"/>
              </a:rPr>
              <a:t>距离：</a:t>
            </a:r>
            <a:r>
              <a:rPr lang="en-US" altLang="zh-CN" sz="2800" dirty="0">
                <a:latin typeface="Times New Roman" panose="02020603050405020304" pitchFamily="18" charset="0"/>
                <a:cs typeface="Times New Roman" panose="02020603050405020304" pitchFamily="18" charset="0"/>
              </a:rPr>
              <a:t>every thing </a:t>
            </a:r>
            <a:r>
              <a:rPr lang="zh-CN" altLang="en-US" sz="2800" dirty="0">
                <a:latin typeface="Times New Roman" panose="02020603050405020304" pitchFamily="18" charset="0"/>
                <a:cs typeface="Times New Roman" panose="02020603050405020304" pitchFamily="18" charset="0"/>
              </a:rPr>
              <a:t>不是指欧式空间中几何点之间的距离，而是地理空间中的相对匀质的地理单元之间的距离。</a:t>
            </a:r>
            <a:endParaRPr lang="en-US" altLang="zh-CN" sz="2800" dirty="0">
              <a:latin typeface="Times New Roman" panose="02020603050405020304" pitchFamily="18" charset="0"/>
              <a:cs typeface="Times New Roman" panose="02020603050405020304" pitchFamily="18" charset="0"/>
            </a:endParaRPr>
          </a:p>
          <a:p>
            <a:pPr>
              <a:spcBef>
                <a:spcPts val="600"/>
              </a:spcBef>
              <a:spcAft>
                <a:spcPts val="0"/>
              </a:spcAft>
            </a:pPr>
            <a:r>
              <a:rPr lang="zh-CN" altLang="en-US" sz="2800" dirty="0">
                <a:solidFill>
                  <a:srgbClr val="0000CC"/>
                </a:solidFill>
                <a:latin typeface="Times New Roman" panose="02020603050405020304" pitchFamily="18" charset="0"/>
                <a:cs typeface="Times New Roman" panose="02020603050405020304" pitchFamily="18" charset="0"/>
              </a:rPr>
              <a:t>空间邻近度：</a:t>
            </a:r>
            <a:r>
              <a:rPr lang="zh-CN" altLang="en-US" sz="2800" dirty="0">
                <a:latin typeface="Times New Roman" panose="02020603050405020304" pitchFamily="18" charset="0"/>
                <a:cs typeface="Times New Roman" panose="02020603050405020304" pitchFamily="18" charset="0"/>
              </a:rPr>
              <a:t>空间邻近度</a:t>
            </a:r>
            <a:r>
              <a:rPr lang="zh-CN" altLang="en-US" sz="2800" dirty="0">
                <a:solidFill>
                  <a:srgbClr val="0000CC"/>
                </a:solidFill>
                <a:latin typeface="Times New Roman" panose="02020603050405020304" pitchFamily="18" charset="0"/>
                <a:cs typeface="Times New Roman" panose="02020603050405020304" pitchFamily="18" charset="0"/>
              </a:rPr>
              <a:t>正比于</a:t>
            </a:r>
            <a:r>
              <a:rPr lang="zh-CN" altLang="en-US" sz="2800" dirty="0">
                <a:latin typeface="Times New Roman" panose="02020603050405020304" pitchFamily="18" charset="0"/>
                <a:cs typeface="Times New Roman" panose="02020603050405020304" pitchFamily="18" charset="0"/>
              </a:rPr>
              <a:t>公共边界长，</a:t>
            </a:r>
            <a:r>
              <a:rPr lang="zh-CN" altLang="en-US" sz="2800" dirty="0">
                <a:solidFill>
                  <a:srgbClr val="0000CC"/>
                </a:solidFill>
                <a:latin typeface="Times New Roman" panose="02020603050405020304" pitchFamily="18" charset="0"/>
                <a:cs typeface="Times New Roman" panose="02020603050405020304" pitchFamily="18" charset="0"/>
              </a:rPr>
              <a:t>反比于</a:t>
            </a:r>
            <a:r>
              <a:rPr lang="zh-CN" altLang="en-US" sz="2800" dirty="0">
                <a:latin typeface="Times New Roman" panose="02020603050405020304" pitchFamily="18" charset="0"/>
                <a:cs typeface="Times New Roman" panose="02020603050405020304" pitchFamily="18" charset="0"/>
              </a:rPr>
              <a:t>中心距。</a:t>
            </a:r>
            <a:endParaRPr lang="en-US" altLang="zh-CN" sz="2800" dirty="0">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5863" y="2554184"/>
            <a:ext cx="5555423" cy="3929657"/>
          </a:xfrm>
          <a:prstGeom prst="rect">
            <a:avLst/>
          </a:prstGeom>
        </p:spPr>
      </p:pic>
      <p:sp>
        <p:nvSpPr>
          <p:cNvPr id="7" name="TextBox 6"/>
          <p:cNvSpPr txBox="1">
            <a:spLocks noChangeArrowheads="1"/>
          </p:cNvSpPr>
          <p:nvPr/>
        </p:nvSpPr>
        <p:spPr bwMode="auto">
          <a:xfrm>
            <a:off x="139364" y="134356"/>
            <a:ext cx="45398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dirty="0">
                <a:solidFill>
                  <a:srgbClr val="FFFF00"/>
                </a:solidFill>
                <a:latin typeface="Times New Roman" panose="02020603050405020304" pitchFamily="18" charset="0"/>
                <a:cs typeface="Times New Roman" panose="02020603050405020304" pitchFamily="18" charset="0"/>
              </a:rPr>
              <a:t>2.1.1  </a:t>
            </a:r>
            <a:r>
              <a:rPr lang="zh-CN" altLang="en-US" dirty="0">
                <a:solidFill>
                  <a:srgbClr val="FFFF00"/>
                </a:solidFill>
                <a:latin typeface="Times New Roman" panose="02020603050405020304" pitchFamily="18" charset="0"/>
                <a:cs typeface="Times New Roman" panose="02020603050405020304" pitchFamily="18" charset="0"/>
              </a:rPr>
              <a:t>地理学第一定律</a:t>
            </a:r>
          </a:p>
        </p:txBody>
      </p:sp>
      <p:sp>
        <p:nvSpPr>
          <p:cNvPr id="8" name="文本框 7"/>
          <p:cNvSpPr txBox="1"/>
          <p:nvPr/>
        </p:nvSpPr>
        <p:spPr>
          <a:xfrm>
            <a:off x="104802" y="861868"/>
            <a:ext cx="8859686" cy="1569660"/>
          </a:xfrm>
          <a:prstGeom prst="rect">
            <a:avLst/>
          </a:prstGeom>
          <a:noFill/>
        </p:spPr>
        <p:txBody>
          <a:bodyPr wrap="square" rtlCol="0">
            <a:spAutoFit/>
          </a:bodyPr>
          <a:lstStyle/>
          <a:p>
            <a:pPr algn="just">
              <a:spcBef>
                <a:spcPts val="0"/>
              </a:spcBef>
            </a:pPr>
            <a:r>
              <a:rPr lang="en-US" altLang="zh-CN" sz="3200" b="1" dirty="0">
                <a:solidFill>
                  <a:srgbClr val="0000CC"/>
                </a:solidFill>
                <a:latin typeface="Times New Roman" panose="02020603050405020304" pitchFamily="18" charset="0"/>
                <a:cs typeface="Times New Roman" panose="02020603050405020304" pitchFamily="18" charset="0"/>
              </a:rPr>
              <a:t>Tobler's First Law (TFL): </a:t>
            </a:r>
            <a:r>
              <a:rPr lang="en-US" altLang="zh-CN" sz="3200" b="1" dirty="0">
                <a:latin typeface="Times New Roman" panose="02020603050405020304" pitchFamily="18" charset="0"/>
                <a:cs typeface="Times New Roman" panose="02020603050405020304" pitchFamily="18" charset="0"/>
              </a:rPr>
              <a:t>Everything is related to every thing else, but near things are more related than distant things.</a:t>
            </a:r>
          </a:p>
        </p:txBody>
      </p:sp>
    </p:spTree>
    <p:extLst>
      <p:ext uri="{BB962C8B-B14F-4D97-AF65-F5344CB8AC3E}">
        <p14:creationId xmlns:p14="http://schemas.microsoft.com/office/powerpoint/2010/main" val="235490358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latin typeface="Times New Roman" panose="02020603050405020304" pitchFamily="18" charset="0"/>
                <a:cs typeface="Times New Roman" panose="02020603050405020304" pitchFamily="18" charset="0"/>
              </a:rPr>
              <a:pPr>
                <a:defRPr/>
              </a:pPr>
              <a:t>6</a:t>
            </a:fld>
            <a:endParaRPr lang="en-US" altLang="zh-CN">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395536" y="3462842"/>
            <a:ext cx="1823966" cy="1717737"/>
          </a:xfrm>
          <a:prstGeom prst="rect">
            <a:avLst/>
          </a:prstGeom>
        </p:spPr>
      </p:pic>
      <p:sp>
        <p:nvSpPr>
          <p:cNvPr id="4" name="TextBox 6"/>
          <p:cNvSpPr txBox="1">
            <a:spLocks noChangeArrowheads="1"/>
          </p:cNvSpPr>
          <p:nvPr/>
        </p:nvSpPr>
        <p:spPr bwMode="auto">
          <a:xfrm>
            <a:off x="240248" y="116632"/>
            <a:ext cx="41157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2.1   </a:t>
            </a:r>
            <a:r>
              <a:rPr lang="zh-CN" altLang="en-US" sz="4000" dirty="0">
                <a:solidFill>
                  <a:srgbClr val="FFFF00"/>
                </a:solidFill>
                <a:latin typeface="Times New Roman" panose="02020603050405020304" pitchFamily="18" charset="0"/>
                <a:cs typeface="Times New Roman" panose="02020603050405020304" pitchFamily="18" charset="0"/>
              </a:rPr>
              <a:t>地理学定律</a:t>
            </a:r>
          </a:p>
        </p:txBody>
      </p:sp>
      <p:sp>
        <p:nvSpPr>
          <p:cNvPr id="5" name="TextBox 6"/>
          <p:cNvSpPr txBox="1">
            <a:spLocks noChangeArrowheads="1"/>
          </p:cNvSpPr>
          <p:nvPr/>
        </p:nvSpPr>
        <p:spPr bwMode="auto">
          <a:xfrm>
            <a:off x="179512" y="926240"/>
            <a:ext cx="89295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dirty="0">
                <a:solidFill>
                  <a:srgbClr val="0000CC"/>
                </a:solidFill>
                <a:latin typeface="Times New Roman" panose="02020603050405020304" pitchFamily="18" charset="0"/>
                <a:cs typeface="Times New Roman" panose="02020603050405020304" pitchFamily="18" charset="0"/>
              </a:rPr>
              <a:t>2.1.1  </a:t>
            </a:r>
            <a:r>
              <a:rPr lang="zh-CN" altLang="en-US" dirty="0">
                <a:solidFill>
                  <a:srgbClr val="0000CC"/>
                </a:solidFill>
                <a:latin typeface="Times New Roman" panose="02020603050405020304" pitchFamily="18" charset="0"/>
                <a:cs typeface="Times New Roman" panose="02020603050405020304" pitchFamily="18" charset="0"/>
              </a:rPr>
              <a:t>地理学第一定律</a:t>
            </a:r>
            <a:r>
              <a:rPr lang="en-US" altLang="zh-CN" dirty="0">
                <a:solidFill>
                  <a:srgbClr val="0000CC"/>
                </a:solidFill>
                <a:latin typeface="Times New Roman" panose="02020603050405020304" pitchFamily="18" charset="0"/>
                <a:cs typeface="Times New Roman" panose="02020603050405020304" pitchFamily="18" charset="0"/>
              </a:rPr>
              <a:t>:</a:t>
            </a:r>
            <a:r>
              <a:rPr lang="zh-CN" altLang="en-US" dirty="0">
                <a:solidFill>
                  <a:srgbClr val="0000CC"/>
                </a:solidFill>
                <a:latin typeface="Times New Roman" panose="02020603050405020304" pitchFamily="18" charset="0"/>
                <a:cs typeface="Times New Roman" panose="02020603050405020304" pitchFamily="18" charset="0"/>
              </a:rPr>
              <a:t>空间相关性</a:t>
            </a:r>
            <a:r>
              <a:rPr lang="en-US" altLang="zh-CN" sz="2400" dirty="0">
                <a:solidFill>
                  <a:srgbClr val="0000CC"/>
                </a:solidFill>
                <a:latin typeface="Times New Roman" panose="02020603050405020304" pitchFamily="18" charset="0"/>
                <a:cs typeface="Times New Roman" panose="02020603050405020304" pitchFamily="18" charset="0"/>
              </a:rPr>
              <a:t>(</a:t>
            </a:r>
            <a:r>
              <a:rPr lang="en-US" altLang="zh-CN" sz="2000" dirty="0">
                <a:solidFill>
                  <a:srgbClr val="0000CC"/>
                </a:solidFill>
                <a:latin typeface="Times New Roman" panose="02020603050405020304" pitchFamily="18" charset="0"/>
                <a:cs typeface="Times New Roman" panose="02020603050405020304" pitchFamily="18" charset="0"/>
              </a:rPr>
              <a:t>spatial autocorrelation)</a:t>
            </a:r>
            <a:endParaRPr lang="zh-CN" altLang="en-US" sz="4000" dirty="0">
              <a:solidFill>
                <a:srgbClr val="0000CC"/>
              </a:solidFill>
              <a:latin typeface="Times New Roman" panose="02020603050405020304" pitchFamily="18" charset="0"/>
              <a:cs typeface="Times New Roman" panose="02020603050405020304" pitchFamily="18" charset="0"/>
            </a:endParaRPr>
          </a:p>
        </p:txBody>
      </p:sp>
      <p:sp>
        <p:nvSpPr>
          <p:cNvPr id="6" name="文本框 5"/>
          <p:cNvSpPr txBox="1"/>
          <p:nvPr/>
        </p:nvSpPr>
        <p:spPr>
          <a:xfrm>
            <a:off x="133890" y="1455877"/>
            <a:ext cx="8830597" cy="1477328"/>
          </a:xfrm>
          <a:prstGeom prst="rect">
            <a:avLst/>
          </a:prstGeom>
          <a:noFill/>
        </p:spPr>
        <p:txBody>
          <a:bodyPr wrap="square" rtlCol="0">
            <a:spAutoFit/>
          </a:bodyPr>
          <a:lstStyle/>
          <a:p>
            <a:pPr>
              <a:spcBef>
                <a:spcPts val="0"/>
              </a:spcBef>
              <a:spcAft>
                <a:spcPts val="0"/>
              </a:spcAft>
            </a:pPr>
            <a:r>
              <a:rPr lang="zh-CN" altLang="en-US" sz="2400" dirty="0">
                <a:solidFill>
                  <a:srgbClr val="0000CC"/>
                </a:solidFill>
                <a:latin typeface="Times New Roman" panose="02020603050405020304" pitchFamily="18" charset="0"/>
                <a:cs typeface="Times New Roman" panose="02020603050405020304" pitchFamily="18" charset="0"/>
              </a:rPr>
              <a:t>时空邻近度：</a:t>
            </a:r>
            <a:r>
              <a:rPr lang="zh-CN" altLang="en-US" sz="2400" dirty="0">
                <a:solidFill>
                  <a:schemeClr val="tx1"/>
                </a:solidFill>
                <a:latin typeface="Times New Roman" panose="02020603050405020304" pitchFamily="18" charset="0"/>
                <a:cs typeface="Times New Roman" panose="02020603050405020304" pitchFamily="18" charset="0"/>
              </a:rPr>
              <a:t>地理空间任意两匀质区域</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含点</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之间的时空邻近度，对给定的“流”，正比于二者之间的总流量，反比于从一端到达另一端的平均时间。</a:t>
            </a:r>
            <a:endParaRPr lang="en-US" altLang="zh-CN" sz="2400" dirty="0">
              <a:solidFill>
                <a:schemeClr val="tx1"/>
              </a:solidFill>
              <a:latin typeface="Times New Roman" panose="02020603050405020304" pitchFamily="18" charset="0"/>
              <a:cs typeface="Times New Roman" panose="02020603050405020304" pitchFamily="18" charset="0"/>
            </a:endParaRPr>
          </a:p>
          <a:p>
            <a:pPr>
              <a:spcBef>
                <a:spcPts val="0"/>
              </a:spcBef>
              <a:spcAft>
                <a:spcPts val="0"/>
              </a:spcAft>
            </a:pPr>
            <a:r>
              <a:rPr lang="en-US" altLang="zh-CN" dirty="0">
                <a:solidFill>
                  <a:schemeClr val="tx1"/>
                </a:solidFill>
                <a:latin typeface="Times New Roman" panose="02020603050405020304" pitchFamily="18" charset="0"/>
                <a:cs typeface="Times New Roman" panose="02020603050405020304" pitchFamily="18" charset="0"/>
              </a:rPr>
              <a:t>“</a:t>
            </a:r>
            <a:r>
              <a:rPr lang="zh-CN" altLang="en-US" dirty="0">
                <a:solidFill>
                  <a:schemeClr val="tx1"/>
                </a:solidFill>
                <a:latin typeface="Times New Roman" panose="02020603050405020304" pitchFamily="18" charset="0"/>
                <a:cs typeface="Times New Roman" panose="02020603050405020304" pitchFamily="18" charset="0"/>
              </a:rPr>
              <a:t>邻国相望，鸡犬之声相闻，民至死不相往来</a:t>
            </a:r>
            <a:r>
              <a:rPr lang="en-US" altLang="zh-CN" dirty="0">
                <a:solidFill>
                  <a:schemeClr val="tx1"/>
                </a:solidFill>
                <a:latin typeface="Times New Roman" panose="02020603050405020304" pitchFamily="18" charset="0"/>
                <a:cs typeface="Times New Roman" panose="02020603050405020304" pitchFamily="18" charset="0"/>
              </a:rPr>
              <a:t>”  </a:t>
            </a:r>
            <a:r>
              <a:rPr lang="zh-CN" altLang="en-US" dirty="0">
                <a:solidFill>
                  <a:schemeClr val="tx1"/>
                </a:solidFill>
                <a:latin typeface="Times New Roman" panose="02020603050405020304" pitchFamily="18" charset="0"/>
                <a:cs typeface="Times New Roman" panose="02020603050405020304" pitchFamily="18" charset="0"/>
              </a:rPr>
              <a:t>、“柏林墙”、“朝鲜韩国边界线”</a:t>
            </a:r>
          </a:p>
        </p:txBody>
      </p:sp>
      <p:sp>
        <p:nvSpPr>
          <p:cNvPr id="7" name="文本框 6"/>
          <p:cNvSpPr txBox="1"/>
          <p:nvPr/>
        </p:nvSpPr>
        <p:spPr>
          <a:xfrm>
            <a:off x="207114" y="2933205"/>
            <a:ext cx="3683680" cy="461665"/>
          </a:xfrm>
          <a:prstGeom prst="rect">
            <a:avLst/>
          </a:prstGeom>
          <a:noFill/>
        </p:spPr>
        <p:txBody>
          <a:bodyPr wrap="square" rtlCol="0">
            <a:spAutoFit/>
          </a:bodyPr>
          <a:lstStyle/>
          <a:p>
            <a:r>
              <a:rPr lang="zh-CN" altLang="en-US" sz="1200" u="sng" dirty="0">
                <a:solidFill>
                  <a:srgbClr val="0000CC"/>
                </a:solidFill>
                <a:latin typeface="Times New Roman" panose="02020603050405020304" pitchFamily="18" charset="0"/>
                <a:cs typeface="Times New Roman" panose="02020603050405020304" pitchFamily="18" charset="0"/>
              </a:rPr>
              <a:t>李小文</a:t>
            </a:r>
            <a:r>
              <a:rPr lang="en-US" altLang="zh-CN" sz="1200" dirty="0">
                <a:solidFill>
                  <a:srgbClr val="0000CC"/>
                </a:solidFill>
                <a:latin typeface="Times New Roman" panose="02020603050405020304" pitchFamily="18" charset="0"/>
                <a:cs typeface="Times New Roman" panose="02020603050405020304" pitchFamily="18" charset="0"/>
              </a:rPr>
              <a:t>,</a:t>
            </a:r>
            <a:r>
              <a:rPr lang="zh-CN" altLang="en-US" sz="1200" dirty="0">
                <a:solidFill>
                  <a:srgbClr val="0000CC"/>
                </a:solidFill>
                <a:latin typeface="Times New Roman" panose="02020603050405020304" pitchFamily="18" charset="0"/>
                <a:cs typeface="Times New Roman" panose="02020603050405020304" pitchFamily="18" charset="0"/>
              </a:rPr>
              <a:t>曹春香</a:t>
            </a:r>
            <a:r>
              <a:rPr lang="en-US" altLang="zh-CN" sz="1200" dirty="0">
                <a:solidFill>
                  <a:srgbClr val="0000CC"/>
                </a:solidFill>
                <a:latin typeface="Times New Roman" panose="02020603050405020304" pitchFamily="18" charset="0"/>
                <a:cs typeface="Times New Roman" panose="02020603050405020304" pitchFamily="18" charset="0"/>
              </a:rPr>
              <a:t>,</a:t>
            </a:r>
            <a:r>
              <a:rPr lang="zh-CN" altLang="en-US" sz="1200" dirty="0">
                <a:solidFill>
                  <a:srgbClr val="0000CC"/>
                </a:solidFill>
                <a:latin typeface="Times New Roman" panose="02020603050405020304" pitchFamily="18" charset="0"/>
                <a:cs typeface="Times New Roman" panose="02020603050405020304" pitchFamily="18" charset="0"/>
              </a:rPr>
              <a:t>常超一</a:t>
            </a:r>
            <a:r>
              <a:rPr lang="en-US" altLang="zh-CN" sz="1200" dirty="0">
                <a:solidFill>
                  <a:srgbClr val="0000CC"/>
                </a:solidFill>
                <a:latin typeface="Times New Roman" panose="02020603050405020304" pitchFamily="18" charset="0"/>
                <a:cs typeface="Times New Roman" panose="02020603050405020304" pitchFamily="18" charset="0"/>
              </a:rPr>
              <a:t>. </a:t>
            </a:r>
            <a:r>
              <a:rPr lang="zh-CN" altLang="en-US" sz="1200" dirty="0">
                <a:solidFill>
                  <a:srgbClr val="0000CC"/>
                </a:solidFill>
                <a:latin typeface="Times New Roman" panose="02020603050405020304" pitchFamily="18" charset="0"/>
                <a:cs typeface="Times New Roman" panose="02020603050405020304" pitchFamily="18" charset="0"/>
              </a:rPr>
              <a:t>地理学第一定律与时空邻近度的提出 </a:t>
            </a:r>
            <a:r>
              <a:rPr lang="en-US" altLang="zh-CN" sz="1200" dirty="0">
                <a:solidFill>
                  <a:srgbClr val="0000CC"/>
                </a:solidFill>
                <a:latin typeface="Times New Roman" panose="02020603050405020304" pitchFamily="18" charset="0"/>
                <a:cs typeface="Times New Roman" panose="02020603050405020304" pitchFamily="18" charset="0"/>
              </a:rPr>
              <a:t>[J]. </a:t>
            </a:r>
            <a:r>
              <a:rPr lang="zh-CN" altLang="en-US" sz="1200" dirty="0">
                <a:solidFill>
                  <a:srgbClr val="0000CC"/>
                </a:solidFill>
                <a:latin typeface="Times New Roman" panose="02020603050405020304" pitchFamily="18" charset="0"/>
                <a:cs typeface="Times New Roman" panose="02020603050405020304" pitchFamily="18" charset="0"/>
              </a:rPr>
              <a:t>自然杂志</a:t>
            </a:r>
            <a:r>
              <a:rPr lang="en-US" altLang="zh-CN" sz="1200" dirty="0">
                <a:solidFill>
                  <a:srgbClr val="0000CC"/>
                </a:solidFill>
                <a:latin typeface="Times New Roman" panose="02020603050405020304" pitchFamily="18" charset="0"/>
                <a:cs typeface="Times New Roman" panose="02020603050405020304" pitchFamily="18" charset="0"/>
              </a:rPr>
              <a:t>, 2007,29(2): 69-71</a:t>
            </a:r>
            <a:endParaRPr lang="zh-CN" altLang="en-US" sz="1200" dirty="0">
              <a:solidFill>
                <a:srgbClr val="0000CC"/>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5536" y="5021460"/>
            <a:ext cx="2283705" cy="1615391"/>
          </a:xfrm>
          <a:prstGeom prst="rect">
            <a:avLst/>
          </a:prstGeom>
        </p:spPr>
      </p:pic>
      <p:pic>
        <p:nvPicPr>
          <p:cNvPr id="10" name="图片 9"/>
          <p:cNvPicPr>
            <a:picLocks noChangeAspect="1"/>
          </p:cNvPicPr>
          <p:nvPr/>
        </p:nvPicPr>
        <p:blipFill>
          <a:blip r:embed="rId5"/>
          <a:stretch>
            <a:fillRect/>
          </a:stretch>
        </p:blipFill>
        <p:spPr>
          <a:xfrm>
            <a:off x="4000170" y="2986093"/>
            <a:ext cx="4767123" cy="2259431"/>
          </a:xfrm>
          <a:prstGeom prst="rect">
            <a:avLst/>
          </a:prstGeom>
        </p:spPr>
      </p:pic>
      <p:sp>
        <p:nvSpPr>
          <p:cNvPr id="11" name="文本框 10"/>
          <p:cNvSpPr txBox="1"/>
          <p:nvPr/>
        </p:nvSpPr>
        <p:spPr>
          <a:xfrm>
            <a:off x="4227198" y="3043944"/>
            <a:ext cx="3044456" cy="584775"/>
          </a:xfrm>
          <a:prstGeom prst="rect">
            <a:avLst/>
          </a:prstGeom>
          <a:noFill/>
        </p:spPr>
        <p:txBody>
          <a:bodyPr wrap="square" rtlCol="0">
            <a:spAutoFit/>
          </a:bodyPr>
          <a:lstStyle/>
          <a:p>
            <a:r>
              <a:rPr lang="zh-CN" altLang="en-US" sz="1600" dirty="0">
                <a:solidFill>
                  <a:schemeClr val="tx2"/>
                </a:solidFill>
                <a:latin typeface="Times New Roman" panose="02020603050405020304" pitchFamily="18" charset="0"/>
                <a:cs typeface="Times New Roman" panose="02020603050405020304" pitchFamily="18" charset="0"/>
              </a:rPr>
              <a:t>百度迁徙：</a:t>
            </a:r>
            <a:endParaRPr lang="en-US" altLang="zh-CN" sz="1600" dirty="0">
              <a:solidFill>
                <a:schemeClr val="tx2"/>
              </a:solidFill>
              <a:latin typeface="Times New Roman" panose="02020603050405020304" pitchFamily="18" charset="0"/>
              <a:cs typeface="Times New Roman" panose="02020603050405020304" pitchFamily="18" charset="0"/>
            </a:endParaRPr>
          </a:p>
          <a:p>
            <a:r>
              <a:rPr lang="en-US" altLang="zh-CN" sz="1600" dirty="0">
                <a:solidFill>
                  <a:schemeClr val="tx2"/>
                </a:solidFill>
                <a:latin typeface="Times New Roman" panose="02020603050405020304" pitchFamily="18" charset="0"/>
                <a:cs typeface="Times New Roman" panose="02020603050405020304" pitchFamily="18" charset="0"/>
              </a:rPr>
              <a:t>http://qianxi.baidu.com/</a:t>
            </a:r>
            <a:endParaRPr lang="zh-CN" altLang="en-US" sz="1600" dirty="0">
              <a:solidFill>
                <a:schemeClr val="tx2"/>
              </a:solidFill>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a:blip r:embed="rId6"/>
          <a:stretch>
            <a:fillRect/>
          </a:stretch>
        </p:blipFill>
        <p:spPr>
          <a:xfrm>
            <a:off x="3960220" y="4622758"/>
            <a:ext cx="4753895" cy="2240656"/>
          </a:xfrm>
          <a:prstGeom prst="rect">
            <a:avLst/>
          </a:prstGeom>
        </p:spPr>
      </p:pic>
      <p:sp>
        <p:nvSpPr>
          <p:cNvPr id="13" name="椭圆 12"/>
          <p:cNvSpPr/>
          <p:nvPr/>
        </p:nvSpPr>
        <p:spPr bwMode="auto">
          <a:xfrm>
            <a:off x="6975475" y="3426289"/>
            <a:ext cx="1738640" cy="362751"/>
          </a:xfrm>
          <a:prstGeom prst="ellipse">
            <a:avLst/>
          </a:prstGeom>
          <a:noFill/>
          <a:ln w="57150">
            <a:solidFill>
              <a:srgbClr val="FF0000"/>
            </a:solidFill>
            <a:prstDash val="dash"/>
            <a:round/>
            <a:headEnd/>
            <a:tailEnd type="triangle" w="med" len="med"/>
          </a:ln>
        </p:spPr>
        <p:txBody>
          <a:bodyPr rtlCol="0" anchor="ctr"/>
          <a:lstStyle/>
          <a:p>
            <a:pPr algn="ctr"/>
            <a:endParaRPr lang="zh-CN" altLang="en-US"/>
          </a:p>
        </p:txBody>
      </p:sp>
      <p:sp>
        <p:nvSpPr>
          <p:cNvPr id="14" name="椭圆 13"/>
          <p:cNvSpPr/>
          <p:nvPr/>
        </p:nvSpPr>
        <p:spPr bwMode="auto">
          <a:xfrm>
            <a:off x="7047483" y="5301208"/>
            <a:ext cx="1628973" cy="384512"/>
          </a:xfrm>
          <a:prstGeom prst="ellipse">
            <a:avLst/>
          </a:prstGeom>
          <a:noFill/>
          <a:ln w="57150">
            <a:solidFill>
              <a:srgbClr val="FF0000"/>
            </a:solidFill>
            <a:prstDash val="dash"/>
            <a:round/>
            <a:headEnd/>
            <a:tailEnd type="triangle" w="med" len="med"/>
          </a:ln>
        </p:spPr>
        <p:txBody>
          <a:bodyPr rtlCol="0" anchor="ctr"/>
          <a:lstStyle/>
          <a:p>
            <a:pPr algn="ctr"/>
            <a:endParaRPr lang="zh-CN" altLang="en-US"/>
          </a:p>
        </p:txBody>
      </p:sp>
    </p:spTree>
    <p:extLst>
      <p:ext uri="{BB962C8B-B14F-4D97-AF65-F5344CB8AC3E}">
        <p14:creationId xmlns:p14="http://schemas.microsoft.com/office/powerpoint/2010/main" val="391167270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pPr>
              <a:defRPr/>
            </a:pPr>
            <a:fld id="{F2022BCA-CEF6-49A1-BA1D-26724DAA5E0F}" type="slidenum">
              <a:rPr lang="zh-CN" altLang="en-US" smtClean="0"/>
              <a:pPr>
                <a:defRPr/>
              </a:pPr>
              <a:t>7</a:t>
            </a:fld>
            <a:endParaRPr lang="en-US" altLang="zh-CN"/>
          </a:p>
        </p:txBody>
      </p:sp>
      <p:sp>
        <p:nvSpPr>
          <p:cNvPr id="7" name="TextBox 6"/>
          <p:cNvSpPr txBox="1">
            <a:spLocks noChangeArrowheads="1"/>
          </p:cNvSpPr>
          <p:nvPr/>
        </p:nvSpPr>
        <p:spPr bwMode="auto">
          <a:xfrm>
            <a:off x="240248" y="116632"/>
            <a:ext cx="4763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rPr>
              <a:t>2.1   </a:t>
            </a:r>
            <a:r>
              <a:rPr lang="zh-CN" altLang="en-US" sz="4000" dirty="0">
                <a:solidFill>
                  <a:srgbClr val="FFFF00"/>
                </a:solidFill>
                <a:latin typeface="Times New Roman" panose="02020603050405020304" pitchFamily="18" charset="0"/>
              </a:rPr>
              <a:t>地理学定律</a:t>
            </a:r>
          </a:p>
        </p:txBody>
      </p:sp>
      <p:sp>
        <p:nvSpPr>
          <p:cNvPr id="8" name="TextBox 6"/>
          <p:cNvSpPr txBox="1">
            <a:spLocks noChangeArrowheads="1"/>
          </p:cNvSpPr>
          <p:nvPr/>
        </p:nvSpPr>
        <p:spPr bwMode="auto">
          <a:xfrm>
            <a:off x="240248" y="984077"/>
            <a:ext cx="86522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b="0" dirty="0">
                <a:solidFill>
                  <a:srgbClr val="0000CC"/>
                </a:solidFill>
                <a:latin typeface="Times New Roman" panose="02020603050405020304" pitchFamily="18" charset="0"/>
              </a:rPr>
              <a:t>2.1.2  </a:t>
            </a:r>
            <a:r>
              <a:rPr lang="zh-CN" altLang="en-US" b="0" dirty="0">
                <a:solidFill>
                  <a:srgbClr val="0000CC"/>
                </a:solidFill>
                <a:latin typeface="Times New Roman" panose="02020603050405020304" pitchFamily="18" charset="0"/>
              </a:rPr>
              <a:t>地理学第二定律</a:t>
            </a:r>
            <a:r>
              <a:rPr lang="en-US" altLang="zh-CN" b="0" dirty="0">
                <a:solidFill>
                  <a:srgbClr val="0000CC"/>
                </a:solidFill>
                <a:latin typeface="Times New Roman" panose="02020603050405020304" pitchFamily="18" charset="0"/>
              </a:rPr>
              <a:t>:</a:t>
            </a:r>
            <a:r>
              <a:rPr lang="zh-CN" altLang="en-US" b="0" dirty="0">
                <a:solidFill>
                  <a:srgbClr val="0000CC"/>
                </a:solidFill>
                <a:latin typeface="Times New Roman" panose="02020603050405020304" pitchFamily="18" charset="0"/>
              </a:rPr>
              <a:t>空间异质性？</a:t>
            </a:r>
            <a:r>
              <a:rPr lang="en-US" altLang="zh-CN" sz="1800" b="0" dirty="0">
                <a:solidFill>
                  <a:srgbClr val="0000CC"/>
                </a:solidFill>
                <a:latin typeface="Times New Roman" panose="02020603050405020304" pitchFamily="18" charset="0"/>
              </a:rPr>
              <a:t>(spatial heterogeneity)</a:t>
            </a:r>
            <a:endParaRPr lang="zh-CN" altLang="en-US" b="0" dirty="0">
              <a:solidFill>
                <a:srgbClr val="0000CC"/>
              </a:solidFill>
              <a:latin typeface="Times New Roman" panose="02020603050405020304" pitchFamily="18" charset="0"/>
            </a:endParaRPr>
          </a:p>
        </p:txBody>
      </p:sp>
      <p:sp>
        <p:nvSpPr>
          <p:cNvPr id="6" name="TextBox 6"/>
          <p:cNvSpPr txBox="1">
            <a:spLocks noChangeArrowheads="1"/>
          </p:cNvSpPr>
          <p:nvPr/>
        </p:nvSpPr>
        <p:spPr bwMode="auto">
          <a:xfrm>
            <a:off x="240248" y="1615140"/>
            <a:ext cx="865223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b="0" dirty="0">
                <a:latin typeface="Times New Roman" panose="02020603050405020304" pitchFamily="18" charset="0"/>
                <a:cs typeface="Times New Roman" panose="02020603050405020304" pitchFamily="18" charset="0"/>
              </a:rPr>
              <a:t>Goodchild</a:t>
            </a:r>
            <a:r>
              <a:rPr lang="zh-CN" altLang="en-US" b="0" dirty="0">
                <a:latin typeface="Times New Roman" panose="02020603050405020304" pitchFamily="18" charset="0"/>
                <a:cs typeface="Times New Roman" panose="02020603050405020304" pitchFamily="18" charset="0"/>
              </a:rPr>
              <a:t>提出了“第二定律”可能诞生的方向：</a:t>
            </a:r>
            <a:r>
              <a:rPr lang="zh-CN" altLang="en-US" b="0" dirty="0">
                <a:solidFill>
                  <a:srgbClr val="0000CC"/>
                </a:solidFill>
                <a:latin typeface="Times New Roman" panose="02020603050405020304" pitchFamily="18" charset="0"/>
                <a:cs typeface="Times New Roman" panose="02020603050405020304" pitchFamily="18" charset="0"/>
              </a:rPr>
              <a:t>空间异质性</a:t>
            </a:r>
            <a:r>
              <a:rPr lang="zh-CN" altLang="en-US" b="0" dirty="0">
                <a:latin typeface="Times New Roman" panose="02020603050405020304" pitchFamily="18" charset="0"/>
                <a:cs typeface="Times New Roman" panose="02020603050405020304" pitchFamily="18" charset="0"/>
              </a:rPr>
              <a:t>，或者</a:t>
            </a:r>
            <a:r>
              <a:rPr lang="zh-CN" altLang="en-US" b="0" dirty="0">
                <a:solidFill>
                  <a:srgbClr val="0000CC"/>
                </a:solidFill>
                <a:latin typeface="Times New Roman" panose="02020603050405020304" pitchFamily="18" charset="0"/>
                <a:cs typeface="Times New Roman" panose="02020603050405020304" pitchFamily="18" charset="0"/>
              </a:rPr>
              <a:t>地理现象的分散性</a:t>
            </a:r>
            <a:r>
              <a:rPr lang="zh-CN" altLang="en-US" b="0" dirty="0">
                <a:latin typeface="Times New Roman" panose="02020603050405020304" pitchFamily="18" charset="0"/>
                <a:cs typeface="Times New Roman" panose="02020603050405020304" pitchFamily="18" charset="0"/>
              </a:rPr>
              <a:t>。</a:t>
            </a:r>
          </a:p>
        </p:txBody>
      </p:sp>
      <p:pic>
        <p:nvPicPr>
          <p:cNvPr id="2" name="图片 1"/>
          <p:cNvPicPr>
            <a:picLocks noChangeAspect="1"/>
          </p:cNvPicPr>
          <p:nvPr/>
        </p:nvPicPr>
        <p:blipFill>
          <a:blip r:embed="rId3"/>
          <a:stretch>
            <a:fillRect/>
          </a:stretch>
        </p:blipFill>
        <p:spPr>
          <a:xfrm>
            <a:off x="467544" y="2975265"/>
            <a:ext cx="3625236" cy="2758827"/>
          </a:xfrm>
          <a:prstGeom prst="rect">
            <a:avLst/>
          </a:prstGeom>
        </p:spPr>
      </p:pic>
      <p:pic>
        <p:nvPicPr>
          <p:cNvPr id="4" name="图片 3"/>
          <p:cNvPicPr>
            <a:picLocks noChangeAspect="1"/>
          </p:cNvPicPr>
          <p:nvPr/>
        </p:nvPicPr>
        <p:blipFill>
          <a:blip r:embed="rId4"/>
          <a:stretch>
            <a:fillRect/>
          </a:stretch>
        </p:blipFill>
        <p:spPr>
          <a:xfrm>
            <a:off x="4932040" y="3118846"/>
            <a:ext cx="3463189" cy="2174971"/>
          </a:xfrm>
          <a:prstGeom prst="rect">
            <a:avLst/>
          </a:prstGeom>
        </p:spPr>
      </p:pic>
      <p:sp>
        <p:nvSpPr>
          <p:cNvPr id="5" name="文本框 4"/>
          <p:cNvSpPr txBox="1"/>
          <p:nvPr/>
        </p:nvSpPr>
        <p:spPr>
          <a:xfrm>
            <a:off x="240248" y="5908726"/>
            <a:ext cx="8598480" cy="738664"/>
          </a:xfrm>
          <a:prstGeom prst="rect">
            <a:avLst/>
          </a:prstGeom>
          <a:noFill/>
        </p:spPr>
        <p:txBody>
          <a:bodyPr wrap="square" rtlCol="0">
            <a:spAutoFit/>
          </a:bodyPr>
          <a:lstStyle/>
          <a:p>
            <a:r>
              <a:rPr lang="en-US" altLang="zh-CN" sz="1400" dirty="0">
                <a:solidFill>
                  <a:schemeClr val="tx1"/>
                </a:solidFill>
                <a:latin typeface="Times New Roman" panose="02020603050405020304" pitchFamily="18" charset="0"/>
                <a:ea typeface="宋体" pitchFamily="2" charset="-122"/>
                <a:cs typeface="Times New Roman" panose="02020603050405020304" pitchFamily="18" charset="0"/>
              </a:rPr>
              <a:t>Goodchild, M. F. 2004. “</a:t>
            </a:r>
            <a:r>
              <a:rPr lang="en-US" altLang="zh-CN" sz="1400" dirty="0">
                <a:solidFill>
                  <a:srgbClr val="0000CC"/>
                </a:solidFill>
                <a:latin typeface="Times New Roman" panose="02020603050405020304" pitchFamily="18" charset="0"/>
                <a:ea typeface="宋体" pitchFamily="2" charset="-122"/>
                <a:cs typeface="Times New Roman" panose="02020603050405020304" pitchFamily="18" charset="0"/>
              </a:rPr>
              <a:t>The Validity and Usefulness of Laws in Geographic Information Science and Geography</a:t>
            </a:r>
            <a:r>
              <a:rPr lang="en-US" altLang="zh-CN" sz="1400" dirty="0">
                <a:solidFill>
                  <a:schemeClr val="tx1"/>
                </a:solidFill>
                <a:latin typeface="Times New Roman" panose="02020603050405020304" pitchFamily="18" charset="0"/>
                <a:ea typeface="宋体" pitchFamily="2" charset="-122"/>
                <a:cs typeface="Times New Roman" panose="02020603050405020304" pitchFamily="18" charset="0"/>
              </a:rPr>
              <a:t>.” Annals of the Association of American Geographers 94: 300–303.</a:t>
            </a:r>
          </a:p>
          <a:p>
            <a:r>
              <a:rPr lang="en-US" altLang="zh-CN" sz="1400" dirty="0">
                <a:solidFill>
                  <a:schemeClr val="tx1"/>
                </a:solidFill>
                <a:latin typeface="Times New Roman" panose="02020603050405020304" pitchFamily="18" charset="0"/>
                <a:ea typeface="宋体" pitchFamily="2" charset="-122"/>
                <a:cs typeface="Times New Roman" panose="02020603050405020304" pitchFamily="18" charset="0"/>
              </a:rPr>
              <a:t>doi:10.1111/j.1467-8306.2004.09402008.x.</a:t>
            </a:r>
            <a:endParaRPr lang="zh-CN" altLang="en-US" sz="1400" dirty="0"/>
          </a:p>
        </p:txBody>
      </p:sp>
    </p:spTree>
    <p:extLst>
      <p:ext uri="{BB962C8B-B14F-4D97-AF65-F5344CB8AC3E}">
        <p14:creationId xmlns:p14="http://schemas.microsoft.com/office/powerpoint/2010/main" val="42863928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pPr>
              <a:defRPr/>
            </a:pPr>
            <a:fld id="{F2022BCA-CEF6-49A1-BA1D-26724DAA5E0F}" type="slidenum">
              <a:rPr lang="zh-CN" altLang="en-US" smtClean="0">
                <a:latin typeface="Times New Roman" panose="02020603050405020304" pitchFamily="18" charset="0"/>
                <a:cs typeface="Times New Roman" panose="02020603050405020304" pitchFamily="18" charset="0"/>
              </a:rPr>
              <a:pPr>
                <a:defRPr/>
              </a:pPr>
              <a:t>8</a:t>
            </a:fld>
            <a:endParaRPr lang="en-US" altLang="zh-CN">
              <a:latin typeface="Times New Roman" panose="02020603050405020304" pitchFamily="18" charset="0"/>
              <a:cs typeface="Times New Roman" panose="02020603050405020304" pitchFamily="18" charset="0"/>
            </a:endParaRPr>
          </a:p>
        </p:txBody>
      </p:sp>
      <p:sp>
        <p:nvSpPr>
          <p:cNvPr id="7" name="TextBox 6"/>
          <p:cNvSpPr txBox="1">
            <a:spLocks noChangeArrowheads="1"/>
          </p:cNvSpPr>
          <p:nvPr/>
        </p:nvSpPr>
        <p:spPr bwMode="auto">
          <a:xfrm>
            <a:off x="240248" y="116632"/>
            <a:ext cx="4763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2.1   </a:t>
            </a:r>
            <a:r>
              <a:rPr lang="zh-CN" altLang="en-US" sz="4000" dirty="0">
                <a:solidFill>
                  <a:srgbClr val="FFFF00"/>
                </a:solidFill>
                <a:latin typeface="Times New Roman" panose="02020603050405020304" pitchFamily="18" charset="0"/>
                <a:cs typeface="Times New Roman" panose="02020603050405020304" pitchFamily="18" charset="0"/>
              </a:rPr>
              <a:t>地理学定律</a:t>
            </a:r>
          </a:p>
        </p:txBody>
      </p:sp>
      <p:sp>
        <p:nvSpPr>
          <p:cNvPr id="8" name="TextBox 6"/>
          <p:cNvSpPr txBox="1">
            <a:spLocks noChangeArrowheads="1"/>
          </p:cNvSpPr>
          <p:nvPr/>
        </p:nvSpPr>
        <p:spPr bwMode="auto">
          <a:xfrm>
            <a:off x="240248" y="984077"/>
            <a:ext cx="86522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b="0" dirty="0">
                <a:solidFill>
                  <a:srgbClr val="0000CC"/>
                </a:solidFill>
                <a:latin typeface="Times New Roman" panose="02020603050405020304" pitchFamily="18" charset="0"/>
                <a:cs typeface="Times New Roman" panose="02020603050405020304" pitchFamily="18" charset="0"/>
              </a:rPr>
              <a:t>2.1.3  </a:t>
            </a:r>
            <a:r>
              <a:rPr lang="zh-CN" altLang="en-US" b="0" dirty="0">
                <a:solidFill>
                  <a:srgbClr val="0000CC"/>
                </a:solidFill>
                <a:latin typeface="Times New Roman" panose="02020603050405020304" pitchFamily="18" charset="0"/>
                <a:cs typeface="Times New Roman" panose="02020603050405020304" pitchFamily="18" charset="0"/>
              </a:rPr>
              <a:t>地理学第三定律</a:t>
            </a:r>
            <a:r>
              <a:rPr lang="en-US" altLang="zh-CN" b="0" dirty="0">
                <a:solidFill>
                  <a:srgbClr val="0000CC"/>
                </a:solidFill>
                <a:latin typeface="Times New Roman" panose="02020603050405020304" pitchFamily="18" charset="0"/>
                <a:cs typeface="Times New Roman" panose="02020603050405020304" pitchFamily="18" charset="0"/>
              </a:rPr>
              <a:t>: </a:t>
            </a:r>
            <a:r>
              <a:rPr lang="zh-CN" altLang="en-US" b="0" dirty="0">
                <a:solidFill>
                  <a:srgbClr val="0000CC"/>
                </a:solidFill>
                <a:latin typeface="Times New Roman" panose="02020603050405020304" pitchFamily="18" charset="0"/>
                <a:cs typeface="Times New Roman" panose="02020603050405020304" pitchFamily="18" charset="0"/>
              </a:rPr>
              <a:t>空间相似性 </a:t>
            </a:r>
            <a:r>
              <a:rPr lang="en-US" altLang="zh-CN" b="0" dirty="0">
                <a:solidFill>
                  <a:srgbClr val="FF0000"/>
                </a:solidFill>
                <a:latin typeface="Times New Roman" panose="02020603050405020304" pitchFamily="18" charset="0"/>
                <a:cs typeface="Times New Roman" panose="02020603050405020304" pitchFamily="18" charset="0"/>
              </a:rPr>
              <a:t>?</a:t>
            </a:r>
            <a:endParaRPr lang="en-US" altLang="zh-CN" b="0" dirty="0">
              <a:solidFill>
                <a:srgbClr val="0000CC"/>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971600" y="2917331"/>
            <a:ext cx="6113775" cy="3279403"/>
          </a:xfrm>
          <a:prstGeom prst="rect">
            <a:avLst/>
          </a:prstGeom>
        </p:spPr>
      </p:pic>
      <p:sp>
        <p:nvSpPr>
          <p:cNvPr id="5" name="文本框 4"/>
          <p:cNvSpPr txBox="1"/>
          <p:nvPr/>
        </p:nvSpPr>
        <p:spPr>
          <a:xfrm>
            <a:off x="240248" y="1556792"/>
            <a:ext cx="8508216" cy="1569660"/>
          </a:xfrm>
          <a:prstGeom prst="rect">
            <a:avLst/>
          </a:prstGeom>
          <a:noFill/>
        </p:spPr>
        <p:txBody>
          <a:bodyPr wrap="square" rtlCol="0">
            <a:spAutoFit/>
          </a:bodyPr>
          <a:lstStyle/>
          <a:p>
            <a:r>
              <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rPr>
              <a:t>The more similar geographic configurations of two points (areas), the more similar the values (processes) of the target variable at these two points (areas). (A-Xing Zhu et al.)</a:t>
            </a:r>
          </a:p>
          <a:p>
            <a:r>
              <a:rPr lang="zh-CN" altLang="en-US" sz="2400" dirty="0">
                <a:solidFill>
                  <a:schemeClr val="tx1"/>
                </a:solidFill>
                <a:latin typeface="Times New Roman" panose="02020603050405020304" pitchFamily="18" charset="0"/>
                <a:ea typeface="宋体" pitchFamily="2" charset="-122"/>
                <a:cs typeface="Times New Roman" panose="02020603050405020304" pitchFamily="18" charset="0"/>
              </a:rPr>
              <a:t>两个点</a:t>
            </a:r>
            <a:r>
              <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400" dirty="0">
                <a:solidFill>
                  <a:schemeClr val="tx1"/>
                </a:solidFill>
                <a:latin typeface="Times New Roman" panose="02020603050405020304" pitchFamily="18" charset="0"/>
                <a:ea typeface="宋体" pitchFamily="2" charset="-122"/>
                <a:cs typeface="Times New Roman" panose="02020603050405020304" pitchFamily="18" charset="0"/>
              </a:rPr>
              <a:t>区域</a:t>
            </a:r>
            <a:r>
              <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400" dirty="0">
                <a:solidFill>
                  <a:schemeClr val="tx1"/>
                </a:solidFill>
                <a:latin typeface="Times New Roman" panose="02020603050405020304" pitchFamily="18" charset="0"/>
                <a:ea typeface="宋体" pitchFamily="2" charset="-122"/>
                <a:cs typeface="Times New Roman" panose="02020603050405020304" pitchFamily="18" charset="0"/>
              </a:rPr>
              <a:t>的空间结构越相似，则它们的值就越相似。 </a:t>
            </a:r>
            <a:endParaRPr lang="zh-CN" altLang="en-US" sz="2400"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107504" y="6119336"/>
            <a:ext cx="8640960" cy="584775"/>
          </a:xfrm>
          <a:prstGeom prst="rect">
            <a:avLst/>
          </a:prstGeom>
          <a:noFill/>
        </p:spPr>
        <p:txBody>
          <a:bodyPr wrap="square" rtlCol="0">
            <a:spAutoFit/>
          </a:bodyPr>
          <a:lstStyle/>
          <a:p>
            <a:r>
              <a:rPr lang="en-US" altLang="zh-CN" sz="1600" dirty="0">
                <a:solidFill>
                  <a:schemeClr val="tx1"/>
                </a:solidFill>
                <a:latin typeface="Times New Roman" panose="02020603050405020304" pitchFamily="18" charset="0"/>
                <a:ea typeface="宋体" pitchFamily="2" charset="-122"/>
                <a:cs typeface="Times New Roman" panose="02020603050405020304" pitchFamily="18" charset="0"/>
              </a:rPr>
              <a:t>[]A‐Xing Zhu, </a:t>
            </a:r>
            <a:r>
              <a:rPr lang="en-US" altLang="zh-CN" sz="1600" dirty="0" err="1">
                <a:solidFill>
                  <a:schemeClr val="tx1"/>
                </a:solidFill>
                <a:latin typeface="Times New Roman" panose="02020603050405020304" pitchFamily="18" charset="0"/>
                <a:ea typeface="宋体" pitchFamily="2" charset="-122"/>
                <a:cs typeface="Times New Roman" panose="02020603050405020304" pitchFamily="18" charset="0"/>
              </a:rPr>
              <a:t>Guonian</a:t>
            </a:r>
            <a:r>
              <a:rPr lang="en-US" altLang="zh-CN" sz="1600" dirty="0">
                <a:solidFill>
                  <a:schemeClr val="tx1"/>
                </a:solidFill>
                <a:latin typeface="Times New Roman" panose="02020603050405020304" pitchFamily="18" charset="0"/>
                <a:ea typeface="宋体" pitchFamily="2" charset="-122"/>
                <a:cs typeface="Times New Roman" panose="02020603050405020304" pitchFamily="18" charset="0"/>
              </a:rPr>
              <a:t> Lu, Jing Liu, Cheng‐</a:t>
            </a:r>
            <a:r>
              <a:rPr lang="en-US" altLang="zh-CN" sz="1600" dirty="0" err="1">
                <a:solidFill>
                  <a:schemeClr val="tx1"/>
                </a:solidFill>
                <a:latin typeface="Times New Roman" panose="02020603050405020304" pitchFamily="18" charset="0"/>
                <a:ea typeface="宋体" pitchFamily="2" charset="-122"/>
                <a:cs typeface="Times New Roman" panose="02020603050405020304" pitchFamily="18" charset="0"/>
              </a:rPr>
              <a:t>Zhi</a:t>
            </a:r>
            <a:r>
              <a:rPr lang="en-US" altLang="zh-CN" sz="1600" dirty="0">
                <a:solidFill>
                  <a:schemeClr val="tx1"/>
                </a:solidFill>
                <a:latin typeface="Times New Roman" panose="02020603050405020304" pitchFamily="18" charset="0"/>
                <a:ea typeface="宋体" pitchFamily="2" charset="-122"/>
                <a:cs typeface="Times New Roman" panose="02020603050405020304" pitchFamily="18" charset="0"/>
              </a:rPr>
              <a:t> Qin &amp; </a:t>
            </a:r>
            <a:r>
              <a:rPr lang="en-US" altLang="zh-CN" sz="1600" dirty="0" err="1">
                <a:solidFill>
                  <a:schemeClr val="tx1"/>
                </a:solidFill>
                <a:latin typeface="Times New Roman" panose="02020603050405020304" pitchFamily="18" charset="0"/>
                <a:ea typeface="宋体" pitchFamily="2" charset="-122"/>
                <a:cs typeface="Times New Roman" panose="02020603050405020304" pitchFamily="18" charset="0"/>
              </a:rPr>
              <a:t>Chenghu</a:t>
            </a:r>
            <a:r>
              <a:rPr lang="en-US" altLang="zh-CN" sz="1600" dirty="0">
                <a:solidFill>
                  <a:schemeClr val="tx1"/>
                </a:solidFill>
                <a:latin typeface="Times New Roman" panose="02020603050405020304" pitchFamily="18" charset="0"/>
                <a:ea typeface="宋体" pitchFamily="2" charset="-122"/>
                <a:cs typeface="Times New Roman" panose="02020603050405020304" pitchFamily="18" charset="0"/>
              </a:rPr>
              <a:t> Zhou (2018): Spatial prediction based on Third Law of Geography, Annals of GIS, </a:t>
            </a:r>
            <a:r>
              <a:rPr lang="en-US" altLang="zh-CN" sz="1100" dirty="0">
                <a:solidFill>
                  <a:schemeClr val="tx1"/>
                </a:solidFill>
                <a:latin typeface="Times New Roman" panose="02020603050405020304" pitchFamily="18" charset="0"/>
                <a:ea typeface="宋体" pitchFamily="2" charset="-122"/>
                <a:cs typeface="Times New Roman" panose="02020603050405020304" pitchFamily="18" charset="0"/>
              </a:rPr>
              <a:t>DOI:10.1080/19475683.2018.1534890</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930426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9</a:t>
            </a:fld>
            <a:endParaRPr lang="en-US" altLang="zh-CN"/>
          </a:p>
        </p:txBody>
      </p:sp>
      <p:sp>
        <p:nvSpPr>
          <p:cNvPr id="3" name="Text Box 2"/>
          <p:cNvSpPr txBox="1">
            <a:spLocks noChangeArrowheads="1"/>
          </p:cNvSpPr>
          <p:nvPr/>
        </p:nvSpPr>
        <p:spPr bwMode="auto">
          <a:xfrm>
            <a:off x="2411760" y="188640"/>
            <a:ext cx="396044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dirty="0">
                <a:solidFill>
                  <a:srgbClr val="FFFF00"/>
                </a:solidFill>
                <a:latin typeface="Times New Roman" panose="02020603050405020304" pitchFamily="18" charset="0"/>
              </a:rPr>
              <a:t>文献阅读</a:t>
            </a:r>
            <a:endParaRPr lang="zh-CN" altLang="en-US" sz="2800" b="0" dirty="0">
              <a:solidFill>
                <a:schemeClr val="accent2"/>
              </a:solidFill>
              <a:latin typeface="Times New Roman" panose="02020603050405020304" pitchFamily="18" charset="0"/>
            </a:endParaRPr>
          </a:p>
        </p:txBody>
      </p:sp>
      <p:sp>
        <p:nvSpPr>
          <p:cNvPr id="4" name="文本框 3"/>
          <p:cNvSpPr txBox="1"/>
          <p:nvPr/>
        </p:nvSpPr>
        <p:spPr>
          <a:xfrm>
            <a:off x="323528" y="1556792"/>
            <a:ext cx="8424936" cy="4893647"/>
          </a:xfrm>
          <a:prstGeom prst="rect">
            <a:avLst/>
          </a:prstGeom>
          <a:noFill/>
        </p:spPr>
        <p:txBody>
          <a:bodyPr wrap="square" rtlCol="0">
            <a:spAutoFit/>
          </a:bodyPr>
          <a:lstStyle/>
          <a:p>
            <a:r>
              <a:rPr lang="en-US" altLang="zh-CN" sz="2400" dirty="0">
                <a:solidFill>
                  <a:srgbClr val="0000CC"/>
                </a:solidFill>
                <a:latin typeface="Times New Roman" panose="02020603050405020304" pitchFamily="18" charset="0"/>
                <a:cs typeface="Times New Roman" panose="02020603050405020304" pitchFamily="18" charset="0"/>
              </a:rPr>
              <a:t>[1] </a:t>
            </a:r>
            <a:r>
              <a:rPr lang="zh-CN" altLang="en-US" sz="2400" dirty="0">
                <a:solidFill>
                  <a:schemeClr val="tx1"/>
                </a:solidFill>
                <a:latin typeface="Times New Roman" panose="02020603050405020304" pitchFamily="18" charset="0"/>
                <a:cs typeface="Times New Roman" panose="02020603050405020304" pitchFamily="18" charset="0"/>
              </a:rPr>
              <a:t>李小文</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曹春香</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常超一</a:t>
            </a:r>
            <a:r>
              <a:rPr lang="en-US" altLang="zh-CN" sz="2400" dirty="0">
                <a:solidFill>
                  <a:schemeClr val="tx1"/>
                </a:solidFill>
                <a:latin typeface="Times New Roman" panose="02020603050405020304" pitchFamily="18" charset="0"/>
                <a:cs typeface="Times New Roman" panose="02020603050405020304" pitchFamily="18" charset="0"/>
              </a:rPr>
              <a:t>. </a:t>
            </a:r>
            <a:r>
              <a:rPr lang="zh-CN" altLang="en-US" sz="2400" dirty="0">
                <a:solidFill>
                  <a:schemeClr val="tx1"/>
                </a:solidFill>
                <a:latin typeface="Times New Roman" panose="02020603050405020304" pitchFamily="18" charset="0"/>
                <a:cs typeface="Times New Roman" panose="02020603050405020304" pitchFamily="18" charset="0"/>
              </a:rPr>
              <a:t>地理学第一定律与时空邻近度的提出</a:t>
            </a:r>
            <a:r>
              <a:rPr lang="en-US" altLang="zh-CN" sz="2400" dirty="0">
                <a:solidFill>
                  <a:schemeClr val="tx1"/>
                </a:solidFill>
                <a:latin typeface="Times New Roman" panose="02020603050405020304" pitchFamily="18" charset="0"/>
                <a:cs typeface="Times New Roman" panose="02020603050405020304" pitchFamily="18" charset="0"/>
              </a:rPr>
              <a:t>[J]. </a:t>
            </a:r>
            <a:r>
              <a:rPr lang="zh-CN" altLang="en-US" sz="2400" dirty="0">
                <a:solidFill>
                  <a:schemeClr val="tx1"/>
                </a:solidFill>
                <a:latin typeface="Times New Roman" panose="02020603050405020304" pitchFamily="18" charset="0"/>
                <a:cs typeface="Times New Roman" panose="02020603050405020304" pitchFamily="18" charset="0"/>
              </a:rPr>
              <a:t>自然杂志</a:t>
            </a:r>
            <a:r>
              <a:rPr lang="en-US" altLang="zh-CN" sz="2400" dirty="0">
                <a:solidFill>
                  <a:schemeClr val="tx1"/>
                </a:solidFill>
                <a:latin typeface="Times New Roman" panose="02020603050405020304" pitchFamily="18" charset="0"/>
                <a:cs typeface="Times New Roman" panose="02020603050405020304" pitchFamily="18" charset="0"/>
              </a:rPr>
              <a:t>, 2007, 29(2): 69-71</a:t>
            </a:r>
            <a:r>
              <a:rPr lang="en-US" altLang="zh-CN" sz="2400" dirty="0">
                <a:solidFill>
                  <a:srgbClr val="0000CC"/>
                </a:solidFill>
                <a:latin typeface="Times New Roman" panose="02020603050405020304" pitchFamily="18" charset="0"/>
                <a:cs typeface="Times New Roman" panose="02020603050405020304" pitchFamily="18" charset="0"/>
              </a:rPr>
              <a:t>. (</a:t>
            </a:r>
            <a:r>
              <a:rPr lang="zh-CN" altLang="en-US" sz="2400" dirty="0">
                <a:solidFill>
                  <a:srgbClr val="0000CC"/>
                </a:solidFill>
                <a:latin typeface="Times New Roman" panose="02020603050405020304" pitchFamily="18" charset="0"/>
                <a:cs typeface="Times New Roman" panose="02020603050405020304" pitchFamily="18" charset="0"/>
              </a:rPr>
              <a:t>地理学第一定律</a:t>
            </a:r>
            <a:r>
              <a:rPr lang="en-US" altLang="zh-CN" sz="2400" dirty="0">
                <a:solidFill>
                  <a:srgbClr val="0000CC"/>
                </a:solidFill>
                <a:latin typeface="Times New Roman" panose="02020603050405020304" pitchFamily="18" charset="0"/>
                <a:cs typeface="Times New Roman" panose="02020603050405020304" pitchFamily="18" charset="0"/>
              </a:rPr>
              <a:t>TFL: Tobler's First Law)</a:t>
            </a:r>
          </a:p>
          <a:p>
            <a:endParaRPr lang="en-US" altLang="zh-CN" sz="2400" dirty="0">
              <a:solidFill>
                <a:srgbClr val="0000CC"/>
              </a:solidFill>
              <a:latin typeface="Times New Roman" panose="02020603050405020304" pitchFamily="18" charset="0"/>
              <a:cs typeface="Times New Roman" panose="02020603050405020304" pitchFamily="18" charset="0"/>
            </a:endParaRPr>
          </a:p>
          <a:p>
            <a:r>
              <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rPr>
              <a:t>[2] Goodchild, M. F. 2004b. “The Validity and Usefulness of Laws in Geographic Information Science and Geography.” Annals of the Association of American Geographers 94: 300–303. </a:t>
            </a:r>
            <a:r>
              <a:rPr lang="en-US" altLang="zh-CN" sz="2400" dirty="0">
                <a:solidFill>
                  <a:srgbClr val="0000CC"/>
                </a:solidFill>
                <a:latin typeface="Times New Roman" panose="02020603050405020304" pitchFamily="18" charset="0"/>
                <a:cs typeface="Times New Roman" panose="02020603050405020304" pitchFamily="18" charset="0"/>
              </a:rPr>
              <a:t>(</a:t>
            </a:r>
            <a:r>
              <a:rPr lang="zh-CN" altLang="en-US" sz="2400" dirty="0">
                <a:solidFill>
                  <a:srgbClr val="0000CC"/>
                </a:solidFill>
                <a:latin typeface="Times New Roman" panose="02020603050405020304" pitchFamily="18" charset="0"/>
                <a:cs typeface="Times New Roman" panose="02020603050405020304" pitchFamily="18" charset="0"/>
              </a:rPr>
              <a:t>地理学第二定律</a:t>
            </a:r>
            <a:r>
              <a:rPr lang="en-US" altLang="zh-CN" sz="2400" dirty="0">
                <a:solidFill>
                  <a:srgbClr val="0000CC"/>
                </a:solidFill>
                <a:latin typeface="Times New Roman" panose="02020603050405020304" pitchFamily="18" charset="0"/>
                <a:cs typeface="Times New Roman" panose="02020603050405020304" pitchFamily="18" charset="0"/>
              </a:rPr>
              <a:t>: the second law of geography)</a:t>
            </a:r>
            <a:endPar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endParaRPr>
          </a:p>
          <a:p>
            <a:endPar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endParaRPr>
          </a:p>
          <a:p>
            <a:r>
              <a:rPr lang="en-US" altLang="zh-CN" sz="2400" dirty="0">
                <a:solidFill>
                  <a:srgbClr val="0000CC"/>
                </a:solidFill>
                <a:latin typeface="Times New Roman" panose="02020603050405020304" pitchFamily="18" charset="0"/>
                <a:cs typeface="Times New Roman" panose="02020603050405020304" pitchFamily="18" charset="0"/>
              </a:rPr>
              <a:t>[3]</a:t>
            </a:r>
            <a:r>
              <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rPr>
              <a:t> A‐Xing Zhu, </a:t>
            </a:r>
            <a:r>
              <a:rPr lang="en-US" altLang="zh-CN" sz="2400" dirty="0" err="1">
                <a:solidFill>
                  <a:schemeClr val="tx1"/>
                </a:solidFill>
                <a:latin typeface="Times New Roman" panose="02020603050405020304" pitchFamily="18" charset="0"/>
                <a:ea typeface="宋体" pitchFamily="2" charset="-122"/>
                <a:cs typeface="Times New Roman" panose="02020603050405020304" pitchFamily="18" charset="0"/>
              </a:rPr>
              <a:t>Guonian</a:t>
            </a:r>
            <a:r>
              <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rPr>
              <a:t> Lu, Jing Liu, Cheng‐</a:t>
            </a:r>
            <a:r>
              <a:rPr lang="en-US" altLang="zh-CN" sz="2400" dirty="0" err="1">
                <a:solidFill>
                  <a:schemeClr val="tx1"/>
                </a:solidFill>
                <a:latin typeface="Times New Roman" panose="02020603050405020304" pitchFamily="18" charset="0"/>
                <a:ea typeface="宋体" pitchFamily="2" charset="-122"/>
                <a:cs typeface="Times New Roman" panose="02020603050405020304" pitchFamily="18" charset="0"/>
              </a:rPr>
              <a:t>Zhi</a:t>
            </a:r>
            <a:r>
              <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rPr>
              <a:t> Qin &amp; </a:t>
            </a:r>
            <a:r>
              <a:rPr lang="en-US" altLang="zh-CN" sz="2400" dirty="0" err="1">
                <a:solidFill>
                  <a:schemeClr val="tx1"/>
                </a:solidFill>
                <a:latin typeface="Times New Roman" panose="02020603050405020304" pitchFamily="18" charset="0"/>
                <a:ea typeface="宋体" pitchFamily="2" charset="-122"/>
                <a:cs typeface="Times New Roman" panose="02020603050405020304" pitchFamily="18" charset="0"/>
              </a:rPr>
              <a:t>Chenghu</a:t>
            </a:r>
            <a:r>
              <a:rPr lang="en-US" altLang="zh-CN" sz="2400" dirty="0">
                <a:solidFill>
                  <a:schemeClr val="tx1"/>
                </a:solidFill>
                <a:latin typeface="Times New Roman" panose="02020603050405020304" pitchFamily="18" charset="0"/>
                <a:ea typeface="宋体" pitchFamily="2" charset="-122"/>
                <a:cs typeface="Times New Roman" panose="02020603050405020304" pitchFamily="18" charset="0"/>
              </a:rPr>
              <a:t> Zhou (2018): Spatial prediction based on Third Law of Geography, Annals of GIS, </a:t>
            </a:r>
            <a:r>
              <a:rPr lang="en-US" altLang="zh-CN" sz="1600" dirty="0">
                <a:solidFill>
                  <a:schemeClr val="tx1"/>
                </a:solidFill>
                <a:latin typeface="Times New Roman" panose="02020603050405020304" pitchFamily="18" charset="0"/>
                <a:ea typeface="宋体" pitchFamily="2" charset="-122"/>
                <a:cs typeface="Times New Roman" panose="02020603050405020304" pitchFamily="18" charset="0"/>
              </a:rPr>
              <a:t>DOI:10.1080/19475683.2018.1534890</a:t>
            </a:r>
            <a:r>
              <a:rPr lang="en-US" altLang="zh-CN" sz="2400" dirty="0">
                <a:solidFill>
                  <a:srgbClr val="0000CC"/>
                </a:solidFill>
                <a:latin typeface="Times New Roman" panose="02020603050405020304" pitchFamily="18" charset="0"/>
                <a:cs typeface="Times New Roman" panose="02020603050405020304" pitchFamily="18" charset="0"/>
              </a:rPr>
              <a:t> (</a:t>
            </a:r>
            <a:r>
              <a:rPr lang="zh-CN" altLang="en-US" sz="2400" dirty="0">
                <a:solidFill>
                  <a:srgbClr val="0000CC"/>
                </a:solidFill>
                <a:latin typeface="Times New Roman" panose="02020603050405020304" pitchFamily="18" charset="0"/>
                <a:cs typeface="Times New Roman" panose="02020603050405020304" pitchFamily="18" charset="0"/>
              </a:rPr>
              <a:t>地理学第三定律</a:t>
            </a:r>
            <a:r>
              <a:rPr lang="en-US" altLang="zh-CN" sz="2400" dirty="0">
                <a:solidFill>
                  <a:srgbClr val="0000CC"/>
                </a:solidFill>
                <a:latin typeface="Times New Roman" panose="02020603050405020304" pitchFamily="18" charset="0"/>
                <a:cs typeface="Times New Roman" panose="02020603050405020304" pitchFamily="18" charset="0"/>
              </a:rPr>
              <a:t>: the third law of geography)</a:t>
            </a:r>
            <a:endParaRPr lang="zh-CN" altLang="en-US" sz="2400"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32050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1892536" y="1556792"/>
            <a:ext cx="646682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bg1"/>
              </a:buClr>
              <a:buFont typeface="Wingdings" panose="05000000000000000000" pitchFamily="2" charset="2"/>
              <a:buNone/>
            </a:pPr>
            <a:r>
              <a:rPr lang="en-US" altLang="zh-CN" sz="4800" dirty="0">
                <a:solidFill>
                  <a:srgbClr val="0000CC"/>
                </a:solidFill>
                <a:latin typeface="Times New Roman" panose="02020603050405020304" pitchFamily="18" charset="0"/>
              </a:rPr>
              <a:t>2.2 </a:t>
            </a:r>
            <a:r>
              <a:rPr lang="zh-CN" altLang="en-US" sz="4800" dirty="0">
                <a:solidFill>
                  <a:srgbClr val="0000CC"/>
                </a:solidFill>
                <a:latin typeface="Times New Roman" panose="02020603050405020304" pitchFamily="18" charset="0"/>
              </a:rPr>
              <a:t>空间关系理论</a:t>
            </a:r>
            <a:endParaRPr lang="en-US" altLang="zh-CN" sz="4800" dirty="0">
              <a:solidFill>
                <a:srgbClr val="0000CC"/>
              </a:solidFill>
              <a:latin typeface="Times New Roman" panose="02020603050405020304" pitchFamily="18" charset="0"/>
            </a:endParaRPr>
          </a:p>
          <a:p>
            <a:pPr eaLnBrk="1" hangingPunct="1">
              <a:spcBef>
                <a:spcPct val="50000"/>
              </a:spcBef>
              <a:buClr>
                <a:schemeClr val="bg1"/>
              </a:buClr>
              <a:buFont typeface="Wingdings" panose="05000000000000000000" pitchFamily="2" charset="2"/>
              <a:buNone/>
            </a:pPr>
            <a:r>
              <a:rPr lang="en-US" altLang="zh-CN" sz="4000" dirty="0">
                <a:solidFill>
                  <a:srgbClr val="0000CC"/>
                </a:solidFill>
                <a:latin typeface="Times New Roman" panose="02020603050405020304" pitchFamily="18" charset="0"/>
              </a:rPr>
              <a:t>2.2.1 </a:t>
            </a:r>
            <a:r>
              <a:rPr lang="zh-CN" altLang="en-US" sz="4000" dirty="0">
                <a:solidFill>
                  <a:srgbClr val="0000CC"/>
                </a:solidFill>
                <a:latin typeface="Times New Roman" panose="02020603050405020304" pitchFamily="18" charset="0"/>
              </a:rPr>
              <a:t>空间关系的类型</a:t>
            </a:r>
            <a:endParaRPr lang="en-US" altLang="zh-CN" sz="4000" dirty="0">
              <a:solidFill>
                <a:srgbClr val="0000CC"/>
              </a:solidFill>
              <a:latin typeface="Times New Roman" panose="02020603050405020304" pitchFamily="18" charset="0"/>
            </a:endParaRPr>
          </a:p>
          <a:p>
            <a:pPr>
              <a:spcBef>
                <a:spcPct val="50000"/>
              </a:spcBef>
              <a:buClr>
                <a:schemeClr val="bg1"/>
              </a:buClr>
              <a:buNone/>
            </a:pPr>
            <a:r>
              <a:rPr lang="en-US" altLang="zh-CN" sz="4000" dirty="0">
                <a:solidFill>
                  <a:schemeClr val="bg2"/>
                </a:solidFill>
                <a:latin typeface="Times New Roman" panose="02020603050405020304" pitchFamily="18" charset="0"/>
              </a:rPr>
              <a:t>2.2.2 </a:t>
            </a:r>
            <a:r>
              <a:rPr lang="zh-CN" altLang="en-US" sz="4000" dirty="0">
                <a:solidFill>
                  <a:schemeClr val="bg2"/>
                </a:solidFill>
                <a:latin typeface="Times New Roman" panose="02020603050405020304" pitchFamily="18" charset="0"/>
              </a:rPr>
              <a:t>空间关系描述</a:t>
            </a:r>
            <a:endParaRPr lang="en-US" altLang="zh-CN" sz="4000" dirty="0">
              <a:solidFill>
                <a:schemeClr val="bg2"/>
              </a:solidFill>
              <a:latin typeface="Times New Roman" panose="02020603050405020304" pitchFamily="18" charset="0"/>
            </a:endParaRPr>
          </a:p>
          <a:p>
            <a:pPr>
              <a:spcBef>
                <a:spcPct val="50000"/>
              </a:spcBef>
              <a:buClr>
                <a:schemeClr val="bg1"/>
              </a:buClr>
              <a:buNone/>
            </a:pPr>
            <a:r>
              <a:rPr lang="en-US" altLang="zh-CN" sz="4000" dirty="0">
                <a:solidFill>
                  <a:schemeClr val="bg2"/>
                </a:solidFill>
                <a:latin typeface="Times New Roman" panose="02020603050405020304" pitchFamily="18" charset="0"/>
              </a:rPr>
              <a:t>2.2.3 </a:t>
            </a:r>
            <a:r>
              <a:rPr lang="zh-CN" altLang="en-US" sz="4000" dirty="0">
                <a:solidFill>
                  <a:schemeClr val="bg2"/>
                </a:solidFill>
                <a:latin typeface="Times New Roman" panose="02020603050405020304" pitchFamily="18" charset="0"/>
              </a:rPr>
              <a:t>时空空间关系</a:t>
            </a:r>
            <a:endParaRPr lang="en-US" altLang="zh-CN" sz="4000" dirty="0">
              <a:solidFill>
                <a:schemeClr val="bg2"/>
              </a:solidFill>
              <a:latin typeface="Times New Roman" panose="02020603050405020304" pitchFamily="18" charset="0"/>
            </a:endParaRPr>
          </a:p>
          <a:p>
            <a:pPr>
              <a:spcBef>
                <a:spcPct val="50000"/>
              </a:spcBef>
              <a:buClr>
                <a:schemeClr val="bg1"/>
              </a:buClr>
              <a:buNone/>
            </a:pPr>
            <a:r>
              <a:rPr lang="en-US" altLang="zh-CN" sz="4000" dirty="0">
                <a:solidFill>
                  <a:schemeClr val="bg2"/>
                </a:solidFill>
                <a:latin typeface="Times New Roman" panose="02020603050405020304" pitchFamily="18" charset="0"/>
              </a:rPr>
              <a:t>2.2.4 </a:t>
            </a:r>
            <a:r>
              <a:rPr lang="zh-CN" altLang="en-US" sz="4000" dirty="0">
                <a:solidFill>
                  <a:schemeClr val="bg2"/>
                </a:solidFill>
                <a:latin typeface="Times New Roman" panose="02020603050405020304" pitchFamily="18" charset="0"/>
              </a:rPr>
              <a:t>空间关系理论的应用</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10</a:t>
            </a:fld>
            <a:endParaRPr lang="en-US" altLang="zh-CN"/>
          </a:p>
        </p:txBody>
      </p:sp>
      <p:sp>
        <p:nvSpPr>
          <p:cNvPr id="5" name="TextBox 6"/>
          <p:cNvSpPr txBox="1">
            <a:spLocks noChangeArrowheads="1"/>
          </p:cNvSpPr>
          <p:nvPr/>
        </p:nvSpPr>
        <p:spPr bwMode="auto">
          <a:xfrm>
            <a:off x="2411760" y="116632"/>
            <a:ext cx="489654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2.2   </a:t>
            </a:r>
            <a:r>
              <a:rPr lang="zh-CN" altLang="en-US" sz="4000" dirty="0">
                <a:solidFill>
                  <a:srgbClr val="FFFF00"/>
                </a:solidFill>
                <a:latin typeface="Times New Roman" panose="02020603050405020304" pitchFamily="18" charset="0"/>
                <a:cs typeface="Times New Roman" panose="02020603050405020304" pitchFamily="18" charset="0"/>
              </a:rPr>
              <a:t>空间关系理论</a:t>
            </a:r>
          </a:p>
        </p:txBody>
      </p:sp>
    </p:spTree>
    <p:extLst>
      <p:ext uri="{BB962C8B-B14F-4D97-AF65-F5344CB8AC3E}">
        <p14:creationId xmlns:p14="http://schemas.microsoft.com/office/powerpoint/2010/main" val="285434579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1691680" y="2672482"/>
            <a:ext cx="5904656"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bg1"/>
              </a:buClr>
              <a:buFont typeface="Wingdings" panose="05000000000000000000" pitchFamily="2" charset="2"/>
              <a:buNone/>
            </a:pPr>
            <a:r>
              <a:rPr lang="en-US" altLang="zh-CN" sz="4800" dirty="0">
                <a:solidFill>
                  <a:srgbClr val="0000CC"/>
                </a:solidFill>
                <a:latin typeface="Times New Roman" panose="02020603050405020304" pitchFamily="18" charset="0"/>
              </a:rPr>
              <a:t>2.2 </a:t>
            </a:r>
            <a:r>
              <a:rPr lang="zh-CN" altLang="en-US" sz="4800" dirty="0">
                <a:solidFill>
                  <a:srgbClr val="0000CC"/>
                </a:solidFill>
                <a:latin typeface="Times New Roman" panose="02020603050405020304" pitchFamily="18" charset="0"/>
              </a:rPr>
              <a:t>空间关系理论</a:t>
            </a:r>
            <a:endParaRPr lang="en-US" altLang="zh-CN" sz="4800" dirty="0">
              <a:solidFill>
                <a:srgbClr val="0000CC"/>
              </a:solidFill>
              <a:latin typeface="Times New Roman" panose="02020603050405020304" pitchFamily="18" charset="0"/>
            </a:endParaRPr>
          </a:p>
          <a:p>
            <a:pPr eaLnBrk="1" hangingPunct="1">
              <a:spcBef>
                <a:spcPct val="50000"/>
              </a:spcBef>
              <a:buClr>
                <a:schemeClr val="bg1"/>
              </a:buClr>
              <a:buFont typeface="Wingdings" panose="05000000000000000000" pitchFamily="2" charset="2"/>
              <a:buNone/>
            </a:pPr>
            <a:r>
              <a:rPr lang="en-US" altLang="zh-CN" sz="4000" dirty="0">
                <a:solidFill>
                  <a:srgbClr val="0000CC"/>
                </a:solidFill>
                <a:latin typeface="Times New Roman" panose="02020603050405020304" pitchFamily="18" charset="0"/>
              </a:rPr>
              <a:t>2.2.1 </a:t>
            </a:r>
            <a:r>
              <a:rPr lang="zh-CN" altLang="en-US" sz="4000" dirty="0">
                <a:solidFill>
                  <a:srgbClr val="0000CC"/>
                </a:solidFill>
                <a:latin typeface="Times New Roman" panose="02020603050405020304" pitchFamily="18" charset="0"/>
              </a:rPr>
              <a:t>空间关系的类型</a:t>
            </a:r>
            <a:endParaRPr lang="zh-CN" altLang="en-US" sz="4000" b="0"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11</a:t>
            </a:fld>
            <a:endParaRPr lang="en-US" altLang="zh-CN"/>
          </a:p>
        </p:txBody>
      </p:sp>
      <p:sp>
        <p:nvSpPr>
          <p:cNvPr id="5" name="TextBox 6"/>
          <p:cNvSpPr txBox="1">
            <a:spLocks noChangeArrowheads="1"/>
          </p:cNvSpPr>
          <p:nvPr/>
        </p:nvSpPr>
        <p:spPr bwMode="auto">
          <a:xfrm>
            <a:off x="2195736" y="9654"/>
            <a:ext cx="55667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2.2.1   </a:t>
            </a:r>
            <a:r>
              <a:rPr lang="zh-CN" altLang="en-US" sz="4000" dirty="0">
                <a:solidFill>
                  <a:srgbClr val="FFFF00"/>
                </a:solidFill>
                <a:latin typeface="Times New Roman" panose="02020603050405020304" pitchFamily="18" charset="0"/>
                <a:cs typeface="Times New Roman" panose="02020603050405020304" pitchFamily="18" charset="0"/>
              </a:rPr>
              <a:t>空间关系的类型</a:t>
            </a:r>
          </a:p>
        </p:txBody>
      </p:sp>
      <p:sp>
        <p:nvSpPr>
          <p:cNvPr id="6" name="矩形 5">
            <a:extLst>
              <a:ext uri="{FF2B5EF4-FFF2-40B4-BE49-F238E27FC236}">
                <a16:creationId xmlns:a16="http://schemas.microsoft.com/office/drawing/2014/main" id="{51B0AE25-C780-4E66-981A-7366431F921F}"/>
              </a:ext>
            </a:extLst>
          </p:cNvPr>
          <p:cNvSpPr/>
          <p:nvPr/>
        </p:nvSpPr>
        <p:spPr>
          <a:xfrm>
            <a:off x="323528" y="1052736"/>
            <a:ext cx="3037458" cy="707886"/>
          </a:xfrm>
          <a:prstGeom prst="rect">
            <a:avLst/>
          </a:prstGeom>
          <a:noFill/>
          <a:ln>
            <a:solidFill>
              <a:schemeClr val="accent1"/>
            </a:solidFill>
          </a:ln>
        </p:spPr>
        <p:txBody>
          <a:bodyPr wrap="square">
            <a:spAutoFit/>
          </a:bodyPr>
          <a:lstStyle/>
          <a:p>
            <a:r>
              <a:rPr lang="zh-CN" altLang="en-US" sz="4000" b="1" spc="3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本节内容：</a:t>
            </a:r>
            <a:endParaRPr lang="zh-CN" altLang="en-US" sz="4000" b="1" spc="3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614663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93713" y="116632"/>
            <a:ext cx="413702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2.2  </a:t>
            </a:r>
            <a:r>
              <a:rPr lang="zh-CN" altLang="en-US" sz="3600" dirty="0">
                <a:solidFill>
                  <a:srgbClr val="FFFF00"/>
                </a:solidFill>
                <a:latin typeface="Times New Roman" panose="02020603050405020304" pitchFamily="18" charset="0"/>
              </a:rPr>
              <a:t>空间关系理论</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12</a:t>
            </a:fld>
            <a:endParaRPr lang="en-US" altLang="zh-CN"/>
          </a:p>
        </p:txBody>
      </p:sp>
      <p:pic>
        <p:nvPicPr>
          <p:cNvPr id="6" name="图片 5"/>
          <p:cNvPicPr>
            <a:picLocks noChangeAspect="1"/>
          </p:cNvPicPr>
          <p:nvPr/>
        </p:nvPicPr>
        <p:blipFill>
          <a:blip r:embed="rId3"/>
          <a:stretch>
            <a:fillRect/>
          </a:stretch>
        </p:blipFill>
        <p:spPr>
          <a:xfrm>
            <a:off x="6521120" y="4536026"/>
            <a:ext cx="1521155" cy="2177340"/>
          </a:xfrm>
          <a:prstGeom prst="rect">
            <a:avLst/>
          </a:prstGeom>
        </p:spPr>
      </p:pic>
      <p:pic>
        <p:nvPicPr>
          <p:cNvPr id="7" name="图片 6"/>
          <p:cNvPicPr>
            <a:picLocks noChangeAspect="1"/>
          </p:cNvPicPr>
          <p:nvPr/>
        </p:nvPicPr>
        <p:blipFill>
          <a:blip r:embed="rId4"/>
          <a:stretch>
            <a:fillRect/>
          </a:stretch>
        </p:blipFill>
        <p:spPr>
          <a:xfrm>
            <a:off x="4050957" y="4536249"/>
            <a:ext cx="1595772" cy="2177117"/>
          </a:xfrm>
          <a:prstGeom prst="rect">
            <a:avLst/>
          </a:prstGeom>
        </p:spPr>
      </p:pic>
      <p:pic>
        <p:nvPicPr>
          <p:cNvPr id="8" name="图片 7"/>
          <p:cNvPicPr>
            <a:picLocks noChangeAspect="1"/>
          </p:cNvPicPr>
          <p:nvPr/>
        </p:nvPicPr>
        <p:blipFill>
          <a:blip r:embed="rId5"/>
          <a:stretch>
            <a:fillRect/>
          </a:stretch>
        </p:blipFill>
        <p:spPr>
          <a:xfrm>
            <a:off x="1187624" y="4562892"/>
            <a:ext cx="1534587" cy="2177117"/>
          </a:xfrm>
          <a:prstGeom prst="rect">
            <a:avLst/>
          </a:prstGeom>
        </p:spPr>
      </p:pic>
      <p:grpSp>
        <p:nvGrpSpPr>
          <p:cNvPr id="9" name="组合 8">
            <a:extLst>
              <a:ext uri="{FF2B5EF4-FFF2-40B4-BE49-F238E27FC236}">
                <a16:creationId xmlns:a16="http://schemas.microsoft.com/office/drawing/2014/main" id="{D93013B6-021D-4A45-A1FF-A8F0089A56CD}"/>
              </a:ext>
            </a:extLst>
          </p:cNvPr>
          <p:cNvGrpSpPr/>
          <p:nvPr/>
        </p:nvGrpSpPr>
        <p:grpSpPr>
          <a:xfrm>
            <a:off x="829054" y="2083256"/>
            <a:ext cx="7194440" cy="1937240"/>
            <a:chOff x="861124" y="2796439"/>
            <a:chExt cx="7070745" cy="1186982"/>
          </a:xfrm>
        </p:grpSpPr>
        <p:sp>
          <p:nvSpPr>
            <p:cNvPr id="10" name="矩形: 圆角 19">
              <a:extLst>
                <a:ext uri="{FF2B5EF4-FFF2-40B4-BE49-F238E27FC236}">
                  <a16:creationId xmlns:a16="http://schemas.microsoft.com/office/drawing/2014/main" id="{8CCAB193-B9E5-45FE-A51F-D1E566489864}"/>
                </a:ext>
              </a:extLst>
            </p:cNvPr>
            <p:cNvSpPr/>
            <p:nvPr/>
          </p:nvSpPr>
          <p:spPr>
            <a:xfrm>
              <a:off x="861124" y="2796439"/>
              <a:ext cx="7070745" cy="1186982"/>
            </a:xfrm>
            <a:prstGeom prst="roundRect">
              <a:avLst>
                <a:gd name="adj" fmla="val 5751"/>
              </a:avLst>
            </a:prstGeom>
            <a:solidFill>
              <a:schemeClr val="bg1">
                <a:alpha val="48000"/>
              </a:schemeClr>
            </a:solidFill>
            <a:ln>
              <a:solidFill>
                <a:srgbClr val="A7D2E7"/>
              </a:solidFill>
            </a:ln>
            <a:effectLst>
              <a:outerShdw blurRad="50800" dist="38100" dir="2700000" algn="tl"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5000"/>
                </a:lnSpc>
              </a:pPr>
              <a:endParaRPr lang="zh-CN" altLang="en-US" sz="2000" dirty="0"/>
            </a:p>
          </p:txBody>
        </p:sp>
        <p:sp>
          <p:nvSpPr>
            <p:cNvPr id="11" name="文本框 10">
              <a:extLst>
                <a:ext uri="{FF2B5EF4-FFF2-40B4-BE49-F238E27FC236}">
                  <a16:creationId xmlns:a16="http://schemas.microsoft.com/office/drawing/2014/main" id="{B042985A-5BD0-4435-8677-42052EF85FA5}"/>
                </a:ext>
              </a:extLst>
            </p:cNvPr>
            <p:cNvSpPr txBox="1"/>
            <p:nvPr/>
          </p:nvSpPr>
          <p:spPr>
            <a:xfrm>
              <a:off x="1300810" y="2905648"/>
              <a:ext cx="6191373" cy="973074"/>
            </a:xfrm>
            <a:prstGeom prst="rect">
              <a:avLst/>
            </a:prstGeom>
            <a:noFill/>
          </p:spPr>
          <p:txBody>
            <a:bodyPr wrap="square" rtlCol="0">
              <a:spAutoFit/>
            </a:bodyPr>
            <a:lstStyle/>
            <a:p>
              <a:pPr>
                <a:lnSpc>
                  <a:spcPct val="135000"/>
                </a:lnSpc>
                <a:buClr>
                  <a:srgbClr val="FFC000"/>
                </a:buClr>
              </a:pPr>
              <a:r>
                <a:rPr lang="zh-CN" altLang="en-US" sz="2400" dirty="0">
                  <a:solidFill>
                    <a:schemeClr val="tx1">
                      <a:lumMod val="85000"/>
                      <a:lumOff val="15000"/>
                    </a:schemeClr>
                  </a:solidFill>
                  <a:latin typeface="Times New Roman" panose="02020603050405020304" pitchFamily="18" charset="0"/>
                  <a:ea typeface="思源黑体 CN Normal" panose="020B0400000000000000" pitchFamily="34" charset="-122"/>
                  <a:cs typeface="Times New Roman" panose="02020603050405020304" pitchFamily="18" charset="0"/>
                </a:rPr>
                <a:t>在</a:t>
              </a:r>
              <a:r>
                <a:rPr lang="zh-CN" altLang="en-US" sz="2400" dirty="0">
                  <a:solidFill>
                    <a:srgbClr val="0000CC"/>
                  </a:solidFill>
                  <a:latin typeface="Times New Roman" panose="02020603050405020304" pitchFamily="18" charset="0"/>
                  <a:ea typeface="思源黑体 CN Normal" panose="020B0400000000000000" pitchFamily="34" charset="-122"/>
                  <a:cs typeface="Times New Roman" panose="02020603050405020304" pitchFamily="18" charset="0"/>
                </a:rPr>
                <a:t>空间数据建模、空间查询、空间分析、空间推理、制图综合、地图理解</a:t>
              </a:r>
              <a:r>
                <a:rPr lang="zh-CN" altLang="en-US" sz="2400" dirty="0">
                  <a:solidFill>
                    <a:schemeClr val="tx1">
                      <a:lumMod val="85000"/>
                      <a:lumOff val="15000"/>
                    </a:schemeClr>
                  </a:solidFill>
                  <a:latin typeface="Times New Roman" panose="02020603050405020304" pitchFamily="18" charset="0"/>
                  <a:ea typeface="思源黑体 CN Normal" panose="020B0400000000000000" pitchFamily="34" charset="-122"/>
                  <a:cs typeface="Times New Roman" panose="02020603050405020304" pitchFamily="18" charset="0"/>
                </a:rPr>
                <a:t>等过程中都起着重要作用。</a:t>
              </a:r>
            </a:p>
          </p:txBody>
        </p:sp>
      </p:grpSp>
      <p:grpSp>
        <p:nvGrpSpPr>
          <p:cNvPr id="12" name="组合 11">
            <a:extLst>
              <a:ext uri="{FF2B5EF4-FFF2-40B4-BE49-F238E27FC236}">
                <a16:creationId xmlns:a16="http://schemas.microsoft.com/office/drawing/2014/main" id="{0E6E2063-89CF-430F-A8AD-01B01CCF0C44}"/>
              </a:ext>
            </a:extLst>
          </p:cNvPr>
          <p:cNvGrpSpPr/>
          <p:nvPr/>
        </p:nvGrpSpPr>
        <p:grpSpPr>
          <a:xfrm>
            <a:off x="1187624" y="1204758"/>
            <a:ext cx="1893591" cy="463809"/>
            <a:chOff x="734904" y="2698544"/>
            <a:chExt cx="2537000" cy="533230"/>
          </a:xfrm>
        </p:grpSpPr>
        <p:grpSp>
          <p:nvGrpSpPr>
            <p:cNvPr id="13" name="组合 12">
              <a:extLst>
                <a:ext uri="{FF2B5EF4-FFF2-40B4-BE49-F238E27FC236}">
                  <a16:creationId xmlns:a16="http://schemas.microsoft.com/office/drawing/2014/main" id="{9B4BE175-C1D3-4977-9B81-26722CF9E227}"/>
                </a:ext>
              </a:extLst>
            </p:cNvPr>
            <p:cNvGrpSpPr/>
            <p:nvPr/>
          </p:nvGrpSpPr>
          <p:grpSpPr>
            <a:xfrm>
              <a:off x="734905" y="2698544"/>
              <a:ext cx="2536999" cy="532113"/>
              <a:chOff x="734905" y="2698544"/>
              <a:chExt cx="2536999" cy="532113"/>
            </a:xfrm>
          </p:grpSpPr>
          <p:sp>
            <p:nvSpPr>
              <p:cNvPr id="15" name="Rounded Rectangle 6">
                <a:extLst>
                  <a:ext uri="{FF2B5EF4-FFF2-40B4-BE49-F238E27FC236}">
                    <a16:creationId xmlns:a16="http://schemas.microsoft.com/office/drawing/2014/main" id="{01DDC819-313B-4ECE-93CA-980FF16B8941}"/>
                  </a:ext>
                </a:extLst>
              </p:cNvPr>
              <p:cNvSpPr/>
              <p:nvPr/>
            </p:nvSpPr>
            <p:spPr>
              <a:xfrm>
                <a:off x="734907" y="2738745"/>
                <a:ext cx="2536997" cy="491912"/>
              </a:xfrm>
              <a:prstGeom prst="roundRect">
                <a:avLst>
                  <a:gd name="adj" fmla="val 50000"/>
                </a:avLst>
              </a:prstGeom>
              <a:solidFill>
                <a:srgbClr val="F77E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6" name="Rounded Rectangle 6">
                <a:extLst>
                  <a:ext uri="{FF2B5EF4-FFF2-40B4-BE49-F238E27FC236}">
                    <a16:creationId xmlns:a16="http://schemas.microsoft.com/office/drawing/2014/main" id="{C7B72796-E856-4EB2-B53E-93F6D016F8BD}"/>
                  </a:ext>
                </a:extLst>
              </p:cNvPr>
              <p:cNvSpPr/>
              <p:nvPr/>
            </p:nvSpPr>
            <p:spPr>
              <a:xfrm>
                <a:off x="734905" y="2698544"/>
                <a:ext cx="2536997" cy="491913"/>
              </a:xfrm>
              <a:prstGeom prst="roundRect">
                <a:avLst>
                  <a:gd name="adj" fmla="val 50000"/>
                </a:avLst>
              </a:prstGeom>
              <a:solidFill>
                <a:srgbClr val="FFE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sp>
          <p:nvSpPr>
            <p:cNvPr id="14" name="标题">
              <a:extLst>
                <a:ext uri="{FF2B5EF4-FFF2-40B4-BE49-F238E27FC236}">
                  <a16:creationId xmlns:a16="http://schemas.microsoft.com/office/drawing/2014/main" id="{027AD4BD-94FE-4213-B547-9C4C10E89C53}"/>
                </a:ext>
              </a:extLst>
            </p:cNvPr>
            <p:cNvSpPr/>
            <p:nvPr/>
          </p:nvSpPr>
          <p:spPr>
            <a:xfrm>
              <a:off x="734904" y="2701009"/>
              <a:ext cx="2536996" cy="530765"/>
            </a:xfrm>
            <a:prstGeom prst="rect">
              <a:avLst/>
            </a:prstGeom>
            <a:noFill/>
          </p:spPr>
          <p:txBody>
            <a:bodyPr vert="horz" wrap="square" lIns="91440" tIns="45720" rIns="91440" bIns="4572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sz="2400" dirty="0">
                  <a:solidFill>
                    <a:schemeClr val="tx1">
                      <a:lumMod val="85000"/>
                      <a:lumOff val="15000"/>
                    </a:schemeClr>
                  </a:solidFill>
                  <a:latin typeface="思源黑体 CN Normal" panose="020B0400000000000000" pitchFamily="34" charset="-122"/>
                  <a:ea typeface="思源黑体 CN Normal" panose="020B0400000000000000" pitchFamily="34" charset="-122"/>
                </a:rPr>
                <a:t>空间关系</a:t>
              </a:r>
            </a:p>
          </p:txBody>
        </p:sp>
      </p:grpSp>
      <p:sp>
        <p:nvSpPr>
          <p:cNvPr id="17" name="文本框 16">
            <a:extLst>
              <a:ext uri="{FF2B5EF4-FFF2-40B4-BE49-F238E27FC236}">
                <a16:creationId xmlns:a16="http://schemas.microsoft.com/office/drawing/2014/main" id="{7E6EA760-C91B-4261-BD46-B166538DC1B1}"/>
              </a:ext>
            </a:extLst>
          </p:cNvPr>
          <p:cNvSpPr txBox="1"/>
          <p:nvPr/>
        </p:nvSpPr>
        <p:spPr>
          <a:xfrm>
            <a:off x="3081216" y="1203622"/>
            <a:ext cx="4613561" cy="461665"/>
          </a:xfrm>
          <a:prstGeom prst="rect">
            <a:avLst/>
          </a:prstGeom>
          <a:noFill/>
        </p:spPr>
        <p:txBody>
          <a:bodyPr wrap="square" rtlCol="0" anchor="ctr">
            <a:spAutoFit/>
          </a:bodyPr>
          <a:lstStyle/>
          <a:p>
            <a:pPr>
              <a:buClr>
                <a:srgbClr val="FFC000"/>
              </a:buClr>
            </a:pPr>
            <a:r>
              <a:rPr lang="zh-CN" altLang="en-US" sz="2400" dirty="0">
                <a:latin typeface="Times New Roman" panose="02020603050405020304" pitchFamily="18" charset="0"/>
                <a:ea typeface="思源黑体 CN Normal" panose="020B0400000000000000" pitchFamily="34" charset="-122"/>
                <a:cs typeface="Times New Roman" panose="02020603050405020304" pitchFamily="18" charset="0"/>
              </a:rPr>
              <a:t>是空间分析的</a:t>
            </a:r>
            <a:r>
              <a:rPr lang="zh-CN" altLang="en-US" sz="2400" dirty="0">
                <a:solidFill>
                  <a:srgbClr val="0000CC"/>
                </a:solidFill>
                <a:latin typeface="Times New Roman" panose="02020603050405020304" pitchFamily="18" charset="0"/>
                <a:ea typeface="思源黑体 CN Normal" panose="020B0400000000000000" pitchFamily="34" charset="-122"/>
                <a:cs typeface="Times New Roman" panose="02020603050405020304" pitchFamily="18" charset="0"/>
              </a:rPr>
              <a:t>重要理论问题之一</a:t>
            </a:r>
          </a:p>
        </p:txBody>
      </p:sp>
    </p:spTree>
    <p:extLst>
      <p:ext uri="{BB962C8B-B14F-4D97-AF65-F5344CB8AC3E}">
        <p14:creationId xmlns:p14="http://schemas.microsoft.com/office/powerpoint/2010/main" val="18816132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randombar(horizont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8388423" y="6381750"/>
            <a:ext cx="720651" cy="476250"/>
          </a:xfrm>
        </p:spPr>
        <p:txBody>
          <a:bodyPr/>
          <a:lstStyle/>
          <a:p>
            <a:pPr>
              <a:defRPr/>
            </a:pPr>
            <a:fld id="{F2022BCA-CEF6-49A1-BA1D-26724DAA5E0F}" type="slidenum">
              <a:rPr lang="zh-CN" altLang="en-US" smtClean="0">
                <a:latin typeface="Times New Roman" panose="02020603050405020304" pitchFamily="18" charset="0"/>
                <a:cs typeface="Times New Roman" panose="02020603050405020304" pitchFamily="18" charset="0"/>
              </a:rPr>
              <a:pPr>
                <a:defRPr/>
              </a:pPr>
              <a:t>13</a:t>
            </a:fld>
            <a:endParaRPr lang="en-US" altLang="zh-CN">
              <a:latin typeface="Times New Roman" panose="02020603050405020304" pitchFamily="18" charset="0"/>
              <a:cs typeface="Times New Roman" panose="02020603050405020304" pitchFamily="18" charset="0"/>
            </a:endParaRPr>
          </a:p>
        </p:txBody>
      </p:sp>
      <p:sp>
        <p:nvSpPr>
          <p:cNvPr id="5" name="Text Box 2"/>
          <p:cNvSpPr txBox="1">
            <a:spLocks noChangeArrowheads="1"/>
          </p:cNvSpPr>
          <p:nvPr/>
        </p:nvSpPr>
        <p:spPr bwMode="auto">
          <a:xfrm>
            <a:off x="179513" y="116632"/>
            <a:ext cx="511256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cs typeface="Times New Roman" panose="02020603050405020304" pitchFamily="18" charset="0"/>
              </a:rPr>
              <a:t>2.2.1   </a:t>
            </a:r>
            <a:r>
              <a:rPr lang="zh-CN" altLang="en-US" sz="3600" dirty="0">
                <a:solidFill>
                  <a:srgbClr val="FFFF00"/>
                </a:solidFill>
                <a:latin typeface="Times New Roman" panose="02020603050405020304" pitchFamily="18" charset="0"/>
                <a:cs typeface="Times New Roman" panose="02020603050405020304" pitchFamily="18" charset="0"/>
              </a:rPr>
              <a:t>空间关系的类型 </a:t>
            </a:r>
          </a:p>
        </p:txBody>
      </p:sp>
      <p:grpSp>
        <p:nvGrpSpPr>
          <p:cNvPr id="6" name="组合 5">
            <a:extLst>
              <a:ext uri="{FF2B5EF4-FFF2-40B4-BE49-F238E27FC236}">
                <a16:creationId xmlns:a16="http://schemas.microsoft.com/office/drawing/2014/main" id="{4A8FFC84-43A4-4627-B009-A410250FE2EE}"/>
              </a:ext>
            </a:extLst>
          </p:cNvPr>
          <p:cNvGrpSpPr/>
          <p:nvPr/>
        </p:nvGrpSpPr>
        <p:grpSpPr>
          <a:xfrm>
            <a:off x="857168" y="1910734"/>
            <a:ext cx="2151503" cy="523220"/>
            <a:chOff x="734904" y="2665625"/>
            <a:chExt cx="2537000" cy="601533"/>
          </a:xfrm>
        </p:grpSpPr>
        <p:grpSp>
          <p:nvGrpSpPr>
            <p:cNvPr id="7" name="组合 6">
              <a:extLst>
                <a:ext uri="{FF2B5EF4-FFF2-40B4-BE49-F238E27FC236}">
                  <a16:creationId xmlns:a16="http://schemas.microsoft.com/office/drawing/2014/main" id="{16E5DE30-A2A8-49A2-B544-753A5D917548}"/>
                </a:ext>
              </a:extLst>
            </p:cNvPr>
            <p:cNvGrpSpPr/>
            <p:nvPr/>
          </p:nvGrpSpPr>
          <p:grpSpPr>
            <a:xfrm>
              <a:off x="734905" y="2698544"/>
              <a:ext cx="2536999" cy="532113"/>
              <a:chOff x="734905" y="2698544"/>
              <a:chExt cx="2536999" cy="532113"/>
            </a:xfrm>
          </p:grpSpPr>
          <p:sp>
            <p:nvSpPr>
              <p:cNvPr id="9" name="Rounded Rectangle 6">
                <a:extLst>
                  <a:ext uri="{FF2B5EF4-FFF2-40B4-BE49-F238E27FC236}">
                    <a16:creationId xmlns:a16="http://schemas.microsoft.com/office/drawing/2014/main" id="{DD7BC769-00FC-44A0-A440-29125ADF0280}"/>
                  </a:ext>
                </a:extLst>
              </p:cNvPr>
              <p:cNvSpPr/>
              <p:nvPr/>
            </p:nvSpPr>
            <p:spPr>
              <a:xfrm>
                <a:off x="734907" y="2738745"/>
                <a:ext cx="2536997" cy="491912"/>
              </a:xfrm>
              <a:prstGeom prst="roundRect">
                <a:avLst>
                  <a:gd name="adj" fmla="val 50000"/>
                </a:avLst>
              </a:prstGeom>
              <a:solidFill>
                <a:srgbClr val="F77E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0" name="Rounded Rectangle 6">
                <a:extLst>
                  <a:ext uri="{FF2B5EF4-FFF2-40B4-BE49-F238E27FC236}">
                    <a16:creationId xmlns:a16="http://schemas.microsoft.com/office/drawing/2014/main" id="{798013E2-E221-4E99-8AAB-A28D7757322E}"/>
                  </a:ext>
                </a:extLst>
              </p:cNvPr>
              <p:cNvSpPr/>
              <p:nvPr/>
            </p:nvSpPr>
            <p:spPr>
              <a:xfrm>
                <a:off x="734905" y="2698544"/>
                <a:ext cx="2536997" cy="491913"/>
              </a:xfrm>
              <a:prstGeom prst="roundRect">
                <a:avLst>
                  <a:gd name="adj" fmla="val 50000"/>
                </a:avLst>
              </a:prstGeom>
              <a:solidFill>
                <a:srgbClr val="FFE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grpSp>
        <p:sp>
          <p:nvSpPr>
            <p:cNvPr id="8" name="标题">
              <a:extLst>
                <a:ext uri="{FF2B5EF4-FFF2-40B4-BE49-F238E27FC236}">
                  <a16:creationId xmlns:a16="http://schemas.microsoft.com/office/drawing/2014/main" id="{516327F9-31BD-4DDD-88FC-CAF8822A4388}"/>
                </a:ext>
              </a:extLst>
            </p:cNvPr>
            <p:cNvSpPr/>
            <p:nvPr/>
          </p:nvSpPr>
          <p:spPr>
            <a:xfrm>
              <a:off x="734904" y="2665625"/>
              <a:ext cx="2536996" cy="601533"/>
            </a:xfrm>
            <a:prstGeom prst="rect">
              <a:avLst/>
            </a:prstGeom>
            <a:noFill/>
          </p:spPr>
          <p:txBody>
            <a:bodyPr vert="horz" wrap="square" lIns="91440" tIns="45720" rIns="91440" bIns="4572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sz="2800" dirty="0">
                  <a:solidFill>
                    <a:schemeClr val="tx1">
                      <a:lumMod val="85000"/>
                      <a:lumOff val="15000"/>
                    </a:schemeClr>
                  </a:solidFill>
                  <a:latin typeface="思源黑体 CN Normal" panose="020B0400000000000000" pitchFamily="34" charset="-122"/>
                  <a:ea typeface="思源黑体 CN Normal" panose="020B0400000000000000" pitchFamily="34" charset="-122"/>
                </a:rPr>
                <a:t>空间关系</a:t>
              </a:r>
            </a:p>
          </p:txBody>
        </p:sp>
      </p:grpSp>
      <p:sp>
        <p:nvSpPr>
          <p:cNvPr id="11" name="文本框 10">
            <a:extLst>
              <a:ext uri="{FF2B5EF4-FFF2-40B4-BE49-F238E27FC236}">
                <a16:creationId xmlns:a16="http://schemas.microsoft.com/office/drawing/2014/main" id="{67CA5799-ED6F-4A0A-ABF0-08D6905B3023}"/>
              </a:ext>
            </a:extLst>
          </p:cNvPr>
          <p:cNvSpPr txBox="1"/>
          <p:nvPr/>
        </p:nvSpPr>
        <p:spPr>
          <a:xfrm>
            <a:off x="3094891" y="1942132"/>
            <a:ext cx="4564439" cy="461665"/>
          </a:xfrm>
          <a:prstGeom prst="rect">
            <a:avLst/>
          </a:prstGeom>
          <a:noFill/>
        </p:spPr>
        <p:txBody>
          <a:bodyPr wrap="square" rtlCol="0" anchor="ctr">
            <a:spAutoFit/>
          </a:bodyPr>
          <a:lstStyle/>
          <a:p>
            <a:pPr>
              <a:buClr>
                <a:srgbClr val="FFC000"/>
              </a:buClr>
            </a:pPr>
            <a:r>
              <a:rPr lang="zh-CN" altLang="en-US" sz="2400" dirty="0">
                <a:solidFill>
                  <a:srgbClr val="2E75B6"/>
                </a:solidFill>
                <a:latin typeface="Times New Roman" panose="02020603050405020304" pitchFamily="18" charset="0"/>
                <a:ea typeface="思源黑体 CN Normal" panose="020B0400000000000000" pitchFamily="34" charset="-122"/>
                <a:cs typeface="Times New Roman" panose="02020603050405020304" pitchFamily="18" charset="0"/>
              </a:rPr>
              <a:t>指空间对象之间的各种几何关系</a:t>
            </a:r>
          </a:p>
        </p:txBody>
      </p:sp>
      <p:grpSp>
        <p:nvGrpSpPr>
          <p:cNvPr id="12" name="组合 11">
            <a:extLst>
              <a:ext uri="{FF2B5EF4-FFF2-40B4-BE49-F238E27FC236}">
                <a16:creationId xmlns:a16="http://schemas.microsoft.com/office/drawing/2014/main" id="{0FFA2FBF-9FC6-456F-86C1-0C99B4D0A57E}"/>
              </a:ext>
            </a:extLst>
          </p:cNvPr>
          <p:cNvGrpSpPr/>
          <p:nvPr/>
        </p:nvGrpSpPr>
        <p:grpSpPr>
          <a:xfrm>
            <a:off x="3094891" y="2826692"/>
            <a:ext cx="2657558" cy="461665"/>
            <a:chOff x="949183" y="2696257"/>
            <a:chExt cx="2169611" cy="461665"/>
          </a:xfrm>
          <a:solidFill>
            <a:srgbClr val="F77E3B"/>
          </a:solidFill>
        </p:grpSpPr>
        <p:sp>
          <p:nvSpPr>
            <p:cNvPr id="13" name="矩形: 圆角 20">
              <a:extLst>
                <a:ext uri="{FF2B5EF4-FFF2-40B4-BE49-F238E27FC236}">
                  <a16:creationId xmlns:a16="http://schemas.microsoft.com/office/drawing/2014/main" id="{0649A853-5E53-499B-8FDD-7D1F5FAE9287}"/>
                </a:ext>
              </a:extLst>
            </p:cNvPr>
            <p:cNvSpPr/>
            <p:nvPr/>
          </p:nvSpPr>
          <p:spPr>
            <a:xfrm>
              <a:off x="949184" y="2700095"/>
              <a:ext cx="2169610" cy="453989"/>
            </a:xfrm>
            <a:prstGeom prst="roundRect">
              <a:avLst/>
            </a:prstGeom>
            <a:grp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effectLst>
                  <a:outerShdw blurRad="38100" dist="38100" dir="2700000" algn="tl">
                    <a:srgbClr val="000000">
                      <a:alpha val="43137"/>
                    </a:srgbClr>
                  </a:outerShdw>
                </a:effectLst>
              </a:endParaRPr>
            </a:p>
          </p:txBody>
        </p:sp>
        <p:sp>
          <p:nvSpPr>
            <p:cNvPr id="14" name="文本框 13">
              <a:extLst>
                <a:ext uri="{FF2B5EF4-FFF2-40B4-BE49-F238E27FC236}">
                  <a16:creationId xmlns:a16="http://schemas.microsoft.com/office/drawing/2014/main" id="{6167D6AA-DBE3-4150-B9BD-EA8CAE7624C4}"/>
                </a:ext>
              </a:extLst>
            </p:cNvPr>
            <p:cNvSpPr txBox="1"/>
            <p:nvPr/>
          </p:nvSpPr>
          <p:spPr>
            <a:xfrm>
              <a:off x="949183" y="2696257"/>
              <a:ext cx="2169610" cy="461665"/>
            </a:xfrm>
            <a:prstGeom prst="rect">
              <a:avLst/>
            </a:prstGeom>
            <a:noFill/>
          </p:spPr>
          <p:txBody>
            <a:bodyPr wrap="square" rtlCol="0" anchor="ctr">
              <a:spAutoFit/>
            </a:bodyPr>
            <a:lstStyle/>
            <a:p>
              <a:pPr algn="ctr">
                <a:buClr>
                  <a:srgbClr val="FFC000"/>
                </a:buClr>
              </a:pPr>
              <a:r>
                <a:rPr lang="zh-CN" altLang="en-US" sz="2400" b="1" dirty="0">
                  <a:solidFill>
                    <a:srgbClr val="FFE07D"/>
                  </a:solidFill>
                  <a:effectLst>
                    <a:outerShdw blurRad="38100" dist="38100" dir="2700000" algn="tl">
                      <a:srgbClr val="000000">
                        <a:alpha val="43137"/>
                      </a:srgbClr>
                    </a:outerShdw>
                  </a:effectLst>
                  <a:latin typeface="Times New Roman" panose="02020603050405020304" pitchFamily="18" charset="0"/>
                  <a:ea typeface="思源黑体 CN Normal" panose="020B0400000000000000" pitchFamily="34" charset="-122"/>
                  <a:cs typeface="Times New Roman" panose="02020603050405020304" pitchFamily="18" charset="0"/>
                </a:rPr>
                <a:t>顺序</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思源黑体 CN Normal" panose="020B0400000000000000" pitchFamily="34" charset="-122"/>
                  <a:cs typeface="Times New Roman" panose="02020603050405020304" pitchFamily="18" charset="0"/>
                </a:rPr>
                <a:t>空间关系</a:t>
              </a:r>
            </a:p>
          </p:txBody>
        </p:sp>
      </p:grpSp>
      <p:grpSp>
        <p:nvGrpSpPr>
          <p:cNvPr id="15" name="组合 14">
            <a:extLst>
              <a:ext uri="{FF2B5EF4-FFF2-40B4-BE49-F238E27FC236}">
                <a16:creationId xmlns:a16="http://schemas.microsoft.com/office/drawing/2014/main" id="{AC12EA35-3393-4810-8310-D8F8E5BE7F96}"/>
              </a:ext>
            </a:extLst>
          </p:cNvPr>
          <p:cNvGrpSpPr/>
          <p:nvPr/>
        </p:nvGrpSpPr>
        <p:grpSpPr>
          <a:xfrm>
            <a:off x="3094891" y="3673493"/>
            <a:ext cx="2657558" cy="461665"/>
            <a:chOff x="949183" y="2696257"/>
            <a:chExt cx="2169611" cy="461665"/>
          </a:xfrm>
          <a:solidFill>
            <a:srgbClr val="F77E3B"/>
          </a:solidFill>
        </p:grpSpPr>
        <p:sp>
          <p:nvSpPr>
            <p:cNvPr id="16" name="矩形: 圆角 24">
              <a:extLst>
                <a:ext uri="{FF2B5EF4-FFF2-40B4-BE49-F238E27FC236}">
                  <a16:creationId xmlns:a16="http://schemas.microsoft.com/office/drawing/2014/main" id="{2E65D8A6-37E2-4216-A6A7-D2668F3F4736}"/>
                </a:ext>
              </a:extLst>
            </p:cNvPr>
            <p:cNvSpPr/>
            <p:nvPr/>
          </p:nvSpPr>
          <p:spPr>
            <a:xfrm>
              <a:off x="949184" y="2700095"/>
              <a:ext cx="2169610" cy="453989"/>
            </a:xfrm>
            <a:prstGeom prst="roundRect">
              <a:avLst/>
            </a:prstGeom>
            <a:grp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effectLst>
                  <a:outerShdw blurRad="38100" dist="38100" dir="2700000" algn="tl">
                    <a:srgbClr val="000000">
                      <a:alpha val="43137"/>
                    </a:srgbClr>
                  </a:outerShdw>
                </a:effectLst>
              </a:endParaRPr>
            </a:p>
          </p:txBody>
        </p:sp>
        <p:sp>
          <p:nvSpPr>
            <p:cNvPr id="17" name="文本框 16">
              <a:extLst>
                <a:ext uri="{FF2B5EF4-FFF2-40B4-BE49-F238E27FC236}">
                  <a16:creationId xmlns:a16="http://schemas.microsoft.com/office/drawing/2014/main" id="{57D0F74B-F0EB-4547-8E09-6E20BCEC14B0}"/>
                </a:ext>
              </a:extLst>
            </p:cNvPr>
            <p:cNvSpPr txBox="1"/>
            <p:nvPr/>
          </p:nvSpPr>
          <p:spPr>
            <a:xfrm>
              <a:off x="949183" y="2696257"/>
              <a:ext cx="2169610" cy="461665"/>
            </a:xfrm>
            <a:prstGeom prst="rect">
              <a:avLst/>
            </a:prstGeom>
            <a:noFill/>
          </p:spPr>
          <p:txBody>
            <a:bodyPr wrap="square" rtlCol="0" anchor="ctr">
              <a:spAutoFit/>
            </a:bodyPr>
            <a:lstStyle/>
            <a:p>
              <a:pPr algn="ctr">
                <a:buClr>
                  <a:srgbClr val="FFC000"/>
                </a:buClr>
              </a:pPr>
              <a:r>
                <a:rPr lang="zh-CN" altLang="en-US" sz="2400" b="1" dirty="0">
                  <a:solidFill>
                    <a:srgbClr val="FFE07D"/>
                  </a:solidFill>
                  <a:effectLst>
                    <a:outerShdw blurRad="38100" dist="38100" dir="2700000" algn="tl">
                      <a:srgbClr val="000000">
                        <a:alpha val="43137"/>
                      </a:srgbClr>
                    </a:outerShdw>
                  </a:effectLst>
                  <a:latin typeface="Times New Roman" panose="02020603050405020304" pitchFamily="18" charset="0"/>
                  <a:ea typeface="思源黑体 CN Normal" panose="020B0400000000000000" pitchFamily="34" charset="-122"/>
                  <a:cs typeface="Times New Roman" panose="02020603050405020304" pitchFamily="18" charset="0"/>
                </a:rPr>
                <a:t>度量</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思源黑体 CN Normal" panose="020B0400000000000000" pitchFamily="34" charset="-122"/>
                  <a:cs typeface="Times New Roman" panose="02020603050405020304" pitchFamily="18" charset="0"/>
                </a:rPr>
                <a:t>空间关系</a:t>
              </a:r>
            </a:p>
          </p:txBody>
        </p:sp>
      </p:grpSp>
      <p:grpSp>
        <p:nvGrpSpPr>
          <p:cNvPr id="18" name="组合 17">
            <a:extLst>
              <a:ext uri="{FF2B5EF4-FFF2-40B4-BE49-F238E27FC236}">
                <a16:creationId xmlns:a16="http://schemas.microsoft.com/office/drawing/2014/main" id="{B3C0195B-0AB1-4176-BC08-BEDE0BCC6A68}"/>
              </a:ext>
            </a:extLst>
          </p:cNvPr>
          <p:cNvGrpSpPr/>
          <p:nvPr/>
        </p:nvGrpSpPr>
        <p:grpSpPr>
          <a:xfrm>
            <a:off x="3094891" y="4520293"/>
            <a:ext cx="2657558" cy="461665"/>
            <a:chOff x="949183" y="2696257"/>
            <a:chExt cx="2169611" cy="461665"/>
          </a:xfrm>
          <a:solidFill>
            <a:srgbClr val="F77E3B"/>
          </a:solidFill>
        </p:grpSpPr>
        <p:sp>
          <p:nvSpPr>
            <p:cNvPr id="19" name="矩形: 圆角 27">
              <a:extLst>
                <a:ext uri="{FF2B5EF4-FFF2-40B4-BE49-F238E27FC236}">
                  <a16:creationId xmlns:a16="http://schemas.microsoft.com/office/drawing/2014/main" id="{EA6EFFFA-DA3F-4D48-8618-DAA177B5176D}"/>
                </a:ext>
              </a:extLst>
            </p:cNvPr>
            <p:cNvSpPr/>
            <p:nvPr/>
          </p:nvSpPr>
          <p:spPr>
            <a:xfrm>
              <a:off x="949184" y="2700095"/>
              <a:ext cx="2169610" cy="453989"/>
            </a:xfrm>
            <a:prstGeom prst="roundRect">
              <a:avLst/>
            </a:prstGeom>
            <a:grp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effectLst>
                  <a:outerShdw blurRad="38100" dist="38100" dir="2700000" algn="tl">
                    <a:srgbClr val="000000">
                      <a:alpha val="43137"/>
                    </a:srgbClr>
                  </a:outerShdw>
                </a:effectLst>
              </a:endParaRPr>
            </a:p>
          </p:txBody>
        </p:sp>
        <p:sp>
          <p:nvSpPr>
            <p:cNvPr id="20" name="文本框 19">
              <a:extLst>
                <a:ext uri="{FF2B5EF4-FFF2-40B4-BE49-F238E27FC236}">
                  <a16:creationId xmlns:a16="http://schemas.microsoft.com/office/drawing/2014/main" id="{4D6A01EC-C1B8-41B5-BF42-1AC0699E9E83}"/>
                </a:ext>
              </a:extLst>
            </p:cNvPr>
            <p:cNvSpPr txBox="1"/>
            <p:nvPr/>
          </p:nvSpPr>
          <p:spPr>
            <a:xfrm>
              <a:off x="949183" y="2696257"/>
              <a:ext cx="2169610" cy="461665"/>
            </a:xfrm>
            <a:prstGeom prst="rect">
              <a:avLst/>
            </a:prstGeom>
            <a:noFill/>
          </p:spPr>
          <p:txBody>
            <a:bodyPr wrap="square" rtlCol="0" anchor="ctr">
              <a:spAutoFit/>
            </a:bodyPr>
            <a:lstStyle/>
            <a:p>
              <a:pPr algn="ctr">
                <a:buClr>
                  <a:srgbClr val="FFC000"/>
                </a:buClr>
              </a:pPr>
              <a:r>
                <a:rPr lang="zh-CN" altLang="en-US" sz="2400" b="1" dirty="0">
                  <a:solidFill>
                    <a:srgbClr val="FFE07D"/>
                  </a:solidFill>
                  <a:effectLst>
                    <a:outerShdw blurRad="38100" dist="38100" dir="2700000" algn="tl">
                      <a:srgbClr val="000000">
                        <a:alpha val="43137"/>
                      </a:srgbClr>
                    </a:outerShdw>
                  </a:effectLst>
                  <a:latin typeface="Times New Roman" panose="02020603050405020304" pitchFamily="18" charset="0"/>
                  <a:ea typeface="思源黑体 CN Normal" panose="020B0400000000000000" pitchFamily="34" charset="-122"/>
                  <a:cs typeface="Times New Roman" panose="02020603050405020304" pitchFamily="18" charset="0"/>
                </a:rPr>
                <a:t>拓扑</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思源黑体 CN Normal" panose="020B0400000000000000" pitchFamily="34" charset="-122"/>
                  <a:cs typeface="Times New Roman" panose="02020603050405020304" pitchFamily="18" charset="0"/>
                </a:rPr>
                <a:t>空间关系</a:t>
              </a:r>
            </a:p>
          </p:txBody>
        </p:sp>
      </p:grpSp>
    </p:spTree>
    <p:extLst>
      <p:ext uri="{BB962C8B-B14F-4D97-AF65-F5344CB8AC3E}">
        <p14:creationId xmlns:p14="http://schemas.microsoft.com/office/powerpoint/2010/main" val="36216464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arn(inVertic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arn(inVertical)">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79513" y="116632"/>
            <a:ext cx="511256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2.2.1   </a:t>
            </a:r>
            <a:r>
              <a:rPr lang="zh-CN" altLang="en-US" sz="3600" dirty="0">
                <a:solidFill>
                  <a:srgbClr val="FFFF00"/>
                </a:solidFill>
                <a:latin typeface="Times New Roman" panose="02020603050405020304" pitchFamily="18" charset="0"/>
              </a:rPr>
              <a:t>空间关系的类型 </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14</a:t>
            </a:fld>
            <a:endParaRPr lang="en-US" altLang="zh-CN"/>
          </a:p>
        </p:txBody>
      </p:sp>
      <p:grpSp>
        <p:nvGrpSpPr>
          <p:cNvPr id="5" name="组合 4">
            <a:extLst>
              <a:ext uri="{FF2B5EF4-FFF2-40B4-BE49-F238E27FC236}">
                <a16:creationId xmlns:a16="http://schemas.microsoft.com/office/drawing/2014/main" id="{0F28652B-1DD8-4664-B792-A7F4F541CB49}"/>
              </a:ext>
            </a:extLst>
          </p:cNvPr>
          <p:cNvGrpSpPr/>
          <p:nvPr/>
        </p:nvGrpSpPr>
        <p:grpSpPr>
          <a:xfrm>
            <a:off x="773602" y="1899312"/>
            <a:ext cx="3426927" cy="616871"/>
            <a:chOff x="716928" y="2538792"/>
            <a:chExt cx="3426927" cy="616871"/>
          </a:xfrm>
        </p:grpSpPr>
        <p:grpSp>
          <p:nvGrpSpPr>
            <p:cNvPr id="6" name="组合 5">
              <a:extLst>
                <a:ext uri="{FF2B5EF4-FFF2-40B4-BE49-F238E27FC236}">
                  <a16:creationId xmlns:a16="http://schemas.microsoft.com/office/drawing/2014/main" id="{94683ADB-072C-464D-997F-FE6A8E94D215}"/>
                </a:ext>
              </a:extLst>
            </p:cNvPr>
            <p:cNvGrpSpPr/>
            <p:nvPr/>
          </p:nvGrpSpPr>
          <p:grpSpPr>
            <a:xfrm>
              <a:off x="716928" y="2538792"/>
              <a:ext cx="3379298" cy="616871"/>
              <a:chOff x="677297" y="2425811"/>
              <a:chExt cx="4540832" cy="828900"/>
            </a:xfrm>
          </p:grpSpPr>
          <p:sp>
            <p:nvSpPr>
              <p:cNvPr id="8" name="椭圆 7">
                <a:extLst>
                  <a:ext uri="{FF2B5EF4-FFF2-40B4-BE49-F238E27FC236}">
                    <a16:creationId xmlns:a16="http://schemas.microsoft.com/office/drawing/2014/main" id="{79384BA3-9B0C-4633-9679-3A7BB956E3A5}"/>
                  </a:ext>
                </a:extLst>
              </p:cNvPr>
              <p:cNvSpPr/>
              <p:nvPr/>
            </p:nvSpPr>
            <p:spPr>
              <a:xfrm rot="19646445">
                <a:off x="683146" y="2462531"/>
                <a:ext cx="792178" cy="792180"/>
              </a:xfrm>
              <a:prstGeom prst="ellipse">
                <a:avLst/>
              </a:prstGeom>
              <a:gradFill>
                <a:gsLst>
                  <a:gs pos="0">
                    <a:srgbClr val="A7D2E7"/>
                  </a:gs>
                  <a:gs pos="100000">
                    <a:schemeClr val="bg1">
                      <a:alpha val="0"/>
                    </a:schemeClr>
                  </a:gs>
                </a:gsLst>
                <a:lin ang="5400000" scaled="1"/>
              </a:gradFill>
              <a:ln w="22225">
                <a:noFill/>
              </a:ln>
              <a:effectLst>
                <a:outerShdw blurRad="50800" dist="38100" dir="2700000" algn="tl" rotWithShape="0">
                  <a:schemeClr val="accent5">
                    <a:lumMod val="40000"/>
                    <a:lumOff val="6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a:extLst>
                  <a:ext uri="{FF2B5EF4-FFF2-40B4-BE49-F238E27FC236}">
                    <a16:creationId xmlns:a16="http://schemas.microsoft.com/office/drawing/2014/main" id="{2DB4423F-CD84-4BF9-A816-1AB85F89084E}"/>
                  </a:ext>
                </a:extLst>
              </p:cNvPr>
              <p:cNvCxnSpPr>
                <a:cxnSpLocks/>
              </p:cNvCxnSpPr>
              <p:nvPr/>
            </p:nvCxnSpPr>
            <p:spPr>
              <a:xfrm>
                <a:off x="685190" y="3040901"/>
                <a:ext cx="4532939"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A762B12-764C-400F-99F0-C4074D67774C}"/>
                  </a:ext>
                </a:extLst>
              </p:cNvPr>
              <p:cNvSpPr txBox="1"/>
              <p:nvPr/>
            </p:nvSpPr>
            <p:spPr>
              <a:xfrm>
                <a:off x="677297" y="2425811"/>
                <a:ext cx="481342" cy="785772"/>
              </a:xfrm>
              <a:prstGeom prst="rect">
                <a:avLst/>
              </a:prstGeom>
              <a:noFill/>
            </p:spPr>
            <p:txBody>
              <a:bodyPr wrap="square" rtlCol="0">
                <a:spAutoFit/>
              </a:bodyPr>
              <a:lstStyle/>
              <a:p>
                <a:pPr algn="ctr"/>
                <a:r>
                  <a:rPr lang="en-US" altLang="zh-CN" sz="3200" i="1" dirty="0">
                    <a:gradFill>
                      <a:gsLst>
                        <a:gs pos="0">
                          <a:schemeClr val="accent5">
                            <a:lumMod val="50000"/>
                          </a:schemeClr>
                        </a:gs>
                        <a:gs pos="100000">
                          <a:srgbClr val="008FFA"/>
                        </a:gs>
                      </a:gsLst>
                      <a:lin ang="5400000" scaled="1"/>
                    </a:gradFill>
                    <a:latin typeface="锐字真言体免费商用" panose="02010600030101010101" pitchFamily="2" charset="-122"/>
                    <a:ea typeface="锐字真言体免费商用" panose="02010600030101010101" pitchFamily="2" charset="-122"/>
                  </a:rPr>
                  <a:t>1</a:t>
                </a:r>
                <a:endParaRPr lang="zh-CN" altLang="en-US" sz="3200" i="1" dirty="0">
                  <a:gradFill>
                    <a:gsLst>
                      <a:gs pos="0">
                        <a:schemeClr val="accent5">
                          <a:lumMod val="50000"/>
                        </a:schemeClr>
                      </a:gs>
                      <a:gs pos="100000">
                        <a:srgbClr val="008FFA"/>
                      </a:gs>
                    </a:gsLst>
                    <a:lin ang="5400000" scaled="1"/>
                  </a:gradFill>
                  <a:latin typeface="锐字真言体免费商用" panose="02010600030101010101" pitchFamily="2" charset="-122"/>
                  <a:ea typeface="锐字真言体免费商用" panose="02010600030101010101" pitchFamily="2" charset="-122"/>
                </a:endParaRPr>
              </a:p>
            </p:txBody>
          </p:sp>
        </p:grpSp>
        <p:sp>
          <p:nvSpPr>
            <p:cNvPr id="7" name="文本框 6">
              <a:extLst>
                <a:ext uri="{FF2B5EF4-FFF2-40B4-BE49-F238E27FC236}">
                  <a16:creationId xmlns:a16="http://schemas.microsoft.com/office/drawing/2014/main" id="{62358010-6FD3-450C-B658-745DFB963C99}"/>
                </a:ext>
              </a:extLst>
            </p:cNvPr>
            <p:cNvSpPr txBox="1"/>
            <p:nvPr/>
          </p:nvSpPr>
          <p:spPr>
            <a:xfrm>
              <a:off x="1059747" y="2634511"/>
              <a:ext cx="3084108" cy="400110"/>
            </a:xfrm>
            <a:prstGeom prst="rect">
              <a:avLst/>
            </a:prstGeom>
            <a:noFill/>
          </p:spPr>
          <p:txBody>
            <a:bodyPr wrap="square" rtlCol="0" anchor="ctr">
              <a:spAutoFit/>
            </a:bodyPr>
            <a:lstStyle/>
            <a:p>
              <a:pPr>
                <a:buClr>
                  <a:srgbClr val="FFC000"/>
                </a:buClr>
              </a:pPr>
              <a:r>
                <a:rPr lang="zh-CN" altLang="en-US" sz="2000" b="1" dirty="0">
                  <a:solidFill>
                    <a:schemeClr val="accent5">
                      <a:lumMod val="75000"/>
                    </a:schemeClr>
                  </a:solidFill>
                  <a:latin typeface="Times New Roman" panose="02020603050405020304" pitchFamily="18" charset="0"/>
                  <a:ea typeface="思源黑体 CN Normal" panose="020B0400000000000000" pitchFamily="34" charset="-122"/>
                  <a:cs typeface="Times New Roman" panose="02020603050405020304" pitchFamily="18" charset="0"/>
                </a:rPr>
                <a:t>顺序空间关系</a:t>
              </a:r>
            </a:p>
          </p:txBody>
        </p:sp>
      </p:grpSp>
      <p:sp>
        <p:nvSpPr>
          <p:cNvPr id="11" name="文本框 10">
            <a:extLst>
              <a:ext uri="{FF2B5EF4-FFF2-40B4-BE49-F238E27FC236}">
                <a16:creationId xmlns:a16="http://schemas.microsoft.com/office/drawing/2014/main" id="{D8C76785-0DFD-4815-A188-FB6D5A1B76AF}"/>
              </a:ext>
            </a:extLst>
          </p:cNvPr>
          <p:cNvSpPr txBox="1"/>
          <p:nvPr/>
        </p:nvSpPr>
        <p:spPr>
          <a:xfrm>
            <a:off x="1116421" y="2515018"/>
            <a:ext cx="6594937" cy="400110"/>
          </a:xfrm>
          <a:prstGeom prst="rect">
            <a:avLst/>
          </a:prstGeom>
          <a:noFill/>
        </p:spPr>
        <p:txBody>
          <a:bodyPr wrap="square" rtlCol="0" anchor="ctr">
            <a:spAutoFit/>
          </a:bodyPr>
          <a:lstStyle/>
          <a:p>
            <a:pPr>
              <a:buClr>
                <a:srgbClr val="FFC000"/>
              </a:buClr>
            </a:pPr>
            <a:r>
              <a:rPr lang="zh-CN" altLang="en-US" sz="2000" dirty="0">
                <a:latin typeface="Times New Roman" panose="02020603050405020304" pitchFamily="18" charset="0"/>
                <a:ea typeface="思源黑体 CN Normal" panose="020B0400000000000000" pitchFamily="34" charset="-122"/>
                <a:cs typeface="Times New Roman" panose="02020603050405020304" pitchFamily="18" charset="0"/>
              </a:rPr>
              <a:t>描述目标在空间中的某种排序，如</a:t>
            </a:r>
            <a:r>
              <a:rPr lang="zh-CN" altLang="en-US" sz="2000" dirty="0">
                <a:solidFill>
                  <a:srgbClr val="2E75B6"/>
                </a:solidFill>
                <a:latin typeface="Times New Roman" panose="02020603050405020304" pitchFamily="18" charset="0"/>
                <a:ea typeface="思源黑体 CN Normal" panose="020B0400000000000000" pitchFamily="34" charset="-122"/>
                <a:cs typeface="Times New Roman" panose="02020603050405020304" pitchFamily="18" charset="0"/>
              </a:rPr>
              <a:t>前后左右、东西南北</a:t>
            </a:r>
            <a:r>
              <a:rPr lang="zh-CN" altLang="en-US" sz="2000" dirty="0">
                <a:latin typeface="Times New Roman" panose="02020603050405020304" pitchFamily="18" charset="0"/>
                <a:ea typeface="思源黑体 CN Normal" panose="020B0400000000000000" pitchFamily="34" charset="-122"/>
                <a:cs typeface="Times New Roman" panose="02020603050405020304" pitchFamily="18" charset="0"/>
              </a:rPr>
              <a:t>等。</a:t>
            </a:r>
            <a:endParaRPr lang="en-US" altLang="zh-CN" sz="20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ABAB2F56-52C8-4774-97DA-7DD409F455A9}"/>
              </a:ext>
            </a:extLst>
          </p:cNvPr>
          <p:cNvGrpSpPr/>
          <p:nvPr/>
        </p:nvGrpSpPr>
        <p:grpSpPr>
          <a:xfrm>
            <a:off x="773602" y="3028263"/>
            <a:ext cx="2121998" cy="616871"/>
            <a:chOff x="716928" y="2538792"/>
            <a:chExt cx="2121998" cy="616871"/>
          </a:xfrm>
        </p:grpSpPr>
        <p:grpSp>
          <p:nvGrpSpPr>
            <p:cNvPr id="13" name="组合 12">
              <a:extLst>
                <a:ext uri="{FF2B5EF4-FFF2-40B4-BE49-F238E27FC236}">
                  <a16:creationId xmlns:a16="http://schemas.microsoft.com/office/drawing/2014/main" id="{FBD5FFCE-2EFC-462A-A070-C253EE16E655}"/>
                </a:ext>
              </a:extLst>
            </p:cNvPr>
            <p:cNvGrpSpPr/>
            <p:nvPr/>
          </p:nvGrpSpPr>
          <p:grpSpPr>
            <a:xfrm>
              <a:off x="716928" y="2538792"/>
              <a:ext cx="2121998" cy="616871"/>
              <a:chOff x="677297" y="2425811"/>
              <a:chExt cx="2851372" cy="828900"/>
            </a:xfrm>
          </p:grpSpPr>
          <p:sp>
            <p:nvSpPr>
              <p:cNvPr id="15" name="椭圆 14">
                <a:extLst>
                  <a:ext uri="{FF2B5EF4-FFF2-40B4-BE49-F238E27FC236}">
                    <a16:creationId xmlns:a16="http://schemas.microsoft.com/office/drawing/2014/main" id="{B3C51CDA-AEAF-48F5-9CDC-ED4481056C7F}"/>
                  </a:ext>
                </a:extLst>
              </p:cNvPr>
              <p:cNvSpPr/>
              <p:nvPr/>
            </p:nvSpPr>
            <p:spPr>
              <a:xfrm rot="19646445">
                <a:off x="683146" y="2462531"/>
                <a:ext cx="792178" cy="792180"/>
              </a:xfrm>
              <a:prstGeom prst="ellipse">
                <a:avLst/>
              </a:prstGeom>
              <a:gradFill>
                <a:gsLst>
                  <a:gs pos="0">
                    <a:srgbClr val="A7D2E7"/>
                  </a:gs>
                  <a:gs pos="100000">
                    <a:schemeClr val="bg1">
                      <a:alpha val="0"/>
                    </a:schemeClr>
                  </a:gs>
                </a:gsLst>
                <a:lin ang="5400000" scaled="1"/>
              </a:gradFill>
              <a:ln w="22225">
                <a:noFill/>
              </a:ln>
              <a:effectLst>
                <a:outerShdw blurRad="50800" dist="38100" dir="2700000" algn="tl" rotWithShape="0">
                  <a:schemeClr val="accent5">
                    <a:lumMod val="40000"/>
                    <a:lumOff val="6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6" name="直接连接符 15">
                <a:extLst>
                  <a:ext uri="{FF2B5EF4-FFF2-40B4-BE49-F238E27FC236}">
                    <a16:creationId xmlns:a16="http://schemas.microsoft.com/office/drawing/2014/main" id="{8E631360-BF36-499C-88E5-63BD23217744}"/>
                  </a:ext>
                </a:extLst>
              </p:cNvPr>
              <p:cNvCxnSpPr>
                <a:cxnSpLocks/>
              </p:cNvCxnSpPr>
              <p:nvPr/>
            </p:nvCxnSpPr>
            <p:spPr>
              <a:xfrm>
                <a:off x="685190" y="3040901"/>
                <a:ext cx="2843479"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96B8EDF5-129F-4A38-BCED-EC04D32AAA0A}"/>
                  </a:ext>
                </a:extLst>
              </p:cNvPr>
              <p:cNvSpPr txBox="1"/>
              <p:nvPr/>
            </p:nvSpPr>
            <p:spPr>
              <a:xfrm>
                <a:off x="677297" y="2425811"/>
                <a:ext cx="481342" cy="785772"/>
              </a:xfrm>
              <a:prstGeom prst="rect">
                <a:avLst/>
              </a:prstGeom>
              <a:noFill/>
            </p:spPr>
            <p:txBody>
              <a:bodyPr wrap="square" rtlCol="0">
                <a:spAutoFit/>
              </a:bodyPr>
              <a:lstStyle/>
              <a:p>
                <a:pPr algn="ctr"/>
                <a:r>
                  <a:rPr lang="en-US" altLang="zh-CN" sz="3200" i="1" dirty="0">
                    <a:gradFill>
                      <a:gsLst>
                        <a:gs pos="0">
                          <a:schemeClr val="accent5">
                            <a:lumMod val="50000"/>
                          </a:schemeClr>
                        </a:gs>
                        <a:gs pos="100000">
                          <a:srgbClr val="008FFA"/>
                        </a:gs>
                      </a:gsLst>
                      <a:lin ang="5400000" scaled="1"/>
                    </a:gradFill>
                    <a:latin typeface="锐字真言体免费商用" panose="02010600030101010101" pitchFamily="2" charset="-122"/>
                    <a:ea typeface="锐字真言体免费商用" panose="02010600030101010101" pitchFamily="2" charset="-122"/>
                  </a:rPr>
                  <a:t>2</a:t>
                </a:r>
                <a:endParaRPr lang="zh-CN" altLang="en-US" sz="3200" i="1" dirty="0">
                  <a:gradFill>
                    <a:gsLst>
                      <a:gs pos="0">
                        <a:schemeClr val="accent5">
                          <a:lumMod val="50000"/>
                        </a:schemeClr>
                      </a:gs>
                      <a:gs pos="100000">
                        <a:srgbClr val="008FFA"/>
                      </a:gs>
                    </a:gsLst>
                    <a:lin ang="5400000" scaled="1"/>
                  </a:gradFill>
                  <a:latin typeface="锐字真言体免费商用" panose="02010600030101010101" pitchFamily="2" charset="-122"/>
                  <a:ea typeface="锐字真言体免费商用" panose="02010600030101010101" pitchFamily="2" charset="-122"/>
                </a:endParaRPr>
              </a:p>
            </p:txBody>
          </p:sp>
        </p:grpSp>
        <p:sp>
          <p:nvSpPr>
            <p:cNvPr id="14" name="文本框 13">
              <a:extLst>
                <a:ext uri="{FF2B5EF4-FFF2-40B4-BE49-F238E27FC236}">
                  <a16:creationId xmlns:a16="http://schemas.microsoft.com/office/drawing/2014/main" id="{D644E756-23C9-4F61-A03D-2A03646FAFBF}"/>
                </a:ext>
              </a:extLst>
            </p:cNvPr>
            <p:cNvSpPr txBox="1"/>
            <p:nvPr/>
          </p:nvSpPr>
          <p:spPr>
            <a:xfrm>
              <a:off x="1059747" y="2634511"/>
              <a:ext cx="1779179" cy="400110"/>
            </a:xfrm>
            <a:prstGeom prst="rect">
              <a:avLst/>
            </a:prstGeom>
            <a:noFill/>
          </p:spPr>
          <p:txBody>
            <a:bodyPr wrap="square" rtlCol="0" anchor="ctr">
              <a:spAutoFit/>
            </a:bodyPr>
            <a:lstStyle/>
            <a:p>
              <a:pPr>
                <a:buClr>
                  <a:srgbClr val="FFC000"/>
                </a:buClr>
              </a:pPr>
              <a:r>
                <a:rPr lang="zh-CN" altLang="en-US" sz="2000" b="1" dirty="0">
                  <a:solidFill>
                    <a:schemeClr val="accent5">
                      <a:lumMod val="75000"/>
                    </a:schemeClr>
                  </a:solidFill>
                  <a:latin typeface="Times New Roman" panose="02020603050405020304" pitchFamily="18" charset="0"/>
                  <a:ea typeface="思源黑体 CN Normal" panose="020B0400000000000000" pitchFamily="34" charset="-122"/>
                  <a:cs typeface="Times New Roman" panose="02020603050405020304" pitchFamily="18" charset="0"/>
                </a:rPr>
                <a:t>度量空间关系</a:t>
              </a:r>
            </a:p>
          </p:txBody>
        </p:sp>
      </p:grpSp>
      <p:sp>
        <p:nvSpPr>
          <p:cNvPr id="18" name="文本框 17">
            <a:extLst>
              <a:ext uri="{FF2B5EF4-FFF2-40B4-BE49-F238E27FC236}">
                <a16:creationId xmlns:a16="http://schemas.microsoft.com/office/drawing/2014/main" id="{A7F8A8D8-6B2F-45F4-82EE-2A7033187227}"/>
              </a:ext>
            </a:extLst>
          </p:cNvPr>
          <p:cNvSpPr txBox="1"/>
          <p:nvPr/>
        </p:nvSpPr>
        <p:spPr>
          <a:xfrm>
            <a:off x="1116421" y="3643969"/>
            <a:ext cx="7062379" cy="400110"/>
          </a:xfrm>
          <a:prstGeom prst="rect">
            <a:avLst/>
          </a:prstGeom>
          <a:noFill/>
        </p:spPr>
        <p:txBody>
          <a:bodyPr wrap="square" rtlCol="0" anchor="ctr">
            <a:spAutoFit/>
          </a:bodyPr>
          <a:lstStyle/>
          <a:p>
            <a:pPr>
              <a:buClr>
                <a:srgbClr val="FFC000"/>
              </a:buClr>
            </a:pPr>
            <a:r>
              <a:rPr lang="zh-CN" altLang="en-US" sz="2000" dirty="0">
                <a:latin typeface="Times New Roman" panose="02020603050405020304" pitchFamily="18" charset="0"/>
                <a:ea typeface="思源黑体 CN Normal" panose="020B0400000000000000" pitchFamily="34" charset="-122"/>
                <a:cs typeface="Times New Roman" panose="02020603050405020304" pitchFamily="18" charset="0"/>
              </a:rPr>
              <a:t>用某种度量空间中的度量来描述的目标间的关系，如</a:t>
            </a:r>
            <a:r>
              <a:rPr lang="zh-CN" altLang="en-US" sz="2000" dirty="0">
                <a:solidFill>
                  <a:srgbClr val="2E75B6"/>
                </a:solidFill>
                <a:latin typeface="Times New Roman" panose="02020603050405020304" pitchFamily="18" charset="0"/>
                <a:ea typeface="思源黑体 CN Normal" panose="020B0400000000000000" pitchFamily="34" charset="-122"/>
                <a:cs typeface="Times New Roman" panose="02020603050405020304" pitchFamily="18" charset="0"/>
              </a:rPr>
              <a:t>距离关系</a:t>
            </a:r>
            <a:r>
              <a:rPr lang="zh-CN" altLang="en-US" sz="2000" dirty="0">
                <a:latin typeface="Times New Roman" panose="02020603050405020304" pitchFamily="18" charset="0"/>
                <a:ea typeface="思源黑体 CN Normal" panose="020B0400000000000000" pitchFamily="34" charset="-122"/>
                <a:cs typeface="Times New Roman" panose="02020603050405020304" pitchFamily="18" charset="0"/>
              </a:rPr>
              <a:t>。</a:t>
            </a:r>
          </a:p>
        </p:txBody>
      </p:sp>
      <p:grpSp>
        <p:nvGrpSpPr>
          <p:cNvPr id="19" name="组合 18">
            <a:extLst>
              <a:ext uri="{FF2B5EF4-FFF2-40B4-BE49-F238E27FC236}">
                <a16:creationId xmlns:a16="http://schemas.microsoft.com/office/drawing/2014/main" id="{981DCC8E-2330-4FC3-9C79-D6C84E252959}"/>
              </a:ext>
            </a:extLst>
          </p:cNvPr>
          <p:cNvGrpSpPr/>
          <p:nvPr/>
        </p:nvGrpSpPr>
        <p:grpSpPr>
          <a:xfrm>
            <a:off x="773602" y="4157214"/>
            <a:ext cx="2121998" cy="616871"/>
            <a:chOff x="716928" y="2538792"/>
            <a:chExt cx="2121998" cy="616871"/>
          </a:xfrm>
        </p:grpSpPr>
        <p:grpSp>
          <p:nvGrpSpPr>
            <p:cNvPr id="20" name="组合 19">
              <a:extLst>
                <a:ext uri="{FF2B5EF4-FFF2-40B4-BE49-F238E27FC236}">
                  <a16:creationId xmlns:a16="http://schemas.microsoft.com/office/drawing/2014/main" id="{48DF96DD-8A13-4B3E-8851-158F7FFE93A3}"/>
                </a:ext>
              </a:extLst>
            </p:cNvPr>
            <p:cNvGrpSpPr/>
            <p:nvPr/>
          </p:nvGrpSpPr>
          <p:grpSpPr>
            <a:xfrm>
              <a:off x="716928" y="2538792"/>
              <a:ext cx="2121998" cy="616871"/>
              <a:chOff x="677297" y="2425811"/>
              <a:chExt cx="2851372" cy="828900"/>
            </a:xfrm>
          </p:grpSpPr>
          <p:sp>
            <p:nvSpPr>
              <p:cNvPr id="22" name="椭圆 21">
                <a:extLst>
                  <a:ext uri="{FF2B5EF4-FFF2-40B4-BE49-F238E27FC236}">
                    <a16:creationId xmlns:a16="http://schemas.microsoft.com/office/drawing/2014/main" id="{6A3A5F26-5F92-4B5D-A140-F951CD9239DC}"/>
                  </a:ext>
                </a:extLst>
              </p:cNvPr>
              <p:cNvSpPr/>
              <p:nvPr/>
            </p:nvSpPr>
            <p:spPr>
              <a:xfrm rot="19646445">
                <a:off x="683146" y="2462531"/>
                <a:ext cx="792178" cy="792180"/>
              </a:xfrm>
              <a:prstGeom prst="ellipse">
                <a:avLst/>
              </a:prstGeom>
              <a:gradFill>
                <a:gsLst>
                  <a:gs pos="0">
                    <a:srgbClr val="A7D2E7"/>
                  </a:gs>
                  <a:gs pos="100000">
                    <a:schemeClr val="bg1">
                      <a:alpha val="0"/>
                    </a:schemeClr>
                  </a:gs>
                </a:gsLst>
                <a:lin ang="5400000" scaled="1"/>
              </a:gradFill>
              <a:ln w="22225">
                <a:noFill/>
              </a:ln>
              <a:effectLst>
                <a:outerShdw blurRad="50800" dist="38100" dir="2700000" algn="tl" rotWithShape="0">
                  <a:schemeClr val="accent5">
                    <a:lumMod val="40000"/>
                    <a:lumOff val="6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3" name="直接连接符 22">
                <a:extLst>
                  <a:ext uri="{FF2B5EF4-FFF2-40B4-BE49-F238E27FC236}">
                    <a16:creationId xmlns:a16="http://schemas.microsoft.com/office/drawing/2014/main" id="{5C7EC1B5-7BA3-4C52-A7CE-34E6C9FCADD4}"/>
                  </a:ext>
                </a:extLst>
              </p:cNvPr>
              <p:cNvCxnSpPr>
                <a:cxnSpLocks/>
              </p:cNvCxnSpPr>
              <p:nvPr/>
            </p:nvCxnSpPr>
            <p:spPr>
              <a:xfrm>
                <a:off x="685190" y="3040901"/>
                <a:ext cx="2843479"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90030B2D-14C3-4A53-BCFE-78D17F60B8ED}"/>
                  </a:ext>
                </a:extLst>
              </p:cNvPr>
              <p:cNvSpPr txBox="1"/>
              <p:nvPr/>
            </p:nvSpPr>
            <p:spPr>
              <a:xfrm>
                <a:off x="677297" y="2425811"/>
                <a:ext cx="481342" cy="785772"/>
              </a:xfrm>
              <a:prstGeom prst="rect">
                <a:avLst/>
              </a:prstGeom>
              <a:noFill/>
            </p:spPr>
            <p:txBody>
              <a:bodyPr wrap="square" rtlCol="0">
                <a:spAutoFit/>
              </a:bodyPr>
              <a:lstStyle/>
              <a:p>
                <a:pPr algn="ctr"/>
                <a:r>
                  <a:rPr lang="en-US" altLang="zh-CN" sz="3200" i="1" dirty="0">
                    <a:gradFill>
                      <a:gsLst>
                        <a:gs pos="0">
                          <a:schemeClr val="accent5">
                            <a:lumMod val="50000"/>
                          </a:schemeClr>
                        </a:gs>
                        <a:gs pos="100000">
                          <a:srgbClr val="008FFA"/>
                        </a:gs>
                      </a:gsLst>
                      <a:lin ang="5400000" scaled="1"/>
                    </a:gradFill>
                    <a:latin typeface="锐字真言体免费商用" panose="02010600030101010101" pitchFamily="2" charset="-122"/>
                    <a:ea typeface="锐字真言体免费商用" panose="02010600030101010101" pitchFamily="2" charset="-122"/>
                  </a:rPr>
                  <a:t>3</a:t>
                </a:r>
                <a:endParaRPr lang="zh-CN" altLang="en-US" sz="3200" i="1" dirty="0">
                  <a:gradFill>
                    <a:gsLst>
                      <a:gs pos="0">
                        <a:schemeClr val="accent5">
                          <a:lumMod val="50000"/>
                        </a:schemeClr>
                      </a:gs>
                      <a:gs pos="100000">
                        <a:srgbClr val="008FFA"/>
                      </a:gs>
                    </a:gsLst>
                    <a:lin ang="5400000" scaled="1"/>
                  </a:gradFill>
                  <a:latin typeface="锐字真言体免费商用" panose="02010600030101010101" pitchFamily="2" charset="-122"/>
                  <a:ea typeface="锐字真言体免费商用" panose="02010600030101010101" pitchFamily="2" charset="-122"/>
                </a:endParaRPr>
              </a:p>
            </p:txBody>
          </p:sp>
        </p:grpSp>
        <p:sp>
          <p:nvSpPr>
            <p:cNvPr id="21" name="文本框 20">
              <a:extLst>
                <a:ext uri="{FF2B5EF4-FFF2-40B4-BE49-F238E27FC236}">
                  <a16:creationId xmlns:a16="http://schemas.microsoft.com/office/drawing/2014/main" id="{85549ED1-A03D-4649-89C9-20C730585BAC}"/>
                </a:ext>
              </a:extLst>
            </p:cNvPr>
            <p:cNvSpPr txBox="1"/>
            <p:nvPr/>
          </p:nvSpPr>
          <p:spPr>
            <a:xfrm>
              <a:off x="1059747" y="2634511"/>
              <a:ext cx="1779179" cy="400110"/>
            </a:xfrm>
            <a:prstGeom prst="rect">
              <a:avLst/>
            </a:prstGeom>
            <a:noFill/>
          </p:spPr>
          <p:txBody>
            <a:bodyPr wrap="square" rtlCol="0" anchor="ctr">
              <a:spAutoFit/>
            </a:bodyPr>
            <a:lstStyle/>
            <a:p>
              <a:pPr>
                <a:buClr>
                  <a:srgbClr val="FFC000"/>
                </a:buClr>
              </a:pPr>
              <a:r>
                <a:rPr lang="zh-CN" altLang="en-US" sz="2000" b="1" dirty="0">
                  <a:solidFill>
                    <a:schemeClr val="accent5">
                      <a:lumMod val="75000"/>
                    </a:schemeClr>
                  </a:solidFill>
                  <a:latin typeface="Times New Roman" panose="02020603050405020304" pitchFamily="18" charset="0"/>
                  <a:ea typeface="思源黑体 CN Normal" panose="020B0400000000000000" pitchFamily="34" charset="-122"/>
                  <a:cs typeface="Times New Roman" panose="02020603050405020304" pitchFamily="18" charset="0"/>
                </a:rPr>
                <a:t>拓扑空间关系</a:t>
              </a:r>
            </a:p>
          </p:txBody>
        </p:sp>
      </p:grpSp>
      <p:sp>
        <p:nvSpPr>
          <p:cNvPr id="25" name="文本框 24">
            <a:extLst>
              <a:ext uri="{FF2B5EF4-FFF2-40B4-BE49-F238E27FC236}">
                <a16:creationId xmlns:a16="http://schemas.microsoft.com/office/drawing/2014/main" id="{37C10B60-FFE1-40A1-82B5-CD65D121F37D}"/>
              </a:ext>
            </a:extLst>
          </p:cNvPr>
          <p:cNvSpPr txBox="1"/>
          <p:nvPr/>
        </p:nvSpPr>
        <p:spPr>
          <a:xfrm>
            <a:off x="1116421" y="4772921"/>
            <a:ext cx="7062379" cy="400110"/>
          </a:xfrm>
          <a:prstGeom prst="rect">
            <a:avLst/>
          </a:prstGeom>
          <a:noFill/>
        </p:spPr>
        <p:txBody>
          <a:bodyPr wrap="square" rtlCol="0" anchor="ctr">
            <a:spAutoFit/>
          </a:bodyPr>
          <a:lstStyle/>
          <a:p>
            <a:pPr>
              <a:buClr>
                <a:srgbClr val="FFC000"/>
              </a:buClr>
            </a:pPr>
            <a:r>
              <a:rPr lang="zh-CN" altLang="en-US" sz="2000" dirty="0">
                <a:latin typeface="Times New Roman" panose="02020603050405020304" pitchFamily="18" charset="0"/>
                <a:ea typeface="思源黑体 CN Normal" panose="020B0400000000000000" pitchFamily="34" charset="-122"/>
                <a:cs typeface="Times New Roman" panose="02020603050405020304" pitchFamily="18" charset="0"/>
              </a:rPr>
              <a:t>指拓扑变换下的拓扑不变量，如空间目标的</a:t>
            </a:r>
            <a:r>
              <a:rPr lang="zh-CN" altLang="en-US" sz="2000" dirty="0">
                <a:solidFill>
                  <a:srgbClr val="2E75B6"/>
                </a:solidFill>
                <a:latin typeface="Times New Roman" panose="02020603050405020304" pitchFamily="18" charset="0"/>
                <a:ea typeface="思源黑体 CN Normal" panose="020B0400000000000000" pitchFamily="34" charset="-122"/>
                <a:cs typeface="Times New Roman" panose="02020603050405020304" pitchFamily="18" charset="0"/>
              </a:rPr>
              <a:t>相邻</a:t>
            </a:r>
            <a:r>
              <a:rPr lang="zh-CN" altLang="en-US" sz="2000" dirty="0">
                <a:latin typeface="Times New Roman" panose="02020603050405020304" pitchFamily="18" charset="0"/>
                <a:ea typeface="思源黑体 CN Normal" panose="020B0400000000000000" pitchFamily="34" charset="-122"/>
                <a:cs typeface="Times New Roman" panose="02020603050405020304" pitchFamily="18" charset="0"/>
              </a:rPr>
              <a:t>和</a:t>
            </a:r>
            <a:r>
              <a:rPr lang="zh-CN" altLang="en-US" sz="2000" dirty="0">
                <a:solidFill>
                  <a:srgbClr val="2E75B6"/>
                </a:solidFill>
                <a:latin typeface="Times New Roman" panose="02020603050405020304" pitchFamily="18" charset="0"/>
                <a:ea typeface="思源黑体 CN Normal" panose="020B0400000000000000" pitchFamily="34" charset="-122"/>
                <a:cs typeface="Times New Roman" panose="02020603050405020304" pitchFamily="18" charset="0"/>
              </a:rPr>
              <a:t>连通</a:t>
            </a:r>
            <a:r>
              <a:rPr lang="zh-CN" altLang="en-US" sz="2000" dirty="0">
                <a:latin typeface="Times New Roman" panose="02020603050405020304" pitchFamily="18" charset="0"/>
                <a:ea typeface="思源黑体 CN Normal" panose="020B0400000000000000" pitchFamily="34" charset="-122"/>
                <a:cs typeface="Times New Roman" panose="02020603050405020304" pitchFamily="18" charset="0"/>
              </a:rPr>
              <a:t>关系。 </a:t>
            </a:r>
          </a:p>
        </p:txBody>
      </p:sp>
    </p:spTree>
    <p:extLst>
      <p:ext uri="{BB962C8B-B14F-4D97-AF65-F5344CB8AC3E}">
        <p14:creationId xmlns:p14="http://schemas.microsoft.com/office/powerpoint/2010/main" val="41467196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59851" y="2132856"/>
            <a:ext cx="8559105" cy="309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3600" b="0" dirty="0">
                <a:latin typeface="Times New Roman" panose="02020603050405020304" pitchFamily="18" charset="0"/>
                <a:cs typeface="Times New Roman" panose="02020603050405020304" pitchFamily="18" charset="0"/>
              </a:rPr>
              <a:t>空间关系表达了空间数据之间的一种约束。</a:t>
            </a:r>
          </a:p>
          <a:p>
            <a:pPr eaLnBrk="1" hangingPunct="1">
              <a:spcBef>
                <a:spcPct val="50000"/>
              </a:spcBef>
              <a:buClr>
                <a:srgbClr val="0000CC"/>
              </a:buClr>
              <a:buSzTx/>
              <a:buFont typeface="Wingdings" panose="05000000000000000000" pitchFamily="2" charset="2"/>
              <a:buChar char="u"/>
            </a:pPr>
            <a:r>
              <a:rPr lang="en-US" altLang="zh-CN" sz="3600" b="0" dirty="0">
                <a:latin typeface="Times New Roman" panose="02020603050405020304" pitchFamily="18" charset="0"/>
                <a:cs typeface="Times New Roman" panose="02020603050405020304" pitchFamily="18" charset="0"/>
              </a:rPr>
              <a:t>?  </a:t>
            </a:r>
            <a:r>
              <a:rPr lang="zh-CN" altLang="en-US" sz="3600" b="0" dirty="0">
                <a:latin typeface="Times New Roman" panose="02020603050405020304" pitchFamily="18" charset="0"/>
                <a:cs typeface="Times New Roman" panose="02020603050405020304" pitchFamily="18" charset="0"/>
              </a:rPr>
              <a:t>关系约束最强烈；</a:t>
            </a:r>
          </a:p>
          <a:p>
            <a:pPr eaLnBrk="1" hangingPunct="1">
              <a:spcBef>
                <a:spcPct val="50000"/>
              </a:spcBef>
              <a:buClr>
                <a:srgbClr val="0000CC"/>
              </a:buClr>
              <a:buSzTx/>
              <a:buFont typeface="Wingdings" panose="05000000000000000000" pitchFamily="2" charset="2"/>
              <a:buChar char="u"/>
            </a:pPr>
            <a:r>
              <a:rPr lang="en-US" altLang="zh-CN" sz="3600" b="0" dirty="0">
                <a:latin typeface="Times New Roman" panose="02020603050405020304" pitchFamily="18" charset="0"/>
                <a:cs typeface="Times New Roman" panose="02020603050405020304" pitchFamily="18" charset="0"/>
              </a:rPr>
              <a:t>?  </a:t>
            </a:r>
            <a:r>
              <a:rPr lang="zh-CN" altLang="en-US" sz="3600" b="0" dirty="0">
                <a:latin typeface="Times New Roman" panose="02020603050405020304" pitchFamily="18" charset="0"/>
                <a:cs typeface="Times New Roman" panose="02020603050405020304" pitchFamily="18" charset="0"/>
              </a:rPr>
              <a:t>关系次之；</a:t>
            </a:r>
          </a:p>
          <a:p>
            <a:pPr eaLnBrk="1" hangingPunct="1">
              <a:spcBef>
                <a:spcPct val="50000"/>
              </a:spcBef>
              <a:buClr>
                <a:srgbClr val="0000CC"/>
              </a:buClr>
              <a:buSzTx/>
              <a:buFont typeface="Wingdings" panose="05000000000000000000" pitchFamily="2" charset="2"/>
              <a:buChar char="u"/>
            </a:pPr>
            <a:r>
              <a:rPr lang="en-US" altLang="zh-CN" sz="3600" b="0" dirty="0">
                <a:latin typeface="Times New Roman" panose="02020603050405020304" pitchFamily="18" charset="0"/>
                <a:cs typeface="Times New Roman" panose="02020603050405020304" pitchFamily="18" charset="0"/>
              </a:rPr>
              <a:t>?  </a:t>
            </a:r>
            <a:r>
              <a:rPr lang="zh-CN" altLang="en-US" sz="3600" b="0" dirty="0">
                <a:latin typeface="Times New Roman" panose="02020603050405020304" pitchFamily="18" charset="0"/>
                <a:cs typeface="Times New Roman" panose="02020603050405020304" pitchFamily="18" charset="0"/>
              </a:rPr>
              <a:t>关系最弱。</a:t>
            </a:r>
          </a:p>
        </p:txBody>
      </p:sp>
      <p:sp>
        <p:nvSpPr>
          <p:cNvPr id="10243" name="Text Box 3"/>
          <p:cNvSpPr txBox="1">
            <a:spLocks noChangeArrowheads="1"/>
          </p:cNvSpPr>
          <p:nvPr/>
        </p:nvSpPr>
        <p:spPr bwMode="auto">
          <a:xfrm>
            <a:off x="395536" y="1170788"/>
            <a:ext cx="6037262"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571500" indent="-571500" eaLnBrk="1" hangingPunct="1">
              <a:spcBef>
                <a:spcPct val="50000"/>
              </a:spcBef>
              <a:buClrTx/>
              <a:buSzTx/>
              <a:buFont typeface="Wingdings" panose="05000000000000000000" pitchFamily="2" charset="2"/>
              <a:buChar char="n"/>
            </a:pPr>
            <a:r>
              <a:rPr lang="zh-CN" altLang="en-US" sz="4000" dirty="0">
                <a:solidFill>
                  <a:srgbClr val="0000CC"/>
                </a:solidFill>
                <a:latin typeface="Times New Roman" panose="02020603050405020304" pitchFamily="18" charset="0"/>
                <a:cs typeface="Times New Roman" panose="02020603050405020304" pitchFamily="18" charset="0"/>
              </a:rPr>
              <a:t>空间关系的约束强度</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latin typeface="Times New Roman" panose="02020603050405020304" pitchFamily="18" charset="0"/>
                <a:cs typeface="Times New Roman" panose="02020603050405020304" pitchFamily="18" charset="0"/>
              </a:rPr>
              <a:pPr>
                <a:defRPr/>
              </a:pPr>
              <a:t>15</a:t>
            </a:fld>
            <a:endParaRPr lang="en-US" altLang="zh-CN">
              <a:latin typeface="Times New Roman" panose="02020603050405020304" pitchFamily="18" charset="0"/>
              <a:cs typeface="Times New Roman" panose="02020603050405020304" pitchFamily="18" charset="0"/>
            </a:endParaRPr>
          </a:p>
        </p:txBody>
      </p:sp>
      <p:sp>
        <p:nvSpPr>
          <p:cNvPr id="5" name="Text Box 2"/>
          <p:cNvSpPr txBox="1">
            <a:spLocks noChangeArrowheads="1"/>
          </p:cNvSpPr>
          <p:nvPr/>
        </p:nvSpPr>
        <p:spPr bwMode="auto">
          <a:xfrm>
            <a:off x="179513" y="116632"/>
            <a:ext cx="511256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cs typeface="Times New Roman" panose="02020603050405020304" pitchFamily="18" charset="0"/>
              </a:rPr>
              <a:t>2.2.1   </a:t>
            </a:r>
            <a:r>
              <a:rPr lang="zh-CN" altLang="en-US" sz="3600" dirty="0">
                <a:solidFill>
                  <a:srgbClr val="FFFF00"/>
                </a:solidFill>
                <a:latin typeface="Times New Roman" panose="02020603050405020304" pitchFamily="18" charset="0"/>
                <a:cs typeface="Times New Roman" panose="02020603050405020304" pitchFamily="18" charset="0"/>
              </a:rPr>
              <a:t>空间关系的类型 </a:t>
            </a:r>
          </a:p>
        </p:txBody>
      </p:sp>
      <p:pic>
        <p:nvPicPr>
          <p:cNvPr id="6"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5346" y="3861048"/>
            <a:ext cx="4434903"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p:cNvCxnSpPr/>
          <p:nvPr/>
        </p:nvCxnSpPr>
        <p:spPr bwMode="auto">
          <a:xfrm>
            <a:off x="899592" y="5701898"/>
            <a:ext cx="2514575" cy="0"/>
          </a:xfrm>
          <a:prstGeom prst="line">
            <a:avLst/>
          </a:prstGeom>
          <a:solidFill>
            <a:schemeClr val="accent1"/>
          </a:solidFill>
          <a:ln w="9525" cap="rnd" cmpd="sng" algn="ctr">
            <a:solidFill>
              <a:srgbClr val="0000CC"/>
            </a:solidFill>
            <a:prstDash val="solid"/>
            <a:round/>
            <a:headEnd type="oval" w="lg" len="lg"/>
            <a:tailEnd type="oval" w="lg" len="lg"/>
          </a:ln>
          <a:effectLst>
            <a:prstShdw prst="shdw17" dist="17961" dir="2700000">
              <a:schemeClr val="tx1">
                <a:gamma/>
                <a:shade val="60000"/>
                <a:invGamma/>
              </a:schemeClr>
            </a:prstShdw>
          </a:effectLst>
        </p:spPr>
      </p:cxnSp>
      <p:sp>
        <p:nvSpPr>
          <p:cNvPr id="7" name="文本框 6"/>
          <p:cNvSpPr txBox="1"/>
          <p:nvPr/>
        </p:nvSpPr>
        <p:spPr>
          <a:xfrm>
            <a:off x="359851" y="5517232"/>
            <a:ext cx="467733" cy="369332"/>
          </a:xfrm>
          <a:prstGeom prst="rect">
            <a:avLst/>
          </a:prstGeom>
          <a:noFill/>
        </p:spPr>
        <p:txBody>
          <a:bodyPr wrap="square" rtlCol="0">
            <a:spAutoFit/>
          </a:bodyPr>
          <a:lstStyle/>
          <a:p>
            <a:pPr algn="r"/>
            <a:r>
              <a:rPr lang="en-US" altLang="zh-CN" dirty="0">
                <a:solidFill>
                  <a:srgbClr val="0000CC"/>
                </a:solidFill>
                <a:latin typeface="Times New Roman" panose="02020603050405020304" pitchFamily="18" charset="0"/>
                <a:cs typeface="Times New Roman" panose="02020603050405020304" pitchFamily="18" charset="0"/>
              </a:rPr>
              <a:t>A</a:t>
            </a:r>
            <a:endParaRPr lang="zh-CN" altLang="en-US" dirty="0">
              <a:solidFill>
                <a:srgbClr val="0000CC"/>
              </a:solidFill>
              <a:latin typeface="Times New Roman" panose="02020603050405020304" pitchFamily="18" charset="0"/>
              <a:cs typeface="Times New Roman" panose="02020603050405020304" pitchFamily="18" charset="0"/>
            </a:endParaRPr>
          </a:p>
        </p:txBody>
      </p:sp>
      <p:sp>
        <p:nvSpPr>
          <p:cNvPr id="10" name="文本框 9"/>
          <p:cNvSpPr txBox="1"/>
          <p:nvPr/>
        </p:nvSpPr>
        <p:spPr>
          <a:xfrm>
            <a:off x="3347864" y="5517232"/>
            <a:ext cx="467733" cy="369332"/>
          </a:xfrm>
          <a:prstGeom prst="rect">
            <a:avLst/>
          </a:prstGeom>
          <a:noFill/>
        </p:spPr>
        <p:txBody>
          <a:bodyPr wrap="square" rtlCol="0">
            <a:spAutoFit/>
          </a:bodyPr>
          <a:lstStyle/>
          <a:p>
            <a:pPr algn="r"/>
            <a:r>
              <a:rPr lang="en-US" altLang="zh-CN" dirty="0">
                <a:solidFill>
                  <a:srgbClr val="0000CC"/>
                </a:solidFill>
                <a:latin typeface="Times New Roman" panose="02020603050405020304" pitchFamily="18" charset="0"/>
                <a:cs typeface="Times New Roman" panose="02020603050405020304" pitchFamily="18" charset="0"/>
              </a:rPr>
              <a:t>B</a:t>
            </a:r>
            <a:endParaRPr lang="zh-CN" altLang="en-US"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69287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345282" y="116632"/>
            <a:ext cx="3866678"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1. </a:t>
            </a:r>
            <a:r>
              <a:rPr lang="zh-CN" altLang="en-US" sz="3600" dirty="0">
                <a:solidFill>
                  <a:srgbClr val="FFFF00"/>
                </a:solidFill>
                <a:latin typeface="Times New Roman" panose="02020603050405020304" pitchFamily="18" charset="0"/>
              </a:rPr>
              <a:t>顺序空间关系</a:t>
            </a:r>
            <a:endParaRPr lang="zh-CN" altLang="en-US" b="0" dirty="0">
              <a:solidFill>
                <a:srgbClr val="FFFF00"/>
              </a:solidFill>
              <a:latin typeface="Times New Roman" panose="02020603050405020304" pitchFamily="18" charset="0"/>
            </a:endParaRPr>
          </a:p>
        </p:txBody>
      </p:sp>
      <p:sp>
        <p:nvSpPr>
          <p:cNvPr id="11267" name="Text Box 3"/>
          <p:cNvSpPr txBox="1">
            <a:spLocks noChangeArrowheads="1"/>
          </p:cNvSpPr>
          <p:nvPr/>
        </p:nvSpPr>
        <p:spPr bwMode="auto">
          <a:xfrm>
            <a:off x="196850" y="1052736"/>
            <a:ext cx="8551614"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0"/>
              </a:spcBef>
              <a:buClrTx/>
              <a:buSzTx/>
              <a:buNone/>
            </a:pPr>
            <a:r>
              <a:rPr lang="zh-CN" altLang="en-US" b="0" dirty="0">
                <a:solidFill>
                  <a:srgbClr val="0000CC"/>
                </a:solidFill>
                <a:latin typeface="Times New Roman" panose="02020603050405020304" pitchFamily="18" charset="0"/>
              </a:rPr>
              <a:t>顺序空间关系</a:t>
            </a:r>
            <a:r>
              <a:rPr lang="zh-CN" altLang="en-US" b="0" dirty="0">
                <a:latin typeface="Times New Roman" panose="02020603050405020304" pitchFamily="18" charset="0"/>
              </a:rPr>
              <a:t>描述目标在空间中的某种排序：</a:t>
            </a:r>
            <a:endParaRPr lang="en-US" altLang="zh-CN" b="0" dirty="0">
              <a:latin typeface="Times New Roman" panose="02020603050405020304" pitchFamily="18" charset="0"/>
            </a:endParaRPr>
          </a:p>
          <a:p>
            <a:pPr>
              <a:spcBef>
                <a:spcPts val="600"/>
              </a:spcBef>
              <a:buClrTx/>
              <a:buSzTx/>
              <a:buNone/>
            </a:pPr>
            <a:r>
              <a:rPr lang="zh-CN" altLang="en-US" b="0" dirty="0">
                <a:latin typeface="Times New Roman" panose="02020603050405020304" pitchFamily="18" charset="0"/>
              </a:rPr>
              <a:t>如</a:t>
            </a:r>
            <a:r>
              <a:rPr lang="zh-CN" altLang="en-US" b="0" dirty="0">
                <a:solidFill>
                  <a:srgbClr val="0000CC"/>
                </a:solidFill>
                <a:latin typeface="Times New Roman" panose="02020603050405020304" pitchFamily="18" charset="0"/>
              </a:rPr>
              <a:t>前后左右</a:t>
            </a:r>
            <a:r>
              <a:rPr lang="zh-CN" altLang="en-US" b="0" dirty="0">
                <a:latin typeface="Times New Roman" panose="02020603050405020304" pitchFamily="18" charset="0"/>
              </a:rPr>
              <a:t>、</a:t>
            </a:r>
            <a:r>
              <a:rPr lang="zh-CN" altLang="en-US" b="0" dirty="0">
                <a:solidFill>
                  <a:srgbClr val="0000CC"/>
                </a:solidFill>
                <a:latin typeface="Times New Roman" panose="02020603050405020304" pitchFamily="18" charset="0"/>
              </a:rPr>
              <a:t>东西南北</a:t>
            </a:r>
            <a:r>
              <a:rPr lang="zh-CN" altLang="en-US" b="0" dirty="0">
                <a:latin typeface="Times New Roman" panose="02020603050405020304" pitchFamily="18" charset="0"/>
              </a:rPr>
              <a:t>等。</a:t>
            </a:r>
            <a:endParaRPr lang="en-US" altLang="zh-CN" b="0" dirty="0">
              <a:latin typeface="Times New Roman" panose="02020603050405020304" pitchFamily="18" charset="0"/>
            </a:endParaRPr>
          </a:p>
          <a:p>
            <a:pPr eaLnBrk="1" hangingPunct="1">
              <a:spcBef>
                <a:spcPts val="600"/>
              </a:spcBef>
              <a:buClrTx/>
              <a:buSzTx/>
              <a:buFontTx/>
              <a:buNone/>
            </a:pPr>
            <a:r>
              <a:rPr lang="zh-CN" altLang="en-US" b="0" dirty="0">
                <a:solidFill>
                  <a:srgbClr val="0000CC"/>
                </a:solidFill>
                <a:latin typeface="Times New Roman" panose="02020603050405020304" pitchFamily="18" charset="0"/>
              </a:rPr>
              <a:t>方向关系</a:t>
            </a:r>
            <a:r>
              <a:rPr lang="zh-CN" altLang="en-US" b="0" dirty="0">
                <a:latin typeface="Times New Roman" panose="02020603050405020304" pitchFamily="18" charset="0"/>
              </a:rPr>
              <a:t>是最基本的顺序关系，是指</a:t>
            </a:r>
            <a:r>
              <a:rPr lang="zh-CN" altLang="en-US" b="0" dirty="0">
                <a:solidFill>
                  <a:srgbClr val="0000CC"/>
                </a:solidFill>
                <a:latin typeface="Times New Roman" panose="02020603050405020304" pitchFamily="18" charset="0"/>
              </a:rPr>
              <a:t>源目标</a:t>
            </a:r>
            <a:r>
              <a:rPr lang="zh-CN" altLang="en-US" b="0" dirty="0">
                <a:latin typeface="Times New Roman" panose="02020603050405020304" pitchFamily="18" charset="0"/>
              </a:rPr>
              <a:t>相对于</a:t>
            </a:r>
            <a:r>
              <a:rPr lang="zh-CN" altLang="en-US" b="0" dirty="0">
                <a:solidFill>
                  <a:srgbClr val="0000CC"/>
                </a:solidFill>
                <a:latin typeface="Times New Roman" panose="02020603050405020304" pitchFamily="18" charset="0"/>
              </a:rPr>
              <a:t>参考目标</a:t>
            </a:r>
            <a:r>
              <a:rPr lang="zh-CN" altLang="en-US" b="0" dirty="0">
                <a:latin typeface="Times New Roman" panose="02020603050405020304" pitchFamily="18" charset="0"/>
              </a:rPr>
              <a:t>的顺序关系。</a:t>
            </a:r>
          </a:p>
        </p:txBody>
      </p:sp>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3225039"/>
            <a:ext cx="5040560" cy="326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16</a:t>
            </a:fld>
            <a:endParaRPr lang="en-US" altLang="zh-CN"/>
          </a:p>
        </p:txBody>
      </p:sp>
    </p:spTree>
    <p:extLst>
      <p:ext uri="{BB962C8B-B14F-4D97-AF65-F5344CB8AC3E}">
        <p14:creationId xmlns:p14="http://schemas.microsoft.com/office/powerpoint/2010/main" val="376925948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92113" y="116632"/>
            <a:ext cx="480377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2. </a:t>
            </a:r>
            <a:r>
              <a:rPr lang="zh-CN" altLang="en-US" sz="3600" dirty="0">
                <a:solidFill>
                  <a:srgbClr val="FFFF00"/>
                </a:solidFill>
                <a:latin typeface="Times New Roman" panose="02020603050405020304" pitchFamily="18" charset="0"/>
              </a:rPr>
              <a:t>度量空间关系 </a:t>
            </a:r>
          </a:p>
        </p:txBody>
      </p:sp>
      <p:sp>
        <p:nvSpPr>
          <p:cNvPr id="12291" name="Text Box 3"/>
          <p:cNvSpPr txBox="1">
            <a:spLocks noChangeArrowheads="1"/>
          </p:cNvSpPr>
          <p:nvPr/>
        </p:nvSpPr>
        <p:spPr bwMode="auto">
          <a:xfrm>
            <a:off x="251520" y="1145347"/>
            <a:ext cx="8640960" cy="4293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1200"/>
              </a:spcBef>
              <a:buClr>
                <a:srgbClr val="0000CC"/>
              </a:buClr>
              <a:buSzTx/>
              <a:buNone/>
            </a:pPr>
            <a:r>
              <a:rPr lang="zh-CN" altLang="en-US" dirty="0">
                <a:solidFill>
                  <a:srgbClr val="0000CC"/>
                </a:solidFill>
                <a:latin typeface="Times New Roman" panose="02020603050405020304" pitchFamily="18" charset="0"/>
              </a:rPr>
              <a:t>度量空间关系：</a:t>
            </a:r>
            <a:r>
              <a:rPr lang="zh-CN" altLang="en-US" b="0" dirty="0">
                <a:latin typeface="Times New Roman" panose="02020603050405020304" pitchFamily="18" charset="0"/>
              </a:rPr>
              <a:t>用某种</a:t>
            </a:r>
            <a:r>
              <a:rPr lang="zh-CN" altLang="en-US" b="0" dirty="0">
                <a:solidFill>
                  <a:srgbClr val="0000CC"/>
                </a:solidFill>
                <a:latin typeface="Times New Roman" panose="02020603050405020304" pitchFamily="18" charset="0"/>
              </a:rPr>
              <a:t>度量空间</a:t>
            </a:r>
            <a:r>
              <a:rPr lang="zh-CN" altLang="en-US" b="0" dirty="0">
                <a:latin typeface="Times New Roman" panose="02020603050405020304" pitchFamily="18" charset="0"/>
              </a:rPr>
              <a:t>中的</a:t>
            </a:r>
            <a:r>
              <a:rPr lang="zh-CN" altLang="en-US" b="0" dirty="0">
                <a:solidFill>
                  <a:srgbClr val="0000CC"/>
                </a:solidFill>
                <a:latin typeface="Times New Roman" panose="02020603050405020304" pitchFamily="18" charset="0"/>
              </a:rPr>
              <a:t>度量</a:t>
            </a:r>
            <a:r>
              <a:rPr lang="zh-CN" altLang="en-US" b="0" dirty="0">
                <a:latin typeface="Times New Roman" panose="02020603050405020304" pitchFamily="18" charset="0"/>
              </a:rPr>
              <a:t>来描述的目标间的关系，包括</a:t>
            </a:r>
            <a:r>
              <a:rPr lang="zh-CN" altLang="en-US" b="0" dirty="0">
                <a:solidFill>
                  <a:srgbClr val="0000CC"/>
                </a:solidFill>
                <a:latin typeface="Times New Roman" panose="02020603050405020304" pitchFamily="18" charset="0"/>
              </a:rPr>
              <a:t>定性化描述</a:t>
            </a:r>
            <a:r>
              <a:rPr lang="zh-CN" altLang="en-US" b="0" dirty="0">
                <a:latin typeface="Times New Roman" panose="02020603050405020304" pitchFamily="18" charset="0"/>
              </a:rPr>
              <a:t>和</a:t>
            </a:r>
            <a:r>
              <a:rPr lang="zh-CN" altLang="en-US" b="0" dirty="0">
                <a:solidFill>
                  <a:srgbClr val="0000CC"/>
                </a:solidFill>
                <a:latin typeface="Times New Roman" panose="02020603050405020304" pitchFamily="18" charset="0"/>
              </a:rPr>
              <a:t>定量化测度</a:t>
            </a:r>
            <a:r>
              <a:rPr lang="zh-CN" altLang="en-US" b="0" dirty="0">
                <a:latin typeface="Times New Roman" panose="02020603050405020304" pitchFamily="18" charset="0"/>
              </a:rPr>
              <a:t>两种。</a:t>
            </a:r>
            <a:endParaRPr lang="en-US" altLang="zh-CN" b="0" dirty="0">
              <a:latin typeface="Times New Roman" panose="02020603050405020304" pitchFamily="18" charset="0"/>
            </a:endParaRPr>
          </a:p>
          <a:p>
            <a:pPr>
              <a:spcBef>
                <a:spcPts val="1200"/>
              </a:spcBef>
              <a:buClr>
                <a:srgbClr val="0000CC"/>
              </a:buClr>
              <a:buSzTx/>
              <a:buNone/>
            </a:pPr>
            <a:r>
              <a:rPr lang="en-US" altLang="zh-CN" b="0" dirty="0">
                <a:solidFill>
                  <a:srgbClr val="0000CC"/>
                </a:solidFill>
                <a:latin typeface="Times New Roman" panose="02020603050405020304" pitchFamily="18" charset="0"/>
              </a:rPr>
              <a:t>(1)</a:t>
            </a:r>
            <a:r>
              <a:rPr lang="zh-CN" altLang="en-US" b="0" dirty="0">
                <a:solidFill>
                  <a:srgbClr val="0000CC"/>
                </a:solidFill>
                <a:latin typeface="Times New Roman" panose="02020603050405020304" pitchFamily="18" charset="0"/>
              </a:rPr>
              <a:t>定性化描述：</a:t>
            </a:r>
            <a:endParaRPr lang="en-US" altLang="zh-CN" b="0" dirty="0">
              <a:solidFill>
                <a:srgbClr val="0000CC"/>
              </a:solidFill>
              <a:latin typeface="Times New Roman" panose="02020603050405020304" pitchFamily="18" charset="0"/>
            </a:endParaRPr>
          </a:p>
          <a:p>
            <a:pPr marL="457200" indent="-457200">
              <a:spcBef>
                <a:spcPts val="0"/>
              </a:spcBef>
              <a:buClr>
                <a:srgbClr val="0000CC"/>
              </a:buClr>
              <a:buSzTx/>
              <a:buFont typeface="Wingdings" panose="05000000000000000000" pitchFamily="2" charset="2"/>
              <a:buChar char="Ø"/>
            </a:pPr>
            <a:r>
              <a:rPr lang="zh-CN" altLang="en-US" b="0" dirty="0">
                <a:latin typeface="Times New Roman" panose="02020603050405020304" pitchFamily="18" charset="0"/>
              </a:rPr>
              <a:t>近、远；</a:t>
            </a:r>
          </a:p>
          <a:p>
            <a:pPr marL="457200" indent="-457200">
              <a:spcBef>
                <a:spcPts val="0"/>
              </a:spcBef>
              <a:buClr>
                <a:srgbClr val="0000CC"/>
              </a:buClr>
              <a:buSzTx/>
              <a:buFont typeface="Wingdings" panose="05000000000000000000" pitchFamily="2" charset="2"/>
              <a:buChar char="Ø"/>
            </a:pPr>
            <a:r>
              <a:rPr lang="zh-CN" altLang="en-US" b="0" dirty="0">
                <a:latin typeface="Times New Roman" panose="02020603050405020304" pitchFamily="18" charset="0"/>
              </a:rPr>
              <a:t>近、中、远、很远。</a:t>
            </a:r>
          </a:p>
          <a:p>
            <a:pPr eaLnBrk="1" hangingPunct="1">
              <a:spcBef>
                <a:spcPts val="1200"/>
              </a:spcBef>
              <a:buClr>
                <a:srgbClr val="0000CC"/>
              </a:buClr>
              <a:buSzTx/>
              <a:buNone/>
            </a:pPr>
            <a:r>
              <a:rPr lang="en-US" altLang="zh-CN" b="0" dirty="0">
                <a:solidFill>
                  <a:srgbClr val="0000CC"/>
                </a:solidFill>
                <a:latin typeface="Times New Roman" panose="02020603050405020304" pitchFamily="18" charset="0"/>
              </a:rPr>
              <a:t>(2)</a:t>
            </a:r>
            <a:r>
              <a:rPr lang="zh-CN" altLang="en-US" b="0" dirty="0">
                <a:solidFill>
                  <a:srgbClr val="0000CC"/>
                </a:solidFill>
                <a:latin typeface="Times New Roman" panose="02020603050405020304" pitchFamily="18" charset="0"/>
              </a:rPr>
              <a:t>定量化测度：</a:t>
            </a:r>
            <a:r>
              <a:rPr lang="zh-CN" altLang="en-US" b="0" dirty="0">
                <a:latin typeface="Times New Roman" panose="02020603050405020304" pitchFamily="18" charset="0"/>
              </a:rPr>
              <a:t>利用距离公式量测两个空间目标间的度量关系。</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17</a:t>
            </a:fld>
            <a:endParaRPr lang="en-US" altLang="zh-CN"/>
          </a:p>
        </p:txBody>
      </p:sp>
      <p:graphicFrame>
        <p:nvGraphicFramePr>
          <p:cNvPr id="5" name="Object 4"/>
          <p:cNvGraphicFramePr>
            <a:graphicFrameLocks noChangeAspect="1"/>
          </p:cNvGraphicFramePr>
          <p:nvPr>
            <p:extLst/>
          </p:nvPr>
        </p:nvGraphicFramePr>
        <p:xfrm>
          <a:off x="2411760" y="5386415"/>
          <a:ext cx="5335587" cy="1047750"/>
        </p:xfrm>
        <a:graphic>
          <a:graphicData uri="http://schemas.openxmlformats.org/presentationml/2006/ole">
            <mc:AlternateContent xmlns:mc="http://schemas.openxmlformats.org/markup-compatibility/2006">
              <mc:Choice xmlns:v="urn:schemas-microsoft-com:vml" Requires="v">
                <p:oleObj spid="_x0000_s1074" name="Equation" r:id="rId3" imgW="2171520" imgH="431640" progId="Equation.DSMT4">
                  <p:embed/>
                </p:oleObj>
              </mc:Choice>
              <mc:Fallback>
                <p:oleObj name="Equation" r:id="rId3" imgW="2171520" imgH="431640" progId="Equation.DSMT4">
                  <p:embed/>
                  <p:pic>
                    <p:nvPicPr>
                      <p:cNvPr id="5" name="Object 4"/>
                      <p:cNvPicPr>
                        <a:picLocks noChangeAspect="1" noChangeArrowheads="1"/>
                      </p:cNvPicPr>
                      <p:nvPr/>
                    </p:nvPicPr>
                    <p:blipFill>
                      <a:blip r:embed="rId4"/>
                      <a:srcRect/>
                      <a:stretch>
                        <a:fillRect/>
                      </a:stretch>
                    </p:blipFill>
                    <p:spPr bwMode="auto">
                      <a:xfrm>
                        <a:off x="2411760" y="5386415"/>
                        <a:ext cx="5335587" cy="10477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0433203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179512" y="1484784"/>
            <a:ext cx="8784976" cy="435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0"/>
              </a:spcBef>
              <a:buClr>
                <a:srgbClr val="0000CC"/>
              </a:buClr>
              <a:buSzTx/>
              <a:buFont typeface="Wingdings" panose="05000000000000000000" pitchFamily="2" charset="2"/>
              <a:buChar char="n"/>
            </a:pPr>
            <a:r>
              <a:rPr lang="zh-CN" altLang="en-US" sz="2800" dirty="0">
                <a:solidFill>
                  <a:srgbClr val="0000CC"/>
                </a:solidFill>
                <a:latin typeface="Times New Roman" panose="02020603050405020304" pitchFamily="18" charset="0"/>
              </a:rPr>
              <a:t>定量化测度空间关系：</a:t>
            </a:r>
            <a:r>
              <a:rPr lang="zh-CN" altLang="en-US" sz="2800" b="0" dirty="0">
                <a:latin typeface="Times New Roman" panose="02020603050405020304" pitchFamily="18" charset="0"/>
              </a:rPr>
              <a:t>空间指标量算、距离度量。</a:t>
            </a:r>
          </a:p>
          <a:p>
            <a:pPr eaLnBrk="1" hangingPunct="1">
              <a:spcBef>
                <a:spcPts val="600"/>
              </a:spcBef>
              <a:buClrTx/>
              <a:buSzTx/>
              <a:buNone/>
            </a:pPr>
            <a:r>
              <a:rPr lang="en-US" altLang="zh-CN" sz="2800" dirty="0">
                <a:solidFill>
                  <a:srgbClr val="0000CC"/>
                </a:solidFill>
                <a:latin typeface="Times New Roman" panose="02020603050405020304" pitchFamily="18" charset="0"/>
              </a:rPr>
              <a:t>1)</a:t>
            </a:r>
            <a:r>
              <a:rPr lang="zh-CN" altLang="en-US" sz="2800" dirty="0">
                <a:solidFill>
                  <a:srgbClr val="0000CC"/>
                </a:solidFill>
                <a:latin typeface="Times New Roman" panose="02020603050405020304" pitchFamily="18" charset="0"/>
              </a:rPr>
              <a:t>空间指标量算：</a:t>
            </a:r>
            <a:r>
              <a:rPr lang="zh-CN" altLang="en-US" sz="2800" b="0" dirty="0">
                <a:latin typeface="Times New Roman" panose="02020603050405020304" pitchFamily="18" charset="0"/>
              </a:rPr>
              <a:t>用</a:t>
            </a:r>
            <a:r>
              <a:rPr lang="zh-CN" altLang="en-US" sz="2800" b="0" dirty="0">
                <a:solidFill>
                  <a:srgbClr val="0000CC"/>
                </a:solidFill>
                <a:latin typeface="Times New Roman" panose="02020603050405020304" pitchFamily="18" charset="0"/>
              </a:rPr>
              <a:t>区域空间指标</a:t>
            </a:r>
            <a:r>
              <a:rPr lang="zh-CN" altLang="en-US" sz="2800" b="0" dirty="0">
                <a:latin typeface="Times New Roman" panose="02020603050405020304" pitchFamily="18" charset="0"/>
              </a:rPr>
              <a:t>量测空间目标间的空间关系。</a:t>
            </a:r>
          </a:p>
          <a:p>
            <a:pPr marL="457200" indent="-457200" eaLnBrk="1" hangingPunct="1">
              <a:buClrTx/>
              <a:buSzTx/>
              <a:buFont typeface="Wingdings" panose="05000000000000000000" pitchFamily="2" charset="2"/>
              <a:buChar char="n"/>
            </a:pPr>
            <a:r>
              <a:rPr lang="zh-CN" altLang="en-US" sz="2800" dirty="0">
                <a:solidFill>
                  <a:srgbClr val="0000CC"/>
                </a:solidFill>
                <a:latin typeface="Times New Roman" panose="02020603050405020304" pitchFamily="18" charset="0"/>
              </a:rPr>
              <a:t>区域空间指标：</a:t>
            </a:r>
          </a:p>
          <a:p>
            <a:pPr eaLnBrk="1" hangingPunct="1">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rPr>
              <a:t>几何指标：</a:t>
            </a:r>
            <a:r>
              <a:rPr lang="zh-CN" altLang="en-US" sz="2800" b="0" dirty="0">
                <a:latin typeface="Times New Roman" panose="02020603050405020304" pitchFamily="18" charset="0"/>
              </a:rPr>
              <a:t>位置、长度、面积、体积、形状、 方位等</a:t>
            </a:r>
          </a:p>
          <a:p>
            <a:pPr eaLnBrk="1" hangingPunct="1">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rPr>
              <a:t>自然地理参数：</a:t>
            </a:r>
            <a:r>
              <a:rPr lang="zh-CN" altLang="en-US" sz="2800" b="0" dirty="0">
                <a:latin typeface="Times New Roman" panose="02020603050405020304" pitchFamily="18" charset="0"/>
              </a:rPr>
              <a:t>坡度、坡向、地表辐照度、地形起伏度、河网密度、切割程度等</a:t>
            </a:r>
          </a:p>
          <a:p>
            <a:pPr>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rPr>
              <a:t>人文地理指标：</a:t>
            </a:r>
            <a:r>
              <a:rPr lang="zh-CN" altLang="en-US" sz="2800" b="0" dirty="0">
                <a:latin typeface="Times New Roman" panose="02020603050405020304" pitchFamily="18" charset="0"/>
              </a:rPr>
              <a:t>集中指标、差异指数、地理关联系数、吸引范围、交通便利程度、人口密度、通达性等</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18</a:t>
            </a:fld>
            <a:endParaRPr lang="en-US" altLang="zh-CN"/>
          </a:p>
        </p:txBody>
      </p:sp>
      <p:sp>
        <p:nvSpPr>
          <p:cNvPr id="5" name="Text Box 2"/>
          <p:cNvSpPr txBox="1">
            <a:spLocks noChangeArrowheads="1"/>
          </p:cNvSpPr>
          <p:nvPr/>
        </p:nvSpPr>
        <p:spPr bwMode="auto">
          <a:xfrm>
            <a:off x="392113" y="116632"/>
            <a:ext cx="480377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2. </a:t>
            </a:r>
            <a:r>
              <a:rPr lang="zh-CN" altLang="en-US" sz="3600" dirty="0">
                <a:solidFill>
                  <a:srgbClr val="FFFF00"/>
                </a:solidFill>
                <a:latin typeface="Times New Roman" panose="02020603050405020304" pitchFamily="18" charset="0"/>
              </a:rPr>
              <a:t>度量空间关系 </a:t>
            </a:r>
          </a:p>
        </p:txBody>
      </p:sp>
    </p:spTree>
    <p:extLst>
      <p:ext uri="{BB962C8B-B14F-4D97-AF65-F5344CB8AC3E}">
        <p14:creationId xmlns:p14="http://schemas.microsoft.com/office/powerpoint/2010/main" val="273367750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p:cNvSpPr txBox="1">
            <a:spLocks noChangeArrowheads="1"/>
          </p:cNvSpPr>
          <p:nvPr/>
        </p:nvSpPr>
        <p:spPr bwMode="auto">
          <a:xfrm>
            <a:off x="323528" y="1196752"/>
            <a:ext cx="8402637"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457200" indent="-457200">
              <a:spcBef>
                <a:spcPct val="0"/>
              </a:spcBef>
              <a:buSzTx/>
              <a:buFont typeface="Wingdings" panose="05000000000000000000" pitchFamily="2" charset="2"/>
              <a:buChar char="n"/>
            </a:pPr>
            <a:r>
              <a:rPr lang="zh-CN" altLang="en-US" dirty="0">
                <a:solidFill>
                  <a:srgbClr val="0000CC"/>
                </a:solidFill>
                <a:latin typeface="Times New Roman" panose="02020603050405020304" pitchFamily="18" charset="0"/>
              </a:rPr>
              <a:t>定量化测度空间关系：</a:t>
            </a:r>
            <a:endParaRPr lang="en-US" altLang="zh-CN" dirty="0">
              <a:solidFill>
                <a:srgbClr val="0000CC"/>
              </a:solidFill>
              <a:latin typeface="Times New Roman" panose="02020603050405020304" pitchFamily="18" charset="0"/>
            </a:endParaRPr>
          </a:p>
          <a:p>
            <a:pPr eaLnBrk="1" hangingPunct="1">
              <a:spcBef>
                <a:spcPct val="0"/>
              </a:spcBef>
              <a:buSzTx/>
              <a:buNone/>
            </a:pPr>
            <a:r>
              <a:rPr lang="en-US" altLang="zh-CN" dirty="0">
                <a:solidFill>
                  <a:srgbClr val="0000CC"/>
                </a:solidFill>
                <a:latin typeface="Times New Roman" panose="02020603050405020304" pitchFamily="18" charset="0"/>
              </a:rPr>
              <a:t>2)</a:t>
            </a:r>
            <a:r>
              <a:rPr lang="zh-CN" altLang="en-US" dirty="0">
                <a:solidFill>
                  <a:srgbClr val="0000CC"/>
                </a:solidFill>
                <a:latin typeface="Times New Roman" panose="02020603050405020304" pitchFamily="18" charset="0"/>
              </a:rPr>
              <a:t>距离度量：</a:t>
            </a:r>
            <a:r>
              <a:rPr lang="zh-CN" altLang="en-US" b="0" dirty="0">
                <a:latin typeface="Times New Roman" panose="02020603050405020304" pitchFamily="18" charset="0"/>
              </a:rPr>
              <a:t>利用距离量算目标间的空间关系。</a:t>
            </a:r>
          </a:p>
          <a:p>
            <a:pPr eaLnBrk="1" hangingPunct="1">
              <a:spcBef>
                <a:spcPts val="600"/>
              </a:spcBef>
              <a:buSzTx/>
              <a:buFont typeface="Wingdings" panose="05000000000000000000" pitchFamily="2" charset="2"/>
              <a:buNone/>
            </a:pPr>
            <a:r>
              <a:rPr lang="zh-CN" altLang="en-US" b="0" dirty="0">
                <a:solidFill>
                  <a:srgbClr val="0000CC"/>
                </a:solidFill>
                <a:latin typeface="Times New Roman" panose="02020603050405020304" pitchFamily="18" charset="0"/>
              </a:rPr>
              <a:t>地理空间中两点间距离的计算：</a:t>
            </a:r>
            <a:endParaRPr lang="en-US" altLang="zh-CN" b="0" dirty="0">
              <a:solidFill>
                <a:srgbClr val="0000CC"/>
              </a:solidFill>
              <a:latin typeface="Times New Roman" panose="02020603050405020304" pitchFamily="18" charset="0"/>
            </a:endParaRPr>
          </a:p>
          <a:p>
            <a:pPr marL="457200" indent="-457200" eaLnBrk="1" hangingPunct="1">
              <a:spcBef>
                <a:spcPct val="0"/>
              </a:spcBef>
              <a:buSzTx/>
              <a:buFont typeface="Wingdings" panose="05000000000000000000" pitchFamily="2" charset="2"/>
              <a:buChar char="Ø"/>
            </a:pPr>
            <a:r>
              <a:rPr lang="zh-CN" altLang="en-US" b="0" dirty="0">
                <a:latin typeface="Times New Roman" panose="02020603050405020304" pitchFamily="18" charset="0"/>
              </a:rPr>
              <a:t>可以沿着</a:t>
            </a:r>
            <a:r>
              <a:rPr lang="zh-CN" altLang="en-US" b="0" dirty="0">
                <a:solidFill>
                  <a:srgbClr val="0000CC"/>
                </a:solidFill>
                <a:latin typeface="Times New Roman" panose="02020603050405020304" pitchFamily="18" charset="0"/>
              </a:rPr>
              <a:t>实际的地球表面</a:t>
            </a:r>
            <a:r>
              <a:rPr lang="zh-CN" altLang="en-US" b="0" dirty="0">
                <a:latin typeface="Times New Roman" panose="02020603050405020304" pitchFamily="18" charset="0"/>
              </a:rPr>
              <a:t>进行</a:t>
            </a:r>
            <a:endParaRPr lang="en-US" altLang="zh-CN" b="0" dirty="0">
              <a:latin typeface="Times New Roman" panose="02020603050405020304" pitchFamily="18" charset="0"/>
            </a:endParaRPr>
          </a:p>
          <a:p>
            <a:pPr marL="457200" indent="-457200" eaLnBrk="1" hangingPunct="1">
              <a:spcBef>
                <a:spcPct val="0"/>
              </a:spcBef>
              <a:buSzTx/>
              <a:buFont typeface="Wingdings" panose="05000000000000000000" pitchFamily="2" charset="2"/>
              <a:buChar char="Ø"/>
            </a:pPr>
            <a:r>
              <a:rPr lang="zh-CN" altLang="en-US" b="0" dirty="0">
                <a:latin typeface="Times New Roman" panose="02020603050405020304" pitchFamily="18" charset="0"/>
              </a:rPr>
              <a:t>也可以沿着</a:t>
            </a:r>
            <a:r>
              <a:rPr lang="zh-CN" altLang="en-US" b="0" dirty="0">
                <a:solidFill>
                  <a:srgbClr val="0000CC"/>
                </a:solidFill>
                <a:latin typeface="Times New Roman" panose="02020603050405020304" pitchFamily="18" charset="0"/>
              </a:rPr>
              <a:t>地球椭球体</a:t>
            </a:r>
            <a:r>
              <a:rPr lang="zh-CN" altLang="en-US" b="0" dirty="0">
                <a:latin typeface="Times New Roman" panose="02020603050405020304" pitchFamily="18" charset="0"/>
              </a:rPr>
              <a:t>的距离量算</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19</a:t>
            </a:fld>
            <a:endParaRPr lang="en-US" altLang="zh-CN"/>
          </a:p>
        </p:txBody>
      </p:sp>
      <p:sp>
        <p:nvSpPr>
          <p:cNvPr id="4" name="Text Box 2"/>
          <p:cNvSpPr txBox="1">
            <a:spLocks noChangeArrowheads="1"/>
          </p:cNvSpPr>
          <p:nvPr/>
        </p:nvSpPr>
        <p:spPr bwMode="auto">
          <a:xfrm>
            <a:off x="392113" y="116632"/>
            <a:ext cx="480377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2. </a:t>
            </a:r>
            <a:r>
              <a:rPr lang="zh-CN" altLang="en-US" sz="3600" dirty="0">
                <a:solidFill>
                  <a:srgbClr val="FFFF00"/>
                </a:solidFill>
                <a:latin typeface="Times New Roman" panose="02020603050405020304" pitchFamily="18" charset="0"/>
              </a:rPr>
              <a:t>度量空间关系 </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1643" y="4658435"/>
            <a:ext cx="1482512" cy="1467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tretch>
            <a:fillRect/>
          </a:stretch>
        </p:blipFill>
        <p:spPr>
          <a:xfrm>
            <a:off x="467544" y="4453478"/>
            <a:ext cx="2520280" cy="1672367"/>
          </a:xfrm>
          <a:prstGeom prst="rect">
            <a:avLst/>
          </a:prstGeom>
        </p:spPr>
      </p:pic>
      <p:pic>
        <p:nvPicPr>
          <p:cNvPr id="6" name="图片 5"/>
          <p:cNvPicPr>
            <a:picLocks noChangeAspect="1"/>
          </p:cNvPicPr>
          <p:nvPr/>
        </p:nvPicPr>
        <p:blipFill>
          <a:blip r:embed="rId5"/>
          <a:stretch>
            <a:fillRect/>
          </a:stretch>
        </p:blipFill>
        <p:spPr>
          <a:xfrm>
            <a:off x="5497974" y="4684837"/>
            <a:ext cx="2544301" cy="1278344"/>
          </a:xfrm>
          <a:prstGeom prst="rect">
            <a:avLst/>
          </a:prstGeom>
        </p:spPr>
      </p:pic>
      <p:sp>
        <p:nvSpPr>
          <p:cNvPr id="7" name="文本框 6"/>
          <p:cNvSpPr txBox="1"/>
          <p:nvPr/>
        </p:nvSpPr>
        <p:spPr>
          <a:xfrm>
            <a:off x="683568" y="6309320"/>
            <a:ext cx="2016224" cy="369332"/>
          </a:xfrm>
          <a:prstGeom prst="rect">
            <a:avLst/>
          </a:prstGeom>
          <a:noFill/>
        </p:spPr>
        <p:txBody>
          <a:bodyPr wrap="square" rtlCol="0">
            <a:spAutoFit/>
          </a:bodyPr>
          <a:lstStyle/>
          <a:p>
            <a:pPr algn="ctr"/>
            <a:r>
              <a:rPr lang="zh-CN" altLang="en-US" dirty="0">
                <a:solidFill>
                  <a:srgbClr val="0000CC"/>
                </a:solidFill>
              </a:rPr>
              <a:t>平面距离</a:t>
            </a:r>
          </a:p>
        </p:txBody>
      </p:sp>
      <p:sp>
        <p:nvSpPr>
          <p:cNvPr id="9" name="文本框 8"/>
          <p:cNvSpPr txBox="1"/>
          <p:nvPr/>
        </p:nvSpPr>
        <p:spPr>
          <a:xfrm>
            <a:off x="4959251" y="6243777"/>
            <a:ext cx="2016224" cy="369332"/>
          </a:xfrm>
          <a:prstGeom prst="rect">
            <a:avLst/>
          </a:prstGeom>
          <a:noFill/>
        </p:spPr>
        <p:txBody>
          <a:bodyPr wrap="square" rtlCol="0">
            <a:spAutoFit/>
          </a:bodyPr>
          <a:lstStyle/>
          <a:p>
            <a:pPr algn="ctr"/>
            <a:r>
              <a:rPr lang="zh-CN" altLang="en-US" dirty="0">
                <a:solidFill>
                  <a:srgbClr val="0000CC"/>
                </a:solidFill>
              </a:rPr>
              <a:t>大圆航线距离</a:t>
            </a:r>
          </a:p>
        </p:txBody>
      </p:sp>
    </p:spTree>
    <p:extLst>
      <p:ext uri="{BB962C8B-B14F-4D97-AF65-F5344CB8AC3E}">
        <p14:creationId xmlns:p14="http://schemas.microsoft.com/office/powerpoint/2010/main" val="247173236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334541" y="116632"/>
            <a:ext cx="409344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3. </a:t>
            </a:r>
            <a:r>
              <a:rPr lang="zh-CN" altLang="en-US" sz="3600" dirty="0">
                <a:solidFill>
                  <a:srgbClr val="FFFF00"/>
                </a:solidFill>
                <a:latin typeface="Times New Roman" panose="02020603050405020304" pitchFamily="18" charset="0"/>
              </a:rPr>
              <a:t>拓扑空间关系</a:t>
            </a:r>
            <a:r>
              <a:rPr lang="en-US" altLang="zh-CN" b="0" dirty="0">
                <a:solidFill>
                  <a:srgbClr val="FFFF00"/>
                </a:solidFill>
                <a:latin typeface="Times New Roman" panose="02020603050405020304" pitchFamily="18" charset="0"/>
              </a:rPr>
              <a:t> </a:t>
            </a:r>
          </a:p>
        </p:txBody>
      </p:sp>
      <p:sp>
        <p:nvSpPr>
          <p:cNvPr id="15363" name="Text Box 3"/>
          <p:cNvSpPr txBox="1">
            <a:spLocks noChangeArrowheads="1"/>
          </p:cNvSpPr>
          <p:nvPr/>
        </p:nvSpPr>
        <p:spPr bwMode="auto">
          <a:xfrm>
            <a:off x="179512" y="984274"/>
            <a:ext cx="8593137"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dirty="0">
                <a:solidFill>
                  <a:srgbClr val="0000CC"/>
                </a:solidFill>
                <a:latin typeface="Times New Roman" panose="02020603050405020304" pitchFamily="18" charset="0"/>
              </a:rPr>
              <a:t>拓扑空间关系：</a:t>
            </a:r>
            <a:r>
              <a:rPr lang="zh-CN" altLang="en-US" b="0" dirty="0">
                <a:latin typeface="Times New Roman" panose="02020603050405020304" pitchFamily="18" charset="0"/>
              </a:rPr>
              <a:t>指</a:t>
            </a:r>
            <a:r>
              <a:rPr lang="zh-CN" altLang="en-US" b="0" dirty="0">
                <a:solidFill>
                  <a:srgbClr val="0000CC"/>
                </a:solidFill>
                <a:latin typeface="Times New Roman" panose="02020603050405020304" pitchFamily="18" charset="0"/>
              </a:rPr>
              <a:t>拓扑变换下的拓扑不变量</a:t>
            </a:r>
            <a:r>
              <a:rPr lang="zh-CN" altLang="en-US" b="0" dirty="0">
                <a:latin typeface="Times New Roman" panose="02020603050405020304" pitchFamily="18" charset="0"/>
              </a:rPr>
              <a:t>，如空间目标的</a:t>
            </a:r>
            <a:r>
              <a:rPr lang="zh-CN" altLang="en-US" b="0" dirty="0">
                <a:solidFill>
                  <a:srgbClr val="FF0000"/>
                </a:solidFill>
                <a:latin typeface="Times New Roman" panose="02020603050405020304" pitchFamily="18" charset="0"/>
              </a:rPr>
              <a:t>相邻</a:t>
            </a:r>
            <a:r>
              <a:rPr lang="zh-CN" altLang="en-US" b="0" dirty="0">
                <a:latin typeface="Times New Roman" panose="02020603050405020304" pitchFamily="18" charset="0"/>
              </a:rPr>
              <a:t>和</a:t>
            </a:r>
            <a:r>
              <a:rPr lang="zh-CN" altLang="en-US" b="0" dirty="0">
                <a:solidFill>
                  <a:srgbClr val="FF0000"/>
                </a:solidFill>
                <a:latin typeface="Times New Roman" panose="02020603050405020304" pitchFamily="18" charset="0"/>
              </a:rPr>
              <a:t>连通</a:t>
            </a:r>
            <a:r>
              <a:rPr lang="zh-CN" altLang="en-US" b="0" dirty="0">
                <a:latin typeface="Times New Roman" panose="02020603050405020304" pitchFamily="18" charset="0"/>
              </a:rPr>
              <a:t>关系。 </a:t>
            </a:r>
          </a:p>
        </p:txBody>
      </p:sp>
      <p:sp>
        <p:nvSpPr>
          <p:cNvPr id="15364" name="Text Box 4"/>
          <p:cNvSpPr txBox="1">
            <a:spLocks noChangeArrowheads="1"/>
          </p:cNvSpPr>
          <p:nvPr/>
        </p:nvSpPr>
        <p:spPr bwMode="auto">
          <a:xfrm>
            <a:off x="179512" y="2037249"/>
            <a:ext cx="8712968" cy="2200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
                <a:srgbClr val="0000CC"/>
              </a:buClr>
              <a:buSzTx/>
              <a:buFont typeface="Wingdings" panose="05000000000000000000" pitchFamily="2" charset="2"/>
              <a:buChar char="n"/>
            </a:pPr>
            <a:r>
              <a:rPr lang="zh-CN" altLang="en-US" sz="2800" dirty="0">
                <a:solidFill>
                  <a:srgbClr val="0000CC"/>
                </a:solidFill>
                <a:latin typeface="Times New Roman" panose="02020603050405020304" pitchFamily="18" charset="0"/>
              </a:rPr>
              <a:t>拓扑变换：</a:t>
            </a:r>
            <a:r>
              <a:rPr lang="zh-CN" altLang="en-US" sz="2800" b="0" dirty="0">
                <a:latin typeface="Times New Roman" panose="02020603050405020304" pitchFamily="18" charset="0"/>
              </a:rPr>
              <a:t>在图形被</a:t>
            </a:r>
            <a:r>
              <a:rPr lang="zh-CN" altLang="en-US" sz="2800" b="0" dirty="0">
                <a:solidFill>
                  <a:srgbClr val="0000CC"/>
                </a:solidFill>
                <a:latin typeface="Times New Roman" panose="02020603050405020304" pitchFamily="18" charset="0"/>
              </a:rPr>
              <a:t>弯曲、拉大、缩小或任意变形</a:t>
            </a:r>
            <a:r>
              <a:rPr lang="zh-CN" altLang="en-US" sz="2800" b="0" dirty="0">
                <a:latin typeface="Times New Roman" panose="02020603050405020304" pitchFamily="18" charset="0"/>
              </a:rPr>
              <a:t>下，图形原来的点与变换后的点一一对应，并且邻近点还是邻近点。这样的变换称作</a:t>
            </a:r>
            <a:r>
              <a:rPr lang="zh-CN" altLang="en-US" sz="2800" b="0" dirty="0">
                <a:solidFill>
                  <a:srgbClr val="0000CC"/>
                </a:solidFill>
                <a:latin typeface="Times New Roman" panose="02020603050405020304" pitchFamily="18" charset="0"/>
              </a:rPr>
              <a:t>拓扑变换</a:t>
            </a:r>
            <a:r>
              <a:rPr lang="zh-CN" altLang="en-US" sz="2800" b="0" dirty="0">
                <a:latin typeface="Times New Roman" panose="02020603050405020304" pitchFamily="18" charset="0"/>
              </a:rPr>
              <a:t>。 </a:t>
            </a:r>
            <a:endParaRPr lang="en-US" altLang="zh-CN" sz="2800" b="0" dirty="0">
              <a:latin typeface="Times New Roman" panose="02020603050405020304" pitchFamily="18" charset="0"/>
            </a:endParaRPr>
          </a:p>
          <a:p>
            <a:pPr marL="457200" indent="-457200">
              <a:spcBef>
                <a:spcPts val="0"/>
              </a:spcBef>
              <a:buClr>
                <a:srgbClr val="0000CC"/>
              </a:buClr>
              <a:buSzTx/>
              <a:buFont typeface="Wingdings" panose="05000000000000000000" pitchFamily="2" charset="2"/>
              <a:buChar char="Ø"/>
            </a:pPr>
            <a:r>
              <a:rPr lang="zh-CN" altLang="en-US" sz="2800" b="0" dirty="0">
                <a:latin typeface="Times New Roman" panose="02020603050405020304" pitchFamily="18" charset="0"/>
              </a:rPr>
              <a:t>不使原来不同的点重合为同一个点；</a:t>
            </a:r>
            <a:endParaRPr lang="en-US" altLang="zh-CN" sz="2800" b="0" dirty="0">
              <a:latin typeface="Times New Roman" panose="02020603050405020304" pitchFamily="18" charset="0"/>
            </a:endParaRPr>
          </a:p>
          <a:p>
            <a:pPr marL="457200" indent="-457200">
              <a:spcBef>
                <a:spcPts val="0"/>
              </a:spcBef>
              <a:buClr>
                <a:srgbClr val="0000CC"/>
              </a:buClr>
              <a:buSzTx/>
              <a:buFont typeface="Wingdings" panose="05000000000000000000" pitchFamily="2" charset="2"/>
              <a:buChar char="Ø"/>
            </a:pPr>
            <a:r>
              <a:rPr lang="zh-CN" altLang="en-US" sz="2800" b="0" dirty="0">
                <a:latin typeface="Times New Roman" panose="02020603050405020304" pitchFamily="18" charset="0"/>
              </a:rPr>
              <a:t>又不产生新点。</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20</a:t>
            </a:fld>
            <a:endParaRPr lang="en-US" altLang="zh-CN"/>
          </a:p>
        </p:txBody>
      </p:sp>
      <p:pic>
        <p:nvPicPr>
          <p:cNvPr id="6"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4279260"/>
            <a:ext cx="4824536" cy="2193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43022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312222" y="1562251"/>
            <a:ext cx="862171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
                <a:srgbClr val="0000CC"/>
              </a:buClr>
              <a:buSzTx/>
              <a:buNone/>
            </a:pPr>
            <a:r>
              <a:rPr lang="zh-CN" altLang="en-US" sz="2800" b="0" dirty="0">
                <a:solidFill>
                  <a:srgbClr val="FF0000"/>
                </a:solidFill>
                <a:latin typeface="Times New Roman" panose="02020603050405020304" pitchFamily="18" charset="0"/>
              </a:rPr>
              <a:t>拓扑</a:t>
            </a:r>
            <a:r>
              <a:rPr lang="zh-CN" altLang="en-US" sz="2800" b="0" dirty="0">
                <a:latin typeface="Times New Roman" panose="02020603050405020304" pitchFamily="18" charset="0"/>
              </a:rPr>
              <a:t>形象地比喻为</a:t>
            </a:r>
            <a:r>
              <a:rPr lang="zh-CN" altLang="en-US" sz="2800" b="0" dirty="0">
                <a:solidFill>
                  <a:srgbClr val="0000CC"/>
                </a:solidFill>
                <a:latin typeface="Times New Roman" panose="02020603050405020304" pitchFamily="18" charset="0"/>
              </a:rPr>
              <a:t>橡皮几何学</a:t>
            </a:r>
            <a:r>
              <a:rPr lang="zh-CN" altLang="en-US" sz="2800" b="0" dirty="0">
                <a:latin typeface="Times New Roman" panose="02020603050405020304" pitchFamily="18" charset="0"/>
              </a:rPr>
              <a:t>。</a:t>
            </a:r>
            <a:endParaRPr lang="zh-CN" altLang="en-US" sz="2400" b="0" dirty="0">
              <a:latin typeface="Times New Roman" panose="02020603050405020304" pitchFamily="18" charset="0"/>
            </a:endParaRPr>
          </a:p>
        </p:txBody>
      </p:sp>
      <p:sp>
        <p:nvSpPr>
          <p:cNvPr id="16387" name="Text Box 3"/>
          <p:cNvSpPr txBox="1">
            <a:spLocks noChangeArrowheads="1"/>
          </p:cNvSpPr>
          <p:nvPr/>
        </p:nvSpPr>
        <p:spPr bwMode="auto">
          <a:xfrm>
            <a:off x="312222" y="1024657"/>
            <a:ext cx="498174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Char char="n"/>
            </a:pPr>
            <a:r>
              <a:rPr lang="zh-CN" altLang="en-US">
                <a:solidFill>
                  <a:srgbClr val="0000CC"/>
                </a:solidFill>
                <a:latin typeface="Times New Roman" panose="02020603050405020304" pitchFamily="18" charset="0"/>
              </a:rPr>
              <a:t>拓扑变换与橡皮几何学：</a:t>
            </a:r>
            <a:endParaRPr lang="zh-CN" altLang="en-US" b="0">
              <a:solidFill>
                <a:srgbClr val="0000CC"/>
              </a:solidFill>
              <a:latin typeface="Times New Roman" panose="02020603050405020304" pitchFamily="18" charset="0"/>
            </a:endParaRPr>
          </a:p>
        </p:txBody>
      </p:sp>
      <p:pic>
        <p:nvPicPr>
          <p:cNvPr id="16388" name="Picture 4" descr="拓扑变换、非拓扑变换示意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4078400"/>
            <a:ext cx="4175348" cy="108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21</a:t>
            </a:fld>
            <a:endParaRPr lang="en-US" altLang="zh-CN" dirty="0"/>
          </a:p>
        </p:txBody>
      </p:sp>
      <p:sp>
        <p:nvSpPr>
          <p:cNvPr id="6" name="Text Box 2"/>
          <p:cNvSpPr txBox="1">
            <a:spLocks noChangeArrowheads="1"/>
          </p:cNvSpPr>
          <p:nvPr/>
        </p:nvSpPr>
        <p:spPr bwMode="auto">
          <a:xfrm>
            <a:off x="334541" y="116632"/>
            <a:ext cx="409344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3. </a:t>
            </a:r>
            <a:r>
              <a:rPr lang="zh-CN" altLang="en-US" sz="3600" dirty="0">
                <a:solidFill>
                  <a:srgbClr val="FFFF00"/>
                </a:solidFill>
                <a:latin typeface="Times New Roman" panose="02020603050405020304" pitchFamily="18" charset="0"/>
              </a:rPr>
              <a:t>拓扑空间关系</a:t>
            </a:r>
            <a:r>
              <a:rPr lang="en-US" altLang="zh-CN" b="0" dirty="0">
                <a:solidFill>
                  <a:srgbClr val="FFFF00"/>
                </a:solidFill>
                <a:latin typeface="Times New Roman" panose="02020603050405020304" pitchFamily="18" charset="0"/>
              </a:rPr>
              <a:t> </a:t>
            </a:r>
          </a:p>
        </p:txBody>
      </p:sp>
      <p:pic>
        <p:nvPicPr>
          <p:cNvPr id="7" name="Picture 3"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5466" y="5153163"/>
            <a:ext cx="3363025" cy="152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2"/>
          <p:cNvSpPr txBox="1">
            <a:spLocks noChangeArrowheads="1"/>
          </p:cNvSpPr>
          <p:nvPr/>
        </p:nvSpPr>
        <p:spPr bwMode="auto">
          <a:xfrm>
            <a:off x="307857" y="2147534"/>
            <a:ext cx="8621712" cy="195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600"/>
              </a:spcBef>
              <a:spcAft>
                <a:spcPts val="600"/>
              </a:spcAft>
              <a:buClr>
                <a:srgbClr val="0000CC"/>
              </a:buClr>
              <a:buSzTx/>
              <a:buNone/>
            </a:pPr>
            <a:r>
              <a:rPr lang="zh-CN" altLang="en-US" sz="2800" b="0" dirty="0">
                <a:solidFill>
                  <a:srgbClr val="0000CC"/>
                </a:solidFill>
                <a:latin typeface="Times New Roman" panose="02020603050405020304" pitchFamily="18" charset="0"/>
              </a:rPr>
              <a:t>橡皮几何学：</a:t>
            </a:r>
            <a:r>
              <a:rPr lang="zh-CN" altLang="en-US" sz="2800" b="0" dirty="0">
                <a:latin typeface="Times New Roman" panose="02020603050405020304" pitchFamily="18" charset="0"/>
              </a:rPr>
              <a:t>假设图形是用橡皮做的，橡皮图形的弹性变化可以看成拓扑变换。</a:t>
            </a:r>
          </a:p>
          <a:p>
            <a:pPr marL="342900" indent="-342900" eaLnBrk="1" hangingPunct="1">
              <a:spcBef>
                <a:spcPts val="600"/>
              </a:spcBef>
              <a:spcAft>
                <a:spcPts val="600"/>
              </a:spcAft>
              <a:buClr>
                <a:srgbClr val="0000CC"/>
              </a:buClr>
              <a:buSzTx/>
              <a:buFont typeface="Wingdings" panose="05000000000000000000" pitchFamily="2" charset="2"/>
              <a:buChar char="Ø"/>
            </a:pPr>
            <a:r>
              <a:rPr lang="zh-CN" altLang="en-US" sz="2400" b="0" dirty="0">
                <a:solidFill>
                  <a:srgbClr val="0000CC"/>
                </a:solidFill>
                <a:latin typeface="Times New Roman" panose="02020603050405020304" pitchFamily="18" charset="0"/>
              </a:rPr>
              <a:t>拓扑变换：</a:t>
            </a:r>
            <a:r>
              <a:rPr lang="zh-CN" altLang="en-US" sz="2400" b="0" dirty="0">
                <a:latin typeface="Times New Roman" panose="02020603050405020304" pitchFamily="18" charset="0"/>
              </a:rPr>
              <a:t>橡皮圈变形成一个圆圈或一个方圈。</a:t>
            </a:r>
            <a:endParaRPr lang="en-US" altLang="zh-CN" sz="2400" b="0" dirty="0">
              <a:latin typeface="Times New Roman" panose="02020603050405020304" pitchFamily="18" charset="0"/>
            </a:endParaRPr>
          </a:p>
          <a:p>
            <a:pPr marL="342900" indent="-342900" eaLnBrk="1" hangingPunct="1">
              <a:spcBef>
                <a:spcPts val="600"/>
              </a:spcBef>
              <a:spcAft>
                <a:spcPts val="600"/>
              </a:spcAft>
              <a:buClr>
                <a:srgbClr val="0000CC"/>
              </a:buClr>
              <a:buSzTx/>
              <a:buFont typeface="Wingdings" panose="05000000000000000000" pitchFamily="2" charset="2"/>
              <a:buChar char="Ø"/>
            </a:pPr>
            <a:r>
              <a:rPr lang="zh-CN" altLang="en-US" sz="2400" b="0" dirty="0">
                <a:solidFill>
                  <a:srgbClr val="0000CC"/>
                </a:solidFill>
                <a:latin typeface="Times New Roman" panose="02020603050405020304" pitchFamily="18" charset="0"/>
              </a:rPr>
              <a:t>非拓扑变换：</a:t>
            </a:r>
            <a:r>
              <a:rPr lang="zh-CN" altLang="en-US" sz="2400" b="0" dirty="0">
                <a:latin typeface="Times New Roman" panose="02020603050405020304" pitchFamily="18" charset="0"/>
              </a:rPr>
              <a:t>橡皮圈变成数字</a:t>
            </a:r>
            <a:r>
              <a:rPr lang="en-US" altLang="zh-CN" sz="2400" b="0" dirty="0">
                <a:latin typeface="Times New Roman" panose="02020603050405020304" pitchFamily="18" charset="0"/>
              </a:rPr>
              <a:t>8</a:t>
            </a:r>
            <a:r>
              <a:rPr lang="zh-CN" altLang="en-US" sz="2400" b="0" dirty="0">
                <a:latin typeface="Times New Roman" panose="02020603050405020304" pitchFamily="18" charset="0"/>
              </a:rPr>
              <a:t>。</a:t>
            </a:r>
          </a:p>
        </p:txBody>
      </p:sp>
      <p:sp>
        <p:nvSpPr>
          <p:cNvPr id="9" name="Text Box 2"/>
          <p:cNvSpPr txBox="1">
            <a:spLocks noChangeArrowheads="1"/>
          </p:cNvSpPr>
          <p:nvPr/>
        </p:nvSpPr>
        <p:spPr bwMode="auto">
          <a:xfrm>
            <a:off x="307857" y="5279233"/>
            <a:ext cx="4696191"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ts val="600"/>
              </a:spcBef>
              <a:spcAft>
                <a:spcPts val="600"/>
              </a:spcAft>
              <a:buClr>
                <a:srgbClr val="0000CC"/>
              </a:buClr>
              <a:buSzTx/>
              <a:buNone/>
            </a:pPr>
            <a:r>
              <a:rPr lang="zh-CN" altLang="en-US" sz="2400" b="0" dirty="0">
                <a:solidFill>
                  <a:srgbClr val="0000CC"/>
                </a:solidFill>
                <a:latin typeface="Times New Roman" panose="02020603050405020304" pitchFamily="18" charset="0"/>
              </a:rPr>
              <a:t>拓扑属性：</a:t>
            </a:r>
            <a:r>
              <a:rPr lang="zh-CN" altLang="en-US" sz="2400" b="0" dirty="0">
                <a:latin typeface="Times New Roman" panose="02020603050405020304" pitchFamily="18" charset="0"/>
              </a:rPr>
              <a:t>多边形内部有一个点。</a:t>
            </a:r>
            <a:endParaRPr lang="en-US" altLang="zh-CN" sz="2400" b="0" dirty="0">
              <a:latin typeface="Times New Roman" panose="02020603050405020304" pitchFamily="18" charset="0"/>
            </a:endParaRPr>
          </a:p>
          <a:p>
            <a:pPr>
              <a:spcBef>
                <a:spcPts val="600"/>
              </a:spcBef>
              <a:spcAft>
                <a:spcPts val="600"/>
              </a:spcAft>
              <a:buClr>
                <a:srgbClr val="0000CC"/>
              </a:buClr>
              <a:buSzTx/>
              <a:buNone/>
            </a:pPr>
            <a:r>
              <a:rPr lang="zh-CN" altLang="en-US" sz="2400" b="0" dirty="0">
                <a:solidFill>
                  <a:srgbClr val="0000CC"/>
                </a:solidFill>
                <a:latin typeface="Times New Roman" panose="02020603050405020304" pitchFamily="18" charset="0"/>
              </a:rPr>
              <a:t>非拓扑属性：</a:t>
            </a:r>
            <a:r>
              <a:rPr lang="zh-CN" altLang="en-US" sz="2400" b="0" dirty="0">
                <a:latin typeface="Times New Roman" panose="02020603050405020304" pitchFamily="18" charset="0"/>
              </a:rPr>
              <a:t>多边形的面积。</a:t>
            </a:r>
          </a:p>
        </p:txBody>
      </p:sp>
    </p:spTree>
    <p:extLst>
      <p:ext uri="{BB962C8B-B14F-4D97-AF65-F5344CB8AC3E}">
        <p14:creationId xmlns:p14="http://schemas.microsoft.com/office/powerpoint/2010/main" val="6296268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2"/>
          <p:cNvSpPr txBox="1">
            <a:spLocks noChangeArrowheads="1"/>
          </p:cNvSpPr>
          <p:nvPr/>
        </p:nvSpPr>
        <p:spPr bwMode="auto">
          <a:xfrm>
            <a:off x="197296" y="1563266"/>
            <a:ext cx="8461375"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CC"/>
              </a:buClr>
              <a:buSzTx/>
              <a:buNone/>
            </a:pPr>
            <a:r>
              <a:rPr lang="en-US" altLang="zh-CN" sz="2400" b="0" dirty="0">
                <a:latin typeface="Times New Roman" panose="02020603050405020304" pitchFamily="18" charset="0"/>
              </a:rPr>
              <a:t>1)</a:t>
            </a:r>
            <a:r>
              <a:rPr lang="zh-CN" altLang="en-US" sz="2400" b="0" dirty="0">
                <a:latin typeface="Times New Roman" panose="02020603050405020304" pitchFamily="18" charset="0"/>
              </a:rPr>
              <a:t>拓扑变化下不发生变化的属性是</a:t>
            </a:r>
            <a:r>
              <a:rPr lang="zh-CN" altLang="en-US" sz="2400" b="0" dirty="0">
                <a:solidFill>
                  <a:srgbClr val="0000CC"/>
                </a:solidFill>
                <a:latin typeface="Times New Roman" panose="02020603050405020304" pitchFamily="18" charset="0"/>
              </a:rPr>
              <a:t>拓扑属性</a:t>
            </a:r>
            <a:endParaRPr lang="en-US" altLang="zh-CN" sz="2400" b="0" dirty="0">
              <a:solidFill>
                <a:srgbClr val="0000CC"/>
              </a:solidFill>
              <a:latin typeface="Times New Roman" panose="02020603050405020304" pitchFamily="18" charset="0"/>
            </a:endParaRPr>
          </a:p>
          <a:p>
            <a:pPr eaLnBrk="1" hangingPunct="1">
              <a:spcBef>
                <a:spcPct val="50000"/>
              </a:spcBef>
              <a:buClr>
                <a:srgbClr val="0000CC"/>
              </a:buClr>
              <a:buSzTx/>
              <a:buNone/>
            </a:pPr>
            <a:r>
              <a:rPr lang="en-US" altLang="zh-CN" sz="2400" b="0" dirty="0">
                <a:latin typeface="Times New Roman" panose="02020603050405020304" pitchFamily="18" charset="0"/>
              </a:rPr>
              <a:t>2)</a:t>
            </a:r>
            <a:r>
              <a:rPr lang="zh-CN" altLang="en-US" sz="2400" b="0" dirty="0">
                <a:latin typeface="Times New Roman" panose="02020603050405020304" pitchFamily="18" charset="0"/>
              </a:rPr>
              <a:t>拓扑变化下发生变化的属性</a:t>
            </a:r>
            <a:r>
              <a:rPr lang="zh-CN" altLang="en-US" sz="2400" b="0" dirty="0">
                <a:solidFill>
                  <a:srgbClr val="0000CC"/>
                </a:solidFill>
                <a:latin typeface="Times New Roman" panose="02020603050405020304" pitchFamily="18" charset="0"/>
              </a:rPr>
              <a:t>是非拓扑属性</a:t>
            </a:r>
            <a:endParaRPr lang="zh-CN" altLang="en-US" sz="2400" b="0" dirty="0">
              <a:latin typeface="Times New Roman" panose="02020603050405020304" pitchFamily="18" charset="0"/>
            </a:endParaRPr>
          </a:p>
        </p:txBody>
      </p:sp>
      <p:pic>
        <p:nvPicPr>
          <p:cNvPr id="17412" name="Picture 3"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4598" y="5018927"/>
            <a:ext cx="3383043" cy="1538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22</a:t>
            </a:fld>
            <a:endParaRPr lang="en-US" altLang="zh-CN"/>
          </a:p>
        </p:txBody>
      </p:sp>
      <p:sp>
        <p:nvSpPr>
          <p:cNvPr id="6" name="Text Box 3"/>
          <p:cNvSpPr txBox="1">
            <a:spLocks noChangeArrowheads="1"/>
          </p:cNvSpPr>
          <p:nvPr/>
        </p:nvSpPr>
        <p:spPr bwMode="auto">
          <a:xfrm>
            <a:off x="312222" y="1024657"/>
            <a:ext cx="522605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Char char="n"/>
            </a:pPr>
            <a:r>
              <a:rPr lang="zh-CN" altLang="en-US" dirty="0">
                <a:solidFill>
                  <a:srgbClr val="0000CC"/>
                </a:solidFill>
                <a:latin typeface="Times New Roman" panose="02020603050405020304" pitchFamily="18" charset="0"/>
              </a:rPr>
              <a:t>拓扑属性和非拓扑属性：</a:t>
            </a:r>
            <a:endParaRPr lang="zh-CN" altLang="en-US" b="0" dirty="0">
              <a:solidFill>
                <a:srgbClr val="0000CC"/>
              </a:solidFill>
              <a:latin typeface="Times New Roman" panose="02020603050405020304" pitchFamily="18" charset="0"/>
            </a:endParaRPr>
          </a:p>
        </p:txBody>
      </p:sp>
      <p:sp>
        <p:nvSpPr>
          <p:cNvPr id="7" name="Text Box 2"/>
          <p:cNvSpPr txBox="1">
            <a:spLocks noChangeArrowheads="1"/>
          </p:cNvSpPr>
          <p:nvPr/>
        </p:nvSpPr>
        <p:spPr bwMode="auto">
          <a:xfrm>
            <a:off x="334541" y="116632"/>
            <a:ext cx="409344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3. </a:t>
            </a:r>
            <a:r>
              <a:rPr lang="zh-CN" altLang="en-US" sz="3600" dirty="0">
                <a:solidFill>
                  <a:srgbClr val="FFFF00"/>
                </a:solidFill>
                <a:latin typeface="Times New Roman" panose="02020603050405020304" pitchFamily="18" charset="0"/>
              </a:rPr>
              <a:t>拓扑空间关系</a:t>
            </a:r>
            <a:r>
              <a:rPr lang="en-US" altLang="zh-CN" b="0" dirty="0">
                <a:solidFill>
                  <a:srgbClr val="FFFF00"/>
                </a:solidFill>
                <a:latin typeface="Times New Roman" panose="02020603050405020304" pitchFamily="18" charset="0"/>
              </a:rPr>
              <a:t> </a:t>
            </a:r>
          </a:p>
        </p:txBody>
      </p:sp>
      <p:graphicFrame>
        <p:nvGraphicFramePr>
          <p:cNvPr id="8" name="Group 17"/>
          <p:cNvGraphicFramePr>
            <a:graphicFrameLocks noGrp="1"/>
          </p:cNvGraphicFramePr>
          <p:nvPr>
            <p:ph/>
            <p:extLst/>
          </p:nvPr>
        </p:nvGraphicFramePr>
        <p:xfrm>
          <a:off x="334541" y="2732926"/>
          <a:ext cx="8402638" cy="3824022"/>
        </p:xfrm>
        <a:graphic>
          <a:graphicData uri="http://schemas.openxmlformats.org/drawingml/2006/table">
            <a:tbl>
              <a:tblPr/>
              <a:tblGrid>
                <a:gridCol w="1160462">
                  <a:extLst>
                    <a:ext uri="{9D8B030D-6E8A-4147-A177-3AD203B41FA5}">
                      <a16:colId xmlns:a16="http://schemas.microsoft.com/office/drawing/2014/main" val="20000"/>
                    </a:ext>
                  </a:extLst>
                </a:gridCol>
                <a:gridCol w="7242176">
                  <a:extLst>
                    <a:ext uri="{9D8B030D-6E8A-4147-A177-3AD203B41FA5}">
                      <a16:colId xmlns:a16="http://schemas.microsoft.com/office/drawing/2014/main" val="20001"/>
                    </a:ext>
                  </a:extLst>
                </a:gridCol>
              </a:tblGrid>
              <a:tr h="2232247">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Arial" charset="0"/>
                          <a:ea typeface="宋体" pitchFamily="2" charset="-122"/>
                          <a:cs typeface="Times New Roman" pitchFamily="18" charset="0"/>
                        </a:rPr>
                        <a:t>拓扑</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Arial" charset="0"/>
                          <a:ea typeface="宋体" pitchFamily="2" charset="-122"/>
                          <a:cs typeface="Times New Roman" pitchFamily="18" charset="0"/>
                        </a:rPr>
                        <a:t>属性</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一个点在一个弧段的端点</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一个点在一个区域的边界上</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一个点在一个区域的内部</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一个点在一个区域的外部</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一个点在一个环的内部</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一个面是一个简单面</a:t>
                      </a:r>
                      <a:r>
                        <a:rPr kumimoji="1" lang="en-US" altLang="zh-CN" sz="1800" b="0" i="0" u="none" strike="noStrike" cap="none" normalizeH="0" baseline="0" dirty="0">
                          <a:ln>
                            <a:noFill/>
                          </a:ln>
                          <a:solidFill>
                            <a:schemeClr val="tx1"/>
                          </a:solidFill>
                          <a:effectLst/>
                          <a:latin typeface="Arial" charset="0"/>
                          <a:ea typeface="宋体" pitchFamily="2" charset="-122"/>
                          <a:cs typeface="Times New Roman" pitchFamily="18" charset="0"/>
                        </a:rPr>
                        <a:t>(</a:t>
                      </a: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面上没有</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“岛”</a:t>
                      </a:r>
                      <a:r>
                        <a:rPr kumimoji="1" lang="en-US" altLang="zh-CN" sz="1800" b="0" i="0" u="none" strike="noStrike" cap="none" normalizeH="0" baseline="0" dirty="0">
                          <a:ln>
                            <a:noFill/>
                          </a:ln>
                          <a:solidFill>
                            <a:schemeClr val="tx1"/>
                          </a:solidFill>
                          <a:effectLst/>
                          <a:latin typeface="Arial" charset="0"/>
                          <a:ea typeface="宋体" pitchFamily="2" charset="-122"/>
                          <a:cs typeface="Times New Roman" pitchFamily="18" charset="0"/>
                        </a:rPr>
                        <a:t>)</a:t>
                      </a: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一个面的连续性：给定面上任意两点，从一点可以完全在面的内部沿任意路径走向另一点。</a:t>
                      </a:r>
                      <a:endParaRPr kumimoji="1" lang="zh-CN" altLang="en-US" sz="1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38022">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Arial" charset="0"/>
                          <a:ea typeface="宋体" pitchFamily="2" charset="-122"/>
                          <a:cs typeface="Times New Roman" pitchFamily="18" charset="0"/>
                        </a:rPr>
                        <a:t>非拓扑</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Arial" charset="0"/>
                          <a:ea typeface="宋体" pitchFamily="2" charset="-122"/>
                          <a:cs typeface="Times New Roman" pitchFamily="18" charset="0"/>
                        </a:rPr>
                        <a:t>属性</a:t>
                      </a:r>
                      <a:endParaRPr kumimoji="1" lang="zh-CN" altLang="en-US" sz="2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两点之间的距离</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一个点指向另一个点的方向</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弧段的长度</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一个区域的周长</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cs typeface="Times New Roman" pitchFamily="18" charset="0"/>
                        </a:rPr>
                        <a:t>一个区域的面积</a:t>
                      </a:r>
                      <a:endParaRPr kumimoji="1" lang="zh-CN" altLang="en-US" sz="18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7983874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2123728" y="1958177"/>
            <a:ext cx="6466829"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bg1"/>
              </a:buClr>
              <a:buFont typeface="Wingdings" panose="05000000000000000000" pitchFamily="2" charset="2"/>
              <a:buNone/>
            </a:pPr>
            <a:r>
              <a:rPr lang="en-US" altLang="zh-CN" sz="4800" dirty="0">
                <a:solidFill>
                  <a:srgbClr val="0000CC"/>
                </a:solidFill>
                <a:latin typeface="Times New Roman" panose="02020603050405020304" pitchFamily="18" charset="0"/>
              </a:rPr>
              <a:t>2.2 </a:t>
            </a:r>
            <a:r>
              <a:rPr lang="zh-CN" altLang="en-US" sz="4800" dirty="0">
                <a:solidFill>
                  <a:srgbClr val="0000CC"/>
                </a:solidFill>
                <a:latin typeface="Times New Roman" panose="02020603050405020304" pitchFamily="18" charset="0"/>
              </a:rPr>
              <a:t>空间关系理论</a:t>
            </a:r>
            <a:endParaRPr lang="en-US" altLang="zh-CN" sz="4800" dirty="0">
              <a:solidFill>
                <a:srgbClr val="0000CC"/>
              </a:solidFill>
              <a:latin typeface="Times New Roman" panose="02020603050405020304" pitchFamily="18" charset="0"/>
            </a:endParaRPr>
          </a:p>
          <a:p>
            <a:pPr eaLnBrk="1" hangingPunct="1">
              <a:spcBef>
                <a:spcPct val="50000"/>
              </a:spcBef>
              <a:buClr>
                <a:schemeClr val="bg1"/>
              </a:buClr>
              <a:buFont typeface="Wingdings" panose="05000000000000000000" pitchFamily="2" charset="2"/>
              <a:buNone/>
            </a:pPr>
            <a:r>
              <a:rPr lang="en-US" altLang="zh-CN" sz="4000" dirty="0">
                <a:solidFill>
                  <a:schemeClr val="bg2"/>
                </a:solidFill>
                <a:latin typeface="Times New Roman" panose="02020603050405020304" pitchFamily="18" charset="0"/>
              </a:rPr>
              <a:t>2.2.1 </a:t>
            </a:r>
            <a:r>
              <a:rPr lang="zh-CN" altLang="en-US" sz="4000" dirty="0">
                <a:solidFill>
                  <a:schemeClr val="bg2"/>
                </a:solidFill>
                <a:latin typeface="Times New Roman" panose="02020603050405020304" pitchFamily="18" charset="0"/>
              </a:rPr>
              <a:t>空间关系的类型</a:t>
            </a:r>
            <a:endParaRPr lang="en-US" altLang="zh-CN" sz="4000" dirty="0">
              <a:solidFill>
                <a:schemeClr val="bg2"/>
              </a:solidFill>
              <a:latin typeface="Times New Roman" panose="02020603050405020304" pitchFamily="18" charset="0"/>
            </a:endParaRPr>
          </a:p>
          <a:p>
            <a:pPr>
              <a:spcBef>
                <a:spcPct val="50000"/>
              </a:spcBef>
              <a:buClr>
                <a:schemeClr val="bg1"/>
              </a:buClr>
              <a:buNone/>
            </a:pPr>
            <a:r>
              <a:rPr lang="en-US" altLang="zh-CN" sz="4000" dirty="0">
                <a:solidFill>
                  <a:srgbClr val="0000CC"/>
                </a:solidFill>
                <a:latin typeface="Times New Roman" panose="02020603050405020304" pitchFamily="18" charset="0"/>
              </a:rPr>
              <a:t>2.2.2 </a:t>
            </a:r>
            <a:r>
              <a:rPr lang="zh-CN" altLang="en-US" sz="4000" dirty="0">
                <a:solidFill>
                  <a:srgbClr val="0000CC"/>
                </a:solidFill>
                <a:latin typeface="Times New Roman" panose="02020603050405020304" pitchFamily="18" charset="0"/>
              </a:rPr>
              <a:t>空间关系描述</a:t>
            </a:r>
            <a:endParaRPr lang="en-US" altLang="zh-CN" sz="4000" dirty="0">
              <a:solidFill>
                <a:srgbClr val="0000CC"/>
              </a:solidFill>
              <a:latin typeface="Times New Roman" panose="02020603050405020304" pitchFamily="18" charset="0"/>
            </a:endParaRPr>
          </a:p>
          <a:p>
            <a:pPr>
              <a:spcBef>
                <a:spcPct val="50000"/>
              </a:spcBef>
              <a:buClr>
                <a:schemeClr val="bg1"/>
              </a:buClr>
              <a:buNone/>
            </a:pPr>
            <a:r>
              <a:rPr lang="en-US" altLang="zh-CN" sz="4000" dirty="0">
                <a:solidFill>
                  <a:schemeClr val="bg2"/>
                </a:solidFill>
                <a:latin typeface="Times New Roman" panose="02020603050405020304" pitchFamily="18" charset="0"/>
              </a:rPr>
              <a:t>2.2.3 </a:t>
            </a:r>
            <a:r>
              <a:rPr lang="zh-CN" altLang="en-US" sz="4000" dirty="0">
                <a:solidFill>
                  <a:schemeClr val="bg2"/>
                </a:solidFill>
                <a:latin typeface="Times New Roman" panose="02020603050405020304" pitchFamily="18" charset="0"/>
              </a:rPr>
              <a:t>时空空间关系</a:t>
            </a:r>
            <a:endParaRPr lang="zh-CN" altLang="en-US" sz="4000" b="0" dirty="0">
              <a:solidFill>
                <a:schemeClr val="bg2"/>
              </a:solidFill>
              <a:latin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23</a:t>
            </a:fld>
            <a:endParaRPr lang="en-US" altLang="zh-CN"/>
          </a:p>
        </p:txBody>
      </p:sp>
      <p:sp>
        <p:nvSpPr>
          <p:cNvPr id="5" name="TextBox 6"/>
          <p:cNvSpPr txBox="1">
            <a:spLocks noChangeArrowheads="1"/>
          </p:cNvSpPr>
          <p:nvPr/>
        </p:nvSpPr>
        <p:spPr bwMode="auto">
          <a:xfrm>
            <a:off x="2555776" y="44624"/>
            <a:ext cx="489654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2.2   </a:t>
            </a:r>
            <a:r>
              <a:rPr lang="zh-CN" altLang="en-US" sz="4000" dirty="0">
                <a:solidFill>
                  <a:srgbClr val="FFFF00"/>
                </a:solidFill>
                <a:latin typeface="Times New Roman" panose="02020603050405020304" pitchFamily="18" charset="0"/>
                <a:cs typeface="Times New Roman" panose="02020603050405020304" pitchFamily="18" charset="0"/>
              </a:rPr>
              <a:t>空间关系理论</a:t>
            </a:r>
          </a:p>
        </p:txBody>
      </p:sp>
    </p:spTree>
    <p:extLst>
      <p:ext uri="{BB962C8B-B14F-4D97-AF65-F5344CB8AC3E}">
        <p14:creationId xmlns:p14="http://schemas.microsoft.com/office/powerpoint/2010/main" val="77460703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2051720" y="2276872"/>
            <a:ext cx="6466829"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ts val="1200"/>
              </a:spcBef>
              <a:spcAft>
                <a:spcPts val="1200"/>
              </a:spcAft>
              <a:buClr>
                <a:schemeClr val="bg1"/>
              </a:buClr>
              <a:buNone/>
            </a:pPr>
            <a:r>
              <a:rPr lang="en-US" altLang="zh-CN" sz="4000" dirty="0">
                <a:solidFill>
                  <a:srgbClr val="0000CC"/>
                </a:solidFill>
                <a:latin typeface="Times New Roman" panose="02020603050405020304" pitchFamily="18" charset="0"/>
              </a:rPr>
              <a:t>2.2.2 </a:t>
            </a:r>
            <a:r>
              <a:rPr lang="zh-CN" altLang="en-US" sz="4000" dirty="0">
                <a:solidFill>
                  <a:srgbClr val="0000CC"/>
                </a:solidFill>
                <a:latin typeface="Times New Roman" panose="02020603050405020304" pitchFamily="18" charset="0"/>
              </a:rPr>
              <a:t>空间关系描述</a:t>
            </a:r>
            <a:endParaRPr lang="en-US" altLang="zh-CN" sz="4000" dirty="0">
              <a:solidFill>
                <a:srgbClr val="0000CC"/>
              </a:solidFill>
              <a:latin typeface="Times New Roman" panose="02020603050405020304" pitchFamily="18" charset="0"/>
            </a:endParaRPr>
          </a:p>
          <a:p>
            <a:pPr>
              <a:spcBef>
                <a:spcPts val="1200"/>
              </a:spcBef>
              <a:spcAft>
                <a:spcPts val="1200"/>
              </a:spcAft>
              <a:buClr>
                <a:schemeClr val="bg1"/>
              </a:buClr>
              <a:buNone/>
            </a:pPr>
            <a:r>
              <a:rPr lang="en-US" altLang="zh-CN" dirty="0">
                <a:solidFill>
                  <a:srgbClr val="0000CC"/>
                </a:solidFill>
                <a:latin typeface="Times New Roman" panose="02020603050405020304" pitchFamily="18" charset="0"/>
              </a:rPr>
              <a:t>    1. </a:t>
            </a:r>
            <a:r>
              <a:rPr lang="zh-CN" altLang="en-US" dirty="0">
                <a:solidFill>
                  <a:srgbClr val="0000CC"/>
                </a:solidFill>
                <a:latin typeface="Times New Roman" panose="02020603050405020304" pitchFamily="18" charset="0"/>
              </a:rPr>
              <a:t>度量空间关系描述</a:t>
            </a:r>
            <a:endParaRPr lang="en-US" altLang="zh-CN" dirty="0">
              <a:solidFill>
                <a:srgbClr val="0000CC"/>
              </a:solidFill>
              <a:latin typeface="Times New Roman" panose="02020603050405020304" pitchFamily="18" charset="0"/>
            </a:endParaRPr>
          </a:p>
          <a:p>
            <a:pPr>
              <a:spcBef>
                <a:spcPts val="1200"/>
              </a:spcBef>
              <a:spcAft>
                <a:spcPts val="1200"/>
              </a:spcAft>
              <a:buClr>
                <a:schemeClr val="bg1"/>
              </a:buClr>
              <a:buNone/>
            </a:pPr>
            <a:r>
              <a:rPr lang="en-US" altLang="zh-CN" dirty="0">
                <a:solidFill>
                  <a:srgbClr val="0000CC"/>
                </a:solidFill>
                <a:latin typeface="Times New Roman" panose="02020603050405020304" pitchFamily="18" charset="0"/>
              </a:rPr>
              <a:t>    2. </a:t>
            </a:r>
            <a:r>
              <a:rPr lang="zh-CN" altLang="en-US" dirty="0">
                <a:solidFill>
                  <a:srgbClr val="0000CC"/>
                </a:solidFill>
                <a:latin typeface="Times New Roman" panose="02020603050405020304" pitchFamily="18" charset="0"/>
              </a:rPr>
              <a:t>拓扑空间关系描述</a:t>
            </a:r>
            <a:endParaRPr lang="en-US" altLang="zh-CN" dirty="0">
              <a:solidFill>
                <a:srgbClr val="0000CC"/>
              </a:solidFill>
              <a:latin typeface="Times New Roman" panose="02020603050405020304" pitchFamily="18" charset="0"/>
            </a:endParaRPr>
          </a:p>
          <a:p>
            <a:pPr>
              <a:spcBef>
                <a:spcPts val="1200"/>
              </a:spcBef>
              <a:spcAft>
                <a:spcPts val="1200"/>
              </a:spcAft>
              <a:buClr>
                <a:schemeClr val="bg1"/>
              </a:buClr>
              <a:buNone/>
            </a:pPr>
            <a:r>
              <a:rPr lang="en-US" altLang="zh-CN" dirty="0">
                <a:solidFill>
                  <a:srgbClr val="0000CC"/>
                </a:solidFill>
                <a:latin typeface="Times New Roman" panose="02020603050405020304" pitchFamily="18" charset="0"/>
              </a:rPr>
              <a:t>    3. </a:t>
            </a:r>
            <a:r>
              <a:rPr lang="zh-CN" altLang="en-US" dirty="0">
                <a:solidFill>
                  <a:srgbClr val="0000CC"/>
                </a:solidFill>
                <a:latin typeface="Times New Roman" panose="02020603050405020304" pitchFamily="18" charset="0"/>
              </a:rPr>
              <a:t>顺序空间关系描述</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24</a:t>
            </a:fld>
            <a:endParaRPr lang="en-US" altLang="zh-CN"/>
          </a:p>
        </p:txBody>
      </p:sp>
      <p:sp>
        <p:nvSpPr>
          <p:cNvPr id="15" name="矩形 14">
            <a:extLst>
              <a:ext uri="{FF2B5EF4-FFF2-40B4-BE49-F238E27FC236}">
                <a16:creationId xmlns:a16="http://schemas.microsoft.com/office/drawing/2014/main" id="{51B0AE25-C780-4E66-981A-7366431F921F}"/>
              </a:ext>
            </a:extLst>
          </p:cNvPr>
          <p:cNvSpPr/>
          <p:nvPr/>
        </p:nvSpPr>
        <p:spPr>
          <a:xfrm>
            <a:off x="323528" y="1052736"/>
            <a:ext cx="3037458" cy="707886"/>
          </a:xfrm>
          <a:prstGeom prst="rect">
            <a:avLst/>
          </a:prstGeom>
          <a:noFill/>
          <a:ln>
            <a:solidFill>
              <a:schemeClr val="accent1"/>
            </a:solidFill>
          </a:ln>
        </p:spPr>
        <p:txBody>
          <a:bodyPr wrap="square">
            <a:spAutoFit/>
          </a:bodyPr>
          <a:lstStyle/>
          <a:p>
            <a:r>
              <a:rPr lang="zh-CN" altLang="en-US" sz="4000" b="1" spc="3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本节内容：</a:t>
            </a:r>
            <a:endParaRPr lang="zh-CN" altLang="en-US" sz="4000" b="1" spc="3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TextBox 6"/>
          <p:cNvSpPr txBox="1">
            <a:spLocks noChangeArrowheads="1"/>
          </p:cNvSpPr>
          <p:nvPr/>
        </p:nvSpPr>
        <p:spPr bwMode="auto">
          <a:xfrm>
            <a:off x="2677679" y="44624"/>
            <a:ext cx="489654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2.2.2   </a:t>
            </a:r>
            <a:r>
              <a:rPr lang="zh-CN" altLang="en-US" sz="4000" dirty="0">
                <a:solidFill>
                  <a:srgbClr val="FFFF00"/>
                </a:solidFill>
                <a:latin typeface="Times New Roman" panose="02020603050405020304" pitchFamily="18" charset="0"/>
                <a:cs typeface="Times New Roman" panose="02020603050405020304" pitchFamily="18" charset="0"/>
              </a:rPr>
              <a:t>空间关系描述</a:t>
            </a:r>
          </a:p>
        </p:txBody>
      </p:sp>
    </p:spTree>
    <p:extLst>
      <p:ext uri="{BB962C8B-B14F-4D97-AF65-F5344CB8AC3E}">
        <p14:creationId xmlns:p14="http://schemas.microsoft.com/office/powerpoint/2010/main" val="360395262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395536" y="171237"/>
            <a:ext cx="512348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a:solidFill>
                  <a:srgbClr val="FFFF00"/>
                </a:solidFill>
                <a:latin typeface="Times New Roman" panose="02020603050405020304" pitchFamily="18" charset="0"/>
              </a:rPr>
              <a:t>2.2.2   </a:t>
            </a:r>
            <a:r>
              <a:rPr lang="zh-CN" altLang="en-US" sz="3600">
                <a:solidFill>
                  <a:srgbClr val="FFFF00"/>
                </a:solidFill>
                <a:latin typeface="Times New Roman" panose="02020603050405020304" pitchFamily="18" charset="0"/>
              </a:rPr>
              <a:t>空间关系描述</a:t>
            </a:r>
          </a:p>
        </p:txBody>
      </p:sp>
      <p:sp>
        <p:nvSpPr>
          <p:cNvPr id="19459" name="Text Box 3"/>
          <p:cNvSpPr txBox="1">
            <a:spLocks noChangeArrowheads="1"/>
          </p:cNvSpPr>
          <p:nvPr/>
        </p:nvSpPr>
        <p:spPr bwMode="auto">
          <a:xfrm>
            <a:off x="251520" y="1484784"/>
            <a:ext cx="8640960" cy="183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zh-CN" altLang="en-US" sz="3600" dirty="0">
                <a:solidFill>
                  <a:srgbClr val="0000CC"/>
                </a:solidFill>
                <a:latin typeface="Times New Roman" panose="02020603050405020304" pitchFamily="18" charset="0"/>
              </a:rPr>
              <a:t>空间关系描述：</a:t>
            </a:r>
            <a:endParaRPr lang="en-US" altLang="zh-CN" sz="3600" dirty="0">
              <a:solidFill>
                <a:srgbClr val="0000CC"/>
              </a:solidFill>
              <a:latin typeface="Times New Roman" panose="02020603050405020304" pitchFamily="18" charset="0"/>
            </a:endParaRPr>
          </a:p>
          <a:p>
            <a:pPr eaLnBrk="1" hangingPunct="1">
              <a:spcBef>
                <a:spcPct val="50000"/>
              </a:spcBef>
              <a:buClrTx/>
              <a:buSzTx/>
              <a:buFont typeface="Wingdings" panose="05000000000000000000" pitchFamily="2" charset="2"/>
              <a:buChar char="Ø"/>
            </a:pPr>
            <a:r>
              <a:rPr lang="zh-CN" altLang="en-US" b="0" dirty="0">
                <a:solidFill>
                  <a:srgbClr val="0000CC"/>
                </a:solidFill>
                <a:latin typeface="Times New Roman" panose="02020603050405020304" pitchFamily="18" charset="0"/>
              </a:rPr>
              <a:t>基本任务：</a:t>
            </a:r>
            <a:r>
              <a:rPr lang="zh-CN" altLang="en-US" b="0" dirty="0">
                <a:latin typeface="Times New Roman" panose="02020603050405020304" pitchFamily="18" charset="0"/>
              </a:rPr>
              <a:t>以</a:t>
            </a:r>
            <a:r>
              <a:rPr lang="zh-CN" altLang="en-US" b="0" dirty="0">
                <a:solidFill>
                  <a:srgbClr val="0000CC"/>
                </a:solidFill>
                <a:latin typeface="Times New Roman" panose="02020603050405020304" pitchFamily="18" charset="0"/>
              </a:rPr>
              <a:t>数学或逻辑</a:t>
            </a:r>
            <a:r>
              <a:rPr lang="zh-CN" altLang="en-US" b="0" dirty="0">
                <a:latin typeface="Times New Roman" panose="02020603050405020304" pitchFamily="18" charset="0"/>
              </a:rPr>
              <a:t>的方法区分不同的空间关系，给出</a:t>
            </a:r>
            <a:r>
              <a:rPr lang="zh-CN" altLang="en-US" b="0" dirty="0">
                <a:solidFill>
                  <a:srgbClr val="0000CC"/>
                </a:solidFill>
                <a:latin typeface="Times New Roman" panose="02020603050405020304" pitchFamily="18" charset="0"/>
              </a:rPr>
              <a:t>形式化的描述</a:t>
            </a:r>
            <a:r>
              <a:rPr lang="zh-CN" altLang="en-US" b="0" dirty="0">
                <a:latin typeface="Times New Roman" panose="02020603050405020304" pitchFamily="18" charset="0"/>
              </a:rPr>
              <a:t>。</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25</a:t>
            </a:fld>
            <a:endParaRPr lang="en-US" altLang="zh-CN"/>
          </a:p>
        </p:txBody>
      </p:sp>
      <p:sp>
        <p:nvSpPr>
          <p:cNvPr id="5" name="Text Box 3"/>
          <p:cNvSpPr txBox="1">
            <a:spLocks noChangeArrowheads="1"/>
          </p:cNvSpPr>
          <p:nvPr/>
        </p:nvSpPr>
        <p:spPr bwMode="auto">
          <a:xfrm>
            <a:off x="251520" y="4029438"/>
            <a:ext cx="8640960"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Char char="Ø"/>
            </a:pPr>
            <a:r>
              <a:rPr lang="zh-CN" altLang="en-US" b="0" dirty="0">
                <a:solidFill>
                  <a:srgbClr val="0000CC"/>
                </a:solidFill>
                <a:latin typeface="Times New Roman" panose="02020603050405020304" pitchFamily="18" charset="0"/>
              </a:rPr>
              <a:t>意义：澄清不同用户关于空间关系的语义</a:t>
            </a:r>
            <a:r>
              <a:rPr lang="zh-CN" altLang="en-US" b="0" dirty="0">
                <a:latin typeface="Times New Roman" panose="02020603050405020304" pitchFamily="18" charset="0"/>
              </a:rPr>
              <a:t>，为构造空间查询语言和空间分析提供形式化工具。 </a:t>
            </a:r>
          </a:p>
        </p:txBody>
      </p:sp>
    </p:spTree>
    <p:extLst>
      <p:ext uri="{BB962C8B-B14F-4D97-AF65-F5344CB8AC3E}">
        <p14:creationId xmlns:p14="http://schemas.microsoft.com/office/powerpoint/2010/main" val="9990425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304825" y="116632"/>
            <a:ext cx="5762625"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1. </a:t>
            </a:r>
            <a:r>
              <a:rPr lang="zh-CN" altLang="en-US" sz="4000" dirty="0">
                <a:solidFill>
                  <a:srgbClr val="FFFF00"/>
                </a:solidFill>
                <a:latin typeface="Times New Roman" panose="02020603050405020304" pitchFamily="18" charset="0"/>
                <a:cs typeface="Times New Roman" panose="02020603050405020304" pitchFamily="18" charset="0"/>
              </a:rPr>
              <a:t>度量空间关系描述</a:t>
            </a:r>
          </a:p>
        </p:txBody>
      </p:sp>
      <p:sp>
        <p:nvSpPr>
          <p:cNvPr id="20483" name="Text Box 3"/>
          <p:cNvSpPr txBox="1">
            <a:spLocks noChangeArrowheads="1"/>
          </p:cNvSpPr>
          <p:nvPr/>
        </p:nvSpPr>
        <p:spPr bwMode="auto">
          <a:xfrm>
            <a:off x="179512" y="1124744"/>
            <a:ext cx="8607425" cy="1461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Char char="n"/>
            </a:pPr>
            <a:r>
              <a:rPr lang="zh-CN" altLang="en-US" b="0" dirty="0">
                <a:solidFill>
                  <a:srgbClr val="0000CC"/>
                </a:solidFill>
                <a:latin typeface="Times New Roman" panose="02020603050405020304" pitchFamily="18" charset="0"/>
                <a:cs typeface="Times New Roman" panose="02020603050405020304" pitchFamily="18" charset="0"/>
              </a:rPr>
              <a:t>度量空间关系：</a:t>
            </a:r>
            <a:endParaRPr lang="en-US" altLang="zh-CN" b="0" dirty="0">
              <a:solidFill>
                <a:srgbClr val="0000CC"/>
              </a:solidFill>
              <a:latin typeface="Times New Roman" panose="02020603050405020304" pitchFamily="18" charset="0"/>
              <a:cs typeface="Times New Roman" panose="02020603050405020304" pitchFamily="18" charset="0"/>
            </a:endParaRPr>
          </a:p>
          <a:p>
            <a:pPr eaLnBrk="1" hangingPunct="1">
              <a:spcBef>
                <a:spcPct val="0"/>
              </a:spcBef>
              <a:buClrTx/>
              <a:buSzTx/>
              <a:buNone/>
            </a:pPr>
            <a:r>
              <a:rPr lang="en-US" altLang="zh-CN" b="0" dirty="0">
                <a:solidFill>
                  <a:srgbClr val="0000CC"/>
                </a:solidFill>
                <a:latin typeface="Times New Roman" panose="02020603050405020304" pitchFamily="18" charset="0"/>
                <a:cs typeface="Times New Roman" panose="02020603050405020304" pitchFamily="18" charset="0"/>
              </a:rPr>
              <a:t>1)</a:t>
            </a:r>
            <a:r>
              <a:rPr lang="zh-CN" altLang="en-US" b="0" dirty="0">
                <a:solidFill>
                  <a:srgbClr val="0000CC"/>
                </a:solidFill>
                <a:latin typeface="Times New Roman" panose="02020603050405020304" pitchFamily="18" charset="0"/>
                <a:cs typeface="Times New Roman" panose="02020603050405020304" pitchFamily="18" charset="0"/>
              </a:rPr>
              <a:t>空间指标量算：</a:t>
            </a:r>
            <a:r>
              <a:rPr lang="zh-CN" altLang="en-US" sz="2800" b="0" dirty="0">
                <a:latin typeface="Times New Roman" panose="02020603050405020304" pitchFamily="18" charset="0"/>
                <a:cs typeface="Times New Roman" panose="02020603050405020304" pitchFamily="18" charset="0"/>
              </a:rPr>
              <a:t>长度、周长、面积等指标，通常利用数学公式进行度量。</a:t>
            </a:r>
          </a:p>
        </p:txBody>
      </p:sp>
      <p:sp>
        <p:nvSpPr>
          <p:cNvPr id="2" name="灯片编号占位符 1"/>
          <p:cNvSpPr>
            <a:spLocks noGrp="1"/>
          </p:cNvSpPr>
          <p:nvPr>
            <p:ph type="sldNum" sz="quarter" idx="10"/>
          </p:nvPr>
        </p:nvSpPr>
        <p:spPr>
          <a:xfrm>
            <a:off x="8604447" y="6381750"/>
            <a:ext cx="504627" cy="476250"/>
          </a:xfrm>
        </p:spPr>
        <p:txBody>
          <a:bodyPr/>
          <a:lstStyle/>
          <a:p>
            <a:pPr>
              <a:defRPr/>
            </a:pPr>
            <a:fld id="{F2022BCA-CEF6-49A1-BA1D-26724DAA5E0F}" type="slidenum">
              <a:rPr lang="zh-CN" altLang="en-US" smtClean="0">
                <a:latin typeface="Times New Roman" panose="02020603050405020304" pitchFamily="18" charset="0"/>
                <a:cs typeface="Times New Roman" panose="02020603050405020304" pitchFamily="18" charset="0"/>
              </a:rPr>
              <a:pPr>
                <a:defRPr/>
              </a:pPr>
              <a:t>26</a:t>
            </a:fld>
            <a:endParaRPr lang="en-US" altLang="zh-CN" dirty="0">
              <a:latin typeface="Times New Roman" panose="02020603050405020304" pitchFamily="18" charset="0"/>
              <a:cs typeface="Times New Roman" panose="02020603050405020304" pitchFamily="18" charset="0"/>
            </a:endParaRPr>
          </a:p>
        </p:txBody>
      </p:sp>
      <p:sp>
        <p:nvSpPr>
          <p:cNvPr id="5" name="Text Box 3"/>
          <p:cNvSpPr txBox="1">
            <a:spLocks noChangeArrowheads="1"/>
          </p:cNvSpPr>
          <p:nvPr/>
        </p:nvSpPr>
        <p:spPr bwMode="auto">
          <a:xfrm>
            <a:off x="179512" y="2819092"/>
            <a:ext cx="8607425"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CC"/>
              </a:buClr>
              <a:buSzTx/>
              <a:buNone/>
            </a:pPr>
            <a:r>
              <a:rPr lang="en-US" altLang="zh-CN" b="0" dirty="0">
                <a:solidFill>
                  <a:srgbClr val="0000CC"/>
                </a:solidFill>
                <a:latin typeface="Times New Roman" panose="02020603050405020304" pitchFamily="18" charset="0"/>
                <a:cs typeface="Times New Roman" panose="02020603050405020304" pitchFamily="18" charset="0"/>
              </a:rPr>
              <a:t>2)</a:t>
            </a:r>
            <a:r>
              <a:rPr lang="zh-CN" altLang="en-US" b="0" dirty="0">
                <a:solidFill>
                  <a:srgbClr val="0000CC"/>
                </a:solidFill>
                <a:latin typeface="Times New Roman" panose="02020603050405020304" pitchFamily="18" charset="0"/>
                <a:cs typeface="Times New Roman" panose="02020603050405020304" pitchFamily="18" charset="0"/>
              </a:rPr>
              <a:t>距离度量描述：</a:t>
            </a:r>
            <a:r>
              <a:rPr lang="zh-CN" altLang="en-US" sz="2800" b="0" dirty="0">
                <a:latin typeface="Times New Roman" panose="02020603050405020304" pitchFamily="18" charset="0"/>
                <a:cs typeface="Times New Roman" panose="02020603050405020304" pitchFamily="18" charset="0"/>
              </a:rPr>
              <a:t>以两个点目标间的距离为度量。</a:t>
            </a:r>
          </a:p>
          <a:p>
            <a:pPr eaLnBrk="1" hangingPunct="1">
              <a:spcBef>
                <a:spcPts val="600"/>
              </a:spcBef>
              <a:buClr>
                <a:srgbClr val="0000CC"/>
              </a:buClr>
              <a:buSzTx/>
              <a:buNone/>
            </a:pPr>
            <a:r>
              <a:rPr lang="en-US" altLang="zh-CN" sz="2800" b="0" dirty="0">
                <a:solidFill>
                  <a:srgbClr val="0000CC"/>
                </a:solidFill>
                <a:latin typeface="Times New Roman" panose="02020603050405020304" pitchFamily="18" charset="0"/>
                <a:cs typeface="Times New Roman" panose="02020603050405020304" pitchFamily="18" charset="0"/>
              </a:rPr>
              <a:t>(1)</a:t>
            </a:r>
            <a:r>
              <a:rPr lang="zh-CN" altLang="en-US" sz="2800" b="0" dirty="0">
                <a:solidFill>
                  <a:srgbClr val="0000CC"/>
                </a:solidFill>
                <a:latin typeface="Times New Roman" panose="02020603050405020304" pitchFamily="18" charset="0"/>
                <a:cs typeface="Times New Roman" panose="02020603050405020304" pitchFamily="18" charset="0"/>
              </a:rPr>
              <a:t>平面中两点距离：</a:t>
            </a:r>
            <a:r>
              <a:rPr lang="zh-CN" altLang="en-US" sz="2800" b="0" dirty="0">
                <a:latin typeface="Times New Roman" panose="02020603050405020304" pitchFamily="18" charset="0"/>
                <a:cs typeface="Times New Roman" panose="02020603050405020304" pitchFamily="18" charset="0"/>
              </a:rPr>
              <a:t>欧氏距离、切氏距离、马氏距离、闵氏距离等</a:t>
            </a:r>
            <a:endParaRPr lang="en-US" altLang="zh-CN" sz="2800" b="0" dirty="0">
              <a:latin typeface="Times New Roman" panose="02020603050405020304" pitchFamily="18" charset="0"/>
              <a:cs typeface="Times New Roman" panose="02020603050405020304" pitchFamily="18" charset="0"/>
            </a:endParaRPr>
          </a:p>
          <a:p>
            <a:pPr eaLnBrk="1" hangingPunct="1">
              <a:spcBef>
                <a:spcPts val="600"/>
              </a:spcBef>
              <a:buClr>
                <a:srgbClr val="0000CC"/>
              </a:buClr>
              <a:buSzTx/>
              <a:buNone/>
            </a:pPr>
            <a:r>
              <a:rPr lang="en-US" altLang="zh-CN" sz="2800" b="0" dirty="0">
                <a:solidFill>
                  <a:srgbClr val="0000CC"/>
                </a:solidFill>
                <a:latin typeface="Times New Roman" panose="02020603050405020304" pitchFamily="18" charset="0"/>
                <a:cs typeface="Times New Roman" panose="02020603050405020304" pitchFamily="18" charset="0"/>
              </a:rPr>
              <a:t>(2)</a:t>
            </a:r>
            <a:r>
              <a:rPr lang="zh-CN" altLang="en-US" sz="2800" b="0" dirty="0">
                <a:solidFill>
                  <a:srgbClr val="0000CC"/>
                </a:solidFill>
                <a:latin typeface="Times New Roman" panose="02020603050405020304" pitchFamily="18" charset="0"/>
                <a:cs typeface="Times New Roman" panose="02020603050405020304" pitchFamily="18" charset="0"/>
              </a:rPr>
              <a:t>球面距离：</a:t>
            </a:r>
            <a:r>
              <a:rPr lang="zh-CN" altLang="en-US" sz="2800" b="0" dirty="0">
                <a:latin typeface="Times New Roman" panose="02020603050405020304" pitchFamily="18" charset="0"/>
                <a:cs typeface="Times New Roman" panose="02020603050405020304" pitchFamily="18" charset="0"/>
              </a:rPr>
              <a:t>大地测量距离、曼哈顿距离等。</a:t>
            </a:r>
            <a:endParaRPr lang="en-US" altLang="zh-CN" sz="2800" b="0" dirty="0">
              <a:latin typeface="Times New Roman" panose="02020603050405020304" pitchFamily="18" charset="0"/>
              <a:cs typeface="Times New Roman" panose="02020603050405020304" pitchFamily="18" charset="0"/>
            </a:endParaRPr>
          </a:p>
          <a:p>
            <a:pPr eaLnBrk="1" hangingPunct="1">
              <a:spcBef>
                <a:spcPts val="600"/>
              </a:spcBef>
              <a:buClr>
                <a:srgbClr val="0000CC"/>
              </a:buClr>
              <a:buSzTx/>
              <a:buNone/>
            </a:pPr>
            <a:r>
              <a:rPr lang="en-US" altLang="zh-CN" sz="2800" b="0" dirty="0">
                <a:solidFill>
                  <a:srgbClr val="0000CC"/>
                </a:solidFill>
                <a:latin typeface="Times New Roman" panose="02020603050405020304" pitchFamily="18" charset="0"/>
                <a:cs typeface="Times New Roman" panose="02020603050405020304" pitchFamily="18" charset="0"/>
              </a:rPr>
              <a:t>(3)</a:t>
            </a:r>
            <a:r>
              <a:rPr lang="zh-CN" altLang="en-US" sz="2800" b="0" dirty="0">
                <a:solidFill>
                  <a:srgbClr val="0000CC"/>
                </a:solidFill>
                <a:latin typeface="Times New Roman" panose="02020603050405020304" pitchFamily="18" charset="0"/>
                <a:cs typeface="Times New Roman" panose="02020603050405020304" pitchFamily="18" charset="0"/>
              </a:rPr>
              <a:t>具有行业特色的距离定义：</a:t>
            </a:r>
          </a:p>
          <a:p>
            <a:pPr marL="457200" indent="-457200">
              <a:spcBef>
                <a:spcPts val="600"/>
              </a:spcBef>
              <a:buClr>
                <a:srgbClr val="0000CC"/>
              </a:buClr>
              <a:buSzTx/>
              <a:buFont typeface="Wingdings" panose="05000000000000000000" pitchFamily="2" charset="2"/>
              <a:buChar char="Ø"/>
            </a:pPr>
            <a:r>
              <a:rPr lang="zh-CN" altLang="en-US" sz="2800" b="0" dirty="0">
                <a:solidFill>
                  <a:schemeClr val="accent2"/>
                </a:solidFill>
                <a:latin typeface="Times New Roman" panose="02020603050405020304" pitchFamily="18" charset="0"/>
                <a:cs typeface="Times New Roman" panose="02020603050405020304" pitchFamily="18" charset="0"/>
              </a:rPr>
              <a:t>旅游业</a:t>
            </a:r>
            <a:r>
              <a:rPr lang="zh-CN" altLang="en-US" sz="2800" b="0" dirty="0">
                <a:latin typeface="Times New Roman" panose="02020603050405020304" pitchFamily="18" charset="0"/>
                <a:cs typeface="Times New Roman" panose="02020603050405020304" pitchFamily="18" charset="0"/>
              </a:rPr>
              <a:t>：</a:t>
            </a:r>
            <a:r>
              <a:rPr lang="zh-CN" altLang="en-US" sz="2800" b="0" dirty="0">
                <a:solidFill>
                  <a:srgbClr val="0000CC"/>
                </a:solidFill>
                <a:latin typeface="Times New Roman" panose="02020603050405020304" pitchFamily="18" charset="0"/>
                <a:cs typeface="Times New Roman" panose="02020603050405020304" pitchFamily="18" charset="0"/>
              </a:rPr>
              <a:t>旅游时间距离</a:t>
            </a:r>
            <a:r>
              <a:rPr lang="zh-CN" altLang="en-US" sz="2800" b="0" dirty="0">
                <a:latin typeface="Times New Roman" panose="02020603050405020304" pitchFamily="18" charset="0"/>
                <a:cs typeface="Times New Roman" panose="02020603050405020304" pitchFamily="18" charset="0"/>
              </a:rPr>
              <a:t>等；</a:t>
            </a:r>
            <a:endParaRPr lang="en-US" altLang="zh-CN" sz="2800" b="0" dirty="0">
              <a:latin typeface="Times New Roman" panose="02020603050405020304" pitchFamily="18" charset="0"/>
              <a:cs typeface="Times New Roman" panose="02020603050405020304" pitchFamily="18" charset="0"/>
            </a:endParaRPr>
          </a:p>
          <a:p>
            <a:pPr marL="457200" indent="-457200">
              <a:spcBef>
                <a:spcPts val="600"/>
              </a:spcBef>
              <a:buClr>
                <a:srgbClr val="0000CC"/>
              </a:buClr>
              <a:buSzTx/>
              <a:buFont typeface="Wingdings" panose="05000000000000000000" pitchFamily="2" charset="2"/>
              <a:buChar char="Ø"/>
            </a:pPr>
            <a:r>
              <a:rPr lang="zh-CN" altLang="en-US" sz="2800" b="0" dirty="0">
                <a:solidFill>
                  <a:schemeClr val="accent2"/>
                </a:solidFill>
                <a:latin typeface="Times New Roman" panose="02020603050405020304" pitchFamily="18" charset="0"/>
                <a:cs typeface="Times New Roman" panose="02020603050405020304" pitchFamily="18" charset="0"/>
              </a:rPr>
              <a:t>词典：</a:t>
            </a:r>
            <a:r>
              <a:rPr lang="zh-CN" altLang="en-US" sz="2800" b="0" dirty="0">
                <a:solidFill>
                  <a:srgbClr val="0000CC"/>
                </a:solidFill>
                <a:latin typeface="Times New Roman" panose="02020603050405020304" pitchFamily="18" charset="0"/>
                <a:cs typeface="Times New Roman" panose="02020603050405020304" pitchFamily="18" charset="0"/>
              </a:rPr>
              <a:t>编纂距离</a:t>
            </a:r>
            <a:r>
              <a:rPr lang="zh-CN" altLang="en-US" sz="2800" b="0" dirty="0">
                <a:latin typeface="Times New Roman" panose="02020603050405020304" pitchFamily="18" charset="0"/>
                <a:cs typeface="Times New Roman" panose="02020603050405020304" pitchFamily="18" charset="0"/>
              </a:rPr>
              <a:t>等。</a:t>
            </a:r>
          </a:p>
        </p:txBody>
      </p:sp>
    </p:spTree>
    <p:extLst>
      <p:ext uri="{BB962C8B-B14F-4D97-AF65-F5344CB8AC3E}">
        <p14:creationId xmlns:p14="http://schemas.microsoft.com/office/powerpoint/2010/main" val="95751461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303177" y="983632"/>
            <a:ext cx="8518525"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0" dirty="0">
                <a:latin typeface="Times New Roman" panose="02020603050405020304" pitchFamily="18" charset="0"/>
              </a:rPr>
              <a:t>设</a:t>
            </a:r>
            <a:r>
              <a:rPr lang="en-US" altLang="zh-CN" sz="2800" b="0" dirty="0">
                <a:latin typeface="Times New Roman" panose="02020603050405020304" pitchFamily="18" charset="0"/>
              </a:rPr>
              <a:t>A(</a:t>
            </a:r>
            <a:r>
              <a:rPr lang="en-US" altLang="zh-CN" sz="2800" b="0" i="1" dirty="0">
                <a:latin typeface="Times New Roman" panose="02020603050405020304" pitchFamily="18" charset="0"/>
              </a:rPr>
              <a:t>a</a:t>
            </a:r>
            <a:r>
              <a:rPr lang="en-US" altLang="zh-CN" sz="2800" b="0" baseline="-25000" dirty="0">
                <a:latin typeface="Times New Roman" panose="02020603050405020304" pitchFamily="18" charset="0"/>
              </a:rPr>
              <a:t>1</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a</a:t>
            </a:r>
            <a:r>
              <a:rPr lang="en-US" altLang="zh-CN" sz="2800" b="0" baseline="-25000" dirty="0">
                <a:latin typeface="Times New Roman" panose="02020603050405020304" pitchFamily="18" charset="0"/>
              </a:rPr>
              <a:t>2</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a</a:t>
            </a:r>
            <a:r>
              <a:rPr lang="en-US" altLang="zh-CN" sz="2800" b="0" i="1" baseline="-25000" dirty="0">
                <a:latin typeface="Times New Roman" panose="02020603050405020304" pitchFamily="18" charset="0"/>
              </a:rPr>
              <a:t>n</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 </a:t>
            </a:r>
            <a:r>
              <a:rPr lang="en-US" altLang="zh-CN" sz="2800" b="0" dirty="0">
                <a:latin typeface="Times New Roman" panose="02020603050405020304" pitchFamily="18" charset="0"/>
              </a:rPr>
              <a:t>B(</a:t>
            </a:r>
            <a:r>
              <a:rPr lang="en-US" altLang="zh-CN" sz="2800" b="0" i="1" dirty="0">
                <a:latin typeface="Times New Roman" panose="02020603050405020304" pitchFamily="18" charset="0"/>
              </a:rPr>
              <a:t>b</a:t>
            </a:r>
            <a:r>
              <a:rPr lang="en-US" altLang="zh-CN" sz="2800" b="0" baseline="-25000" dirty="0">
                <a:latin typeface="Times New Roman" panose="02020603050405020304" pitchFamily="18" charset="0"/>
              </a:rPr>
              <a:t>1</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b</a:t>
            </a:r>
            <a:r>
              <a:rPr lang="en-US" altLang="zh-CN" sz="2800" b="0" baseline="-25000" dirty="0">
                <a:latin typeface="Times New Roman" panose="02020603050405020304" pitchFamily="18" charset="0"/>
              </a:rPr>
              <a:t>2</a:t>
            </a:r>
            <a:r>
              <a:rPr lang="en-US" altLang="zh-CN" sz="2800" b="0" dirty="0">
                <a:latin typeface="Times New Roman" panose="02020603050405020304" pitchFamily="18" charset="0"/>
              </a:rPr>
              <a:t>,…,</a:t>
            </a:r>
            <a:r>
              <a:rPr lang="en-US" altLang="zh-CN" sz="2800" b="0" i="1" dirty="0" err="1">
                <a:latin typeface="Times New Roman" panose="02020603050405020304" pitchFamily="18" charset="0"/>
              </a:rPr>
              <a:t>b</a:t>
            </a:r>
            <a:r>
              <a:rPr lang="en-US" altLang="zh-CN" sz="2800" b="0" i="1" baseline="-25000" dirty="0" err="1">
                <a:latin typeface="Times New Roman" panose="02020603050405020304" pitchFamily="18" charset="0"/>
              </a:rPr>
              <a:t>n</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为两个对象，其中</a:t>
            </a:r>
            <a:r>
              <a:rPr lang="en-US" altLang="zh-CN" sz="2800" b="0" i="1" dirty="0" err="1">
                <a:latin typeface="Times New Roman" panose="02020603050405020304" pitchFamily="18" charset="0"/>
              </a:rPr>
              <a:t>a</a:t>
            </a:r>
            <a:r>
              <a:rPr lang="en-US" altLang="zh-CN" sz="2800" b="0" i="1" baseline="-25000" dirty="0" err="1">
                <a:latin typeface="Times New Roman" panose="02020603050405020304" pitchFamily="18" charset="0"/>
              </a:rPr>
              <a:t>i</a:t>
            </a:r>
            <a:r>
              <a:rPr lang="zh-CN" altLang="en-US" sz="2800" b="0" dirty="0">
                <a:latin typeface="Times New Roman" panose="02020603050405020304" pitchFamily="18" charset="0"/>
              </a:rPr>
              <a:t>和</a:t>
            </a:r>
            <a:r>
              <a:rPr lang="en-US" altLang="zh-CN" sz="2800" b="0" i="1" dirty="0">
                <a:latin typeface="Times New Roman" panose="02020603050405020304" pitchFamily="18" charset="0"/>
              </a:rPr>
              <a:t>b</a:t>
            </a:r>
            <a:r>
              <a:rPr lang="en-US" altLang="zh-CN" sz="2800" b="0" i="1" baseline="-25000" dirty="0">
                <a:latin typeface="Times New Roman" panose="02020603050405020304" pitchFamily="18" charset="0"/>
              </a:rPr>
              <a:t>i</a:t>
            </a:r>
            <a:r>
              <a:rPr lang="zh-CN" altLang="en-US" sz="2800" b="0" dirty="0">
                <a:latin typeface="Times New Roman" panose="02020603050405020304" pitchFamily="18" charset="0"/>
              </a:rPr>
              <a:t>分别为其相应的属性。 </a:t>
            </a:r>
          </a:p>
        </p:txBody>
      </p:sp>
      <p:sp>
        <p:nvSpPr>
          <p:cNvPr id="22531" name="Text Box 3"/>
          <p:cNvSpPr txBox="1">
            <a:spLocks noChangeArrowheads="1"/>
          </p:cNvSpPr>
          <p:nvPr/>
        </p:nvSpPr>
        <p:spPr bwMode="auto">
          <a:xfrm>
            <a:off x="361261" y="1977297"/>
            <a:ext cx="4538467"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2800" dirty="0">
                <a:solidFill>
                  <a:srgbClr val="0000CC"/>
                </a:solidFill>
                <a:latin typeface="Times New Roman" panose="02020603050405020304" pitchFamily="18" charset="0"/>
              </a:rPr>
              <a:t>A. </a:t>
            </a:r>
            <a:r>
              <a:rPr lang="zh-CN" altLang="en-US" sz="2800" dirty="0">
                <a:solidFill>
                  <a:srgbClr val="0000CC"/>
                </a:solidFill>
                <a:latin typeface="Times New Roman" panose="02020603050405020304" pitchFamily="18" charset="0"/>
              </a:rPr>
              <a:t>欧氏距离</a:t>
            </a:r>
            <a:r>
              <a:rPr lang="en-US" altLang="zh-CN" sz="2400" dirty="0">
                <a:solidFill>
                  <a:srgbClr val="0000CC"/>
                </a:solidFill>
                <a:latin typeface="Times New Roman" panose="02020603050405020304" pitchFamily="18" charset="0"/>
              </a:rPr>
              <a:t>(Euclidean Metric)</a:t>
            </a:r>
            <a:r>
              <a:rPr lang="zh-CN" altLang="en-US" sz="2400" dirty="0">
                <a:solidFill>
                  <a:srgbClr val="0000CC"/>
                </a:solidFill>
                <a:latin typeface="Times New Roman" panose="02020603050405020304" pitchFamily="18" charset="0"/>
              </a:rPr>
              <a:t>：</a:t>
            </a:r>
            <a:endParaRPr lang="zh-CN" altLang="en-US" sz="2800" dirty="0">
              <a:solidFill>
                <a:srgbClr val="0000CC"/>
              </a:solidFill>
              <a:latin typeface="Times New Roman" panose="02020603050405020304" pitchFamily="18" charset="0"/>
            </a:endParaRPr>
          </a:p>
        </p:txBody>
      </p:sp>
      <p:sp>
        <p:nvSpPr>
          <p:cNvPr id="22532" name="Rectangle 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22535" name="Rectangle 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27</a:t>
            </a:fld>
            <a:endParaRPr lang="en-US" altLang="zh-CN"/>
          </a:p>
        </p:txBody>
      </p:sp>
      <p:sp>
        <p:nvSpPr>
          <p:cNvPr id="15" name="Text Box 2"/>
          <p:cNvSpPr txBox="1">
            <a:spLocks noChangeArrowheads="1"/>
          </p:cNvSpPr>
          <p:nvPr/>
        </p:nvSpPr>
        <p:spPr bwMode="auto">
          <a:xfrm>
            <a:off x="179513" y="188640"/>
            <a:ext cx="504056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dirty="0">
                <a:solidFill>
                  <a:srgbClr val="FFFF00"/>
                </a:solidFill>
                <a:latin typeface="Times New Roman" panose="02020603050405020304" pitchFamily="18" charset="0"/>
              </a:rPr>
              <a:t>(1)</a:t>
            </a:r>
            <a:r>
              <a:rPr lang="zh-CN" altLang="en-US" dirty="0">
                <a:solidFill>
                  <a:srgbClr val="FFFF00"/>
                </a:solidFill>
                <a:latin typeface="Times New Roman" panose="02020603050405020304" pitchFamily="18" charset="0"/>
              </a:rPr>
              <a:t>平面中两点之间的距离</a:t>
            </a:r>
            <a:endParaRPr lang="zh-CN" altLang="en-US" b="0" dirty="0">
              <a:latin typeface="Times New Roman" panose="02020603050405020304" pitchFamily="18" charset="0"/>
            </a:endParaRPr>
          </a:p>
        </p:txBody>
      </p:sp>
      <p:graphicFrame>
        <p:nvGraphicFramePr>
          <p:cNvPr id="16" name="Object 4"/>
          <p:cNvGraphicFramePr>
            <a:graphicFrameLocks noChangeAspect="1"/>
          </p:cNvGraphicFramePr>
          <p:nvPr>
            <p:extLst>
              <p:ext uri="{D42A27DB-BD31-4B8C-83A1-F6EECF244321}">
                <p14:modId xmlns:p14="http://schemas.microsoft.com/office/powerpoint/2010/main" val="815537575"/>
              </p:ext>
            </p:extLst>
          </p:nvPr>
        </p:nvGraphicFramePr>
        <p:xfrm>
          <a:off x="4899729" y="1876821"/>
          <a:ext cx="3468513" cy="809205"/>
        </p:xfrm>
        <a:graphic>
          <a:graphicData uri="http://schemas.openxmlformats.org/presentationml/2006/ole">
            <mc:AlternateContent xmlns:mc="http://schemas.openxmlformats.org/markup-compatibility/2006">
              <mc:Choice xmlns:v="urn:schemas-microsoft-com:vml" Requires="v">
                <p:oleObj spid="_x0000_s19524" r:id="rId3" imgW="1733443" imgH="409590" progId="Equation.DSMT4">
                  <p:embed/>
                </p:oleObj>
              </mc:Choice>
              <mc:Fallback>
                <p:oleObj r:id="rId3" imgW="1733443" imgH="409590" progId="Equation.DSMT4">
                  <p:embed/>
                  <p:pic>
                    <p:nvPicPr>
                      <p:cNvPr id="1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9729" y="1876821"/>
                        <a:ext cx="3468513" cy="809205"/>
                      </a:xfrm>
                      <a:prstGeom prst="rect">
                        <a:avLst/>
                      </a:prstGeom>
                      <a:solidFill>
                        <a:srgbClr val="0000CC"/>
                      </a:solidFill>
                      <a:ln>
                        <a:noFill/>
                      </a:ln>
                    </p:spPr>
                  </p:pic>
                </p:oleObj>
              </mc:Fallback>
            </mc:AlternateContent>
          </a:graphicData>
        </a:graphic>
      </p:graphicFrame>
      <p:sp>
        <p:nvSpPr>
          <p:cNvPr id="11" name="Text Box 2"/>
          <p:cNvSpPr txBox="1">
            <a:spLocks noChangeArrowheads="1"/>
          </p:cNvSpPr>
          <p:nvPr/>
        </p:nvSpPr>
        <p:spPr bwMode="auto">
          <a:xfrm>
            <a:off x="5220073" y="170370"/>
            <a:ext cx="3779911"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None/>
            </a:pPr>
            <a:r>
              <a:rPr lang="en-US" altLang="zh-CN" dirty="0">
                <a:solidFill>
                  <a:schemeClr val="bg1"/>
                </a:solidFill>
                <a:latin typeface="Times New Roman" panose="02020603050405020304" pitchFamily="18" charset="0"/>
              </a:rPr>
              <a:t>1.</a:t>
            </a:r>
            <a:r>
              <a:rPr lang="zh-CN" altLang="en-US" dirty="0">
                <a:solidFill>
                  <a:schemeClr val="bg1"/>
                </a:solidFill>
                <a:latin typeface="Times New Roman" panose="02020603050405020304" pitchFamily="18" charset="0"/>
              </a:rPr>
              <a:t>度量空间关系描述</a:t>
            </a:r>
          </a:p>
        </p:txBody>
      </p:sp>
      <p:sp>
        <p:nvSpPr>
          <p:cNvPr id="12" name="Text Box 2"/>
          <p:cNvSpPr txBox="1">
            <a:spLocks noChangeArrowheads="1"/>
          </p:cNvSpPr>
          <p:nvPr/>
        </p:nvSpPr>
        <p:spPr bwMode="auto">
          <a:xfrm>
            <a:off x="393485" y="2808307"/>
            <a:ext cx="875051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2800" dirty="0">
                <a:solidFill>
                  <a:srgbClr val="0000CC"/>
                </a:solidFill>
                <a:latin typeface="Times New Roman" panose="02020603050405020304" pitchFamily="18" charset="0"/>
              </a:rPr>
              <a:t>B.</a:t>
            </a:r>
            <a:r>
              <a:rPr lang="zh-CN" altLang="en-US" sz="2800" dirty="0">
                <a:solidFill>
                  <a:srgbClr val="0000CC"/>
                </a:solidFill>
                <a:latin typeface="Times New Roman" panose="02020603050405020304" pitchFamily="18" charset="0"/>
              </a:rPr>
              <a:t>切氏距离 </a:t>
            </a:r>
            <a:r>
              <a:rPr lang="en-US" altLang="zh-CN" sz="2800" dirty="0">
                <a:solidFill>
                  <a:srgbClr val="0000CC"/>
                </a:solidFill>
                <a:latin typeface="Times New Roman" panose="02020603050405020304" pitchFamily="18" charset="0"/>
              </a:rPr>
              <a:t>(</a:t>
            </a:r>
            <a:r>
              <a:rPr lang="zh-CN" altLang="en-US" sz="2800" dirty="0">
                <a:solidFill>
                  <a:srgbClr val="0000CC"/>
                </a:solidFill>
                <a:latin typeface="Times New Roman" panose="02020603050405020304" pitchFamily="18" charset="0"/>
              </a:rPr>
              <a:t>切比雪夫距离 </a:t>
            </a:r>
            <a:r>
              <a:rPr lang="en-US" altLang="zh-CN" sz="2800" dirty="0" err="1">
                <a:solidFill>
                  <a:srgbClr val="0000CC"/>
                </a:solidFill>
                <a:latin typeface="Times New Roman" panose="02020603050405020304" pitchFamily="18" charset="0"/>
              </a:rPr>
              <a:t>Chebyshev</a:t>
            </a:r>
            <a:r>
              <a:rPr lang="en-US" altLang="zh-CN" sz="2800" dirty="0">
                <a:solidFill>
                  <a:srgbClr val="0000CC"/>
                </a:solidFill>
                <a:latin typeface="Times New Roman" panose="02020603050405020304" pitchFamily="18" charset="0"/>
              </a:rPr>
              <a:t> Distance):</a:t>
            </a:r>
          </a:p>
        </p:txBody>
      </p:sp>
      <p:graphicFrame>
        <p:nvGraphicFramePr>
          <p:cNvPr id="13" name="Object 3"/>
          <p:cNvGraphicFramePr>
            <a:graphicFrameLocks noChangeAspect="1"/>
          </p:cNvGraphicFramePr>
          <p:nvPr>
            <p:extLst/>
          </p:nvPr>
        </p:nvGraphicFramePr>
        <p:xfrm>
          <a:off x="2267744" y="3309622"/>
          <a:ext cx="2952329" cy="615068"/>
        </p:xfrm>
        <a:graphic>
          <a:graphicData uri="http://schemas.openxmlformats.org/presentationml/2006/ole">
            <mc:AlternateContent xmlns:mc="http://schemas.openxmlformats.org/markup-compatibility/2006">
              <mc:Choice xmlns:v="urn:schemas-microsoft-com:vml" Requires="v">
                <p:oleObj spid="_x0000_s19525" r:id="rId5" imgW="1124023" imgH="218970" progId="Equation.DSMT4">
                  <p:embed/>
                </p:oleObj>
              </mc:Choice>
              <mc:Fallback>
                <p:oleObj r:id="rId5" imgW="1124023" imgH="218970" progId="Equation.DSMT4">
                  <p:embed/>
                  <p:pic>
                    <p:nvPicPr>
                      <p:cNvPr id="1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7744" y="3309622"/>
                        <a:ext cx="2952329" cy="615068"/>
                      </a:xfrm>
                      <a:prstGeom prst="rect">
                        <a:avLst/>
                      </a:prstGeom>
                      <a:solidFill>
                        <a:srgbClr val="0000CC"/>
                      </a:solidFill>
                      <a:ln>
                        <a:noFill/>
                      </a:ln>
                    </p:spPr>
                  </p:pic>
                </p:oleObj>
              </mc:Fallback>
            </mc:AlternateContent>
          </a:graphicData>
        </a:graphic>
      </p:graphicFrame>
      <p:sp>
        <p:nvSpPr>
          <p:cNvPr id="14" name="Text Box 9"/>
          <p:cNvSpPr txBox="1">
            <a:spLocks noChangeArrowheads="1"/>
          </p:cNvSpPr>
          <p:nvPr/>
        </p:nvSpPr>
        <p:spPr bwMode="auto">
          <a:xfrm>
            <a:off x="393485" y="3970842"/>
            <a:ext cx="7974757"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2800" dirty="0">
                <a:solidFill>
                  <a:srgbClr val="0000CC"/>
                </a:solidFill>
                <a:latin typeface="Times New Roman" panose="02020603050405020304" pitchFamily="18" charset="0"/>
              </a:rPr>
              <a:t>C.</a:t>
            </a:r>
            <a:r>
              <a:rPr lang="zh-CN" altLang="en-US" sz="2800" dirty="0">
                <a:solidFill>
                  <a:srgbClr val="0000CC"/>
                </a:solidFill>
                <a:latin typeface="Times New Roman" panose="02020603050405020304" pitchFamily="18" charset="0"/>
              </a:rPr>
              <a:t>马氏距离</a:t>
            </a:r>
            <a:r>
              <a:rPr lang="en-US" altLang="zh-CN" sz="2800" dirty="0">
                <a:solidFill>
                  <a:srgbClr val="0000CC"/>
                </a:solidFill>
                <a:latin typeface="Times New Roman" panose="02020603050405020304" pitchFamily="18" charset="0"/>
              </a:rPr>
              <a:t>(</a:t>
            </a:r>
            <a:r>
              <a:rPr lang="en-US" altLang="zh-CN" sz="2800" dirty="0" err="1">
                <a:solidFill>
                  <a:srgbClr val="0000CC"/>
                </a:solidFill>
                <a:latin typeface="Times New Roman" panose="02020603050405020304" pitchFamily="18" charset="0"/>
              </a:rPr>
              <a:t>Mahalanobis</a:t>
            </a:r>
            <a:r>
              <a:rPr lang="en-US" altLang="zh-CN" sz="2800" dirty="0">
                <a:solidFill>
                  <a:srgbClr val="0000CC"/>
                </a:solidFill>
                <a:latin typeface="Times New Roman" panose="02020603050405020304" pitchFamily="18" charset="0"/>
              </a:rPr>
              <a:t> Distance)</a:t>
            </a:r>
            <a:r>
              <a:rPr lang="zh-CN" altLang="en-US" sz="2800" dirty="0">
                <a:solidFill>
                  <a:srgbClr val="0000CC"/>
                </a:solidFill>
                <a:latin typeface="Times New Roman" panose="02020603050405020304" pitchFamily="18" charset="0"/>
              </a:rPr>
              <a:t>距离：</a:t>
            </a:r>
          </a:p>
        </p:txBody>
      </p:sp>
      <p:graphicFrame>
        <p:nvGraphicFramePr>
          <p:cNvPr id="17" name="Object 10"/>
          <p:cNvGraphicFramePr>
            <a:graphicFrameLocks noChangeAspect="1"/>
          </p:cNvGraphicFramePr>
          <p:nvPr>
            <p:extLst/>
          </p:nvPr>
        </p:nvGraphicFramePr>
        <p:xfrm>
          <a:off x="1223628" y="4467869"/>
          <a:ext cx="1634695" cy="650455"/>
        </p:xfrm>
        <a:graphic>
          <a:graphicData uri="http://schemas.openxmlformats.org/presentationml/2006/ole">
            <mc:AlternateContent xmlns:mc="http://schemas.openxmlformats.org/markup-compatibility/2006">
              <mc:Choice xmlns:v="urn:schemas-microsoft-com:vml" Requires="v">
                <p:oleObj spid="_x0000_s19526" r:id="rId7" imgW="1057300" imgH="409590" progId="Equation.DSMT4">
                  <p:embed/>
                </p:oleObj>
              </mc:Choice>
              <mc:Fallback>
                <p:oleObj r:id="rId7" imgW="1057300" imgH="409590" progId="Equation.DSMT4">
                  <p:embed/>
                  <p:pic>
                    <p:nvPicPr>
                      <p:cNvPr id="17"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3628" y="4467869"/>
                        <a:ext cx="1634695" cy="650455"/>
                      </a:xfrm>
                      <a:prstGeom prst="rect">
                        <a:avLst/>
                      </a:prstGeom>
                      <a:solidFill>
                        <a:srgbClr val="0000CC"/>
                      </a:solidFill>
                      <a:ln>
                        <a:noFill/>
                      </a:ln>
                    </p:spPr>
                  </p:pic>
                </p:oleObj>
              </mc:Fallback>
            </mc:AlternateContent>
          </a:graphicData>
        </a:graphic>
      </p:graphicFrame>
      <p:graphicFrame>
        <p:nvGraphicFramePr>
          <p:cNvPr id="18" name="Object 13"/>
          <p:cNvGraphicFramePr>
            <a:graphicFrameLocks noChangeAspect="1"/>
          </p:cNvGraphicFramePr>
          <p:nvPr>
            <p:extLst/>
          </p:nvPr>
        </p:nvGraphicFramePr>
        <p:xfrm>
          <a:off x="3627987" y="4497447"/>
          <a:ext cx="4465522" cy="546617"/>
        </p:xfrm>
        <a:graphic>
          <a:graphicData uri="http://schemas.openxmlformats.org/presentationml/2006/ole">
            <mc:AlternateContent xmlns:mc="http://schemas.openxmlformats.org/markup-compatibility/2006">
              <mc:Choice xmlns:v="urn:schemas-microsoft-com:vml" Requires="v">
                <p:oleObj spid="_x0000_s19527" name="公式" r:id="rId9" imgW="1771532" imgH="200070" progId="Equation.3">
                  <p:embed/>
                </p:oleObj>
              </mc:Choice>
              <mc:Fallback>
                <p:oleObj name="公式" r:id="rId9" imgW="1771532" imgH="200070" progId="Equation.3">
                  <p:embed/>
                  <p:pic>
                    <p:nvPicPr>
                      <p:cNvPr id="18"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27987" y="4497447"/>
                        <a:ext cx="4465522" cy="546617"/>
                      </a:xfrm>
                      <a:prstGeom prst="rect">
                        <a:avLst/>
                      </a:prstGeom>
                      <a:solidFill>
                        <a:srgbClr val="0000CC"/>
                      </a:solidFill>
                      <a:ln>
                        <a:noFill/>
                      </a:ln>
                    </p:spPr>
                  </p:pic>
                </p:oleObj>
              </mc:Fallback>
            </mc:AlternateContent>
          </a:graphicData>
        </a:graphic>
      </p:graphicFrame>
      <p:pic>
        <p:nvPicPr>
          <p:cNvPr id="19" name="Picture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69044" y="5093615"/>
            <a:ext cx="1392364" cy="1378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2"/>
          <p:cNvSpPr txBox="1">
            <a:spLocks noChangeArrowheads="1"/>
          </p:cNvSpPr>
          <p:nvPr/>
        </p:nvSpPr>
        <p:spPr bwMode="auto">
          <a:xfrm>
            <a:off x="475158" y="5146162"/>
            <a:ext cx="631328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zh-CN" altLang="en-US" sz="2800" dirty="0">
                <a:solidFill>
                  <a:srgbClr val="0000CC"/>
                </a:solidFill>
                <a:latin typeface="Times New Roman" panose="02020603050405020304" pitchFamily="18" charset="0"/>
              </a:rPr>
              <a:t>曼哈顿距离</a:t>
            </a:r>
            <a:r>
              <a:rPr lang="en-US" altLang="zh-CN" sz="1600" dirty="0">
                <a:solidFill>
                  <a:srgbClr val="0000CC"/>
                </a:solidFill>
                <a:latin typeface="Times New Roman" panose="02020603050405020304" pitchFamily="18" charset="0"/>
              </a:rPr>
              <a:t>(Manhattan)</a:t>
            </a:r>
            <a:r>
              <a:rPr lang="zh-CN" altLang="en-US" sz="2800" dirty="0">
                <a:solidFill>
                  <a:srgbClr val="0000CC"/>
                </a:solidFill>
                <a:latin typeface="Times New Roman" panose="02020603050405020304" pitchFamily="18" charset="0"/>
              </a:rPr>
              <a:t>：</a:t>
            </a:r>
            <a:r>
              <a:rPr lang="zh-CN" altLang="en-US" sz="2800" b="0" dirty="0">
                <a:latin typeface="Times New Roman" panose="02020603050405020304" pitchFamily="18" charset="0"/>
              </a:rPr>
              <a:t>纬度差加上经度差。 </a:t>
            </a:r>
          </a:p>
        </p:txBody>
      </p:sp>
      <p:sp>
        <p:nvSpPr>
          <p:cNvPr id="21" name="Text Box 2"/>
          <p:cNvSpPr txBox="1">
            <a:spLocks noChangeArrowheads="1"/>
          </p:cNvSpPr>
          <p:nvPr/>
        </p:nvSpPr>
        <p:spPr bwMode="auto">
          <a:xfrm>
            <a:off x="454757" y="5647572"/>
            <a:ext cx="5348944"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2800" dirty="0">
                <a:solidFill>
                  <a:srgbClr val="0000CC"/>
                </a:solidFill>
                <a:latin typeface="Times New Roman" panose="02020603050405020304" pitchFamily="18" charset="0"/>
              </a:rPr>
              <a:t>D. </a:t>
            </a:r>
            <a:r>
              <a:rPr lang="zh-CN" altLang="en-US" sz="2800" dirty="0">
                <a:solidFill>
                  <a:srgbClr val="0000CC"/>
                </a:solidFill>
                <a:latin typeface="Times New Roman" panose="02020603050405020304" pitchFamily="18" charset="0"/>
              </a:rPr>
              <a:t>闵氏距离</a:t>
            </a:r>
            <a:r>
              <a:rPr lang="en-US" altLang="zh-CN" sz="2400" dirty="0">
                <a:solidFill>
                  <a:srgbClr val="0000CC"/>
                </a:solidFill>
                <a:latin typeface="Times New Roman" panose="02020603050405020304" pitchFamily="18" charset="0"/>
              </a:rPr>
              <a:t>(</a:t>
            </a:r>
            <a:r>
              <a:rPr lang="en-US" altLang="zh-CN" sz="2400" dirty="0" err="1">
                <a:solidFill>
                  <a:srgbClr val="0000CC"/>
                </a:solidFill>
                <a:latin typeface="Times New Roman" panose="02020603050405020304" pitchFamily="18" charset="0"/>
              </a:rPr>
              <a:t>Minkowski</a:t>
            </a:r>
            <a:r>
              <a:rPr lang="en-US" altLang="zh-CN" sz="2400" dirty="0">
                <a:solidFill>
                  <a:srgbClr val="0000CC"/>
                </a:solidFill>
                <a:latin typeface="Times New Roman" panose="02020603050405020304" pitchFamily="18" charset="0"/>
              </a:rPr>
              <a:t> Distance)</a:t>
            </a:r>
            <a:r>
              <a:rPr lang="zh-CN" altLang="en-US" dirty="0">
                <a:solidFill>
                  <a:srgbClr val="0000CC"/>
                </a:solidFill>
                <a:latin typeface="Times New Roman" panose="02020603050405020304" pitchFamily="18" charset="0"/>
              </a:rPr>
              <a:t>：</a:t>
            </a:r>
          </a:p>
        </p:txBody>
      </p:sp>
      <p:graphicFrame>
        <p:nvGraphicFramePr>
          <p:cNvPr id="22" name="Object 8"/>
          <p:cNvGraphicFramePr>
            <a:graphicFrameLocks noGrp="1" noChangeAspect="1"/>
          </p:cNvGraphicFramePr>
          <p:nvPr>
            <p:ph/>
            <p:extLst/>
          </p:nvPr>
        </p:nvGraphicFramePr>
        <p:xfrm>
          <a:off x="847167" y="6036534"/>
          <a:ext cx="2827644" cy="762886"/>
        </p:xfrm>
        <a:graphic>
          <a:graphicData uri="http://schemas.openxmlformats.org/presentationml/2006/ole">
            <mc:AlternateContent xmlns:mc="http://schemas.openxmlformats.org/markup-compatibility/2006">
              <mc:Choice xmlns:v="urn:schemas-microsoft-com:vml" Requires="v">
                <p:oleObj spid="_x0000_s19528" name="Equation" r:id="rId12" imgW="1600200" imgH="431640" progId="Equation.DSMT4">
                  <p:embed/>
                </p:oleObj>
              </mc:Choice>
              <mc:Fallback>
                <p:oleObj name="Equation" r:id="rId12" imgW="1600200" imgH="431640" progId="Equation.DSMT4">
                  <p:embed/>
                  <p:pic>
                    <p:nvPicPr>
                      <p:cNvPr id="22" name="Object 8"/>
                      <p:cNvPicPr>
                        <a:picLocks noGrp="1" noChangeAspect="1" noChangeArrowheads="1"/>
                      </p:cNvPicPr>
                      <p:nvPr/>
                    </p:nvPicPr>
                    <p:blipFill>
                      <a:blip r:embed="rId13"/>
                      <a:srcRect/>
                      <a:stretch>
                        <a:fillRect/>
                      </a:stretch>
                    </p:blipFill>
                    <p:spPr bwMode="auto">
                      <a:xfrm>
                        <a:off x="847167" y="6036534"/>
                        <a:ext cx="2827644" cy="762886"/>
                      </a:xfrm>
                      <a:prstGeom prst="rect">
                        <a:avLst/>
                      </a:prstGeom>
                      <a:solidFill>
                        <a:schemeClr val="bg1"/>
                      </a:solidFill>
                      <a:ln>
                        <a:noFill/>
                      </a:ln>
                    </p:spPr>
                  </p:pic>
                </p:oleObj>
              </mc:Fallback>
            </mc:AlternateContent>
          </a:graphicData>
        </a:graphic>
      </p:graphicFrame>
      <p:graphicFrame>
        <p:nvGraphicFramePr>
          <p:cNvPr id="23" name="Object 6"/>
          <p:cNvGraphicFramePr>
            <a:graphicFrameLocks noChangeAspect="1"/>
          </p:cNvGraphicFramePr>
          <p:nvPr>
            <p:extLst/>
          </p:nvPr>
        </p:nvGraphicFramePr>
        <p:xfrm>
          <a:off x="3793860" y="6305801"/>
          <a:ext cx="3316168" cy="332395"/>
        </p:xfrm>
        <a:graphic>
          <a:graphicData uri="http://schemas.openxmlformats.org/presentationml/2006/ole">
            <mc:AlternateContent xmlns:mc="http://schemas.openxmlformats.org/markup-compatibility/2006">
              <mc:Choice xmlns:v="urn:schemas-microsoft-com:vml" Requires="v">
                <p:oleObj spid="_x0000_s19529" name="公式" r:id="rId14" imgW="2295590" imgH="209520" progId="Equation.3">
                  <p:embed/>
                </p:oleObj>
              </mc:Choice>
              <mc:Fallback>
                <p:oleObj name="公式" r:id="rId14" imgW="2295590" imgH="209520" progId="Equation.3">
                  <p:embed/>
                  <p:pic>
                    <p:nvPicPr>
                      <p:cNvPr id="23"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93860" y="6305801"/>
                        <a:ext cx="3316168" cy="332395"/>
                      </a:xfrm>
                      <a:prstGeom prst="rect">
                        <a:avLst/>
                      </a:prstGeom>
                      <a:solidFill>
                        <a:srgbClr val="0000CC"/>
                      </a:solidFill>
                      <a:ln>
                        <a:noFill/>
                      </a:ln>
                    </p:spPr>
                  </p:pic>
                </p:oleObj>
              </mc:Fallback>
            </mc:AlternateContent>
          </a:graphicData>
        </a:graphic>
      </p:graphicFrame>
    </p:spTree>
    <p:extLst>
      <p:ext uri="{BB962C8B-B14F-4D97-AF65-F5344CB8AC3E}">
        <p14:creationId xmlns:p14="http://schemas.microsoft.com/office/powerpoint/2010/main" val="42020304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0" grpId="0"/>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3055857"/>
            <a:ext cx="3384376" cy="33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 Box 10"/>
          <p:cNvSpPr txBox="1">
            <a:spLocks noChangeArrowheads="1"/>
          </p:cNvSpPr>
          <p:nvPr/>
        </p:nvSpPr>
        <p:spPr bwMode="auto">
          <a:xfrm>
            <a:off x="491852" y="2003864"/>
            <a:ext cx="7550423"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b="0" dirty="0">
                <a:solidFill>
                  <a:srgbClr val="0000CC"/>
                </a:solidFill>
                <a:latin typeface="Times New Roman" panose="02020603050405020304" pitchFamily="18" charset="0"/>
              </a:rPr>
              <a:t>大圆：</a:t>
            </a:r>
            <a:r>
              <a:rPr lang="zh-CN" altLang="en-US" b="0" dirty="0">
                <a:latin typeface="Times New Roman" panose="02020603050405020304" pitchFamily="18" charset="0"/>
              </a:rPr>
              <a:t>地球表面二点与球心构成的平面构成的大圆圈。</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28</a:t>
            </a:fld>
            <a:endParaRPr lang="en-US" altLang="zh-CN"/>
          </a:p>
        </p:txBody>
      </p:sp>
      <p:sp>
        <p:nvSpPr>
          <p:cNvPr id="7" name="Text Box 2"/>
          <p:cNvSpPr txBox="1">
            <a:spLocks noChangeArrowheads="1"/>
          </p:cNvSpPr>
          <p:nvPr/>
        </p:nvSpPr>
        <p:spPr bwMode="auto">
          <a:xfrm>
            <a:off x="333945" y="150169"/>
            <a:ext cx="322994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3600" dirty="0">
                <a:solidFill>
                  <a:srgbClr val="FFFF00"/>
                </a:solidFill>
                <a:latin typeface="Times New Roman" panose="02020603050405020304" pitchFamily="18" charset="0"/>
              </a:rPr>
              <a:t>(2)</a:t>
            </a:r>
            <a:r>
              <a:rPr lang="zh-CN" altLang="en-US" sz="3600" dirty="0">
                <a:solidFill>
                  <a:srgbClr val="FFFF00"/>
                </a:solidFill>
                <a:latin typeface="Times New Roman" panose="02020603050405020304" pitchFamily="18" charset="0"/>
              </a:rPr>
              <a:t>球面距离</a:t>
            </a:r>
            <a:endParaRPr lang="zh-CN" altLang="en-US" sz="3600" dirty="0">
              <a:latin typeface="Times New Roman" panose="02020603050405020304" pitchFamily="18" charset="0"/>
            </a:endParaRPr>
          </a:p>
        </p:txBody>
      </p:sp>
      <p:sp>
        <p:nvSpPr>
          <p:cNvPr id="8" name="Text Box 2"/>
          <p:cNvSpPr txBox="1">
            <a:spLocks noChangeArrowheads="1"/>
          </p:cNvSpPr>
          <p:nvPr/>
        </p:nvSpPr>
        <p:spPr bwMode="auto">
          <a:xfrm>
            <a:off x="5220073" y="170370"/>
            <a:ext cx="3779911"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None/>
            </a:pPr>
            <a:r>
              <a:rPr lang="en-US" altLang="zh-CN" dirty="0">
                <a:solidFill>
                  <a:schemeClr val="bg1"/>
                </a:solidFill>
                <a:latin typeface="Times New Roman" panose="02020603050405020304" pitchFamily="18" charset="0"/>
              </a:rPr>
              <a:t>1.</a:t>
            </a:r>
            <a:r>
              <a:rPr lang="zh-CN" altLang="en-US" dirty="0">
                <a:solidFill>
                  <a:schemeClr val="bg1"/>
                </a:solidFill>
                <a:latin typeface="Times New Roman" panose="02020603050405020304" pitchFamily="18" charset="0"/>
              </a:rPr>
              <a:t>度量空间关系描述</a:t>
            </a:r>
          </a:p>
        </p:txBody>
      </p:sp>
      <p:sp>
        <p:nvSpPr>
          <p:cNvPr id="9" name="Text Box 3"/>
          <p:cNvSpPr txBox="1">
            <a:spLocks noChangeArrowheads="1"/>
          </p:cNvSpPr>
          <p:nvPr/>
        </p:nvSpPr>
        <p:spPr bwMode="auto">
          <a:xfrm>
            <a:off x="333945" y="1344880"/>
            <a:ext cx="863054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ClrTx/>
              <a:buSzTx/>
              <a:buFont typeface="Wingdings" panose="05000000000000000000" pitchFamily="2" charset="2"/>
              <a:buChar char="n"/>
            </a:pPr>
            <a:r>
              <a:rPr lang="zh-CN" altLang="en-US" dirty="0">
                <a:solidFill>
                  <a:srgbClr val="0000CC"/>
                </a:solidFill>
                <a:latin typeface="Times New Roman" panose="02020603050405020304" pitchFamily="18" charset="0"/>
              </a:rPr>
              <a:t>大地测量距离</a:t>
            </a:r>
            <a:r>
              <a:rPr lang="zh-CN" altLang="en-US" b="0" dirty="0">
                <a:solidFill>
                  <a:srgbClr val="0000CC"/>
                </a:solidFill>
                <a:latin typeface="Times New Roman" panose="02020603050405020304" pitchFamily="18" charset="0"/>
              </a:rPr>
              <a:t>：</a:t>
            </a:r>
            <a:r>
              <a:rPr lang="zh-CN" altLang="en-US" b="0" dirty="0">
                <a:latin typeface="Times New Roman" panose="02020603050405020304" pitchFamily="18" charset="0"/>
              </a:rPr>
              <a:t>球面上两点间的大圆距离。</a:t>
            </a:r>
          </a:p>
        </p:txBody>
      </p:sp>
    </p:spTree>
    <p:extLst>
      <p:ext uri="{BB962C8B-B14F-4D97-AF65-F5344CB8AC3E}">
        <p14:creationId xmlns:p14="http://schemas.microsoft.com/office/powerpoint/2010/main" val="222124166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29</a:t>
            </a:fld>
            <a:endParaRPr lang="en-US" altLang="zh-CN"/>
          </a:p>
        </p:txBody>
      </p:sp>
      <p:sp>
        <p:nvSpPr>
          <p:cNvPr id="3" name="Text Box 2"/>
          <p:cNvSpPr txBox="1">
            <a:spLocks noChangeArrowheads="1"/>
          </p:cNvSpPr>
          <p:nvPr/>
        </p:nvSpPr>
        <p:spPr bwMode="auto">
          <a:xfrm>
            <a:off x="333945" y="150169"/>
            <a:ext cx="322994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3600" dirty="0">
                <a:solidFill>
                  <a:srgbClr val="FFFF00"/>
                </a:solidFill>
                <a:latin typeface="Times New Roman" panose="02020603050405020304" pitchFamily="18" charset="0"/>
              </a:rPr>
              <a:t>(2)</a:t>
            </a:r>
            <a:r>
              <a:rPr lang="zh-CN" altLang="en-US" sz="3600" dirty="0">
                <a:solidFill>
                  <a:srgbClr val="FFFF00"/>
                </a:solidFill>
                <a:latin typeface="Times New Roman" panose="02020603050405020304" pitchFamily="18" charset="0"/>
              </a:rPr>
              <a:t>球面距离</a:t>
            </a:r>
            <a:endParaRPr lang="zh-CN" altLang="en-US" sz="3600" dirty="0">
              <a:latin typeface="Times New Roman" panose="02020603050405020304" pitchFamily="18" charset="0"/>
            </a:endParaRPr>
          </a:p>
        </p:txBody>
      </p:sp>
      <p:sp>
        <p:nvSpPr>
          <p:cNvPr id="4" name="Text Box 2"/>
          <p:cNvSpPr txBox="1">
            <a:spLocks noChangeArrowheads="1"/>
          </p:cNvSpPr>
          <p:nvPr/>
        </p:nvSpPr>
        <p:spPr bwMode="auto">
          <a:xfrm>
            <a:off x="5220073" y="170370"/>
            <a:ext cx="3779911"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None/>
            </a:pPr>
            <a:r>
              <a:rPr lang="en-US" altLang="zh-CN" dirty="0">
                <a:solidFill>
                  <a:schemeClr val="bg1"/>
                </a:solidFill>
                <a:latin typeface="Times New Roman" panose="02020603050405020304" pitchFamily="18" charset="0"/>
              </a:rPr>
              <a:t>1.</a:t>
            </a:r>
            <a:r>
              <a:rPr lang="zh-CN" altLang="en-US" dirty="0">
                <a:solidFill>
                  <a:schemeClr val="bg1"/>
                </a:solidFill>
                <a:latin typeface="Times New Roman" panose="02020603050405020304" pitchFamily="18" charset="0"/>
              </a:rPr>
              <a:t>度量空间关系描述</a:t>
            </a:r>
          </a:p>
        </p:txBody>
      </p:sp>
      <p:sp>
        <p:nvSpPr>
          <p:cNvPr id="5" name="Text Box 3"/>
          <p:cNvSpPr txBox="1">
            <a:spLocks noChangeArrowheads="1"/>
          </p:cNvSpPr>
          <p:nvPr/>
        </p:nvSpPr>
        <p:spPr bwMode="auto">
          <a:xfrm>
            <a:off x="333945" y="1344880"/>
            <a:ext cx="8630542"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ClrTx/>
              <a:buSzTx/>
              <a:buFont typeface="Wingdings" panose="05000000000000000000" pitchFamily="2" charset="2"/>
              <a:buChar char="n"/>
            </a:pPr>
            <a:r>
              <a:rPr lang="zh-CN" altLang="en-US" dirty="0">
                <a:solidFill>
                  <a:srgbClr val="0000CC"/>
                </a:solidFill>
                <a:latin typeface="Times New Roman" panose="02020603050405020304" pitchFamily="18" charset="0"/>
              </a:rPr>
              <a:t>曼哈顿距离</a:t>
            </a:r>
            <a:r>
              <a:rPr lang="en-US" altLang="zh-CN" dirty="0">
                <a:solidFill>
                  <a:srgbClr val="0000CC"/>
                </a:solidFill>
                <a:latin typeface="Times New Roman" panose="02020603050405020304" pitchFamily="18" charset="0"/>
              </a:rPr>
              <a:t>(Manhattan Distance)</a:t>
            </a:r>
            <a:r>
              <a:rPr lang="zh-CN" altLang="en-US" b="0" dirty="0">
                <a:solidFill>
                  <a:srgbClr val="0000CC"/>
                </a:solidFill>
                <a:latin typeface="Times New Roman" panose="02020603050405020304" pitchFamily="18" charset="0"/>
              </a:rPr>
              <a:t>：</a:t>
            </a:r>
            <a:endParaRPr lang="en-US" altLang="zh-CN" b="0" dirty="0">
              <a:solidFill>
                <a:srgbClr val="0000CC"/>
              </a:solidFill>
              <a:latin typeface="Times New Roman" panose="02020603050405020304" pitchFamily="18" charset="0"/>
            </a:endParaRPr>
          </a:p>
          <a:p>
            <a:pPr eaLnBrk="1" hangingPunct="1">
              <a:spcBef>
                <a:spcPct val="50000"/>
              </a:spcBef>
              <a:buClrTx/>
              <a:buSzTx/>
              <a:buNone/>
            </a:pPr>
            <a:r>
              <a:rPr lang="en-US" altLang="zh-CN" b="0" dirty="0">
                <a:solidFill>
                  <a:srgbClr val="0000CC"/>
                </a:solidFill>
                <a:latin typeface="Times New Roman" panose="02020603050405020304" pitchFamily="18" charset="0"/>
              </a:rPr>
              <a:t>     </a:t>
            </a:r>
            <a:r>
              <a:rPr lang="zh-CN" altLang="en-US" b="0" dirty="0">
                <a:latin typeface="Times New Roman" panose="02020603050405020304" pitchFamily="18" charset="0"/>
              </a:rPr>
              <a:t>纬度差加上经度差。</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2779555" y="2708920"/>
            <a:ext cx="3016581" cy="3168352"/>
          </a:xfrm>
          <a:prstGeom prst="rect">
            <a:avLst/>
          </a:prstGeom>
          <a:noFill/>
          <a:ln>
            <a:noFill/>
          </a:ln>
        </p:spPr>
      </p:pic>
      <p:graphicFrame>
        <p:nvGraphicFramePr>
          <p:cNvPr id="8" name="Object 13"/>
          <p:cNvGraphicFramePr>
            <a:graphicFrameLocks noChangeAspect="1"/>
          </p:cNvGraphicFramePr>
          <p:nvPr>
            <p:extLst>
              <p:ext uri="{D42A27DB-BD31-4B8C-83A1-F6EECF244321}">
                <p14:modId xmlns:p14="http://schemas.microsoft.com/office/powerpoint/2010/main" val="308562882"/>
              </p:ext>
            </p:extLst>
          </p:nvPr>
        </p:nvGraphicFramePr>
        <p:xfrm>
          <a:off x="2807342" y="6054149"/>
          <a:ext cx="4465522" cy="546617"/>
        </p:xfrm>
        <a:graphic>
          <a:graphicData uri="http://schemas.openxmlformats.org/presentationml/2006/ole">
            <mc:AlternateContent xmlns:mc="http://schemas.openxmlformats.org/markup-compatibility/2006">
              <mc:Choice xmlns:v="urn:schemas-microsoft-com:vml" Requires="v">
                <p:oleObj spid="_x0000_s20492" name="公式" r:id="rId4" imgW="1771532" imgH="200070" progId="Equation.3">
                  <p:embed/>
                </p:oleObj>
              </mc:Choice>
              <mc:Fallback>
                <p:oleObj name="公式" r:id="rId4" imgW="1771532" imgH="200070" progId="Equation.3">
                  <p:embed/>
                  <p:pic>
                    <p:nvPicPr>
                      <p:cNvPr id="18"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7342" y="6054149"/>
                        <a:ext cx="4465522" cy="546617"/>
                      </a:xfrm>
                      <a:prstGeom prst="rect">
                        <a:avLst/>
                      </a:prstGeom>
                      <a:solidFill>
                        <a:srgbClr val="0000CC"/>
                      </a:solidFill>
                      <a:ln>
                        <a:noFill/>
                      </a:ln>
                    </p:spPr>
                  </p:pic>
                </p:oleObj>
              </mc:Fallback>
            </mc:AlternateContent>
          </a:graphicData>
        </a:graphic>
      </p:graphicFrame>
    </p:spTree>
    <p:extLst>
      <p:ext uri="{BB962C8B-B14F-4D97-AF65-F5344CB8AC3E}">
        <p14:creationId xmlns:p14="http://schemas.microsoft.com/office/powerpoint/2010/main" val="32294712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79512" y="1052736"/>
            <a:ext cx="864096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ClrTx/>
              <a:buSzTx/>
              <a:buFont typeface="Wingdings" panose="05000000000000000000" pitchFamily="2" charset="2"/>
              <a:buChar char="n"/>
            </a:pPr>
            <a:r>
              <a:rPr lang="zh-CN" altLang="en-US" sz="2800" dirty="0">
                <a:solidFill>
                  <a:srgbClr val="0000CC"/>
                </a:solidFill>
                <a:latin typeface="Times New Roman" panose="02020603050405020304" pitchFamily="18" charset="0"/>
              </a:rPr>
              <a:t>旅游业中的旅游时间距离：</a:t>
            </a:r>
            <a:endParaRPr lang="en-US" altLang="zh-CN" sz="2800" dirty="0">
              <a:solidFill>
                <a:srgbClr val="0000CC"/>
              </a:solidFill>
              <a:latin typeface="Times New Roman" panose="02020603050405020304" pitchFamily="18" charset="0"/>
            </a:endParaRPr>
          </a:p>
          <a:p>
            <a:pPr eaLnBrk="1" hangingPunct="1">
              <a:spcBef>
                <a:spcPct val="50000"/>
              </a:spcBef>
              <a:buClrTx/>
              <a:buSzTx/>
              <a:buNone/>
            </a:pPr>
            <a:r>
              <a:rPr lang="zh-CN" altLang="en-US" sz="2800" b="0" dirty="0">
                <a:latin typeface="Times New Roman" panose="02020603050405020304" pitchFamily="18" charset="0"/>
              </a:rPr>
              <a:t>两个点</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如两个城市</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之间的</a:t>
            </a:r>
            <a:r>
              <a:rPr lang="zh-CN" altLang="en-US" sz="2800" b="0" dirty="0">
                <a:solidFill>
                  <a:srgbClr val="0000CC"/>
                </a:solidFill>
                <a:latin typeface="Times New Roman" panose="02020603050405020304" pitchFamily="18" charset="0"/>
              </a:rPr>
              <a:t>旅游时间距离</a:t>
            </a:r>
            <a:r>
              <a:rPr lang="zh-CN" altLang="en-US" sz="2800" b="0" dirty="0">
                <a:latin typeface="Times New Roman" panose="02020603050405020304" pitchFamily="18" charset="0"/>
              </a:rPr>
              <a:t>为从一个点</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城市</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到另一个点</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城市</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的最短时间。</a:t>
            </a:r>
          </a:p>
        </p:txBody>
      </p:sp>
      <p:pic>
        <p:nvPicPr>
          <p:cNvPr id="29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001276"/>
            <a:ext cx="3582771" cy="3618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30</a:t>
            </a:fld>
            <a:endParaRPr lang="en-US" altLang="zh-CN"/>
          </a:p>
        </p:txBody>
      </p:sp>
      <p:sp>
        <p:nvSpPr>
          <p:cNvPr id="5" name="Text Box 2"/>
          <p:cNvSpPr txBox="1">
            <a:spLocks noChangeArrowheads="1"/>
          </p:cNvSpPr>
          <p:nvPr/>
        </p:nvSpPr>
        <p:spPr bwMode="auto">
          <a:xfrm>
            <a:off x="371971" y="116632"/>
            <a:ext cx="506412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3600" dirty="0">
                <a:solidFill>
                  <a:srgbClr val="FFFF00"/>
                </a:solidFill>
                <a:latin typeface="Times New Roman" panose="02020603050405020304" pitchFamily="18" charset="0"/>
              </a:rPr>
              <a:t>(3)</a:t>
            </a:r>
            <a:r>
              <a:rPr lang="zh-CN" altLang="en-US" sz="3600" dirty="0">
                <a:solidFill>
                  <a:srgbClr val="FFFF00"/>
                </a:solidFill>
                <a:latin typeface="Times New Roman" panose="02020603050405020304" pitchFamily="18" charset="0"/>
              </a:rPr>
              <a:t>具有行业特色的距离</a:t>
            </a:r>
            <a:endParaRPr lang="zh-CN" altLang="en-US" sz="3600" b="0" dirty="0">
              <a:latin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4427984" y="3501008"/>
            <a:ext cx="4237404" cy="2129017"/>
          </a:xfrm>
          <a:prstGeom prst="rect">
            <a:avLst/>
          </a:prstGeom>
        </p:spPr>
      </p:pic>
      <p:sp>
        <p:nvSpPr>
          <p:cNvPr id="7" name="Text Box 2"/>
          <p:cNvSpPr txBox="1">
            <a:spLocks noChangeArrowheads="1"/>
          </p:cNvSpPr>
          <p:nvPr/>
        </p:nvSpPr>
        <p:spPr bwMode="auto">
          <a:xfrm>
            <a:off x="5220073" y="170370"/>
            <a:ext cx="3779911"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None/>
            </a:pPr>
            <a:r>
              <a:rPr lang="en-US" altLang="zh-CN" dirty="0">
                <a:solidFill>
                  <a:schemeClr val="bg1"/>
                </a:solidFill>
                <a:latin typeface="Times New Roman" panose="02020603050405020304" pitchFamily="18" charset="0"/>
              </a:rPr>
              <a:t>1.</a:t>
            </a:r>
            <a:r>
              <a:rPr lang="zh-CN" altLang="en-US" dirty="0">
                <a:solidFill>
                  <a:schemeClr val="bg1"/>
                </a:solidFill>
                <a:latin typeface="Times New Roman" panose="02020603050405020304" pitchFamily="18" charset="0"/>
              </a:rPr>
              <a:t>度量空间关系描述</a:t>
            </a:r>
          </a:p>
        </p:txBody>
      </p:sp>
    </p:spTree>
    <p:extLst>
      <p:ext uri="{BB962C8B-B14F-4D97-AF65-F5344CB8AC3E}">
        <p14:creationId xmlns:p14="http://schemas.microsoft.com/office/powerpoint/2010/main" val="231156849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251521" y="116632"/>
            <a:ext cx="4752528"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2. </a:t>
            </a:r>
            <a:r>
              <a:rPr lang="zh-CN" altLang="en-US" sz="3600" dirty="0">
                <a:solidFill>
                  <a:srgbClr val="FFFF00"/>
                </a:solidFill>
                <a:latin typeface="Times New Roman" panose="02020603050405020304" pitchFamily="18" charset="0"/>
              </a:rPr>
              <a:t>拓扑空间关系描述 </a:t>
            </a:r>
          </a:p>
        </p:txBody>
      </p:sp>
      <p:sp>
        <p:nvSpPr>
          <p:cNvPr id="32771" name="Text Box 3"/>
          <p:cNvSpPr txBox="1">
            <a:spLocks noChangeArrowheads="1"/>
          </p:cNvSpPr>
          <p:nvPr/>
        </p:nvSpPr>
        <p:spPr bwMode="auto">
          <a:xfrm>
            <a:off x="1403648" y="1700808"/>
            <a:ext cx="6120680" cy="312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ts val="600"/>
              </a:spcBef>
              <a:spcAft>
                <a:spcPts val="600"/>
              </a:spcAft>
              <a:buClr>
                <a:srgbClr val="0000CC"/>
              </a:buClr>
              <a:buSzTx/>
              <a:buNone/>
            </a:pPr>
            <a:r>
              <a:rPr lang="zh-CN" altLang="en-US" b="0" dirty="0">
                <a:solidFill>
                  <a:srgbClr val="0000CC"/>
                </a:solidFill>
                <a:latin typeface="Times New Roman" panose="02020603050405020304" pitchFamily="18" charset="0"/>
              </a:rPr>
              <a:t>拓扑关系形式化描述模型包括：</a:t>
            </a:r>
          </a:p>
          <a:p>
            <a:pPr algn="just" eaLnBrk="1" hangingPunct="1">
              <a:spcBef>
                <a:spcPts val="600"/>
              </a:spcBef>
              <a:spcAft>
                <a:spcPts val="600"/>
              </a:spcAft>
              <a:buClr>
                <a:srgbClr val="0000CC"/>
              </a:buClr>
              <a:buSzTx/>
              <a:buFont typeface="Wingdings" panose="05000000000000000000" pitchFamily="2" charset="2"/>
              <a:buChar char="Ø"/>
            </a:pPr>
            <a:r>
              <a:rPr lang="en-US" altLang="zh-CN" b="0" dirty="0">
                <a:latin typeface="Times New Roman" panose="02020603050405020304" pitchFamily="18" charset="0"/>
              </a:rPr>
              <a:t>4</a:t>
            </a:r>
            <a:r>
              <a:rPr lang="zh-CN" altLang="en-US" b="0" dirty="0">
                <a:latin typeface="Times New Roman" panose="02020603050405020304" pitchFamily="18" charset="0"/>
              </a:rPr>
              <a:t>元组模型</a:t>
            </a:r>
          </a:p>
          <a:p>
            <a:pPr algn="just" eaLnBrk="1" hangingPunct="1">
              <a:spcBef>
                <a:spcPts val="600"/>
              </a:spcBef>
              <a:spcAft>
                <a:spcPts val="600"/>
              </a:spcAft>
              <a:buClr>
                <a:srgbClr val="0000CC"/>
              </a:buClr>
              <a:buSzTx/>
              <a:buFont typeface="Wingdings" panose="05000000000000000000" pitchFamily="2" charset="2"/>
              <a:buChar char="Ø"/>
            </a:pPr>
            <a:r>
              <a:rPr lang="en-US" altLang="zh-CN" b="0" dirty="0">
                <a:latin typeface="Times New Roman" panose="02020603050405020304" pitchFamily="18" charset="0"/>
              </a:rPr>
              <a:t>9</a:t>
            </a:r>
            <a:r>
              <a:rPr lang="zh-CN" altLang="en-US" b="0" dirty="0">
                <a:latin typeface="Times New Roman" panose="02020603050405020304" pitchFamily="18" charset="0"/>
              </a:rPr>
              <a:t>元组模型</a:t>
            </a:r>
          </a:p>
          <a:p>
            <a:pPr algn="just" eaLnBrk="1" hangingPunct="1">
              <a:spcBef>
                <a:spcPts val="600"/>
              </a:spcBef>
              <a:spcAft>
                <a:spcPts val="600"/>
              </a:spcAft>
              <a:buClr>
                <a:srgbClr val="0000CC"/>
              </a:buClr>
              <a:buSzTx/>
              <a:buFont typeface="Wingdings" panose="05000000000000000000" pitchFamily="2" charset="2"/>
              <a:buChar char="Ø"/>
            </a:pPr>
            <a:r>
              <a:rPr lang="en-US" altLang="zh-CN" b="0" dirty="0">
                <a:latin typeface="Times New Roman" panose="02020603050405020304" pitchFamily="18" charset="0"/>
              </a:rPr>
              <a:t>V9I</a:t>
            </a:r>
            <a:r>
              <a:rPr lang="zh-CN" altLang="en-US" b="0" dirty="0">
                <a:latin typeface="Times New Roman" panose="02020603050405020304" pitchFamily="18" charset="0"/>
              </a:rPr>
              <a:t>模型</a:t>
            </a:r>
          </a:p>
          <a:p>
            <a:pPr algn="just" eaLnBrk="1" hangingPunct="1">
              <a:spcBef>
                <a:spcPts val="600"/>
              </a:spcBef>
              <a:spcAft>
                <a:spcPts val="600"/>
              </a:spcAft>
              <a:buClr>
                <a:srgbClr val="0000CC"/>
              </a:buClr>
              <a:buSzTx/>
              <a:buFont typeface="Wingdings" panose="05000000000000000000" pitchFamily="2" charset="2"/>
              <a:buChar char="Ø"/>
            </a:pPr>
            <a:r>
              <a:rPr lang="en-US" altLang="zh-CN" b="0" dirty="0">
                <a:latin typeface="Times New Roman" panose="02020603050405020304" pitchFamily="18" charset="0"/>
              </a:rPr>
              <a:t>… …</a:t>
            </a:r>
            <a:endParaRPr lang="zh-CN" altLang="en-US" b="0" dirty="0">
              <a:latin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31</a:t>
            </a:fld>
            <a:endParaRPr lang="en-US" altLang="zh-CN"/>
          </a:p>
        </p:txBody>
      </p:sp>
    </p:spTree>
    <p:extLst>
      <p:ext uri="{BB962C8B-B14F-4D97-AF65-F5344CB8AC3E}">
        <p14:creationId xmlns:p14="http://schemas.microsoft.com/office/powerpoint/2010/main" val="138983102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251519" y="1052736"/>
            <a:ext cx="8641307" cy="183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0" dirty="0">
                <a:solidFill>
                  <a:srgbClr val="0000CC"/>
                </a:solidFill>
                <a:latin typeface="Times New Roman" panose="02020603050405020304" pitchFamily="18" charset="0"/>
              </a:rPr>
              <a:t>4</a:t>
            </a:r>
            <a:r>
              <a:rPr lang="zh-CN" altLang="en-US" b="0" dirty="0">
                <a:solidFill>
                  <a:srgbClr val="0000CC"/>
                </a:solidFill>
                <a:latin typeface="Times New Roman" panose="02020603050405020304" pitchFamily="18" charset="0"/>
              </a:rPr>
              <a:t>元组模型：</a:t>
            </a:r>
            <a:r>
              <a:rPr lang="zh-CN" altLang="en-US" sz="2800" b="0" dirty="0">
                <a:latin typeface="Times New Roman" panose="02020603050405020304" pitchFamily="18" charset="0"/>
              </a:rPr>
              <a:t>将简单空间实体看作是边界点和内部点构成的集合，</a:t>
            </a:r>
            <a:r>
              <a:rPr lang="en-US" altLang="zh-CN" sz="2800" b="0" dirty="0">
                <a:latin typeface="Times New Roman" panose="02020603050405020304" pitchFamily="18" charset="0"/>
              </a:rPr>
              <a:t>4</a:t>
            </a:r>
            <a:r>
              <a:rPr lang="zh-CN" altLang="en-US" sz="2800" b="0" dirty="0">
                <a:latin typeface="Times New Roman" panose="02020603050405020304" pitchFamily="18" charset="0"/>
              </a:rPr>
              <a:t>元组模型为由两个简单空间</a:t>
            </a:r>
            <a:r>
              <a:rPr lang="zh-CN" altLang="en-US" sz="2800" b="0" dirty="0">
                <a:solidFill>
                  <a:srgbClr val="0000CC"/>
                </a:solidFill>
                <a:latin typeface="Times New Roman" panose="02020603050405020304" pitchFamily="18" charset="0"/>
              </a:rPr>
              <a:t>实体点集的边界与边界的交集、边界与内部的交集、内部与边界的交集、内部与内部的交集</a:t>
            </a:r>
            <a:r>
              <a:rPr lang="zh-CN" altLang="en-US" sz="2800" b="0" dirty="0">
                <a:latin typeface="Times New Roman" panose="02020603050405020304" pitchFamily="18" charset="0"/>
              </a:rPr>
              <a:t>构成的</a:t>
            </a:r>
            <a:r>
              <a:rPr lang="en-US" altLang="zh-CN" sz="2800" b="0" dirty="0">
                <a:latin typeface="Times New Roman" panose="02020603050405020304" pitchFamily="18" charset="0"/>
              </a:rPr>
              <a:t>4</a:t>
            </a:r>
            <a:r>
              <a:rPr lang="zh-CN" altLang="en-US" sz="2800" b="0" dirty="0">
                <a:latin typeface="Times New Roman" panose="02020603050405020304" pitchFamily="18" charset="0"/>
              </a:rPr>
              <a:t>元组</a:t>
            </a:r>
            <a:r>
              <a:rPr lang="en-US" altLang="zh-CN" sz="2800" b="0" dirty="0">
                <a:latin typeface="Times New Roman" panose="02020603050405020304" pitchFamily="18" charset="0"/>
              </a:rPr>
              <a:t>(2×2</a:t>
            </a:r>
            <a:r>
              <a:rPr lang="zh-CN" altLang="en-US" sz="2800" b="0" dirty="0">
                <a:latin typeface="Times New Roman" panose="02020603050405020304" pitchFamily="18" charset="0"/>
              </a:rPr>
              <a:t>矩阵</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32</a:t>
            </a:fld>
            <a:endParaRPr lang="en-US" altLang="zh-CN"/>
          </a:p>
        </p:txBody>
      </p:sp>
      <p:sp>
        <p:nvSpPr>
          <p:cNvPr id="5" name="Text Box 2"/>
          <p:cNvSpPr txBox="1">
            <a:spLocks noChangeArrowheads="1"/>
          </p:cNvSpPr>
          <p:nvPr/>
        </p:nvSpPr>
        <p:spPr bwMode="auto">
          <a:xfrm>
            <a:off x="251520" y="77129"/>
            <a:ext cx="338437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dirty="0">
                <a:solidFill>
                  <a:srgbClr val="FFFF00"/>
                </a:solidFill>
                <a:latin typeface="Times New Roman" panose="02020603050405020304" pitchFamily="18" charset="0"/>
              </a:rPr>
              <a:t>1</a:t>
            </a:r>
            <a:r>
              <a:rPr lang="zh-CN" altLang="en-US" sz="3600" dirty="0">
                <a:solidFill>
                  <a:srgbClr val="FFFF00"/>
                </a:solidFill>
                <a:latin typeface="Times New Roman" panose="02020603050405020304" pitchFamily="18" charset="0"/>
              </a:rPr>
              <a:t>）</a:t>
            </a:r>
            <a:r>
              <a:rPr lang="en-US" altLang="zh-CN" sz="3600" dirty="0">
                <a:solidFill>
                  <a:srgbClr val="FFFF00"/>
                </a:solidFill>
                <a:latin typeface="Times New Roman" panose="02020603050405020304" pitchFamily="18" charset="0"/>
              </a:rPr>
              <a:t>4</a:t>
            </a:r>
            <a:r>
              <a:rPr lang="zh-CN" altLang="en-US" sz="3600" dirty="0">
                <a:solidFill>
                  <a:srgbClr val="FFFF00"/>
                </a:solidFill>
                <a:latin typeface="Times New Roman" panose="02020603050405020304" pitchFamily="18" charset="0"/>
              </a:rPr>
              <a:t>元组模型</a:t>
            </a:r>
            <a:endParaRPr lang="zh-CN" altLang="en-US" b="0" dirty="0">
              <a:latin typeface="Times New Roman" panose="02020603050405020304" pitchFamily="18" charset="0"/>
            </a:endParaRPr>
          </a:p>
        </p:txBody>
      </p:sp>
      <p:graphicFrame>
        <p:nvGraphicFramePr>
          <p:cNvPr id="7" name="Object 3"/>
          <p:cNvGraphicFramePr>
            <a:graphicFrameLocks noChangeAspect="1"/>
          </p:cNvGraphicFramePr>
          <p:nvPr>
            <p:extLst/>
          </p:nvPr>
        </p:nvGraphicFramePr>
        <p:xfrm>
          <a:off x="4493497" y="2957635"/>
          <a:ext cx="4392488" cy="1092147"/>
        </p:xfrm>
        <a:graphic>
          <a:graphicData uri="http://schemas.openxmlformats.org/presentationml/2006/ole">
            <mc:AlternateContent xmlns:mc="http://schemas.openxmlformats.org/markup-compatibility/2006">
              <mc:Choice xmlns:v="urn:schemas-microsoft-com:vml" Requires="v">
                <p:oleObj spid="_x0000_s21515" name="公式" r:id="rId3" imgW="1705079" imgH="409590" progId="Equation.3">
                  <p:embed/>
                </p:oleObj>
              </mc:Choice>
              <mc:Fallback>
                <p:oleObj name="公式" r:id="rId3" imgW="1705079" imgH="409590" progId="Equation.3">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3497" y="2957635"/>
                        <a:ext cx="4392488" cy="1092147"/>
                      </a:xfrm>
                      <a:prstGeom prst="rect">
                        <a:avLst/>
                      </a:prstGeom>
                      <a:solidFill>
                        <a:srgbClr val="0000CC"/>
                      </a:solidFill>
                      <a:ln>
                        <a:noFill/>
                      </a:ln>
                    </p:spPr>
                  </p:pic>
                </p:oleObj>
              </mc:Fallback>
            </mc:AlternateContent>
          </a:graphicData>
        </a:graphic>
      </p:graphicFrame>
      <p:sp>
        <p:nvSpPr>
          <p:cNvPr id="6" name="Text Box 2"/>
          <p:cNvSpPr txBox="1">
            <a:spLocks noChangeArrowheads="1"/>
          </p:cNvSpPr>
          <p:nvPr/>
        </p:nvSpPr>
        <p:spPr bwMode="auto">
          <a:xfrm>
            <a:off x="4527550" y="126186"/>
            <a:ext cx="4365277"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chemeClr val="bg1"/>
                </a:solidFill>
                <a:latin typeface="Times New Roman" panose="02020603050405020304" pitchFamily="18" charset="0"/>
              </a:rPr>
              <a:t>2. </a:t>
            </a:r>
            <a:r>
              <a:rPr lang="zh-CN" altLang="en-US" sz="3600" dirty="0">
                <a:solidFill>
                  <a:schemeClr val="bg1"/>
                </a:solidFill>
                <a:latin typeface="Times New Roman" panose="02020603050405020304" pitchFamily="18" charset="0"/>
              </a:rPr>
              <a:t>拓扑空间关系描述 </a:t>
            </a:r>
          </a:p>
        </p:txBody>
      </p:sp>
      <p:sp>
        <p:nvSpPr>
          <p:cNvPr id="8" name="Text Box 2"/>
          <p:cNvSpPr txBox="1">
            <a:spLocks noChangeArrowheads="1"/>
          </p:cNvSpPr>
          <p:nvPr/>
        </p:nvSpPr>
        <p:spPr bwMode="auto">
          <a:xfrm>
            <a:off x="389041" y="3173876"/>
            <a:ext cx="324685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0" dirty="0">
                <a:latin typeface="Times New Roman" panose="02020603050405020304" pitchFamily="18" charset="0"/>
              </a:rPr>
              <a:t>理论上有</a:t>
            </a:r>
            <a:r>
              <a:rPr lang="en-US" altLang="zh-CN" sz="2800" b="0" dirty="0">
                <a:solidFill>
                  <a:srgbClr val="0000CC"/>
                </a:solidFill>
                <a:latin typeface="Times New Roman" panose="02020603050405020304" pitchFamily="18" charset="0"/>
              </a:rPr>
              <a:t>16</a:t>
            </a:r>
            <a:r>
              <a:rPr lang="zh-CN" altLang="en-US" sz="2800" b="0" dirty="0">
                <a:solidFill>
                  <a:srgbClr val="0000CC"/>
                </a:solidFill>
                <a:latin typeface="Times New Roman" panose="02020603050405020304" pitchFamily="18" charset="0"/>
              </a:rPr>
              <a:t>种组合：</a:t>
            </a:r>
            <a:endParaRPr lang="zh-CN" altLang="en-US" sz="2800" b="0" dirty="0">
              <a:latin typeface="Times New Roman" panose="02020603050405020304" pitchFamily="18" charset="0"/>
            </a:endParaRPr>
          </a:p>
        </p:txBody>
      </p:sp>
      <p:sp>
        <p:nvSpPr>
          <p:cNvPr id="10" name="Text Box 2"/>
          <p:cNvSpPr txBox="1">
            <a:spLocks noChangeArrowheads="1"/>
          </p:cNvSpPr>
          <p:nvPr/>
        </p:nvSpPr>
        <p:spPr bwMode="auto">
          <a:xfrm>
            <a:off x="389041" y="4967385"/>
            <a:ext cx="7988743"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342900" indent="-342900" eaLnBrk="1" hangingPunct="1">
              <a:spcBef>
                <a:spcPts val="0"/>
              </a:spcBef>
              <a:buClrTx/>
              <a:buSzTx/>
              <a:buFont typeface="Wingdings" panose="05000000000000000000" pitchFamily="2" charset="2"/>
              <a:buChar char="Ø"/>
            </a:pPr>
            <a:r>
              <a:rPr lang="en-US" altLang="zh-CN" sz="2800" b="0" dirty="0">
                <a:solidFill>
                  <a:srgbClr val="0000CC"/>
                </a:solidFill>
                <a:latin typeface="Times New Roman" panose="02020603050405020304" pitchFamily="18" charset="0"/>
              </a:rPr>
              <a:t>8</a:t>
            </a:r>
            <a:r>
              <a:rPr lang="zh-CN" altLang="en-US" sz="2800" b="0" dirty="0">
                <a:solidFill>
                  <a:srgbClr val="0000CC"/>
                </a:solidFill>
                <a:latin typeface="Times New Roman" panose="02020603050405020304" pitchFamily="18" charset="0"/>
              </a:rPr>
              <a:t>种面</a:t>
            </a:r>
            <a:r>
              <a:rPr lang="en-US" altLang="zh-CN" sz="2800" b="0" dirty="0">
                <a:solidFill>
                  <a:srgbClr val="0000CC"/>
                </a:solidFill>
                <a:latin typeface="Times New Roman" panose="02020603050405020304" pitchFamily="18" charset="0"/>
              </a:rPr>
              <a:t>/</a:t>
            </a:r>
            <a:r>
              <a:rPr lang="zh-CN" altLang="en-US" sz="2800" b="0" dirty="0">
                <a:solidFill>
                  <a:srgbClr val="0000CC"/>
                </a:solidFill>
                <a:latin typeface="Times New Roman" panose="02020603050405020304" pitchFamily="18" charset="0"/>
              </a:rPr>
              <a:t>面拓扑关系、</a:t>
            </a:r>
            <a:r>
              <a:rPr lang="en-US" altLang="zh-CN" sz="2800" b="0" dirty="0">
                <a:solidFill>
                  <a:srgbClr val="0000CC"/>
                </a:solidFill>
                <a:latin typeface="Times New Roman" panose="02020603050405020304" pitchFamily="18" charset="0"/>
              </a:rPr>
              <a:t>16</a:t>
            </a:r>
            <a:r>
              <a:rPr lang="zh-CN" altLang="en-US" sz="2800" b="0" dirty="0">
                <a:solidFill>
                  <a:srgbClr val="0000CC"/>
                </a:solidFill>
                <a:latin typeface="Times New Roman" panose="02020603050405020304" pitchFamily="18" charset="0"/>
              </a:rPr>
              <a:t>种线</a:t>
            </a:r>
            <a:r>
              <a:rPr lang="en-US" altLang="zh-CN" sz="2800" b="0" dirty="0">
                <a:solidFill>
                  <a:srgbClr val="0000CC"/>
                </a:solidFill>
                <a:latin typeface="Times New Roman" panose="02020603050405020304" pitchFamily="18" charset="0"/>
              </a:rPr>
              <a:t>/</a:t>
            </a:r>
            <a:r>
              <a:rPr lang="zh-CN" altLang="en-US" sz="2800" b="0" dirty="0">
                <a:solidFill>
                  <a:srgbClr val="0000CC"/>
                </a:solidFill>
                <a:latin typeface="Times New Roman" panose="02020603050405020304" pitchFamily="18" charset="0"/>
              </a:rPr>
              <a:t>线拓扑关系</a:t>
            </a:r>
          </a:p>
          <a:p>
            <a:pPr marL="342900" indent="-342900" eaLnBrk="1" hangingPunct="1">
              <a:spcBef>
                <a:spcPts val="0"/>
              </a:spcBef>
              <a:buClrTx/>
              <a:buSzTx/>
              <a:buFont typeface="Wingdings" panose="05000000000000000000" pitchFamily="2" charset="2"/>
              <a:buChar char="Ø"/>
            </a:pPr>
            <a:r>
              <a:rPr lang="en-US" altLang="zh-CN" sz="2800" b="0" dirty="0">
                <a:solidFill>
                  <a:srgbClr val="0000CC"/>
                </a:solidFill>
                <a:latin typeface="Times New Roman" panose="02020603050405020304" pitchFamily="18" charset="0"/>
              </a:rPr>
              <a:t>13</a:t>
            </a:r>
            <a:r>
              <a:rPr lang="zh-CN" altLang="en-US" sz="2800" b="0" dirty="0">
                <a:solidFill>
                  <a:srgbClr val="0000CC"/>
                </a:solidFill>
                <a:latin typeface="Times New Roman" panose="02020603050405020304" pitchFamily="18" charset="0"/>
              </a:rPr>
              <a:t>种线</a:t>
            </a:r>
            <a:r>
              <a:rPr lang="en-US" altLang="zh-CN" sz="2800" b="0" dirty="0">
                <a:solidFill>
                  <a:srgbClr val="0000CC"/>
                </a:solidFill>
                <a:latin typeface="Times New Roman" panose="02020603050405020304" pitchFamily="18" charset="0"/>
              </a:rPr>
              <a:t>/</a:t>
            </a:r>
            <a:r>
              <a:rPr lang="zh-CN" altLang="en-US" sz="2800" b="0" dirty="0">
                <a:solidFill>
                  <a:srgbClr val="0000CC"/>
                </a:solidFill>
                <a:latin typeface="Times New Roman" panose="02020603050405020304" pitchFamily="18" charset="0"/>
              </a:rPr>
              <a:t>面拓扑关系、</a:t>
            </a:r>
            <a:r>
              <a:rPr lang="en-US" altLang="zh-CN" sz="2800" b="0" dirty="0">
                <a:solidFill>
                  <a:srgbClr val="0000CC"/>
                </a:solidFill>
                <a:latin typeface="Times New Roman" panose="02020603050405020304" pitchFamily="18" charset="0"/>
              </a:rPr>
              <a:t>3</a:t>
            </a:r>
            <a:r>
              <a:rPr lang="zh-CN" altLang="en-US" sz="2800" b="0" dirty="0">
                <a:solidFill>
                  <a:srgbClr val="0000CC"/>
                </a:solidFill>
                <a:latin typeface="Times New Roman" panose="02020603050405020304" pitchFamily="18" charset="0"/>
              </a:rPr>
              <a:t>种点</a:t>
            </a:r>
            <a:r>
              <a:rPr lang="en-US" altLang="zh-CN" sz="2800" b="0" dirty="0">
                <a:solidFill>
                  <a:srgbClr val="0000CC"/>
                </a:solidFill>
                <a:latin typeface="Times New Roman" panose="02020603050405020304" pitchFamily="18" charset="0"/>
              </a:rPr>
              <a:t>/</a:t>
            </a:r>
            <a:r>
              <a:rPr lang="zh-CN" altLang="en-US" sz="2800" b="0" dirty="0">
                <a:solidFill>
                  <a:srgbClr val="0000CC"/>
                </a:solidFill>
                <a:latin typeface="Times New Roman" panose="02020603050405020304" pitchFamily="18" charset="0"/>
              </a:rPr>
              <a:t>线拓扑关系</a:t>
            </a:r>
          </a:p>
          <a:p>
            <a:pPr marL="342900" indent="-342900" eaLnBrk="1" hangingPunct="1">
              <a:spcBef>
                <a:spcPts val="0"/>
              </a:spcBef>
              <a:buClrTx/>
              <a:buSzTx/>
              <a:buFont typeface="Wingdings" panose="05000000000000000000" pitchFamily="2" charset="2"/>
              <a:buChar char="Ø"/>
            </a:pPr>
            <a:r>
              <a:rPr lang="en-US" altLang="zh-CN" sz="2800" b="0" dirty="0">
                <a:solidFill>
                  <a:srgbClr val="0000CC"/>
                </a:solidFill>
                <a:latin typeface="Times New Roman" panose="02020603050405020304" pitchFamily="18" charset="0"/>
              </a:rPr>
              <a:t>3</a:t>
            </a:r>
            <a:r>
              <a:rPr lang="zh-CN" altLang="en-US" sz="2800" b="0" dirty="0">
                <a:solidFill>
                  <a:srgbClr val="0000CC"/>
                </a:solidFill>
                <a:latin typeface="Times New Roman" panose="02020603050405020304" pitchFamily="18" charset="0"/>
              </a:rPr>
              <a:t>种点</a:t>
            </a:r>
            <a:r>
              <a:rPr lang="en-US" altLang="zh-CN" sz="2800" b="0" dirty="0">
                <a:solidFill>
                  <a:srgbClr val="0000CC"/>
                </a:solidFill>
                <a:latin typeface="Times New Roman" panose="02020603050405020304" pitchFamily="18" charset="0"/>
              </a:rPr>
              <a:t>/</a:t>
            </a:r>
            <a:r>
              <a:rPr lang="zh-CN" altLang="en-US" sz="2800" b="0" dirty="0">
                <a:solidFill>
                  <a:srgbClr val="0000CC"/>
                </a:solidFill>
                <a:latin typeface="Times New Roman" panose="02020603050405020304" pitchFamily="18" charset="0"/>
              </a:rPr>
              <a:t>面拓扑关系、</a:t>
            </a:r>
            <a:r>
              <a:rPr lang="en-US" altLang="zh-CN" sz="2800" b="0" dirty="0">
                <a:solidFill>
                  <a:srgbClr val="0000CC"/>
                </a:solidFill>
                <a:latin typeface="Times New Roman" panose="02020603050405020304" pitchFamily="18" charset="0"/>
              </a:rPr>
              <a:t>2</a:t>
            </a:r>
            <a:r>
              <a:rPr lang="zh-CN" altLang="en-US" sz="2800" b="0" dirty="0">
                <a:solidFill>
                  <a:srgbClr val="0000CC"/>
                </a:solidFill>
                <a:latin typeface="Times New Roman" panose="02020603050405020304" pitchFamily="18" charset="0"/>
              </a:rPr>
              <a:t>种点</a:t>
            </a:r>
            <a:r>
              <a:rPr lang="en-US" altLang="zh-CN" sz="2800" b="0" dirty="0">
                <a:solidFill>
                  <a:srgbClr val="0000CC"/>
                </a:solidFill>
                <a:latin typeface="Times New Roman" panose="02020603050405020304" pitchFamily="18" charset="0"/>
              </a:rPr>
              <a:t>/</a:t>
            </a:r>
            <a:r>
              <a:rPr lang="zh-CN" altLang="en-US" sz="2800" b="0" dirty="0">
                <a:solidFill>
                  <a:srgbClr val="0000CC"/>
                </a:solidFill>
                <a:latin typeface="Times New Roman" panose="02020603050405020304" pitchFamily="18" charset="0"/>
              </a:rPr>
              <a:t>点拓扑关系</a:t>
            </a:r>
            <a:endParaRPr lang="zh-CN" altLang="en-US" sz="2800" b="0" dirty="0">
              <a:latin typeface="Times New Roman" panose="02020603050405020304" pitchFamily="18" charset="0"/>
            </a:endParaRPr>
          </a:p>
        </p:txBody>
      </p:sp>
      <p:sp>
        <p:nvSpPr>
          <p:cNvPr id="11" name="Text Box 2"/>
          <p:cNvSpPr txBox="1">
            <a:spLocks noChangeArrowheads="1"/>
          </p:cNvSpPr>
          <p:nvPr/>
        </p:nvSpPr>
        <p:spPr bwMode="auto">
          <a:xfrm>
            <a:off x="467544" y="4200462"/>
            <a:ext cx="351273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CC"/>
              </a:buClr>
              <a:buSzTx/>
              <a:buNone/>
            </a:pPr>
            <a:r>
              <a:rPr lang="zh-CN" altLang="en-US" sz="2800" dirty="0">
                <a:solidFill>
                  <a:srgbClr val="0000CC"/>
                </a:solidFill>
                <a:latin typeface="Times New Roman" panose="02020603050405020304" pitchFamily="18" charset="0"/>
              </a:rPr>
              <a:t>具有实际意义的模型：</a:t>
            </a:r>
          </a:p>
        </p:txBody>
      </p:sp>
    </p:spTree>
    <p:extLst>
      <p:ext uri="{BB962C8B-B14F-4D97-AF65-F5344CB8AC3E}">
        <p14:creationId xmlns:p14="http://schemas.microsoft.com/office/powerpoint/2010/main" val="216756113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179512" y="1066800"/>
            <a:ext cx="305149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Char char="Ø"/>
            </a:pPr>
            <a:r>
              <a:rPr lang="zh-CN" altLang="en-US" sz="2800" dirty="0">
                <a:solidFill>
                  <a:srgbClr val="0000CC"/>
                </a:solidFill>
                <a:latin typeface="Times New Roman" panose="02020603050405020304" pitchFamily="18" charset="0"/>
              </a:rPr>
              <a:t>八种面面关系：</a:t>
            </a:r>
          </a:p>
        </p:txBody>
      </p:sp>
      <p:sp>
        <p:nvSpPr>
          <p:cNvPr id="35843" name="Rectangle 3"/>
          <p:cNvSpPr>
            <a:spLocks noChangeArrowheads="1"/>
          </p:cNvSpPr>
          <p:nvPr/>
        </p:nvSpPr>
        <p:spPr bwMode="auto">
          <a:xfrm>
            <a:off x="0" y="2695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35844" name="Rectangle 5"/>
          <p:cNvSpPr>
            <a:spLocks noChangeArrowheads="1"/>
          </p:cNvSpPr>
          <p:nvPr/>
        </p:nvSpPr>
        <p:spPr bwMode="auto">
          <a:xfrm>
            <a:off x="0" y="2695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graphicFrame>
        <p:nvGraphicFramePr>
          <p:cNvPr id="35845" name="Object 7"/>
          <p:cNvGraphicFramePr>
            <a:graphicFrameLocks noGrp="1" noChangeAspect="1"/>
          </p:cNvGraphicFramePr>
          <p:nvPr>
            <p:ph/>
            <p:extLst/>
          </p:nvPr>
        </p:nvGraphicFramePr>
        <p:xfrm>
          <a:off x="3295650" y="1060018"/>
          <a:ext cx="4746625" cy="904875"/>
        </p:xfrm>
        <a:graphic>
          <a:graphicData uri="http://schemas.openxmlformats.org/presentationml/2006/ole">
            <mc:AlternateContent xmlns:mc="http://schemas.openxmlformats.org/markup-compatibility/2006">
              <mc:Choice xmlns:v="urn:schemas-microsoft-com:vml" Requires="v">
                <p:oleObj spid="_x0000_s22539" name="公式" r:id="rId3" imgW="2666880" imgH="507960" progId="Equation.3">
                  <p:embed/>
                </p:oleObj>
              </mc:Choice>
              <mc:Fallback>
                <p:oleObj name="公式" r:id="rId3" imgW="2666880" imgH="507960" progId="Equation.3">
                  <p:embed/>
                  <p:pic>
                    <p:nvPicPr>
                      <p:cNvPr id="35845" name="Object 7"/>
                      <p:cNvPicPr>
                        <a:picLocks noGrp="1" noChangeAspect="1" noChangeArrowheads="1"/>
                      </p:cNvPicPr>
                      <p:nvPr/>
                    </p:nvPicPr>
                    <p:blipFill>
                      <a:blip r:embed="rId4"/>
                      <a:srcRect/>
                      <a:stretch>
                        <a:fillRect/>
                      </a:stretch>
                    </p:blipFill>
                    <p:spPr bwMode="auto">
                      <a:xfrm>
                        <a:off x="3295650" y="1060018"/>
                        <a:ext cx="4746625" cy="904875"/>
                      </a:xfrm>
                      <a:prstGeom prst="rect">
                        <a:avLst/>
                      </a:prstGeom>
                      <a:solidFill>
                        <a:schemeClr val="tx2"/>
                      </a:solidFill>
                      <a:ln>
                        <a:noFill/>
                      </a:ln>
                      <a:effectLst/>
                      <a:extLst/>
                    </p:spPr>
                  </p:pic>
                </p:oleObj>
              </mc:Fallback>
            </mc:AlternateContent>
          </a:graphicData>
        </a:graphic>
      </p:graphicFrame>
      <p:sp>
        <p:nvSpPr>
          <p:cNvPr id="35846" name="Rectangle 10"/>
          <p:cNvSpPr>
            <a:spLocks noChangeArrowheads="1"/>
          </p:cNvSpPr>
          <p:nvPr/>
        </p:nvSpPr>
        <p:spPr bwMode="auto">
          <a:xfrm>
            <a:off x="0" y="2700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35847" name="Rectangle 12"/>
          <p:cNvSpPr>
            <a:spLocks noChangeArrowheads="1"/>
          </p:cNvSpPr>
          <p:nvPr/>
        </p:nvSpPr>
        <p:spPr bwMode="auto">
          <a:xfrm>
            <a:off x="0" y="2695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35848" name="Rectangle 14"/>
          <p:cNvSpPr>
            <a:spLocks noChangeArrowheads="1"/>
          </p:cNvSpPr>
          <p:nvPr/>
        </p:nvSpPr>
        <p:spPr bwMode="auto">
          <a:xfrm>
            <a:off x="0" y="2700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35850" name="Rectangle 16"/>
          <p:cNvSpPr>
            <a:spLocks noChangeArrowheads="1"/>
          </p:cNvSpPr>
          <p:nvPr/>
        </p:nvSpPr>
        <p:spPr bwMode="auto">
          <a:xfrm>
            <a:off x="0" y="2695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3636DDEE-37EB-435D-95C8-A4172B1111CA}" type="slidenum">
              <a:rPr lang="en-US" altLang="zh-CN" smtClean="0"/>
              <a:pPr>
                <a:defRPr/>
              </a:pPr>
              <a:t>33</a:t>
            </a:fld>
            <a:endParaRPr lang="en-US" altLang="zh-CN"/>
          </a:p>
        </p:txBody>
      </p:sp>
      <p:sp>
        <p:nvSpPr>
          <p:cNvPr id="13" name="Text Box 2"/>
          <p:cNvSpPr txBox="1">
            <a:spLocks noChangeArrowheads="1"/>
          </p:cNvSpPr>
          <p:nvPr/>
        </p:nvSpPr>
        <p:spPr bwMode="auto">
          <a:xfrm>
            <a:off x="251520" y="126186"/>
            <a:ext cx="338437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dirty="0">
                <a:solidFill>
                  <a:srgbClr val="FFFF00"/>
                </a:solidFill>
                <a:latin typeface="Times New Roman" panose="02020603050405020304" pitchFamily="18" charset="0"/>
              </a:rPr>
              <a:t>1</a:t>
            </a:r>
            <a:r>
              <a:rPr lang="zh-CN" altLang="en-US" sz="3600" dirty="0">
                <a:solidFill>
                  <a:srgbClr val="FFFF00"/>
                </a:solidFill>
                <a:latin typeface="Times New Roman" panose="02020603050405020304" pitchFamily="18" charset="0"/>
              </a:rPr>
              <a:t>）</a:t>
            </a:r>
            <a:r>
              <a:rPr lang="en-US" altLang="zh-CN" sz="3600" dirty="0">
                <a:solidFill>
                  <a:srgbClr val="FFFF00"/>
                </a:solidFill>
                <a:latin typeface="Times New Roman" panose="02020603050405020304" pitchFamily="18" charset="0"/>
              </a:rPr>
              <a:t>4</a:t>
            </a:r>
            <a:r>
              <a:rPr lang="zh-CN" altLang="en-US" sz="3600" dirty="0">
                <a:solidFill>
                  <a:srgbClr val="FFFF00"/>
                </a:solidFill>
                <a:latin typeface="Times New Roman" panose="02020603050405020304" pitchFamily="18" charset="0"/>
              </a:rPr>
              <a:t>元组模型</a:t>
            </a:r>
            <a:endParaRPr lang="zh-CN" altLang="en-US" b="0" dirty="0">
              <a:latin typeface="Times New Roman" panose="02020603050405020304" pitchFamily="18" charset="0"/>
            </a:endParaRPr>
          </a:p>
        </p:txBody>
      </p:sp>
      <p:sp>
        <p:nvSpPr>
          <p:cNvPr id="15" name="Text Box 2"/>
          <p:cNvSpPr txBox="1">
            <a:spLocks noChangeArrowheads="1"/>
          </p:cNvSpPr>
          <p:nvPr/>
        </p:nvSpPr>
        <p:spPr bwMode="auto">
          <a:xfrm>
            <a:off x="4527550" y="126186"/>
            <a:ext cx="4365277"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chemeClr val="bg1"/>
                </a:solidFill>
                <a:latin typeface="Times New Roman" panose="02020603050405020304" pitchFamily="18" charset="0"/>
              </a:rPr>
              <a:t>2. </a:t>
            </a:r>
            <a:r>
              <a:rPr lang="zh-CN" altLang="en-US" sz="3600" dirty="0">
                <a:solidFill>
                  <a:schemeClr val="bg1"/>
                </a:solidFill>
                <a:latin typeface="Times New Roman" panose="02020603050405020304" pitchFamily="18" charset="0"/>
              </a:rPr>
              <a:t>拓扑空间关系描述 </a:t>
            </a:r>
          </a:p>
        </p:txBody>
      </p:sp>
      <p:pic>
        <p:nvPicPr>
          <p:cNvPr id="3" name="图片 2"/>
          <p:cNvPicPr>
            <a:picLocks noChangeAspect="1"/>
          </p:cNvPicPr>
          <p:nvPr/>
        </p:nvPicPr>
        <p:blipFill>
          <a:blip r:embed="rId5"/>
          <a:stretch>
            <a:fillRect/>
          </a:stretch>
        </p:blipFill>
        <p:spPr>
          <a:xfrm>
            <a:off x="899592" y="2141526"/>
            <a:ext cx="6624736" cy="2157422"/>
          </a:xfrm>
          <a:prstGeom prst="rect">
            <a:avLst/>
          </a:prstGeom>
        </p:spPr>
      </p:pic>
      <p:pic>
        <p:nvPicPr>
          <p:cNvPr id="6" name="图片 5"/>
          <p:cNvPicPr>
            <a:picLocks noChangeAspect="1"/>
          </p:cNvPicPr>
          <p:nvPr/>
        </p:nvPicPr>
        <p:blipFill>
          <a:blip r:embed="rId6"/>
          <a:stretch>
            <a:fillRect/>
          </a:stretch>
        </p:blipFill>
        <p:spPr>
          <a:xfrm>
            <a:off x="899592" y="4407761"/>
            <a:ext cx="6657975" cy="2114550"/>
          </a:xfrm>
          <a:prstGeom prst="rect">
            <a:avLst/>
          </a:prstGeom>
        </p:spPr>
      </p:pic>
    </p:spTree>
    <p:extLst>
      <p:ext uri="{BB962C8B-B14F-4D97-AF65-F5344CB8AC3E}">
        <p14:creationId xmlns:p14="http://schemas.microsoft.com/office/powerpoint/2010/main" val="4103014736"/>
      </p:ext>
    </p:extLst>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461470" y="3177194"/>
            <a:ext cx="316835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zh-CN" altLang="en-US" sz="2800" dirty="0">
                <a:solidFill>
                  <a:srgbClr val="0000CC"/>
                </a:solidFill>
                <a:latin typeface="Times New Roman" panose="02020603050405020304" pitchFamily="18" charset="0"/>
              </a:rPr>
              <a:t>三种点线拓扑关系</a:t>
            </a:r>
          </a:p>
        </p:txBody>
      </p:sp>
      <p:sp>
        <p:nvSpPr>
          <p:cNvPr id="36867" name="Rectangle 4"/>
          <p:cNvSpPr>
            <a:spLocks noChangeArrowheads="1"/>
          </p:cNvSpPr>
          <p:nvPr/>
        </p:nvSpPr>
        <p:spPr bwMode="auto">
          <a:xfrm>
            <a:off x="0" y="2809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36869" name="Text Box 5"/>
          <p:cNvSpPr txBox="1">
            <a:spLocks noChangeArrowheads="1"/>
          </p:cNvSpPr>
          <p:nvPr/>
        </p:nvSpPr>
        <p:spPr bwMode="auto">
          <a:xfrm>
            <a:off x="4572000" y="3223836"/>
            <a:ext cx="37147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None/>
            </a:pPr>
            <a:r>
              <a:rPr lang="zh-CN" altLang="en-US" sz="2800" dirty="0">
                <a:solidFill>
                  <a:srgbClr val="0000CC"/>
                </a:solidFill>
                <a:latin typeface="Times New Roman" panose="02020603050405020304" pitchFamily="18" charset="0"/>
              </a:rPr>
              <a:t>两种点点拓扑关系 </a:t>
            </a:r>
          </a:p>
        </p:txBody>
      </p:sp>
      <p:sp>
        <p:nvSpPr>
          <p:cNvPr id="36870" name="Rectangle 7"/>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36872" name="Text Box 8"/>
          <p:cNvSpPr txBox="1">
            <a:spLocks noChangeArrowheads="1"/>
          </p:cNvSpPr>
          <p:nvPr/>
        </p:nvSpPr>
        <p:spPr bwMode="auto">
          <a:xfrm>
            <a:off x="4770135" y="4762658"/>
            <a:ext cx="1826762"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None/>
            </a:pPr>
            <a:r>
              <a:rPr lang="zh-CN" altLang="en-US" sz="2800" dirty="0">
                <a:solidFill>
                  <a:srgbClr val="0000CC"/>
                </a:solidFill>
                <a:latin typeface="Times New Roman" panose="02020603050405020304" pitchFamily="18" charset="0"/>
              </a:rPr>
              <a:t>三种点面拓扑关系 </a:t>
            </a:r>
          </a:p>
        </p:txBody>
      </p:sp>
      <p:sp>
        <p:nvSpPr>
          <p:cNvPr id="36873" name="Rectangle 10"/>
          <p:cNvSpPr>
            <a:spLocks noChangeArrowheads="1"/>
          </p:cNvSpPr>
          <p:nvPr/>
        </p:nvSpPr>
        <p:spPr bwMode="auto">
          <a:xfrm>
            <a:off x="0" y="2366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graphicFrame>
        <p:nvGraphicFramePr>
          <p:cNvPr id="36874" name="Object 9"/>
          <p:cNvGraphicFramePr>
            <a:graphicFrameLocks noChangeAspect="1"/>
          </p:cNvGraphicFramePr>
          <p:nvPr>
            <p:extLst/>
          </p:nvPr>
        </p:nvGraphicFramePr>
        <p:xfrm>
          <a:off x="2585706" y="3888016"/>
          <a:ext cx="2088232" cy="2874564"/>
        </p:xfrm>
        <a:graphic>
          <a:graphicData uri="http://schemas.openxmlformats.org/presentationml/2006/ole">
            <mc:AlternateContent xmlns:mc="http://schemas.openxmlformats.org/markup-compatibility/2006">
              <mc:Choice xmlns:v="urn:schemas-microsoft-com:vml" Requires="v">
                <p:oleObj spid="_x0000_s23563" name="Visio" r:id="rId3" imgW="2365629" imgH="3258312" progId="Visio.Drawing.11">
                  <p:embed/>
                </p:oleObj>
              </mc:Choice>
              <mc:Fallback>
                <p:oleObj name="Visio" r:id="rId3" imgW="2365629" imgH="3258312" progId="Visio.Drawing.11">
                  <p:embed/>
                  <p:pic>
                    <p:nvPicPr>
                      <p:cNvPr id="36874"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706" y="3888016"/>
                        <a:ext cx="2088232" cy="2874564"/>
                      </a:xfrm>
                      <a:prstGeom prst="rect">
                        <a:avLst/>
                      </a:prstGeom>
                      <a:solidFill>
                        <a:schemeClr val="bg1"/>
                      </a:solidFill>
                      <a:ln>
                        <a:noFill/>
                      </a:ln>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34</a:t>
            </a:fld>
            <a:endParaRPr lang="en-US" altLang="zh-CN"/>
          </a:p>
        </p:txBody>
      </p:sp>
      <p:sp>
        <p:nvSpPr>
          <p:cNvPr id="12" name="Text Box 2"/>
          <p:cNvSpPr txBox="1">
            <a:spLocks noChangeArrowheads="1"/>
          </p:cNvSpPr>
          <p:nvPr/>
        </p:nvSpPr>
        <p:spPr bwMode="auto">
          <a:xfrm>
            <a:off x="251520" y="126186"/>
            <a:ext cx="338437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dirty="0">
                <a:solidFill>
                  <a:srgbClr val="FFFF00"/>
                </a:solidFill>
                <a:latin typeface="Times New Roman" panose="02020603050405020304" pitchFamily="18" charset="0"/>
              </a:rPr>
              <a:t>1</a:t>
            </a:r>
            <a:r>
              <a:rPr lang="zh-CN" altLang="en-US" sz="3600" dirty="0">
                <a:solidFill>
                  <a:srgbClr val="FFFF00"/>
                </a:solidFill>
                <a:latin typeface="Times New Roman" panose="02020603050405020304" pitchFamily="18" charset="0"/>
              </a:rPr>
              <a:t>）</a:t>
            </a:r>
            <a:r>
              <a:rPr lang="en-US" altLang="zh-CN" sz="3600" dirty="0">
                <a:solidFill>
                  <a:srgbClr val="FFFF00"/>
                </a:solidFill>
                <a:latin typeface="Times New Roman" panose="02020603050405020304" pitchFamily="18" charset="0"/>
              </a:rPr>
              <a:t>4</a:t>
            </a:r>
            <a:r>
              <a:rPr lang="zh-CN" altLang="en-US" sz="3600" dirty="0">
                <a:solidFill>
                  <a:srgbClr val="FFFF00"/>
                </a:solidFill>
                <a:latin typeface="Times New Roman" panose="02020603050405020304" pitchFamily="18" charset="0"/>
              </a:rPr>
              <a:t>元组模型</a:t>
            </a:r>
            <a:endParaRPr lang="zh-CN" altLang="en-US" b="0" dirty="0">
              <a:latin typeface="Times New Roman" panose="02020603050405020304" pitchFamily="18" charset="0"/>
            </a:endParaRPr>
          </a:p>
        </p:txBody>
      </p:sp>
      <p:pic>
        <p:nvPicPr>
          <p:cNvPr id="3" name="图片 2"/>
          <p:cNvPicPr>
            <a:picLocks noChangeAspect="1"/>
          </p:cNvPicPr>
          <p:nvPr/>
        </p:nvPicPr>
        <p:blipFill>
          <a:blip r:embed="rId5"/>
          <a:stretch>
            <a:fillRect/>
          </a:stretch>
        </p:blipFill>
        <p:spPr>
          <a:xfrm>
            <a:off x="514958" y="980728"/>
            <a:ext cx="2616882" cy="2145843"/>
          </a:xfrm>
          <a:prstGeom prst="rect">
            <a:avLst/>
          </a:prstGeom>
        </p:spPr>
      </p:pic>
      <p:pic>
        <p:nvPicPr>
          <p:cNvPr id="4" name="图片 3"/>
          <p:cNvPicPr>
            <a:picLocks noChangeAspect="1"/>
          </p:cNvPicPr>
          <p:nvPr/>
        </p:nvPicPr>
        <p:blipFill>
          <a:blip r:embed="rId6"/>
          <a:stretch>
            <a:fillRect/>
          </a:stretch>
        </p:blipFill>
        <p:spPr>
          <a:xfrm>
            <a:off x="5054905" y="1188631"/>
            <a:ext cx="2424871" cy="1797457"/>
          </a:xfrm>
          <a:prstGeom prst="rect">
            <a:avLst/>
          </a:prstGeom>
        </p:spPr>
      </p:pic>
      <p:sp>
        <p:nvSpPr>
          <p:cNvPr id="13" name="Text Box 2"/>
          <p:cNvSpPr txBox="1">
            <a:spLocks noChangeArrowheads="1"/>
          </p:cNvSpPr>
          <p:nvPr/>
        </p:nvSpPr>
        <p:spPr bwMode="auto">
          <a:xfrm>
            <a:off x="4527550" y="126186"/>
            <a:ext cx="4365277"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chemeClr val="bg1"/>
                </a:solidFill>
                <a:latin typeface="Times New Roman" panose="02020603050405020304" pitchFamily="18" charset="0"/>
              </a:rPr>
              <a:t>2. </a:t>
            </a:r>
            <a:r>
              <a:rPr lang="zh-CN" altLang="en-US" sz="3600" dirty="0">
                <a:solidFill>
                  <a:schemeClr val="bg1"/>
                </a:solidFill>
                <a:latin typeface="Times New Roman" panose="02020603050405020304" pitchFamily="18" charset="0"/>
              </a:rPr>
              <a:t>拓扑空间关系描述 </a:t>
            </a:r>
          </a:p>
        </p:txBody>
      </p:sp>
    </p:spTree>
    <p:extLst>
      <p:ext uri="{BB962C8B-B14F-4D97-AF65-F5344CB8AC3E}">
        <p14:creationId xmlns:p14="http://schemas.microsoft.com/office/powerpoint/2010/main" val="50448088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251520" y="957215"/>
            <a:ext cx="40782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CC"/>
                </a:solidFill>
                <a:latin typeface="Times New Roman" panose="02020603050405020304" pitchFamily="18" charset="0"/>
              </a:rPr>
              <a:t>2</a:t>
            </a:r>
            <a:r>
              <a:rPr lang="zh-CN" altLang="en-US" sz="3600" dirty="0">
                <a:solidFill>
                  <a:srgbClr val="0000CC"/>
                </a:solidFill>
                <a:latin typeface="Times New Roman" panose="02020603050405020304" pitchFamily="18" charset="0"/>
              </a:rPr>
              <a:t>）</a:t>
            </a:r>
            <a:r>
              <a:rPr lang="en-US" altLang="zh-CN" sz="3600" dirty="0">
                <a:solidFill>
                  <a:srgbClr val="0000CC"/>
                </a:solidFill>
                <a:latin typeface="Times New Roman" panose="02020603050405020304" pitchFamily="18" charset="0"/>
              </a:rPr>
              <a:t>9</a:t>
            </a:r>
            <a:r>
              <a:rPr lang="zh-CN" altLang="en-US" sz="3600" dirty="0">
                <a:solidFill>
                  <a:srgbClr val="0000CC"/>
                </a:solidFill>
                <a:latin typeface="Times New Roman" panose="02020603050405020304" pitchFamily="18" charset="0"/>
              </a:rPr>
              <a:t>元组模型</a:t>
            </a:r>
          </a:p>
        </p:txBody>
      </p:sp>
      <p:sp>
        <p:nvSpPr>
          <p:cNvPr id="37891" name="Text Box 3"/>
          <p:cNvSpPr txBox="1">
            <a:spLocks noChangeArrowheads="1"/>
          </p:cNvSpPr>
          <p:nvPr/>
        </p:nvSpPr>
        <p:spPr bwMode="auto">
          <a:xfrm>
            <a:off x="108024" y="1513883"/>
            <a:ext cx="8874472" cy="152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CC"/>
              </a:buClr>
              <a:buSzTx/>
              <a:buNone/>
            </a:pPr>
            <a:r>
              <a:rPr lang="en-US" altLang="zh-CN" sz="2400" b="0" dirty="0">
                <a:latin typeface="Times New Roman" panose="02020603050405020304" pitchFamily="18" charset="0"/>
              </a:rPr>
              <a:t>9</a:t>
            </a:r>
            <a:r>
              <a:rPr lang="zh-CN" altLang="en-US" sz="2400" b="0" dirty="0">
                <a:latin typeface="Times New Roman" panose="02020603050405020304" pitchFamily="18" charset="0"/>
              </a:rPr>
              <a:t>元组在</a:t>
            </a:r>
            <a:r>
              <a:rPr lang="en-US" altLang="zh-CN" sz="2400" b="0" dirty="0">
                <a:latin typeface="Times New Roman" panose="02020603050405020304" pitchFamily="18" charset="0"/>
              </a:rPr>
              <a:t>4</a:t>
            </a:r>
            <a:r>
              <a:rPr lang="zh-CN" altLang="en-US" sz="2400" b="0" dirty="0">
                <a:latin typeface="Times New Roman" panose="02020603050405020304" pitchFamily="18" charset="0"/>
              </a:rPr>
              <a:t>元组的基础上，在空间描述框架中引入</a:t>
            </a:r>
            <a:r>
              <a:rPr lang="zh-CN" altLang="en-US" sz="2400" b="0" dirty="0">
                <a:solidFill>
                  <a:srgbClr val="0000CC"/>
                </a:solidFill>
                <a:latin typeface="Times New Roman" panose="02020603050405020304" pitchFamily="18" charset="0"/>
              </a:rPr>
              <a:t>空间实体的“补</a:t>
            </a:r>
            <a:r>
              <a:rPr lang="en-US" altLang="zh-CN" sz="2400" b="0" dirty="0">
                <a:solidFill>
                  <a:srgbClr val="0000CC"/>
                </a:solidFill>
                <a:latin typeface="Times New Roman" panose="02020603050405020304" pitchFamily="18" charset="0"/>
              </a:rPr>
              <a:t>(</a:t>
            </a:r>
            <a:r>
              <a:rPr lang="zh-CN" altLang="en-US" sz="2400" b="0" dirty="0">
                <a:solidFill>
                  <a:srgbClr val="0000CC"/>
                </a:solidFill>
                <a:latin typeface="Times New Roman" panose="02020603050405020304" pitchFamily="18" charset="0"/>
              </a:rPr>
              <a:t>外部</a:t>
            </a:r>
            <a:r>
              <a:rPr lang="en-US" altLang="zh-CN" sz="2400" b="0" dirty="0">
                <a:solidFill>
                  <a:srgbClr val="0000CC"/>
                </a:solidFill>
                <a:latin typeface="Times New Roman" panose="02020603050405020304" pitchFamily="18" charset="0"/>
              </a:rPr>
              <a:t>)</a:t>
            </a:r>
            <a:r>
              <a:rPr lang="zh-CN" altLang="en-US" sz="2400" b="0" dirty="0">
                <a:solidFill>
                  <a:srgbClr val="0000CC"/>
                </a:solidFill>
                <a:latin typeface="Times New Roman" panose="02020603050405020304" pitchFamily="18" charset="0"/>
              </a:rPr>
              <a:t>”</a:t>
            </a:r>
            <a:r>
              <a:rPr lang="zh-CN" altLang="en-US" sz="2400" b="0" dirty="0">
                <a:latin typeface="Times New Roman" panose="02020603050405020304" pitchFamily="18" charset="0"/>
              </a:rPr>
              <a:t>的概念，将空间目标</a:t>
            </a:r>
            <a:r>
              <a:rPr lang="en-US" altLang="zh-CN" sz="2400" b="0" i="1" dirty="0">
                <a:latin typeface="Times New Roman" panose="02020603050405020304" pitchFamily="18" charset="0"/>
              </a:rPr>
              <a:t>A</a:t>
            </a:r>
            <a:r>
              <a:rPr lang="zh-CN" altLang="en-US" sz="2400" b="0" dirty="0">
                <a:latin typeface="Times New Roman" panose="02020603050405020304" pitchFamily="18" charset="0"/>
              </a:rPr>
              <a:t>表示为</a:t>
            </a:r>
            <a:r>
              <a:rPr lang="zh-CN" altLang="en-US" sz="2400" b="0" dirty="0">
                <a:solidFill>
                  <a:srgbClr val="0000CC"/>
                </a:solidFill>
                <a:latin typeface="Times New Roman" panose="02020603050405020304" pitchFamily="18" charset="0"/>
              </a:rPr>
              <a:t>边界</a:t>
            </a:r>
            <a:r>
              <a:rPr lang="zh-CN" altLang="en-US" sz="2400" b="0" dirty="0">
                <a:latin typeface="Times New Roman" panose="02020603050405020304" pitchFamily="18" charset="0"/>
              </a:rPr>
              <a:t>、</a:t>
            </a:r>
            <a:r>
              <a:rPr lang="zh-CN" altLang="en-US" sz="2400" b="0" dirty="0">
                <a:solidFill>
                  <a:srgbClr val="0000CC"/>
                </a:solidFill>
                <a:latin typeface="Times New Roman" panose="02020603050405020304" pitchFamily="18" charset="0"/>
              </a:rPr>
              <a:t>内部</a:t>
            </a:r>
            <a:r>
              <a:rPr lang="zh-CN" altLang="en-US" sz="2400" b="0" dirty="0">
                <a:latin typeface="Times New Roman" panose="02020603050405020304" pitchFamily="18" charset="0"/>
              </a:rPr>
              <a:t>和</a:t>
            </a:r>
            <a:r>
              <a:rPr lang="zh-CN" altLang="en-US" sz="2400" b="0" dirty="0">
                <a:solidFill>
                  <a:srgbClr val="0000CC"/>
                </a:solidFill>
                <a:latin typeface="Times New Roman" panose="02020603050405020304" pitchFamily="18" charset="0"/>
              </a:rPr>
              <a:t>外部</a:t>
            </a:r>
            <a:r>
              <a:rPr lang="zh-CN" altLang="en-US" sz="2400" b="0" dirty="0">
                <a:latin typeface="Times New Roman" panose="02020603050405020304" pitchFamily="18" charset="0"/>
              </a:rPr>
              <a:t>三个部分的集合。通过比较目标</a:t>
            </a:r>
            <a:r>
              <a:rPr lang="en-US" altLang="zh-CN" sz="2400" b="0" i="1" dirty="0">
                <a:latin typeface="Times New Roman" panose="02020603050405020304" pitchFamily="18" charset="0"/>
              </a:rPr>
              <a:t>A</a:t>
            </a:r>
            <a:r>
              <a:rPr lang="zh-CN" altLang="en-US" sz="2400" b="0" dirty="0">
                <a:latin typeface="Times New Roman" panose="02020603050405020304" pitchFamily="18" charset="0"/>
              </a:rPr>
              <a:t>与</a:t>
            </a:r>
            <a:r>
              <a:rPr lang="en-US" altLang="zh-CN" sz="2400" b="0" i="1" dirty="0">
                <a:latin typeface="Times New Roman" panose="02020603050405020304" pitchFamily="18" charset="0"/>
              </a:rPr>
              <a:t>B</a:t>
            </a:r>
            <a:r>
              <a:rPr lang="zh-CN" altLang="en-US" sz="2400" b="0" dirty="0">
                <a:latin typeface="Times New Roman" panose="02020603050405020304" pitchFamily="18" charset="0"/>
              </a:rPr>
              <a:t>的边界、内部、外部之交集</a:t>
            </a:r>
            <a:r>
              <a:rPr lang="en-US" altLang="zh-CN" sz="2400" b="0" dirty="0">
                <a:latin typeface="Times New Roman" panose="02020603050405020304" pitchFamily="18" charset="0"/>
              </a:rPr>
              <a:t>(</a:t>
            </a:r>
            <a:r>
              <a:rPr lang="zh-CN" altLang="en-US" sz="2400" b="0" dirty="0">
                <a:latin typeface="Times New Roman" panose="02020603050405020304" pitchFamily="18" charset="0"/>
              </a:rPr>
              <a:t>空或非空</a:t>
            </a:r>
            <a:r>
              <a:rPr lang="en-US" altLang="zh-CN" sz="2400" b="0" dirty="0">
                <a:latin typeface="Times New Roman" panose="02020603050405020304" pitchFamily="18" charset="0"/>
              </a:rPr>
              <a:t>) </a:t>
            </a:r>
            <a:r>
              <a:rPr lang="zh-CN" altLang="en-US" sz="2400" b="0" dirty="0">
                <a:latin typeface="Times New Roman" panose="02020603050405020304" pitchFamily="18" charset="0"/>
              </a:rPr>
              <a:t>，分析确定</a:t>
            </a:r>
            <a:r>
              <a:rPr lang="en-US" altLang="zh-CN" sz="2400" b="0" i="1" dirty="0">
                <a:latin typeface="Times New Roman" panose="02020603050405020304" pitchFamily="18" charset="0"/>
              </a:rPr>
              <a:t>A</a:t>
            </a:r>
            <a:r>
              <a:rPr lang="zh-CN" altLang="en-US" sz="2400" b="0" dirty="0">
                <a:latin typeface="Times New Roman" panose="02020603050405020304" pitchFamily="18" charset="0"/>
              </a:rPr>
              <a:t>、</a:t>
            </a:r>
            <a:r>
              <a:rPr lang="en-US" altLang="zh-CN" sz="2400" b="0" i="1" dirty="0">
                <a:latin typeface="Times New Roman" panose="02020603050405020304" pitchFamily="18" charset="0"/>
              </a:rPr>
              <a:t>B</a:t>
            </a:r>
            <a:r>
              <a:rPr lang="zh-CN" altLang="en-US" sz="2400" b="0" dirty="0">
                <a:latin typeface="Times New Roman" panose="02020603050405020304" pitchFamily="18" charset="0"/>
              </a:rPr>
              <a:t>间的空间拓扑关系。</a:t>
            </a:r>
          </a:p>
        </p:txBody>
      </p:sp>
      <p:sp>
        <p:nvSpPr>
          <p:cNvPr id="37892" name="Rectangle 5"/>
          <p:cNvSpPr>
            <a:spLocks noChangeArrowheads="1"/>
          </p:cNvSpPr>
          <p:nvPr/>
        </p:nvSpPr>
        <p:spPr bwMode="auto">
          <a:xfrm>
            <a:off x="0"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graphicFrame>
        <p:nvGraphicFramePr>
          <p:cNvPr id="37893" name="Object 4"/>
          <p:cNvGraphicFramePr>
            <a:graphicFrameLocks noChangeAspect="1"/>
          </p:cNvGraphicFramePr>
          <p:nvPr>
            <p:extLst/>
          </p:nvPr>
        </p:nvGraphicFramePr>
        <p:xfrm>
          <a:off x="429456" y="3594045"/>
          <a:ext cx="4189550" cy="1474631"/>
        </p:xfrm>
        <a:graphic>
          <a:graphicData uri="http://schemas.openxmlformats.org/presentationml/2006/ole">
            <mc:AlternateContent xmlns:mc="http://schemas.openxmlformats.org/markup-compatibility/2006">
              <mc:Choice xmlns:v="urn:schemas-microsoft-com:vml" Requires="v">
                <p:oleObj spid="_x0000_s24587" name="公式" r:id="rId3" imgW="1886068" imgH="657180" progId="Equation.3">
                  <p:embed/>
                </p:oleObj>
              </mc:Choice>
              <mc:Fallback>
                <p:oleObj name="公式" r:id="rId3" imgW="1886068" imgH="657180" progId="Equation.3">
                  <p:embed/>
                  <p:pic>
                    <p:nvPicPr>
                      <p:cNvPr id="3789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456" y="3594045"/>
                        <a:ext cx="4189550" cy="1474631"/>
                      </a:xfrm>
                      <a:prstGeom prst="rect">
                        <a:avLst/>
                      </a:prstGeom>
                      <a:solidFill>
                        <a:srgbClr val="0000CC"/>
                      </a:solidFill>
                      <a:ln>
                        <a:noFill/>
                      </a:ln>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35</a:t>
            </a:fld>
            <a:endParaRPr lang="en-US" altLang="zh-CN"/>
          </a:p>
        </p:txBody>
      </p:sp>
      <p:sp>
        <p:nvSpPr>
          <p:cNvPr id="7" name="Text Box 2"/>
          <p:cNvSpPr txBox="1">
            <a:spLocks noChangeArrowheads="1"/>
          </p:cNvSpPr>
          <p:nvPr/>
        </p:nvSpPr>
        <p:spPr bwMode="auto">
          <a:xfrm>
            <a:off x="108024" y="74908"/>
            <a:ext cx="4365277"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chemeClr val="bg1"/>
                </a:solidFill>
                <a:latin typeface="Times New Roman" panose="02020603050405020304" pitchFamily="18" charset="0"/>
              </a:rPr>
              <a:t>2. </a:t>
            </a:r>
            <a:r>
              <a:rPr lang="zh-CN" altLang="en-US" sz="3600" dirty="0">
                <a:solidFill>
                  <a:schemeClr val="bg1"/>
                </a:solidFill>
                <a:latin typeface="Times New Roman" panose="02020603050405020304" pitchFamily="18" charset="0"/>
              </a:rPr>
              <a:t>拓扑空间关系描述 </a:t>
            </a:r>
          </a:p>
        </p:txBody>
      </p:sp>
      <p:sp>
        <p:nvSpPr>
          <p:cNvPr id="8" name="Text Box 2"/>
          <p:cNvSpPr txBox="1">
            <a:spLocks noChangeArrowheads="1"/>
          </p:cNvSpPr>
          <p:nvPr/>
        </p:nvSpPr>
        <p:spPr bwMode="auto">
          <a:xfrm>
            <a:off x="241940" y="3116991"/>
            <a:ext cx="456458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CC"/>
              </a:buClr>
              <a:buSzTx/>
              <a:buNone/>
            </a:pPr>
            <a:r>
              <a:rPr lang="zh-CN" altLang="en-US" sz="2800" b="0" dirty="0">
                <a:latin typeface="Times New Roman" panose="02020603050405020304" pitchFamily="18" charset="0"/>
              </a:rPr>
              <a:t>理论上可区分</a:t>
            </a:r>
            <a:r>
              <a:rPr lang="en-US" altLang="zh-CN" sz="2800" b="0" dirty="0">
                <a:solidFill>
                  <a:srgbClr val="0000CC"/>
                </a:solidFill>
                <a:latin typeface="Times New Roman" panose="02020603050405020304" pitchFamily="18" charset="0"/>
              </a:rPr>
              <a:t>512(2</a:t>
            </a:r>
            <a:r>
              <a:rPr lang="en-US" altLang="zh-CN" sz="2800" b="0" baseline="30000" dirty="0">
                <a:solidFill>
                  <a:srgbClr val="0000CC"/>
                </a:solidFill>
                <a:latin typeface="Times New Roman" panose="02020603050405020304" pitchFamily="18" charset="0"/>
              </a:rPr>
              <a:t>9</a:t>
            </a:r>
            <a:r>
              <a:rPr lang="en-US" altLang="zh-CN" sz="2800" b="0" dirty="0">
                <a:solidFill>
                  <a:srgbClr val="0000CC"/>
                </a:solidFill>
                <a:latin typeface="Times New Roman" panose="02020603050405020304" pitchFamily="18" charset="0"/>
              </a:rPr>
              <a:t>)</a:t>
            </a:r>
            <a:r>
              <a:rPr lang="zh-CN" altLang="en-US" sz="2800" b="0" dirty="0">
                <a:solidFill>
                  <a:srgbClr val="0000CC"/>
                </a:solidFill>
                <a:latin typeface="Times New Roman" panose="02020603050405020304" pitchFamily="18" charset="0"/>
              </a:rPr>
              <a:t>种关系</a:t>
            </a:r>
          </a:p>
        </p:txBody>
      </p:sp>
      <p:sp>
        <p:nvSpPr>
          <p:cNvPr id="9" name="Text Box 2"/>
          <p:cNvSpPr txBox="1">
            <a:spLocks noChangeArrowheads="1"/>
          </p:cNvSpPr>
          <p:nvPr/>
        </p:nvSpPr>
        <p:spPr bwMode="auto">
          <a:xfrm>
            <a:off x="5436096" y="3637466"/>
            <a:ext cx="2808312" cy="2262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ts val="0"/>
              </a:spcBef>
              <a:buClr>
                <a:srgbClr val="0000CC"/>
              </a:buClr>
              <a:buSzTx/>
              <a:buFont typeface="Wingdings" panose="05000000000000000000" pitchFamily="2" charset="2"/>
              <a:buChar char="Ø"/>
            </a:pPr>
            <a:r>
              <a:rPr lang="en-US" altLang="zh-CN" sz="2400" b="0" dirty="0">
                <a:solidFill>
                  <a:srgbClr val="0000CC"/>
                </a:solidFill>
                <a:latin typeface="Times New Roman" panose="02020603050405020304" pitchFamily="18" charset="0"/>
              </a:rPr>
              <a:t>2</a:t>
            </a:r>
            <a:r>
              <a:rPr lang="zh-CN" altLang="en-US" sz="2400" b="0" dirty="0">
                <a:solidFill>
                  <a:srgbClr val="0000CC"/>
                </a:solidFill>
                <a:latin typeface="Times New Roman" panose="02020603050405020304" pitchFamily="18" charset="0"/>
              </a:rPr>
              <a:t>种点点间关系</a:t>
            </a:r>
          </a:p>
          <a:p>
            <a:pPr marL="457200" indent="-457200" eaLnBrk="1" hangingPunct="1">
              <a:spcBef>
                <a:spcPts val="0"/>
              </a:spcBef>
              <a:buClr>
                <a:srgbClr val="0000CC"/>
              </a:buClr>
              <a:buSzTx/>
              <a:buFont typeface="Wingdings" panose="05000000000000000000" pitchFamily="2" charset="2"/>
              <a:buChar char="Ø"/>
            </a:pPr>
            <a:r>
              <a:rPr lang="en-US" altLang="zh-CN" sz="2400" b="0" dirty="0">
                <a:solidFill>
                  <a:srgbClr val="0000CC"/>
                </a:solidFill>
                <a:latin typeface="Times New Roman" panose="02020603050405020304" pitchFamily="18" charset="0"/>
              </a:rPr>
              <a:t>3</a:t>
            </a:r>
            <a:r>
              <a:rPr lang="zh-CN" altLang="en-US" sz="2400" b="0" dirty="0">
                <a:solidFill>
                  <a:srgbClr val="0000CC"/>
                </a:solidFill>
                <a:latin typeface="Times New Roman" panose="02020603050405020304" pitchFamily="18" charset="0"/>
              </a:rPr>
              <a:t>种点线间关系</a:t>
            </a:r>
          </a:p>
          <a:p>
            <a:pPr marL="457200" indent="-457200" eaLnBrk="1" hangingPunct="1">
              <a:spcBef>
                <a:spcPts val="0"/>
              </a:spcBef>
              <a:buClr>
                <a:srgbClr val="0000CC"/>
              </a:buClr>
              <a:buSzTx/>
              <a:buFont typeface="Wingdings" panose="05000000000000000000" pitchFamily="2" charset="2"/>
              <a:buChar char="Ø"/>
            </a:pPr>
            <a:r>
              <a:rPr lang="en-US" altLang="zh-CN" sz="2400" b="0" dirty="0">
                <a:solidFill>
                  <a:srgbClr val="0000CC"/>
                </a:solidFill>
                <a:latin typeface="Times New Roman" panose="02020603050405020304" pitchFamily="18" charset="0"/>
              </a:rPr>
              <a:t>3</a:t>
            </a:r>
            <a:r>
              <a:rPr lang="zh-CN" altLang="en-US" sz="2400" b="0" dirty="0">
                <a:solidFill>
                  <a:srgbClr val="0000CC"/>
                </a:solidFill>
                <a:latin typeface="Times New Roman" panose="02020603050405020304" pitchFamily="18" charset="0"/>
              </a:rPr>
              <a:t>种点面间关系</a:t>
            </a:r>
          </a:p>
          <a:p>
            <a:pPr marL="457200" indent="-457200" eaLnBrk="1" hangingPunct="1">
              <a:spcBef>
                <a:spcPts val="0"/>
              </a:spcBef>
              <a:buClr>
                <a:srgbClr val="0000CC"/>
              </a:buClr>
              <a:buSzTx/>
              <a:buFont typeface="Wingdings" panose="05000000000000000000" pitchFamily="2" charset="2"/>
              <a:buChar char="Ø"/>
            </a:pPr>
            <a:r>
              <a:rPr lang="en-US" altLang="zh-CN" sz="2400" b="0" dirty="0">
                <a:solidFill>
                  <a:srgbClr val="0000CC"/>
                </a:solidFill>
                <a:latin typeface="Times New Roman" panose="02020603050405020304" pitchFamily="18" charset="0"/>
              </a:rPr>
              <a:t>33</a:t>
            </a:r>
            <a:r>
              <a:rPr lang="zh-CN" altLang="en-US" sz="2400" b="0" dirty="0">
                <a:solidFill>
                  <a:srgbClr val="0000CC"/>
                </a:solidFill>
                <a:latin typeface="Times New Roman" panose="02020603050405020304" pitchFamily="18" charset="0"/>
              </a:rPr>
              <a:t>种线线间关系</a:t>
            </a:r>
          </a:p>
          <a:p>
            <a:pPr marL="457200" indent="-457200" eaLnBrk="1" hangingPunct="1">
              <a:spcBef>
                <a:spcPts val="0"/>
              </a:spcBef>
              <a:buClr>
                <a:srgbClr val="0000CC"/>
              </a:buClr>
              <a:buSzTx/>
              <a:buFont typeface="Wingdings" panose="05000000000000000000" pitchFamily="2" charset="2"/>
              <a:buChar char="Ø"/>
            </a:pPr>
            <a:r>
              <a:rPr lang="en-US" altLang="zh-CN" sz="2400" b="0" dirty="0">
                <a:solidFill>
                  <a:srgbClr val="0000CC"/>
                </a:solidFill>
                <a:latin typeface="Times New Roman" panose="02020603050405020304" pitchFamily="18" charset="0"/>
              </a:rPr>
              <a:t>19</a:t>
            </a:r>
            <a:r>
              <a:rPr lang="zh-CN" altLang="en-US" sz="2400" b="0" dirty="0">
                <a:solidFill>
                  <a:srgbClr val="0000CC"/>
                </a:solidFill>
                <a:latin typeface="Times New Roman" panose="02020603050405020304" pitchFamily="18" charset="0"/>
              </a:rPr>
              <a:t>种线面间关系</a:t>
            </a:r>
          </a:p>
          <a:p>
            <a:pPr marL="457200" indent="-457200" eaLnBrk="1" hangingPunct="1">
              <a:spcBef>
                <a:spcPts val="0"/>
              </a:spcBef>
              <a:buClr>
                <a:srgbClr val="0000CC"/>
              </a:buClr>
              <a:buSzTx/>
              <a:buFont typeface="Wingdings" panose="05000000000000000000" pitchFamily="2" charset="2"/>
              <a:buChar char="Ø"/>
            </a:pPr>
            <a:r>
              <a:rPr lang="en-US" altLang="zh-CN" sz="2400" b="0" dirty="0">
                <a:solidFill>
                  <a:srgbClr val="0000CC"/>
                </a:solidFill>
                <a:latin typeface="Times New Roman" panose="02020603050405020304" pitchFamily="18" charset="0"/>
              </a:rPr>
              <a:t>8</a:t>
            </a:r>
            <a:r>
              <a:rPr lang="zh-CN" altLang="en-US" sz="2400" b="0" dirty="0">
                <a:solidFill>
                  <a:srgbClr val="0000CC"/>
                </a:solidFill>
                <a:latin typeface="Times New Roman" panose="02020603050405020304" pitchFamily="18" charset="0"/>
              </a:rPr>
              <a:t>种面面间关系</a:t>
            </a:r>
          </a:p>
        </p:txBody>
      </p:sp>
      <p:sp>
        <p:nvSpPr>
          <p:cNvPr id="10" name="Text Box 2"/>
          <p:cNvSpPr txBox="1">
            <a:spLocks noChangeArrowheads="1"/>
          </p:cNvSpPr>
          <p:nvPr/>
        </p:nvSpPr>
        <p:spPr bwMode="auto">
          <a:xfrm>
            <a:off x="4932040" y="3078335"/>
            <a:ext cx="354221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CC"/>
              </a:buClr>
              <a:buSzTx/>
              <a:buNone/>
            </a:pPr>
            <a:r>
              <a:rPr lang="zh-CN" altLang="en-US" sz="2800" b="0" dirty="0">
                <a:solidFill>
                  <a:srgbClr val="0000CC"/>
                </a:solidFill>
                <a:latin typeface="Times New Roman" panose="02020603050405020304" pitchFamily="18" charset="0"/>
              </a:rPr>
              <a:t>具有实际意义的模型：</a:t>
            </a:r>
          </a:p>
        </p:txBody>
      </p:sp>
      <p:pic>
        <p:nvPicPr>
          <p:cNvPr id="4" name="图片 3"/>
          <p:cNvPicPr>
            <a:picLocks noChangeAspect="1"/>
          </p:cNvPicPr>
          <p:nvPr/>
        </p:nvPicPr>
        <p:blipFill>
          <a:blip r:embed="rId5"/>
          <a:stretch>
            <a:fillRect/>
          </a:stretch>
        </p:blipFill>
        <p:spPr>
          <a:xfrm>
            <a:off x="509760" y="5157719"/>
            <a:ext cx="3817956" cy="741905"/>
          </a:xfrm>
          <a:prstGeom prst="rect">
            <a:avLst/>
          </a:prstGeom>
        </p:spPr>
      </p:pic>
      <p:pic>
        <p:nvPicPr>
          <p:cNvPr id="5" name="图片 4"/>
          <p:cNvPicPr>
            <a:picLocks noChangeAspect="1"/>
          </p:cNvPicPr>
          <p:nvPr/>
        </p:nvPicPr>
        <p:blipFill>
          <a:blip r:embed="rId6"/>
          <a:stretch>
            <a:fillRect/>
          </a:stretch>
        </p:blipFill>
        <p:spPr>
          <a:xfrm>
            <a:off x="509760" y="5988666"/>
            <a:ext cx="3817956" cy="719325"/>
          </a:xfrm>
          <a:prstGeom prst="rect">
            <a:avLst/>
          </a:prstGeom>
        </p:spPr>
      </p:pic>
    </p:spTree>
    <p:extLst>
      <p:ext uri="{BB962C8B-B14F-4D97-AF65-F5344CB8AC3E}">
        <p14:creationId xmlns:p14="http://schemas.microsoft.com/office/powerpoint/2010/main" val="39877204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2660" y="4057026"/>
            <a:ext cx="2246761" cy="206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Rectangle 5"/>
          <p:cNvSpPr>
            <a:spLocks noChangeArrowheads="1"/>
          </p:cNvSpPr>
          <p:nvPr/>
        </p:nvSpPr>
        <p:spPr bwMode="auto">
          <a:xfrm>
            <a:off x="4479925" y="3103563"/>
            <a:ext cx="1841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36</a:t>
            </a:fld>
            <a:endParaRPr lang="en-US" altLang="zh-CN"/>
          </a:p>
        </p:txBody>
      </p:sp>
      <p:sp>
        <p:nvSpPr>
          <p:cNvPr id="11" name="Text Box 2"/>
          <p:cNvSpPr txBox="1">
            <a:spLocks noChangeArrowheads="1"/>
          </p:cNvSpPr>
          <p:nvPr/>
        </p:nvSpPr>
        <p:spPr bwMode="auto">
          <a:xfrm>
            <a:off x="319088" y="116632"/>
            <a:ext cx="72580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3. </a:t>
            </a:r>
            <a:r>
              <a:rPr lang="zh-CN" altLang="en-US" sz="3600" dirty="0">
                <a:solidFill>
                  <a:srgbClr val="FFFF00"/>
                </a:solidFill>
                <a:latin typeface="Times New Roman" panose="02020603050405020304" pitchFamily="18" charset="0"/>
              </a:rPr>
              <a:t>顺序关系描述（方向空间关系）</a:t>
            </a:r>
            <a:r>
              <a:rPr lang="zh-CN" altLang="en-US" b="0" dirty="0">
                <a:latin typeface="Times New Roman" panose="02020603050405020304" pitchFamily="18" charset="0"/>
              </a:rPr>
              <a:t> </a:t>
            </a:r>
          </a:p>
        </p:txBody>
      </p:sp>
      <p:graphicFrame>
        <p:nvGraphicFramePr>
          <p:cNvPr id="13" name="Object 5"/>
          <p:cNvGraphicFramePr>
            <a:graphicFrameLocks noChangeAspect="1"/>
          </p:cNvGraphicFramePr>
          <p:nvPr>
            <p:extLst>
              <p:ext uri="{D42A27DB-BD31-4B8C-83A1-F6EECF244321}">
                <p14:modId xmlns:p14="http://schemas.microsoft.com/office/powerpoint/2010/main" val="1240715089"/>
              </p:ext>
            </p:extLst>
          </p:nvPr>
        </p:nvGraphicFramePr>
        <p:xfrm>
          <a:off x="1193449" y="3579965"/>
          <a:ext cx="7707313" cy="561975"/>
        </p:xfrm>
        <a:graphic>
          <a:graphicData uri="http://schemas.openxmlformats.org/presentationml/2006/ole">
            <mc:AlternateContent xmlns:mc="http://schemas.openxmlformats.org/markup-compatibility/2006">
              <mc:Choice xmlns:v="urn:schemas-microsoft-com:vml" Requires="v">
                <p:oleObj spid="_x0000_s2246" name="Equation" r:id="rId5" imgW="3581280" imgH="241200" progId="Equation.DSMT4">
                  <p:embed/>
                </p:oleObj>
              </mc:Choice>
              <mc:Fallback>
                <p:oleObj name="Equation" r:id="rId5" imgW="3581280" imgH="241200" progId="Equation.DSMT4">
                  <p:embed/>
                  <p:pic>
                    <p:nvPicPr>
                      <p:cNvPr id="13" name="Object 5"/>
                      <p:cNvPicPr>
                        <a:picLocks noChangeAspect="1" noChangeArrowheads="1"/>
                      </p:cNvPicPr>
                      <p:nvPr/>
                    </p:nvPicPr>
                    <p:blipFill>
                      <a:blip r:embed="rId6"/>
                      <a:srcRect/>
                      <a:stretch>
                        <a:fillRect/>
                      </a:stretch>
                    </p:blipFill>
                    <p:spPr bwMode="auto">
                      <a:xfrm>
                        <a:off x="1193449" y="3579965"/>
                        <a:ext cx="7707313" cy="561975"/>
                      </a:xfrm>
                      <a:prstGeom prst="rect">
                        <a:avLst/>
                      </a:prstGeom>
                      <a:noFill/>
                      <a:ln>
                        <a:noFill/>
                      </a:ln>
                      <a:extLst/>
                    </p:spPr>
                  </p:pic>
                </p:oleObj>
              </mc:Fallback>
            </mc:AlternateContent>
          </a:graphicData>
        </a:graphic>
      </p:graphicFrame>
      <p:graphicFrame>
        <p:nvGraphicFramePr>
          <p:cNvPr id="14" name="Object 3"/>
          <p:cNvGraphicFramePr>
            <a:graphicFrameLocks noChangeAspect="1"/>
          </p:cNvGraphicFramePr>
          <p:nvPr>
            <p:extLst>
              <p:ext uri="{D42A27DB-BD31-4B8C-83A1-F6EECF244321}">
                <p14:modId xmlns:p14="http://schemas.microsoft.com/office/powerpoint/2010/main" val="1510461797"/>
              </p:ext>
            </p:extLst>
          </p:nvPr>
        </p:nvGraphicFramePr>
        <p:xfrm>
          <a:off x="1193449" y="1546432"/>
          <a:ext cx="7531943" cy="657798"/>
        </p:xfrm>
        <a:graphic>
          <a:graphicData uri="http://schemas.openxmlformats.org/presentationml/2006/ole">
            <mc:AlternateContent xmlns:mc="http://schemas.openxmlformats.org/markup-compatibility/2006">
              <mc:Choice xmlns:v="urn:schemas-microsoft-com:vml" Requires="v">
                <p:oleObj spid="_x0000_s2247" name="Equation" r:id="rId7" imgW="3517560" imgH="241200" progId="Equation.DSMT4">
                  <p:embed/>
                </p:oleObj>
              </mc:Choice>
              <mc:Fallback>
                <p:oleObj name="Equation" r:id="rId7" imgW="3517560" imgH="241200" progId="Equation.DSMT4">
                  <p:embed/>
                  <p:pic>
                    <p:nvPicPr>
                      <p:cNvPr id="14" name="Object 3"/>
                      <p:cNvPicPr>
                        <a:picLocks noChangeAspect="1" noChangeArrowheads="1"/>
                      </p:cNvPicPr>
                      <p:nvPr/>
                    </p:nvPicPr>
                    <p:blipFill>
                      <a:blip r:embed="rId8"/>
                      <a:srcRect/>
                      <a:stretch>
                        <a:fillRect/>
                      </a:stretch>
                    </p:blipFill>
                    <p:spPr bwMode="auto">
                      <a:xfrm>
                        <a:off x="1193449" y="1546432"/>
                        <a:ext cx="7531943" cy="657798"/>
                      </a:xfrm>
                      <a:prstGeom prst="rect">
                        <a:avLst/>
                      </a:prstGeom>
                      <a:noFill/>
                      <a:ln>
                        <a:noFill/>
                      </a:ln>
                      <a:extLst/>
                    </p:spPr>
                  </p:pic>
                </p:oleObj>
              </mc:Fallback>
            </mc:AlternateContent>
          </a:graphicData>
        </a:graphic>
      </p:graphicFrame>
      <p:graphicFrame>
        <p:nvGraphicFramePr>
          <p:cNvPr id="15" name="Object 4"/>
          <p:cNvGraphicFramePr>
            <a:graphicFrameLocks noChangeAspect="1"/>
          </p:cNvGraphicFramePr>
          <p:nvPr>
            <p:extLst>
              <p:ext uri="{D42A27DB-BD31-4B8C-83A1-F6EECF244321}">
                <p14:modId xmlns:p14="http://schemas.microsoft.com/office/powerpoint/2010/main" val="3721704794"/>
              </p:ext>
            </p:extLst>
          </p:nvPr>
        </p:nvGraphicFramePr>
        <p:xfrm>
          <a:off x="1165217" y="2978750"/>
          <a:ext cx="7750175" cy="555625"/>
        </p:xfrm>
        <a:graphic>
          <a:graphicData uri="http://schemas.openxmlformats.org/presentationml/2006/ole">
            <mc:AlternateContent xmlns:mc="http://schemas.openxmlformats.org/markup-compatibility/2006">
              <mc:Choice xmlns:v="urn:schemas-microsoft-com:vml" Requires="v">
                <p:oleObj spid="_x0000_s2248" name="Equation" r:id="rId9" imgW="3581280" imgH="241200" progId="Equation.DSMT4">
                  <p:embed/>
                </p:oleObj>
              </mc:Choice>
              <mc:Fallback>
                <p:oleObj name="Equation" r:id="rId9" imgW="3581280" imgH="241200" progId="Equation.DSMT4">
                  <p:embed/>
                  <p:pic>
                    <p:nvPicPr>
                      <p:cNvPr id="15" name="Object 4"/>
                      <p:cNvPicPr>
                        <a:picLocks noChangeAspect="1" noChangeArrowheads="1"/>
                      </p:cNvPicPr>
                      <p:nvPr/>
                    </p:nvPicPr>
                    <p:blipFill>
                      <a:blip r:embed="rId10"/>
                      <a:srcRect/>
                      <a:stretch>
                        <a:fillRect/>
                      </a:stretch>
                    </p:blipFill>
                    <p:spPr bwMode="auto">
                      <a:xfrm>
                        <a:off x="1165217" y="2978750"/>
                        <a:ext cx="7750175" cy="555625"/>
                      </a:xfrm>
                      <a:prstGeom prst="rect">
                        <a:avLst/>
                      </a:prstGeom>
                      <a:noFill/>
                      <a:ln>
                        <a:noFill/>
                      </a:ln>
                      <a:extLst/>
                    </p:spPr>
                  </p:pic>
                </p:oleObj>
              </mc:Fallback>
            </mc:AlternateContent>
          </a:graphicData>
        </a:graphic>
      </p:graphicFrame>
      <p:graphicFrame>
        <p:nvGraphicFramePr>
          <p:cNvPr id="16" name="Object 5"/>
          <p:cNvGraphicFramePr>
            <a:graphicFrameLocks noChangeAspect="1"/>
          </p:cNvGraphicFramePr>
          <p:nvPr>
            <p:extLst>
              <p:ext uri="{D42A27DB-BD31-4B8C-83A1-F6EECF244321}">
                <p14:modId xmlns:p14="http://schemas.microsoft.com/office/powerpoint/2010/main" val="3077919476"/>
              </p:ext>
            </p:extLst>
          </p:nvPr>
        </p:nvGraphicFramePr>
        <p:xfrm>
          <a:off x="1176286" y="2276224"/>
          <a:ext cx="7650692" cy="561975"/>
        </p:xfrm>
        <a:graphic>
          <a:graphicData uri="http://schemas.openxmlformats.org/presentationml/2006/ole">
            <mc:AlternateContent xmlns:mc="http://schemas.openxmlformats.org/markup-compatibility/2006">
              <mc:Choice xmlns:v="urn:schemas-microsoft-com:vml" Requires="v">
                <p:oleObj spid="_x0000_s2249" name="Equation" r:id="rId11" imgW="3492360" imgH="241200" progId="Equation.DSMT4">
                  <p:embed/>
                </p:oleObj>
              </mc:Choice>
              <mc:Fallback>
                <p:oleObj name="Equation" r:id="rId11" imgW="3492360" imgH="241200" progId="Equation.DSMT4">
                  <p:embed/>
                  <p:pic>
                    <p:nvPicPr>
                      <p:cNvPr id="16" name="Object 5"/>
                      <p:cNvPicPr>
                        <a:picLocks noChangeAspect="1" noChangeArrowheads="1"/>
                      </p:cNvPicPr>
                      <p:nvPr/>
                    </p:nvPicPr>
                    <p:blipFill>
                      <a:blip r:embed="rId12"/>
                      <a:srcRect/>
                      <a:stretch>
                        <a:fillRect/>
                      </a:stretch>
                    </p:blipFill>
                    <p:spPr bwMode="auto">
                      <a:xfrm>
                        <a:off x="1176286" y="2276224"/>
                        <a:ext cx="7650692" cy="561975"/>
                      </a:xfrm>
                      <a:prstGeom prst="rect">
                        <a:avLst/>
                      </a:prstGeom>
                      <a:noFill/>
                      <a:ln>
                        <a:noFill/>
                      </a:ln>
                      <a:extLst/>
                    </p:spPr>
                  </p:pic>
                </p:oleObj>
              </mc:Fallback>
            </mc:AlternateContent>
          </a:graphicData>
        </a:graphic>
      </p:graphicFrame>
      <p:sp>
        <p:nvSpPr>
          <p:cNvPr id="17" name="Text Box 2"/>
          <p:cNvSpPr txBox="1">
            <a:spLocks noChangeArrowheads="1"/>
          </p:cNvSpPr>
          <p:nvPr/>
        </p:nvSpPr>
        <p:spPr bwMode="auto">
          <a:xfrm>
            <a:off x="242780" y="2387958"/>
            <a:ext cx="71513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000" dirty="0">
                <a:solidFill>
                  <a:srgbClr val="0000CC"/>
                </a:solidFill>
                <a:latin typeface="Times New Roman" panose="02020603050405020304" pitchFamily="18" charset="0"/>
              </a:rPr>
              <a:t>正东：</a:t>
            </a:r>
            <a:endParaRPr lang="zh-CN" altLang="en-US" sz="2000" b="0" dirty="0">
              <a:solidFill>
                <a:srgbClr val="0000CC"/>
              </a:solidFill>
              <a:latin typeface="Times New Roman" panose="02020603050405020304" pitchFamily="18" charset="0"/>
            </a:endParaRPr>
          </a:p>
        </p:txBody>
      </p:sp>
      <p:sp>
        <p:nvSpPr>
          <p:cNvPr id="18" name="Text Box 2"/>
          <p:cNvSpPr txBox="1">
            <a:spLocks noChangeArrowheads="1"/>
          </p:cNvSpPr>
          <p:nvPr/>
        </p:nvSpPr>
        <p:spPr bwMode="auto">
          <a:xfrm>
            <a:off x="273298" y="3644258"/>
            <a:ext cx="71513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000" dirty="0">
                <a:solidFill>
                  <a:srgbClr val="0000CC"/>
                </a:solidFill>
                <a:latin typeface="Times New Roman" panose="02020603050405020304" pitchFamily="18" charset="0"/>
              </a:rPr>
              <a:t>正南：</a:t>
            </a:r>
            <a:endParaRPr lang="zh-CN" altLang="en-US" sz="2000" b="0" dirty="0">
              <a:solidFill>
                <a:srgbClr val="0000CC"/>
              </a:solidFill>
              <a:latin typeface="Times New Roman" panose="02020603050405020304" pitchFamily="18" charset="0"/>
            </a:endParaRPr>
          </a:p>
        </p:txBody>
      </p:sp>
      <p:sp>
        <p:nvSpPr>
          <p:cNvPr id="19" name="Text Box 2"/>
          <p:cNvSpPr txBox="1">
            <a:spLocks noChangeArrowheads="1"/>
          </p:cNvSpPr>
          <p:nvPr/>
        </p:nvSpPr>
        <p:spPr bwMode="auto">
          <a:xfrm>
            <a:off x="280504" y="1712013"/>
            <a:ext cx="71513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000" dirty="0">
                <a:solidFill>
                  <a:srgbClr val="0000CC"/>
                </a:solidFill>
                <a:latin typeface="Times New Roman" panose="02020603050405020304" pitchFamily="18" charset="0"/>
              </a:rPr>
              <a:t>正西：</a:t>
            </a:r>
            <a:endParaRPr lang="zh-CN" altLang="en-US" sz="2000" b="0" dirty="0">
              <a:solidFill>
                <a:srgbClr val="0000CC"/>
              </a:solidFill>
              <a:latin typeface="Times New Roman" panose="02020603050405020304" pitchFamily="18" charset="0"/>
            </a:endParaRPr>
          </a:p>
        </p:txBody>
      </p:sp>
      <p:sp>
        <p:nvSpPr>
          <p:cNvPr id="20" name="Text Box 2"/>
          <p:cNvSpPr txBox="1">
            <a:spLocks noChangeArrowheads="1"/>
          </p:cNvSpPr>
          <p:nvPr/>
        </p:nvSpPr>
        <p:spPr bwMode="auto">
          <a:xfrm>
            <a:off x="228543" y="3055157"/>
            <a:ext cx="71513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000" dirty="0">
                <a:solidFill>
                  <a:srgbClr val="0000CC"/>
                </a:solidFill>
                <a:latin typeface="Times New Roman" panose="02020603050405020304" pitchFamily="18" charset="0"/>
              </a:rPr>
              <a:t>正北：</a:t>
            </a:r>
            <a:endParaRPr lang="zh-CN" altLang="en-US" sz="2000" b="0" dirty="0">
              <a:solidFill>
                <a:srgbClr val="0000CC"/>
              </a:solidFill>
              <a:latin typeface="Times New Roman" panose="02020603050405020304" pitchFamily="18" charset="0"/>
            </a:endParaRPr>
          </a:p>
        </p:txBody>
      </p:sp>
      <p:pic>
        <p:nvPicPr>
          <p:cNvPr id="21"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44124" y="4027227"/>
            <a:ext cx="2538488" cy="2435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1657" y="4348288"/>
            <a:ext cx="2488808" cy="1159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 Box 2"/>
          <p:cNvSpPr txBox="1">
            <a:spLocks noChangeArrowheads="1"/>
          </p:cNvSpPr>
          <p:nvPr/>
        </p:nvSpPr>
        <p:spPr bwMode="auto">
          <a:xfrm>
            <a:off x="7330424" y="6082512"/>
            <a:ext cx="16561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dirty="0">
                <a:solidFill>
                  <a:srgbClr val="0000CC"/>
                </a:solidFill>
                <a:latin typeface="Times New Roman" panose="02020603050405020304" pitchFamily="18" charset="0"/>
              </a:rPr>
              <a:t>4.</a:t>
            </a:r>
            <a:r>
              <a:rPr lang="zh-CN" altLang="en-US" sz="2400" dirty="0">
                <a:solidFill>
                  <a:srgbClr val="0000CC"/>
                </a:solidFill>
                <a:latin typeface="Times New Roman" panose="02020603050405020304" pitchFamily="18" charset="0"/>
              </a:rPr>
              <a:t>正南关系</a:t>
            </a:r>
            <a:endParaRPr lang="zh-CN" altLang="en-US" sz="2400" b="0" dirty="0">
              <a:solidFill>
                <a:srgbClr val="0000CC"/>
              </a:solidFill>
              <a:latin typeface="Times New Roman" panose="02020603050405020304" pitchFamily="18" charset="0"/>
            </a:endParaRPr>
          </a:p>
        </p:txBody>
      </p:sp>
      <p:sp>
        <p:nvSpPr>
          <p:cNvPr id="24" name="Text Box 2"/>
          <p:cNvSpPr txBox="1">
            <a:spLocks noChangeArrowheads="1"/>
          </p:cNvSpPr>
          <p:nvPr/>
        </p:nvSpPr>
        <p:spPr bwMode="auto">
          <a:xfrm>
            <a:off x="913552" y="6013643"/>
            <a:ext cx="16561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dirty="0">
                <a:solidFill>
                  <a:srgbClr val="0000CC"/>
                </a:solidFill>
                <a:latin typeface="Times New Roman" panose="02020603050405020304" pitchFamily="18" charset="0"/>
              </a:rPr>
              <a:t>1.</a:t>
            </a:r>
            <a:r>
              <a:rPr lang="zh-CN" altLang="en-US" sz="2400" dirty="0">
                <a:solidFill>
                  <a:srgbClr val="0000CC"/>
                </a:solidFill>
                <a:latin typeface="Times New Roman" panose="02020603050405020304" pitchFamily="18" charset="0"/>
              </a:rPr>
              <a:t>正西关系</a:t>
            </a:r>
            <a:endParaRPr lang="zh-CN" altLang="en-US" sz="2400" b="0" dirty="0">
              <a:solidFill>
                <a:srgbClr val="0000CC"/>
              </a:solidFill>
              <a:latin typeface="Times New Roman" panose="02020603050405020304" pitchFamily="18" charset="0"/>
            </a:endParaRPr>
          </a:p>
        </p:txBody>
      </p:sp>
      <p:pic>
        <p:nvPicPr>
          <p:cNvPr id="25"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74260" y="4022695"/>
            <a:ext cx="1938886" cy="204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2"/>
          <p:cNvSpPr txBox="1">
            <a:spLocks noChangeArrowheads="1"/>
          </p:cNvSpPr>
          <p:nvPr/>
        </p:nvSpPr>
        <p:spPr bwMode="auto">
          <a:xfrm>
            <a:off x="5042863" y="6117996"/>
            <a:ext cx="16561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dirty="0">
                <a:solidFill>
                  <a:srgbClr val="0000CC"/>
                </a:solidFill>
                <a:latin typeface="Times New Roman" panose="02020603050405020304" pitchFamily="18" charset="0"/>
              </a:rPr>
              <a:t>3.</a:t>
            </a:r>
            <a:r>
              <a:rPr lang="zh-CN" altLang="en-US" sz="2400" dirty="0">
                <a:solidFill>
                  <a:srgbClr val="0000CC"/>
                </a:solidFill>
                <a:latin typeface="Times New Roman" panose="02020603050405020304" pitchFamily="18" charset="0"/>
              </a:rPr>
              <a:t>正北关系</a:t>
            </a:r>
            <a:endParaRPr lang="zh-CN" altLang="en-US" sz="2400" b="0" dirty="0">
              <a:solidFill>
                <a:srgbClr val="0000CC"/>
              </a:solidFill>
              <a:latin typeface="Times New Roman" panose="02020603050405020304" pitchFamily="18" charset="0"/>
            </a:endParaRPr>
          </a:p>
        </p:txBody>
      </p:sp>
      <p:sp>
        <p:nvSpPr>
          <p:cNvPr id="27" name="Text Box 2"/>
          <p:cNvSpPr txBox="1">
            <a:spLocks noChangeArrowheads="1"/>
          </p:cNvSpPr>
          <p:nvPr/>
        </p:nvSpPr>
        <p:spPr bwMode="auto">
          <a:xfrm>
            <a:off x="2851769" y="6070605"/>
            <a:ext cx="16561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dirty="0">
                <a:solidFill>
                  <a:srgbClr val="0000CC"/>
                </a:solidFill>
                <a:latin typeface="Times New Roman" panose="02020603050405020304" pitchFamily="18" charset="0"/>
              </a:rPr>
              <a:t>2.</a:t>
            </a:r>
            <a:r>
              <a:rPr lang="zh-CN" altLang="en-US" sz="2400" dirty="0">
                <a:solidFill>
                  <a:srgbClr val="0000CC"/>
                </a:solidFill>
                <a:latin typeface="Times New Roman" panose="02020603050405020304" pitchFamily="18" charset="0"/>
              </a:rPr>
              <a:t>正东关系</a:t>
            </a:r>
            <a:endParaRPr lang="zh-CN" altLang="en-US" sz="2400" b="0" dirty="0">
              <a:solidFill>
                <a:srgbClr val="0000CC"/>
              </a:solidFill>
              <a:latin typeface="Times New Roman" panose="02020603050405020304" pitchFamily="18" charset="0"/>
            </a:endParaRPr>
          </a:p>
        </p:txBody>
      </p:sp>
      <p:sp>
        <p:nvSpPr>
          <p:cNvPr id="29" name="Text Box 2"/>
          <p:cNvSpPr txBox="1">
            <a:spLocks noChangeArrowheads="1"/>
          </p:cNvSpPr>
          <p:nvPr/>
        </p:nvSpPr>
        <p:spPr bwMode="auto">
          <a:xfrm>
            <a:off x="174127" y="1056875"/>
            <a:ext cx="5333977"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dirty="0">
                <a:solidFill>
                  <a:srgbClr val="0000CC"/>
                </a:solidFill>
                <a:latin typeface="Times New Roman" panose="02020603050405020304" pitchFamily="18" charset="0"/>
              </a:rPr>
              <a:t>1)</a:t>
            </a:r>
            <a:r>
              <a:rPr lang="zh-CN" altLang="en-US" dirty="0">
                <a:solidFill>
                  <a:srgbClr val="0000CC"/>
                </a:solidFill>
                <a:latin typeface="Times New Roman" panose="02020603050405020304" pitchFamily="18" charset="0"/>
              </a:rPr>
              <a:t>两点之间的基本方向关系</a:t>
            </a:r>
            <a:endParaRPr lang="zh-CN" altLang="en-US" sz="2800" b="0" dirty="0">
              <a:solidFill>
                <a:srgbClr val="0000CC"/>
              </a:solidFill>
              <a:latin typeface="Times New Roman" panose="02020603050405020304" pitchFamily="18" charset="0"/>
            </a:endParaRPr>
          </a:p>
        </p:txBody>
      </p:sp>
    </p:spTree>
    <p:extLst>
      <p:ext uri="{BB962C8B-B14F-4D97-AF65-F5344CB8AC3E}">
        <p14:creationId xmlns:p14="http://schemas.microsoft.com/office/powerpoint/2010/main" val="41903666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4"/>
          <p:cNvSpPr>
            <a:spLocks noChangeArrowheads="1"/>
          </p:cNvSpPr>
          <p:nvPr/>
        </p:nvSpPr>
        <p:spPr bwMode="auto">
          <a:xfrm>
            <a:off x="-13335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graphicFrame>
        <p:nvGraphicFramePr>
          <p:cNvPr id="54276" name="Object 3"/>
          <p:cNvGraphicFramePr>
            <a:graphicFrameLocks noChangeAspect="1"/>
          </p:cNvGraphicFramePr>
          <p:nvPr>
            <p:extLst/>
          </p:nvPr>
        </p:nvGraphicFramePr>
        <p:xfrm>
          <a:off x="257497" y="1600125"/>
          <a:ext cx="8562975" cy="622300"/>
        </p:xfrm>
        <a:graphic>
          <a:graphicData uri="http://schemas.openxmlformats.org/presentationml/2006/ole">
            <mc:AlternateContent xmlns:mc="http://schemas.openxmlformats.org/markup-compatibility/2006">
              <mc:Choice xmlns:v="urn:schemas-microsoft-com:vml" Requires="v">
                <p:oleObj spid="_x0000_s3262" name="公式" r:id="rId4" imgW="3257533" imgH="218970" progId="Equation.3">
                  <p:embed/>
                </p:oleObj>
              </mc:Choice>
              <mc:Fallback>
                <p:oleObj name="公式" r:id="rId4" imgW="3257533" imgH="218970" progId="Equation.3">
                  <p:embed/>
                  <p:pic>
                    <p:nvPicPr>
                      <p:cNvPr id="5427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497" y="1600125"/>
                        <a:ext cx="8562975" cy="622300"/>
                      </a:xfrm>
                      <a:prstGeom prst="rect">
                        <a:avLst/>
                      </a:prstGeom>
                      <a:solidFill>
                        <a:srgbClr val="0000CC"/>
                      </a:solidFill>
                      <a:ln>
                        <a:noFill/>
                      </a:ln>
                      <a:extLst/>
                    </p:spPr>
                  </p:pic>
                </p:oleObj>
              </mc:Fallback>
            </mc:AlternateContent>
          </a:graphicData>
        </a:graphic>
      </p:graphicFrame>
      <p:pic>
        <p:nvPicPr>
          <p:cNvPr id="54277"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29" y="4131088"/>
            <a:ext cx="2235919" cy="202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37</a:t>
            </a:fld>
            <a:endParaRPr lang="en-US" altLang="zh-CN"/>
          </a:p>
        </p:txBody>
      </p:sp>
      <p:graphicFrame>
        <p:nvGraphicFramePr>
          <p:cNvPr id="8" name="Object 3"/>
          <p:cNvGraphicFramePr>
            <a:graphicFrameLocks noChangeAspect="1"/>
          </p:cNvGraphicFramePr>
          <p:nvPr>
            <p:extLst/>
          </p:nvPr>
        </p:nvGraphicFramePr>
        <p:xfrm>
          <a:off x="257496" y="2266095"/>
          <a:ext cx="8562975" cy="549275"/>
        </p:xfrm>
        <a:graphic>
          <a:graphicData uri="http://schemas.openxmlformats.org/presentationml/2006/ole">
            <mc:AlternateContent xmlns:mc="http://schemas.openxmlformats.org/markup-compatibility/2006">
              <mc:Choice xmlns:v="urn:schemas-microsoft-com:vml" Requires="v">
                <p:oleObj spid="_x0000_s3263" name="公式" r:id="rId7" imgW="3228899" imgH="218970" progId="Equation.3">
                  <p:embed/>
                </p:oleObj>
              </mc:Choice>
              <mc:Fallback>
                <p:oleObj name="公式" r:id="rId7" imgW="3228899" imgH="218970" progId="Equation.3">
                  <p:embed/>
                  <p:pic>
                    <p:nvPicPr>
                      <p:cNvPr id="8"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7496" y="2266095"/>
                        <a:ext cx="8562975" cy="549275"/>
                      </a:xfrm>
                      <a:prstGeom prst="rect">
                        <a:avLst/>
                      </a:prstGeom>
                      <a:solidFill>
                        <a:srgbClr val="0000CC"/>
                      </a:solidFill>
                      <a:ln>
                        <a:noFill/>
                      </a:ln>
                      <a:extLst/>
                    </p:spPr>
                  </p:pic>
                </p:oleObj>
              </mc:Fallback>
            </mc:AlternateContent>
          </a:graphicData>
        </a:graphic>
      </p:graphicFrame>
      <p:pic>
        <p:nvPicPr>
          <p:cNvPr id="9"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8055" y="4583432"/>
            <a:ext cx="2449582" cy="1952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Object 3"/>
          <p:cNvGraphicFramePr>
            <a:graphicFrameLocks noChangeAspect="1"/>
          </p:cNvGraphicFramePr>
          <p:nvPr>
            <p:extLst/>
          </p:nvPr>
        </p:nvGraphicFramePr>
        <p:xfrm>
          <a:off x="243104" y="2878381"/>
          <a:ext cx="8562975" cy="617538"/>
        </p:xfrm>
        <a:graphic>
          <a:graphicData uri="http://schemas.openxmlformats.org/presentationml/2006/ole">
            <mc:AlternateContent xmlns:mc="http://schemas.openxmlformats.org/markup-compatibility/2006">
              <mc:Choice xmlns:v="urn:schemas-microsoft-com:vml" Requires="v">
                <p:oleObj spid="_x0000_s3264" name="公式" r:id="rId10" imgW="3257533" imgH="218970" progId="Equation.3">
                  <p:embed/>
                </p:oleObj>
              </mc:Choice>
              <mc:Fallback>
                <p:oleObj name="公式" r:id="rId10" imgW="3257533" imgH="218970" progId="Equation.3">
                  <p:embed/>
                  <p:pic>
                    <p:nvPicPr>
                      <p:cNvPr id="1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3104" y="2878381"/>
                        <a:ext cx="8562975" cy="617538"/>
                      </a:xfrm>
                      <a:prstGeom prst="rect">
                        <a:avLst/>
                      </a:prstGeom>
                      <a:solidFill>
                        <a:srgbClr val="0000CC"/>
                      </a:solidFill>
                      <a:ln>
                        <a:noFill/>
                      </a:ln>
                      <a:extLst/>
                    </p:spPr>
                  </p:pic>
                </p:oleObj>
              </mc:Fallback>
            </mc:AlternateContent>
          </a:graphicData>
        </a:graphic>
      </p:graphicFrame>
      <p:pic>
        <p:nvPicPr>
          <p:cNvPr id="11"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38650" y="4142173"/>
            <a:ext cx="2359423" cy="19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Object 3"/>
          <p:cNvGraphicFramePr>
            <a:graphicFrameLocks noChangeAspect="1"/>
          </p:cNvGraphicFramePr>
          <p:nvPr>
            <p:extLst/>
          </p:nvPr>
        </p:nvGraphicFramePr>
        <p:xfrm>
          <a:off x="257496" y="3553767"/>
          <a:ext cx="8548583" cy="595313"/>
        </p:xfrm>
        <a:graphic>
          <a:graphicData uri="http://schemas.openxmlformats.org/presentationml/2006/ole">
            <mc:AlternateContent xmlns:mc="http://schemas.openxmlformats.org/markup-compatibility/2006">
              <mc:Choice xmlns:v="urn:schemas-microsoft-com:vml" Requires="v">
                <p:oleObj spid="_x0000_s3265" name="公式" r:id="rId13" imgW="3228899" imgH="218970" progId="Equation.3">
                  <p:embed/>
                </p:oleObj>
              </mc:Choice>
              <mc:Fallback>
                <p:oleObj name="公式" r:id="rId13" imgW="3228899" imgH="218970" progId="Equation.3">
                  <p:embed/>
                  <p:pic>
                    <p:nvPicPr>
                      <p:cNvPr id="12"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7496" y="3553767"/>
                        <a:ext cx="8548583" cy="595313"/>
                      </a:xfrm>
                      <a:prstGeom prst="rect">
                        <a:avLst/>
                      </a:prstGeom>
                      <a:solidFill>
                        <a:srgbClr val="0000CC"/>
                      </a:solidFill>
                      <a:ln>
                        <a:noFill/>
                      </a:ln>
                      <a:extLst/>
                    </p:spPr>
                  </p:pic>
                </p:oleObj>
              </mc:Fallback>
            </mc:AlternateContent>
          </a:graphicData>
        </a:graphic>
      </p:graphicFrame>
      <p:pic>
        <p:nvPicPr>
          <p:cNvPr id="13" name="Picture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32240" y="4463444"/>
            <a:ext cx="2081022" cy="1506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2"/>
          <p:cNvSpPr txBox="1">
            <a:spLocks noChangeArrowheads="1"/>
          </p:cNvSpPr>
          <p:nvPr/>
        </p:nvSpPr>
        <p:spPr bwMode="auto">
          <a:xfrm>
            <a:off x="5111307" y="6127485"/>
            <a:ext cx="168676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dirty="0">
                <a:solidFill>
                  <a:srgbClr val="0000CC"/>
                </a:solidFill>
                <a:latin typeface="Times New Roman" panose="02020603050405020304" pitchFamily="18" charset="0"/>
              </a:rPr>
              <a:t>7.</a:t>
            </a:r>
            <a:r>
              <a:rPr lang="zh-CN" altLang="en-US" sz="2400" dirty="0">
                <a:solidFill>
                  <a:srgbClr val="0000CC"/>
                </a:solidFill>
                <a:latin typeface="Times New Roman" panose="02020603050405020304" pitchFamily="18" charset="0"/>
              </a:rPr>
              <a:t>西南关系</a:t>
            </a:r>
            <a:endParaRPr lang="zh-CN" altLang="en-US" sz="2400" b="0" dirty="0">
              <a:solidFill>
                <a:srgbClr val="0000CC"/>
              </a:solidFill>
              <a:latin typeface="Times New Roman" panose="02020603050405020304" pitchFamily="18" charset="0"/>
            </a:endParaRPr>
          </a:p>
        </p:txBody>
      </p:sp>
      <p:sp>
        <p:nvSpPr>
          <p:cNvPr id="15" name="Text Box 2"/>
          <p:cNvSpPr txBox="1">
            <a:spLocks noChangeArrowheads="1"/>
          </p:cNvSpPr>
          <p:nvPr/>
        </p:nvSpPr>
        <p:spPr bwMode="auto">
          <a:xfrm>
            <a:off x="2998447" y="6083459"/>
            <a:ext cx="176086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dirty="0">
                <a:solidFill>
                  <a:srgbClr val="0000CC"/>
                </a:solidFill>
                <a:latin typeface="Times New Roman" panose="02020603050405020304" pitchFamily="18" charset="0"/>
              </a:rPr>
              <a:t>6.</a:t>
            </a:r>
            <a:r>
              <a:rPr lang="zh-CN" altLang="en-US" sz="2400" dirty="0">
                <a:solidFill>
                  <a:srgbClr val="0000CC"/>
                </a:solidFill>
                <a:latin typeface="Times New Roman" panose="02020603050405020304" pitchFamily="18" charset="0"/>
              </a:rPr>
              <a:t>东北关系</a:t>
            </a:r>
            <a:endParaRPr lang="zh-CN" altLang="en-US" sz="2400" b="0" dirty="0">
              <a:solidFill>
                <a:srgbClr val="0000CC"/>
              </a:solidFill>
              <a:latin typeface="Times New Roman" panose="02020603050405020304" pitchFamily="18" charset="0"/>
            </a:endParaRPr>
          </a:p>
        </p:txBody>
      </p:sp>
      <p:sp>
        <p:nvSpPr>
          <p:cNvPr id="16" name="Text Box 2"/>
          <p:cNvSpPr txBox="1">
            <a:spLocks noChangeArrowheads="1"/>
          </p:cNvSpPr>
          <p:nvPr/>
        </p:nvSpPr>
        <p:spPr bwMode="auto">
          <a:xfrm>
            <a:off x="529537" y="6357577"/>
            <a:ext cx="177651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dirty="0">
                <a:solidFill>
                  <a:srgbClr val="0000CC"/>
                </a:solidFill>
                <a:latin typeface="Times New Roman" panose="02020603050405020304" pitchFamily="18" charset="0"/>
              </a:rPr>
              <a:t>5.</a:t>
            </a:r>
            <a:r>
              <a:rPr lang="zh-CN" altLang="en-US" sz="2400" dirty="0">
                <a:solidFill>
                  <a:srgbClr val="0000CC"/>
                </a:solidFill>
                <a:latin typeface="Times New Roman" panose="02020603050405020304" pitchFamily="18" charset="0"/>
              </a:rPr>
              <a:t>西北关系</a:t>
            </a:r>
            <a:endParaRPr lang="zh-CN" altLang="en-US" sz="2400" b="0" dirty="0">
              <a:solidFill>
                <a:srgbClr val="0000CC"/>
              </a:solidFill>
              <a:latin typeface="Times New Roman" panose="02020603050405020304" pitchFamily="18" charset="0"/>
            </a:endParaRPr>
          </a:p>
        </p:txBody>
      </p:sp>
      <p:sp>
        <p:nvSpPr>
          <p:cNvPr id="17" name="Text Box 2"/>
          <p:cNvSpPr txBox="1">
            <a:spLocks noChangeArrowheads="1"/>
          </p:cNvSpPr>
          <p:nvPr/>
        </p:nvSpPr>
        <p:spPr bwMode="auto">
          <a:xfrm>
            <a:off x="7111716" y="6120923"/>
            <a:ext cx="170154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dirty="0">
                <a:solidFill>
                  <a:srgbClr val="0000CC"/>
                </a:solidFill>
                <a:latin typeface="Times New Roman" panose="02020603050405020304" pitchFamily="18" charset="0"/>
              </a:rPr>
              <a:t>8.</a:t>
            </a:r>
            <a:r>
              <a:rPr lang="zh-CN" altLang="en-US" sz="2400" dirty="0">
                <a:solidFill>
                  <a:srgbClr val="0000CC"/>
                </a:solidFill>
                <a:latin typeface="Times New Roman" panose="02020603050405020304" pitchFamily="18" charset="0"/>
              </a:rPr>
              <a:t>东南关系</a:t>
            </a:r>
            <a:endParaRPr lang="zh-CN" altLang="en-US" sz="2400" b="0" dirty="0">
              <a:solidFill>
                <a:srgbClr val="0000CC"/>
              </a:solidFill>
              <a:latin typeface="Times New Roman" panose="02020603050405020304" pitchFamily="18" charset="0"/>
            </a:endParaRPr>
          </a:p>
        </p:txBody>
      </p:sp>
      <p:sp>
        <p:nvSpPr>
          <p:cNvPr id="19" name="Text Box 2"/>
          <p:cNvSpPr txBox="1">
            <a:spLocks noChangeArrowheads="1"/>
          </p:cNvSpPr>
          <p:nvPr/>
        </p:nvSpPr>
        <p:spPr bwMode="auto">
          <a:xfrm>
            <a:off x="319088" y="116632"/>
            <a:ext cx="72580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3. </a:t>
            </a:r>
            <a:r>
              <a:rPr lang="zh-CN" altLang="en-US" sz="3600" dirty="0">
                <a:solidFill>
                  <a:srgbClr val="FFFF00"/>
                </a:solidFill>
                <a:latin typeface="Times New Roman" panose="02020603050405020304" pitchFamily="18" charset="0"/>
              </a:rPr>
              <a:t>顺序关系描述（方向空间关系）</a:t>
            </a:r>
            <a:r>
              <a:rPr lang="zh-CN" altLang="en-US" b="0" dirty="0">
                <a:latin typeface="Times New Roman" panose="02020603050405020304" pitchFamily="18" charset="0"/>
              </a:rPr>
              <a:t> </a:t>
            </a:r>
          </a:p>
        </p:txBody>
      </p:sp>
      <p:sp>
        <p:nvSpPr>
          <p:cNvPr id="21" name="Text Box 2"/>
          <p:cNvSpPr txBox="1">
            <a:spLocks noChangeArrowheads="1"/>
          </p:cNvSpPr>
          <p:nvPr/>
        </p:nvSpPr>
        <p:spPr bwMode="auto">
          <a:xfrm>
            <a:off x="174127" y="1056875"/>
            <a:ext cx="5333977"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dirty="0">
                <a:solidFill>
                  <a:srgbClr val="0000CC"/>
                </a:solidFill>
                <a:latin typeface="Times New Roman" panose="02020603050405020304" pitchFamily="18" charset="0"/>
              </a:rPr>
              <a:t>1)</a:t>
            </a:r>
            <a:r>
              <a:rPr lang="zh-CN" altLang="en-US" dirty="0">
                <a:solidFill>
                  <a:srgbClr val="0000CC"/>
                </a:solidFill>
                <a:latin typeface="Times New Roman" panose="02020603050405020304" pitchFamily="18" charset="0"/>
              </a:rPr>
              <a:t>两点之间的基本方向关系</a:t>
            </a:r>
            <a:endParaRPr lang="zh-CN" altLang="en-US" sz="2800" b="0" dirty="0">
              <a:solidFill>
                <a:srgbClr val="0000CC"/>
              </a:solidFill>
              <a:latin typeface="Times New Roman" panose="02020603050405020304" pitchFamily="18" charset="0"/>
            </a:endParaRPr>
          </a:p>
        </p:txBody>
      </p:sp>
    </p:spTree>
    <p:extLst>
      <p:ext uri="{BB962C8B-B14F-4D97-AF65-F5344CB8AC3E}">
        <p14:creationId xmlns:p14="http://schemas.microsoft.com/office/powerpoint/2010/main" val="220431319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271678" y="1725072"/>
            <a:ext cx="355600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0"/>
              </a:spcBef>
              <a:buClrTx/>
              <a:buSzTx/>
              <a:buFont typeface="Wingdings" panose="05000000000000000000" pitchFamily="2" charset="2"/>
              <a:buChar char="n"/>
            </a:pPr>
            <a:r>
              <a:rPr lang="zh-CN" altLang="en-US" dirty="0">
                <a:solidFill>
                  <a:srgbClr val="0000CC"/>
                </a:solidFill>
                <a:latin typeface="Times New Roman" panose="02020603050405020304" pitchFamily="18" charset="0"/>
              </a:rPr>
              <a:t>同一位置关系</a:t>
            </a:r>
            <a:endParaRPr lang="zh-CN" altLang="en-US" b="0" dirty="0">
              <a:solidFill>
                <a:srgbClr val="0000CC"/>
              </a:solidFill>
              <a:latin typeface="Times New Roman" panose="02020603050405020304" pitchFamily="18" charset="0"/>
            </a:endParaRPr>
          </a:p>
        </p:txBody>
      </p:sp>
      <p:graphicFrame>
        <p:nvGraphicFramePr>
          <p:cNvPr id="58371" name="Object 3"/>
          <p:cNvGraphicFramePr>
            <a:graphicFrameLocks noChangeAspect="1"/>
          </p:cNvGraphicFramePr>
          <p:nvPr>
            <p:extLst/>
          </p:nvPr>
        </p:nvGraphicFramePr>
        <p:xfrm>
          <a:off x="265112" y="2537082"/>
          <a:ext cx="8613775" cy="598488"/>
        </p:xfrm>
        <a:graphic>
          <a:graphicData uri="http://schemas.openxmlformats.org/presentationml/2006/ole">
            <mc:AlternateContent xmlns:mc="http://schemas.openxmlformats.org/markup-compatibility/2006">
              <mc:Choice xmlns:v="urn:schemas-microsoft-com:vml" Requires="v">
                <p:oleObj spid="_x0000_s4192" name="公式" r:id="rId3" imgW="3476611" imgH="218970" progId="Equation.3">
                  <p:embed/>
                </p:oleObj>
              </mc:Choice>
              <mc:Fallback>
                <p:oleObj name="公式" r:id="rId3" imgW="3476611" imgH="218970" progId="Equation.3">
                  <p:embed/>
                  <p:pic>
                    <p:nvPicPr>
                      <p:cNvPr id="5837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112" y="2537082"/>
                        <a:ext cx="8613775" cy="598488"/>
                      </a:xfrm>
                      <a:prstGeom prst="rect">
                        <a:avLst/>
                      </a:prstGeom>
                      <a:solidFill>
                        <a:srgbClr val="0000CC"/>
                      </a:solidFill>
                      <a:ln>
                        <a:noFill/>
                      </a:ln>
                      <a:extLst/>
                    </p:spPr>
                  </p:pic>
                </p:oleObj>
              </mc:Fallback>
            </mc:AlternateContent>
          </a:graphicData>
        </a:graphic>
      </p:graphicFrame>
      <p:sp>
        <p:nvSpPr>
          <p:cNvPr id="58372" name="Rectangle 6"/>
          <p:cNvSpPr>
            <a:spLocks noChangeArrowheads="1"/>
          </p:cNvSpPr>
          <p:nvPr/>
        </p:nvSpPr>
        <p:spPr bwMode="auto">
          <a:xfrm>
            <a:off x="0" y="2528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sp>
        <p:nvSpPr>
          <p:cNvPr id="58373" name="Rectangle 8"/>
          <p:cNvSpPr>
            <a:spLocks noChangeArrowheads="1"/>
          </p:cNvSpPr>
          <p:nvPr/>
        </p:nvSpPr>
        <p:spPr bwMode="auto">
          <a:xfrm>
            <a:off x="0" y="2528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tIns="0" anchor="ctr">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b="0">
              <a:latin typeface="Times New Roman" panose="02020603050405020304" pitchFamily="18" charset="0"/>
            </a:endParaRPr>
          </a:p>
        </p:txBody>
      </p:sp>
      <p:graphicFrame>
        <p:nvGraphicFramePr>
          <p:cNvPr id="58374" name="Object 7"/>
          <p:cNvGraphicFramePr>
            <a:graphicFrameLocks noChangeAspect="1"/>
          </p:cNvGraphicFramePr>
          <p:nvPr>
            <p:extLst/>
          </p:nvPr>
        </p:nvGraphicFramePr>
        <p:xfrm>
          <a:off x="2987824" y="3127376"/>
          <a:ext cx="3311848" cy="3402054"/>
        </p:xfrm>
        <a:graphic>
          <a:graphicData uri="http://schemas.openxmlformats.org/presentationml/2006/ole">
            <mc:AlternateContent xmlns:mc="http://schemas.openxmlformats.org/markup-compatibility/2006">
              <mc:Choice xmlns:v="urn:schemas-microsoft-com:vml" Requires="v">
                <p:oleObj spid="_x0000_s4193" name="Visio" r:id="rId5" imgW="1751990" imgH="1800758" progId="Visio.Drawing.11">
                  <p:embed/>
                </p:oleObj>
              </mc:Choice>
              <mc:Fallback>
                <p:oleObj name="Visio" r:id="rId5" imgW="1751990" imgH="1800758" progId="Visio.Drawing.11">
                  <p:embed/>
                  <p:pic>
                    <p:nvPicPr>
                      <p:cNvPr id="58374"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824" y="3127376"/>
                        <a:ext cx="3311848" cy="3402054"/>
                      </a:xfrm>
                      <a:prstGeom prst="rect">
                        <a:avLst/>
                      </a:prstGeom>
                      <a:solidFill>
                        <a:schemeClr val="bg1"/>
                      </a:solidFill>
                      <a:ln>
                        <a:noFill/>
                      </a:ln>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38</a:t>
            </a:fld>
            <a:endParaRPr lang="en-US" altLang="zh-CN"/>
          </a:p>
        </p:txBody>
      </p:sp>
      <p:sp>
        <p:nvSpPr>
          <p:cNvPr id="10" name="Text Box 2"/>
          <p:cNvSpPr txBox="1">
            <a:spLocks noChangeArrowheads="1"/>
          </p:cNvSpPr>
          <p:nvPr/>
        </p:nvSpPr>
        <p:spPr bwMode="auto">
          <a:xfrm>
            <a:off x="319088" y="116632"/>
            <a:ext cx="72580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3. </a:t>
            </a:r>
            <a:r>
              <a:rPr lang="zh-CN" altLang="en-US" sz="3600" dirty="0">
                <a:solidFill>
                  <a:srgbClr val="FFFF00"/>
                </a:solidFill>
                <a:latin typeface="Times New Roman" panose="02020603050405020304" pitchFamily="18" charset="0"/>
              </a:rPr>
              <a:t>顺序关系描述（方向空间关系）</a:t>
            </a:r>
            <a:r>
              <a:rPr lang="zh-CN" altLang="en-US" b="0" dirty="0">
                <a:latin typeface="Times New Roman" panose="02020603050405020304" pitchFamily="18" charset="0"/>
              </a:rPr>
              <a:t> </a:t>
            </a:r>
          </a:p>
        </p:txBody>
      </p:sp>
      <p:sp>
        <p:nvSpPr>
          <p:cNvPr id="12" name="Text Box 2"/>
          <p:cNvSpPr txBox="1">
            <a:spLocks noChangeArrowheads="1"/>
          </p:cNvSpPr>
          <p:nvPr/>
        </p:nvSpPr>
        <p:spPr bwMode="auto">
          <a:xfrm>
            <a:off x="174127" y="1056875"/>
            <a:ext cx="5333977"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dirty="0">
                <a:solidFill>
                  <a:srgbClr val="0000CC"/>
                </a:solidFill>
                <a:latin typeface="Times New Roman" panose="02020603050405020304" pitchFamily="18" charset="0"/>
              </a:rPr>
              <a:t>1)</a:t>
            </a:r>
            <a:r>
              <a:rPr lang="zh-CN" altLang="en-US" dirty="0">
                <a:solidFill>
                  <a:srgbClr val="0000CC"/>
                </a:solidFill>
                <a:latin typeface="Times New Roman" panose="02020603050405020304" pitchFamily="18" charset="0"/>
              </a:rPr>
              <a:t>两点之间的基本方向关系</a:t>
            </a:r>
            <a:endParaRPr lang="zh-CN" altLang="en-US" sz="2800" b="0" dirty="0">
              <a:solidFill>
                <a:srgbClr val="0000CC"/>
              </a:solidFill>
              <a:latin typeface="Times New Roman" panose="02020603050405020304" pitchFamily="18" charset="0"/>
            </a:endParaRPr>
          </a:p>
        </p:txBody>
      </p:sp>
    </p:spTree>
    <p:extLst>
      <p:ext uri="{BB962C8B-B14F-4D97-AF65-F5344CB8AC3E}">
        <p14:creationId xmlns:p14="http://schemas.microsoft.com/office/powerpoint/2010/main" val="414691116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319088" y="1831143"/>
            <a:ext cx="83312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None/>
            </a:pPr>
            <a:r>
              <a:rPr lang="zh-CN" altLang="en-US" sz="2800" dirty="0">
                <a:solidFill>
                  <a:srgbClr val="0000CC"/>
                </a:solidFill>
                <a:latin typeface="Times New Roman" panose="02020603050405020304" pitchFamily="18" charset="0"/>
              </a:rPr>
              <a:t>方向关系的合成：</a:t>
            </a:r>
            <a:r>
              <a:rPr lang="zh-CN" altLang="en-US" sz="2800" b="0" dirty="0">
                <a:latin typeface="Times New Roman" panose="02020603050405020304" pitchFamily="18" charset="0"/>
              </a:rPr>
              <a:t>可将</a:t>
            </a:r>
            <a:r>
              <a:rPr lang="en-US" altLang="zh-CN" sz="2800" b="0" dirty="0">
                <a:latin typeface="Times New Roman" panose="02020603050405020304" pitchFamily="18" charset="0"/>
              </a:rPr>
              <a:t>8</a:t>
            </a:r>
            <a:r>
              <a:rPr lang="zh-CN" altLang="en-US" sz="2800" b="0" dirty="0">
                <a:latin typeface="Times New Roman" panose="02020603050405020304" pitchFamily="18" charset="0"/>
              </a:rPr>
              <a:t>种方向关系合并为</a:t>
            </a:r>
            <a:r>
              <a:rPr lang="en-US" altLang="zh-CN" sz="2800" b="0" dirty="0">
                <a:latin typeface="Times New Roman" panose="02020603050405020304" pitchFamily="18" charset="0"/>
              </a:rPr>
              <a:t>4</a:t>
            </a:r>
            <a:r>
              <a:rPr lang="zh-CN" altLang="en-US" sz="2800" b="0" dirty="0">
                <a:latin typeface="Times New Roman" panose="02020603050405020304" pitchFamily="18" charset="0"/>
              </a:rPr>
              <a:t>种。</a:t>
            </a:r>
          </a:p>
        </p:txBody>
      </p:sp>
      <p:sp>
        <p:nvSpPr>
          <p:cNvPr id="60419" name="Text Box 6"/>
          <p:cNvSpPr txBox="1">
            <a:spLocks noChangeArrowheads="1"/>
          </p:cNvSpPr>
          <p:nvPr/>
        </p:nvSpPr>
        <p:spPr bwMode="auto">
          <a:xfrm>
            <a:off x="174127" y="2520044"/>
            <a:ext cx="8709025"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25000"/>
              </a:spcBef>
              <a:buClr>
                <a:srgbClr val="0000CC"/>
              </a:buClr>
              <a:buSzTx/>
              <a:buFont typeface="Wingdings" panose="05000000000000000000" pitchFamily="2" charset="2"/>
              <a:buChar char="Ø"/>
            </a:pPr>
            <a:r>
              <a:rPr lang="en-US" altLang="zh-CN" sz="2800" b="0" dirty="0">
                <a:latin typeface="Times New Roman" panose="02020603050405020304" pitchFamily="18" charset="0"/>
              </a:rPr>
              <a:t>east(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 </a:t>
            </a:r>
            <a:r>
              <a:rPr lang="en-US" altLang="zh-CN" sz="2800" b="0" dirty="0" err="1">
                <a:latin typeface="Times New Roman" panose="02020603050405020304" pitchFamily="18" charset="0"/>
              </a:rPr>
              <a:t>north_east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or </a:t>
            </a:r>
            <a:r>
              <a:rPr lang="en-US" altLang="zh-CN" sz="2800" b="0" dirty="0" err="1">
                <a:latin typeface="Times New Roman" panose="02020603050405020304" pitchFamily="18" charset="0"/>
              </a:rPr>
              <a:t>restricted_east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or </a:t>
            </a:r>
            <a:r>
              <a:rPr lang="en-US" altLang="zh-CN" sz="2800" b="0" dirty="0" err="1">
                <a:latin typeface="Times New Roman" panose="02020603050405020304" pitchFamily="18" charset="0"/>
              </a:rPr>
              <a:t>south_east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a:t>
            </a:r>
          </a:p>
          <a:p>
            <a:pPr eaLnBrk="1" hangingPunct="1">
              <a:spcBef>
                <a:spcPct val="25000"/>
              </a:spcBef>
              <a:buClr>
                <a:srgbClr val="0000CC"/>
              </a:buClr>
              <a:buSzTx/>
              <a:buFont typeface="Wingdings" panose="05000000000000000000" pitchFamily="2" charset="2"/>
              <a:buChar char="Ø"/>
            </a:pPr>
            <a:r>
              <a:rPr lang="en-US" altLang="zh-CN" sz="2800" b="0" dirty="0">
                <a:latin typeface="Times New Roman" panose="02020603050405020304" pitchFamily="18" charset="0"/>
              </a:rPr>
              <a:t>south(</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 </a:t>
            </a:r>
            <a:r>
              <a:rPr lang="en-US" altLang="zh-CN" sz="2800" b="0" dirty="0" err="1">
                <a:latin typeface="Times New Roman" panose="02020603050405020304" pitchFamily="18" charset="0"/>
              </a:rPr>
              <a:t>south_west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or </a:t>
            </a:r>
            <a:r>
              <a:rPr lang="en-US" altLang="zh-CN" sz="2800" b="0" dirty="0" err="1">
                <a:latin typeface="Times New Roman" panose="02020603050405020304" pitchFamily="18" charset="0"/>
              </a:rPr>
              <a:t>restricted_south</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or </a:t>
            </a:r>
            <a:r>
              <a:rPr lang="en-US" altLang="zh-CN" sz="2800" b="0" dirty="0" err="1">
                <a:latin typeface="Times New Roman" panose="02020603050405020304" pitchFamily="18" charset="0"/>
              </a:rPr>
              <a:t>south_east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a:t>
            </a:r>
          </a:p>
          <a:p>
            <a:pPr eaLnBrk="1" hangingPunct="1">
              <a:spcBef>
                <a:spcPct val="25000"/>
              </a:spcBef>
              <a:buClr>
                <a:srgbClr val="0000CC"/>
              </a:buClr>
              <a:buSzTx/>
              <a:buFont typeface="Wingdings" panose="05000000000000000000" pitchFamily="2" charset="2"/>
              <a:buChar char="Ø"/>
            </a:pPr>
            <a:r>
              <a:rPr lang="en-US" altLang="zh-CN" sz="2800" b="0" dirty="0">
                <a:latin typeface="Times New Roman" panose="02020603050405020304" pitchFamily="18" charset="0"/>
              </a:rPr>
              <a:t>west(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 </a:t>
            </a:r>
            <a:r>
              <a:rPr lang="en-US" altLang="zh-CN" sz="2800" b="0" dirty="0" err="1">
                <a:latin typeface="Times New Roman" panose="02020603050405020304" pitchFamily="18" charset="0"/>
              </a:rPr>
              <a:t>north_west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or </a:t>
            </a:r>
            <a:r>
              <a:rPr lang="en-US" altLang="zh-CN" sz="2800" b="0" dirty="0" err="1">
                <a:latin typeface="Times New Roman" panose="02020603050405020304" pitchFamily="18" charset="0"/>
              </a:rPr>
              <a:t>restricted_west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or </a:t>
            </a:r>
            <a:r>
              <a:rPr lang="en-US" altLang="zh-CN" sz="2800" b="0" dirty="0" err="1">
                <a:latin typeface="Times New Roman" panose="02020603050405020304" pitchFamily="18" charset="0"/>
              </a:rPr>
              <a:t>south_west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a:t>
            </a:r>
          </a:p>
          <a:p>
            <a:pPr eaLnBrk="1" hangingPunct="1">
              <a:spcBef>
                <a:spcPct val="25000"/>
              </a:spcBef>
              <a:buClr>
                <a:srgbClr val="0000CC"/>
              </a:buClr>
              <a:buSzTx/>
              <a:buFont typeface="Wingdings" panose="05000000000000000000" pitchFamily="2" charset="2"/>
              <a:buChar char="Ø"/>
            </a:pPr>
            <a:r>
              <a:rPr lang="en-US" altLang="zh-CN" sz="2800" b="0" dirty="0">
                <a:latin typeface="Times New Roman" panose="02020603050405020304" pitchFamily="18" charset="0"/>
              </a:rPr>
              <a:t>north(</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 </a:t>
            </a:r>
            <a:r>
              <a:rPr lang="en-US" altLang="zh-CN" sz="2800" b="0" dirty="0" err="1">
                <a:latin typeface="Times New Roman" panose="02020603050405020304" pitchFamily="18" charset="0"/>
              </a:rPr>
              <a:t>north_west</a:t>
            </a:r>
            <a:r>
              <a:rPr lang="en-US" altLang="zh-CN" sz="2800" b="0" dirty="0">
                <a:latin typeface="Times New Roman" panose="02020603050405020304" pitchFamily="18" charset="0"/>
              </a:rPr>
              <a:t>(</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or </a:t>
            </a:r>
            <a:r>
              <a:rPr lang="en-US" altLang="zh-CN" sz="2800" b="0" dirty="0" err="1">
                <a:latin typeface="Times New Roman" panose="02020603050405020304" pitchFamily="18" charset="0"/>
              </a:rPr>
              <a:t>restricted_north</a:t>
            </a:r>
            <a:r>
              <a:rPr lang="en-US" altLang="zh-CN" sz="2800" b="0" dirty="0">
                <a:latin typeface="Times New Roman" panose="02020603050405020304" pitchFamily="18" charset="0"/>
              </a:rPr>
              <a:t> (</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 or </a:t>
            </a:r>
            <a:r>
              <a:rPr lang="en-US" altLang="zh-CN" sz="2800" b="0" dirty="0" err="1">
                <a:latin typeface="Times New Roman" panose="02020603050405020304" pitchFamily="18" charset="0"/>
              </a:rPr>
              <a:t>north_east</a:t>
            </a:r>
            <a:r>
              <a:rPr lang="en-US" altLang="zh-CN" sz="2800" b="0" dirty="0">
                <a:latin typeface="Times New Roman" panose="02020603050405020304" pitchFamily="18" charset="0"/>
              </a:rPr>
              <a:t> (</a:t>
            </a:r>
            <a:r>
              <a:rPr lang="en-US" altLang="zh-CN" sz="2800" b="0" i="1" dirty="0">
                <a:latin typeface="Times New Roman" panose="02020603050405020304" pitchFamily="18" charset="0"/>
              </a:rPr>
              <a:t>p</a:t>
            </a:r>
            <a:r>
              <a:rPr lang="en-US" altLang="zh-CN" sz="2800" b="0" baseline="-25000" dirty="0">
                <a:latin typeface="Times New Roman" panose="02020603050405020304" pitchFamily="18" charset="0"/>
              </a:rPr>
              <a:t>i</a:t>
            </a:r>
            <a:r>
              <a:rPr lang="en-US" altLang="zh-CN" sz="2800" b="0" dirty="0">
                <a:latin typeface="Times New Roman" panose="02020603050405020304" pitchFamily="18" charset="0"/>
              </a:rPr>
              <a:t>, </a:t>
            </a:r>
            <a:r>
              <a:rPr lang="en-US" altLang="zh-CN" sz="2800" b="0" i="1" dirty="0" err="1">
                <a:latin typeface="Times New Roman" panose="02020603050405020304" pitchFamily="18" charset="0"/>
              </a:rPr>
              <a:t>q</a:t>
            </a:r>
            <a:r>
              <a:rPr lang="en-US" altLang="zh-CN" sz="2800" b="0" baseline="-25000" dirty="0" err="1">
                <a:latin typeface="Times New Roman" panose="02020603050405020304" pitchFamily="18" charset="0"/>
              </a:rPr>
              <a:t>j</a:t>
            </a:r>
            <a:r>
              <a:rPr lang="en-US" altLang="zh-CN" sz="2800" b="0" dirty="0">
                <a:latin typeface="Times New Roman" panose="02020603050405020304" pitchFamily="18" charset="0"/>
              </a:rPr>
              <a:t>)</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39</a:t>
            </a:fld>
            <a:endParaRPr lang="en-US" altLang="zh-CN"/>
          </a:p>
        </p:txBody>
      </p:sp>
      <p:sp>
        <p:nvSpPr>
          <p:cNvPr id="7" name="Text Box 2"/>
          <p:cNvSpPr txBox="1">
            <a:spLocks noChangeArrowheads="1"/>
          </p:cNvSpPr>
          <p:nvPr/>
        </p:nvSpPr>
        <p:spPr bwMode="auto">
          <a:xfrm>
            <a:off x="319088" y="116632"/>
            <a:ext cx="72580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3. </a:t>
            </a:r>
            <a:r>
              <a:rPr lang="zh-CN" altLang="en-US" sz="3600" dirty="0">
                <a:solidFill>
                  <a:srgbClr val="FFFF00"/>
                </a:solidFill>
                <a:latin typeface="Times New Roman" panose="02020603050405020304" pitchFamily="18" charset="0"/>
              </a:rPr>
              <a:t>顺序关系描述（方向空间关系）</a:t>
            </a:r>
            <a:r>
              <a:rPr lang="zh-CN" altLang="en-US" b="0" dirty="0">
                <a:latin typeface="Times New Roman" panose="02020603050405020304" pitchFamily="18" charset="0"/>
              </a:rPr>
              <a:t> </a:t>
            </a:r>
          </a:p>
        </p:txBody>
      </p:sp>
      <p:sp>
        <p:nvSpPr>
          <p:cNvPr id="8" name="Text Box 2"/>
          <p:cNvSpPr txBox="1">
            <a:spLocks noChangeArrowheads="1"/>
          </p:cNvSpPr>
          <p:nvPr/>
        </p:nvSpPr>
        <p:spPr bwMode="auto">
          <a:xfrm>
            <a:off x="174127" y="1056875"/>
            <a:ext cx="5333977"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dirty="0">
                <a:solidFill>
                  <a:srgbClr val="0000CC"/>
                </a:solidFill>
                <a:latin typeface="Times New Roman" panose="02020603050405020304" pitchFamily="18" charset="0"/>
              </a:rPr>
              <a:t>1)</a:t>
            </a:r>
            <a:r>
              <a:rPr lang="zh-CN" altLang="en-US" dirty="0">
                <a:solidFill>
                  <a:srgbClr val="0000CC"/>
                </a:solidFill>
                <a:latin typeface="Times New Roman" panose="02020603050405020304" pitchFamily="18" charset="0"/>
              </a:rPr>
              <a:t>两点之间的基本方向关系</a:t>
            </a:r>
            <a:endParaRPr lang="zh-CN" altLang="en-US" sz="2800" b="0" dirty="0">
              <a:solidFill>
                <a:srgbClr val="0000CC"/>
              </a:solidFill>
              <a:latin typeface="Times New Roman" panose="02020603050405020304" pitchFamily="18" charset="0"/>
            </a:endParaRPr>
          </a:p>
        </p:txBody>
      </p:sp>
    </p:spTree>
    <p:extLst>
      <p:ext uri="{BB962C8B-B14F-4D97-AF65-F5344CB8AC3E}">
        <p14:creationId xmlns:p14="http://schemas.microsoft.com/office/powerpoint/2010/main" val="141079707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3"/>
          <p:cNvSpPr txBox="1">
            <a:spLocks noChangeArrowheads="1"/>
          </p:cNvSpPr>
          <p:nvPr/>
        </p:nvSpPr>
        <p:spPr bwMode="auto">
          <a:xfrm>
            <a:off x="1024410" y="1304764"/>
            <a:ext cx="6552728"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3600" dirty="0">
                <a:solidFill>
                  <a:srgbClr val="0000CC"/>
                </a:solidFill>
                <a:latin typeface="Times New Roman" panose="02020603050405020304" pitchFamily="18" charset="0"/>
              </a:rPr>
              <a:t>2)</a:t>
            </a:r>
            <a:r>
              <a:rPr lang="zh-CN" altLang="en-US" sz="3600" dirty="0">
                <a:solidFill>
                  <a:srgbClr val="0000CC"/>
                </a:solidFill>
                <a:latin typeface="Times New Roman" panose="02020603050405020304" pitchFamily="18" charset="0"/>
              </a:rPr>
              <a:t>方向关系的定性描述模型</a:t>
            </a:r>
          </a:p>
        </p:txBody>
      </p:sp>
      <p:sp>
        <p:nvSpPr>
          <p:cNvPr id="62468" name="Text Box 4"/>
          <p:cNvSpPr txBox="1">
            <a:spLocks noChangeArrowheads="1"/>
          </p:cNvSpPr>
          <p:nvPr/>
        </p:nvSpPr>
        <p:spPr bwMode="auto">
          <a:xfrm>
            <a:off x="1734890" y="2636912"/>
            <a:ext cx="6437509" cy="201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b="0" dirty="0">
                <a:latin typeface="Times New Roman" panose="02020603050405020304" pitchFamily="18" charset="0"/>
              </a:rPr>
              <a:t>(1)</a:t>
            </a:r>
            <a:r>
              <a:rPr lang="zh-CN" altLang="en-US" b="0" dirty="0">
                <a:latin typeface="Times New Roman" panose="02020603050405020304" pitchFamily="18" charset="0"/>
              </a:rPr>
              <a:t>锥形模型</a:t>
            </a:r>
          </a:p>
          <a:p>
            <a:pPr eaLnBrk="1" hangingPunct="1">
              <a:spcBef>
                <a:spcPct val="50000"/>
              </a:spcBef>
              <a:buClrTx/>
              <a:buSzTx/>
              <a:buNone/>
            </a:pPr>
            <a:r>
              <a:rPr lang="en-US" altLang="zh-CN" b="0" dirty="0">
                <a:latin typeface="Times New Roman" panose="02020603050405020304" pitchFamily="18" charset="0"/>
              </a:rPr>
              <a:t>(2)</a:t>
            </a:r>
            <a:r>
              <a:rPr lang="zh-CN" altLang="en-US" b="0" dirty="0">
                <a:latin typeface="Times New Roman" panose="02020603050405020304" pitchFamily="18" charset="0"/>
              </a:rPr>
              <a:t>最小约束矩形模型</a:t>
            </a:r>
            <a:r>
              <a:rPr lang="en-US" altLang="zh-CN" b="0" dirty="0">
                <a:latin typeface="Times New Roman" panose="02020603050405020304" pitchFamily="18" charset="0"/>
              </a:rPr>
              <a:t>(MBR)</a:t>
            </a:r>
          </a:p>
          <a:p>
            <a:pPr eaLnBrk="1" hangingPunct="1">
              <a:spcBef>
                <a:spcPct val="50000"/>
              </a:spcBef>
              <a:buClrTx/>
              <a:buSzTx/>
              <a:buNone/>
            </a:pPr>
            <a:r>
              <a:rPr lang="en-US" altLang="zh-CN" b="0" dirty="0">
                <a:latin typeface="Times New Roman" panose="02020603050405020304" pitchFamily="18" charset="0"/>
              </a:rPr>
              <a:t>(3)</a:t>
            </a:r>
            <a:r>
              <a:rPr lang="zh-CN" altLang="en-US" b="0" dirty="0">
                <a:latin typeface="Times New Roman" panose="02020603050405020304" pitchFamily="18" charset="0"/>
              </a:rPr>
              <a:t>方向关系矩阵模型</a:t>
            </a:r>
            <a:endParaRPr lang="en-US" altLang="zh-CN" b="0" dirty="0">
              <a:latin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40</a:t>
            </a:fld>
            <a:endParaRPr lang="en-US" altLang="zh-CN"/>
          </a:p>
        </p:txBody>
      </p:sp>
      <p:sp>
        <p:nvSpPr>
          <p:cNvPr id="6" name="Text Box 2"/>
          <p:cNvSpPr txBox="1">
            <a:spLocks noChangeArrowheads="1"/>
          </p:cNvSpPr>
          <p:nvPr/>
        </p:nvSpPr>
        <p:spPr bwMode="auto">
          <a:xfrm>
            <a:off x="319088" y="116632"/>
            <a:ext cx="725805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3600" dirty="0">
                <a:solidFill>
                  <a:srgbClr val="FFFF00"/>
                </a:solidFill>
                <a:latin typeface="Times New Roman" panose="02020603050405020304" pitchFamily="18" charset="0"/>
              </a:rPr>
              <a:t>3. </a:t>
            </a:r>
            <a:r>
              <a:rPr lang="zh-CN" altLang="en-US" sz="3600" dirty="0">
                <a:solidFill>
                  <a:srgbClr val="FFFF00"/>
                </a:solidFill>
                <a:latin typeface="Times New Roman" panose="02020603050405020304" pitchFamily="18" charset="0"/>
              </a:rPr>
              <a:t>顺序关系描述（方向空间关系）</a:t>
            </a:r>
            <a:r>
              <a:rPr lang="zh-CN" altLang="en-US" b="0" dirty="0">
                <a:latin typeface="Times New Roman" panose="02020603050405020304" pitchFamily="18" charset="0"/>
              </a:rPr>
              <a:t> </a:t>
            </a:r>
          </a:p>
        </p:txBody>
      </p:sp>
    </p:spTree>
    <p:extLst>
      <p:ext uri="{BB962C8B-B14F-4D97-AF65-F5344CB8AC3E}">
        <p14:creationId xmlns:p14="http://schemas.microsoft.com/office/powerpoint/2010/main" val="360515528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41</a:t>
            </a:fld>
            <a:endParaRPr lang="en-US" altLang="zh-CN"/>
          </a:p>
        </p:txBody>
      </p:sp>
      <p:sp>
        <p:nvSpPr>
          <p:cNvPr id="3" name="Text Box 2"/>
          <p:cNvSpPr txBox="1">
            <a:spLocks noChangeArrowheads="1"/>
          </p:cNvSpPr>
          <p:nvPr/>
        </p:nvSpPr>
        <p:spPr bwMode="auto">
          <a:xfrm>
            <a:off x="292347" y="116632"/>
            <a:ext cx="3415558"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FFFF00"/>
                </a:solidFill>
                <a:latin typeface="Times New Roman" panose="02020603050405020304" pitchFamily="18" charset="0"/>
              </a:rPr>
              <a:t>(1)</a:t>
            </a:r>
            <a:r>
              <a:rPr lang="zh-CN" altLang="en-US" sz="3600" dirty="0">
                <a:solidFill>
                  <a:srgbClr val="FFFF00"/>
                </a:solidFill>
                <a:latin typeface="Times New Roman" panose="02020603050405020304" pitchFamily="18" charset="0"/>
              </a:rPr>
              <a:t>锥形模型</a:t>
            </a:r>
          </a:p>
        </p:txBody>
      </p:sp>
      <p:sp>
        <p:nvSpPr>
          <p:cNvPr id="4" name="Text Box 3"/>
          <p:cNvSpPr txBox="1">
            <a:spLocks noChangeArrowheads="1"/>
          </p:cNvSpPr>
          <p:nvPr/>
        </p:nvSpPr>
        <p:spPr bwMode="auto">
          <a:xfrm>
            <a:off x="181958" y="1294134"/>
            <a:ext cx="8491537"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Char char="Ø"/>
            </a:pPr>
            <a:r>
              <a:rPr lang="zh-CN" altLang="en-US" sz="2800" b="0" dirty="0">
                <a:solidFill>
                  <a:srgbClr val="0000CC"/>
                </a:solidFill>
                <a:latin typeface="Times New Roman" panose="02020603050405020304" pitchFamily="18" charset="0"/>
              </a:rPr>
              <a:t>基本思想：</a:t>
            </a:r>
            <a:r>
              <a:rPr lang="zh-CN" altLang="en-US" sz="2800" b="0" dirty="0">
                <a:latin typeface="Times New Roman" panose="02020603050405020304" pitchFamily="18" charset="0"/>
              </a:rPr>
              <a:t>在从某个空间目标出发指向另一个目标的</a:t>
            </a:r>
            <a:r>
              <a:rPr lang="zh-CN" altLang="en-US" sz="2800" b="0" dirty="0">
                <a:solidFill>
                  <a:srgbClr val="FF0000"/>
                </a:solidFill>
                <a:latin typeface="Times New Roman" panose="02020603050405020304" pitchFamily="18" charset="0"/>
              </a:rPr>
              <a:t>锥形区域中</a:t>
            </a:r>
            <a:r>
              <a:rPr lang="zh-CN" altLang="en-US" sz="2800" b="0" dirty="0">
                <a:latin typeface="Times New Roman" panose="02020603050405020304" pitchFamily="18" charset="0"/>
              </a:rPr>
              <a:t>确定两个空间目标间的空间方向关系。</a:t>
            </a:r>
          </a:p>
        </p:txBody>
      </p:sp>
      <p:graphicFrame>
        <p:nvGraphicFramePr>
          <p:cNvPr id="5" name="Object 4"/>
          <p:cNvGraphicFramePr>
            <a:graphicFrameLocks noChangeAspect="1"/>
          </p:cNvGraphicFramePr>
          <p:nvPr>
            <p:extLst/>
          </p:nvPr>
        </p:nvGraphicFramePr>
        <p:xfrm>
          <a:off x="6186488" y="2132013"/>
          <a:ext cx="2652712" cy="3968750"/>
        </p:xfrm>
        <a:graphic>
          <a:graphicData uri="http://schemas.openxmlformats.org/presentationml/2006/ole">
            <mc:AlternateContent xmlns:mc="http://schemas.openxmlformats.org/markup-compatibility/2006">
              <mc:Choice xmlns:v="urn:schemas-microsoft-com:vml" Requires="v">
                <p:oleObj spid="_x0000_s5170" name="Visio" r:id="rId3" imgW="1319605" imgH="1985399" progId="Visio.Drawing.11">
                  <p:embed/>
                </p:oleObj>
              </mc:Choice>
              <mc:Fallback>
                <p:oleObj name="Visio" r:id="rId3" imgW="1319605" imgH="1985399" progId="Visio.Drawing.11">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6488" y="2132013"/>
                        <a:ext cx="2652712" cy="3968750"/>
                      </a:xfrm>
                      <a:prstGeom prst="rect">
                        <a:avLst/>
                      </a:prstGeom>
                      <a:solidFill>
                        <a:schemeClr val="bg1"/>
                      </a:solidFill>
                      <a:ln>
                        <a:noFill/>
                      </a:ln>
                      <a:extLst/>
                    </p:spPr>
                  </p:pic>
                </p:oleObj>
              </mc:Fallback>
            </mc:AlternateContent>
          </a:graphicData>
        </a:graphic>
      </p:graphicFrame>
      <p:sp>
        <p:nvSpPr>
          <p:cNvPr id="6" name="Text Box 6"/>
          <p:cNvSpPr txBox="1">
            <a:spLocks noChangeArrowheads="1"/>
          </p:cNvSpPr>
          <p:nvPr/>
        </p:nvSpPr>
        <p:spPr bwMode="auto">
          <a:xfrm>
            <a:off x="181958" y="2456156"/>
            <a:ext cx="5908675" cy="306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eaLnBrk="1" hangingPunct="1">
              <a:spcBef>
                <a:spcPct val="50000"/>
              </a:spcBef>
              <a:buFont typeface="Wingdings" pitchFamily="2" charset="2"/>
              <a:buChar char="Ø"/>
              <a:defRPr/>
            </a:pPr>
            <a:r>
              <a:rPr lang="zh-CN" altLang="en-US" dirty="0">
                <a:solidFill>
                  <a:srgbClr val="0000CC"/>
                </a:solidFill>
              </a:rPr>
              <a:t>方法：</a:t>
            </a:r>
            <a:endParaRPr lang="en-US" altLang="zh-CN" dirty="0">
              <a:solidFill>
                <a:srgbClr val="0000CC"/>
              </a:solidFill>
            </a:endParaRPr>
          </a:p>
          <a:p>
            <a:pPr marL="342900" indent="-342900" eaLnBrk="1" hangingPunct="1">
              <a:spcBef>
                <a:spcPct val="50000"/>
              </a:spcBef>
              <a:buClr>
                <a:srgbClr val="0000CC"/>
              </a:buClr>
              <a:buFont typeface="Wingdings" pitchFamily="2" charset="2"/>
              <a:buChar char="l"/>
              <a:defRPr/>
            </a:pPr>
            <a:r>
              <a:rPr lang="zh-CN" altLang="en-US" sz="2400" dirty="0"/>
              <a:t>从参考目标的质心出发作</a:t>
            </a:r>
            <a:r>
              <a:rPr lang="zh-CN" altLang="en-US" sz="2400" dirty="0">
                <a:solidFill>
                  <a:srgbClr val="0000CC"/>
                </a:solidFill>
              </a:rPr>
              <a:t>两条相互垂直的直线</a:t>
            </a:r>
            <a:r>
              <a:rPr lang="zh-CN" altLang="en-US" sz="2400" dirty="0"/>
              <a:t>，将所在的平面划分为</a:t>
            </a:r>
            <a:r>
              <a:rPr lang="en-US" altLang="zh-CN" sz="2400" dirty="0">
                <a:solidFill>
                  <a:srgbClr val="0000CC"/>
                </a:solidFill>
              </a:rPr>
              <a:t>4</a:t>
            </a:r>
            <a:r>
              <a:rPr lang="zh-CN" altLang="en-US" sz="2400" dirty="0">
                <a:solidFill>
                  <a:srgbClr val="0000CC"/>
                </a:solidFill>
              </a:rPr>
              <a:t>个无限锥形区域</a:t>
            </a:r>
            <a:r>
              <a:rPr lang="zh-CN" altLang="en-US" sz="2400" dirty="0"/>
              <a:t>，每个锥形顶点的角平分线指向方向为一个主方向</a:t>
            </a:r>
            <a:r>
              <a:rPr lang="en-US" altLang="zh-CN" sz="2400" dirty="0"/>
              <a:t>(</a:t>
            </a:r>
            <a:r>
              <a:rPr lang="zh-CN" altLang="en-US" sz="2400" dirty="0"/>
              <a:t>东南西北</a:t>
            </a:r>
            <a:r>
              <a:rPr lang="en-US" altLang="zh-CN" sz="2400" dirty="0"/>
              <a:t>)</a:t>
            </a:r>
          </a:p>
          <a:p>
            <a:pPr marL="342900" indent="-342900" eaLnBrk="1" hangingPunct="1">
              <a:spcBef>
                <a:spcPct val="50000"/>
              </a:spcBef>
              <a:buFont typeface="Wingdings" pitchFamily="2" charset="2"/>
              <a:buChar char="l"/>
              <a:defRPr/>
            </a:pPr>
            <a:r>
              <a:rPr lang="zh-CN" altLang="en-US" sz="2400" dirty="0">
                <a:solidFill>
                  <a:srgbClr val="0000CC"/>
                </a:solidFill>
              </a:rPr>
              <a:t>方向判断：</a:t>
            </a:r>
            <a:r>
              <a:rPr lang="zh-CN" altLang="en-US" sz="2400" dirty="0"/>
              <a:t>源目标位于参考目标的锥形区域的方向</a:t>
            </a:r>
          </a:p>
        </p:txBody>
      </p:sp>
      <p:sp>
        <p:nvSpPr>
          <p:cNvPr id="7" name="Text Box 2"/>
          <p:cNvSpPr txBox="1">
            <a:spLocks noChangeArrowheads="1"/>
          </p:cNvSpPr>
          <p:nvPr/>
        </p:nvSpPr>
        <p:spPr bwMode="auto">
          <a:xfrm>
            <a:off x="3654624" y="169571"/>
            <a:ext cx="518457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sz="2800" dirty="0">
                <a:solidFill>
                  <a:schemeClr val="tx2"/>
                </a:solidFill>
                <a:latin typeface="Times New Roman" panose="02020603050405020304" pitchFamily="18" charset="0"/>
              </a:rPr>
              <a:t>3. </a:t>
            </a:r>
            <a:r>
              <a:rPr lang="zh-CN" altLang="en-US" sz="2800" dirty="0">
                <a:solidFill>
                  <a:schemeClr val="tx2"/>
                </a:solidFill>
                <a:latin typeface="Times New Roman" panose="02020603050405020304" pitchFamily="18" charset="0"/>
              </a:rPr>
              <a:t>顺序关系描述</a:t>
            </a:r>
            <a:r>
              <a:rPr lang="en-US" altLang="zh-CN" sz="2800" dirty="0">
                <a:solidFill>
                  <a:schemeClr val="tx2"/>
                </a:solidFill>
                <a:latin typeface="Times New Roman" panose="02020603050405020304" pitchFamily="18" charset="0"/>
              </a:rPr>
              <a:t>(</a:t>
            </a:r>
            <a:r>
              <a:rPr lang="zh-CN" altLang="en-US" sz="2800" dirty="0">
                <a:solidFill>
                  <a:schemeClr val="tx2"/>
                </a:solidFill>
                <a:latin typeface="Times New Roman" panose="02020603050405020304" pitchFamily="18" charset="0"/>
              </a:rPr>
              <a:t>方向空间关系</a:t>
            </a:r>
            <a:r>
              <a:rPr lang="en-US" altLang="zh-CN" sz="2800" dirty="0">
                <a:solidFill>
                  <a:schemeClr val="tx2"/>
                </a:solidFill>
                <a:latin typeface="Times New Roman" panose="02020603050405020304" pitchFamily="18" charset="0"/>
              </a:rPr>
              <a:t>)</a:t>
            </a:r>
            <a:r>
              <a:rPr lang="zh-CN" altLang="en-US" sz="2400" b="0" dirty="0">
                <a:solidFill>
                  <a:schemeClr val="tx2"/>
                </a:solidFill>
                <a:latin typeface="Times New Roman" panose="02020603050405020304" pitchFamily="18" charset="0"/>
              </a:rPr>
              <a:t> </a:t>
            </a:r>
          </a:p>
        </p:txBody>
      </p:sp>
      <p:sp>
        <p:nvSpPr>
          <p:cNvPr id="8" name="文本框 7"/>
          <p:cNvSpPr txBox="1"/>
          <p:nvPr/>
        </p:nvSpPr>
        <p:spPr>
          <a:xfrm>
            <a:off x="7740352" y="3789040"/>
            <a:ext cx="1002993" cy="646331"/>
          </a:xfrm>
          <a:prstGeom prst="rect">
            <a:avLst/>
          </a:prstGeom>
          <a:noFill/>
        </p:spPr>
        <p:txBody>
          <a:bodyPr wrap="square" rtlCol="0">
            <a:spAutoFit/>
          </a:bodyPr>
          <a:lstStyle/>
          <a:p>
            <a:r>
              <a:rPr lang="zh-CN" altLang="en-US" sz="3600" dirty="0">
                <a:solidFill>
                  <a:srgbClr val="0000CC"/>
                </a:solidFill>
              </a:rPr>
              <a:t>东</a:t>
            </a:r>
          </a:p>
        </p:txBody>
      </p:sp>
    </p:spTree>
    <p:extLst>
      <p:ext uri="{BB962C8B-B14F-4D97-AF65-F5344CB8AC3E}">
        <p14:creationId xmlns:p14="http://schemas.microsoft.com/office/powerpoint/2010/main" val="2854174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53769" y="195535"/>
            <a:ext cx="522007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a:t>
            </a:r>
            <a:r>
              <a:rPr lang="zh-CN" altLang="en-US" dirty="0">
                <a:solidFill>
                  <a:srgbClr val="FFFF00"/>
                </a:solidFill>
                <a:latin typeface="Times New Roman" panose="02020603050405020304" pitchFamily="18" charset="0"/>
              </a:rPr>
              <a:t>最小约束矩形模型</a:t>
            </a:r>
            <a:r>
              <a:rPr lang="en-US" altLang="zh-CN" dirty="0">
                <a:solidFill>
                  <a:srgbClr val="FFFF00"/>
                </a:solidFill>
                <a:latin typeface="Times New Roman" panose="02020603050405020304" pitchFamily="18" charset="0"/>
              </a:rPr>
              <a:t>(MBR)</a:t>
            </a:r>
            <a:endParaRPr lang="zh-CN" altLang="en-US" sz="2800" b="0" dirty="0">
              <a:latin typeface="Times New Roman" panose="02020603050405020304" pitchFamily="18" charset="0"/>
            </a:endParaRPr>
          </a:p>
        </p:txBody>
      </p:sp>
      <p:pic>
        <p:nvPicPr>
          <p:cNvPr id="6553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363615"/>
            <a:ext cx="4340225" cy="323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42</a:t>
            </a:fld>
            <a:endParaRPr lang="en-US" altLang="zh-CN"/>
          </a:p>
        </p:txBody>
      </p:sp>
      <p:sp>
        <p:nvSpPr>
          <p:cNvPr id="5" name="Text Box 2"/>
          <p:cNvSpPr txBox="1">
            <a:spLocks noChangeArrowheads="1"/>
          </p:cNvSpPr>
          <p:nvPr/>
        </p:nvSpPr>
        <p:spPr bwMode="auto">
          <a:xfrm>
            <a:off x="323528" y="1090473"/>
            <a:ext cx="858869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en-US" sz="2400" b="0" dirty="0">
                <a:solidFill>
                  <a:srgbClr val="0000CC"/>
                </a:solidFill>
                <a:latin typeface="Times New Roman" panose="02020603050405020304" pitchFamily="18" charset="0"/>
              </a:rPr>
              <a:t>最小约束矩形模型：</a:t>
            </a:r>
            <a:r>
              <a:rPr lang="zh-CN" altLang="en-US" sz="2400" b="0" dirty="0">
                <a:latin typeface="Times New Roman" panose="02020603050405020304" pitchFamily="18" charset="0"/>
              </a:rPr>
              <a:t>利用两个目标间的</a:t>
            </a:r>
            <a:r>
              <a:rPr lang="en-US" altLang="zh-CN" sz="2400" b="0" dirty="0">
                <a:latin typeface="Times New Roman" panose="02020603050405020304" pitchFamily="18" charset="0"/>
              </a:rPr>
              <a:t>MBR</a:t>
            </a:r>
            <a:r>
              <a:rPr lang="zh-CN" altLang="en-US" sz="2400" b="0" dirty="0">
                <a:latin typeface="Times New Roman" panose="02020603050405020304" pitchFamily="18" charset="0"/>
              </a:rPr>
              <a:t>间的关系定义方向关系，利用空间对象的几何近似关系取代实际空间对象的关系。</a:t>
            </a:r>
          </a:p>
        </p:txBody>
      </p:sp>
      <p:sp>
        <p:nvSpPr>
          <p:cNvPr id="3" name="文本框 2"/>
          <p:cNvSpPr txBox="1"/>
          <p:nvPr/>
        </p:nvSpPr>
        <p:spPr>
          <a:xfrm>
            <a:off x="5887889" y="4380318"/>
            <a:ext cx="3024336" cy="1200329"/>
          </a:xfrm>
          <a:prstGeom prst="rect">
            <a:avLst/>
          </a:prstGeom>
          <a:noFill/>
        </p:spPr>
        <p:txBody>
          <a:bodyPr wrap="square" rtlCol="0">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MBR: Minimum Bounding Rectangle, </a:t>
            </a: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最小外包矩形 </a:t>
            </a:r>
            <a:endParaRPr lang="zh-CN" altLang="en-US" sz="2400" dirty="0">
              <a:latin typeface="Times New Roman" panose="02020603050405020304" pitchFamily="18" charset="0"/>
              <a:cs typeface="Times New Roman" panose="02020603050405020304" pitchFamily="18" charset="0"/>
            </a:endParaRPr>
          </a:p>
        </p:txBody>
      </p:sp>
      <p:sp>
        <p:nvSpPr>
          <p:cNvPr id="7" name="Text Box 2"/>
          <p:cNvSpPr txBox="1">
            <a:spLocks noChangeArrowheads="1"/>
          </p:cNvSpPr>
          <p:nvPr/>
        </p:nvSpPr>
        <p:spPr bwMode="auto">
          <a:xfrm>
            <a:off x="5354802" y="62786"/>
            <a:ext cx="354813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Tx/>
              <a:buSzTx/>
              <a:buNone/>
            </a:pPr>
            <a:r>
              <a:rPr lang="en-US" altLang="zh-CN" sz="2400" dirty="0">
                <a:solidFill>
                  <a:schemeClr val="tx2"/>
                </a:solidFill>
                <a:latin typeface="Times New Roman" panose="02020603050405020304" pitchFamily="18" charset="0"/>
              </a:rPr>
              <a:t>3. </a:t>
            </a:r>
            <a:r>
              <a:rPr lang="zh-CN" altLang="en-US" sz="2400" dirty="0">
                <a:solidFill>
                  <a:schemeClr val="tx2"/>
                </a:solidFill>
                <a:latin typeface="Times New Roman" panose="02020603050405020304" pitchFamily="18" charset="0"/>
              </a:rPr>
              <a:t>顺序关系描述</a:t>
            </a:r>
            <a:r>
              <a:rPr lang="en-US" altLang="zh-CN" sz="2400" dirty="0">
                <a:solidFill>
                  <a:schemeClr val="tx2"/>
                </a:solidFill>
                <a:latin typeface="Times New Roman" panose="02020603050405020304" pitchFamily="18" charset="0"/>
              </a:rPr>
              <a:t>(</a:t>
            </a:r>
            <a:r>
              <a:rPr lang="zh-CN" altLang="en-US" sz="2400" dirty="0">
                <a:solidFill>
                  <a:schemeClr val="tx2"/>
                </a:solidFill>
                <a:latin typeface="Times New Roman" panose="02020603050405020304" pitchFamily="18" charset="0"/>
              </a:rPr>
              <a:t>方向空间关系</a:t>
            </a:r>
            <a:r>
              <a:rPr lang="en-US" altLang="zh-CN" sz="2400" dirty="0">
                <a:solidFill>
                  <a:schemeClr val="tx2"/>
                </a:solidFill>
                <a:latin typeface="Times New Roman" panose="02020603050405020304" pitchFamily="18" charset="0"/>
              </a:rPr>
              <a:t>)</a:t>
            </a:r>
            <a:r>
              <a:rPr lang="zh-CN" altLang="en-US" sz="2000" b="0" dirty="0">
                <a:solidFill>
                  <a:schemeClr val="tx2"/>
                </a:solidFill>
                <a:latin typeface="Times New Roman" panose="02020603050405020304" pitchFamily="18" charset="0"/>
              </a:rPr>
              <a:t> </a:t>
            </a:r>
          </a:p>
        </p:txBody>
      </p:sp>
      <p:sp>
        <p:nvSpPr>
          <p:cNvPr id="8" name="Text Box 2"/>
          <p:cNvSpPr txBox="1">
            <a:spLocks noChangeArrowheads="1"/>
          </p:cNvSpPr>
          <p:nvPr/>
        </p:nvSpPr>
        <p:spPr bwMode="auto">
          <a:xfrm>
            <a:off x="314242" y="2099325"/>
            <a:ext cx="8588697"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en-US" sz="2400" b="0" dirty="0">
                <a:solidFill>
                  <a:srgbClr val="0000CC"/>
                </a:solidFill>
                <a:latin typeface="Times New Roman" panose="02020603050405020304" pitchFamily="18" charset="0"/>
              </a:rPr>
              <a:t>基本思想：</a:t>
            </a:r>
            <a:r>
              <a:rPr lang="zh-CN" altLang="en-US" sz="2400" b="0" dirty="0">
                <a:latin typeface="Times New Roman" panose="02020603050405020304" pitchFamily="18" charset="0"/>
              </a:rPr>
              <a:t>找出空间目标在</a:t>
            </a:r>
            <a:r>
              <a:rPr lang="en-US" altLang="zh-CN" sz="2400" b="0" i="1" dirty="0">
                <a:latin typeface="Times New Roman" panose="02020603050405020304" pitchFamily="18" charset="0"/>
              </a:rPr>
              <a:t>X</a:t>
            </a:r>
            <a:r>
              <a:rPr lang="zh-CN" altLang="en-US" sz="2400" b="0" dirty="0">
                <a:latin typeface="Times New Roman" panose="02020603050405020304" pitchFamily="18" charset="0"/>
              </a:rPr>
              <a:t>和</a:t>
            </a:r>
            <a:r>
              <a:rPr lang="en-US" altLang="zh-CN" sz="2400" b="0" i="1" dirty="0">
                <a:latin typeface="Times New Roman" panose="02020603050405020304" pitchFamily="18" charset="0"/>
              </a:rPr>
              <a:t>Y</a:t>
            </a:r>
            <a:r>
              <a:rPr lang="zh-CN" altLang="en-US" sz="2400" b="0" dirty="0">
                <a:latin typeface="Times New Roman" panose="02020603050405020304" pitchFamily="18" charset="0"/>
              </a:rPr>
              <a:t>轴上的投影最大和最小值，构成该空间目标的</a:t>
            </a:r>
            <a:r>
              <a:rPr lang="en-US" altLang="zh-CN" sz="2400" b="0" dirty="0">
                <a:solidFill>
                  <a:srgbClr val="0000CC"/>
                </a:solidFill>
                <a:latin typeface="Times New Roman" panose="02020603050405020304" pitchFamily="18" charset="0"/>
              </a:rPr>
              <a:t>MBR(</a:t>
            </a:r>
            <a:r>
              <a:rPr lang="zh-CN" altLang="en-US" sz="2400" b="0" dirty="0">
                <a:solidFill>
                  <a:srgbClr val="0000CC"/>
                </a:solidFill>
                <a:latin typeface="Times New Roman" panose="02020603050405020304" pitchFamily="18" charset="0"/>
              </a:rPr>
              <a:t>最小约束矩形</a:t>
            </a:r>
            <a:r>
              <a:rPr lang="en-US" altLang="zh-CN" sz="2400" b="0" dirty="0">
                <a:solidFill>
                  <a:srgbClr val="0000CC"/>
                </a:solidFill>
                <a:latin typeface="Times New Roman" panose="02020603050405020304" pitchFamily="18" charset="0"/>
              </a:rPr>
              <a:t>)</a:t>
            </a:r>
            <a:r>
              <a:rPr lang="zh-CN" altLang="en-US" sz="2400" b="0" dirty="0">
                <a:latin typeface="Times New Roman" panose="02020603050405020304" pitchFamily="18" charset="0"/>
              </a:rPr>
              <a:t>，两个空间目标间的方向关系的确定转变为相应的两个目标</a:t>
            </a:r>
            <a:r>
              <a:rPr lang="en-US" altLang="zh-CN" sz="2400" b="0" dirty="0">
                <a:latin typeface="Times New Roman" panose="02020603050405020304" pitchFamily="18" charset="0"/>
              </a:rPr>
              <a:t>MBR</a:t>
            </a:r>
            <a:r>
              <a:rPr lang="zh-CN" altLang="en-US" sz="2400" b="0" dirty="0">
                <a:latin typeface="Times New Roman" panose="02020603050405020304" pitchFamily="18" charset="0"/>
              </a:rPr>
              <a:t>的方向关系的判断。</a:t>
            </a:r>
          </a:p>
        </p:txBody>
      </p:sp>
    </p:spTree>
    <p:extLst>
      <p:ext uri="{BB962C8B-B14F-4D97-AF65-F5344CB8AC3E}">
        <p14:creationId xmlns:p14="http://schemas.microsoft.com/office/powerpoint/2010/main" val="33410617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251520" y="188640"/>
            <a:ext cx="424847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(3)</a:t>
            </a:r>
            <a:r>
              <a:rPr lang="zh-CN" altLang="en-US" dirty="0">
                <a:solidFill>
                  <a:srgbClr val="FFFF00"/>
                </a:solidFill>
                <a:latin typeface="Times New Roman" panose="02020603050405020304" pitchFamily="18" charset="0"/>
              </a:rPr>
              <a:t>方向关系矩阵模型</a:t>
            </a:r>
            <a:endParaRPr lang="zh-CN" altLang="en-US" b="0" dirty="0">
              <a:latin typeface="Times New Roman" panose="02020603050405020304" pitchFamily="18" charset="0"/>
            </a:endParaRPr>
          </a:p>
        </p:txBody>
      </p:sp>
      <p:graphicFrame>
        <p:nvGraphicFramePr>
          <p:cNvPr id="68611" name="Object 3"/>
          <p:cNvGraphicFramePr>
            <a:graphicFrameLocks noChangeAspect="1"/>
          </p:cNvGraphicFramePr>
          <p:nvPr>
            <p:extLst/>
          </p:nvPr>
        </p:nvGraphicFramePr>
        <p:xfrm>
          <a:off x="395537" y="3396915"/>
          <a:ext cx="2736304" cy="2148571"/>
        </p:xfrm>
        <a:graphic>
          <a:graphicData uri="http://schemas.openxmlformats.org/presentationml/2006/ole">
            <mc:AlternateContent xmlns:mc="http://schemas.openxmlformats.org/markup-compatibility/2006">
              <mc:Choice xmlns:v="urn:schemas-microsoft-com:vml" Requires="v">
                <p:oleObj spid="_x0000_s6242" name="Visio" r:id="rId3" imgW="2658428" imgH="2075021" progId="Visio.Drawing.11">
                  <p:embed/>
                </p:oleObj>
              </mc:Choice>
              <mc:Fallback>
                <p:oleObj name="Visio" r:id="rId3" imgW="2658428" imgH="2075021" progId="Visio.Drawing.11">
                  <p:embed/>
                  <p:pic>
                    <p:nvPicPr>
                      <p:cNvPr id="686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7" y="3396915"/>
                        <a:ext cx="2736304" cy="2148571"/>
                      </a:xfrm>
                      <a:prstGeom prst="rect">
                        <a:avLst/>
                      </a:prstGeom>
                      <a:solidFill>
                        <a:schemeClr val="bg1"/>
                      </a:solidFill>
                      <a:ln>
                        <a:noFill/>
                      </a:ln>
                      <a:extLst/>
                    </p:spPr>
                  </p:pic>
                </p:oleObj>
              </mc:Fallback>
            </mc:AlternateContent>
          </a:graphicData>
        </a:graphic>
      </p:graphicFrame>
      <p:pic>
        <p:nvPicPr>
          <p:cNvPr id="68612"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5525" y="3342680"/>
            <a:ext cx="447675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43</a:t>
            </a:fld>
            <a:endParaRPr lang="en-US" altLang="zh-CN"/>
          </a:p>
        </p:txBody>
      </p:sp>
      <p:sp>
        <p:nvSpPr>
          <p:cNvPr id="6" name="Text Box 2"/>
          <p:cNvSpPr txBox="1">
            <a:spLocks noChangeArrowheads="1"/>
          </p:cNvSpPr>
          <p:nvPr/>
        </p:nvSpPr>
        <p:spPr bwMode="auto">
          <a:xfrm>
            <a:off x="251519" y="1015929"/>
            <a:ext cx="878093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None/>
            </a:pPr>
            <a:r>
              <a:rPr lang="zh-CN" altLang="en-US" sz="2400" b="0" dirty="0">
                <a:solidFill>
                  <a:srgbClr val="0000CC"/>
                </a:solidFill>
                <a:latin typeface="Times New Roman" panose="02020603050405020304" pitchFamily="18" charset="0"/>
              </a:rPr>
              <a:t>基本思想：</a:t>
            </a:r>
            <a:r>
              <a:rPr lang="zh-CN" altLang="en-US" sz="2400" b="0" dirty="0">
                <a:latin typeface="Times New Roman" panose="02020603050405020304" pitchFamily="18" charset="0"/>
              </a:rPr>
              <a:t>将平面空间划分为</a:t>
            </a:r>
            <a:r>
              <a:rPr lang="en-US" altLang="zh-CN" sz="2400" b="0" dirty="0">
                <a:latin typeface="Times New Roman" panose="02020603050405020304" pitchFamily="18" charset="0"/>
              </a:rPr>
              <a:t>9</a:t>
            </a:r>
            <a:r>
              <a:rPr lang="zh-CN" altLang="en-US" sz="2400" b="0" dirty="0">
                <a:latin typeface="Times New Roman" panose="02020603050405020304" pitchFamily="18" charset="0"/>
              </a:rPr>
              <a:t>个区域，每个区域为一个</a:t>
            </a:r>
            <a:r>
              <a:rPr lang="zh-CN" altLang="en-US" sz="2400" b="0" dirty="0">
                <a:solidFill>
                  <a:srgbClr val="0000CC"/>
                </a:solidFill>
                <a:latin typeface="Times New Roman" panose="02020603050405020304" pitchFamily="18" charset="0"/>
              </a:rPr>
              <a:t>方向片</a:t>
            </a:r>
            <a:r>
              <a:rPr lang="zh-CN" altLang="en-US" sz="2400" b="0" dirty="0">
                <a:latin typeface="Times New Roman" panose="02020603050405020304" pitchFamily="18" charset="0"/>
              </a:rPr>
              <a:t>，每个方向片对应一个</a:t>
            </a:r>
            <a:r>
              <a:rPr lang="zh-CN" altLang="en-US" sz="2400" b="0" dirty="0">
                <a:solidFill>
                  <a:srgbClr val="0000CC"/>
                </a:solidFill>
                <a:latin typeface="Times New Roman" panose="02020603050405020304" pitchFamily="18" charset="0"/>
              </a:rPr>
              <a:t>主方向</a:t>
            </a:r>
            <a:r>
              <a:rPr lang="zh-CN" altLang="en-US" sz="2400" b="0" dirty="0">
                <a:latin typeface="Times New Roman" panose="02020603050405020304" pitchFamily="18" charset="0"/>
              </a:rPr>
              <a:t>，参考目标所在的方向片称为</a:t>
            </a:r>
            <a:r>
              <a:rPr lang="zh-CN" altLang="en-US" sz="2400" b="0" dirty="0">
                <a:solidFill>
                  <a:srgbClr val="0000CC"/>
                </a:solidFill>
                <a:latin typeface="Times New Roman" panose="02020603050405020304" pitchFamily="18" charset="0"/>
              </a:rPr>
              <a:t>同方向</a:t>
            </a:r>
            <a:r>
              <a:rPr lang="zh-CN" altLang="en-US" sz="2400" b="0" dirty="0">
                <a:latin typeface="Times New Roman" panose="02020603050405020304" pitchFamily="18" charset="0"/>
              </a:rPr>
              <a:t>。</a:t>
            </a:r>
            <a:endParaRPr lang="zh-CN" altLang="en-US" sz="2000" b="0" dirty="0">
              <a:latin typeface="Times New Roman" panose="02020603050405020304" pitchFamily="18" charset="0"/>
            </a:endParaRPr>
          </a:p>
        </p:txBody>
      </p:sp>
      <p:sp>
        <p:nvSpPr>
          <p:cNvPr id="7" name="Text Box 2"/>
          <p:cNvSpPr txBox="1">
            <a:spLocks noChangeArrowheads="1"/>
          </p:cNvSpPr>
          <p:nvPr/>
        </p:nvSpPr>
        <p:spPr bwMode="auto">
          <a:xfrm>
            <a:off x="5354802" y="62786"/>
            <a:ext cx="354813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Tx/>
              <a:buSzTx/>
              <a:buNone/>
            </a:pPr>
            <a:r>
              <a:rPr lang="en-US" altLang="zh-CN" sz="2400" dirty="0">
                <a:solidFill>
                  <a:schemeClr val="tx2"/>
                </a:solidFill>
                <a:latin typeface="Times New Roman" panose="02020603050405020304" pitchFamily="18" charset="0"/>
              </a:rPr>
              <a:t>3. </a:t>
            </a:r>
            <a:r>
              <a:rPr lang="zh-CN" altLang="en-US" sz="2400" dirty="0">
                <a:solidFill>
                  <a:schemeClr val="tx2"/>
                </a:solidFill>
                <a:latin typeface="Times New Roman" panose="02020603050405020304" pitchFamily="18" charset="0"/>
              </a:rPr>
              <a:t>顺序关系描述</a:t>
            </a:r>
            <a:r>
              <a:rPr lang="en-US" altLang="zh-CN" sz="2400" dirty="0">
                <a:solidFill>
                  <a:schemeClr val="tx2"/>
                </a:solidFill>
                <a:latin typeface="Times New Roman" panose="02020603050405020304" pitchFamily="18" charset="0"/>
              </a:rPr>
              <a:t>(</a:t>
            </a:r>
            <a:r>
              <a:rPr lang="zh-CN" altLang="en-US" sz="2400" dirty="0">
                <a:solidFill>
                  <a:schemeClr val="tx2"/>
                </a:solidFill>
                <a:latin typeface="Times New Roman" panose="02020603050405020304" pitchFamily="18" charset="0"/>
              </a:rPr>
              <a:t>方向空间关系</a:t>
            </a:r>
            <a:r>
              <a:rPr lang="en-US" altLang="zh-CN" sz="2400" dirty="0">
                <a:solidFill>
                  <a:schemeClr val="tx2"/>
                </a:solidFill>
                <a:latin typeface="Times New Roman" panose="02020603050405020304" pitchFamily="18" charset="0"/>
              </a:rPr>
              <a:t>)</a:t>
            </a:r>
            <a:r>
              <a:rPr lang="zh-CN" altLang="en-US" sz="2000" b="0" dirty="0">
                <a:solidFill>
                  <a:schemeClr val="tx2"/>
                </a:solidFill>
                <a:latin typeface="Times New Roman" panose="02020603050405020304" pitchFamily="18" charset="0"/>
              </a:rPr>
              <a:t> </a:t>
            </a:r>
          </a:p>
        </p:txBody>
      </p:sp>
      <p:graphicFrame>
        <p:nvGraphicFramePr>
          <p:cNvPr id="8" name="Object 5"/>
          <p:cNvGraphicFramePr>
            <a:graphicFrameLocks noChangeAspect="1"/>
          </p:cNvGraphicFramePr>
          <p:nvPr>
            <p:extLst/>
          </p:nvPr>
        </p:nvGraphicFramePr>
        <p:xfrm>
          <a:off x="3923928" y="4867112"/>
          <a:ext cx="4390644" cy="1509407"/>
        </p:xfrm>
        <a:graphic>
          <a:graphicData uri="http://schemas.openxmlformats.org/presentationml/2006/ole">
            <mc:AlternateContent xmlns:mc="http://schemas.openxmlformats.org/markup-compatibility/2006">
              <mc:Choice xmlns:v="urn:schemas-microsoft-com:vml" Requires="v">
                <p:oleObj spid="_x0000_s6243" name="公式" r:id="rId6" imgW="3352800" imgH="1244600" progId="Equation.3">
                  <p:embed/>
                </p:oleObj>
              </mc:Choice>
              <mc:Fallback>
                <p:oleObj name="公式" r:id="rId6" imgW="3352800" imgH="1244600" progId="Equation.3">
                  <p:embed/>
                  <p:pic>
                    <p:nvPicPr>
                      <p:cNvPr id="8"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3928" y="4867112"/>
                        <a:ext cx="4390644" cy="1509407"/>
                      </a:xfrm>
                      <a:prstGeom prst="rect">
                        <a:avLst/>
                      </a:prstGeom>
                      <a:solidFill>
                        <a:schemeClr val="bg1"/>
                      </a:solidFill>
                      <a:ln>
                        <a:noFill/>
                      </a:ln>
                      <a:extLst/>
                    </p:spPr>
                  </p:pic>
                </p:oleObj>
              </mc:Fallback>
            </mc:AlternateContent>
          </a:graphicData>
        </a:graphic>
      </p:graphicFrame>
      <p:sp>
        <p:nvSpPr>
          <p:cNvPr id="3" name="文本框 2"/>
          <p:cNvSpPr txBox="1"/>
          <p:nvPr/>
        </p:nvSpPr>
        <p:spPr>
          <a:xfrm>
            <a:off x="8310533" y="5021650"/>
            <a:ext cx="721924" cy="1200329"/>
          </a:xfrm>
          <a:prstGeom prst="rect">
            <a:avLst/>
          </a:prstGeom>
          <a:noFill/>
        </p:spPr>
        <p:txBody>
          <a:bodyPr wrap="square" rtlCol="0">
            <a:spAutoFit/>
          </a:bodyPr>
          <a:lstStyle/>
          <a:p>
            <a:r>
              <a:rPr lang="zh-CN" altLang="en-US" dirty="0">
                <a:solidFill>
                  <a:srgbClr val="0000CC"/>
                </a:solidFill>
              </a:rPr>
              <a:t>用面积比代替交集</a:t>
            </a:r>
          </a:p>
        </p:txBody>
      </p:sp>
      <p:sp>
        <p:nvSpPr>
          <p:cNvPr id="10" name="Text Box 2"/>
          <p:cNvSpPr txBox="1">
            <a:spLocks noChangeArrowheads="1"/>
          </p:cNvSpPr>
          <p:nvPr/>
        </p:nvSpPr>
        <p:spPr bwMode="auto">
          <a:xfrm>
            <a:off x="284158" y="1955297"/>
            <a:ext cx="8489950"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
                <a:srgbClr val="0000CC"/>
              </a:buClr>
              <a:buSzTx/>
              <a:buNone/>
            </a:pPr>
            <a:r>
              <a:rPr lang="zh-CN" altLang="en-US" sz="2400" b="0" dirty="0">
                <a:solidFill>
                  <a:srgbClr val="0000CC"/>
                </a:solidFill>
                <a:latin typeface="Times New Roman" panose="02020603050405020304" pitchFamily="18" charset="0"/>
              </a:rPr>
              <a:t>物体</a:t>
            </a:r>
            <a:r>
              <a:rPr lang="en-US" altLang="zh-CN" sz="2400" b="0" i="1" dirty="0">
                <a:solidFill>
                  <a:srgbClr val="0000CC"/>
                </a:solidFill>
                <a:latin typeface="Times New Roman" panose="02020603050405020304" pitchFamily="18" charset="0"/>
              </a:rPr>
              <a:t>A</a:t>
            </a:r>
            <a:r>
              <a:rPr lang="zh-CN" altLang="en-US" sz="2400" b="0" dirty="0">
                <a:solidFill>
                  <a:srgbClr val="0000CC"/>
                </a:solidFill>
                <a:latin typeface="Times New Roman" panose="02020603050405020304" pitchFamily="18" charset="0"/>
              </a:rPr>
              <a:t>的方向集：</a:t>
            </a:r>
            <a:r>
              <a:rPr lang="en-US" altLang="zh-CN" sz="2000" b="0" dirty="0">
                <a:latin typeface="Times New Roman" panose="02020603050405020304" pitchFamily="18" charset="0"/>
              </a:rPr>
              <a:t>{N</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 NE</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 E</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 SE</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 S</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 SW</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 W</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 NW</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 O</a:t>
            </a:r>
            <a:r>
              <a:rPr lang="en-US" altLang="zh-CN" sz="2000" b="0" baseline="-25000" dirty="0">
                <a:latin typeface="Times New Roman" panose="02020603050405020304" pitchFamily="18" charset="0"/>
              </a:rPr>
              <a:t>A</a:t>
            </a:r>
            <a:r>
              <a:rPr lang="en-US" altLang="zh-CN" sz="2000" b="0" dirty="0">
                <a:latin typeface="Times New Roman" panose="02020603050405020304" pitchFamily="18" charset="0"/>
              </a:rPr>
              <a:t>}</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eaLnBrk="1" hangingPunct="1">
              <a:spcBef>
                <a:spcPts val="0"/>
              </a:spcBef>
              <a:buClr>
                <a:srgbClr val="0000CC"/>
              </a:buClr>
              <a:buSzTx/>
              <a:buNone/>
            </a:pPr>
            <a:r>
              <a:rPr lang="zh-CN" altLang="en-US" sz="2400" b="0" dirty="0">
                <a:latin typeface="Times New Roman" panose="02020603050405020304" pitchFamily="18" charset="0"/>
              </a:rPr>
              <a:t>将</a:t>
            </a:r>
            <a:r>
              <a:rPr lang="en-US" altLang="zh-CN" sz="2400" b="0" i="1" dirty="0">
                <a:latin typeface="Times New Roman" panose="02020603050405020304" pitchFamily="18" charset="0"/>
              </a:rPr>
              <a:t>B</a:t>
            </a:r>
            <a:r>
              <a:rPr lang="zh-CN" altLang="en-US" sz="2400" b="0" dirty="0">
                <a:latin typeface="Times New Roman" panose="02020603050405020304" pitchFamily="18" charset="0"/>
              </a:rPr>
              <a:t>与</a:t>
            </a:r>
            <a:r>
              <a:rPr lang="en-US" altLang="zh-CN" sz="2400" b="0" i="1" dirty="0">
                <a:latin typeface="Times New Roman" panose="02020603050405020304" pitchFamily="18" charset="0"/>
              </a:rPr>
              <a:t>A</a:t>
            </a:r>
            <a:r>
              <a:rPr lang="zh-CN" altLang="en-US" sz="2400" b="0" dirty="0">
                <a:latin typeface="Times New Roman" panose="02020603050405020304" pitchFamily="18" charset="0"/>
              </a:rPr>
              <a:t>的九个方向片分别求交，得到方向关系矩阵。</a:t>
            </a:r>
            <a:endParaRPr lang="en-US" altLang="zh-CN" sz="2400" b="0" dirty="0">
              <a:latin typeface="Times New Roman" panose="02020603050405020304" pitchFamily="18" charset="0"/>
            </a:endParaRPr>
          </a:p>
          <a:p>
            <a:pPr eaLnBrk="1" hangingPunct="1">
              <a:spcBef>
                <a:spcPts val="0"/>
              </a:spcBef>
              <a:buClr>
                <a:srgbClr val="0000CC"/>
              </a:buClr>
              <a:buSzTx/>
              <a:buNone/>
            </a:pPr>
            <a:r>
              <a:rPr lang="zh-CN" altLang="en-US" sz="2400" b="0" dirty="0">
                <a:latin typeface="Times New Roman" panose="02020603050405020304" pitchFamily="18" charset="0"/>
              </a:rPr>
              <a:t>根据该矩阵中非空元素判断</a:t>
            </a:r>
            <a:r>
              <a:rPr lang="en-US" altLang="zh-CN" sz="2400" b="0" i="1" dirty="0">
                <a:latin typeface="Times New Roman" panose="02020603050405020304" pitchFamily="18" charset="0"/>
              </a:rPr>
              <a:t>B</a:t>
            </a:r>
            <a:r>
              <a:rPr lang="zh-CN" altLang="en-US" sz="2400" b="0" dirty="0">
                <a:latin typeface="Times New Roman" panose="02020603050405020304" pitchFamily="18" charset="0"/>
              </a:rPr>
              <a:t>和</a:t>
            </a:r>
            <a:r>
              <a:rPr lang="en-US" altLang="zh-CN" sz="2400" b="0" i="1" dirty="0">
                <a:latin typeface="Times New Roman" panose="02020603050405020304" pitchFamily="18" charset="0"/>
              </a:rPr>
              <a:t>A</a:t>
            </a:r>
            <a:r>
              <a:rPr lang="zh-CN" altLang="en-US" sz="2400" b="0" dirty="0">
                <a:latin typeface="Times New Roman" panose="02020603050405020304" pitchFamily="18" charset="0"/>
              </a:rPr>
              <a:t>间的方向关系。 </a:t>
            </a:r>
          </a:p>
        </p:txBody>
      </p:sp>
    </p:spTree>
    <p:extLst>
      <p:ext uri="{BB962C8B-B14F-4D97-AF65-F5344CB8AC3E}">
        <p14:creationId xmlns:p14="http://schemas.microsoft.com/office/powerpoint/2010/main" val="32995817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2123728" y="1958177"/>
            <a:ext cx="6466829"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bg1"/>
              </a:buClr>
              <a:buFont typeface="Wingdings" panose="05000000000000000000" pitchFamily="2" charset="2"/>
              <a:buNone/>
            </a:pPr>
            <a:r>
              <a:rPr lang="en-US" altLang="zh-CN" sz="4800" dirty="0">
                <a:solidFill>
                  <a:srgbClr val="0000CC"/>
                </a:solidFill>
                <a:latin typeface="Times New Roman" panose="02020603050405020304" pitchFamily="18" charset="0"/>
              </a:rPr>
              <a:t>2.2 </a:t>
            </a:r>
            <a:r>
              <a:rPr lang="zh-CN" altLang="en-US" sz="4800" dirty="0">
                <a:solidFill>
                  <a:srgbClr val="0000CC"/>
                </a:solidFill>
                <a:latin typeface="Times New Roman" panose="02020603050405020304" pitchFamily="18" charset="0"/>
              </a:rPr>
              <a:t>空间关系理论</a:t>
            </a:r>
            <a:endParaRPr lang="en-US" altLang="zh-CN" sz="4800" dirty="0">
              <a:solidFill>
                <a:srgbClr val="0000CC"/>
              </a:solidFill>
              <a:latin typeface="Times New Roman" panose="02020603050405020304" pitchFamily="18" charset="0"/>
            </a:endParaRPr>
          </a:p>
          <a:p>
            <a:pPr eaLnBrk="1" hangingPunct="1">
              <a:spcBef>
                <a:spcPts val="0"/>
              </a:spcBef>
              <a:buClr>
                <a:schemeClr val="bg1"/>
              </a:buClr>
              <a:buFont typeface="Wingdings" panose="05000000000000000000" pitchFamily="2" charset="2"/>
              <a:buNone/>
            </a:pPr>
            <a:r>
              <a:rPr lang="en-US" altLang="zh-CN" sz="4000" dirty="0">
                <a:solidFill>
                  <a:schemeClr val="bg2"/>
                </a:solidFill>
                <a:latin typeface="Times New Roman" panose="02020603050405020304" pitchFamily="18" charset="0"/>
              </a:rPr>
              <a:t>2.2.1 </a:t>
            </a:r>
            <a:r>
              <a:rPr lang="zh-CN" altLang="en-US" sz="4000" dirty="0">
                <a:solidFill>
                  <a:schemeClr val="bg2"/>
                </a:solidFill>
                <a:latin typeface="Times New Roman" panose="02020603050405020304" pitchFamily="18" charset="0"/>
              </a:rPr>
              <a:t>空间关系的类型</a:t>
            </a:r>
            <a:endParaRPr lang="en-US" altLang="zh-CN" sz="4000" dirty="0">
              <a:solidFill>
                <a:schemeClr val="bg2"/>
              </a:solidFill>
              <a:latin typeface="Times New Roman" panose="02020603050405020304" pitchFamily="18" charset="0"/>
            </a:endParaRPr>
          </a:p>
          <a:p>
            <a:pPr>
              <a:spcBef>
                <a:spcPts val="0"/>
              </a:spcBef>
              <a:buClr>
                <a:schemeClr val="bg1"/>
              </a:buClr>
              <a:buNone/>
            </a:pPr>
            <a:r>
              <a:rPr lang="en-US" altLang="zh-CN" sz="4000" dirty="0">
                <a:solidFill>
                  <a:schemeClr val="bg2"/>
                </a:solidFill>
                <a:latin typeface="Times New Roman" panose="02020603050405020304" pitchFamily="18" charset="0"/>
              </a:rPr>
              <a:t>2.2.2 </a:t>
            </a:r>
            <a:r>
              <a:rPr lang="zh-CN" altLang="en-US" sz="4000" dirty="0">
                <a:solidFill>
                  <a:schemeClr val="bg2"/>
                </a:solidFill>
                <a:latin typeface="Times New Roman" panose="02020603050405020304" pitchFamily="18" charset="0"/>
              </a:rPr>
              <a:t>空间关系的描述</a:t>
            </a:r>
            <a:endParaRPr lang="en-US" altLang="zh-CN" sz="4000" dirty="0">
              <a:solidFill>
                <a:schemeClr val="bg2"/>
              </a:solidFill>
              <a:latin typeface="Times New Roman" panose="02020603050405020304" pitchFamily="18" charset="0"/>
            </a:endParaRPr>
          </a:p>
          <a:p>
            <a:pPr>
              <a:spcBef>
                <a:spcPct val="50000"/>
              </a:spcBef>
              <a:buClr>
                <a:schemeClr val="bg1"/>
              </a:buClr>
              <a:buNone/>
            </a:pPr>
            <a:r>
              <a:rPr lang="en-US" altLang="zh-CN" sz="4000" dirty="0">
                <a:solidFill>
                  <a:srgbClr val="0000CC"/>
                </a:solidFill>
                <a:latin typeface="Times New Roman" panose="02020603050405020304" pitchFamily="18" charset="0"/>
              </a:rPr>
              <a:t>2.2.3 </a:t>
            </a:r>
            <a:r>
              <a:rPr lang="zh-CN" altLang="en-US" sz="4000" dirty="0">
                <a:solidFill>
                  <a:srgbClr val="0000CC"/>
                </a:solidFill>
                <a:latin typeface="Times New Roman" panose="02020603050405020304" pitchFamily="18" charset="0"/>
              </a:rPr>
              <a:t>时空空间关系</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44</a:t>
            </a:fld>
            <a:endParaRPr lang="en-US" altLang="zh-CN"/>
          </a:p>
        </p:txBody>
      </p:sp>
      <p:sp>
        <p:nvSpPr>
          <p:cNvPr id="15" name="矩形 14">
            <a:extLst>
              <a:ext uri="{FF2B5EF4-FFF2-40B4-BE49-F238E27FC236}">
                <a16:creationId xmlns:a16="http://schemas.microsoft.com/office/drawing/2014/main" id="{51B0AE25-C780-4E66-981A-7366431F921F}"/>
              </a:ext>
            </a:extLst>
          </p:cNvPr>
          <p:cNvSpPr/>
          <p:nvPr/>
        </p:nvSpPr>
        <p:spPr>
          <a:xfrm>
            <a:off x="323528" y="1052736"/>
            <a:ext cx="3037458" cy="707886"/>
          </a:xfrm>
          <a:prstGeom prst="rect">
            <a:avLst/>
          </a:prstGeom>
          <a:noFill/>
          <a:ln>
            <a:solidFill>
              <a:schemeClr val="accent1"/>
            </a:solidFill>
          </a:ln>
        </p:spPr>
        <p:txBody>
          <a:bodyPr wrap="square">
            <a:spAutoFit/>
          </a:bodyPr>
          <a:lstStyle/>
          <a:p>
            <a:r>
              <a:rPr lang="zh-CN" altLang="en-US" sz="4000" b="1" spc="3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本节内容：</a:t>
            </a:r>
            <a:endParaRPr lang="zh-CN" altLang="en-US" sz="4000" b="1" spc="300"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TextBox 6"/>
          <p:cNvSpPr txBox="1">
            <a:spLocks noChangeArrowheads="1"/>
          </p:cNvSpPr>
          <p:nvPr/>
        </p:nvSpPr>
        <p:spPr bwMode="auto">
          <a:xfrm>
            <a:off x="2677679" y="164912"/>
            <a:ext cx="489654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spcBef>
                <a:spcPct val="50000"/>
              </a:spcBef>
              <a:buClrTx/>
              <a:buSzTx/>
              <a:buNone/>
            </a:pPr>
            <a:r>
              <a:rPr lang="en-US" altLang="zh-CN" sz="4000" dirty="0">
                <a:solidFill>
                  <a:srgbClr val="FFFF00"/>
                </a:solidFill>
                <a:latin typeface="Times New Roman" panose="02020603050405020304" pitchFamily="18" charset="0"/>
                <a:cs typeface="Times New Roman" panose="02020603050405020304" pitchFamily="18" charset="0"/>
              </a:rPr>
              <a:t>2.2   </a:t>
            </a:r>
            <a:r>
              <a:rPr lang="zh-CN" altLang="en-US" sz="4000" dirty="0">
                <a:solidFill>
                  <a:srgbClr val="FFFF00"/>
                </a:solidFill>
                <a:latin typeface="Times New Roman" panose="02020603050405020304" pitchFamily="18" charset="0"/>
                <a:cs typeface="Times New Roman" panose="02020603050405020304" pitchFamily="18" charset="0"/>
              </a:rPr>
              <a:t>空间关系理论</a:t>
            </a:r>
          </a:p>
        </p:txBody>
      </p:sp>
    </p:spTree>
    <p:extLst>
      <p:ext uri="{BB962C8B-B14F-4D97-AF65-F5344CB8AC3E}">
        <p14:creationId xmlns:p14="http://schemas.microsoft.com/office/powerpoint/2010/main" val="376976025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Text Box 2"/>
          <p:cNvSpPr txBox="1">
            <a:spLocks noChangeArrowheads="1"/>
          </p:cNvSpPr>
          <p:nvPr/>
        </p:nvSpPr>
        <p:spPr bwMode="auto">
          <a:xfrm>
            <a:off x="286027" y="105938"/>
            <a:ext cx="536892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FFFF00"/>
                </a:solidFill>
                <a:latin typeface="Times New Roman" panose="02020603050405020304" pitchFamily="18" charset="0"/>
              </a:rPr>
              <a:t>2.2.3</a:t>
            </a:r>
            <a:r>
              <a:rPr lang="zh-CN" altLang="en-US" sz="3600" dirty="0">
                <a:solidFill>
                  <a:srgbClr val="FFFF00"/>
                </a:solidFill>
                <a:latin typeface="Times New Roman" panose="02020603050405020304" pitchFamily="18" charset="0"/>
              </a:rPr>
              <a:t>　时空空间关系</a:t>
            </a:r>
          </a:p>
        </p:txBody>
      </p:sp>
      <p:sp>
        <p:nvSpPr>
          <p:cNvPr id="76804" name="Text Box 3"/>
          <p:cNvSpPr txBox="1">
            <a:spLocks noChangeArrowheads="1"/>
          </p:cNvSpPr>
          <p:nvPr/>
        </p:nvSpPr>
        <p:spPr bwMode="auto">
          <a:xfrm>
            <a:off x="251520" y="1052736"/>
            <a:ext cx="8784976"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600"/>
              </a:spcBef>
              <a:buClrTx/>
              <a:buSzTx/>
              <a:buNone/>
            </a:pPr>
            <a:r>
              <a:rPr lang="zh-CN" altLang="en-US" sz="2800" b="0" dirty="0">
                <a:solidFill>
                  <a:srgbClr val="0000CC"/>
                </a:solidFill>
                <a:latin typeface="Times New Roman" panose="02020603050405020304" pitchFamily="18" charset="0"/>
              </a:rPr>
              <a:t>时空空间关系：</a:t>
            </a:r>
            <a:r>
              <a:rPr lang="zh-CN" altLang="en-US" sz="2800" b="0" dirty="0">
                <a:latin typeface="Times New Roman" panose="02020603050405020304" pitchFamily="18" charset="0"/>
              </a:rPr>
              <a:t>地理实体之间的空间关系往往随着时间而变化，时间关系交织在一起就形成了多种时空关系。</a:t>
            </a:r>
          </a:p>
          <a:p>
            <a:pPr eaLnBrk="1" hangingPunct="1">
              <a:spcBef>
                <a:spcPts val="600"/>
              </a:spcBef>
              <a:buClr>
                <a:srgbClr val="0000CC"/>
              </a:buClr>
              <a:buSzTx/>
              <a:buNone/>
            </a:pPr>
            <a:r>
              <a:rPr lang="zh-CN" altLang="en-US" sz="2800" b="0" dirty="0">
                <a:solidFill>
                  <a:srgbClr val="0000CC"/>
                </a:solidFill>
                <a:latin typeface="Times New Roman" panose="02020603050405020304" pitchFamily="18" charset="0"/>
              </a:rPr>
              <a:t>时空拓扑关系</a:t>
            </a:r>
            <a:r>
              <a:rPr lang="en-US" altLang="zh-CN" sz="2800" b="0" dirty="0">
                <a:solidFill>
                  <a:srgbClr val="0000CC"/>
                </a:solidFill>
                <a:latin typeface="Times New Roman" panose="02020603050405020304" pitchFamily="18" charset="0"/>
              </a:rPr>
              <a:t>(spatiotemporal topology)</a:t>
            </a:r>
            <a:r>
              <a:rPr lang="zh-CN" altLang="en-US" sz="2800" b="0" dirty="0">
                <a:solidFill>
                  <a:srgbClr val="0000CC"/>
                </a:solidFill>
                <a:latin typeface="Times New Roman" panose="02020603050405020304" pitchFamily="18" charset="0"/>
              </a:rPr>
              <a:t>：</a:t>
            </a:r>
            <a:r>
              <a:rPr lang="zh-CN" altLang="en-US" sz="2800" b="0" dirty="0">
                <a:latin typeface="Times New Roman" panose="02020603050405020304" pitchFamily="18" charset="0"/>
              </a:rPr>
              <a:t>当点、线、面目标之间的</a:t>
            </a:r>
            <a:r>
              <a:rPr lang="zh-CN" altLang="en-US" sz="2800" b="0" dirty="0">
                <a:solidFill>
                  <a:srgbClr val="0000CC"/>
                </a:solidFill>
                <a:latin typeface="Times New Roman" panose="02020603050405020304" pitchFamily="18" charset="0"/>
              </a:rPr>
              <a:t>空间相邻</a:t>
            </a:r>
            <a:r>
              <a:rPr lang="zh-CN" altLang="en-US" sz="2800" b="0" dirty="0">
                <a:latin typeface="Times New Roman" panose="02020603050405020304" pitchFamily="18" charset="0"/>
              </a:rPr>
              <a:t>、</a:t>
            </a:r>
            <a:r>
              <a:rPr lang="zh-CN" altLang="en-US" sz="2800" b="0" dirty="0">
                <a:solidFill>
                  <a:srgbClr val="0000CC"/>
                </a:solidFill>
                <a:latin typeface="Times New Roman" panose="02020603050405020304" pitchFamily="18" charset="0"/>
              </a:rPr>
              <a:t>空间包含</a:t>
            </a:r>
            <a:r>
              <a:rPr lang="zh-CN" altLang="en-US" sz="2800" b="0" dirty="0">
                <a:latin typeface="Times New Roman" panose="02020603050405020304" pitchFamily="18" charset="0"/>
              </a:rPr>
              <a:t>等关系随时间发生变化时，往往与目标间的时间拓扑关系交织在一起，形成了一种新的</a:t>
            </a:r>
            <a:r>
              <a:rPr lang="zh-CN" altLang="en-US" sz="2800" b="0" dirty="0">
                <a:solidFill>
                  <a:srgbClr val="0000CC"/>
                </a:solidFill>
                <a:latin typeface="Times New Roman" panose="02020603050405020304" pitchFamily="18" charset="0"/>
              </a:rPr>
              <a:t>时空拓扑关系</a:t>
            </a:r>
            <a:r>
              <a:rPr lang="zh-CN" altLang="en-US" sz="2800" b="0" dirty="0">
                <a:latin typeface="Times New Roman" panose="02020603050405020304" pitchFamily="18" charset="0"/>
              </a:rPr>
              <a:t>。</a:t>
            </a:r>
          </a:p>
        </p:txBody>
      </p:sp>
      <p:sp>
        <p:nvSpPr>
          <p:cNvPr id="2" name="灯片编号占位符 1"/>
          <p:cNvSpPr>
            <a:spLocks noGrp="1"/>
          </p:cNvSpPr>
          <p:nvPr>
            <p:ph type="sldNum" sz="quarter" idx="10"/>
          </p:nvPr>
        </p:nvSpPr>
        <p:spPr>
          <a:xfrm>
            <a:off x="8388423" y="6381750"/>
            <a:ext cx="720651" cy="476250"/>
          </a:xfrm>
        </p:spPr>
        <p:txBody>
          <a:bodyPr/>
          <a:lstStyle/>
          <a:p>
            <a:pPr>
              <a:defRPr/>
            </a:pPr>
            <a:fld id="{F2022BCA-CEF6-49A1-BA1D-26724DAA5E0F}" type="slidenum">
              <a:rPr lang="zh-CN" altLang="en-US" smtClean="0"/>
              <a:pPr>
                <a:defRPr/>
              </a:pPr>
              <a:t>45</a:t>
            </a:fld>
            <a:endParaRPr lang="en-US" altLang="zh-CN"/>
          </a:p>
        </p:txBody>
      </p:sp>
      <p:pic>
        <p:nvPicPr>
          <p:cNvPr id="5" name="对象 2"/>
          <p:cNvPicPr>
            <a:picLocks noChangeArrowheads="1"/>
          </p:cNvPicPr>
          <p:nvPr/>
        </p:nvPicPr>
        <p:blipFill>
          <a:blip r:embed="rId3">
            <a:extLst>
              <a:ext uri="{28A0092B-C50C-407E-A947-70E740481C1C}">
                <a14:useLocalDpi xmlns:a14="http://schemas.microsoft.com/office/drawing/2010/main" val="0"/>
              </a:ext>
            </a:extLst>
          </a:blip>
          <a:srcRect r="-189" b="-1349"/>
          <a:stretch>
            <a:fillRect/>
          </a:stretch>
        </p:blipFill>
        <p:spPr bwMode="auto">
          <a:xfrm>
            <a:off x="971600" y="3897064"/>
            <a:ext cx="2813348" cy="2722811"/>
          </a:xfrm>
          <a:prstGeom prst="rect">
            <a:avLst/>
          </a:prstGeom>
          <a:solidFill>
            <a:schemeClr val="bg1"/>
          </a:solidFill>
          <a:ln>
            <a:noFill/>
          </a:ln>
          <a:extLst/>
        </p:spPr>
      </p:pic>
      <p:pic>
        <p:nvPicPr>
          <p:cNvPr id="3" name="图片 2"/>
          <p:cNvPicPr>
            <a:picLocks noChangeAspect="1"/>
          </p:cNvPicPr>
          <p:nvPr/>
        </p:nvPicPr>
        <p:blipFill>
          <a:blip r:embed="rId4"/>
          <a:stretch>
            <a:fillRect/>
          </a:stretch>
        </p:blipFill>
        <p:spPr>
          <a:xfrm>
            <a:off x="4283968" y="4731717"/>
            <a:ext cx="1619333" cy="679485"/>
          </a:xfrm>
          <a:prstGeom prst="rect">
            <a:avLst/>
          </a:prstGeom>
        </p:spPr>
      </p:pic>
      <p:pic>
        <p:nvPicPr>
          <p:cNvPr id="4" name="图片 3"/>
          <p:cNvPicPr>
            <a:picLocks noChangeAspect="1"/>
          </p:cNvPicPr>
          <p:nvPr/>
        </p:nvPicPr>
        <p:blipFill>
          <a:blip r:embed="rId5"/>
          <a:stretch>
            <a:fillRect/>
          </a:stretch>
        </p:blipFill>
        <p:spPr>
          <a:xfrm>
            <a:off x="6588224" y="4687265"/>
            <a:ext cx="1136708" cy="723937"/>
          </a:xfrm>
          <a:prstGeom prst="rect">
            <a:avLst/>
          </a:prstGeom>
        </p:spPr>
      </p:pic>
      <p:sp>
        <p:nvSpPr>
          <p:cNvPr id="6" name="文本框 5"/>
          <p:cNvSpPr txBox="1"/>
          <p:nvPr/>
        </p:nvSpPr>
        <p:spPr>
          <a:xfrm>
            <a:off x="4572000" y="5517232"/>
            <a:ext cx="1016447" cy="307777"/>
          </a:xfrm>
          <a:prstGeom prst="rect">
            <a:avLst/>
          </a:prstGeom>
          <a:noFill/>
        </p:spPr>
        <p:txBody>
          <a:bodyPr wrap="square" rtlCol="0">
            <a:spAutoFit/>
          </a:bodyPr>
          <a:lstStyle/>
          <a:p>
            <a:pPr algn="ctr"/>
            <a:r>
              <a:rPr lang="en-US" altLang="zh-CN" sz="1400" dirty="0">
                <a:solidFill>
                  <a:srgbClr val="0000CC"/>
                </a:solidFill>
                <a:latin typeface="Times New Roman" panose="02020603050405020304" pitchFamily="18" charset="0"/>
                <a:cs typeface="Times New Roman" panose="02020603050405020304" pitchFamily="18" charset="0"/>
              </a:rPr>
              <a:t>2000</a:t>
            </a:r>
            <a:r>
              <a:rPr lang="zh-CN" altLang="en-US" sz="1400" dirty="0">
                <a:solidFill>
                  <a:srgbClr val="0000CC"/>
                </a:solidFill>
                <a:latin typeface="Times New Roman" panose="02020603050405020304" pitchFamily="18" charset="0"/>
                <a:cs typeface="Times New Roman" panose="02020603050405020304" pitchFamily="18" charset="0"/>
              </a:rPr>
              <a:t>年</a:t>
            </a:r>
          </a:p>
        </p:txBody>
      </p:sp>
      <p:sp>
        <p:nvSpPr>
          <p:cNvPr id="9" name="文本框 8"/>
          <p:cNvSpPr txBox="1"/>
          <p:nvPr/>
        </p:nvSpPr>
        <p:spPr>
          <a:xfrm>
            <a:off x="6648354" y="5517231"/>
            <a:ext cx="1016447" cy="307777"/>
          </a:xfrm>
          <a:prstGeom prst="rect">
            <a:avLst/>
          </a:prstGeom>
          <a:noFill/>
        </p:spPr>
        <p:txBody>
          <a:bodyPr wrap="square" rtlCol="0">
            <a:spAutoFit/>
          </a:bodyPr>
          <a:lstStyle/>
          <a:p>
            <a:pPr algn="ctr"/>
            <a:r>
              <a:rPr lang="en-US" altLang="zh-CN" sz="1400" dirty="0">
                <a:solidFill>
                  <a:srgbClr val="0000CC"/>
                </a:solidFill>
                <a:latin typeface="Times New Roman" panose="02020603050405020304" pitchFamily="18" charset="0"/>
                <a:cs typeface="Times New Roman" panose="02020603050405020304" pitchFamily="18" charset="0"/>
              </a:rPr>
              <a:t>2010</a:t>
            </a:r>
            <a:r>
              <a:rPr lang="zh-CN" altLang="en-US" sz="1400" dirty="0">
                <a:solidFill>
                  <a:srgbClr val="0000CC"/>
                </a:solidFill>
                <a:latin typeface="Times New Roman" panose="02020603050405020304" pitchFamily="18" charset="0"/>
                <a:cs typeface="Times New Roman" panose="02020603050405020304" pitchFamily="18" charset="0"/>
              </a:rPr>
              <a:t>年</a:t>
            </a:r>
          </a:p>
        </p:txBody>
      </p:sp>
    </p:spTree>
    <p:extLst>
      <p:ext uri="{BB962C8B-B14F-4D97-AF65-F5344CB8AC3E}">
        <p14:creationId xmlns:p14="http://schemas.microsoft.com/office/powerpoint/2010/main" val="4214423652"/>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Text Box 2"/>
          <p:cNvSpPr txBox="1">
            <a:spLocks noChangeArrowheads="1"/>
          </p:cNvSpPr>
          <p:nvPr/>
        </p:nvSpPr>
        <p:spPr bwMode="auto">
          <a:xfrm>
            <a:off x="179512" y="1052736"/>
            <a:ext cx="8712968" cy="281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
                <a:srgbClr val="0000CC"/>
              </a:buClr>
              <a:buSzTx/>
              <a:buNone/>
            </a:pPr>
            <a:r>
              <a:rPr lang="zh-CN" altLang="en-US" sz="2000" b="0" dirty="0">
                <a:solidFill>
                  <a:srgbClr val="0000CC"/>
                </a:solidFill>
                <a:latin typeface="Times New Roman" panose="02020603050405020304" pitchFamily="18" charset="0"/>
              </a:rPr>
              <a:t>时间区间逻辑：</a:t>
            </a:r>
            <a:r>
              <a:rPr lang="zh-CN" altLang="en-US" sz="2000" b="0" dirty="0">
                <a:latin typeface="Times New Roman" panose="02020603050405020304" pitchFamily="18" charset="0"/>
              </a:rPr>
              <a:t>以时间区间为基元的一种时态关系描述逻辑。</a:t>
            </a:r>
            <a:endParaRPr lang="en-US" altLang="zh-CN" sz="2000" b="0" dirty="0">
              <a:latin typeface="Times New Roman" panose="02020603050405020304" pitchFamily="18" charset="0"/>
            </a:endParaRPr>
          </a:p>
          <a:p>
            <a:pPr eaLnBrk="1" hangingPunct="1">
              <a:spcBef>
                <a:spcPts val="0"/>
              </a:spcBef>
              <a:buClr>
                <a:srgbClr val="0000CC"/>
              </a:buClr>
              <a:buSzTx/>
              <a:buNone/>
            </a:pPr>
            <a:r>
              <a:rPr lang="zh-CN" altLang="en-US" sz="2000" b="0" dirty="0">
                <a:latin typeface="Times New Roman" panose="02020603050405020304" pitchFamily="18" charset="0"/>
              </a:rPr>
              <a:t>两个时间区间之间的定性关系</a:t>
            </a:r>
            <a:r>
              <a:rPr lang="en-US" altLang="zh-CN" sz="2000" b="0" dirty="0">
                <a:latin typeface="Times New Roman" panose="02020603050405020304" pitchFamily="18" charset="0"/>
              </a:rPr>
              <a:t>(13</a:t>
            </a:r>
            <a:r>
              <a:rPr lang="zh-CN" altLang="en-US" sz="2000" b="0" dirty="0">
                <a:latin typeface="Times New Roman" panose="02020603050405020304" pitchFamily="18" charset="0"/>
              </a:rPr>
              <a:t>种</a:t>
            </a:r>
            <a:r>
              <a:rPr lang="en-US" altLang="zh-CN" sz="2000" b="0" dirty="0">
                <a:latin typeface="Times New Roman" panose="02020603050405020304" pitchFamily="18" charset="0"/>
              </a:rPr>
              <a:t>)</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eaLnBrk="1" hangingPunct="1">
              <a:spcBef>
                <a:spcPts val="0"/>
              </a:spcBef>
              <a:buClr>
                <a:srgbClr val="0000CC"/>
              </a:buClr>
              <a:buSzTx/>
              <a:buFont typeface="Wingdings" panose="05000000000000000000" pitchFamily="2" charset="2"/>
              <a:buChar char="Ø"/>
            </a:pPr>
            <a:r>
              <a:rPr lang="zh-CN" altLang="en-US" sz="2000" b="0" dirty="0">
                <a:solidFill>
                  <a:srgbClr val="0000CC"/>
                </a:solidFill>
                <a:latin typeface="Times New Roman" panose="02020603050405020304" pitchFamily="18" charset="0"/>
              </a:rPr>
              <a:t>时间相等</a:t>
            </a:r>
            <a:r>
              <a:rPr lang="en-US" altLang="zh-CN" sz="2000" b="0" dirty="0" err="1">
                <a:latin typeface="Times New Roman" panose="02020603050405020304" pitchFamily="18" charset="0"/>
              </a:rPr>
              <a:t>TR_equal</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eaLnBrk="1" hangingPunct="1">
              <a:spcBef>
                <a:spcPts val="0"/>
              </a:spcBef>
              <a:buClr>
                <a:srgbClr val="0000CC"/>
              </a:buClr>
              <a:buSzTx/>
              <a:buFont typeface="Wingdings" panose="05000000000000000000" pitchFamily="2" charset="2"/>
              <a:buChar char="Ø"/>
            </a:pPr>
            <a:r>
              <a:rPr lang="zh-CN" altLang="en-US" sz="2000" b="0" dirty="0">
                <a:solidFill>
                  <a:srgbClr val="0000CC"/>
                </a:solidFill>
                <a:latin typeface="Times New Roman" panose="02020603050405020304" pitchFamily="18" charset="0"/>
              </a:rPr>
              <a:t>时间前</a:t>
            </a:r>
            <a:r>
              <a:rPr lang="en-US" altLang="zh-CN" sz="2000" b="0" dirty="0" err="1">
                <a:latin typeface="Times New Roman" panose="02020603050405020304" pitchFamily="18" charset="0"/>
              </a:rPr>
              <a:t>TR_before</a:t>
            </a:r>
            <a:r>
              <a:rPr lang="zh-CN" altLang="en-US" sz="2000" b="0" dirty="0">
                <a:latin typeface="Times New Roman" panose="02020603050405020304" pitchFamily="18" charset="0"/>
              </a:rPr>
              <a:t>、</a:t>
            </a:r>
            <a:r>
              <a:rPr lang="zh-CN" altLang="en-US" sz="2000" b="0" dirty="0">
                <a:solidFill>
                  <a:srgbClr val="0000CC"/>
                </a:solidFill>
                <a:latin typeface="Times New Roman" panose="02020603050405020304" pitchFamily="18" charset="0"/>
              </a:rPr>
              <a:t>时间后</a:t>
            </a:r>
            <a:r>
              <a:rPr lang="en-US" altLang="zh-CN" sz="2000" b="0" dirty="0" err="1">
                <a:latin typeface="Times New Roman" panose="02020603050405020304" pitchFamily="18" charset="0"/>
              </a:rPr>
              <a:t>TR_after</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eaLnBrk="1" hangingPunct="1">
              <a:spcBef>
                <a:spcPts val="0"/>
              </a:spcBef>
              <a:buClr>
                <a:srgbClr val="0000CC"/>
              </a:buClr>
              <a:buSzTx/>
              <a:buFont typeface="Wingdings" panose="05000000000000000000" pitchFamily="2" charset="2"/>
              <a:buChar char="Ø"/>
            </a:pPr>
            <a:r>
              <a:rPr lang="zh-CN" altLang="en-US" sz="2000" b="0" dirty="0">
                <a:solidFill>
                  <a:srgbClr val="0000CC"/>
                </a:solidFill>
                <a:latin typeface="Times New Roman" panose="02020603050405020304" pitchFamily="18" charset="0"/>
              </a:rPr>
              <a:t>时间相遇</a:t>
            </a:r>
            <a:r>
              <a:rPr lang="en-US" altLang="zh-CN" sz="2000" b="0" dirty="0" err="1">
                <a:latin typeface="Times New Roman" panose="02020603050405020304" pitchFamily="18" charset="0"/>
              </a:rPr>
              <a:t>TR_meet</a:t>
            </a:r>
            <a:r>
              <a:rPr lang="zh-CN" altLang="en-US" sz="2000" b="0" dirty="0">
                <a:latin typeface="Times New Roman" panose="02020603050405020304" pitchFamily="18" charset="0"/>
              </a:rPr>
              <a:t>、</a:t>
            </a:r>
            <a:r>
              <a:rPr lang="zh-CN" altLang="en-US" sz="2000" b="0" dirty="0">
                <a:solidFill>
                  <a:srgbClr val="0000CC"/>
                </a:solidFill>
                <a:latin typeface="Times New Roman" panose="02020603050405020304" pitchFamily="18" charset="0"/>
              </a:rPr>
              <a:t>时间被遇见</a:t>
            </a:r>
            <a:r>
              <a:rPr lang="en-US" altLang="zh-CN" sz="2000" b="0" dirty="0" err="1">
                <a:latin typeface="Times New Roman" panose="02020603050405020304" pitchFamily="18" charset="0"/>
              </a:rPr>
              <a:t>TR_met</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eaLnBrk="1" hangingPunct="1">
              <a:spcBef>
                <a:spcPts val="0"/>
              </a:spcBef>
              <a:buClr>
                <a:srgbClr val="0000CC"/>
              </a:buClr>
              <a:buSzTx/>
              <a:buFont typeface="Wingdings" panose="05000000000000000000" pitchFamily="2" charset="2"/>
              <a:buChar char="Ø"/>
            </a:pPr>
            <a:r>
              <a:rPr lang="zh-CN" altLang="en-US" sz="2000" b="0" dirty="0">
                <a:solidFill>
                  <a:srgbClr val="0000CC"/>
                </a:solidFill>
                <a:latin typeface="Times New Roman" panose="02020603050405020304" pitchFamily="18" charset="0"/>
              </a:rPr>
              <a:t>时间交叠</a:t>
            </a:r>
            <a:r>
              <a:rPr lang="en-US" altLang="zh-CN" sz="2000" b="0" dirty="0" err="1">
                <a:latin typeface="Times New Roman" panose="02020603050405020304" pitchFamily="18" charset="0"/>
              </a:rPr>
              <a:t>TR_overlap</a:t>
            </a:r>
            <a:r>
              <a:rPr lang="zh-CN" altLang="en-US" sz="2000" b="0" dirty="0">
                <a:latin typeface="Times New Roman" panose="02020603050405020304" pitchFamily="18" charset="0"/>
              </a:rPr>
              <a:t>、</a:t>
            </a:r>
            <a:r>
              <a:rPr lang="zh-CN" altLang="en-US" sz="2000" b="0" dirty="0">
                <a:solidFill>
                  <a:srgbClr val="0000CC"/>
                </a:solidFill>
                <a:latin typeface="Times New Roman" panose="02020603050405020304" pitchFamily="18" charset="0"/>
              </a:rPr>
              <a:t>时间被交叠</a:t>
            </a:r>
            <a:r>
              <a:rPr lang="en-US" altLang="zh-CN" sz="2000" b="0" dirty="0" err="1">
                <a:latin typeface="Times New Roman" panose="02020603050405020304" pitchFamily="18" charset="0"/>
              </a:rPr>
              <a:t>TR_overlapped</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eaLnBrk="1" hangingPunct="1">
              <a:spcBef>
                <a:spcPts val="0"/>
              </a:spcBef>
              <a:buClr>
                <a:srgbClr val="0000CC"/>
              </a:buClr>
              <a:buSzTx/>
              <a:buFont typeface="Wingdings" panose="05000000000000000000" pitchFamily="2" charset="2"/>
              <a:buChar char="Ø"/>
            </a:pPr>
            <a:r>
              <a:rPr lang="zh-CN" altLang="en-US" sz="2000" b="0" dirty="0">
                <a:solidFill>
                  <a:srgbClr val="0000CC"/>
                </a:solidFill>
                <a:latin typeface="Times New Roman" panose="02020603050405020304" pitchFamily="18" charset="0"/>
              </a:rPr>
              <a:t>时间包含</a:t>
            </a:r>
            <a:r>
              <a:rPr lang="en-US" altLang="zh-CN" sz="2000" b="0" dirty="0" err="1">
                <a:latin typeface="Times New Roman" panose="02020603050405020304" pitchFamily="18" charset="0"/>
              </a:rPr>
              <a:t>TR_contain</a:t>
            </a:r>
            <a:r>
              <a:rPr lang="zh-CN" altLang="en-US" sz="2000" b="0" dirty="0">
                <a:latin typeface="Times New Roman" panose="02020603050405020304" pitchFamily="18" charset="0"/>
              </a:rPr>
              <a:t>、</a:t>
            </a:r>
            <a:r>
              <a:rPr lang="zh-CN" altLang="en-US" sz="2000" b="0" dirty="0">
                <a:solidFill>
                  <a:srgbClr val="0000CC"/>
                </a:solidFill>
                <a:latin typeface="Times New Roman" panose="02020603050405020304" pitchFamily="18" charset="0"/>
              </a:rPr>
              <a:t>时间被包含</a:t>
            </a:r>
            <a:r>
              <a:rPr lang="en-US" altLang="zh-CN" sz="2000" b="0" dirty="0" err="1">
                <a:latin typeface="Times New Roman" panose="02020603050405020304" pitchFamily="18" charset="0"/>
              </a:rPr>
              <a:t>TR_during</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eaLnBrk="1" hangingPunct="1">
              <a:spcBef>
                <a:spcPts val="0"/>
              </a:spcBef>
              <a:buClr>
                <a:srgbClr val="0000CC"/>
              </a:buClr>
              <a:buSzTx/>
              <a:buFont typeface="Wingdings" panose="05000000000000000000" pitchFamily="2" charset="2"/>
              <a:buChar char="Ø"/>
            </a:pPr>
            <a:r>
              <a:rPr lang="zh-CN" altLang="en-US" sz="2000" b="0" dirty="0">
                <a:solidFill>
                  <a:srgbClr val="0000CC"/>
                </a:solidFill>
                <a:latin typeface="Times New Roman" panose="02020603050405020304" pitchFamily="18" charset="0"/>
              </a:rPr>
              <a:t>时间开始</a:t>
            </a:r>
            <a:r>
              <a:rPr lang="en-US" altLang="zh-CN" sz="2000" b="0" dirty="0" err="1">
                <a:latin typeface="Times New Roman" panose="02020603050405020304" pitchFamily="18" charset="0"/>
              </a:rPr>
              <a:t>TR_start</a:t>
            </a:r>
            <a:r>
              <a:rPr lang="zh-CN" altLang="en-US" sz="2000" b="0" dirty="0">
                <a:latin typeface="Times New Roman" panose="02020603050405020304" pitchFamily="18" charset="0"/>
              </a:rPr>
              <a:t>、</a:t>
            </a:r>
            <a:r>
              <a:rPr lang="zh-CN" altLang="en-US" sz="2000" b="0" dirty="0">
                <a:solidFill>
                  <a:srgbClr val="0000CC"/>
                </a:solidFill>
                <a:latin typeface="Times New Roman" panose="02020603050405020304" pitchFamily="18" charset="0"/>
              </a:rPr>
              <a:t>时间被开始</a:t>
            </a:r>
            <a:r>
              <a:rPr lang="en-US" altLang="zh-CN" sz="2000" b="0" dirty="0" err="1">
                <a:latin typeface="Times New Roman" panose="02020603050405020304" pitchFamily="18" charset="0"/>
              </a:rPr>
              <a:t>TR_started</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eaLnBrk="1" hangingPunct="1">
              <a:spcBef>
                <a:spcPts val="0"/>
              </a:spcBef>
              <a:buClr>
                <a:srgbClr val="0000CC"/>
              </a:buClr>
              <a:buSzTx/>
              <a:buFont typeface="Wingdings" panose="05000000000000000000" pitchFamily="2" charset="2"/>
              <a:buChar char="Ø"/>
            </a:pPr>
            <a:r>
              <a:rPr lang="zh-CN" altLang="en-US" sz="2000" b="0" dirty="0">
                <a:solidFill>
                  <a:srgbClr val="0000CC"/>
                </a:solidFill>
                <a:latin typeface="Times New Roman" panose="02020603050405020304" pitchFamily="18" charset="0"/>
              </a:rPr>
              <a:t>时间终止</a:t>
            </a:r>
            <a:r>
              <a:rPr lang="en-US" altLang="zh-CN" sz="2000" b="0" dirty="0" err="1">
                <a:latin typeface="Times New Roman" panose="02020603050405020304" pitchFamily="18" charset="0"/>
              </a:rPr>
              <a:t>TR_finish</a:t>
            </a:r>
            <a:r>
              <a:rPr lang="zh-CN" altLang="en-US" sz="2000" b="0" dirty="0">
                <a:latin typeface="Times New Roman" panose="02020603050405020304" pitchFamily="18" charset="0"/>
              </a:rPr>
              <a:t>、</a:t>
            </a:r>
            <a:r>
              <a:rPr lang="zh-CN" altLang="en-US" sz="2000" b="0" dirty="0">
                <a:solidFill>
                  <a:srgbClr val="0000CC"/>
                </a:solidFill>
                <a:latin typeface="Times New Roman" panose="02020603050405020304" pitchFamily="18" charset="0"/>
              </a:rPr>
              <a:t>时间被终止</a:t>
            </a:r>
            <a:r>
              <a:rPr lang="en-US" altLang="zh-CN" sz="2000" b="0" dirty="0" err="1">
                <a:latin typeface="Times New Roman" panose="02020603050405020304" pitchFamily="18" charset="0"/>
              </a:rPr>
              <a:t>TR_finished</a:t>
            </a:r>
            <a:r>
              <a:rPr lang="zh-CN" altLang="en-US" sz="2000" b="0" dirty="0">
                <a:latin typeface="Times New Roman" panose="02020603050405020304" pitchFamily="18" charset="0"/>
              </a:rPr>
              <a:t>。</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46</a:t>
            </a:fld>
            <a:endParaRPr lang="en-US" altLang="zh-CN"/>
          </a:p>
        </p:txBody>
      </p:sp>
      <p:pic>
        <p:nvPicPr>
          <p:cNvPr id="6" name="对象 2"/>
          <p:cNvPicPr>
            <a:picLocks noChangeArrowheads="1"/>
          </p:cNvPicPr>
          <p:nvPr/>
        </p:nvPicPr>
        <p:blipFill>
          <a:blip r:embed="rId2">
            <a:extLst>
              <a:ext uri="{28A0092B-C50C-407E-A947-70E740481C1C}">
                <a14:useLocalDpi xmlns:a14="http://schemas.microsoft.com/office/drawing/2010/main" val="0"/>
              </a:ext>
            </a:extLst>
          </a:blip>
          <a:srcRect r="-189" b="-1349"/>
          <a:stretch>
            <a:fillRect/>
          </a:stretch>
        </p:blipFill>
        <p:spPr bwMode="auto">
          <a:xfrm>
            <a:off x="2876845" y="3897064"/>
            <a:ext cx="2813348" cy="2722811"/>
          </a:xfrm>
          <a:prstGeom prst="rect">
            <a:avLst/>
          </a:prstGeom>
          <a:solidFill>
            <a:schemeClr val="bg1"/>
          </a:solidFill>
          <a:ln>
            <a:noFill/>
          </a:ln>
          <a:extLst/>
        </p:spPr>
      </p:pic>
      <p:sp>
        <p:nvSpPr>
          <p:cNvPr id="7" name="Text Box 2"/>
          <p:cNvSpPr txBox="1">
            <a:spLocks noChangeArrowheads="1"/>
          </p:cNvSpPr>
          <p:nvPr/>
        </p:nvSpPr>
        <p:spPr bwMode="auto">
          <a:xfrm>
            <a:off x="286027" y="105938"/>
            <a:ext cx="536892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FFFF00"/>
                </a:solidFill>
                <a:latin typeface="Times New Roman" panose="02020603050405020304" pitchFamily="18" charset="0"/>
              </a:rPr>
              <a:t>2.2.3</a:t>
            </a:r>
            <a:r>
              <a:rPr lang="zh-CN" altLang="en-US" sz="3600" dirty="0">
                <a:solidFill>
                  <a:srgbClr val="FFFF00"/>
                </a:solidFill>
                <a:latin typeface="Times New Roman" panose="02020603050405020304" pitchFamily="18" charset="0"/>
              </a:rPr>
              <a:t>　时空空间关系</a:t>
            </a:r>
          </a:p>
        </p:txBody>
      </p:sp>
    </p:spTree>
    <p:extLst>
      <p:ext uri="{BB962C8B-B14F-4D97-AF65-F5344CB8AC3E}">
        <p14:creationId xmlns:p14="http://schemas.microsoft.com/office/powerpoint/2010/main" val="311541895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1" name="对象 2"/>
          <p:cNvPicPr>
            <a:picLocks noChangeArrowheads="1"/>
          </p:cNvPicPr>
          <p:nvPr/>
        </p:nvPicPr>
        <p:blipFill>
          <a:blip r:embed="rId3">
            <a:extLst>
              <a:ext uri="{28A0092B-C50C-407E-A947-70E740481C1C}">
                <a14:useLocalDpi xmlns:a14="http://schemas.microsoft.com/office/drawing/2010/main" val="0"/>
              </a:ext>
            </a:extLst>
          </a:blip>
          <a:srcRect r="-189" b="-1349"/>
          <a:stretch>
            <a:fillRect/>
          </a:stretch>
        </p:blipFill>
        <p:spPr bwMode="auto">
          <a:xfrm>
            <a:off x="2843808" y="1083693"/>
            <a:ext cx="5981700" cy="5538787"/>
          </a:xfrm>
          <a:prstGeom prst="rect">
            <a:avLst/>
          </a:prstGeom>
          <a:solidFill>
            <a:schemeClr val="bg1"/>
          </a:solidFill>
          <a:ln>
            <a:noFill/>
          </a:ln>
          <a:extLst/>
        </p:spPr>
      </p:pic>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47</a:t>
            </a:fld>
            <a:endParaRPr lang="en-US" altLang="zh-CN"/>
          </a:p>
        </p:txBody>
      </p:sp>
      <p:sp>
        <p:nvSpPr>
          <p:cNvPr id="4" name="文本框 3"/>
          <p:cNvSpPr txBox="1"/>
          <p:nvPr/>
        </p:nvSpPr>
        <p:spPr>
          <a:xfrm>
            <a:off x="179512" y="1268760"/>
            <a:ext cx="2448272" cy="1938992"/>
          </a:xfrm>
          <a:prstGeom prst="rect">
            <a:avLst/>
          </a:prstGeom>
          <a:noFill/>
        </p:spPr>
        <p:txBody>
          <a:bodyPr wrap="square" rtlCol="0">
            <a:spAutoFit/>
          </a:bodyPr>
          <a:lstStyle/>
          <a:p>
            <a:r>
              <a:rPr lang="zh-CN" altLang="en-US" sz="2400" dirty="0">
                <a:solidFill>
                  <a:srgbClr val="0000CC"/>
                </a:solidFill>
                <a:latin typeface="Times New Roman" panose="02020603050405020304" pitchFamily="18" charset="0"/>
              </a:rPr>
              <a:t>时空关系模型：</a:t>
            </a:r>
            <a:endParaRPr lang="en-US" altLang="zh-CN" sz="2400" dirty="0">
              <a:solidFill>
                <a:srgbClr val="0000CC"/>
              </a:solidFill>
              <a:latin typeface="Times New Roman" panose="02020603050405020304" pitchFamily="18" charset="0"/>
            </a:endParaRPr>
          </a:p>
          <a:p>
            <a:endParaRPr lang="en-US" altLang="zh-CN" sz="2400" dirty="0">
              <a:solidFill>
                <a:schemeClr val="tx1"/>
              </a:solidFill>
              <a:latin typeface="Times New Roman" panose="02020603050405020304" pitchFamily="18" charset="0"/>
            </a:endParaRPr>
          </a:p>
          <a:p>
            <a:r>
              <a:rPr lang="zh-CN" altLang="en-US" sz="2400" dirty="0">
                <a:solidFill>
                  <a:schemeClr val="tx1"/>
                </a:solidFill>
                <a:latin typeface="Times New Roman" panose="02020603050405020304" pitchFamily="18" charset="0"/>
              </a:rPr>
              <a:t>时间区间关系和空间区域关系的</a:t>
            </a:r>
            <a:r>
              <a:rPr lang="zh-CN" altLang="en-US" sz="2400" dirty="0">
                <a:solidFill>
                  <a:srgbClr val="0000CC"/>
                </a:solidFill>
                <a:latin typeface="Times New Roman" panose="02020603050405020304" pitchFamily="18" charset="0"/>
              </a:rPr>
              <a:t>正交组合</a:t>
            </a:r>
            <a:endParaRPr lang="zh-CN" altLang="en-US" sz="2400" dirty="0">
              <a:solidFill>
                <a:srgbClr val="0000CC"/>
              </a:solidFill>
            </a:endParaRPr>
          </a:p>
        </p:txBody>
      </p:sp>
      <p:sp>
        <p:nvSpPr>
          <p:cNvPr id="6" name="Text Box 2"/>
          <p:cNvSpPr txBox="1">
            <a:spLocks noChangeArrowheads="1"/>
          </p:cNvSpPr>
          <p:nvPr/>
        </p:nvSpPr>
        <p:spPr bwMode="auto">
          <a:xfrm>
            <a:off x="286027" y="105938"/>
            <a:ext cx="536892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FFFF00"/>
                </a:solidFill>
                <a:latin typeface="Times New Roman" panose="02020603050405020304" pitchFamily="18" charset="0"/>
              </a:rPr>
              <a:t>2.2.3</a:t>
            </a:r>
            <a:r>
              <a:rPr lang="zh-CN" altLang="en-US" sz="3600" dirty="0">
                <a:solidFill>
                  <a:srgbClr val="FFFF00"/>
                </a:solidFill>
                <a:latin typeface="Times New Roman" panose="02020603050405020304" pitchFamily="18" charset="0"/>
              </a:rPr>
              <a:t>　时空空间关系</a:t>
            </a:r>
          </a:p>
        </p:txBody>
      </p:sp>
    </p:spTree>
    <p:extLst>
      <p:ext uri="{BB962C8B-B14F-4D97-AF65-F5344CB8AC3E}">
        <p14:creationId xmlns:p14="http://schemas.microsoft.com/office/powerpoint/2010/main" val="305876465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4"/>
          <p:cNvSpPr txBox="1">
            <a:spLocks noChangeArrowheads="1"/>
          </p:cNvSpPr>
          <p:nvPr/>
        </p:nvSpPr>
        <p:spPr bwMode="auto">
          <a:xfrm>
            <a:off x="522288" y="116632"/>
            <a:ext cx="8370192"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Wingdings" panose="05000000000000000000" pitchFamily="2" charset="2"/>
              <a:buNone/>
            </a:pPr>
            <a:r>
              <a:rPr lang="zh-CN" altLang="en-US" sz="4000" dirty="0">
                <a:solidFill>
                  <a:srgbClr val="FFFF00"/>
                </a:solidFill>
                <a:latin typeface="Times New Roman" panose="02020603050405020304" pitchFamily="18" charset="0"/>
              </a:rPr>
              <a:t>目   录 </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48</a:t>
            </a:fld>
            <a:endParaRPr lang="en-US" altLang="zh-CN"/>
          </a:p>
        </p:txBody>
      </p:sp>
      <p:sp>
        <p:nvSpPr>
          <p:cNvPr id="5" name="Text Box 4"/>
          <p:cNvSpPr txBox="1">
            <a:spLocks noChangeArrowheads="1"/>
          </p:cNvSpPr>
          <p:nvPr/>
        </p:nvSpPr>
        <p:spPr bwMode="auto">
          <a:xfrm>
            <a:off x="2699792" y="1700808"/>
            <a:ext cx="5167312" cy="367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dirty="0">
                <a:latin typeface="Times New Roman" panose="02020603050405020304" pitchFamily="18" charset="0"/>
              </a:rPr>
              <a:t>2.1  </a:t>
            </a:r>
            <a:r>
              <a:rPr lang="zh-CN" altLang="en-US" dirty="0">
                <a:latin typeface="Times New Roman" panose="02020603050405020304" pitchFamily="18" charset="0"/>
              </a:rPr>
              <a:t>地理学定律</a:t>
            </a:r>
            <a:endParaRPr lang="en-US" altLang="zh-CN" dirty="0">
              <a:latin typeface="Times New Roman" panose="02020603050405020304" pitchFamily="18" charset="0"/>
            </a:endParaRPr>
          </a:p>
          <a:p>
            <a:pPr>
              <a:spcBef>
                <a:spcPct val="50000"/>
              </a:spcBef>
              <a:buClrTx/>
              <a:buSzTx/>
              <a:buNone/>
            </a:pPr>
            <a:r>
              <a:rPr lang="en-US" altLang="zh-CN" dirty="0">
                <a:latin typeface="Times New Roman" panose="02020603050405020304" pitchFamily="18" charset="0"/>
              </a:rPr>
              <a:t>2.2  </a:t>
            </a:r>
            <a:r>
              <a:rPr lang="zh-CN" altLang="en-US" dirty="0">
                <a:latin typeface="Times New Roman" panose="02020603050405020304" pitchFamily="18" charset="0"/>
              </a:rPr>
              <a:t>空间关系理论</a:t>
            </a:r>
          </a:p>
          <a:p>
            <a:pPr>
              <a:spcBef>
                <a:spcPct val="50000"/>
              </a:spcBef>
              <a:buClrTx/>
              <a:buSzTx/>
              <a:buNone/>
            </a:pPr>
            <a:r>
              <a:rPr lang="en-US" altLang="zh-CN" sz="4000" dirty="0">
                <a:solidFill>
                  <a:srgbClr val="0000CC"/>
                </a:solidFill>
                <a:latin typeface="Times New Roman" panose="02020603050405020304" pitchFamily="18" charset="0"/>
              </a:rPr>
              <a:t>2.3  </a:t>
            </a:r>
            <a:r>
              <a:rPr lang="zh-CN" altLang="en-US" sz="4000" dirty="0">
                <a:solidFill>
                  <a:srgbClr val="0000CC"/>
                </a:solidFill>
                <a:latin typeface="Times New Roman" panose="02020603050405020304" pitchFamily="18" charset="0"/>
              </a:rPr>
              <a:t>空间认知理论</a:t>
            </a:r>
            <a:endParaRPr lang="zh-CN" altLang="en-US" sz="4000" b="0" dirty="0">
              <a:solidFill>
                <a:srgbClr val="0000CC"/>
              </a:solidFill>
              <a:latin typeface="Times New Roman" panose="02020603050405020304" pitchFamily="18" charset="0"/>
            </a:endParaRPr>
          </a:p>
          <a:p>
            <a:pPr>
              <a:spcBef>
                <a:spcPct val="50000"/>
              </a:spcBef>
              <a:buClrTx/>
              <a:buSzTx/>
              <a:buNone/>
            </a:pPr>
            <a:r>
              <a:rPr lang="en-US" altLang="zh-CN" dirty="0">
                <a:latin typeface="Times New Roman" panose="02020603050405020304" pitchFamily="18" charset="0"/>
              </a:rPr>
              <a:t>2.4  </a:t>
            </a:r>
            <a:r>
              <a:rPr lang="zh-CN" altLang="en-US" dirty="0">
                <a:latin typeface="Times New Roman" panose="02020603050405020304" pitchFamily="18" charset="0"/>
              </a:rPr>
              <a:t>空间推理理论</a:t>
            </a:r>
            <a:endParaRPr lang="en-US" altLang="zh-CN" dirty="0">
              <a:latin typeface="Times New Roman" panose="02020603050405020304" pitchFamily="18" charset="0"/>
            </a:endParaRPr>
          </a:p>
          <a:p>
            <a:pPr marL="0" lvl="1" indent="0">
              <a:spcBef>
                <a:spcPct val="50000"/>
              </a:spcBef>
              <a:buNone/>
            </a:pPr>
            <a:r>
              <a:rPr lang="en-US" altLang="zh-CN" sz="3200" dirty="0">
                <a:latin typeface="Times New Roman" panose="02020603050405020304" pitchFamily="18" charset="0"/>
              </a:rPr>
              <a:t>2.5  </a:t>
            </a:r>
            <a:r>
              <a:rPr lang="zh-CN" altLang="en-US" sz="3200" dirty="0">
                <a:latin typeface="Times New Roman" panose="02020603050405020304" pitchFamily="18" charset="0"/>
              </a:rPr>
              <a:t>空间不确定性理论</a:t>
            </a:r>
          </a:p>
        </p:txBody>
      </p:sp>
    </p:spTree>
    <p:extLst>
      <p:ext uri="{BB962C8B-B14F-4D97-AF65-F5344CB8AC3E}">
        <p14:creationId xmlns:p14="http://schemas.microsoft.com/office/powerpoint/2010/main" val="186175011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Text Box 2"/>
          <p:cNvSpPr txBox="1">
            <a:spLocks noChangeArrowheads="1"/>
          </p:cNvSpPr>
          <p:nvPr/>
        </p:nvSpPr>
        <p:spPr bwMode="auto">
          <a:xfrm>
            <a:off x="299967" y="116806"/>
            <a:ext cx="46593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  </a:t>
            </a:r>
            <a:r>
              <a:rPr lang="zh-CN" altLang="en-US" sz="3600" dirty="0">
                <a:solidFill>
                  <a:srgbClr val="FFFF00"/>
                </a:solidFill>
                <a:latin typeface="Times New Roman" panose="02020603050405020304" pitchFamily="18" charset="0"/>
              </a:rPr>
              <a:t>空间认知理论</a:t>
            </a:r>
            <a:endParaRPr lang="zh-CN" altLang="en-US" sz="3600" b="0" dirty="0">
              <a:solidFill>
                <a:srgbClr val="FFFF00"/>
              </a:solidFill>
              <a:latin typeface="Times New Roman" panose="02020603050405020304" pitchFamily="18" charset="0"/>
            </a:endParaRPr>
          </a:p>
        </p:txBody>
      </p:sp>
      <p:sp>
        <p:nvSpPr>
          <p:cNvPr id="86020" name="Text Box 3"/>
          <p:cNvSpPr txBox="1">
            <a:spLocks noChangeArrowheads="1"/>
          </p:cNvSpPr>
          <p:nvPr/>
        </p:nvSpPr>
        <p:spPr bwMode="auto">
          <a:xfrm>
            <a:off x="319088" y="1001713"/>
            <a:ext cx="673417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0000CC"/>
                </a:solidFill>
                <a:latin typeface="Times New Roman" panose="02020603050405020304" pitchFamily="18" charset="0"/>
              </a:rPr>
              <a:t>2.3.1   </a:t>
            </a:r>
            <a:r>
              <a:rPr lang="zh-CN" altLang="en-US" sz="3600" dirty="0">
                <a:solidFill>
                  <a:srgbClr val="0000CC"/>
                </a:solidFill>
                <a:latin typeface="Times New Roman" panose="02020603050405020304" pitchFamily="18" charset="0"/>
              </a:rPr>
              <a:t>地理空间认知的概念</a:t>
            </a:r>
            <a:endParaRPr lang="zh-CN" altLang="en-US" sz="3600" b="0" dirty="0">
              <a:solidFill>
                <a:srgbClr val="0000CC"/>
              </a:solidFill>
              <a:latin typeface="Times New Roman" panose="02020603050405020304" pitchFamily="18" charset="0"/>
            </a:endParaRPr>
          </a:p>
        </p:txBody>
      </p:sp>
      <p:sp>
        <p:nvSpPr>
          <p:cNvPr id="86023" name="Text Box 6"/>
          <p:cNvSpPr txBox="1">
            <a:spLocks noChangeArrowheads="1"/>
          </p:cNvSpPr>
          <p:nvPr/>
        </p:nvSpPr>
        <p:spPr bwMode="auto">
          <a:xfrm>
            <a:off x="299967" y="5324853"/>
            <a:ext cx="8640960"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None/>
            </a:pPr>
            <a:r>
              <a:rPr lang="zh-CN" altLang="en-US" dirty="0">
                <a:solidFill>
                  <a:srgbClr val="0000CC"/>
                </a:solidFill>
                <a:latin typeface="Times New Roman" panose="02020603050405020304" pitchFamily="18" charset="0"/>
              </a:rPr>
              <a:t>认知心理学：</a:t>
            </a:r>
            <a:r>
              <a:rPr lang="zh-CN" altLang="en-US" b="0" dirty="0">
                <a:solidFill>
                  <a:schemeClr val="accent2"/>
                </a:solidFill>
                <a:latin typeface="Times New Roman" panose="02020603050405020304" pitchFamily="18" charset="0"/>
              </a:rPr>
              <a:t>研究人的高级心理过程</a:t>
            </a:r>
            <a:r>
              <a:rPr lang="en-US" altLang="zh-CN" b="0" dirty="0">
                <a:solidFill>
                  <a:schemeClr val="accent2"/>
                </a:solidFill>
                <a:latin typeface="Times New Roman" panose="02020603050405020304" pitchFamily="18" charset="0"/>
              </a:rPr>
              <a:t>(</a:t>
            </a:r>
            <a:r>
              <a:rPr lang="zh-CN" altLang="en-US" b="0" dirty="0">
                <a:solidFill>
                  <a:schemeClr val="accent2"/>
                </a:solidFill>
                <a:latin typeface="Times New Roman" panose="02020603050405020304" pitchFamily="18" charset="0"/>
              </a:rPr>
              <a:t>认知过程</a:t>
            </a:r>
            <a:r>
              <a:rPr lang="en-US" altLang="zh-CN" b="0" dirty="0">
                <a:solidFill>
                  <a:schemeClr val="accent2"/>
                </a:solidFill>
                <a:latin typeface="Times New Roman" panose="02020603050405020304" pitchFamily="18" charset="0"/>
              </a:rPr>
              <a:t>)</a:t>
            </a:r>
            <a:r>
              <a:rPr lang="zh-CN" altLang="en-US" b="0" dirty="0">
                <a:latin typeface="Times New Roman" panose="02020603050405020304" pitchFamily="18" charset="0"/>
              </a:rPr>
              <a:t>，如</a:t>
            </a:r>
            <a:r>
              <a:rPr lang="zh-CN" altLang="en-US" b="0" dirty="0">
                <a:solidFill>
                  <a:srgbClr val="0000CC"/>
                </a:solidFill>
                <a:latin typeface="Times New Roman" panose="02020603050405020304" pitchFamily="18" charset="0"/>
              </a:rPr>
              <a:t>注意、知觉、表象、记忆、思维</a:t>
            </a:r>
            <a:r>
              <a:rPr lang="zh-CN" altLang="en-US" b="0" dirty="0">
                <a:latin typeface="Times New Roman" panose="02020603050405020304" pitchFamily="18" charset="0"/>
              </a:rPr>
              <a:t>和</a:t>
            </a:r>
            <a:r>
              <a:rPr lang="zh-CN" altLang="en-US" b="0" dirty="0">
                <a:solidFill>
                  <a:srgbClr val="0000CC"/>
                </a:solidFill>
                <a:latin typeface="Times New Roman" panose="02020603050405020304" pitchFamily="18" charset="0"/>
              </a:rPr>
              <a:t>语言</a:t>
            </a:r>
            <a:r>
              <a:rPr lang="zh-CN" altLang="en-US" b="0" dirty="0">
                <a:latin typeface="Times New Roman" panose="02020603050405020304" pitchFamily="18" charset="0"/>
              </a:rPr>
              <a:t>等。 </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49</a:t>
            </a:fld>
            <a:endParaRPr lang="en-US" altLang="zh-CN"/>
          </a:p>
        </p:txBody>
      </p:sp>
      <p:sp>
        <p:nvSpPr>
          <p:cNvPr id="8" name="Text Box 5"/>
          <p:cNvSpPr txBox="1">
            <a:spLocks noChangeArrowheads="1"/>
          </p:cNvSpPr>
          <p:nvPr/>
        </p:nvSpPr>
        <p:spPr bwMode="auto">
          <a:xfrm>
            <a:off x="179512" y="1831490"/>
            <a:ext cx="8640960"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FF00"/>
              </a:buClr>
              <a:buSzTx/>
              <a:buNone/>
            </a:pPr>
            <a:r>
              <a:rPr lang="zh-CN" altLang="en-US" dirty="0">
                <a:solidFill>
                  <a:srgbClr val="0000CC"/>
                </a:solidFill>
                <a:latin typeface="Times New Roman" panose="02020603050405020304" pitchFamily="18" charset="0"/>
              </a:rPr>
              <a:t>地理空间认知</a:t>
            </a:r>
            <a:r>
              <a:rPr lang="en-US" altLang="zh-CN" dirty="0">
                <a:solidFill>
                  <a:srgbClr val="0000CC"/>
                </a:solidFill>
                <a:latin typeface="Times New Roman" panose="02020603050405020304" pitchFamily="18" charset="0"/>
              </a:rPr>
              <a:t>(geospatial cognition)</a:t>
            </a:r>
            <a:r>
              <a:rPr lang="zh-CN" altLang="en-US" dirty="0">
                <a:solidFill>
                  <a:srgbClr val="0000CC"/>
                </a:solidFill>
                <a:latin typeface="Times New Roman" panose="02020603050405020304" pitchFamily="18" charset="0"/>
              </a:rPr>
              <a:t>：</a:t>
            </a:r>
            <a:r>
              <a:rPr lang="zh-CN" altLang="en-US" dirty="0">
                <a:solidFill>
                  <a:schemeClr val="accent2"/>
                </a:solidFill>
                <a:latin typeface="Times New Roman" panose="02020603050405020304" pitchFamily="18" charset="0"/>
              </a:rPr>
              <a:t>认知科学</a:t>
            </a:r>
            <a:r>
              <a:rPr lang="en-US" altLang="zh-CN" dirty="0">
                <a:solidFill>
                  <a:schemeClr val="accent2"/>
                </a:solidFill>
                <a:latin typeface="Times New Roman" panose="02020603050405020304" pitchFamily="18" charset="0"/>
              </a:rPr>
              <a:t>(</a:t>
            </a:r>
            <a:r>
              <a:rPr lang="zh-CN" altLang="en-US" dirty="0">
                <a:solidFill>
                  <a:schemeClr val="accent2"/>
                </a:solidFill>
                <a:latin typeface="Times New Roman" panose="02020603050405020304" pitchFamily="18" charset="0"/>
              </a:rPr>
              <a:t>认知心理学</a:t>
            </a:r>
            <a:r>
              <a:rPr lang="en-US" altLang="zh-CN" dirty="0">
                <a:solidFill>
                  <a:schemeClr val="accent2"/>
                </a:solidFill>
                <a:latin typeface="Times New Roman" panose="02020603050405020304" pitchFamily="18" charset="0"/>
              </a:rPr>
              <a:t>)</a:t>
            </a:r>
            <a:r>
              <a:rPr lang="zh-CN" altLang="en-US" b="0" dirty="0">
                <a:latin typeface="Times New Roman" panose="02020603050405020304" pitchFamily="18" charset="0"/>
              </a:rPr>
              <a:t>与</a:t>
            </a:r>
            <a:r>
              <a:rPr lang="zh-CN" altLang="en-US" dirty="0">
                <a:solidFill>
                  <a:schemeClr val="accent2"/>
                </a:solidFill>
                <a:latin typeface="Times New Roman" panose="02020603050405020304" pitchFamily="18" charset="0"/>
              </a:rPr>
              <a:t>地理科学</a:t>
            </a:r>
            <a:r>
              <a:rPr lang="en-US" altLang="zh-CN" dirty="0">
                <a:solidFill>
                  <a:schemeClr val="accent2"/>
                </a:solidFill>
                <a:latin typeface="Times New Roman" panose="02020603050405020304" pitchFamily="18" charset="0"/>
              </a:rPr>
              <a:t>(</a:t>
            </a:r>
            <a:r>
              <a:rPr lang="zh-CN" altLang="en-US" dirty="0">
                <a:solidFill>
                  <a:schemeClr val="accent2"/>
                </a:solidFill>
                <a:latin typeface="Times New Roman" panose="02020603050405020304" pitchFamily="18" charset="0"/>
              </a:rPr>
              <a:t>空间分析</a:t>
            </a:r>
            <a:r>
              <a:rPr lang="en-US" altLang="zh-CN" dirty="0">
                <a:solidFill>
                  <a:schemeClr val="accent2"/>
                </a:solidFill>
                <a:latin typeface="Times New Roman" panose="02020603050405020304" pitchFamily="18" charset="0"/>
              </a:rPr>
              <a:t>)</a:t>
            </a:r>
            <a:r>
              <a:rPr lang="zh-CN" altLang="en-US" b="0" dirty="0">
                <a:latin typeface="Times New Roman" panose="02020603050405020304" pitchFamily="18" charset="0"/>
              </a:rPr>
              <a:t>的学科， 研究人类如何逐步理解地理空间，进行地理分析和决策。</a:t>
            </a:r>
            <a:endParaRPr lang="en-US" altLang="zh-CN" b="0" dirty="0">
              <a:latin typeface="Times New Roman" panose="02020603050405020304" pitchFamily="18" charset="0"/>
            </a:endParaRPr>
          </a:p>
          <a:p>
            <a:pPr eaLnBrk="1" hangingPunct="1">
              <a:spcBef>
                <a:spcPct val="50000"/>
              </a:spcBef>
              <a:buClr>
                <a:srgbClr val="FFFF00"/>
              </a:buClr>
              <a:buSzTx/>
              <a:buNone/>
            </a:pPr>
            <a:r>
              <a:rPr lang="zh-CN" altLang="en-US" b="0" dirty="0">
                <a:latin typeface="Times New Roman" panose="02020603050405020304" pitchFamily="18" charset="0"/>
              </a:rPr>
              <a:t>包括：地理信息的</a:t>
            </a:r>
            <a:r>
              <a:rPr lang="zh-CN" altLang="en-US" b="0" dirty="0">
                <a:solidFill>
                  <a:srgbClr val="0000CC"/>
                </a:solidFill>
                <a:latin typeface="Times New Roman" panose="02020603050405020304" pitchFamily="18" charset="0"/>
              </a:rPr>
              <a:t>知觉、编码、存储</a:t>
            </a:r>
            <a:r>
              <a:rPr lang="zh-CN" altLang="en-US" b="0" dirty="0">
                <a:solidFill>
                  <a:schemeClr val="accent2"/>
                </a:solidFill>
                <a:latin typeface="Times New Roman" panose="02020603050405020304" pitchFamily="18" charset="0"/>
              </a:rPr>
              <a:t>、</a:t>
            </a:r>
            <a:r>
              <a:rPr lang="zh-CN" altLang="en-US" b="0" dirty="0">
                <a:latin typeface="Times New Roman" panose="02020603050405020304" pitchFamily="18" charset="0"/>
              </a:rPr>
              <a:t>以及</a:t>
            </a:r>
            <a:r>
              <a:rPr lang="zh-CN" altLang="en-US" b="0" dirty="0">
                <a:solidFill>
                  <a:srgbClr val="0000CC"/>
                </a:solidFill>
                <a:latin typeface="Times New Roman" panose="02020603050405020304" pitchFamily="18" charset="0"/>
              </a:rPr>
              <a:t>解码</a:t>
            </a:r>
            <a:r>
              <a:rPr lang="zh-CN" altLang="en-US" b="0" dirty="0">
                <a:latin typeface="Times New Roman" panose="02020603050405020304" pitchFamily="18" charset="0"/>
              </a:rPr>
              <a:t>等一系列心理过程。</a:t>
            </a:r>
          </a:p>
        </p:txBody>
      </p:sp>
    </p:spTree>
    <p:extLst>
      <p:ext uri="{BB962C8B-B14F-4D97-AF65-F5344CB8AC3E}">
        <p14:creationId xmlns:p14="http://schemas.microsoft.com/office/powerpoint/2010/main" val="3875000349"/>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Text Box 2"/>
          <p:cNvSpPr txBox="1">
            <a:spLocks noChangeArrowheads="1"/>
          </p:cNvSpPr>
          <p:nvPr/>
        </p:nvSpPr>
        <p:spPr bwMode="auto">
          <a:xfrm>
            <a:off x="1331640" y="1315529"/>
            <a:ext cx="750411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dirty="0">
                <a:solidFill>
                  <a:srgbClr val="0000CC"/>
                </a:solidFill>
                <a:latin typeface="Times New Roman" panose="02020603050405020304" pitchFamily="18" charset="0"/>
              </a:rPr>
              <a:t>2.3.2   </a:t>
            </a:r>
            <a:r>
              <a:rPr lang="zh-CN" altLang="en-US" dirty="0">
                <a:solidFill>
                  <a:srgbClr val="0000CC"/>
                </a:solidFill>
                <a:latin typeface="Times New Roman" panose="02020603050405020304" pitchFamily="18" charset="0"/>
              </a:rPr>
              <a:t>地理空间认知的研究内容</a:t>
            </a:r>
            <a:endParaRPr lang="zh-CN" altLang="en-US" b="0" dirty="0">
              <a:solidFill>
                <a:srgbClr val="0000CC"/>
              </a:solidFill>
              <a:latin typeface="Times New Roman" panose="02020603050405020304" pitchFamily="18" charset="0"/>
            </a:endParaRPr>
          </a:p>
        </p:txBody>
      </p:sp>
      <p:sp>
        <p:nvSpPr>
          <p:cNvPr id="90116" name="Text Box 3"/>
          <p:cNvSpPr txBox="1">
            <a:spLocks noChangeArrowheads="1"/>
          </p:cNvSpPr>
          <p:nvPr/>
        </p:nvSpPr>
        <p:spPr bwMode="auto">
          <a:xfrm>
            <a:off x="1591308" y="2371057"/>
            <a:ext cx="6408712"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342900" indent="-342900" eaLnBrk="1" hangingPunct="1">
              <a:spcBef>
                <a:spcPts val="600"/>
              </a:spcBef>
              <a:spcAft>
                <a:spcPts val="600"/>
              </a:spcAft>
              <a:buClr>
                <a:srgbClr val="0000CC"/>
              </a:buClr>
              <a:buSzTx/>
              <a:buFont typeface="Wingdings" panose="05000000000000000000" pitchFamily="2" charset="2"/>
              <a:buChar char="Ø"/>
            </a:pPr>
            <a:r>
              <a:rPr lang="zh-CN" altLang="en-US" b="0" dirty="0">
                <a:solidFill>
                  <a:srgbClr val="0000CC"/>
                </a:solidFill>
                <a:latin typeface="Times New Roman" panose="02020603050405020304" pitchFamily="18" charset="0"/>
              </a:rPr>
              <a:t>地理知觉</a:t>
            </a:r>
            <a:endParaRPr lang="en-US" altLang="zh-CN" b="0" dirty="0">
              <a:solidFill>
                <a:srgbClr val="0000CC"/>
              </a:solidFill>
              <a:latin typeface="Times New Roman" panose="02020603050405020304" pitchFamily="18" charset="0"/>
            </a:endParaRPr>
          </a:p>
          <a:p>
            <a:pPr marL="342900" indent="-342900" eaLnBrk="1" hangingPunct="1">
              <a:spcBef>
                <a:spcPts val="600"/>
              </a:spcBef>
              <a:spcAft>
                <a:spcPts val="600"/>
              </a:spcAft>
              <a:buClr>
                <a:srgbClr val="0000CC"/>
              </a:buClr>
              <a:buSzTx/>
              <a:buFont typeface="Wingdings" panose="05000000000000000000" pitchFamily="2" charset="2"/>
              <a:buChar char="Ø"/>
            </a:pPr>
            <a:r>
              <a:rPr lang="zh-CN" altLang="en-US" b="0" dirty="0">
                <a:solidFill>
                  <a:srgbClr val="0000CC"/>
                </a:solidFill>
                <a:latin typeface="Times New Roman" panose="02020603050405020304" pitchFamily="18" charset="0"/>
              </a:rPr>
              <a:t>地理表象</a:t>
            </a:r>
            <a:endParaRPr lang="en-US" altLang="zh-CN" b="0" dirty="0">
              <a:solidFill>
                <a:srgbClr val="0000CC"/>
              </a:solidFill>
              <a:latin typeface="Times New Roman" panose="02020603050405020304" pitchFamily="18" charset="0"/>
            </a:endParaRPr>
          </a:p>
          <a:p>
            <a:pPr marL="342900" indent="-342900" eaLnBrk="1" hangingPunct="1">
              <a:spcBef>
                <a:spcPts val="600"/>
              </a:spcBef>
              <a:spcAft>
                <a:spcPts val="600"/>
              </a:spcAft>
              <a:buClr>
                <a:srgbClr val="0000CC"/>
              </a:buClr>
              <a:buSzTx/>
              <a:buFont typeface="Wingdings" panose="05000000000000000000" pitchFamily="2" charset="2"/>
              <a:buChar char="Ø"/>
            </a:pPr>
            <a:r>
              <a:rPr lang="zh-CN" altLang="en-US" b="0" dirty="0">
                <a:solidFill>
                  <a:srgbClr val="0000CC"/>
                </a:solidFill>
                <a:latin typeface="Times New Roman" panose="02020603050405020304" pitchFamily="18" charset="0"/>
              </a:rPr>
              <a:t>地理概念化</a:t>
            </a:r>
            <a:endParaRPr lang="en-US" altLang="zh-CN" b="0" dirty="0">
              <a:solidFill>
                <a:srgbClr val="0000CC"/>
              </a:solidFill>
              <a:latin typeface="Times New Roman" panose="02020603050405020304" pitchFamily="18" charset="0"/>
            </a:endParaRPr>
          </a:p>
          <a:p>
            <a:pPr marL="342900" indent="-342900" eaLnBrk="1" hangingPunct="1">
              <a:spcBef>
                <a:spcPts val="600"/>
              </a:spcBef>
              <a:spcAft>
                <a:spcPts val="600"/>
              </a:spcAft>
              <a:buClr>
                <a:srgbClr val="0000CC"/>
              </a:buClr>
              <a:buSzTx/>
              <a:buFont typeface="Wingdings" panose="05000000000000000000" pitchFamily="2" charset="2"/>
              <a:buChar char="Ø"/>
            </a:pPr>
            <a:r>
              <a:rPr lang="zh-CN" altLang="en-US" b="0" dirty="0">
                <a:solidFill>
                  <a:srgbClr val="0000CC"/>
                </a:solidFill>
                <a:latin typeface="Times New Roman" panose="02020603050405020304" pitchFamily="18" charset="0"/>
              </a:rPr>
              <a:t>地理知识的类型等</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50</a:t>
            </a:fld>
            <a:endParaRPr lang="en-US" altLang="zh-CN"/>
          </a:p>
        </p:txBody>
      </p:sp>
      <p:sp>
        <p:nvSpPr>
          <p:cNvPr id="5" name="Text Box 2"/>
          <p:cNvSpPr txBox="1">
            <a:spLocks noChangeArrowheads="1"/>
          </p:cNvSpPr>
          <p:nvPr/>
        </p:nvSpPr>
        <p:spPr bwMode="auto">
          <a:xfrm>
            <a:off x="299967" y="116806"/>
            <a:ext cx="46593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  </a:t>
            </a:r>
            <a:r>
              <a:rPr lang="zh-CN" altLang="en-US" sz="3600" dirty="0">
                <a:solidFill>
                  <a:srgbClr val="FFFF00"/>
                </a:solidFill>
                <a:latin typeface="Times New Roman" panose="02020603050405020304" pitchFamily="18" charset="0"/>
              </a:rPr>
              <a:t>空间认知理论</a:t>
            </a:r>
            <a:endParaRPr lang="zh-CN" altLang="en-US" sz="3600" b="0" dirty="0">
              <a:solidFill>
                <a:srgbClr val="FFFF00"/>
              </a:solidFill>
              <a:latin typeface="Times New Roman" panose="02020603050405020304" pitchFamily="18" charset="0"/>
            </a:endParaRPr>
          </a:p>
        </p:txBody>
      </p:sp>
    </p:spTree>
    <p:extLst>
      <p:ext uri="{BB962C8B-B14F-4D97-AF65-F5344CB8AC3E}">
        <p14:creationId xmlns:p14="http://schemas.microsoft.com/office/powerpoint/2010/main" val="22611999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Text Box 2"/>
          <p:cNvSpPr txBox="1">
            <a:spLocks noChangeArrowheads="1"/>
          </p:cNvSpPr>
          <p:nvPr/>
        </p:nvSpPr>
        <p:spPr bwMode="auto">
          <a:xfrm>
            <a:off x="251520" y="1608959"/>
            <a:ext cx="8712968"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Tx/>
              <a:buSzTx/>
              <a:buFontTx/>
              <a:buNone/>
            </a:pPr>
            <a:r>
              <a:rPr lang="zh-CN" altLang="en-US" sz="2800" dirty="0">
                <a:solidFill>
                  <a:srgbClr val="0000CC"/>
                </a:solidFill>
                <a:latin typeface="Times New Roman" panose="02020603050405020304" pitchFamily="18" charset="0"/>
              </a:rPr>
              <a:t>地理知觉：</a:t>
            </a:r>
            <a:r>
              <a:rPr lang="zh-CN" altLang="en-US" sz="2800" b="0" dirty="0">
                <a:latin typeface="Times New Roman" panose="02020603050405020304" pitchFamily="18" charset="0"/>
              </a:rPr>
              <a:t>是指将地理事物从地理空间中区分出来，获取其位置并对其进行识别。</a:t>
            </a:r>
          </a:p>
          <a:p>
            <a:pPr eaLnBrk="1" hangingPunct="1">
              <a:spcBef>
                <a:spcPts val="0"/>
              </a:spcBef>
              <a:buClrTx/>
              <a:buSzTx/>
              <a:buNone/>
            </a:pPr>
            <a:r>
              <a:rPr lang="en-US" altLang="zh-CN" sz="2800" dirty="0">
                <a:solidFill>
                  <a:srgbClr val="0000CC"/>
                </a:solidFill>
                <a:latin typeface="Times New Roman" panose="02020603050405020304" pitchFamily="18" charset="0"/>
              </a:rPr>
              <a:t>(1)</a:t>
            </a:r>
            <a:r>
              <a:rPr lang="zh-CN" altLang="en-US" sz="2800" dirty="0">
                <a:solidFill>
                  <a:srgbClr val="0000CC"/>
                </a:solidFill>
                <a:latin typeface="Times New Roman" panose="02020603050405020304" pitchFamily="18" charset="0"/>
              </a:rPr>
              <a:t>格式塔心理学</a:t>
            </a:r>
            <a:r>
              <a:rPr lang="en-US" altLang="zh-CN" sz="2800" dirty="0">
                <a:solidFill>
                  <a:srgbClr val="0000CC"/>
                </a:solidFill>
                <a:latin typeface="Times New Roman" panose="02020603050405020304" pitchFamily="18" charset="0"/>
              </a:rPr>
              <a:t>(Gestalt Psychology)</a:t>
            </a:r>
            <a:endParaRPr lang="zh-CN" altLang="en-US" sz="2800" dirty="0">
              <a:solidFill>
                <a:srgbClr val="0000CC"/>
              </a:solidFill>
              <a:latin typeface="Times New Roman" panose="02020603050405020304" pitchFamily="18" charset="0"/>
            </a:endParaRPr>
          </a:p>
          <a:p>
            <a:pPr eaLnBrk="1" hangingPunct="1">
              <a:spcBef>
                <a:spcPts val="0"/>
              </a:spcBef>
              <a:buClrTx/>
              <a:buSzTx/>
              <a:buFontTx/>
              <a:buNone/>
            </a:pPr>
            <a:r>
              <a:rPr lang="zh-CN" altLang="en-US" sz="2800" b="0" dirty="0">
                <a:latin typeface="Times New Roman" panose="02020603050405020304" pitchFamily="18" charset="0"/>
                <a:cs typeface="Times New Roman" panose="02020603050405020304" pitchFamily="18" charset="0"/>
              </a:rPr>
              <a:t>又称“完形心理学”，是一种研究经验现象中的形式与关系的心理学。</a:t>
            </a:r>
          </a:p>
          <a:p>
            <a:pPr eaLnBrk="1" hangingPunct="1">
              <a:spcBef>
                <a:spcPts val="0"/>
              </a:spcBef>
              <a:buClrTx/>
              <a:buSzTx/>
              <a:buFontTx/>
              <a:buNone/>
            </a:pPr>
            <a:r>
              <a:rPr lang="zh-CN" altLang="en-US" sz="2800" b="0" dirty="0">
                <a:latin typeface="Times New Roman" panose="02020603050405020304" pitchFamily="18" charset="0"/>
              </a:rPr>
              <a:t>格式塔心理学强调</a:t>
            </a:r>
            <a:r>
              <a:rPr lang="zh-CN" altLang="en-US" sz="2800" b="0" dirty="0">
                <a:solidFill>
                  <a:srgbClr val="0000CC"/>
                </a:solidFill>
                <a:latin typeface="Times New Roman" panose="02020603050405020304" pitchFamily="18" charset="0"/>
              </a:rPr>
              <a:t>整体结构感知</a:t>
            </a:r>
            <a:r>
              <a:rPr lang="zh-CN" altLang="en-US" sz="2800" b="0" dirty="0">
                <a:latin typeface="Times New Roman" panose="02020603050405020304" pitchFamily="18" charset="0"/>
              </a:rPr>
              <a:t>和</a:t>
            </a:r>
            <a:r>
              <a:rPr lang="zh-CN" altLang="en-US" sz="2800" b="0" dirty="0">
                <a:solidFill>
                  <a:srgbClr val="0000CC"/>
                </a:solidFill>
                <a:latin typeface="Times New Roman" panose="02020603050405020304" pitchFamily="18" charset="0"/>
              </a:rPr>
              <a:t>自顶向下的加工</a:t>
            </a:r>
            <a:r>
              <a:rPr lang="zh-CN" altLang="en-US" sz="2800" b="0" dirty="0">
                <a:latin typeface="Times New Roman" panose="02020603050405020304" pitchFamily="18" charset="0"/>
              </a:rPr>
              <a:t>。</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51</a:t>
            </a:fld>
            <a:endParaRPr lang="en-US" altLang="zh-CN"/>
          </a:p>
        </p:txBody>
      </p:sp>
      <p:sp>
        <p:nvSpPr>
          <p:cNvPr id="4" name="Text Box 2"/>
          <p:cNvSpPr txBox="1">
            <a:spLocks noChangeArrowheads="1"/>
          </p:cNvSpPr>
          <p:nvPr/>
        </p:nvSpPr>
        <p:spPr bwMode="auto">
          <a:xfrm>
            <a:off x="158196" y="1039612"/>
            <a:ext cx="311766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CC"/>
                </a:solidFill>
                <a:latin typeface="Times New Roman" panose="02020603050405020304" pitchFamily="18" charset="0"/>
              </a:rPr>
              <a:t>1</a:t>
            </a:r>
            <a:r>
              <a:rPr lang="zh-CN" altLang="en-US" sz="3600" dirty="0">
                <a:solidFill>
                  <a:srgbClr val="0000CC"/>
                </a:solidFill>
                <a:latin typeface="Times New Roman" panose="02020603050405020304" pitchFamily="18" charset="0"/>
              </a:rPr>
              <a:t>）地理知觉</a:t>
            </a:r>
            <a:endParaRPr lang="zh-CN" altLang="en-US" sz="3600" b="0" dirty="0">
              <a:solidFill>
                <a:srgbClr val="0000CC"/>
              </a:solidFill>
              <a:latin typeface="Times New Roman" panose="02020603050405020304" pitchFamily="18"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829" y="4268094"/>
            <a:ext cx="5735389" cy="231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2"/>
          <p:cNvSpPr txBox="1">
            <a:spLocks noChangeArrowheads="1"/>
          </p:cNvSpPr>
          <p:nvPr/>
        </p:nvSpPr>
        <p:spPr bwMode="auto">
          <a:xfrm>
            <a:off x="167015" y="114484"/>
            <a:ext cx="75041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2.3.2   </a:t>
            </a:r>
            <a:r>
              <a:rPr lang="zh-CN" altLang="en-US" sz="3600" dirty="0">
                <a:solidFill>
                  <a:srgbClr val="FFFF00"/>
                </a:solidFill>
                <a:latin typeface="Times New Roman" panose="02020603050405020304" pitchFamily="18" charset="0"/>
              </a:rPr>
              <a:t>地理空间认知的研究内容</a:t>
            </a:r>
            <a:endParaRPr lang="zh-CN" altLang="en-US" sz="3600" b="0" dirty="0">
              <a:solidFill>
                <a:srgbClr val="FFFF00"/>
              </a:solidFill>
              <a:latin typeface="Times New Roman" panose="02020603050405020304" pitchFamily="18" charset="0"/>
            </a:endParaRPr>
          </a:p>
        </p:txBody>
      </p:sp>
      <p:sp>
        <p:nvSpPr>
          <p:cNvPr id="7" name="TextBox 3"/>
          <p:cNvSpPr txBox="1">
            <a:spLocks noChangeArrowheads="1"/>
          </p:cNvSpPr>
          <p:nvPr/>
        </p:nvSpPr>
        <p:spPr bwMode="auto">
          <a:xfrm>
            <a:off x="5923119" y="4812090"/>
            <a:ext cx="311378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600"/>
              </a:spcBef>
              <a:buClrTx/>
              <a:buSzTx/>
              <a:buFontTx/>
              <a:buNone/>
            </a:pPr>
            <a:r>
              <a:rPr lang="zh-CN" altLang="en-US" sz="2400" b="0" dirty="0">
                <a:solidFill>
                  <a:srgbClr val="0000CC"/>
                </a:solidFill>
                <a:latin typeface="Times New Roman" panose="02020603050405020304" pitchFamily="18" charset="0"/>
              </a:rPr>
              <a:t>人类能分辨哪些信息属于一个整体进而把这些信息组织成一个有明确意义的目标。</a:t>
            </a:r>
          </a:p>
        </p:txBody>
      </p:sp>
    </p:spTree>
    <p:extLst>
      <p:ext uri="{BB962C8B-B14F-4D97-AF65-F5344CB8AC3E}">
        <p14:creationId xmlns:p14="http://schemas.microsoft.com/office/powerpoint/2010/main" val="330688045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116632" y="1897147"/>
            <a:ext cx="8824827"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600"/>
              </a:spcBef>
              <a:buClr>
                <a:srgbClr val="0000CC"/>
              </a:buClr>
              <a:buSzTx/>
              <a:buNone/>
            </a:pPr>
            <a:r>
              <a:rPr lang="zh-CN" altLang="en-US" sz="2800" b="0" dirty="0">
                <a:solidFill>
                  <a:srgbClr val="0000CC"/>
                </a:solidFill>
                <a:latin typeface="Times New Roman" panose="02020603050405020304" pitchFamily="18" charset="0"/>
                <a:cs typeface="Times New Roman" panose="02020603050405020304" pitchFamily="18" charset="0"/>
              </a:rPr>
              <a:t>表象：</a:t>
            </a:r>
            <a:r>
              <a:rPr lang="zh-CN" altLang="en-US" sz="2800" b="0" dirty="0">
                <a:latin typeface="Times New Roman" panose="02020603050405020304" pitchFamily="18" charset="0"/>
                <a:cs typeface="Times New Roman" panose="02020603050405020304" pitchFamily="18" charset="0"/>
              </a:rPr>
              <a:t>认知科学的重要概念，是人类意识对物质世界主动和积极的</a:t>
            </a:r>
            <a:r>
              <a:rPr lang="zh-CN" altLang="en-US" sz="2800" b="0" dirty="0">
                <a:solidFill>
                  <a:srgbClr val="0000CC"/>
                </a:solidFill>
                <a:latin typeface="Times New Roman" panose="02020603050405020304" pitchFamily="18" charset="0"/>
                <a:cs typeface="Times New Roman" panose="02020603050405020304" pitchFamily="18" charset="0"/>
              </a:rPr>
              <a:t>形象化反映</a:t>
            </a:r>
            <a:r>
              <a:rPr lang="zh-CN" altLang="en-US" sz="2800" b="0" dirty="0">
                <a:latin typeface="Times New Roman" panose="02020603050405020304" pitchFamily="18" charset="0"/>
                <a:cs typeface="Times New Roman" panose="02020603050405020304" pitchFamily="18" charset="0"/>
              </a:rPr>
              <a:t>。</a:t>
            </a:r>
          </a:p>
          <a:p>
            <a:pPr eaLnBrk="1" hangingPunct="1">
              <a:spcBef>
                <a:spcPts val="600"/>
              </a:spcBef>
              <a:buClr>
                <a:srgbClr val="0000CC"/>
              </a:buClr>
              <a:buSzTx/>
              <a:buNone/>
            </a:pPr>
            <a:r>
              <a:rPr lang="zh-CN" altLang="en-US" sz="2800" b="0" dirty="0">
                <a:solidFill>
                  <a:srgbClr val="0000CC"/>
                </a:solidFill>
                <a:latin typeface="Times New Roman" panose="02020603050405020304" pitchFamily="18" charset="0"/>
                <a:cs typeface="Times New Roman" panose="02020603050405020304" pitchFamily="18" charset="0"/>
              </a:rPr>
              <a:t>地理表象：</a:t>
            </a:r>
            <a:r>
              <a:rPr lang="zh-CN" altLang="en-US" sz="2800" b="0" dirty="0">
                <a:latin typeface="Times New Roman" panose="02020603050405020304" pitchFamily="18" charset="0"/>
                <a:cs typeface="Times New Roman" panose="02020603050405020304" pitchFamily="18" charset="0"/>
              </a:rPr>
              <a:t>表示</a:t>
            </a:r>
            <a:r>
              <a:rPr lang="zh-CN" altLang="en-US" sz="2800" b="0" dirty="0">
                <a:solidFill>
                  <a:srgbClr val="0000CC"/>
                </a:solidFill>
                <a:latin typeface="Times New Roman" panose="02020603050405020304" pitchFamily="18" charset="0"/>
                <a:cs typeface="Times New Roman" panose="02020603050405020304" pitchFamily="18" charset="0"/>
              </a:rPr>
              <a:t>地理形象思维所产生的各种“象”</a:t>
            </a:r>
            <a:r>
              <a:rPr lang="zh-CN" altLang="en-US" sz="2800" b="0" dirty="0">
                <a:latin typeface="Times New Roman" panose="02020603050405020304" pitchFamily="18" charset="0"/>
                <a:cs typeface="Times New Roman" panose="02020603050405020304" pitchFamily="18" charset="0"/>
              </a:rPr>
              <a:t>，是地理思维活动的产物，地理思维得以进行的载体。</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52</a:t>
            </a:fld>
            <a:endParaRPr lang="en-US" altLang="zh-CN"/>
          </a:p>
        </p:txBody>
      </p:sp>
      <p:pic>
        <p:nvPicPr>
          <p:cNvPr id="3" name="图片 2"/>
          <p:cNvPicPr>
            <a:picLocks noChangeAspect="1"/>
          </p:cNvPicPr>
          <p:nvPr/>
        </p:nvPicPr>
        <p:blipFill>
          <a:blip r:embed="rId2"/>
          <a:stretch>
            <a:fillRect/>
          </a:stretch>
        </p:blipFill>
        <p:spPr>
          <a:xfrm>
            <a:off x="611560" y="4549487"/>
            <a:ext cx="2266346" cy="1562405"/>
          </a:xfrm>
          <a:prstGeom prst="rect">
            <a:avLst/>
          </a:prstGeom>
        </p:spPr>
      </p:pic>
      <p:pic>
        <p:nvPicPr>
          <p:cNvPr id="5" name="图片 4"/>
          <p:cNvPicPr>
            <a:picLocks noChangeAspect="1"/>
          </p:cNvPicPr>
          <p:nvPr/>
        </p:nvPicPr>
        <p:blipFill>
          <a:blip r:embed="rId3"/>
          <a:stretch>
            <a:fillRect/>
          </a:stretch>
        </p:blipFill>
        <p:spPr>
          <a:xfrm>
            <a:off x="3131840" y="4549486"/>
            <a:ext cx="2343601" cy="1562400"/>
          </a:xfrm>
          <a:prstGeom prst="rect">
            <a:avLst/>
          </a:prstGeom>
        </p:spPr>
      </p:pic>
      <p:pic>
        <p:nvPicPr>
          <p:cNvPr id="6" name="图片 5"/>
          <p:cNvPicPr>
            <a:picLocks noChangeAspect="1"/>
          </p:cNvPicPr>
          <p:nvPr/>
        </p:nvPicPr>
        <p:blipFill>
          <a:blip r:embed="rId4"/>
          <a:stretch>
            <a:fillRect/>
          </a:stretch>
        </p:blipFill>
        <p:spPr>
          <a:xfrm>
            <a:off x="5796136" y="4549486"/>
            <a:ext cx="2503605" cy="1562400"/>
          </a:xfrm>
          <a:prstGeom prst="rect">
            <a:avLst/>
          </a:prstGeom>
        </p:spPr>
      </p:pic>
      <p:sp>
        <p:nvSpPr>
          <p:cNvPr id="8" name="Text Box 2"/>
          <p:cNvSpPr txBox="1">
            <a:spLocks noChangeArrowheads="1"/>
          </p:cNvSpPr>
          <p:nvPr/>
        </p:nvSpPr>
        <p:spPr bwMode="auto">
          <a:xfrm>
            <a:off x="323528" y="1071916"/>
            <a:ext cx="311766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CC"/>
                </a:solidFill>
                <a:latin typeface="Times New Roman" panose="02020603050405020304" pitchFamily="18" charset="0"/>
              </a:rPr>
              <a:t>2</a:t>
            </a:r>
            <a:r>
              <a:rPr lang="zh-CN" altLang="en-US" sz="3600" dirty="0">
                <a:solidFill>
                  <a:srgbClr val="0000CC"/>
                </a:solidFill>
                <a:latin typeface="Times New Roman" panose="02020603050405020304" pitchFamily="18" charset="0"/>
              </a:rPr>
              <a:t>）地理表象</a:t>
            </a:r>
            <a:endParaRPr lang="zh-CN" altLang="en-US" sz="3600" b="0" dirty="0">
              <a:solidFill>
                <a:srgbClr val="0000CC"/>
              </a:solidFill>
              <a:latin typeface="Times New Roman" panose="02020603050405020304" pitchFamily="18" charset="0"/>
            </a:endParaRPr>
          </a:p>
        </p:txBody>
      </p:sp>
      <p:sp>
        <p:nvSpPr>
          <p:cNvPr id="9" name="Text Box 2"/>
          <p:cNvSpPr txBox="1">
            <a:spLocks noChangeArrowheads="1"/>
          </p:cNvSpPr>
          <p:nvPr/>
        </p:nvSpPr>
        <p:spPr bwMode="auto">
          <a:xfrm>
            <a:off x="167015" y="114484"/>
            <a:ext cx="75041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2.3.2   </a:t>
            </a:r>
            <a:r>
              <a:rPr lang="zh-CN" altLang="en-US" sz="3600" dirty="0">
                <a:solidFill>
                  <a:srgbClr val="FFFF00"/>
                </a:solidFill>
                <a:latin typeface="Times New Roman" panose="02020603050405020304" pitchFamily="18" charset="0"/>
              </a:rPr>
              <a:t>地理空间认知的研究内容</a:t>
            </a:r>
            <a:endParaRPr lang="zh-CN" altLang="en-US" sz="3600" b="0" dirty="0">
              <a:solidFill>
                <a:srgbClr val="FFFF00"/>
              </a:solidFill>
              <a:latin typeface="Times New Roman" panose="02020603050405020304" pitchFamily="18" charset="0"/>
            </a:endParaRPr>
          </a:p>
        </p:txBody>
      </p:sp>
    </p:spTree>
    <p:extLst>
      <p:ext uri="{BB962C8B-B14F-4D97-AF65-F5344CB8AC3E}">
        <p14:creationId xmlns:p14="http://schemas.microsoft.com/office/powerpoint/2010/main" val="379124733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53</a:t>
            </a:fld>
            <a:endParaRPr lang="en-US" altLang="zh-CN"/>
          </a:p>
        </p:txBody>
      </p:sp>
      <p:sp>
        <p:nvSpPr>
          <p:cNvPr id="4" name="Text Box 2"/>
          <p:cNvSpPr txBox="1">
            <a:spLocks noChangeArrowheads="1"/>
          </p:cNvSpPr>
          <p:nvPr/>
        </p:nvSpPr>
        <p:spPr bwMode="auto">
          <a:xfrm>
            <a:off x="167015" y="1706969"/>
            <a:ext cx="8650946" cy="306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Tx/>
              <a:buSzTx/>
              <a:buNone/>
            </a:pPr>
            <a:r>
              <a:rPr lang="zh-CN" altLang="en-US" sz="2800" b="0" dirty="0">
                <a:solidFill>
                  <a:srgbClr val="0000CC"/>
                </a:solidFill>
                <a:latin typeface="Times New Roman" panose="02020603050405020304" pitchFamily="18" charset="0"/>
              </a:rPr>
              <a:t>概念化：</a:t>
            </a:r>
            <a:r>
              <a:rPr lang="zh-CN" altLang="en-US" sz="2800" b="0" dirty="0">
                <a:latin typeface="Times New Roman" panose="02020603050405020304" pitchFamily="18" charset="0"/>
              </a:rPr>
              <a:t>把具有共同特征的事物归为一类，而把不同特征的事物放在不同类中。</a:t>
            </a:r>
          </a:p>
          <a:p>
            <a:pPr eaLnBrk="1" hangingPunct="1">
              <a:spcBef>
                <a:spcPts val="0"/>
              </a:spcBef>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rPr>
              <a:t>地理实体通过概念化得到辨识，地理知识通过概念化得以概括和精简</a:t>
            </a:r>
            <a:r>
              <a:rPr lang="zh-CN" altLang="en-US" sz="2800" b="0" dirty="0">
                <a:latin typeface="Times New Roman" panose="02020603050405020304" pitchFamily="18" charset="0"/>
              </a:rPr>
              <a:t>。</a:t>
            </a:r>
          </a:p>
          <a:p>
            <a:pPr eaLnBrk="1" hangingPunct="1">
              <a:spcBef>
                <a:spcPts val="0"/>
              </a:spcBef>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rPr>
              <a:t>地理概念化：</a:t>
            </a:r>
            <a:r>
              <a:rPr lang="zh-CN" altLang="en-US" sz="2800" b="0" dirty="0">
                <a:latin typeface="Times New Roman" panose="02020603050405020304" pitchFamily="18" charset="0"/>
              </a:rPr>
              <a:t>是地理世界已知地理实体、实体属性和实体间关系的知识库，依据概念化知识记忆和理解地理世界。</a:t>
            </a:r>
            <a:endParaRPr lang="zh-CN" altLang="en-US" sz="2800" dirty="0">
              <a:latin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1240823" y="4876994"/>
            <a:ext cx="2319693" cy="1528359"/>
          </a:xfrm>
          <a:prstGeom prst="rect">
            <a:avLst/>
          </a:prstGeom>
        </p:spPr>
      </p:pic>
      <p:sp>
        <p:nvSpPr>
          <p:cNvPr id="5" name="文本框 4"/>
          <p:cNvSpPr txBox="1"/>
          <p:nvPr/>
        </p:nvSpPr>
        <p:spPr>
          <a:xfrm>
            <a:off x="3598046" y="6008575"/>
            <a:ext cx="1368152" cy="369332"/>
          </a:xfrm>
          <a:prstGeom prst="rect">
            <a:avLst/>
          </a:prstGeom>
          <a:noFill/>
        </p:spPr>
        <p:txBody>
          <a:bodyPr wrap="square" rtlCol="0">
            <a:spAutoFit/>
          </a:bodyPr>
          <a:lstStyle/>
          <a:p>
            <a:pPr algn="ctr"/>
            <a:r>
              <a:rPr lang="zh-CN" altLang="en-US" dirty="0">
                <a:solidFill>
                  <a:srgbClr val="0000CC"/>
                </a:solidFill>
              </a:rPr>
              <a:t>岩溶地形</a:t>
            </a:r>
          </a:p>
        </p:txBody>
      </p:sp>
      <p:pic>
        <p:nvPicPr>
          <p:cNvPr id="6" name="图片 5"/>
          <p:cNvPicPr>
            <a:picLocks noChangeAspect="1"/>
          </p:cNvPicPr>
          <p:nvPr/>
        </p:nvPicPr>
        <p:blipFill>
          <a:blip r:embed="rId4"/>
          <a:stretch>
            <a:fillRect/>
          </a:stretch>
        </p:blipFill>
        <p:spPr>
          <a:xfrm>
            <a:off x="5796136" y="4514148"/>
            <a:ext cx="1405682" cy="2122801"/>
          </a:xfrm>
          <a:prstGeom prst="rect">
            <a:avLst/>
          </a:prstGeom>
        </p:spPr>
      </p:pic>
      <p:sp>
        <p:nvSpPr>
          <p:cNvPr id="8" name="文本框 7"/>
          <p:cNvSpPr txBox="1"/>
          <p:nvPr/>
        </p:nvSpPr>
        <p:spPr>
          <a:xfrm>
            <a:off x="6865165" y="6200075"/>
            <a:ext cx="1368152" cy="369332"/>
          </a:xfrm>
          <a:prstGeom prst="rect">
            <a:avLst/>
          </a:prstGeom>
          <a:noFill/>
        </p:spPr>
        <p:txBody>
          <a:bodyPr wrap="square" rtlCol="0">
            <a:spAutoFit/>
          </a:bodyPr>
          <a:lstStyle/>
          <a:p>
            <a:pPr algn="ctr"/>
            <a:r>
              <a:rPr lang="zh-CN" altLang="en-US" dirty="0">
                <a:solidFill>
                  <a:srgbClr val="0000CC"/>
                </a:solidFill>
              </a:rPr>
              <a:t>河流</a:t>
            </a:r>
          </a:p>
        </p:txBody>
      </p:sp>
      <p:sp>
        <p:nvSpPr>
          <p:cNvPr id="9" name="Text Box 2"/>
          <p:cNvSpPr txBox="1">
            <a:spLocks noChangeArrowheads="1"/>
          </p:cNvSpPr>
          <p:nvPr/>
        </p:nvSpPr>
        <p:spPr bwMode="auto">
          <a:xfrm>
            <a:off x="323528" y="1071916"/>
            <a:ext cx="374441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CC"/>
                </a:solidFill>
                <a:latin typeface="Times New Roman" panose="02020603050405020304" pitchFamily="18" charset="0"/>
              </a:rPr>
              <a:t>3</a:t>
            </a:r>
            <a:r>
              <a:rPr lang="zh-CN" altLang="en-US" sz="3600" dirty="0">
                <a:solidFill>
                  <a:srgbClr val="0000CC"/>
                </a:solidFill>
                <a:latin typeface="Times New Roman" panose="02020603050405020304" pitchFamily="18" charset="0"/>
              </a:rPr>
              <a:t>）地理概念化</a:t>
            </a:r>
            <a:endParaRPr lang="zh-CN" altLang="en-US" sz="3600" b="0" dirty="0">
              <a:solidFill>
                <a:srgbClr val="0000CC"/>
              </a:solidFill>
              <a:latin typeface="Times New Roman" panose="02020603050405020304" pitchFamily="18" charset="0"/>
            </a:endParaRPr>
          </a:p>
        </p:txBody>
      </p:sp>
      <p:sp>
        <p:nvSpPr>
          <p:cNvPr id="10" name="Text Box 2"/>
          <p:cNvSpPr txBox="1">
            <a:spLocks noChangeArrowheads="1"/>
          </p:cNvSpPr>
          <p:nvPr/>
        </p:nvSpPr>
        <p:spPr bwMode="auto">
          <a:xfrm>
            <a:off x="167015" y="114484"/>
            <a:ext cx="75041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2.3.2   </a:t>
            </a:r>
            <a:r>
              <a:rPr lang="zh-CN" altLang="en-US" sz="3600" dirty="0">
                <a:solidFill>
                  <a:srgbClr val="FFFF00"/>
                </a:solidFill>
                <a:latin typeface="Times New Roman" panose="02020603050405020304" pitchFamily="18" charset="0"/>
              </a:rPr>
              <a:t>地理空间认知的研究内容</a:t>
            </a:r>
            <a:endParaRPr lang="zh-CN" altLang="en-US" sz="3600" b="0" dirty="0">
              <a:solidFill>
                <a:srgbClr val="FFFF00"/>
              </a:solidFill>
              <a:latin typeface="Times New Roman" panose="02020603050405020304" pitchFamily="18" charset="0"/>
            </a:endParaRPr>
          </a:p>
        </p:txBody>
      </p:sp>
    </p:spTree>
    <p:extLst>
      <p:ext uri="{BB962C8B-B14F-4D97-AF65-F5344CB8AC3E}">
        <p14:creationId xmlns:p14="http://schemas.microsoft.com/office/powerpoint/2010/main" val="400203956"/>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54</a:t>
            </a:fld>
            <a:endParaRPr lang="en-US" altLang="zh-CN"/>
          </a:p>
        </p:txBody>
      </p:sp>
      <p:sp>
        <p:nvSpPr>
          <p:cNvPr id="5" name="Text Box 2"/>
          <p:cNvSpPr txBox="1">
            <a:spLocks noChangeArrowheads="1"/>
          </p:cNvSpPr>
          <p:nvPr/>
        </p:nvSpPr>
        <p:spPr bwMode="auto">
          <a:xfrm>
            <a:off x="352458" y="1677673"/>
            <a:ext cx="712879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dirty="0">
                <a:solidFill>
                  <a:srgbClr val="0000CC"/>
                </a:solidFill>
                <a:latin typeface="Times New Roman" panose="02020603050405020304" pitchFamily="18" charset="0"/>
              </a:rPr>
              <a:t>(1)</a:t>
            </a:r>
            <a:r>
              <a:rPr lang="zh-CN" altLang="en-US" dirty="0">
                <a:latin typeface="Times New Roman" panose="02020603050405020304" pitchFamily="18" charset="0"/>
              </a:rPr>
              <a:t>基于</a:t>
            </a:r>
            <a:r>
              <a:rPr lang="zh-CN" altLang="en-US" dirty="0">
                <a:solidFill>
                  <a:srgbClr val="0000CC"/>
                </a:solidFill>
                <a:latin typeface="Times New Roman" panose="02020603050405020304" pitchFamily="18" charset="0"/>
              </a:rPr>
              <a:t>经典集合论的</a:t>
            </a:r>
            <a:r>
              <a:rPr lang="zh-CN" altLang="en-US" dirty="0">
                <a:latin typeface="Times New Roman" panose="02020603050405020304" pitchFamily="18" charset="0"/>
              </a:rPr>
              <a:t>地理概念化方法</a:t>
            </a:r>
            <a:endParaRPr lang="zh-CN" altLang="en-US" dirty="0">
              <a:solidFill>
                <a:srgbClr val="0000CC"/>
              </a:solidFill>
              <a:latin typeface="Times New Roman" panose="02020603050405020304" pitchFamily="18" charset="0"/>
            </a:endParaRPr>
          </a:p>
        </p:txBody>
      </p:sp>
      <p:sp>
        <p:nvSpPr>
          <p:cNvPr id="3" name="文本框 2"/>
          <p:cNvSpPr txBox="1"/>
          <p:nvPr/>
        </p:nvSpPr>
        <p:spPr>
          <a:xfrm>
            <a:off x="380358" y="2342717"/>
            <a:ext cx="8496944" cy="584775"/>
          </a:xfrm>
          <a:prstGeom prst="rect">
            <a:avLst/>
          </a:prstGeom>
          <a:noFill/>
        </p:spPr>
        <p:txBody>
          <a:bodyPr wrap="square" rtlCol="0">
            <a:spAutoFit/>
          </a:bodyPr>
          <a:lstStyle/>
          <a:p>
            <a:r>
              <a:rPr lang="zh-CN" altLang="zh-CN" sz="3200" dirty="0">
                <a:solidFill>
                  <a:srgbClr val="0000CC"/>
                </a:solidFill>
                <a:latin typeface="宋体" panose="02010600030101010101" pitchFamily="2" charset="-122"/>
                <a:ea typeface="宋体" panose="02010600030101010101" pitchFamily="2" charset="-122"/>
              </a:rPr>
              <a:t>集合论方法的概念化</a:t>
            </a:r>
            <a:r>
              <a:rPr lang="zh-CN" altLang="en-US" sz="3200" dirty="0">
                <a:solidFill>
                  <a:srgbClr val="0000CC"/>
                </a:solidFill>
                <a:latin typeface="宋体" panose="02010600030101010101" pitchFamily="2" charset="-122"/>
                <a:ea typeface="宋体" panose="02010600030101010101" pitchFamily="2" charset="-122"/>
              </a:rPr>
              <a:t>：</a:t>
            </a:r>
            <a:endParaRPr lang="en-US" altLang="zh-CN" sz="3200" dirty="0">
              <a:latin typeface="宋体" panose="02010600030101010101" pitchFamily="2" charset="-122"/>
              <a:ea typeface="宋体" panose="02010600030101010101" pitchFamily="2" charset="-122"/>
            </a:endParaRPr>
          </a:p>
        </p:txBody>
      </p:sp>
      <p:sp>
        <p:nvSpPr>
          <p:cNvPr id="4" name="文本框 3"/>
          <p:cNvSpPr txBox="1"/>
          <p:nvPr/>
        </p:nvSpPr>
        <p:spPr>
          <a:xfrm>
            <a:off x="408628" y="3030132"/>
            <a:ext cx="8208912" cy="2277547"/>
          </a:xfrm>
          <a:prstGeom prst="rect">
            <a:avLst/>
          </a:prstGeom>
          <a:noFill/>
        </p:spPr>
        <p:txBody>
          <a:bodyPr wrap="square" rtlCol="0">
            <a:spAutoFit/>
          </a:bodyPr>
          <a:lstStyle/>
          <a:p>
            <a:pPr>
              <a:spcBef>
                <a:spcPts val="600"/>
              </a:spcBef>
              <a:spcAft>
                <a:spcPts val="600"/>
              </a:spcAft>
            </a:pPr>
            <a:r>
              <a:rPr lang="zh-CN"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概念</a:t>
            </a:r>
            <a:r>
              <a:rPr lang="zh-CN" altLang="en-US"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形式化</a:t>
            </a:r>
            <a:r>
              <a:rPr lang="zh-CN"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定义为一个三元组（</a:t>
            </a:r>
            <a:r>
              <a:rPr lang="en-US" altLang="zh-CN" sz="28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O</a:t>
            </a:r>
            <a:r>
              <a:rPr lang="zh-CN" altLang="zh-CN" sz="28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28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spcAft>
                <a:spcPts val="600"/>
              </a:spcAft>
            </a:pP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表示（形式）对象（</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Formal Objects</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）的集合，</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spcAft>
                <a:spcPts val="600"/>
              </a:spcAft>
            </a:pP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表示（形式）属性（</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Formal Attributes</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）的集合，</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spcAft>
                <a:spcPts val="600"/>
              </a:spcAft>
            </a:pP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R</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是对象</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和属性</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之间的关系</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Text Box 2"/>
          <p:cNvSpPr txBox="1">
            <a:spLocks noChangeArrowheads="1"/>
          </p:cNvSpPr>
          <p:nvPr/>
        </p:nvSpPr>
        <p:spPr bwMode="auto">
          <a:xfrm>
            <a:off x="323528" y="1071916"/>
            <a:ext cx="374441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CC"/>
                </a:solidFill>
                <a:latin typeface="Times New Roman" panose="02020603050405020304" pitchFamily="18" charset="0"/>
              </a:rPr>
              <a:t>3</a:t>
            </a:r>
            <a:r>
              <a:rPr lang="zh-CN" altLang="en-US" sz="3600" dirty="0">
                <a:solidFill>
                  <a:srgbClr val="0000CC"/>
                </a:solidFill>
                <a:latin typeface="Times New Roman" panose="02020603050405020304" pitchFamily="18" charset="0"/>
              </a:rPr>
              <a:t>）地理概念化</a:t>
            </a:r>
            <a:endParaRPr lang="zh-CN" altLang="en-US" sz="3600" b="0" dirty="0">
              <a:solidFill>
                <a:srgbClr val="0000CC"/>
              </a:solidFill>
              <a:latin typeface="Times New Roman" panose="02020603050405020304" pitchFamily="18" charset="0"/>
            </a:endParaRPr>
          </a:p>
        </p:txBody>
      </p:sp>
      <p:sp>
        <p:nvSpPr>
          <p:cNvPr id="8" name="Text Box 2"/>
          <p:cNvSpPr txBox="1">
            <a:spLocks noChangeArrowheads="1"/>
          </p:cNvSpPr>
          <p:nvPr/>
        </p:nvSpPr>
        <p:spPr bwMode="auto">
          <a:xfrm>
            <a:off x="167015" y="114484"/>
            <a:ext cx="75041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2.3.2   </a:t>
            </a:r>
            <a:r>
              <a:rPr lang="zh-CN" altLang="en-US" sz="3600" dirty="0">
                <a:solidFill>
                  <a:srgbClr val="FFFF00"/>
                </a:solidFill>
                <a:latin typeface="Times New Roman" panose="02020603050405020304" pitchFamily="18" charset="0"/>
              </a:rPr>
              <a:t>地理空间认知的研究内容</a:t>
            </a:r>
            <a:endParaRPr lang="zh-CN" altLang="en-US" sz="3600" b="0" dirty="0">
              <a:solidFill>
                <a:srgbClr val="FFFF00"/>
              </a:solidFill>
              <a:latin typeface="Times New Roman" panose="02020603050405020304" pitchFamily="18" charset="0"/>
            </a:endParaRPr>
          </a:p>
        </p:txBody>
      </p:sp>
    </p:spTree>
    <p:extLst>
      <p:ext uri="{BB962C8B-B14F-4D97-AF65-F5344CB8AC3E}">
        <p14:creationId xmlns:p14="http://schemas.microsoft.com/office/powerpoint/2010/main" val="600495857"/>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179512" y="2404308"/>
            <a:ext cx="859155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buClrTx/>
              <a:buSzTx/>
              <a:buNone/>
            </a:pPr>
            <a:r>
              <a:rPr lang="zh-CN" altLang="en-US" sz="2800" b="0" dirty="0">
                <a:solidFill>
                  <a:srgbClr val="0000CC"/>
                </a:solidFill>
                <a:latin typeface="Times New Roman" panose="02020603050405020304" pitchFamily="18" charset="0"/>
              </a:rPr>
              <a:t>原型：</a:t>
            </a:r>
            <a:r>
              <a:rPr lang="zh-CN" altLang="en-US" sz="2800" b="0" dirty="0">
                <a:latin typeface="Times New Roman" panose="02020603050405020304" pitchFamily="18" charset="0"/>
              </a:rPr>
              <a:t>关于某一类事物的</a:t>
            </a:r>
            <a:r>
              <a:rPr lang="zh-CN" altLang="en-US" sz="2800" b="0" dirty="0">
                <a:solidFill>
                  <a:srgbClr val="0000CC"/>
                </a:solidFill>
                <a:latin typeface="Times New Roman" panose="02020603050405020304" pitchFamily="18" charset="0"/>
              </a:rPr>
              <a:t>典型特征模式</a:t>
            </a:r>
            <a:r>
              <a:rPr lang="zh-CN" altLang="en-US" sz="2800" b="0" dirty="0">
                <a:latin typeface="Times New Roman" panose="02020603050405020304" pitchFamily="18" charset="0"/>
              </a:rPr>
              <a:t>，物体特征与原型认知范畴越接近，就越有可能被划归到某一原型范畴中。</a:t>
            </a:r>
          </a:p>
        </p:txBody>
      </p:sp>
      <p:sp>
        <p:nvSpPr>
          <p:cNvPr id="114691" name="Text Box 2"/>
          <p:cNvSpPr txBox="1">
            <a:spLocks noChangeArrowheads="1"/>
          </p:cNvSpPr>
          <p:nvPr/>
        </p:nvSpPr>
        <p:spPr bwMode="auto">
          <a:xfrm>
            <a:off x="179512" y="3816862"/>
            <a:ext cx="8591550" cy="2286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buClr>
                <a:srgbClr val="0000CC"/>
              </a:buClr>
              <a:buSzTx/>
              <a:buFont typeface="Wingdings" panose="05000000000000000000" pitchFamily="2" charset="2"/>
              <a:buChar char="Ø"/>
            </a:pPr>
            <a:r>
              <a:rPr lang="zh-CN" altLang="en-US" sz="2800" b="0" dirty="0">
                <a:solidFill>
                  <a:schemeClr val="accent2"/>
                </a:solidFill>
                <a:latin typeface="Times New Roman" panose="02020603050405020304" pitchFamily="18" charset="0"/>
              </a:rPr>
              <a:t>类型：</a:t>
            </a:r>
            <a:r>
              <a:rPr lang="zh-CN" altLang="en-US" sz="2800" b="0" dirty="0">
                <a:latin typeface="Times New Roman" panose="02020603050405020304" pitchFamily="18" charset="0"/>
              </a:rPr>
              <a:t>基于</a:t>
            </a:r>
            <a:r>
              <a:rPr lang="zh-CN" altLang="en-US" sz="2800" b="0" dirty="0">
                <a:solidFill>
                  <a:srgbClr val="0000CC"/>
                </a:solidFill>
                <a:latin typeface="Times New Roman" panose="02020603050405020304" pitchFamily="18" charset="0"/>
              </a:rPr>
              <a:t>核心成员</a:t>
            </a:r>
            <a:r>
              <a:rPr lang="en-US" altLang="zh-CN" sz="2800" b="0" dirty="0">
                <a:solidFill>
                  <a:srgbClr val="0000CC"/>
                </a:solidFill>
                <a:latin typeface="Times New Roman" panose="02020603050405020304" pitchFamily="18" charset="0"/>
              </a:rPr>
              <a:t>-</a:t>
            </a:r>
            <a:r>
              <a:rPr lang="zh-CN" altLang="en-US" sz="2800" b="0" dirty="0">
                <a:solidFill>
                  <a:srgbClr val="0000CC"/>
                </a:solidFill>
                <a:latin typeface="Times New Roman" panose="02020603050405020304" pitchFamily="18" charset="0"/>
              </a:rPr>
              <a:t>“原型”</a:t>
            </a:r>
            <a:r>
              <a:rPr lang="zh-CN" altLang="en-US" sz="2800" b="0" dirty="0">
                <a:latin typeface="Times New Roman" panose="02020603050405020304" pitchFamily="18" charset="0"/>
              </a:rPr>
              <a:t>而构建，类型不具有关键属性，</a:t>
            </a:r>
            <a:r>
              <a:rPr lang="zh-CN" altLang="en-US" sz="2800" b="0" dirty="0">
                <a:solidFill>
                  <a:schemeClr val="accent2"/>
                </a:solidFill>
                <a:latin typeface="Times New Roman" panose="02020603050405020304" pitchFamily="18" charset="0"/>
              </a:rPr>
              <a:t>事物类型的归属通过其与原型的相似程度来判定</a:t>
            </a:r>
            <a:r>
              <a:rPr lang="zh-CN" altLang="en-US" sz="2800" b="0" dirty="0">
                <a:latin typeface="Times New Roman" panose="02020603050405020304" pitchFamily="18" charset="0"/>
              </a:rPr>
              <a:t>；</a:t>
            </a:r>
          </a:p>
          <a:p>
            <a:pPr eaLnBrk="1" hangingPunct="1">
              <a:buClr>
                <a:srgbClr val="0000CC"/>
              </a:buClr>
              <a:buSzTx/>
              <a:buFont typeface="Wingdings" panose="05000000000000000000" pitchFamily="2" charset="2"/>
              <a:buChar char="Ø"/>
            </a:pPr>
            <a:r>
              <a:rPr lang="zh-CN" altLang="en-US" sz="2800" b="0" dirty="0">
                <a:latin typeface="Times New Roman" panose="02020603050405020304" pitchFamily="18" charset="0"/>
              </a:rPr>
              <a:t>在原型分类下，类型集合的</a:t>
            </a:r>
            <a:r>
              <a:rPr lang="zh-CN" altLang="en-US" sz="2800" b="0" dirty="0">
                <a:solidFill>
                  <a:srgbClr val="0000CC"/>
                </a:solidFill>
                <a:latin typeface="Times New Roman" panose="02020603050405020304" pitchFamily="18" charset="0"/>
              </a:rPr>
              <a:t>边界是模糊的</a:t>
            </a:r>
            <a:r>
              <a:rPr lang="zh-CN" altLang="en-US" sz="2800" b="0" dirty="0">
                <a:latin typeface="Times New Roman" panose="02020603050405020304" pitchFamily="18" charset="0"/>
              </a:rPr>
              <a:t>，为模糊集。</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55</a:t>
            </a:fld>
            <a:endParaRPr lang="en-US" altLang="zh-CN"/>
          </a:p>
        </p:txBody>
      </p:sp>
      <p:sp>
        <p:nvSpPr>
          <p:cNvPr id="6" name="Text Box 2"/>
          <p:cNvSpPr txBox="1">
            <a:spLocks noChangeArrowheads="1"/>
          </p:cNvSpPr>
          <p:nvPr/>
        </p:nvSpPr>
        <p:spPr bwMode="auto">
          <a:xfrm>
            <a:off x="323528" y="1071916"/>
            <a:ext cx="374441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CC"/>
                </a:solidFill>
                <a:latin typeface="Times New Roman" panose="02020603050405020304" pitchFamily="18" charset="0"/>
              </a:rPr>
              <a:t>3</a:t>
            </a:r>
            <a:r>
              <a:rPr lang="zh-CN" altLang="en-US" sz="3600" dirty="0">
                <a:solidFill>
                  <a:srgbClr val="0000CC"/>
                </a:solidFill>
                <a:latin typeface="Times New Roman" panose="02020603050405020304" pitchFamily="18" charset="0"/>
              </a:rPr>
              <a:t>）地理概念化</a:t>
            </a:r>
            <a:endParaRPr lang="zh-CN" altLang="en-US" sz="3600" b="0" dirty="0">
              <a:solidFill>
                <a:srgbClr val="0000CC"/>
              </a:solidFill>
              <a:latin typeface="Times New Roman" panose="02020603050405020304" pitchFamily="18" charset="0"/>
            </a:endParaRPr>
          </a:p>
        </p:txBody>
      </p:sp>
      <p:sp>
        <p:nvSpPr>
          <p:cNvPr id="7" name="Text Box 2"/>
          <p:cNvSpPr txBox="1">
            <a:spLocks noChangeArrowheads="1"/>
          </p:cNvSpPr>
          <p:nvPr/>
        </p:nvSpPr>
        <p:spPr bwMode="auto">
          <a:xfrm>
            <a:off x="167015" y="114484"/>
            <a:ext cx="75041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2.3.2   </a:t>
            </a:r>
            <a:r>
              <a:rPr lang="zh-CN" altLang="en-US" sz="3600" dirty="0">
                <a:solidFill>
                  <a:srgbClr val="FFFF00"/>
                </a:solidFill>
                <a:latin typeface="Times New Roman" panose="02020603050405020304" pitchFamily="18" charset="0"/>
              </a:rPr>
              <a:t>地理空间认知的研究内容</a:t>
            </a:r>
            <a:endParaRPr lang="zh-CN" altLang="en-US" sz="3600" b="0" dirty="0">
              <a:solidFill>
                <a:srgbClr val="FFFF00"/>
              </a:solidFill>
              <a:latin typeface="Times New Roman" panose="02020603050405020304" pitchFamily="18" charset="0"/>
            </a:endParaRPr>
          </a:p>
        </p:txBody>
      </p:sp>
      <p:sp>
        <p:nvSpPr>
          <p:cNvPr id="8" name="Text Box 2"/>
          <p:cNvSpPr txBox="1">
            <a:spLocks noChangeArrowheads="1"/>
          </p:cNvSpPr>
          <p:nvPr/>
        </p:nvSpPr>
        <p:spPr bwMode="auto">
          <a:xfrm>
            <a:off x="354675" y="1672080"/>
            <a:ext cx="712879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dirty="0">
                <a:solidFill>
                  <a:srgbClr val="0000CC"/>
                </a:solidFill>
                <a:latin typeface="Times New Roman" panose="02020603050405020304" pitchFamily="18" charset="0"/>
              </a:rPr>
              <a:t>(2)</a:t>
            </a:r>
            <a:r>
              <a:rPr lang="zh-CN" altLang="en-US" dirty="0">
                <a:latin typeface="Times New Roman" panose="02020603050405020304" pitchFamily="18" charset="0"/>
              </a:rPr>
              <a:t>基于</a:t>
            </a:r>
            <a:r>
              <a:rPr lang="zh-CN" altLang="en-US" dirty="0">
                <a:solidFill>
                  <a:srgbClr val="0000CC"/>
                </a:solidFill>
                <a:latin typeface="Times New Roman" panose="02020603050405020304" pitchFamily="18" charset="0"/>
              </a:rPr>
              <a:t>原型的</a:t>
            </a:r>
            <a:r>
              <a:rPr lang="zh-CN" altLang="en-US" dirty="0">
                <a:latin typeface="Times New Roman" panose="02020603050405020304" pitchFamily="18" charset="0"/>
              </a:rPr>
              <a:t>地理概念化方法</a:t>
            </a:r>
            <a:endParaRPr lang="zh-CN" altLang="en-US" dirty="0">
              <a:solidFill>
                <a:srgbClr val="0000CC"/>
              </a:solidFill>
              <a:latin typeface="Times New Roman" panose="02020603050405020304" pitchFamily="18" charset="0"/>
            </a:endParaRPr>
          </a:p>
        </p:txBody>
      </p:sp>
    </p:spTree>
    <p:extLst>
      <p:ext uri="{BB962C8B-B14F-4D97-AF65-F5344CB8AC3E}">
        <p14:creationId xmlns:p14="http://schemas.microsoft.com/office/powerpoint/2010/main" val="2311272946"/>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Text Box 2"/>
          <p:cNvSpPr txBox="1">
            <a:spLocks noChangeArrowheads="1"/>
          </p:cNvSpPr>
          <p:nvPr/>
        </p:nvSpPr>
        <p:spPr bwMode="auto">
          <a:xfrm>
            <a:off x="323528" y="2029348"/>
            <a:ext cx="8548687"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600"/>
              </a:spcBef>
              <a:buClr>
                <a:srgbClr val="FFFF00"/>
              </a:buClr>
              <a:buSzTx/>
              <a:buNone/>
            </a:pPr>
            <a:r>
              <a:rPr lang="zh-CN" altLang="en-US" dirty="0">
                <a:solidFill>
                  <a:srgbClr val="0000CC"/>
                </a:solidFill>
                <a:latin typeface="Times New Roman" panose="02020603050405020304" pitchFamily="18" charset="0"/>
              </a:rPr>
              <a:t>分类</a:t>
            </a:r>
            <a:r>
              <a:rPr lang="en-US" altLang="zh-CN" dirty="0">
                <a:solidFill>
                  <a:srgbClr val="0000CC"/>
                </a:solidFill>
                <a:latin typeface="Times New Roman" panose="02020603050405020304" pitchFamily="18" charset="0"/>
              </a:rPr>
              <a:t>1</a:t>
            </a:r>
            <a:r>
              <a:rPr lang="zh-CN" altLang="en-US" dirty="0">
                <a:solidFill>
                  <a:srgbClr val="0000CC"/>
                </a:solidFill>
                <a:latin typeface="Times New Roman" panose="02020603050405020304" pitchFamily="18" charset="0"/>
              </a:rPr>
              <a:t>：</a:t>
            </a:r>
            <a:r>
              <a:rPr lang="zh-CN" altLang="en-US" b="0" dirty="0">
                <a:solidFill>
                  <a:srgbClr val="0000CC"/>
                </a:solidFill>
                <a:latin typeface="Times New Roman" panose="02020603050405020304" pitchFamily="18" charset="0"/>
              </a:rPr>
              <a:t>地标知识、路线知识</a:t>
            </a:r>
            <a:r>
              <a:rPr lang="zh-CN" altLang="en-US" b="0" dirty="0">
                <a:latin typeface="Times New Roman" panose="02020603050405020304" pitchFamily="18" charset="0"/>
              </a:rPr>
              <a:t>和</a:t>
            </a:r>
            <a:r>
              <a:rPr lang="zh-CN" altLang="en-US" b="0" dirty="0">
                <a:solidFill>
                  <a:srgbClr val="0000CC"/>
                </a:solidFill>
                <a:latin typeface="Times New Roman" panose="02020603050405020304" pitchFamily="18" charset="0"/>
              </a:rPr>
              <a:t>测量知识</a:t>
            </a:r>
            <a:r>
              <a:rPr lang="zh-CN" altLang="en-US" b="0" dirty="0">
                <a:latin typeface="Times New Roman" panose="02020603050405020304" pitchFamily="18" charset="0"/>
              </a:rPr>
              <a:t>。</a:t>
            </a:r>
          </a:p>
          <a:p>
            <a:pPr eaLnBrk="1" hangingPunct="1">
              <a:spcBef>
                <a:spcPts val="600"/>
              </a:spcBef>
              <a:buClr>
                <a:srgbClr val="0000CC"/>
              </a:buClr>
              <a:buSzTx/>
              <a:buNone/>
            </a:pPr>
            <a:r>
              <a:rPr lang="zh-CN" altLang="en-US" b="0" dirty="0">
                <a:solidFill>
                  <a:srgbClr val="0000CC"/>
                </a:solidFill>
                <a:latin typeface="宋体" panose="02010600030101010101" pitchFamily="2" charset="-122"/>
              </a:rPr>
              <a:t>①</a:t>
            </a:r>
            <a:r>
              <a:rPr lang="zh-CN" altLang="en-US" b="0" dirty="0">
                <a:solidFill>
                  <a:srgbClr val="0000CC"/>
                </a:solidFill>
                <a:latin typeface="Times New Roman" panose="02020603050405020304" pitchFamily="18" charset="0"/>
              </a:rPr>
              <a:t>地标知识：</a:t>
            </a:r>
            <a:r>
              <a:rPr lang="zh-CN" altLang="en-US" sz="2800" b="0" dirty="0">
                <a:latin typeface="Times New Roman" panose="02020603050405020304" pitchFamily="18" charset="0"/>
              </a:rPr>
              <a:t>地理空间中显著的、容易从多个方向辨别和记忆的要素，用来定位附近的地理对象。</a:t>
            </a:r>
            <a:endParaRPr lang="zh-CN" altLang="en-US" b="0" dirty="0">
              <a:latin typeface="Times New Roman" panose="02020603050405020304" pitchFamily="18" charset="0"/>
            </a:endParaRPr>
          </a:p>
          <a:p>
            <a:pPr eaLnBrk="1" hangingPunct="1">
              <a:spcBef>
                <a:spcPts val="600"/>
              </a:spcBef>
              <a:buClr>
                <a:srgbClr val="0000CC"/>
              </a:buClr>
              <a:buSzTx/>
              <a:buNone/>
            </a:pPr>
            <a:r>
              <a:rPr lang="zh-CN" altLang="en-US" b="0" dirty="0">
                <a:solidFill>
                  <a:srgbClr val="0000CC"/>
                </a:solidFill>
                <a:latin typeface="宋体" panose="02010600030101010101" pitchFamily="2" charset="-122"/>
              </a:rPr>
              <a:t>②</a:t>
            </a:r>
            <a:r>
              <a:rPr lang="zh-CN" altLang="en-US" b="0" dirty="0">
                <a:solidFill>
                  <a:srgbClr val="0000CC"/>
                </a:solidFill>
                <a:latin typeface="Times New Roman" panose="02020603050405020304" pitchFamily="18" charset="0"/>
              </a:rPr>
              <a:t>路线知识：</a:t>
            </a:r>
            <a:r>
              <a:rPr lang="zh-CN" altLang="en-US" sz="2800" b="0" dirty="0">
                <a:latin typeface="Times New Roman" panose="02020603050405020304" pitchFamily="18" charset="0"/>
              </a:rPr>
              <a:t>按特定行进路径对已知地标次序信息和其相配套的行为要求，将路线的行为去除后就是路径。</a:t>
            </a:r>
          </a:p>
          <a:p>
            <a:pPr eaLnBrk="1" hangingPunct="1">
              <a:spcBef>
                <a:spcPts val="600"/>
              </a:spcBef>
              <a:buClr>
                <a:srgbClr val="0000CC"/>
              </a:buClr>
              <a:buSzTx/>
              <a:buNone/>
            </a:pPr>
            <a:r>
              <a:rPr lang="zh-CN" altLang="en-US" b="0" dirty="0">
                <a:solidFill>
                  <a:srgbClr val="0000CC"/>
                </a:solidFill>
                <a:latin typeface="宋体" panose="02010600030101010101" pitchFamily="2" charset="-122"/>
              </a:rPr>
              <a:t>③</a:t>
            </a:r>
            <a:r>
              <a:rPr lang="zh-CN" altLang="en-US" b="0" dirty="0">
                <a:solidFill>
                  <a:srgbClr val="0000CC"/>
                </a:solidFill>
                <a:latin typeface="Times New Roman" panose="02020603050405020304" pitchFamily="18" charset="0"/>
              </a:rPr>
              <a:t>测量知识：</a:t>
            </a:r>
            <a:r>
              <a:rPr lang="zh-CN" altLang="en-US" sz="2800" b="0" dirty="0">
                <a:latin typeface="Times New Roman" panose="02020603050405020304" pitchFamily="18" charset="0"/>
              </a:rPr>
              <a:t>地理空间详细和全面的概览知识。</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56</a:t>
            </a:fld>
            <a:endParaRPr lang="en-US" altLang="zh-CN"/>
          </a:p>
        </p:txBody>
      </p:sp>
      <p:sp>
        <p:nvSpPr>
          <p:cNvPr id="5" name="Text Box 2"/>
          <p:cNvSpPr txBox="1">
            <a:spLocks noChangeArrowheads="1"/>
          </p:cNvSpPr>
          <p:nvPr/>
        </p:nvSpPr>
        <p:spPr bwMode="auto">
          <a:xfrm>
            <a:off x="467544" y="1086213"/>
            <a:ext cx="374441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CC"/>
                </a:solidFill>
                <a:latin typeface="Times New Roman" panose="02020603050405020304" pitchFamily="18" charset="0"/>
              </a:rPr>
              <a:t>4</a:t>
            </a:r>
            <a:r>
              <a:rPr lang="zh-CN" altLang="en-US" sz="3600" dirty="0">
                <a:solidFill>
                  <a:srgbClr val="0000CC"/>
                </a:solidFill>
                <a:latin typeface="Times New Roman" panose="02020603050405020304" pitchFamily="18" charset="0"/>
              </a:rPr>
              <a:t>）地理知识类型</a:t>
            </a:r>
            <a:endParaRPr lang="zh-CN" altLang="en-US" sz="3600" b="0" dirty="0">
              <a:solidFill>
                <a:srgbClr val="0000CC"/>
              </a:solidFill>
              <a:latin typeface="Times New Roman" panose="02020603050405020304" pitchFamily="18" charset="0"/>
            </a:endParaRPr>
          </a:p>
        </p:txBody>
      </p:sp>
      <p:sp>
        <p:nvSpPr>
          <p:cNvPr id="6" name="Text Box 2"/>
          <p:cNvSpPr txBox="1">
            <a:spLocks noChangeArrowheads="1"/>
          </p:cNvSpPr>
          <p:nvPr/>
        </p:nvSpPr>
        <p:spPr bwMode="auto">
          <a:xfrm>
            <a:off x="167015" y="114484"/>
            <a:ext cx="75041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2.3.2   </a:t>
            </a:r>
            <a:r>
              <a:rPr lang="zh-CN" altLang="en-US" sz="3600" dirty="0">
                <a:solidFill>
                  <a:srgbClr val="FFFF00"/>
                </a:solidFill>
                <a:latin typeface="Times New Roman" panose="02020603050405020304" pitchFamily="18" charset="0"/>
              </a:rPr>
              <a:t>地理空间认知的研究内容</a:t>
            </a:r>
            <a:endParaRPr lang="zh-CN" altLang="en-US" sz="3600" b="0" dirty="0">
              <a:solidFill>
                <a:srgbClr val="FFFF00"/>
              </a:solidFill>
              <a:latin typeface="Times New Roman" panose="02020603050405020304" pitchFamily="18" charset="0"/>
            </a:endParaRPr>
          </a:p>
        </p:txBody>
      </p:sp>
    </p:spTree>
    <p:extLst>
      <p:ext uri="{BB962C8B-B14F-4D97-AF65-F5344CB8AC3E}">
        <p14:creationId xmlns:p14="http://schemas.microsoft.com/office/powerpoint/2010/main" val="3461205653"/>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Text Box 2"/>
          <p:cNvSpPr txBox="1">
            <a:spLocks noChangeArrowheads="1"/>
          </p:cNvSpPr>
          <p:nvPr/>
        </p:nvSpPr>
        <p:spPr bwMode="auto">
          <a:xfrm>
            <a:off x="459110" y="2146277"/>
            <a:ext cx="8504238" cy="280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30000"/>
              </a:spcBef>
              <a:buClr>
                <a:srgbClr val="FFFF00"/>
              </a:buClr>
              <a:buSzTx/>
              <a:buNone/>
            </a:pPr>
            <a:r>
              <a:rPr lang="zh-CN" altLang="en-US" b="0" dirty="0">
                <a:solidFill>
                  <a:srgbClr val="0000CC"/>
                </a:solidFill>
                <a:latin typeface="Times New Roman" panose="02020603050405020304" pitchFamily="18" charset="0"/>
              </a:rPr>
              <a:t>分类</a:t>
            </a:r>
            <a:r>
              <a:rPr lang="en-US" altLang="zh-CN" b="0" dirty="0">
                <a:solidFill>
                  <a:srgbClr val="0000CC"/>
                </a:solidFill>
                <a:latin typeface="Times New Roman" panose="02020603050405020304" pitchFamily="18" charset="0"/>
              </a:rPr>
              <a:t>2</a:t>
            </a:r>
            <a:r>
              <a:rPr lang="zh-CN" altLang="en-US" b="0" dirty="0">
                <a:solidFill>
                  <a:srgbClr val="0000CC"/>
                </a:solidFill>
                <a:latin typeface="Times New Roman" panose="02020603050405020304" pitchFamily="18" charset="0"/>
              </a:rPr>
              <a:t>：</a:t>
            </a:r>
            <a:endParaRPr lang="zh-CN" altLang="en-US" b="0" dirty="0">
              <a:latin typeface="Times New Roman" panose="02020603050405020304" pitchFamily="18" charset="0"/>
            </a:endParaRPr>
          </a:p>
          <a:p>
            <a:pPr eaLnBrk="1" hangingPunct="1">
              <a:spcBef>
                <a:spcPct val="30000"/>
              </a:spcBef>
              <a:buClr>
                <a:srgbClr val="0000CC"/>
              </a:buClr>
              <a:buSzTx/>
              <a:buNone/>
            </a:pPr>
            <a:r>
              <a:rPr lang="zh-CN" altLang="en-US" b="0" dirty="0">
                <a:solidFill>
                  <a:srgbClr val="0000CC"/>
                </a:solidFill>
                <a:latin typeface="宋体" panose="02010600030101010101" pitchFamily="2" charset="-122"/>
              </a:rPr>
              <a:t>①</a:t>
            </a:r>
            <a:r>
              <a:rPr lang="zh-CN" altLang="en-US" b="0" dirty="0">
                <a:solidFill>
                  <a:srgbClr val="0000CC"/>
                </a:solidFill>
                <a:latin typeface="Times New Roman" panose="02020603050405020304" pitchFamily="18" charset="0"/>
              </a:rPr>
              <a:t>过程性知识：</a:t>
            </a:r>
            <a:r>
              <a:rPr lang="zh-CN" altLang="en-US" b="0" dirty="0">
                <a:latin typeface="Times New Roman" panose="02020603050405020304" pitchFamily="18" charset="0"/>
              </a:rPr>
              <a:t>表示在地理空间中如何行动，路线知识就是典型的过程性知识。</a:t>
            </a:r>
          </a:p>
          <a:p>
            <a:pPr eaLnBrk="1" hangingPunct="1">
              <a:spcBef>
                <a:spcPct val="30000"/>
              </a:spcBef>
              <a:buClr>
                <a:srgbClr val="0000CC"/>
              </a:buClr>
              <a:buSzTx/>
              <a:buNone/>
            </a:pPr>
            <a:r>
              <a:rPr lang="zh-CN" altLang="en-US" b="0" dirty="0">
                <a:solidFill>
                  <a:srgbClr val="0000CC"/>
                </a:solidFill>
                <a:latin typeface="宋体" panose="02010600030101010101" pitchFamily="2" charset="-122"/>
              </a:rPr>
              <a:t>②</a:t>
            </a:r>
            <a:r>
              <a:rPr lang="zh-CN" altLang="en-US" b="0" dirty="0">
                <a:solidFill>
                  <a:srgbClr val="0000CC"/>
                </a:solidFill>
                <a:latin typeface="Times New Roman" panose="02020603050405020304" pitchFamily="18" charset="0"/>
              </a:rPr>
              <a:t>陈述性知识：</a:t>
            </a:r>
            <a:r>
              <a:rPr lang="zh-CN" altLang="en-US" b="0" dirty="0">
                <a:latin typeface="Times New Roman" panose="02020603050405020304" pitchFamily="18" charset="0"/>
              </a:rPr>
              <a:t>表达地理空间的布局，测量知识和地标知识属于陈述性知识。</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57</a:t>
            </a:fld>
            <a:endParaRPr lang="en-US" altLang="zh-CN"/>
          </a:p>
        </p:txBody>
      </p:sp>
      <p:sp>
        <p:nvSpPr>
          <p:cNvPr id="5" name="Text Box 2"/>
          <p:cNvSpPr txBox="1">
            <a:spLocks noChangeArrowheads="1"/>
          </p:cNvSpPr>
          <p:nvPr/>
        </p:nvSpPr>
        <p:spPr bwMode="auto">
          <a:xfrm>
            <a:off x="467544" y="1086213"/>
            <a:ext cx="374441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CC"/>
                </a:solidFill>
                <a:latin typeface="Times New Roman" panose="02020603050405020304" pitchFamily="18" charset="0"/>
              </a:rPr>
              <a:t>4</a:t>
            </a:r>
            <a:r>
              <a:rPr lang="zh-CN" altLang="en-US" sz="3600" dirty="0">
                <a:solidFill>
                  <a:srgbClr val="0000CC"/>
                </a:solidFill>
                <a:latin typeface="Times New Roman" panose="02020603050405020304" pitchFamily="18" charset="0"/>
              </a:rPr>
              <a:t>）地理知识类型</a:t>
            </a:r>
            <a:endParaRPr lang="zh-CN" altLang="en-US" sz="3600" b="0" dirty="0">
              <a:solidFill>
                <a:srgbClr val="0000CC"/>
              </a:solidFill>
              <a:latin typeface="Times New Roman" panose="02020603050405020304" pitchFamily="18" charset="0"/>
            </a:endParaRPr>
          </a:p>
        </p:txBody>
      </p:sp>
      <p:sp>
        <p:nvSpPr>
          <p:cNvPr id="6" name="Text Box 2"/>
          <p:cNvSpPr txBox="1">
            <a:spLocks noChangeArrowheads="1"/>
          </p:cNvSpPr>
          <p:nvPr/>
        </p:nvSpPr>
        <p:spPr bwMode="auto">
          <a:xfrm>
            <a:off x="167015" y="114484"/>
            <a:ext cx="750411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lang="en-US" altLang="zh-CN" sz="3600" dirty="0">
                <a:solidFill>
                  <a:srgbClr val="FFFF00"/>
                </a:solidFill>
                <a:latin typeface="Times New Roman" panose="02020603050405020304" pitchFamily="18" charset="0"/>
              </a:rPr>
              <a:t>2.3.2   </a:t>
            </a:r>
            <a:r>
              <a:rPr lang="zh-CN" altLang="en-US" sz="3600" dirty="0">
                <a:solidFill>
                  <a:srgbClr val="FFFF00"/>
                </a:solidFill>
                <a:latin typeface="Times New Roman" panose="02020603050405020304" pitchFamily="18" charset="0"/>
              </a:rPr>
              <a:t>地理空间认知的研究内容</a:t>
            </a:r>
            <a:endParaRPr lang="zh-CN" altLang="en-US" sz="3600" b="0" dirty="0">
              <a:solidFill>
                <a:srgbClr val="FFFF00"/>
              </a:solidFill>
              <a:latin typeface="Times New Roman" panose="02020603050405020304" pitchFamily="18" charset="0"/>
            </a:endParaRPr>
          </a:p>
        </p:txBody>
      </p:sp>
    </p:spTree>
    <p:extLst>
      <p:ext uri="{BB962C8B-B14F-4D97-AF65-F5344CB8AC3E}">
        <p14:creationId xmlns:p14="http://schemas.microsoft.com/office/powerpoint/2010/main" val="1698953389"/>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Text Box 2"/>
          <p:cNvSpPr txBox="1">
            <a:spLocks noChangeArrowheads="1"/>
          </p:cNvSpPr>
          <p:nvPr/>
        </p:nvSpPr>
        <p:spPr bwMode="auto">
          <a:xfrm>
            <a:off x="231775" y="116632"/>
            <a:ext cx="5195888"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000" dirty="0">
                <a:solidFill>
                  <a:srgbClr val="FFFF00"/>
                </a:solidFill>
                <a:latin typeface="Times New Roman" panose="02020603050405020304" pitchFamily="18" charset="0"/>
              </a:rPr>
              <a:t>2.4  </a:t>
            </a:r>
            <a:r>
              <a:rPr lang="zh-CN" altLang="en-US" sz="4000" dirty="0">
                <a:solidFill>
                  <a:srgbClr val="FFFF00"/>
                </a:solidFill>
                <a:latin typeface="Times New Roman" panose="02020603050405020304" pitchFamily="18" charset="0"/>
              </a:rPr>
              <a:t>空间推理理论</a:t>
            </a:r>
          </a:p>
        </p:txBody>
      </p:sp>
      <p:sp>
        <p:nvSpPr>
          <p:cNvPr id="122884" name="Text Box 3"/>
          <p:cNvSpPr txBox="1">
            <a:spLocks noChangeArrowheads="1"/>
          </p:cNvSpPr>
          <p:nvPr/>
        </p:nvSpPr>
        <p:spPr bwMode="auto">
          <a:xfrm>
            <a:off x="107504" y="1722446"/>
            <a:ext cx="8856984"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zh-CN" altLang="en-US" sz="2800" b="0" dirty="0">
                <a:solidFill>
                  <a:srgbClr val="0000CC"/>
                </a:solidFill>
                <a:latin typeface="Times New Roman" panose="02020603050405020304" pitchFamily="18" charset="0"/>
              </a:rPr>
              <a:t>空间推理：</a:t>
            </a:r>
            <a:r>
              <a:rPr lang="zh-CN" altLang="en-US" sz="2800" b="0" dirty="0">
                <a:latin typeface="Times New Roman" panose="02020603050405020304" pitchFamily="18" charset="0"/>
              </a:rPr>
              <a:t>指利用</a:t>
            </a:r>
            <a:r>
              <a:rPr lang="zh-CN" altLang="en-US" sz="2800" b="0" dirty="0">
                <a:solidFill>
                  <a:srgbClr val="360CAC"/>
                </a:solidFill>
                <a:latin typeface="Times New Roman" panose="02020603050405020304" pitchFamily="18" charset="0"/>
              </a:rPr>
              <a:t>空间理论</a:t>
            </a:r>
            <a:r>
              <a:rPr lang="zh-CN" altLang="en-US" sz="2800" b="0" dirty="0">
                <a:latin typeface="Times New Roman" panose="02020603050405020304" pitchFamily="18" charset="0"/>
              </a:rPr>
              <a:t>和</a:t>
            </a:r>
            <a:r>
              <a:rPr lang="zh-CN" altLang="en-US" sz="2800" b="0" dirty="0">
                <a:solidFill>
                  <a:srgbClr val="360CAC"/>
                </a:solidFill>
                <a:latin typeface="Times New Roman" panose="02020603050405020304" pitchFamily="18" charset="0"/>
              </a:rPr>
              <a:t>人工智能</a:t>
            </a:r>
            <a:r>
              <a:rPr lang="zh-CN" altLang="en-US" sz="2800" b="0" dirty="0">
                <a:latin typeface="Times New Roman" panose="02020603050405020304" pitchFamily="18" charset="0"/>
              </a:rPr>
              <a:t>技术对空间对象进行</a:t>
            </a:r>
            <a:r>
              <a:rPr lang="zh-CN" altLang="en-US" sz="2800" b="0" dirty="0">
                <a:solidFill>
                  <a:srgbClr val="360CAC"/>
                </a:solidFill>
                <a:latin typeface="Times New Roman" panose="02020603050405020304" pitchFamily="18" charset="0"/>
              </a:rPr>
              <a:t>建模、描述和表示</a:t>
            </a:r>
            <a:r>
              <a:rPr lang="zh-CN" altLang="en-US" sz="2800" b="0" dirty="0">
                <a:latin typeface="Times New Roman" panose="02020603050405020304" pitchFamily="18" charset="0"/>
              </a:rPr>
              <a:t>，并据此对空间对象间的空间关系进行</a:t>
            </a:r>
            <a:r>
              <a:rPr lang="zh-CN" altLang="en-US" sz="2800" b="0" dirty="0">
                <a:solidFill>
                  <a:srgbClr val="360CAC"/>
                </a:solidFill>
                <a:latin typeface="Times New Roman" panose="02020603050405020304" pitchFamily="18" charset="0"/>
              </a:rPr>
              <a:t>定性或定量分析和处理</a:t>
            </a:r>
            <a:r>
              <a:rPr lang="zh-CN" altLang="en-US" sz="2800" b="0" dirty="0">
                <a:latin typeface="Times New Roman" panose="02020603050405020304" pitchFamily="18" charset="0"/>
              </a:rPr>
              <a:t>。</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58</a:t>
            </a:fld>
            <a:endParaRPr lang="en-US" altLang="zh-CN"/>
          </a:p>
        </p:txBody>
      </p:sp>
      <p:sp>
        <p:nvSpPr>
          <p:cNvPr id="5" name="Text Box 2"/>
          <p:cNvSpPr txBox="1">
            <a:spLocks noChangeArrowheads="1"/>
          </p:cNvSpPr>
          <p:nvPr/>
        </p:nvSpPr>
        <p:spPr bwMode="auto">
          <a:xfrm>
            <a:off x="228196" y="1087036"/>
            <a:ext cx="519588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dirty="0">
                <a:solidFill>
                  <a:srgbClr val="0000CC"/>
                </a:solidFill>
                <a:latin typeface="Times New Roman" panose="02020603050405020304" pitchFamily="18" charset="0"/>
              </a:rPr>
              <a:t>2.4.1  </a:t>
            </a:r>
            <a:r>
              <a:rPr lang="zh-CN" altLang="en-US" sz="2800" dirty="0">
                <a:solidFill>
                  <a:srgbClr val="0000CC"/>
                </a:solidFill>
                <a:latin typeface="Times New Roman" panose="02020603050405020304" pitchFamily="18" charset="0"/>
              </a:rPr>
              <a:t>空间推理的概念</a:t>
            </a:r>
          </a:p>
        </p:txBody>
      </p:sp>
      <p:pic>
        <p:nvPicPr>
          <p:cNvPr id="3" name="图片 2"/>
          <p:cNvPicPr>
            <a:picLocks noChangeAspect="1"/>
          </p:cNvPicPr>
          <p:nvPr/>
        </p:nvPicPr>
        <p:blipFill>
          <a:blip r:embed="rId3"/>
          <a:stretch>
            <a:fillRect/>
          </a:stretch>
        </p:blipFill>
        <p:spPr>
          <a:xfrm>
            <a:off x="3328301" y="3219630"/>
            <a:ext cx="2364351" cy="3425578"/>
          </a:xfrm>
          <a:prstGeom prst="rect">
            <a:avLst/>
          </a:prstGeom>
        </p:spPr>
      </p:pic>
    </p:spTree>
    <p:extLst>
      <p:ext uri="{BB962C8B-B14F-4D97-AF65-F5344CB8AC3E}">
        <p14:creationId xmlns:p14="http://schemas.microsoft.com/office/powerpoint/2010/main" val="1994542846"/>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Text Box 3"/>
          <p:cNvSpPr txBox="1">
            <a:spLocks noChangeArrowheads="1"/>
          </p:cNvSpPr>
          <p:nvPr/>
        </p:nvSpPr>
        <p:spPr bwMode="auto">
          <a:xfrm>
            <a:off x="228196" y="1774557"/>
            <a:ext cx="8564563" cy="349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FF00"/>
              </a:buClr>
              <a:buSzTx/>
              <a:buNone/>
            </a:pPr>
            <a:r>
              <a:rPr lang="zh-CN" altLang="en-US" sz="2800" b="0" dirty="0">
                <a:solidFill>
                  <a:srgbClr val="0000CC"/>
                </a:solidFill>
                <a:latin typeface="Times New Roman" panose="02020603050405020304" pitchFamily="18" charset="0"/>
              </a:rPr>
              <a:t>应用：</a:t>
            </a:r>
            <a:r>
              <a:rPr lang="zh-CN" altLang="en-US" sz="2800" b="0" dirty="0">
                <a:latin typeface="Times New Roman" panose="02020603050405020304" pitchFamily="18" charset="0"/>
              </a:rPr>
              <a:t>地理信息系统、机器人导航、高级视觉、自然语言理解、工程设计和物理位置的常识推理等。</a:t>
            </a:r>
            <a:endParaRPr lang="en-US" altLang="zh-CN" sz="2800" b="0" dirty="0">
              <a:latin typeface="Times New Roman" panose="02020603050405020304" pitchFamily="18" charset="0"/>
            </a:endParaRPr>
          </a:p>
          <a:p>
            <a:pPr eaLnBrk="1" hangingPunct="1">
              <a:spcBef>
                <a:spcPct val="50000"/>
              </a:spcBef>
              <a:buClr>
                <a:srgbClr val="FFFF00"/>
              </a:buClr>
              <a:buSzTx/>
              <a:buNone/>
            </a:pPr>
            <a:endParaRPr lang="zh-CN" altLang="en-US" sz="2800" b="0" dirty="0">
              <a:latin typeface="Times New Roman" panose="02020603050405020304" pitchFamily="18" charset="0"/>
            </a:endParaRPr>
          </a:p>
          <a:p>
            <a:pPr eaLnBrk="1" hangingPunct="1">
              <a:spcBef>
                <a:spcPct val="50000"/>
              </a:spcBef>
              <a:buClr>
                <a:srgbClr val="FFFF00"/>
              </a:buClr>
              <a:buSzTx/>
              <a:buNone/>
            </a:pPr>
            <a:r>
              <a:rPr lang="zh-CN" altLang="en-US" sz="2800" b="0" dirty="0">
                <a:latin typeface="Times New Roman" panose="02020603050405020304" pitchFamily="18" charset="0"/>
              </a:rPr>
              <a:t>空间推理的研究：</a:t>
            </a:r>
            <a:endParaRPr lang="en-US" altLang="zh-CN" sz="2800" b="0" dirty="0">
              <a:latin typeface="Times New Roman" panose="02020603050405020304" pitchFamily="18" charset="0"/>
            </a:endParaRPr>
          </a:p>
          <a:p>
            <a:pPr marL="457200" indent="-457200" eaLnBrk="1" hangingPunct="1">
              <a:spcBef>
                <a:spcPct val="50000"/>
              </a:spcBef>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rPr>
              <a:t>人工智能</a:t>
            </a:r>
            <a:r>
              <a:rPr lang="en-US" altLang="zh-CN" sz="2800" b="0" dirty="0">
                <a:solidFill>
                  <a:srgbClr val="0000CC"/>
                </a:solidFill>
                <a:latin typeface="Times New Roman" panose="02020603050405020304" pitchFamily="18" charset="0"/>
              </a:rPr>
              <a:t>(AI)</a:t>
            </a:r>
            <a:r>
              <a:rPr lang="zh-CN" altLang="en-US" sz="2800" b="0" dirty="0">
                <a:solidFill>
                  <a:srgbClr val="0000CC"/>
                </a:solidFill>
                <a:latin typeface="Times New Roman" panose="02020603050405020304" pitchFamily="18" charset="0"/>
              </a:rPr>
              <a:t>领域的研究热点</a:t>
            </a:r>
            <a:endParaRPr lang="en-US" altLang="zh-CN" sz="2800" b="0" dirty="0">
              <a:solidFill>
                <a:srgbClr val="0000CC"/>
              </a:solidFill>
              <a:latin typeface="Times New Roman" panose="02020603050405020304" pitchFamily="18" charset="0"/>
            </a:endParaRPr>
          </a:p>
          <a:p>
            <a:pPr marL="457200" indent="-457200" eaLnBrk="1" hangingPunct="1">
              <a:spcBef>
                <a:spcPct val="50000"/>
              </a:spcBef>
              <a:buClr>
                <a:srgbClr val="0000CC"/>
              </a:buClr>
              <a:buSzTx/>
              <a:buFont typeface="Wingdings" panose="05000000000000000000" pitchFamily="2" charset="2"/>
              <a:buChar char="Ø"/>
            </a:pPr>
            <a:r>
              <a:rPr lang="en-US" altLang="zh-CN" sz="2800" b="0" dirty="0">
                <a:solidFill>
                  <a:srgbClr val="0000CC"/>
                </a:solidFill>
                <a:latin typeface="Times New Roman" panose="02020603050405020304" pitchFamily="18" charset="0"/>
              </a:rPr>
              <a:t>GIS</a:t>
            </a:r>
            <a:r>
              <a:rPr lang="zh-CN" altLang="en-US" sz="2800" b="0" dirty="0">
                <a:solidFill>
                  <a:srgbClr val="0000CC"/>
                </a:solidFill>
                <a:latin typeface="Times New Roman" panose="02020603050405020304" pitchFamily="18" charset="0"/>
              </a:rPr>
              <a:t>领域的研究热点</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59</a:t>
            </a:fld>
            <a:endParaRPr lang="en-US" altLang="zh-CN"/>
          </a:p>
        </p:txBody>
      </p:sp>
      <p:sp>
        <p:nvSpPr>
          <p:cNvPr id="5" name="Text Box 2"/>
          <p:cNvSpPr txBox="1">
            <a:spLocks noChangeArrowheads="1"/>
          </p:cNvSpPr>
          <p:nvPr/>
        </p:nvSpPr>
        <p:spPr bwMode="auto">
          <a:xfrm>
            <a:off x="228196" y="1087036"/>
            <a:ext cx="519588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dirty="0">
                <a:solidFill>
                  <a:srgbClr val="0000CC"/>
                </a:solidFill>
                <a:latin typeface="Times New Roman" panose="02020603050405020304" pitchFamily="18" charset="0"/>
              </a:rPr>
              <a:t>2.4.1  </a:t>
            </a:r>
            <a:r>
              <a:rPr lang="zh-CN" altLang="en-US" sz="2800" dirty="0">
                <a:solidFill>
                  <a:srgbClr val="0000CC"/>
                </a:solidFill>
                <a:latin typeface="Times New Roman" panose="02020603050405020304" pitchFamily="18" charset="0"/>
              </a:rPr>
              <a:t>地理空间推理的概念</a:t>
            </a:r>
          </a:p>
        </p:txBody>
      </p:sp>
      <p:sp>
        <p:nvSpPr>
          <p:cNvPr id="6" name="Text Box 2"/>
          <p:cNvSpPr txBox="1">
            <a:spLocks noChangeArrowheads="1"/>
          </p:cNvSpPr>
          <p:nvPr/>
        </p:nvSpPr>
        <p:spPr bwMode="auto">
          <a:xfrm>
            <a:off x="231775" y="116632"/>
            <a:ext cx="5195888"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000" dirty="0">
                <a:solidFill>
                  <a:srgbClr val="FFFF00"/>
                </a:solidFill>
                <a:latin typeface="Times New Roman" panose="02020603050405020304" pitchFamily="18" charset="0"/>
              </a:rPr>
              <a:t>2.4  </a:t>
            </a:r>
            <a:r>
              <a:rPr lang="zh-CN" altLang="en-US" sz="4000" dirty="0">
                <a:solidFill>
                  <a:srgbClr val="FFFF00"/>
                </a:solidFill>
                <a:latin typeface="Times New Roman" panose="02020603050405020304" pitchFamily="18" charset="0"/>
              </a:rPr>
              <a:t>空间推理理论</a:t>
            </a:r>
          </a:p>
        </p:txBody>
      </p:sp>
    </p:spTree>
    <p:extLst>
      <p:ext uri="{BB962C8B-B14F-4D97-AF65-F5344CB8AC3E}">
        <p14:creationId xmlns:p14="http://schemas.microsoft.com/office/powerpoint/2010/main" val="1975346838"/>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Text Box 2"/>
          <p:cNvSpPr txBox="1">
            <a:spLocks noChangeArrowheads="1"/>
          </p:cNvSpPr>
          <p:nvPr/>
        </p:nvSpPr>
        <p:spPr bwMode="auto">
          <a:xfrm>
            <a:off x="245432" y="1079231"/>
            <a:ext cx="8620125" cy="2372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40000"/>
              </a:spcBef>
              <a:buClrTx/>
              <a:buSzTx/>
              <a:buFontTx/>
              <a:buNone/>
            </a:pPr>
            <a:r>
              <a:rPr lang="en-US" altLang="zh-CN" sz="2800" b="0" dirty="0">
                <a:solidFill>
                  <a:srgbClr val="0000CC"/>
                </a:solidFill>
                <a:latin typeface="Times New Roman" panose="02020603050405020304" pitchFamily="18" charset="0"/>
              </a:rPr>
              <a:t>1)</a:t>
            </a:r>
            <a:r>
              <a:rPr lang="zh-CN" altLang="en-US" sz="2800" b="0" dirty="0">
                <a:solidFill>
                  <a:srgbClr val="0000CC"/>
                </a:solidFill>
                <a:latin typeface="Times New Roman" panose="02020603050405020304" pitchFamily="18" charset="0"/>
              </a:rPr>
              <a:t>根据空间目标的位置，基于给定的空间关系形式化表示模型，推断空间目标之间的空间关系。</a:t>
            </a:r>
            <a:endParaRPr lang="en-US" altLang="zh-CN" sz="2800" b="0" dirty="0">
              <a:solidFill>
                <a:srgbClr val="0000CC"/>
              </a:solidFill>
              <a:latin typeface="Times New Roman" panose="02020603050405020304" pitchFamily="18" charset="0"/>
            </a:endParaRPr>
          </a:p>
          <a:p>
            <a:pPr eaLnBrk="1" hangingPunct="1">
              <a:spcBef>
                <a:spcPct val="40000"/>
              </a:spcBef>
              <a:buClr>
                <a:srgbClr val="FFFF00"/>
              </a:buClr>
              <a:buSzTx/>
              <a:buNone/>
            </a:pPr>
            <a:r>
              <a:rPr lang="zh-CN" altLang="en-US" sz="2800" b="0" dirty="0">
                <a:latin typeface="Times New Roman" panose="02020603050405020304" pitchFamily="18" charset="0"/>
              </a:rPr>
              <a:t>例如，基于</a:t>
            </a:r>
            <a:r>
              <a:rPr lang="en-US" altLang="zh-CN" sz="2800" b="0" dirty="0">
                <a:latin typeface="Times New Roman" panose="02020603050405020304" pitchFamily="18" charset="0"/>
              </a:rPr>
              <a:t>4</a:t>
            </a:r>
            <a:r>
              <a:rPr lang="zh-CN" altLang="en-US" sz="2800" b="0" dirty="0">
                <a:latin typeface="Times New Roman" panose="02020603050405020304" pitchFamily="18" charset="0"/>
              </a:rPr>
              <a:t>交模型或</a:t>
            </a:r>
            <a:r>
              <a:rPr lang="en-US" altLang="zh-CN" sz="2800" b="0" dirty="0">
                <a:latin typeface="Times New Roman" panose="02020603050405020304" pitchFamily="18" charset="0"/>
              </a:rPr>
              <a:t>9</a:t>
            </a:r>
            <a:r>
              <a:rPr lang="zh-CN" altLang="en-US" sz="2800" b="0" dirty="0">
                <a:latin typeface="Times New Roman" panose="02020603050405020304" pitchFamily="18" charset="0"/>
              </a:rPr>
              <a:t>交模型，把空间目标看成点集，根据两个空间目标点集的边界、内部和补集之间的交集是否为空来</a:t>
            </a:r>
            <a:r>
              <a:rPr lang="zh-CN" altLang="en-US" sz="2800" dirty="0">
                <a:solidFill>
                  <a:srgbClr val="360CAC"/>
                </a:solidFill>
                <a:latin typeface="Times New Roman" panose="02020603050405020304" pitchFamily="18" charset="0"/>
              </a:rPr>
              <a:t>推断空间拓扑关系</a:t>
            </a:r>
            <a:r>
              <a:rPr lang="zh-CN" altLang="en-US" sz="2800" b="0" dirty="0">
                <a:latin typeface="Times New Roman" panose="02020603050405020304" pitchFamily="18" charset="0"/>
              </a:rPr>
              <a:t>。</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60</a:t>
            </a:fld>
            <a:endParaRPr lang="en-US" altLang="zh-CN"/>
          </a:p>
        </p:txBody>
      </p:sp>
      <p:sp>
        <p:nvSpPr>
          <p:cNvPr id="4" name="Text Box 2"/>
          <p:cNvSpPr txBox="1">
            <a:spLocks noChangeArrowheads="1"/>
          </p:cNvSpPr>
          <p:nvPr/>
        </p:nvSpPr>
        <p:spPr bwMode="auto">
          <a:xfrm>
            <a:off x="268201" y="229543"/>
            <a:ext cx="8620125"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40000"/>
              </a:spcBef>
              <a:buClrTx/>
              <a:buSzTx/>
              <a:buFontTx/>
              <a:buNone/>
            </a:pPr>
            <a:r>
              <a:rPr lang="en-US" altLang="zh-CN" dirty="0">
                <a:solidFill>
                  <a:srgbClr val="FFFF00"/>
                </a:solidFill>
                <a:latin typeface="Times New Roman" panose="02020603050405020304" pitchFamily="18" charset="0"/>
              </a:rPr>
              <a:t>2.4.3  </a:t>
            </a:r>
            <a:r>
              <a:rPr lang="zh-CN" altLang="en-US" dirty="0">
                <a:solidFill>
                  <a:srgbClr val="FFFF00"/>
                </a:solidFill>
                <a:latin typeface="Times New Roman" panose="02020603050405020304" pitchFamily="18" charset="0"/>
              </a:rPr>
              <a:t>地理空间推理的研究内容</a:t>
            </a:r>
            <a:endParaRPr lang="zh-CN" altLang="en-US" sz="2800" b="0" dirty="0">
              <a:latin typeface="Times New Roman" panose="02020603050405020304" pitchFamily="18" charset="0"/>
            </a:endParaRPr>
          </a:p>
        </p:txBody>
      </p:sp>
      <p:grpSp>
        <p:nvGrpSpPr>
          <p:cNvPr id="5" name="Group 136"/>
          <p:cNvGrpSpPr>
            <a:grpSpLocks/>
          </p:cNvGrpSpPr>
          <p:nvPr/>
        </p:nvGrpSpPr>
        <p:grpSpPr bwMode="auto">
          <a:xfrm>
            <a:off x="2987824" y="3758988"/>
            <a:ext cx="2421012" cy="2527499"/>
            <a:chOff x="144" y="1440"/>
            <a:chExt cx="2024" cy="1955"/>
          </a:xfrm>
        </p:grpSpPr>
        <p:sp>
          <p:nvSpPr>
            <p:cNvPr id="6" name="AutoShape 8"/>
            <p:cNvSpPr>
              <a:spLocks noChangeArrowheads="1"/>
            </p:cNvSpPr>
            <p:nvPr/>
          </p:nvSpPr>
          <p:spPr bwMode="auto">
            <a:xfrm>
              <a:off x="371" y="1622"/>
              <a:ext cx="1542" cy="1587"/>
            </a:xfrm>
            <a:prstGeom prst="diamond">
              <a:avLst/>
            </a:prstGeom>
            <a:noFill/>
            <a:ln w="28575">
              <a:solidFill>
                <a:srgbClr val="0000FF"/>
              </a:solidFill>
              <a:miter lim="800000"/>
              <a:headEnd/>
              <a:tailEnd/>
            </a:ln>
            <a:effectLst/>
          </p:spPr>
          <p:txBody>
            <a:bodyPr wrap="none" anchor="ctr"/>
            <a:lstStyle/>
            <a:p>
              <a:endParaRPr lang="zh-CN" altLang="en-US"/>
            </a:p>
          </p:txBody>
        </p:sp>
        <p:sp>
          <p:nvSpPr>
            <p:cNvPr id="7" name="Freeform 9"/>
            <p:cNvSpPr>
              <a:spLocks/>
            </p:cNvSpPr>
            <p:nvPr/>
          </p:nvSpPr>
          <p:spPr bwMode="auto">
            <a:xfrm>
              <a:off x="372" y="2417"/>
              <a:ext cx="1536" cy="3"/>
            </a:xfrm>
            <a:custGeom>
              <a:avLst/>
              <a:gdLst/>
              <a:ahLst/>
              <a:cxnLst>
                <a:cxn ang="0">
                  <a:pos x="0" y="0"/>
                </a:cxn>
                <a:cxn ang="0">
                  <a:pos x="1536" y="3"/>
                </a:cxn>
              </a:cxnLst>
              <a:rect l="0" t="0" r="r" b="b"/>
              <a:pathLst>
                <a:path w="1536" h="3">
                  <a:moveTo>
                    <a:pt x="0" y="0"/>
                  </a:moveTo>
                  <a:lnTo>
                    <a:pt x="1536" y="3"/>
                  </a:lnTo>
                </a:path>
              </a:pathLst>
            </a:custGeom>
            <a:noFill/>
            <a:ln w="28575" cmpd="sng">
              <a:solidFill>
                <a:srgbClr val="0000FF"/>
              </a:solidFill>
              <a:round/>
              <a:headEnd type="none" w="med" len="med"/>
              <a:tailEnd type="none" w="med" len="med"/>
            </a:ln>
            <a:effectLst/>
          </p:spPr>
          <p:txBody>
            <a:bodyPr/>
            <a:lstStyle/>
            <a:p>
              <a:endParaRPr lang="zh-CN" altLang="en-US"/>
            </a:p>
          </p:txBody>
        </p:sp>
        <p:sp>
          <p:nvSpPr>
            <p:cNvPr id="8" name="Freeform 10"/>
            <p:cNvSpPr>
              <a:spLocks/>
            </p:cNvSpPr>
            <p:nvPr/>
          </p:nvSpPr>
          <p:spPr bwMode="auto">
            <a:xfrm>
              <a:off x="1140" y="1631"/>
              <a:ext cx="3" cy="1578"/>
            </a:xfrm>
            <a:custGeom>
              <a:avLst/>
              <a:gdLst/>
              <a:ahLst/>
              <a:cxnLst>
                <a:cxn ang="0">
                  <a:pos x="3" y="0"/>
                </a:cxn>
                <a:cxn ang="0">
                  <a:pos x="0" y="1578"/>
                </a:cxn>
              </a:cxnLst>
              <a:rect l="0" t="0" r="r" b="b"/>
              <a:pathLst>
                <a:path w="3" h="1578">
                  <a:moveTo>
                    <a:pt x="3" y="0"/>
                  </a:moveTo>
                  <a:lnTo>
                    <a:pt x="0" y="1578"/>
                  </a:lnTo>
                </a:path>
              </a:pathLst>
            </a:custGeom>
            <a:noFill/>
            <a:ln w="28575" cmpd="sng">
              <a:solidFill>
                <a:srgbClr val="0000FF"/>
              </a:solidFill>
              <a:round/>
              <a:headEnd type="none" w="med" len="med"/>
              <a:tailEnd type="none" w="med" len="med"/>
            </a:ln>
            <a:effectLst/>
          </p:spPr>
          <p:txBody>
            <a:bodyPr/>
            <a:lstStyle/>
            <a:p>
              <a:endParaRPr lang="zh-CN" altLang="en-US"/>
            </a:p>
          </p:txBody>
        </p:sp>
        <p:sp>
          <p:nvSpPr>
            <p:cNvPr id="9" name="Text Box 11"/>
            <p:cNvSpPr txBox="1">
              <a:spLocks noChangeArrowheads="1"/>
            </p:cNvSpPr>
            <p:nvPr/>
          </p:nvSpPr>
          <p:spPr bwMode="auto">
            <a:xfrm>
              <a:off x="144" y="2302"/>
              <a:ext cx="300" cy="231"/>
            </a:xfrm>
            <a:prstGeom prst="rect">
              <a:avLst/>
            </a:prstGeom>
            <a:noFill/>
            <a:ln w="9525">
              <a:noFill/>
              <a:miter lim="800000"/>
              <a:headEnd/>
              <a:tailEnd/>
            </a:ln>
            <a:effectLst/>
          </p:spPr>
          <p:txBody>
            <a:bodyPr wrap="none">
              <a:spAutoFit/>
            </a:bodyPr>
            <a:lstStyle/>
            <a:p>
              <a:pPr algn="r"/>
              <a:r>
                <a:rPr kumimoji="0" lang="en-US" altLang="zh-CN" sz="1800">
                  <a:solidFill>
                    <a:srgbClr val="0000FF"/>
                  </a:solidFill>
                  <a:latin typeface="Arial" charset="0"/>
                </a:rPr>
                <a:t>N1</a:t>
              </a:r>
            </a:p>
          </p:txBody>
        </p:sp>
        <p:sp>
          <p:nvSpPr>
            <p:cNvPr id="10" name="Text Box 12"/>
            <p:cNvSpPr txBox="1">
              <a:spLocks noChangeArrowheads="1"/>
            </p:cNvSpPr>
            <p:nvPr/>
          </p:nvSpPr>
          <p:spPr bwMode="auto">
            <a:xfrm>
              <a:off x="1196" y="2075"/>
              <a:ext cx="292" cy="231"/>
            </a:xfrm>
            <a:prstGeom prst="rect">
              <a:avLst/>
            </a:prstGeom>
            <a:noFill/>
            <a:ln w="9525">
              <a:noFill/>
              <a:miter lim="800000"/>
              <a:headEnd/>
              <a:tailEnd/>
            </a:ln>
            <a:effectLst/>
          </p:spPr>
          <p:txBody>
            <a:bodyPr wrap="none">
              <a:spAutoFit/>
            </a:bodyPr>
            <a:lstStyle/>
            <a:p>
              <a:pPr algn="r"/>
              <a:r>
                <a:rPr kumimoji="0" lang="en-US" altLang="zh-CN" sz="1800">
                  <a:solidFill>
                    <a:srgbClr val="990000"/>
                  </a:solidFill>
                  <a:latin typeface="Arial" charset="0"/>
                </a:rPr>
                <a:t>B2</a:t>
              </a:r>
            </a:p>
          </p:txBody>
        </p:sp>
        <p:sp>
          <p:nvSpPr>
            <p:cNvPr id="11" name="Text Box 13"/>
            <p:cNvSpPr txBox="1">
              <a:spLocks noChangeArrowheads="1"/>
            </p:cNvSpPr>
            <p:nvPr/>
          </p:nvSpPr>
          <p:spPr bwMode="auto">
            <a:xfrm>
              <a:off x="1006" y="1440"/>
              <a:ext cx="300" cy="231"/>
            </a:xfrm>
            <a:prstGeom prst="rect">
              <a:avLst/>
            </a:prstGeom>
            <a:noFill/>
            <a:ln w="9525">
              <a:noFill/>
              <a:miter lim="800000"/>
              <a:headEnd/>
              <a:tailEnd/>
            </a:ln>
            <a:effectLst/>
          </p:spPr>
          <p:txBody>
            <a:bodyPr wrap="none">
              <a:spAutoFit/>
            </a:bodyPr>
            <a:lstStyle/>
            <a:p>
              <a:pPr algn="r"/>
              <a:r>
                <a:rPr kumimoji="0" lang="en-US" altLang="zh-CN" sz="1800" dirty="0">
                  <a:solidFill>
                    <a:srgbClr val="0000FF"/>
                  </a:solidFill>
                  <a:latin typeface="Arial" charset="0"/>
                </a:rPr>
                <a:t>N2</a:t>
              </a:r>
            </a:p>
          </p:txBody>
        </p:sp>
        <p:sp>
          <p:nvSpPr>
            <p:cNvPr id="12" name="Text Box 14"/>
            <p:cNvSpPr txBox="1">
              <a:spLocks noChangeArrowheads="1"/>
            </p:cNvSpPr>
            <p:nvPr/>
          </p:nvSpPr>
          <p:spPr bwMode="auto">
            <a:xfrm>
              <a:off x="1006" y="3164"/>
              <a:ext cx="300" cy="231"/>
            </a:xfrm>
            <a:prstGeom prst="rect">
              <a:avLst/>
            </a:prstGeom>
            <a:noFill/>
            <a:ln w="9525">
              <a:noFill/>
              <a:miter lim="800000"/>
              <a:headEnd/>
              <a:tailEnd/>
            </a:ln>
            <a:effectLst/>
          </p:spPr>
          <p:txBody>
            <a:bodyPr wrap="none">
              <a:spAutoFit/>
            </a:bodyPr>
            <a:lstStyle/>
            <a:p>
              <a:pPr algn="r"/>
              <a:r>
                <a:rPr kumimoji="0" lang="en-US" altLang="zh-CN" sz="1800">
                  <a:solidFill>
                    <a:srgbClr val="0000FF"/>
                  </a:solidFill>
                  <a:latin typeface="Arial" charset="0"/>
                </a:rPr>
                <a:t>N4</a:t>
              </a:r>
            </a:p>
          </p:txBody>
        </p:sp>
        <p:sp>
          <p:nvSpPr>
            <p:cNvPr id="13" name="Text Box 15"/>
            <p:cNvSpPr txBox="1">
              <a:spLocks noChangeArrowheads="1"/>
            </p:cNvSpPr>
            <p:nvPr/>
          </p:nvSpPr>
          <p:spPr bwMode="auto">
            <a:xfrm>
              <a:off x="1868" y="2302"/>
              <a:ext cx="300" cy="231"/>
            </a:xfrm>
            <a:prstGeom prst="rect">
              <a:avLst/>
            </a:prstGeom>
            <a:noFill/>
            <a:ln w="9525">
              <a:noFill/>
              <a:miter lim="800000"/>
              <a:headEnd/>
              <a:tailEnd/>
            </a:ln>
            <a:effectLst/>
          </p:spPr>
          <p:txBody>
            <a:bodyPr wrap="none">
              <a:spAutoFit/>
            </a:bodyPr>
            <a:lstStyle/>
            <a:p>
              <a:pPr algn="r"/>
              <a:r>
                <a:rPr kumimoji="0" lang="en-US" altLang="zh-CN" sz="1800">
                  <a:solidFill>
                    <a:srgbClr val="0000FF"/>
                  </a:solidFill>
                  <a:latin typeface="Arial" charset="0"/>
                </a:rPr>
                <a:t>N3</a:t>
              </a:r>
            </a:p>
          </p:txBody>
        </p:sp>
        <p:sp>
          <p:nvSpPr>
            <p:cNvPr id="14" name="Text Box 16"/>
            <p:cNvSpPr txBox="1">
              <a:spLocks noChangeArrowheads="1"/>
            </p:cNvSpPr>
            <p:nvPr/>
          </p:nvSpPr>
          <p:spPr bwMode="auto">
            <a:xfrm>
              <a:off x="742" y="2483"/>
              <a:ext cx="292" cy="231"/>
            </a:xfrm>
            <a:prstGeom prst="rect">
              <a:avLst/>
            </a:prstGeom>
            <a:noFill/>
            <a:ln w="9525">
              <a:noFill/>
              <a:miter lim="800000"/>
              <a:headEnd/>
              <a:tailEnd/>
            </a:ln>
            <a:effectLst/>
          </p:spPr>
          <p:txBody>
            <a:bodyPr wrap="none">
              <a:spAutoFit/>
            </a:bodyPr>
            <a:lstStyle/>
            <a:p>
              <a:pPr algn="r"/>
              <a:r>
                <a:rPr kumimoji="0" lang="en-US" altLang="zh-CN" sz="1800">
                  <a:solidFill>
                    <a:srgbClr val="990000"/>
                  </a:solidFill>
                  <a:latin typeface="Arial" charset="0"/>
                </a:rPr>
                <a:t>B3</a:t>
              </a:r>
            </a:p>
          </p:txBody>
        </p:sp>
        <p:sp>
          <p:nvSpPr>
            <p:cNvPr id="15" name="Text Box 17"/>
            <p:cNvSpPr txBox="1">
              <a:spLocks noChangeArrowheads="1"/>
            </p:cNvSpPr>
            <p:nvPr/>
          </p:nvSpPr>
          <p:spPr bwMode="auto">
            <a:xfrm>
              <a:off x="1213" y="2483"/>
              <a:ext cx="292" cy="231"/>
            </a:xfrm>
            <a:prstGeom prst="rect">
              <a:avLst/>
            </a:prstGeom>
            <a:noFill/>
            <a:ln w="9525">
              <a:noFill/>
              <a:miter lim="800000"/>
              <a:headEnd/>
              <a:tailEnd/>
            </a:ln>
            <a:effectLst/>
          </p:spPr>
          <p:txBody>
            <a:bodyPr wrap="none">
              <a:spAutoFit/>
            </a:bodyPr>
            <a:lstStyle/>
            <a:p>
              <a:pPr algn="r"/>
              <a:r>
                <a:rPr kumimoji="0" lang="en-US" altLang="zh-CN" sz="1800">
                  <a:solidFill>
                    <a:srgbClr val="990000"/>
                  </a:solidFill>
                  <a:latin typeface="Arial" charset="0"/>
                </a:rPr>
                <a:t>B4</a:t>
              </a:r>
            </a:p>
          </p:txBody>
        </p:sp>
        <p:sp>
          <p:nvSpPr>
            <p:cNvPr id="16" name="Text Box 18"/>
            <p:cNvSpPr txBox="1">
              <a:spLocks noChangeArrowheads="1"/>
            </p:cNvSpPr>
            <p:nvPr/>
          </p:nvSpPr>
          <p:spPr bwMode="auto">
            <a:xfrm>
              <a:off x="742" y="2075"/>
              <a:ext cx="292" cy="231"/>
            </a:xfrm>
            <a:prstGeom prst="rect">
              <a:avLst/>
            </a:prstGeom>
            <a:noFill/>
            <a:ln w="9525">
              <a:noFill/>
              <a:miter lim="800000"/>
              <a:headEnd/>
              <a:tailEnd/>
            </a:ln>
            <a:effectLst/>
          </p:spPr>
          <p:txBody>
            <a:bodyPr wrap="none">
              <a:spAutoFit/>
            </a:bodyPr>
            <a:lstStyle/>
            <a:p>
              <a:pPr algn="r"/>
              <a:r>
                <a:rPr kumimoji="0" lang="en-US" altLang="zh-CN" sz="1800">
                  <a:solidFill>
                    <a:srgbClr val="990000"/>
                  </a:solidFill>
                  <a:latin typeface="Arial" charset="0"/>
                </a:rPr>
                <a:t>B1</a:t>
              </a:r>
            </a:p>
          </p:txBody>
        </p:sp>
        <p:sp>
          <p:nvSpPr>
            <p:cNvPr id="17" name="Text Box 19"/>
            <p:cNvSpPr txBox="1">
              <a:spLocks noChangeArrowheads="1"/>
            </p:cNvSpPr>
            <p:nvPr/>
          </p:nvSpPr>
          <p:spPr bwMode="auto">
            <a:xfrm>
              <a:off x="624" y="1848"/>
              <a:ext cx="292" cy="231"/>
            </a:xfrm>
            <a:prstGeom prst="rect">
              <a:avLst/>
            </a:prstGeom>
            <a:solidFill>
              <a:schemeClr val="bg1"/>
            </a:solidFill>
            <a:ln w="9525">
              <a:noFill/>
              <a:miter lim="800000"/>
              <a:headEnd/>
              <a:tailEnd/>
            </a:ln>
            <a:effectLst/>
          </p:spPr>
          <p:txBody>
            <a:bodyPr wrap="none">
              <a:spAutoFit/>
            </a:bodyPr>
            <a:lstStyle/>
            <a:p>
              <a:r>
                <a:rPr kumimoji="0" lang="en-US" altLang="zh-CN" sz="1800" dirty="0">
                  <a:solidFill>
                    <a:srgbClr val="FF33CC"/>
                  </a:solidFill>
                  <a:latin typeface="Arial" charset="0"/>
                </a:rPr>
                <a:t>A1</a:t>
              </a:r>
            </a:p>
          </p:txBody>
        </p:sp>
        <p:sp>
          <p:nvSpPr>
            <p:cNvPr id="18" name="Text Box 20"/>
            <p:cNvSpPr txBox="1">
              <a:spLocks noChangeArrowheads="1"/>
            </p:cNvSpPr>
            <p:nvPr/>
          </p:nvSpPr>
          <p:spPr bwMode="auto">
            <a:xfrm>
              <a:off x="986" y="1848"/>
              <a:ext cx="292" cy="231"/>
            </a:xfrm>
            <a:prstGeom prst="rect">
              <a:avLst/>
            </a:prstGeom>
            <a:solidFill>
              <a:schemeClr val="bg1"/>
            </a:solidFill>
            <a:ln w="9525">
              <a:noFill/>
              <a:miter lim="800000"/>
              <a:headEnd/>
              <a:tailEnd/>
            </a:ln>
            <a:effectLst/>
          </p:spPr>
          <p:txBody>
            <a:bodyPr wrap="none">
              <a:spAutoFit/>
            </a:bodyPr>
            <a:lstStyle/>
            <a:p>
              <a:r>
                <a:rPr kumimoji="0" lang="en-US" altLang="zh-CN" sz="1800" dirty="0">
                  <a:solidFill>
                    <a:srgbClr val="FF33CC"/>
                  </a:solidFill>
                  <a:latin typeface="Arial" charset="0"/>
                </a:rPr>
                <a:t>A2</a:t>
              </a:r>
            </a:p>
          </p:txBody>
        </p:sp>
        <p:sp>
          <p:nvSpPr>
            <p:cNvPr id="19" name="Text Box 21"/>
            <p:cNvSpPr txBox="1">
              <a:spLocks noChangeArrowheads="1"/>
            </p:cNvSpPr>
            <p:nvPr/>
          </p:nvSpPr>
          <p:spPr bwMode="auto">
            <a:xfrm>
              <a:off x="1414" y="2298"/>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A6</a:t>
              </a:r>
            </a:p>
          </p:txBody>
        </p:sp>
        <p:sp>
          <p:nvSpPr>
            <p:cNvPr id="20" name="Text Box 22"/>
            <p:cNvSpPr txBox="1">
              <a:spLocks noChangeArrowheads="1"/>
            </p:cNvSpPr>
            <p:nvPr/>
          </p:nvSpPr>
          <p:spPr bwMode="auto">
            <a:xfrm>
              <a:off x="1324" y="1844"/>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A5</a:t>
              </a:r>
            </a:p>
          </p:txBody>
        </p:sp>
        <p:sp>
          <p:nvSpPr>
            <p:cNvPr id="21" name="Text Box 23"/>
            <p:cNvSpPr txBox="1">
              <a:spLocks noChangeArrowheads="1"/>
            </p:cNvSpPr>
            <p:nvPr/>
          </p:nvSpPr>
          <p:spPr bwMode="auto">
            <a:xfrm>
              <a:off x="624" y="2706"/>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A4</a:t>
              </a:r>
            </a:p>
          </p:txBody>
        </p:sp>
        <p:sp>
          <p:nvSpPr>
            <p:cNvPr id="22" name="Text Box 24"/>
            <p:cNvSpPr txBox="1">
              <a:spLocks noChangeArrowheads="1"/>
            </p:cNvSpPr>
            <p:nvPr/>
          </p:nvSpPr>
          <p:spPr bwMode="auto">
            <a:xfrm>
              <a:off x="507" y="2298"/>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A3</a:t>
              </a:r>
            </a:p>
          </p:txBody>
        </p:sp>
        <p:sp>
          <p:nvSpPr>
            <p:cNvPr id="23" name="Text Box 25"/>
            <p:cNvSpPr txBox="1">
              <a:spLocks noChangeArrowheads="1"/>
            </p:cNvSpPr>
            <p:nvPr/>
          </p:nvSpPr>
          <p:spPr bwMode="auto">
            <a:xfrm>
              <a:off x="986" y="2710"/>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A7</a:t>
              </a:r>
            </a:p>
          </p:txBody>
        </p:sp>
        <p:sp>
          <p:nvSpPr>
            <p:cNvPr id="24" name="Text Box 26"/>
            <p:cNvSpPr txBox="1">
              <a:spLocks noChangeArrowheads="1"/>
            </p:cNvSpPr>
            <p:nvPr/>
          </p:nvSpPr>
          <p:spPr bwMode="auto">
            <a:xfrm>
              <a:off x="1324" y="2710"/>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A8</a:t>
              </a:r>
            </a:p>
          </p:txBody>
        </p:sp>
        <p:sp>
          <p:nvSpPr>
            <p:cNvPr id="25" name="Text Box 27"/>
            <p:cNvSpPr txBox="1">
              <a:spLocks noChangeArrowheads="1"/>
            </p:cNvSpPr>
            <p:nvPr/>
          </p:nvSpPr>
          <p:spPr bwMode="auto">
            <a:xfrm>
              <a:off x="978" y="2302"/>
              <a:ext cx="300"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0000FF"/>
                  </a:solidFill>
                  <a:latin typeface="Arial" charset="0"/>
                </a:rPr>
                <a:t>N5</a:t>
              </a:r>
            </a:p>
          </p:txBody>
        </p:sp>
      </p:grpSp>
    </p:spTree>
    <p:extLst>
      <p:ext uri="{BB962C8B-B14F-4D97-AF65-F5344CB8AC3E}">
        <p14:creationId xmlns:p14="http://schemas.microsoft.com/office/powerpoint/2010/main" val="745182605"/>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Text Box 2"/>
          <p:cNvSpPr txBox="1">
            <a:spLocks noChangeArrowheads="1"/>
          </p:cNvSpPr>
          <p:nvPr/>
        </p:nvSpPr>
        <p:spPr bwMode="auto">
          <a:xfrm>
            <a:off x="179512" y="1196752"/>
            <a:ext cx="8518525" cy="275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b="0" dirty="0">
                <a:solidFill>
                  <a:srgbClr val="0000CC"/>
                </a:solidFill>
                <a:latin typeface="Times New Roman" panose="02020603050405020304" pitchFamily="18" charset="0"/>
              </a:rPr>
              <a:t>2)</a:t>
            </a:r>
            <a:r>
              <a:rPr lang="zh-CN" altLang="en-US" b="0" dirty="0">
                <a:latin typeface="Times New Roman" panose="02020603050405020304" pitchFamily="18" charset="0"/>
              </a:rPr>
              <a:t>根据空间目标之间的已知基本空间关系，</a:t>
            </a:r>
            <a:r>
              <a:rPr lang="zh-CN" altLang="en-US" b="0" dirty="0">
                <a:solidFill>
                  <a:srgbClr val="0000CC"/>
                </a:solidFill>
                <a:latin typeface="Times New Roman" panose="02020603050405020304" pitchFamily="18" charset="0"/>
              </a:rPr>
              <a:t>推断空间目标之间未知的空间关系。</a:t>
            </a:r>
          </a:p>
          <a:p>
            <a:pPr eaLnBrk="1" hangingPunct="1">
              <a:spcBef>
                <a:spcPct val="50000"/>
              </a:spcBef>
              <a:buClrTx/>
              <a:buSzTx/>
              <a:buFontTx/>
              <a:buNone/>
            </a:pPr>
            <a:r>
              <a:rPr lang="en-US" altLang="zh-CN" b="0" dirty="0">
                <a:solidFill>
                  <a:srgbClr val="0000CC"/>
                </a:solidFill>
                <a:latin typeface="Times New Roman" panose="02020603050405020304" pitchFamily="18" charset="0"/>
              </a:rPr>
              <a:t>3)</a:t>
            </a:r>
            <a:r>
              <a:rPr lang="zh-CN" altLang="en-US" b="0" dirty="0">
                <a:solidFill>
                  <a:srgbClr val="0000CC"/>
                </a:solidFill>
                <a:latin typeface="Times New Roman" panose="02020603050405020304" pitchFamily="18" charset="0"/>
              </a:rPr>
              <a:t>利用空间推理，从空间数据库中挖掘空间知识，也可以利用事件推理（案例推理）的方法进行空间目标的模糊查询。</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61</a:t>
            </a:fld>
            <a:endParaRPr lang="en-US" altLang="zh-CN"/>
          </a:p>
        </p:txBody>
      </p:sp>
      <p:sp>
        <p:nvSpPr>
          <p:cNvPr id="4" name="Text Box 2"/>
          <p:cNvSpPr txBox="1">
            <a:spLocks noChangeArrowheads="1"/>
          </p:cNvSpPr>
          <p:nvPr/>
        </p:nvSpPr>
        <p:spPr bwMode="auto">
          <a:xfrm>
            <a:off x="268201" y="229543"/>
            <a:ext cx="8620125"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40000"/>
              </a:spcBef>
              <a:buClrTx/>
              <a:buSzTx/>
              <a:buFontTx/>
              <a:buNone/>
            </a:pPr>
            <a:r>
              <a:rPr lang="en-US" altLang="zh-CN" dirty="0">
                <a:solidFill>
                  <a:srgbClr val="FFFF00"/>
                </a:solidFill>
                <a:latin typeface="Times New Roman" panose="02020603050405020304" pitchFamily="18" charset="0"/>
              </a:rPr>
              <a:t>2.4.3  </a:t>
            </a:r>
            <a:r>
              <a:rPr lang="zh-CN" altLang="en-US" dirty="0">
                <a:solidFill>
                  <a:srgbClr val="FFFF00"/>
                </a:solidFill>
                <a:latin typeface="Times New Roman" panose="02020603050405020304" pitchFamily="18" charset="0"/>
              </a:rPr>
              <a:t>地理空间推理的研究内容</a:t>
            </a:r>
            <a:endParaRPr lang="zh-CN" altLang="en-US" sz="2800" b="0" dirty="0">
              <a:latin typeface="Times New Roman" panose="02020603050405020304" pitchFamily="18" charset="0"/>
            </a:endParaRPr>
          </a:p>
        </p:txBody>
      </p:sp>
      <p:grpSp>
        <p:nvGrpSpPr>
          <p:cNvPr id="5" name="Group 136"/>
          <p:cNvGrpSpPr>
            <a:grpSpLocks/>
          </p:cNvGrpSpPr>
          <p:nvPr/>
        </p:nvGrpSpPr>
        <p:grpSpPr bwMode="auto">
          <a:xfrm>
            <a:off x="1763688" y="4098632"/>
            <a:ext cx="2421012" cy="2527499"/>
            <a:chOff x="144" y="1440"/>
            <a:chExt cx="2024" cy="1955"/>
          </a:xfrm>
        </p:grpSpPr>
        <p:sp>
          <p:nvSpPr>
            <p:cNvPr id="6" name="AutoShape 8"/>
            <p:cNvSpPr>
              <a:spLocks noChangeArrowheads="1"/>
            </p:cNvSpPr>
            <p:nvPr/>
          </p:nvSpPr>
          <p:spPr bwMode="auto">
            <a:xfrm>
              <a:off x="371" y="1622"/>
              <a:ext cx="1542" cy="1587"/>
            </a:xfrm>
            <a:prstGeom prst="diamond">
              <a:avLst/>
            </a:prstGeom>
            <a:noFill/>
            <a:ln w="28575">
              <a:solidFill>
                <a:srgbClr val="0000FF"/>
              </a:solidFill>
              <a:miter lim="800000"/>
              <a:headEnd/>
              <a:tailEnd/>
            </a:ln>
            <a:effectLst/>
          </p:spPr>
          <p:txBody>
            <a:bodyPr wrap="none" anchor="ctr"/>
            <a:lstStyle/>
            <a:p>
              <a:endParaRPr lang="zh-CN" altLang="en-US"/>
            </a:p>
          </p:txBody>
        </p:sp>
        <p:sp>
          <p:nvSpPr>
            <p:cNvPr id="7" name="Freeform 9"/>
            <p:cNvSpPr>
              <a:spLocks/>
            </p:cNvSpPr>
            <p:nvPr/>
          </p:nvSpPr>
          <p:spPr bwMode="auto">
            <a:xfrm>
              <a:off x="372" y="2417"/>
              <a:ext cx="1536" cy="3"/>
            </a:xfrm>
            <a:custGeom>
              <a:avLst/>
              <a:gdLst/>
              <a:ahLst/>
              <a:cxnLst>
                <a:cxn ang="0">
                  <a:pos x="0" y="0"/>
                </a:cxn>
                <a:cxn ang="0">
                  <a:pos x="1536" y="3"/>
                </a:cxn>
              </a:cxnLst>
              <a:rect l="0" t="0" r="r" b="b"/>
              <a:pathLst>
                <a:path w="1536" h="3">
                  <a:moveTo>
                    <a:pt x="0" y="0"/>
                  </a:moveTo>
                  <a:lnTo>
                    <a:pt x="1536" y="3"/>
                  </a:lnTo>
                </a:path>
              </a:pathLst>
            </a:custGeom>
            <a:noFill/>
            <a:ln w="28575" cmpd="sng">
              <a:solidFill>
                <a:srgbClr val="0000FF"/>
              </a:solidFill>
              <a:round/>
              <a:headEnd type="none" w="med" len="med"/>
              <a:tailEnd type="none" w="med" len="med"/>
            </a:ln>
            <a:effectLst/>
          </p:spPr>
          <p:txBody>
            <a:bodyPr/>
            <a:lstStyle/>
            <a:p>
              <a:endParaRPr lang="zh-CN" altLang="en-US"/>
            </a:p>
          </p:txBody>
        </p:sp>
        <p:sp>
          <p:nvSpPr>
            <p:cNvPr id="8" name="Freeform 10"/>
            <p:cNvSpPr>
              <a:spLocks/>
            </p:cNvSpPr>
            <p:nvPr/>
          </p:nvSpPr>
          <p:spPr bwMode="auto">
            <a:xfrm>
              <a:off x="1140" y="1631"/>
              <a:ext cx="3" cy="1578"/>
            </a:xfrm>
            <a:custGeom>
              <a:avLst/>
              <a:gdLst/>
              <a:ahLst/>
              <a:cxnLst>
                <a:cxn ang="0">
                  <a:pos x="3" y="0"/>
                </a:cxn>
                <a:cxn ang="0">
                  <a:pos x="0" y="1578"/>
                </a:cxn>
              </a:cxnLst>
              <a:rect l="0" t="0" r="r" b="b"/>
              <a:pathLst>
                <a:path w="3" h="1578">
                  <a:moveTo>
                    <a:pt x="3" y="0"/>
                  </a:moveTo>
                  <a:lnTo>
                    <a:pt x="0" y="1578"/>
                  </a:lnTo>
                </a:path>
              </a:pathLst>
            </a:custGeom>
            <a:noFill/>
            <a:ln w="28575" cmpd="sng">
              <a:solidFill>
                <a:srgbClr val="0000FF"/>
              </a:solidFill>
              <a:round/>
              <a:headEnd type="none" w="med" len="med"/>
              <a:tailEnd type="none" w="med" len="med"/>
            </a:ln>
            <a:effectLst/>
          </p:spPr>
          <p:txBody>
            <a:bodyPr/>
            <a:lstStyle/>
            <a:p>
              <a:endParaRPr lang="zh-CN" altLang="en-US"/>
            </a:p>
          </p:txBody>
        </p:sp>
        <p:sp>
          <p:nvSpPr>
            <p:cNvPr id="9" name="Text Box 11"/>
            <p:cNvSpPr txBox="1">
              <a:spLocks noChangeArrowheads="1"/>
            </p:cNvSpPr>
            <p:nvPr/>
          </p:nvSpPr>
          <p:spPr bwMode="auto">
            <a:xfrm>
              <a:off x="144" y="2302"/>
              <a:ext cx="300" cy="231"/>
            </a:xfrm>
            <a:prstGeom prst="rect">
              <a:avLst/>
            </a:prstGeom>
            <a:noFill/>
            <a:ln w="9525">
              <a:noFill/>
              <a:miter lim="800000"/>
              <a:headEnd/>
              <a:tailEnd/>
            </a:ln>
            <a:effectLst/>
          </p:spPr>
          <p:txBody>
            <a:bodyPr wrap="none">
              <a:spAutoFit/>
            </a:bodyPr>
            <a:lstStyle/>
            <a:p>
              <a:pPr algn="r"/>
              <a:r>
                <a:rPr kumimoji="0" lang="en-US" altLang="zh-CN" sz="1800">
                  <a:solidFill>
                    <a:srgbClr val="0000FF"/>
                  </a:solidFill>
                  <a:latin typeface="Arial" charset="0"/>
                </a:rPr>
                <a:t>N1</a:t>
              </a:r>
            </a:p>
          </p:txBody>
        </p:sp>
        <p:sp>
          <p:nvSpPr>
            <p:cNvPr id="10" name="Text Box 12"/>
            <p:cNvSpPr txBox="1">
              <a:spLocks noChangeArrowheads="1"/>
            </p:cNvSpPr>
            <p:nvPr/>
          </p:nvSpPr>
          <p:spPr bwMode="auto">
            <a:xfrm>
              <a:off x="1196" y="2075"/>
              <a:ext cx="292" cy="231"/>
            </a:xfrm>
            <a:prstGeom prst="rect">
              <a:avLst/>
            </a:prstGeom>
            <a:noFill/>
            <a:ln w="9525">
              <a:noFill/>
              <a:miter lim="800000"/>
              <a:headEnd/>
              <a:tailEnd/>
            </a:ln>
            <a:effectLst/>
          </p:spPr>
          <p:txBody>
            <a:bodyPr wrap="none">
              <a:spAutoFit/>
            </a:bodyPr>
            <a:lstStyle/>
            <a:p>
              <a:pPr algn="r"/>
              <a:r>
                <a:rPr kumimoji="0" lang="en-US" altLang="zh-CN" sz="1800">
                  <a:solidFill>
                    <a:srgbClr val="990000"/>
                  </a:solidFill>
                  <a:latin typeface="Arial" charset="0"/>
                </a:rPr>
                <a:t>B2</a:t>
              </a:r>
            </a:p>
          </p:txBody>
        </p:sp>
        <p:sp>
          <p:nvSpPr>
            <p:cNvPr id="11" name="Text Box 13"/>
            <p:cNvSpPr txBox="1">
              <a:spLocks noChangeArrowheads="1"/>
            </p:cNvSpPr>
            <p:nvPr/>
          </p:nvSpPr>
          <p:spPr bwMode="auto">
            <a:xfrm>
              <a:off x="1006" y="1440"/>
              <a:ext cx="300" cy="231"/>
            </a:xfrm>
            <a:prstGeom prst="rect">
              <a:avLst/>
            </a:prstGeom>
            <a:noFill/>
            <a:ln w="9525">
              <a:noFill/>
              <a:miter lim="800000"/>
              <a:headEnd/>
              <a:tailEnd/>
            </a:ln>
            <a:effectLst/>
          </p:spPr>
          <p:txBody>
            <a:bodyPr wrap="none">
              <a:spAutoFit/>
            </a:bodyPr>
            <a:lstStyle/>
            <a:p>
              <a:pPr algn="r"/>
              <a:r>
                <a:rPr kumimoji="0" lang="en-US" altLang="zh-CN" sz="1800" dirty="0">
                  <a:solidFill>
                    <a:srgbClr val="0000FF"/>
                  </a:solidFill>
                  <a:latin typeface="Arial" charset="0"/>
                </a:rPr>
                <a:t>N2</a:t>
              </a:r>
            </a:p>
          </p:txBody>
        </p:sp>
        <p:sp>
          <p:nvSpPr>
            <p:cNvPr id="12" name="Text Box 14"/>
            <p:cNvSpPr txBox="1">
              <a:spLocks noChangeArrowheads="1"/>
            </p:cNvSpPr>
            <p:nvPr/>
          </p:nvSpPr>
          <p:spPr bwMode="auto">
            <a:xfrm>
              <a:off x="1006" y="3164"/>
              <a:ext cx="300" cy="231"/>
            </a:xfrm>
            <a:prstGeom prst="rect">
              <a:avLst/>
            </a:prstGeom>
            <a:noFill/>
            <a:ln w="9525">
              <a:noFill/>
              <a:miter lim="800000"/>
              <a:headEnd/>
              <a:tailEnd/>
            </a:ln>
            <a:effectLst/>
          </p:spPr>
          <p:txBody>
            <a:bodyPr wrap="none">
              <a:spAutoFit/>
            </a:bodyPr>
            <a:lstStyle/>
            <a:p>
              <a:pPr algn="r"/>
              <a:r>
                <a:rPr kumimoji="0" lang="en-US" altLang="zh-CN" sz="1800">
                  <a:solidFill>
                    <a:srgbClr val="0000FF"/>
                  </a:solidFill>
                  <a:latin typeface="Arial" charset="0"/>
                </a:rPr>
                <a:t>N4</a:t>
              </a:r>
            </a:p>
          </p:txBody>
        </p:sp>
        <p:sp>
          <p:nvSpPr>
            <p:cNvPr id="13" name="Text Box 15"/>
            <p:cNvSpPr txBox="1">
              <a:spLocks noChangeArrowheads="1"/>
            </p:cNvSpPr>
            <p:nvPr/>
          </p:nvSpPr>
          <p:spPr bwMode="auto">
            <a:xfrm>
              <a:off x="1868" y="2302"/>
              <a:ext cx="300" cy="231"/>
            </a:xfrm>
            <a:prstGeom prst="rect">
              <a:avLst/>
            </a:prstGeom>
            <a:noFill/>
            <a:ln w="9525">
              <a:noFill/>
              <a:miter lim="800000"/>
              <a:headEnd/>
              <a:tailEnd/>
            </a:ln>
            <a:effectLst/>
          </p:spPr>
          <p:txBody>
            <a:bodyPr wrap="none">
              <a:spAutoFit/>
            </a:bodyPr>
            <a:lstStyle/>
            <a:p>
              <a:pPr algn="r"/>
              <a:r>
                <a:rPr kumimoji="0" lang="en-US" altLang="zh-CN" sz="1800">
                  <a:solidFill>
                    <a:srgbClr val="0000FF"/>
                  </a:solidFill>
                  <a:latin typeface="Arial" charset="0"/>
                </a:rPr>
                <a:t>N3</a:t>
              </a:r>
            </a:p>
          </p:txBody>
        </p:sp>
        <p:sp>
          <p:nvSpPr>
            <p:cNvPr id="14" name="Text Box 16"/>
            <p:cNvSpPr txBox="1">
              <a:spLocks noChangeArrowheads="1"/>
            </p:cNvSpPr>
            <p:nvPr/>
          </p:nvSpPr>
          <p:spPr bwMode="auto">
            <a:xfrm>
              <a:off x="742" y="2483"/>
              <a:ext cx="292" cy="231"/>
            </a:xfrm>
            <a:prstGeom prst="rect">
              <a:avLst/>
            </a:prstGeom>
            <a:noFill/>
            <a:ln w="9525">
              <a:noFill/>
              <a:miter lim="800000"/>
              <a:headEnd/>
              <a:tailEnd/>
            </a:ln>
            <a:effectLst/>
          </p:spPr>
          <p:txBody>
            <a:bodyPr wrap="none">
              <a:spAutoFit/>
            </a:bodyPr>
            <a:lstStyle/>
            <a:p>
              <a:pPr algn="r"/>
              <a:r>
                <a:rPr kumimoji="0" lang="en-US" altLang="zh-CN" sz="1800">
                  <a:solidFill>
                    <a:srgbClr val="990000"/>
                  </a:solidFill>
                  <a:latin typeface="Arial" charset="0"/>
                </a:rPr>
                <a:t>B3</a:t>
              </a:r>
            </a:p>
          </p:txBody>
        </p:sp>
        <p:sp>
          <p:nvSpPr>
            <p:cNvPr id="15" name="Text Box 17"/>
            <p:cNvSpPr txBox="1">
              <a:spLocks noChangeArrowheads="1"/>
            </p:cNvSpPr>
            <p:nvPr/>
          </p:nvSpPr>
          <p:spPr bwMode="auto">
            <a:xfrm>
              <a:off x="1213" y="2483"/>
              <a:ext cx="292" cy="231"/>
            </a:xfrm>
            <a:prstGeom prst="rect">
              <a:avLst/>
            </a:prstGeom>
            <a:noFill/>
            <a:ln w="9525">
              <a:noFill/>
              <a:miter lim="800000"/>
              <a:headEnd/>
              <a:tailEnd/>
            </a:ln>
            <a:effectLst/>
          </p:spPr>
          <p:txBody>
            <a:bodyPr wrap="none">
              <a:spAutoFit/>
            </a:bodyPr>
            <a:lstStyle/>
            <a:p>
              <a:pPr algn="r"/>
              <a:r>
                <a:rPr kumimoji="0" lang="en-US" altLang="zh-CN" sz="1800">
                  <a:solidFill>
                    <a:srgbClr val="990000"/>
                  </a:solidFill>
                  <a:latin typeface="Arial" charset="0"/>
                </a:rPr>
                <a:t>B4</a:t>
              </a:r>
            </a:p>
          </p:txBody>
        </p:sp>
        <p:sp>
          <p:nvSpPr>
            <p:cNvPr id="16" name="Text Box 18"/>
            <p:cNvSpPr txBox="1">
              <a:spLocks noChangeArrowheads="1"/>
            </p:cNvSpPr>
            <p:nvPr/>
          </p:nvSpPr>
          <p:spPr bwMode="auto">
            <a:xfrm>
              <a:off x="742" y="2075"/>
              <a:ext cx="292" cy="231"/>
            </a:xfrm>
            <a:prstGeom prst="rect">
              <a:avLst/>
            </a:prstGeom>
            <a:noFill/>
            <a:ln w="9525">
              <a:noFill/>
              <a:miter lim="800000"/>
              <a:headEnd/>
              <a:tailEnd/>
            </a:ln>
            <a:effectLst/>
          </p:spPr>
          <p:txBody>
            <a:bodyPr wrap="none">
              <a:spAutoFit/>
            </a:bodyPr>
            <a:lstStyle/>
            <a:p>
              <a:pPr algn="r"/>
              <a:r>
                <a:rPr kumimoji="0" lang="en-US" altLang="zh-CN" sz="1800">
                  <a:solidFill>
                    <a:srgbClr val="990000"/>
                  </a:solidFill>
                  <a:latin typeface="Arial" charset="0"/>
                </a:rPr>
                <a:t>B1</a:t>
              </a:r>
            </a:p>
          </p:txBody>
        </p:sp>
        <p:sp>
          <p:nvSpPr>
            <p:cNvPr id="17" name="Text Box 19"/>
            <p:cNvSpPr txBox="1">
              <a:spLocks noChangeArrowheads="1"/>
            </p:cNvSpPr>
            <p:nvPr/>
          </p:nvSpPr>
          <p:spPr bwMode="auto">
            <a:xfrm>
              <a:off x="624" y="1848"/>
              <a:ext cx="292" cy="231"/>
            </a:xfrm>
            <a:prstGeom prst="rect">
              <a:avLst/>
            </a:prstGeom>
            <a:solidFill>
              <a:schemeClr val="bg1"/>
            </a:solidFill>
            <a:ln w="9525">
              <a:noFill/>
              <a:miter lim="800000"/>
              <a:headEnd/>
              <a:tailEnd/>
            </a:ln>
            <a:effectLst/>
          </p:spPr>
          <p:txBody>
            <a:bodyPr wrap="none">
              <a:spAutoFit/>
            </a:bodyPr>
            <a:lstStyle/>
            <a:p>
              <a:r>
                <a:rPr kumimoji="0" lang="en-US" altLang="zh-CN" sz="1800" dirty="0">
                  <a:solidFill>
                    <a:srgbClr val="FF33CC"/>
                  </a:solidFill>
                  <a:latin typeface="Arial" charset="0"/>
                </a:rPr>
                <a:t>A1</a:t>
              </a:r>
            </a:p>
          </p:txBody>
        </p:sp>
        <p:sp>
          <p:nvSpPr>
            <p:cNvPr id="18" name="Text Box 20"/>
            <p:cNvSpPr txBox="1">
              <a:spLocks noChangeArrowheads="1"/>
            </p:cNvSpPr>
            <p:nvPr/>
          </p:nvSpPr>
          <p:spPr bwMode="auto">
            <a:xfrm>
              <a:off x="986" y="1848"/>
              <a:ext cx="292" cy="231"/>
            </a:xfrm>
            <a:prstGeom prst="rect">
              <a:avLst/>
            </a:prstGeom>
            <a:solidFill>
              <a:schemeClr val="bg1"/>
            </a:solidFill>
            <a:ln w="9525">
              <a:noFill/>
              <a:miter lim="800000"/>
              <a:headEnd/>
              <a:tailEnd/>
            </a:ln>
            <a:effectLst/>
          </p:spPr>
          <p:txBody>
            <a:bodyPr wrap="none">
              <a:spAutoFit/>
            </a:bodyPr>
            <a:lstStyle/>
            <a:p>
              <a:r>
                <a:rPr kumimoji="0" lang="en-US" altLang="zh-CN" sz="1800" dirty="0">
                  <a:solidFill>
                    <a:srgbClr val="FF33CC"/>
                  </a:solidFill>
                  <a:latin typeface="Arial" charset="0"/>
                </a:rPr>
                <a:t>A2</a:t>
              </a:r>
            </a:p>
          </p:txBody>
        </p:sp>
        <p:sp>
          <p:nvSpPr>
            <p:cNvPr id="19" name="Text Box 21"/>
            <p:cNvSpPr txBox="1">
              <a:spLocks noChangeArrowheads="1"/>
            </p:cNvSpPr>
            <p:nvPr/>
          </p:nvSpPr>
          <p:spPr bwMode="auto">
            <a:xfrm>
              <a:off x="1414" y="2298"/>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A6</a:t>
              </a:r>
            </a:p>
          </p:txBody>
        </p:sp>
        <p:sp>
          <p:nvSpPr>
            <p:cNvPr id="20" name="Text Box 22"/>
            <p:cNvSpPr txBox="1">
              <a:spLocks noChangeArrowheads="1"/>
            </p:cNvSpPr>
            <p:nvPr/>
          </p:nvSpPr>
          <p:spPr bwMode="auto">
            <a:xfrm>
              <a:off x="1324" y="1844"/>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A5</a:t>
              </a:r>
            </a:p>
          </p:txBody>
        </p:sp>
        <p:sp>
          <p:nvSpPr>
            <p:cNvPr id="21" name="Text Box 23"/>
            <p:cNvSpPr txBox="1">
              <a:spLocks noChangeArrowheads="1"/>
            </p:cNvSpPr>
            <p:nvPr/>
          </p:nvSpPr>
          <p:spPr bwMode="auto">
            <a:xfrm>
              <a:off x="624" y="2706"/>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A4</a:t>
              </a:r>
            </a:p>
          </p:txBody>
        </p:sp>
        <p:sp>
          <p:nvSpPr>
            <p:cNvPr id="22" name="Text Box 24"/>
            <p:cNvSpPr txBox="1">
              <a:spLocks noChangeArrowheads="1"/>
            </p:cNvSpPr>
            <p:nvPr/>
          </p:nvSpPr>
          <p:spPr bwMode="auto">
            <a:xfrm>
              <a:off x="507" y="2298"/>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A3</a:t>
              </a:r>
            </a:p>
          </p:txBody>
        </p:sp>
        <p:sp>
          <p:nvSpPr>
            <p:cNvPr id="23" name="Text Box 25"/>
            <p:cNvSpPr txBox="1">
              <a:spLocks noChangeArrowheads="1"/>
            </p:cNvSpPr>
            <p:nvPr/>
          </p:nvSpPr>
          <p:spPr bwMode="auto">
            <a:xfrm>
              <a:off x="986" y="2710"/>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A7</a:t>
              </a:r>
            </a:p>
          </p:txBody>
        </p:sp>
        <p:sp>
          <p:nvSpPr>
            <p:cNvPr id="24" name="Text Box 26"/>
            <p:cNvSpPr txBox="1">
              <a:spLocks noChangeArrowheads="1"/>
            </p:cNvSpPr>
            <p:nvPr/>
          </p:nvSpPr>
          <p:spPr bwMode="auto">
            <a:xfrm>
              <a:off x="1324" y="2710"/>
              <a:ext cx="292"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FF33CC"/>
                  </a:solidFill>
                  <a:latin typeface="Arial" charset="0"/>
                </a:rPr>
                <a:t>A8</a:t>
              </a:r>
            </a:p>
          </p:txBody>
        </p:sp>
        <p:sp>
          <p:nvSpPr>
            <p:cNvPr id="25" name="Text Box 27"/>
            <p:cNvSpPr txBox="1">
              <a:spLocks noChangeArrowheads="1"/>
            </p:cNvSpPr>
            <p:nvPr/>
          </p:nvSpPr>
          <p:spPr bwMode="auto">
            <a:xfrm>
              <a:off x="978" y="2302"/>
              <a:ext cx="300" cy="231"/>
            </a:xfrm>
            <a:prstGeom prst="rect">
              <a:avLst/>
            </a:prstGeom>
            <a:solidFill>
              <a:schemeClr val="bg1"/>
            </a:solidFill>
            <a:ln w="9525">
              <a:noFill/>
              <a:miter lim="800000"/>
              <a:headEnd/>
              <a:tailEnd/>
            </a:ln>
            <a:effectLst/>
          </p:spPr>
          <p:txBody>
            <a:bodyPr wrap="none">
              <a:spAutoFit/>
            </a:bodyPr>
            <a:lstStyle/>
            <a:p>
              <a:r>
                <a:rPr kumimoji="0" lang="en-US" altLang="zh-CN" sz="1800">
                  <a:solidFill>
                    <a:srgbClr val="0000FF"/>
                  </a:solidFill>
                  <a:latin typeface="Arial" charset="0"/>
                </a:rPr>
                <a:t>N5</a:t>
              </a:r>
            </a:p>
          </p:txBody>
        </p:sp>
      </p:grpSp>
      <p:pic>
        <p:nvPicPr>
          <p:cNvPr id="3" name="图片 2"/>
          <p:cNvPicPr>
            <a:picLocks noChangeAspect="1"/>
          </p:cNvPicPr>
          <p:nvPr/>
        </p:nvPicPr>
        <p:blipFill>
          <a:blip r:embed="rId3"/>
          <a:stretch>
            <a:fillRect/>
          </a:stretch>
        </p:blipFill>
        <p:spPr>
          <a:xfrm>
            <a:off x="5036497" y="3819106"/>
            <a:ext cx="2775863" cy="2870329"/>
          </a:xfrm>
          <a:prstGeom prst="rect">
            <a:avLst/>
          </a:prstGeom>
        </p:spPr>
      </p:pic>
    </p:spTree>
    <p:extLst>
      <p:ext uri="{BB962C8B-B14F-4D97-AF65-F5344CB8AC3E}">
        <p14:creationId xmlns:p14="http://schemas.microsoft.com/office/powerpoint/2010/main" val="3874877554"/>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4"/>
          <p:cNvSpPr txBox="1">
            <a:spLocks noChangeArrowheads="1"/>
          </p:cNvSpPr>
          <p:nvPr/>
        </p:nvSpPr>
        <p:spPr bwMode="auto">
          <a:xfrm>
            <a:off x="522288" y="116632"/>
            <a:ext cx="8370192"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Wingdings" panose="05000000000000000000" pitchFamily="2" charset="2"/>
              <a:buNone/>
            </a:pPr>
            <a:r>
              <a:rPr lang="zh-CN" altLang="en-US" sz="4000" dirty="0">
                <a:solidFill>
                  <a:srgbClr val="FFFF00"/>
                </a:solidFill>
                <a:latin typeface="Times New Roman" panose="02020603050405020304" pitchFamily="18" charset="0"/>
              </a:rPr>
              <a:t>目   录 </a:t>
            </a: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62</a:t>
            </a:fld>
            <a:endParaRPr lang="en-US" altLang="zh-CN"/>
          </a:p>
        </p:txBody>
      </p:sp>
      <p:sp>
        <p:nvSpPr>
          <p:cNvPr id="5" name="Text Box 4"/>
          <p:cNvSpPr txBox="1">
            <a:spLocks noChangeArrowheads="1"/>
          </p:cNvSpPr>
          <p:nvPr/>
        </p:nvSpPr>
        <p:spPr bwMode="auto">
          <a:xfrm>
            <a:off x="1331640" y="1710308"/>
            <a:ext cx="5167312" cy="349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None/>
            </a:pPr>
            <a:r>
              <a:rPr lang="en-US" altLang="zh-CN" dirty="0">
                <a:latin typeface="Times New Roman" panose="02020603050405020304" pitchFamily="18" charset="0"/>
              </a:rPr>
              <a:t>2.1  </a:t>
            </a:r>
            <a:r>
              <a:rPr lang="zh-CN" altLang="en-US" dirty="0">
                <a:latin typeface="Times New Roman" panose="02020603050405020304" pitchFamily="18" charset="0"/>
              </a:rPr>
              <a:t>地理学定律</a:t>
            </a:r>
            <a:endParaRPr lang="en-US" altLang="zh-CN" dirty="0">
              <a:latin typeface="Times New Roman" panose="02020603050405020304" pitchFamily="18" charset="0"/>
            </a:endParaRPr>
          </a:p>
          <a:p>
            <a:pPr>
              <a:spcBef>
                <a:spcPct val="50000"/>
              </a:spcBef>
              <a:buClrTx/>
              <a:buSzTx/>
              <a:buNone/>
            </a:pPr>
            <a:r>
              <a:rPr lang="en-US" altLang="zh-CN" dirty="0">
                <a:latin typeface="Times New Roman" panose="02020603050405020304" pitchFamily="18" charset="0"/>
              </a:rPr>
              <a:t>2.2  </a:t>
            </a:r>
            <a:r>
              <a:rPr lang="zh-CN" altLang="en-US" dirty="0">
                <a:latin typeface="Times New Roman" panose="02020603050405020304" pitchFamily="18" charset="0"/>
              </a:rPr>
              <a:t>空间关系理论</a:t>
            </a:r>
          </a:p>
          <a:p>
            <a:pPr>
              <a:spcBef>
                <a:spcPct val="50000"/>
              </a:spcBef>
              <a:buClrTx/>
              <a:buSzTx/>
              <a:buNone/>
            </a:pPr>
            <a:r>
              <a:rPr lang="en-US" altLang="zh-CN" dirty="0">
                <a:latin typeface="Times New Roman" panose="02020603050405020304" pitchFamily="18" charset="0"/>
              </a:rPr>
              <a:t>2.3  </a:t>
            </a:r>
            <a:r>
              <a:rPr lang="zh-CN" altLang="en-US" dirty="0">
                <a:latin typeface="Times New Roman" panose="02020603050405020304" pitchFamily="18" charset="0"/>
              </a:rPr>
              <a:t>空间认知理论</a:t>
            </a:r>
            <a:endParaRPr lang="zh-CN" altLang="en-US" b="0" dirty="0">
              <a:latin typeface="Times New Roman" panose="02020603050405020304" pitchFamily="18" charset="0"/>
            </a:endParaRPr>
          </a:p>
          <a:p>
            <a:pPr>
              <a:spcBef>
                <a:spcPct val="50000"/>
              </a:spcBef>
              <a:buClrTx/>
              <a:buSzTx/>
              <a:buNone/>
            </a:pPr>
            <a:r>
              <a:rPr lang="en-US" altLang="zh-CN" dirty="0">
                <a:latin typeface="Times New Roman" panose="02020603050405020304" pitchFamily="18" charset="0"/>
              </a:rPr>
              <a:t>2.4  </a:t>
            </a:r>
            <a:r>
              <a:rPr lang="zh-CN" altLang="en-US" dirty="0">
                <a:latin typeface="Times New Roman" panose="02020603050405020304" pitchFamily="18" charset="0"/>
              </a:rPr>
              <a:t>空间推理理论</a:t>
            </a:r>
            <a:endParaRPr lang="en-US" altLang="zh-CN" dirty="0">
              <a:latin typeface="Times New Roman" panose="02020603050405020304" pitchFamily="18" charset="0"/>
            </a:endParaRPr>
          </a:p>
          <a:p>
            <a:pPr marL="0" lvl="1" indent="0">
              <a:spcBef>
                <a:spcPct val="50000"/>
              </a:spcBef>
              <a:buNone/>
            </a:pPr>
            <a:r>
              <a:rPr lang="en-US" altLang="zh-CN" sz="3200" dirty="0">
                <a:solidFill>
                  <a:srgbClr val="0000CC"/>
                </a:solidFill>
                <a:latin typeface="Times New Roman" panose="02020603050405020304" pitchFamily="18" charset="0"/>
              </a:rPr>
              <a:t>2.5  </a:t>
            </a:r>
            <a:r>
              <a:rPr lang="zh-CN" altLang="en-US" sz="3200" dirty="0">
                <a:solidFill>
                  <a:srgbClr val="0000CC"/>
                </a:solidFill>
                <a:latin typeface="Times New Roman" panose="02020603050405020304" pitchFamily="18" charset="0"/>
              </a:rPr>
              <a:t>空间不确定性理论</a:t>
            </a:r>
          </a:p>
        </p:txBody>
      </p:sp>
    </p:spTree>
    <p:extLst>
      <p:ext uri="{BB962C8B-B14F-4D97-AF65-F5344CB8AC3E}">
        <p14:creationId xmlns:p14="http://schemas.microsoft.com/office/powerpoint/2010/main" val="1917177243"/>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Text Box 2"/>
          <p:cNvSpPr txBox="1">
            <a:spLocks noChangeArrowheads="1"/>
          </p:cNvSpPr>
          <p:nvPr/>
        </p:nvSpPr>
        <p:spPr bwMode="auto">
          <a:xfrm>
            <a:off x="107504" y="93664"/>
            <a:ext cx="7272337"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marL="457200" indent="-457200">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0" lvl="1" eaLnBrk="1" hangingPunct="1">
              <a:spcBef>
                <a:spcPct val="0"/>
              </a:spcBef>
              <a:buFontTx/>
              <a:buNone/>
            </a:pPr>
            <a:r>
              <a:rPr lang="en-US" altLang="zh-CN" sz="3600" dirty="0">
                <a:solidFill>
                  <a:srgbClr val="FFFF00"/>
                </a:solidFill>
                <a:latin typeface="Times New Roman" panose="02020603050405020304" pitchFamily="18" charset="0"/>
              </a:rPr>
              <a:t>2.5   </a:t>
            </a:r>
            <a:r>
              <a:rPr lang="zh-CN" altLang="en-US" sz="3600" dirty="0">
                <a:solidFill>
                  <a:srgbClr val="FFFF00"/>
                </a:solidFill>
                <a:latin typeface="Times New Roman" panose="02020603050405020304" pitchFamily="18" charset="0"/>
              </a:rPr>
              <a:t>空间不确定性理论</a:t>
            </a:r>
            <a:endParaRPr lang="zh-CN" altLang="en-US" sz="3600" b="0" dirty="0">
              <a:solidFill>
                <a:srgbClr val="FFFF00"/>
              </a:solidFill>
              <a:latin typeface="Times New Roman" panose="02020603050405020304" pitchFamily="18" charset="0"/>
            </a:endParaRPr>
          </a:p>
        </p:txBody>
      </p:sp>
      <p:sp>
        <p:nvSpPr>
          <p:cNvPr id="141316" name="Text Box 4"/>
          <p:cNvSpPr txBox="1">
            <a:spLocks noChangeArrowheads="1"/>
          </p:cNvSpPr>
          <p:nvPr/>
        </p:nvSpPr>
        <p:spPr bwMode="auto">
          <a:xfrm>
            <a:off x="248169" y="1700417"/>
            <a:ext cx="8589963"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FF00"/>
              </a:buClr>
              <a:buSzTx/>
              <a:buNone/>
            </a:pPr>
            <a:r>
              <a:rPr lang="zh-CN" altLang="en-US" sz="2800" b="0" dirty="0">
                <a:solidFill>
                  <a:srgbClr val="0000CC"/>
                </a:solidFill>
                <a:latin typeface="Times New Roman" panose="02020603050405020304" pitchFamily="18" charset="0"/>
              </a:rPr>
              <a:t>测量界</a:t>
            </a:r>
            <a:r>
              <a:rPr lang="zh-CN" altLang="en-US" sz="2800" b="0" dirty="0">
                <a:latin typeface="Times New Roman" panose="02020603050405020304" pitchFamily="18" charset="0"/>
              </a:rPr>
              <a:t>采用</a:t>
            </a:r>
            <a:r>
              <a:rPr lang="zh-CN" altLang="en-US" sz="2800" b="0" dirty="0">
                <a:solidFill>
                  <a:srgbClr val="0000CC"/>
                </a:solidFill>
                <a:latin typeface="Times New Roman" panose="02020603050405020304" pitchFamily="18" charset="0"/>
              </a:rPr>
              <a:t>误差</a:t>
            </a:r>
            <a:r>
              <a:rPr lang="zh-CN" altLang="en-US" sz="2800" b="0" dirty="0">
                <a:latin typeface="Times New Roman" panose="02020603050405020304" pitchFamily="18" charset="0"/>
              </a:rPr>
              <a:t>这一概念。</a:t>
            </a:r>
          </a:p>
          <a:p>
            <a:pPr eaLnBrk="1" hangingPunct="1">
              <a:spcBef>
                <a:spcPct val="50000"/>
              </a:spcBef>
              <a:buClr>
                <a:srgbClr val="FFFF00"/>
              </a:buClr>
              <a:buSzTx/>
              <a:buNone/>
            </a:pPr>
            <a:r>
              <a:rPr lang="zh-CN" altLang="en-US" sz="2800" b="0" dirty="0">
                <a:solidFill>
                  <a:srgbClr val="0000CC"/>
                </a:solidFill>
                <a:latin typeface="Times New Roman" panose="02020603050405020304" pitchFamily="18" charset="0"/>
              </a:rPr>
              <a:t>误差</a:t>
            </a:r>
            <a:r>
              <a:rPr lang="zh-CN" altLang="en-US" sz="2800" b="0" dirty="0">
                <a:latin typeface="Times New Roman" panose="02020603050405020304" pitchFamily="18" charset="0"/>
              </a:rPr>
              <a:t>指统计意义下的偏差或错误，主要包括</a:t>
            </a:r>
            <a:r>
              <a:rPr lang="zh-CN" altLang="en-US" sz="2800" b="0" dirty="0">
                <a:solidFill>
                  <a:schemeClr val="accent2"/>
                </a:solidFill>
                <a:latin typeface="Times New Roman" panose="02020603050405020304" pitchFamily="18" charset="0"/>
              </a:rPr>
              <a:t>系统误差</a:t>
            </a:r>
            <a:r>
              <a:rPr lang="zh-CN" altLang="en-US" sz="2800" b="0" dirty="0">
                <a:latin typeface="Times New Roman" panose="02020603050405020304" pitchFamily="18" charset="0"/>
              </a:rPr>
              <a:t>、</a:t>
            </a:r>
            <a:r>
              <a:rPr lang="zh-CN" altLang="en-US" sz="2800" b="0" dirty="0">
                <a:solidFill>
                  <a:schemeClr val="accent2"/>
                </a:solidFill>
                <a:latin typeface="Times New Roman" panose="02020603050405020304" pitchFamily="18" charset="0"/>
              </a:rPr>
              <a:t>随机误差</a:t>
            </a:r>
            <a:r>
              <a:rPr lang="zh-CN" altLang="en-US" sz="2800" b="0" dirty="0">
                <a:latin typeface="Times New Roman" panose="02020603050405020304" pitchFamily="18" charset="0"/>
              </a:rPr>
              <a:t>和</a:t>
            </a:r>
            <a:r>
              <a:rPr lang="zh-CN" altLang="en-US" sz="2800" b="0" dirty="0">
                <a:solidFill>
                  <a:schemeClr val="accent2"/>
                </a:solidFill>
                <a:latin typeface="Times New Roman" panose="02020603050405020304" pitchFamily="18" charset="0"/>
              </a:rPr>
              <a:t>粗差</a:t>
            </a:r>
            <a:r>
              <a:rPr lang="zh-CN" altLang="en-US" sz="2800" b="0" dirty="0">
                <a:latin typeface="Times New Roman" panose="02020603050405020304" pitchFamily="18" charset="0"/>
              </a:rPr>
              <a:t>。</a:t>
            </a:r>
            <a:endParaRPr lang="zh-CN" altLang="en-US" sz="2800" b="0" dirty="0">
              <a:solidFill>
                <a:srgbClr val="0000CC"/>
              </a:solidFill>
              <a:latin typeface="Times New Roman" panose="02020603050405020304" pitchFamily="18" charset="0"/>
            </a:endParaRPr>
          </a:p>
        </p:txBody>
      </p:sp>
      <p:sp>
        <p:nvSpPr>
          <p:cNvPr id="141317" name="Text Box 5"/>
          <p:cNvSpPr txBox="1">
            <a:spLocks noChangeArrowheads="1"/>
          </p:cNvSpPr>
          <p:nvPr/>
        </p:nvSpPr>
        <p:spPr bwMode="auto">
          <a:xfrm>
            <a:off x="348182" y="5586129"/>
            <a:ext cx="84899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Wingdings" panose="05000000000000000000" pitchFamily="2" charset="2"/>
              <a:buChar char="Ø"/>
            </a:pPr>
            <a:r>
              <a:rPr lang="zh-CN" altLang="en-US" sz="2800" b="0" dirty="0">
                <a:solidFill>
                  <a:srgbClr val="0000CC"/>
                </a:solidFill>
                <a:latin typeface="Times New Roman" panose="02020603050405020304" pitchFamily="18" charset="0"/>
              </a:rPr>
              <a:t>不确定性</a:t>
            </a:r>
            <a:r>
              <a:rPr lang="zh-CN" altLang="en-US" sz="2800" b="0" dirty="0">
                <a:latin typeface="Times New Roman" panose="02020603050405020304" pitchFamily="18" charset="0"/>
              </a:rPr>
              <a:t>是指被测量对象知识缺乏的程度，通常表现为</a:t>
            </a:r>
            <a:r>
              <a:rPr lang="zh-CN" altLang="en-US" sz="2800" b="0" dirty="0">
                <a:solidFill>
                  <a:srgbClr val="0000CC"/>
                </a:solidFill>
                <a:latin typeface="Times New Roman" panose="02020603050405020304" pitchFamily="18" charset="0"/>
              </a:rPr>
              <a:t>随机性</a:t>
            </a:r>
            <a:r>
              <a:rPr lang="zh-CN" altLang="en-US" sz="2800" b="0" dirty="0">
                <a:latin typeface="Times New Roman" panose="02020603050405020304" pitchFamily="18" charset="0"/>
              </a:rPr>
              <a:t>和</a:t>
            </a:r>
            <a:r>
              <a:rPr lang="zh-CN" altLang="en-US" sz="2800" b="0" dirty="0">
                <a:solidFill>
                  <a:srgbClr val="0000CC"/>
                </a:solidFill>
                <a:latin typeface="Times New Roman" panose="02020603050405020304" pitchFamily="18" charset="0"/>
              </a:rPr>
              <a:t>模糊性</a:t>
            </a:r>
            <a:r>
              <a:rPr lang="zh-CN" altLang="en-US" sz="2800" b="0" dirty="0">
                <a:latin typeface="Times New Roman" panose="02020603050405020304" pitchFamily="18" charset="0"/>
              </a:rPr>
              <a:t>。 </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63</a:t>
            </a:fld>
            <a:endParaRPr lang="en-US" altLang="zh-CN"/>
          </a:p>
        </p:txBody>
      </p:sp>
      <p:sp>
        <p:nvSpPr>
          <p:cNvPr id="6" name="Text Box 2"/>
          <p:cNvSpPr txBox="1">
            <a:spLocks noChangeArrowheads="1"/>
          </p:cNvSpPr>
          <p:nvPr/>
        </p:nvSpPr>
        <p:spPr bwMode="auto">
          <a:xfrm>
            <a:off x="267208" y="1004044"/>
            <a:ext cx="3672409"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marL="457200" indent="-457200">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0" lvl="1" eaLnBrk="1" hangingPunct="1">
              <a:spcBef>
                <a:spcPct val="0"/>
              </a:spcBef>
              <a:buFontTx/>
              <a:buNone/>
            </a:pPr>
            <a:r>
              <a:rPr lang="en-US" altLang="zh-CN" sz="3200" b="0" dirty="0">
                <a:solidFill>
                  <a:srgbClr val="0000CC"/>
                </a:solidFill>
                <a:latin typeface="Times New Roman" panose="02020603050405020304" pitchFamily="18" charset="0"/>
              </a:rPr>
              <a:t>2.5.1   </a:t>
            </a:r>
            <a:r>
              <a:rPr lang="zh-CN" altLang="en-US" sz="3200" b="0" dirty="0">
                <a:solidFill>
                  <a:srgbClr val="0000CC"/>
                </a:solidFill>
                <a:latin typeface="Times New Roman" panose="02020603050405020304" pitchFamily="18" charset="0"/>
              </a:rPr>
              <a:t>不确定性 </a:t>
            </a:r>
          </a:p>
        </p:txBody>
      </p:sp>
      <p:sp>
        <p:nvSpPr>
          <p:cNvPr id="7" name="Text Box 4"/>
          <p:cNvSpPr txBox="1">
            <a:spLocks noChangeArrowheads="1"/>
          </p:cNvSpPr>
          <p:nvPr/>
        </p:nvSpPr>
        <p:spPr bwMode="auto">
          <a:xfrm>
            <a:off x="298175" y="3859638"/>
            <a:ext cx="8589963"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FF00"/>
              </a:buClr>
              <a:buSzTx/>
              <a:buNone/>
            </a:pPr>
            <a:r>
              <a:rPr lang="zh-CN" altLang="en-US" sz="2800" b="0" dirty="0">
                <a:solidFill>
                  <a:srgbClr val="0000CC"/>
                </a:solidFill>
                <a:latin typeface="Times New Roman" panose="02020603050405020304" pitchFamily="18" charset="0"/>
              </a:rPr>
              <a:t>“不确定性</a:t>
            </a:r>
            <a:r>
              <a:rPr lang="en-US" altLang="zh-CN" sz="2800" b="0" dirty="0">
                <a:solidFill>
                  <a:srgbClr val="0000CC"/>
                </a:solidFill>
                <a:latin typeface="Times New Roman" panose="02020603050405020304" pitchFamily="18" charset="0"/>
              </a:rPr>
              <a:t>(uncertainty)”</a:t>
            </a:r>
            <a:r>
              <a:rPr lang="zh-CN" altLang="en-US" sz="2800" b="0" dirty="0">
                <a:solidFill>
                  <a:srgbClr val="0000CC"/>
                </a:solidFill>
                <a:latin typeface="Times New Roman" panose="02020603050405020304" pitchFamily="18" charset="0"/>
              </a:rPr>
              <a:t>是一个比“误差”更广义、更抽象的概念。</a:t>
            </a:r>
          </a:p>
        </p:txBody>
      </p:sp>
    </p:spTree>
    <p:extLst>
      <p:ext uri="{BB962C8B-B14F-4D97-AF65-F5344CB8AC3E}">
        <p14:creationId xmlns:p14="http://schemas.microsoft.com/office/powerpoint/2010/main" val="6179462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1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7" grpId="0"/>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Text Box 2"/>
          <p:cNvSpPr txBox="1">
            <a:spLocks noChangeArrowheads="1"/>
          </p:cNvSpPr>
          <p:nvPr/>
        </p:nvSpPr>
        <p:spPr bwMode="auto">
          <a:xfrm>
            <a:off x="295011" y="1752412"/>
            <a:ext cx="302433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dirty="0">
                <a:solidFill>
                  <a:srgbClr val="0000CC"/>
                </a:solidFill>
                <a:latin typeface="Times New Roman" panose="02020603050405020304" pitchFamily="18" charset="0"/>
              </a:rPr>
              <a:t>1</a:t>
            </a:r>
            <a:r>
              <a:rPr lang="zh-CN" altLang="en-US" sz="2800" dirty="0">
                <a:solidFill>
                  <a:srgbClr val="0000CC"/>
                </a:solidFill>
                <a:latin typeface="Times New Roman" panose="02020603050405020304" pitchFamily="18" charset="0"/>
              </a:rPr>
              <a:t>）随机性</a:t>
            </a:r>
            <a:endParaRPr lang="zh-CN" altLang="en-US" sz="2800" b="0" dirty="0">
              <a:solidFill>
                <a:srgbClr val="0000CC"/>
              </a:solidFill>
              <a:latin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64</a:t>
            </a:fld>
            <a:endParaRPr lang="en-US" altLang="zh-CN"/>
          </a:p>
        </p:txBody>
      </p:sp>
      <p:sp>
        <p:nvSpPr>
          <p:cNvPr id="4" name="Text Box 2"/>
          <p:cNvSpPr txBox="1">
            <a:spLocks noChangeArrowheads="1"/>
          </p:cNvSpPr>
          <p:nvPr/>
        </p:nvSpPr>
        <p:spPr bwMode="auto">
          <a:xfrm>
            <a:off x="181881" y="2636912"/>
            <a:ext cx="2936219"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FF00"/>
              </a:buClr>
              <a:buSzTx/>
              <a:buFont typeface="Wingdings" panose="05000000000000000000" pitchFamily="2" charset="2"/>
              <a:buNone/>
            </a:pPr>
            <a:r>
              <a:rPr lang="zh-CN" altLang="en-US" sz="2800" dirty="0">
                <a:solidFill>
                  <a:srgbClr val="0000CC"/>
                </a:solidFill>
                <a:latin typeface="Times New Roman" panose="02020603050405020304" pitchFamily="18" charset="0"/>
              </a:rPr>
              <a:t>掷骰子、仍硬币</a:t>
            </a:r>
            <a:r>
              <a:rPr lang="en-US" altLang="zh-CN" sz="2800" dirty="0">
                <a:solidFill>
                  <a:srgbClr val="0000CC"/>
                </a:solidFill>
                <a:latin typeface="Times New Roman" panose="02020603050405020304" pitchFamily="18" charset="0"/>
              </a:rPr>
              <a:t>:</a:t>
            </a:r>
            <a:endParaRPr lang="zh-CN" altLang="en-US" sz="2800" b="0" dirty="0">
              <a:latin typeface="Times New Roman" panose="02020603050405020304" pitchFamily="18" charset="0"/>
            </a:endParaRPr>
          </a:p>
        </p:txBody>
      </p:sp>
      <p:sp>
        <p:nvSpPr>
          <p:cNvPr id="5" name="Text Box 2"/>
          <p:cNvSpPr txBox="1">
            <a:spLocks noChangeArrowheads="1"/>
          </p:cNvSpPr>
          <p:nvPr/>
        </p:nvSpPr>
        <p:spPr bwMode="auto">
          <a:xfrm>
            <a:off x="107504" y="93664"/>
            <a:ext cx="7272337"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marL="457200" indent="-457200">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0" lvl="1" eaLnBrk="1" hangingPunct="1">
              <a:spcBef>
                <a:spcPct val="0"/>
              </a:spcBef>
              <a:buFontTx/>
              <a:buNone/>
            </a:pPr>
            <a:r>
              <a:rPr lang="en-US" altLang="zh-CN" sz="3600" dirty="0">
                <a:solidFill>
                  <a:srgbClr val="FFFF00"/>
                </a:solidFill>
                <a:latin typeface="Times New Roman" panose="02020603050405020304" pitchFamily="18" charset="0"/>
              </a:rPr>
              <a:t>2.5   </a:t>
            </a:r>
            <a:r>
              <a:rPr lang="zh-CN" altLang="en-US" sz="3600" dirty="0">
                <a:solidFill>
                  <a:srgbClr val="FFFF00"/>
                </a:solidFill>
                <a:latin typeface="Times New Roman" panose="02020603050405020304" pitchFamily="18" charset="0"/>
              </a:rPr>
              <a:t>空间不确定性理论</a:t>
            </a:r>
            <a:endParaRPr lang="zh-CN" altLang="en-US" sz="3600" b="0" dirty="0">
              <a:solidFill>
                <a:srgbClr val="FFFF00"/>
              </a:solidFill>
              <a:latin typeface="Times New Roman" panose="02020603050405020304" pitchFamily="18" charset="0"/>
            </a:endParaRPr>
          </a:p>
        </p:txBody>
      </p:sp>
      <p:sp>
        <p:nvSpPr>
          <p:cNvPr id="6" name="Text Box 2"/>
          <p:cNvSpPr txBox="1">
            <a:spLocks noChangeArrowheads="1"/>
          </p:cNvSpPr>
          <p:nvPr/>
        </p:nvSpPr>
        <p:spPr bwMode="auto">
          <a:xfrm>
            <a:off x="267208" y="1004044"/>
            <a:ext cx="3672409"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marL="457200" indent="-457200">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0" lvl="1" eaLnBrk="1" hangingPunct="1">
              <a:spcBef>
                <a:spcPct val="0"/>
              </a:spcBef>
              <a:buFontTx/>
              <a:buNone/>
            </a:pPr>
            <a:r>
              <a:rPr lang="en-US" altLang="zh-CN" sz="3200" dirty="0">
                <a:solidFill>
                  <a:srgbClr val="0000CC"/>
                </a:solidFill>
                <a:latin typeface="Times New Roman" panose="02020603050405020304" pitchFamily="18" charset="0"/>
              </a:rPr>
              <a:t>2.5.1   </a:t>
            </a:r>
            <a:r>
              <a:rPr lang="zh-CN" altLang="en-US" sz="3200" dirty="0">
                <a:solidFill>
                  <a:srgbClr val="0000CC"/>
                </a:solidFill>
                <a:latin typeface="Times New Roman" panose="02020603050405020304" pitchFamily="18" charset="0"/>
              </a:rPr>
              <a:t>不确定性 </a:t>
            </a:r>
          </a:p>
        </p:txBody>
      </p:sp>
      <p:sp>
        <p:nvSpPr>
          <p:cNvPr id="7" name="Text Box 2"/>
          <p:cNvSpPr txBox="1">
            <a:spLocks noChangeArrowheads="1"/>
          </p:cNvSpPr>
          <p:nvPr/>
        </p:nvSpPr>
        <p:spPr bwMode="auto">
          <a:xfrm>
            <a:off x="114537" y="4959909"/>
            <a:ext cx="8784976" cy="107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Aft>
                <a:spcPts val="600"/>
              </a:spcAft>
              <a:buClr>
                <a:srgbClr val="FFFF00"/>
              </a:buClr>
              <a:buSzTx/>
              <a:buNone/>
            </a:pPr>
            <a:r>
              <a:rPr lang="zh-CN" altLang="en-US" sz="2800" b="0" dirty="0">
                <a:solidFill>
                  <a:srgbClr val="0000CC"/>
                </a:solidFill>
                <a:latin typeface="Times New Roman" panose="02020603050405020304" pitchFamily="18" charset="0"/>
              </a:rPr>
              <a:t>随机性：</a:t>
            </a:r>
            <a:r>
              <a:rPr lang="zh-CN" altLang="en-US" sz="2800" b="0" dirty="0">
                <a:latin typeface="Times New Roman" panose="02020603050405020304" pitchFamily="18" charset="0"/>
              </a:rPr>
              <a:t>随机性也使得这个世界丰富多彩，魅力无穷。</a:t>
            </a:r>
            <a:endParaRPr lang="en-US" altLang="zh-CN" sz="2800" b="0" dirty="0">
              <a:latin typeface="Times New Roman" panose="02020603050405020304" pitchFamily="18" charset="0"/>
            </a:endParaRPr>
          </a:p>
          <a:p>
            <a:pPr eaLnBrk="1" hangingPunct="1">
              <a:spcAft>
                <a:spcPts val="600"/>
              </a:spcAft>
              <a:buClr>
                <a:srgbClr val="FFFF00"/>
              </a:buClr>
              <a:buSzTx/>
              <a:buNone/>
            </a:pPr>
            <a:r>
              <a:rPr lang="zh-CN" altLang="en-US" sz="2800" b="0" dirty="0">
                <a:solidFill>
                  <a:schemeClr val="accent2"/>
                </a:solidFill>
                <a:latin typeface="Times New Roman" panose="02020603050405020304" pitchFamily="18" charset="0"/>
              </a:rPr>
              <a:t>社会、历史，乃至每个人的生活也都充满了随机性。</a:t>
            </a:r>
          </a:p>
        </p:txBody>
      </p:sp>
      <p:pic>
        <p:nvPicPr>
          <p:cNvPr id="3" name="图片 2"/>
          <p:cNvPicPr>
            <a:picLocks noChangeAspect="1"/>
          </p:cNvPicPr>
          <p:nvPr/>
        </p:nvPicPr>
        <p:blipFill>
          <a:blip r:embed="rId3"/>
          <a:stretch>
            <a:fillRect/>
          </a:stretch>
        </p:blipFill>
        <p:spPr>
          <a:xfrm>
            <a:off x="3203848" y="1344984"/>
            <a:ext cx="3314184" cy="1768963"/>
          </a:xfrm>
          <a:prstGeom prst="rect">
            <a:avLst/>
          </a:prstGeom>
        </p:spPr>
      </p:pic>
      <p:pic>
        <p:nvPicPr>
          <p:cNvPr id="8" name="图片 7"/>
          <p:cNvPicPr>
            <a:picLocks noChangeAspect="1"/>
          </p:cNvPicPr>
          <p:nvPr/>
        </p:nvPicPr>
        <p:blipFill>
          <a:blip r:embed="rId4"/>
          <a:stretch>
            <a:fillRect/>
          </a:stretch>
        </p:blipFill>
        <p:spPr>
          <a:xfrm>
            <a:off x="6380973" y="1344984"/>
            <a:ext cx="2609795" cy="1768963"/>
          </a:xfrm>
          <a:prstGeom prst="rect">
            <a:avLst/>
          </a:prstGeom>
        </p:spPr>
      </p:pic>
      <p:sp>
        <p:nvSpPr>
          <p:cNvPr id="10" name="Text Box 2"/>
          <p:cNvSpPr txBox="1">
            <a:spLocks noChangeArrowheads="1"/>
          </p:cNvSpPr>
          <p:nvPr/>
        </p:nvSpPr>
        <p:spPr bwMode="auto">
          <a:xfrm>
            <a:off x="181881" y="3507660"/>
            <a:ext cx="8650288"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FF00"/>
              </a:buClr>
              <a:buSzTx/>
              <a:buNone/>
            </a:pPr>
            <a:r>
              <a:rPr lang="zh-CN" altLang="en-US" sz="2800" b="0" dirty="0">
                <a:solidFill>
                  <a:srgbClr val="0000CC"/>
                </a:solidFill>
                <a:latin typeface="Times New Roman" panose="02020603050405020304" pitchFamily="18" charset="0"/>
              </a:rPr>
              <a:t>特点：</a:t>
            </a:r>
            <a:r>
              <a:rPr lang="zh-CN" altLang="en-US" sz="2800" b="0" dirty="0">
                <a:latin typeface="Times New Roman" panose="02020603050405020304" pitchFamily="18" charset="0"/>
              </a:rPr>
              <a:t>可重复观察，在观察之前知道所有可能的结果，但不知道到底哪一种结果会出现。</a:t>
            </a:r>
          </a:p>
        </p:txBody>
      </p:sp>
      <p:pic>
        <p:nvPicPr>
          <p:cNvPr id="9" name="图片 8"/>
          <p:cNvPicPr>
            <a:picLocks noChangeAspect="1"/>
          </p:cNvPicPr>
          <p:nvPr/>
        </p:nvPicPr>
        <p:blipFill>
          <a:blip r:embed="rId5"/>
          <a:stretch>
            <a:fillRect/>
          </a:stretch>
        </p:blipFill>
        <p:spPr>
          <a:xfrm>
            <a:off x="3981358" y="1347451"/>
            <a:ext cx="1862590" cy="1762610"/>
          </a:xfrm>
          <a:prstGeom prst="rect">
            <a:avLst/>
          </a:prstGeom>
        </p:spPr>
      </p:pic>
    </p:spTree>
    <p:extLst>
      <p:ext uri="{BB962C8B-B14F-4D97-AF65-F5344CB8AC3E}">
        <p14:creationId xmlns:p14="http://schemas.microsoft.com/office/powerpoint/2010/main" val="3434937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8" name="Picture 5" descr="http://t2.gstatic.com/images?q=tbn:ANd9GcRMwsC3tPFCLGVkaN-lYkhHU7h2exewDcLbOZjEcsiuPJNqylhAL3pxweV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5974" y="2765714"/>
            <a:ext cx="1795463" cy="251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65</a:t>
            </a:fld>
            <a:endParaRPr lang="en-US" altLang="zh-CN"/>
          </a:p>
        </p:txBody>
      </p:sp>
      <p:sp>
        <p:nvSpPr>
          <p:cNvPr id="5" name="Text Box 2"/>
          <p:cNvSpPr txBox="1">
            <a:spLocks noChangeArrowheads="1"/>
          </p:cNvSpPr>
          <p:nvPr/>
        </p:nvSpPr>
        <p:spPr bwMode="auto">
          <a:xfrm>
            <a:off x="119922" y="2143829"/>
            <a:ext cx="8605837"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FF00"/>
              </a:buClr>
              <a:buSzTx/>
              <a:buNone/>
            </a:pPr>
            <a:r>
              <a:rPr lang="zh-CN" altLang="en-US" sz="2800" b="0" dirty="0">
                <a:latin typeface="Times New Roman" panose="02020603050405020304" pitchFamily="18" charset="0"/>
              </a:rPr>
              <a:t>美国的系统科学家</a:t>
            </a:r>
            <a:r>
              <a:rPr lang="zh-CN" altLang="en-US" sz="2800" b="0" dirty="0">
                <a:solidFill>
                  <a:srgbClr val="0000CC"/>
                </a:solidFill>
                <a:latin typeface="Times New Roman" panose="02020603050405020304" pitchFamily="18" charset="0"/>
              </a:rPr>
              <a:t>扎德</a:t>
            </a:r>
            <a:r>
              <a:rPr lang="en-US" altLang="zh-CN" sz="2800" b="0" dirty="0">
                <a:solidFill>
                  <a:srgbClr val="0000CC"/>
                </a:solidFill>
                <a:latin typeface="Times New Roman" panose="02020603050405020304" pitchFamily="18" charset="0"/>
              </a:rPr>
              <a:t>(</a:t>
            </a:r>
            <a:r>
              <a:rPr lang="en-US" altLang="zh-CN" sz="2800" b="0" dirty="0" err="1">
                <a:solidFill>
                  <a:srgbClr val="0000CC"/>
                </a:solidFill>
                <a:latin typeface="Times New Roman" panose="02020603050405020304" pitchFamily="18" charset="0"/>
              </a:rPr>
              <a:t>L.A.Zadeh</a:t>
            </a:r>
            <a:r>
              <a:rPr lang="en-US" altLang="zh-CN" sz="2800" b="0" dirty="0">
                <a:solidFill>
                  <a:srgbClr val="0000CC"/>
                </a:solidFill>
                <a:latin typeface="Times New Roman" panose="02020603050405020304" pitchFamily="18" charset="0"/>
              </a:rPr>
              <a:t>)</a:t>
            </a:r>
            <a:r>
              <a:rPr lang="zh-CN" altLang="en-US" sz="2800" b="0" dirty="0">
                <a:latin typeface="Times New Roman" panose="02020603050405020304" pitchFamily="18" charset="0"/>
              </a:rPr>
              <a:t>于</a:t>
            </a:r>
            <a:r>
              <a:rPr lang="en-US" altLang="zh-CN" sz="2800" b="0" dirty="0">
                <a:latin typeface="Times New Roman" panose="02020603050405020304" pitchFamily="18" charset="0"/>
              </a:rPr>
              <a:t>1965</a:t>
            </a:r>
            <a:r>
              <a:rPr lang="zh-CN" altLang="en-US" sz="2800" b="0" dirty="0">
                <a:latin typeface="Times New Roman" panose="02020603050405020304" pitchFamily="18" charset="0"/>
              </a:rPr>
              <a:t>年发表了“</a:t>
            </a:r>
            <a:r>
              <a:rPr lang="en-US" altLang="zh-CN" sz="2800" b="0" dirty="0">
                <a:solidFill>
                  <a:srgbClr val="0000CC"/>
                </a:solidFill>
                <a:latin typeface="Times New Roman" panose="02020603050405020304" pitchFamily="18" charset="0"/>
              </a:rPr>
              <a:t>Fuzzy Sets</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，创立了模糊集理论。</a:t>
            </a:r>
            <a:endParaRPr lang="en-US" altLang="zh-CN" sz="2800" b="0" dirty="0">
              <a:latin typeface="Times New Roman" panose="02020603050405020304" pitchFamily="18" charset="0"/>
            </a:endParaRPr>
          </a:p>
        </p:txBody>
      </p:sp>
      <p:sp>
        <p:nvSpPr>
          <p:cNvPr id="6" name="Text Box 2"/>
          <p:cNvSpPr txBox="1">
            <a:spLocks noChangeArrowheads="1"/>
          </p:cNvSpPr>
          <p:nvPr/>
        </p:nvSpPr>
        <p:spPr bwMode="auto">
          <a:xfrm>
            <a:off x="261937" y="3098556"/>
            <a:ext cx="432048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FF00"/>
              </a:buClr>
              <a:buSzTx/>
              <a:buFont typeface="Wingdings" panose="05000000000000000000" pitchFamily="2" charset="2"/>
              <a:buNone/>
            </a:pPr>
            <a:r>
              <a:rPr lang="zh-CN" altLang="en-US" sz="2800" b="0" dirty="0">
                <a:latin typeface="Times New Roman" panose="02020603050405020304" pitchFamily="18" charset="0"/>
              </a:rPr>
              <a:t>模糊洗衣机、模糊冰箱</a:t>
            </a:r>
            <a:r>
              <a:rPr lang="en-US" altLang="zh-CN" sz="2800" b="0" dirty="0">
                <a:latin typeface="Times New Roman" panose="02020603050405020304" pitchFamily="18" charset="0"/>
              </a:rPr>
              <a:t>…</a:t>
            </a:r>
            <a:endParaRPr lang="zh-CN" altLang="en-US" sz="2800" b="0" dirty="0">
              <a:latin typeface="Times New Roman" panose="02020603050405020304" pitchFamily="18" charset="0"/>
            </a:endParaRPr>
          </a:p>
        </p:txBody>
      </p:sp>
      <p:sp>
        <p:nvSpPr>
          <p:cNvPr id="8" name="Text Box 2"/>
          <p:cNvSpPr txBox="1">
            <a:spLocks noChangeArrowheads="1"/>
          </p:cNvSpPr>
          <p:nvPr/>
        </p:nvSpPr>
        <p:spPr bwMode="auto">
          <a:xfrm>
            <a:off x="107504" y="93664"/>
            <a:ext cx="7272337"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marL="457200" indent="-457200">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0" lvl="1" eaLnBrk="1" hangingPunct="1">
              <a:spcBef>
                <a:spcPct val="0"/>
              </a:spcBef>
              <a:buFontTx/>
              <a:buNone/>
            </a:pPr>
            <a:r>
              <a:rPr lang="en-US" altLang="zh-CN" sz="3600" dirty="0">
                <a:solidFill>
                  <a:srgbClr val="FFFF00"/>
                </a:solidFill>
                <a:latin typeface="Times New Roman" panose="02020603050405020304" pitchFamily="18" charset="0"/>
              </a:rPr>
              <a:t>2.5   </a:t>
            </a:r>
            <a:r>
              <a:rPr lang="zh-CN" altLang="en-US" sz="3600" dirty="0">
                <a:solidFill>
                  <a:srgbClr val="FFFF00"/>
                </a:solidFill>
                <a:latin typeface="Times New Roman" panose="02020603050405020304" pitchFamily="18" charset="0"/>
              </a:rPr>
              <a:t>空间不确定性理论</a:t>
            </a:r>
            <a:endParaRPr lang="zh-CN" altLang="en-US" sz="3600" b="0" dirty="0">
              <a:solidFill>
                <a:srgbClr val="FFFF00"/>
              </a:solidFill>
              <a:latin typeface="Times New Roman" panose="02020603050405020304" pitchFamily="18" charset="0"/>
            </a:endParaRPr>
          </a:p>
        </p:txBody>
      </p:sp>
      <p:sp>
        <p:nvSpPr>
          <p:cNvPr id="9" name="Text Box 2"/>
          <p:cNvSpPr txBox="1">
            <a:spLocks noChangeArrowheads="1"/>
          </p:cNvSpPr>
          <p:nvPr/>
        </p:nvSpPr>
        <p:spPr bwMode="auto">
          <a:xfrm>
            <a:off x="267208" y="1004044"/>
            <a:ext cx="3672409"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marL="457200" indent="-457200">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marL="0" lvl="1" eaLnBrk="1" hangingPunct="1">
              <a:spcBef>
                <a:spcPct val="0"/>
              </a:spcBef>
              <a:buFontTx/>
              <a:buNone/>
            </a:pPr>
            <a:r>
              <a:rPr lang="en-US" altLang="zh-CN" sz="3200" dirty="0">
                <a:solidFill>
                  <a:srgbClr val="0000CC"/>
                </a:solidFill>
                <a:latin typeface="Times New Roman" panose="02020603050405020304" pitchFamily="18" charset="0"/>
              </a:rPr>
              <a:t>2.5.1   </a:t>
            </a:r>
            <a:r>
              <a:rPr lang="zh-CN" altLang="en-US" sz="3200" dirty="0">
                <a:solidFill>
                  <a:srgbClr val="0000CC"/>
                </a:solidFill>
                <a:latin typeface="Times New Roman" panose="02020603050405020304" pitchFamily="18" charset="0"/>
              </a:rPr>
              <a:t>不确定性 </a:t>
            </a:r>
          </a:p>
        </p:txBody>
      </p:sp>
      <p:sp>
        <p:nvSpPr>
          <p:cNvPr id="10" name="Text Box 2"/>
          <p:cNvSpPr txBox="1">
            <a:spLocks noChangeArrowheads="1"/>
          </p:cNvSpPr>
          <p:nvPr/>
        </p:nvSpPr>
        <p:spPr bwMode="auto">
          <a:xfrm>
            <a:off x="261937" y="1677169"/>
            <a:ext cx="302433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dirty="0">
                <a:solidFill>
                  <a:srgbClr val="0000CC"/>
                </a:solidFill>
                <a:latin typeface="Times New Roman" panose="02020603050405020304" pitchFamily="18" charset="0"/>
              </a:rPr>
              <a:t>1</a:t>
            </a:r>
            <a:r>
              <a:rPr lang="zh-CN" altLang="en-US" sz="2800" dirty="0">
                <a:solidFill>
                  <a:srgbClr val="0000CC"/>
                </a:solidFill>
                <a:latin typeface="Times New Roman" panose="02020603050405020304" pitchFamily="18" charset="0"/>
              </a:rPr>
              <a:t>）模糊性</a:t>
            </a:r>
            <a:endParaRPr lang="zh-CN" altLang="en-US" sz="2800" b="0" dirty="0">
              <a:solidFill>
                <a:srgbClr val="0000CC"/>
              </a:solidFill>
              <a:latin typeface="Times New Roman" panose="02020603050405020304" pitchFamily="18" charset="0"/>
            </a:endParaRPr>
          </a:p>
        </p:txBody>
      </p:sp>
      <p:sp>
        <p:nvSpPr>
          <p:cNvPr id="11" name="Text Box 2"/>
          <p:cNvSpPr txBox="1">
            <a:spLocks noChangeArrowheads="1"/>
          </p:cNvSpPr>
          <p:nvPr/>
        </p:nvSpPr>
        <p:spPr bwMode="auto">
          <a:xfrm>
            <a:off x="91844" y="3604224"/>
            <a:ext cx="6564130" cy="2262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
                <a:srgbClr val="FFFF00"/>
              </a:buClr>
              <a:buSzTx/>
              <a:buNone/>
            </a:pPr>
            <a:r>
              <a:rPr lang="zh-CN" altLang="en-US" sz="2400" b="0" dirty="0">
                <a:latin typeface="Times New Roman" panose="02020603050405020304" pitchFamily="18" charset="0"/>
              </a:rPr>
              <a:t>“一粒种子肯定不能叫一堆，两粒也不是，三粒也不是</a:t>
            </a:r>
            <a:r>
              <a:rPr lang="en-US" altLang="zh-CN" sz="2400" b="0" dirty="0">
                <a:latin typeface="Times New Roman" panose="02020603050405020304" pitchFamily="18" charset="0"/>
              </a:rPr>
              <a:t>… …</a:t>
            </a:r>
            <a:r>
              <a:rPr lang="zh-CN" altLang="en-US" sz="2400" b="0" dirty="0">
                <a:latin typeface="Times New Roman" panose="02020603050405020304" pitchFamily="18" charset="0"/>
              </a:rPr>
              <a:t>。能否</a:t>
            </a:r>
            <a:r>
              <a:rPr lang="en-US" altLang="zh-CN" sz="2400" b="0" dirty="0">
                <a:latin typeface="Times New Roman" panose="02020603050405020304" pitchFamily="18" charset="0"/>
              </a:rPr>
              <a:t>123585</a:t>
            </a:r>
            <a:r>
              <a:rPr lang="zh-CN" altLang="en-US" sz="2400" b="0" dirty="0">
                <a:latin typeface="Times New Roman" panose="02020603050405020304" pitchFamily="18" charset="0"/>
              </a:rPr>
              <a:t>粒种子不叫一堆而</a:t>
            </a:r>
            <a:r>
              <a:rPr lang="en-US" altLang="zh-CN" sz="2400" b="0" dirty="0">
                <a:latin typeface="Times New Roman" panose="02020603050405020304" pitchFamily="18" charset="0"/>
              </a:rPr>
              <a:t>123586</a:t>
            </a:r>
            <a:r>
              <a:rPr lang="zh-CN" altLang="en-US" sz="2400" b="0" dirty="0">
                <a:latin typeface="Times New Roman" panose="02020603050405020304" pitchFamily="18" charset="0"/>
              </a:rPr>
              <a:t>粒就构成一堆？”</a:t>
            </a:r>
          </a:p>
          <a:p>
            <a:pPr eaLnBrk="1" hangingPunct="1">
              <a:spcBef>
                <a:spcPts val="0"/>
              </a:spcBef>
              <a:buClrTx/>
              <a:buSzTx/>
              <a:buFontTx/>
              <a:buNone/>
            </a:pPr>
            <a:r>
              <a:rPr lang="zh-CN" altLang="en-US" sz="2400" b="0" dirty="0">
                <a:solidFill>
                  <a:srgbClr val="0000CC"/>
                </a:solidFill>
                <a:latin typeface="Times New Roman" panose="02020603050405020304" pitchFamily="18" charset="0"/>
              </a:rPr>
              <a:t>“一粒”和“一堆”是有区别的两个概念，它们的区别是渐变的，不是突变的，两者之间并不存在明确的界限</a:t>
            </a:r>
            <a:endParaRPr lang="zh-CN" altLang="en-US" sz="2400" b="0" dirty="0">
              <a:latin typeface="Times New Roman" panose="02020603050405020304" pitchFamily="18" charset="0"/>
            </a:endParaRPr>
          </a:p>
        </p:txBody>
      </p:sp>
      <p:sp>
        <p:nvSpPr>
          <p:cNvPr id="12" name="Text Box 2"/>
          <p:cNvSpPr txBox="1">
            <a:spLocks noChangeArrowheads="1"/>
          </p:cNvSpPr>
          <p:nvPr/>
        </p:nvSpPr>
        <p:spPr bwMode="auto">
          <a:xfrm>
            <a:off x="483169" y="6115179"/>
            <a:ext cx="5606207"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0"/>
              </a:spcBef>
              <a:buClr>
                <a:srgbClr val="FFFF00"/>
              </a:buClr>
              <a:buSzTx/>
              <a:buNone/>
            </a:pPr>
            <a:r>
              <a:rPr lang="zh-CN" altLang="en-US" sz="2800" b="0" dirty="0">
                <a:latin typeface="Times New Roman" panose="02020603050405020304" pitchFamily="18" charset="0"/>
              </a:rPr>
              <a:t>如年老、高个子、很大、很小等</a:t>
            </a:r>
          </a:p>
        </p:txBody>
      </p:sp>
      <p:sp>
        <p:nvSpPr>
          <p:cNvPr id="3" name="文本框 2"/>
          <p:cNvSpPr txBox="1"/>
          <p:nvPr/>
        </p:nvSpPr>
        <p:spPr>
          <a:xfrm>
            <a:off x="6655974" y="5530698"/>
            <a:ext cx="1795463" cy="369332"/>
          </a:xfrm>
          <a:prstGeom prst="rect">
            <a:avLst/>
          </a:prstGeom>
          <a:noFill/>
        </p:spPr>
        <p:txBody>
          <a:bodyPr wrap="square" rtlCol="0">
            <a:spAutoFit/>
          </a:bodyPr>
          <a:lstStyle/>
          <a:p>
            <a:pPr algn="ctr"/>
            <a:r>
              <a:rPr lang="en-US" altLang="zh-CN" dirty="0" err="1">
                <a:solidFill>
                  <a:srgbClr val="0000CC"/>
                </a:solidFill>
                <a:latin typeface="Times New Roman" panose="02020603050405020304" pitchFamily="18" charset="0"/>
              </a:rPr>
              <a:t>L.A.Zadeh</a:t>
            </a:r>
            <a:endParaRPr lang="zh-CN" altLang="en-US" dirty="0"/>
          </a:p>
        </p:txBody>
      </p:sp>
    </p:spTree>
    <p:extLst>
      <p:ext uri="{BB962C8B-B14F-4D97-AF65-F5344CB8AC3E}">
        <p14:creationId xmlns:p14="http://schemas.microsoft.com/office/powerpoint/2010/main" val="38819758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Text Box 2"/>
          <p:cNvSpPr txBox="1">
            <a:spLocks noChangeArrowheads="1"/>
          </p:cNvSpPr>
          <p:nvPr/>
        </p:nvSpPr>
        <p:spPr bwMode="auto">
          <a:xfrm>
            <a:off x="251520" y="1484784"/>
            <a:ext cx="8534400" cy="349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FF00"/>
              </a:buClr>
              <a:buSzTx/>
              <a:buNone/>
            </a:pPr>
            <a:r>
              <a:rPr lang="zh-CN" altLang="en-US" b="0" dirty="0">
                <a:solidFill>
                  <a:srgbClr val="0000CC"/>
                </a:solidFill>
                <a:latin typeface="Times New Roman" panose="02020603050405020304" pitchFamily="18" charset="0"/>
              </a:rPr>
              <a:t>不确定性</a:t>
            </a:r>
            <a:r>
              <a:rPr lang="zh-CN" altLang="en-US" b="0" dirty="0">
                <a:latin typeface="Times New Roman" panose="02020603050405020304" pitchFamily="18" charset="0"/>
              </a:rPr>
              <a:t>是地球空间信息基础理论的主要组成部分之一，</a:t>
            </a:r>
            <a:endParaRPr lang="en-US" altLang="zh-CN" b="0" dirty="0">
              <a:latin typeface="Times New Roman" panose="02020603050405020304" pitchFamily="18" charset="0"/>
            </a:endParaRPr>
          </a:p>
          <a:p>
            <a:pPr eaLnBrk="1" hangingPunct="1">
              <a:spcBef>
                <a:spcPct val="50000"/>
              </a:spcBef>
              <a:buClr>
                <a:srgbClr val="FFFF00"/>
              </a:buClr>
              <a:buSzTx/>
              <a:buNone/>
            </a:pPr>
            <a:r>
              <a:rPr lang="zh-CN" altLang="en-US" b="0" dirty="0">
                <a:solidFill>
                  <a:srgbClr val="0000CC"/>
                </a:solidFill>
                <a:latin typeface="Times New Roman" panose="02020603050405020304" pitchFamily="18" charset="0"/>
              </a:rPr>
              <a:t>空间数据的不确定性分析</a:t>
            </a:r>
            <a:r>
              <a:rPr lang="zh-CN" altLang="en-US" b="0" dirty="0">
                <a:latin typeface="Times New Roman" panose="02020603050405020304" pitchFamily="18" charset="0"/>
              </a:rPr>
              <a:t>是地球空间信息科学的重要基础理论之一。</a:t>
            </a:r>
          </a:p>
          <a:p>
            <a:pPr eaLnBrk="1" hangingPunct="1">
              <a:spcBef>
                <a:spcPct val="50000"/>
              </a:spcBef>
              <a:buClr>
                <a:srgbClr val="FFFF00"/>
              </a:buClr>
              <a:buSzTx/>
              <a:buNone/>
            </a:pPr>
            <a:r>
              <a:rPr lang="zh-CN" altLang="en-US" dirty="0">
                <a:solidFill>
                  <a:srgbClr val="0000CC"/>
                </a:solidFill>
                <a:latin typeface="Times New Roman" panose="02020603050405020304" pitchFamily="18" charset="0"/>
              </a:rPr>
              <a:t>空间数据及分析中的不确定性直接影响到</a:t>
            </a:r>
            <a:r>
              <a:rPr lang="en-US" altLang="zh-CN" dirty="0">
                <a:solidFill>
                  <a:srgbClr val="0000CC"/>
                </a:solidFill>
                <a:latin typeface="Times New Roman" panose="02020603050405020304" pitchFamily="18" charset="0"/>
              </a:rPr>
              <a:t>GIS</a:t>
            </a:r>
            <a:r>
              <a:rPr lang="zh-CN" altLang="en-US" dirty="0">
                <a:solidFill>
                  <a:srgbClr val="0000CC"/>
                </a:solidFill>
                <a:latin typeface="Times New Roman" panose="02020603050405020304" pitchFamily="18" charset="0"/>
              </a:rPr>
              <a:t>产品的质量。</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66</a:t>
            </a:fld>
            <a:endParaRPr lang="en-US" altLang="zh-CN"/>
          </a:p>
        </p:txBody>
      </p:sp>
      <p:sp>
        <p:nvSpPr>
          <p:cNvPr id="4" name="Text Box 2"/>
          <p:cNvSpPr txBox="1">
            <a:spLocks noChangeArrowheads="1"/>
          </p:cNvSpPr>
          <p:nvPr/>
        </p:nvSpPr>
        <p:spPr bwMode="auto">
          <a:xfrm>
            <a:off x="179512" y="135732"/>
            <a:ext cx="853440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2.5.2   </a:t>
            </a:r>
            <a:r>
              <a:rPr lang="zh-CN" altLang="en-US" dirty="0">
                <a:solidFill>
                  <a:srgbClr val="FFFF00"/>
                </a:solidFill>
                <a:latin typeface="Times New Roman" panose="02020603050405020304" pitchFamily="18" charset="0"/>
              </a:rPr>
              <a:t>空间分析的不确定性</a:t>
            </a:r>
            <a:endParaRPr lang="zh-CN" altLang="en-US" sz="2800" b="0" dirty="0">
              <a:solidFill>
                <a:schemeClr val="accent2"/>
              </a:solidFill>
              <a:latin typeface="Times New Roman" panose="02020603050405020304" pitchFamily="18" charset="0"/>
            </a:endParaRPr>
          </a:p>
        </p:txBody>
      </p:sp>
    </p:spTree>
    <p:extLst>
      <p:ext uri="{BB962C8B-B14F-4D97-AF65-F5344CB8AC3E}">
        <p14:creationId xmlns:p14="http://schemas.microsoft.com/office/powerpoint/2010/main" val="172565118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Text Box 3"/>
          <p:cNvSpPr txBox="1">
            <a:spLocks noChangeArrowheads="1"/>
          </p:cNvSpPr>
          <p:nvPr/>
        </p:nvSpPr>
        <p:spPr bwMode="auto">
          <a:xfrm>
            <a:off x="515939" y="1196752"/>
            <a:ext cx="8197974" cy="435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dirty="0">
                <a:solidFill>
                  <a:srgbClr val="0000CC"/>
                </a:solidFill>
                <a:latin typeface="Times New Roman" panose="02020603050405020304" pitchFamily="18" charset="0"/>
              </a:rPr>
              <a:t>（</a:t>
            </a:r>
            <a:r>
              <a:rPr lang="en-US" altLang="zh-CN" sz="2800" dirty="0">
                <a:solidFill>
                  <a:srgbClr val="0000CC"/>
                </a:solidFill>
                <a:latin typeface="Times New Roman" panose="02020603050405020304" pitchFamily="18" charset="0"/>
              </a:rPr>
              <a:t>1</a:t>
            </a:r>
            <a:r>
              <a:rPr lang="zh-CN" altLang="en-US" sz="2800" dirty="0">
                <a:solidFill>
                  <a:srgbClr val="0000CC"/>
                </a:solidFill>
                <a:latin typeface="Times New Roman" panose="02020603050405020304" pitchFamily="18" charset="0"/>
              </a:rPr>
              <a:t>）空间数据的获取和处理产生不确定性</a:t>
            </a:r>
          </a:p>
          <a:p>
            <a:pPr eaLnBrk="1" hangingPunct="1">
              <a:spcBef>
                <a:spcPct val="50000"/>
              </a:spcBef>
              <a:buClr>
                <a:srgbClr val="FFFF00"/>
              </a:buClr>
              <a:buSzTx/>
              <a:buNone/>
            </a:pPr>
            <a:r>
              <a:rPr lang="zh-CN" altLang="en-US" sz="2800" b="0" dirty="0">
                <a:latin typeface="Times New Roman" panose="02020603050405020304" pitchFamily="18" charset="0"/>
              </a:rPr>
              <a:t>由于</a:t>
            </a:r>
            <a:r>
              <a:rPr lang="zh-CN" altLang="en-US" sz="2800" b="0" dirty="0">
                <a:solidFill>
                  <a:srgbClr val="0000CC"/>
                </a:solidFill>
                <a:latin typeface="Times New Roman" panose="02020603050405020304" pitchFamily="18" charset="0"/>
              </a:rPr>
              <a:t>仪器设备</a:t>
            </a:r>
            <a:r>
              <a:rPr lang="zh-CN" altLang="en-US" sz="2800" b="0" dirty="0">
                <a:latin typeface="Times New Roman" panose="02020603050405020304" pitchFamily="18" charset="0"/>
              </a:rPr>
              <a:t>和</a:t>
            </a:r>
            <a:r>
              <a:rPr lang="zh-CN" altLang="en-US" sz="2800" b="0" dirty="0">
                <a:solidFill>
                  <a:srgbClr val="0000CC"/>
                </a:solidFill>
                <a:latin typeface="Times New Roman" panose="02020603050405020304" pitchFamily="18" charset="0"/>
              </a:rPr>
              <a:t>处理技术</a:t>
            </a:r>
            <a:r>
              <a:rPr lang="zh-CN" altLang="en-US" sz="2800" b="0" dirty="0">
                <a:latin typeface="Times New Roman" panose="02020603050405020304" pitchFamily="18" charset="0"/>
              </a:rPr>
              <a:t>的限制，在每一个环节上都可能会产生难以预料的</a:t>
            </a:r>
            <a:r>
              <a:rPr lang="zh-CN" altLang="en-US" sz="2800" b="0" dirty="0">
                <a:solidFill>
                  <a:srgbClr val="0000CC"/>
                </a:solidFill>
                <a:latin typeface="Times New Roman" panose="02020603050405020304" pitchFamily="18" charset="0"/>
              </a:rPr>
              <a:t>系统误差和随机误差</a:t>
            </a:r>
            <a:r>
              <a:rPr lang="zh-CN" altLang="en-US" sz="2800" b="0" dirty="0">
                <a:latin typeface="Times New Roman" panose="02020603050405020304" pitchFamily="18" charset="0"/>
              </a:rPr>
              <a:t>。</a:t>
            </a:r>
          </a:p>
          <a:p>
            <a:pPr eaLnBrk="1" hangingPunct="1">
              <a:spcBef>
                <a:spcPct val="50000"/>
              </a:spcBef>
              <a:buClr>
                <a:srgbClr val="FFFF00"/>
              </a:buClr>
              <a:buSzTx/>
              <a:buNone/>
            </a:pPr>
            <a:r>
              <a:rPr lang="zh-CN" altLang="en-US" sz="2800" b="0" dirty="0">
                <a:latin typeface="Times New Roman" panose="02020603050405020304" pitchFamily="18" charset="0"/>
              </a:rPr>
              <a:t>尽管空间数据中所存在的不确定性可以通过数据编辑、纠正等手段得以部分消除，</a:t>
            </a:r>
            <a:endParaRPr lang="en-US" altLang="zh-CN" sz="2800" b="0" dirty="0">
              <a:latin typeface="Times New Roman" panose="02020603050405020304" pitchFamily="18" charset="0"/>
            </a:endParaRPr>
          </a:p>
          <a:p>
            <a:pPr eaLnBrk="1" hangingPunct="1">
              <a:spcBef>
                <a:spcPct val="50000"/>
              </a:spcBef>
              <a:buClr>
                <a:srgbClr val="FFFF00"/>
              </a:buClr>
              <a:buSzTx/>
              <a:buNone/>
            </a:pPr>
            <a:r>
              <a:rPr lang="zh-CN" altLang="en-US" sz="2800" b="0" dirty="0">
                <a:latin typeface="Times New Roman" panose="02020603050405020304" pitchFamily="18" charset="0"/>
              </a:rPr>
              <a:t>但空间数据结果中仍然存在大量随机或系统的不确定性，有时甚至严重影响产品的可靠性。</a:t>
            </a:r>
          </a:p>
          <a:p>
            <a:pPr eaLnBrk="1" hangingPunct="1">
              <a:spcBef>
                <a:spcPct val="50000"/>
              </a:spcBef>
              <a:buClr>
                <a:srgbClr val="FFFF00"/>
              </a:buClr>
              <a:buSzTx/>
              <a:buNone/>
            </a:pPr>
            <a:r>
              <a:rPr lang="en-US" altLang="zh-CN" sz="2800" b="0" dirty="0">
                <a:latin typeface="Times New Roman" panose="02020603050405020304" pitchFamily="18" charset="0"/>
              </a:rPr>
              <a:t>GIS</a:t>
            </a:r>
            <a:r>
              <a:rPr lang="zh-CN" altLang="en-US" sz="2800" b="0" dirty="0">
                <a:latin typeface="Times New Roman" panose="02020603050405020304" pitchFamily="18" charset="0"/>
              </a:rPr>
              <a:t>产品中不可避免地含有</a:t>
            </a:r>
            <a:r>
              <a:rPr lang="zh-CN" altLang="en-US" sz="2800" b="0" dirty="0">
                <a:solidFill>
                  <a:srgbClr val="0000CC"/>
                </a:solidFill>
                <a:latin typeface="Times New Roman" panose="02020603050405020304" pitchFamily="18" charset="0"/>
              </a:rPr>
              <a:t>误差</a:t>
            </a:r>
            <a:r>
              <a:rPr lang="zh-CN" altLang="en-US" sz="2800" b="0" dirty="0">
                <a:latin typeface="Times New Roman" panose="02020603050405020304" pitchFamily="18" charset="0"/>
              </a:rPr>
              <a:t>。</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67</a:t>
            </a:fld>
            <a:endParaRPr lang="en-US" altLang="zh-CN"/>
          </a:p>
        </p:txBody>
      </p:sp>
      <p:sp>
        <p:nvSpPr>
          <p:cNvPr id="4" name="Text Box 2"/>
          <p:cNvSpPr txBox="1">
            <a:spLocks noChangeArrowheads="1"/>
          </p:cNvSpPr>
          <p:nvPr/>
        </p:nvSpPr>
        <p:spPr bwMode="auto">
          <a:xfrm>
            <a:off x="179512" y="135732"/>
            <a:ext cx="853440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2.5.2   </a:t>
            </a:r>
            <a:r>
              <a:rPr lang="zh-CN" altLang="en-US" dirty="0">
                <a:solidFill>
                  <a:srgbClr val="FFFF00"/>
                </a:solidFill>
                <a:latin typeface="Times New Roman" panose="02020603050405020304" pitchFamily="18" charset="0"/>
              </a:rPr>
              <a:t>空间分析的不确定性</a:t>
            </a:r>
            <a:endParaRPr lang="zh-CN" altLang="en-US" sz="2800" b="0" dirty="0">
              <a:solidFill>
                <a:schemeClr val="accent2"/>
              </a:solidFill>
              <a:latin typeface="Times New Roman" panose="02020603050405020304" pitchFamily="18" charset="0"/>
            </a:endParaRPr>
          </a:p>
        </p:txBody>
      </p:sp>
    </p:spTree>
    <p:extLst>
      <p:ext uri="{BB962C8B-B14F-4D97-AF65-F5344CB8AC3E}">
        <p14:creationId xmlns:p14="http://schemas.microsoft.com/office/powerpoint/2010/main" val="1284044670"/>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Text Box 2"/>
          <p:cNvSpPr txBox="1">
            <a:spLocks noChangeArrowheads="1"/>
          </p:cNvSpPr>
          <p:nvPr/>
        </p:nvSpPr>
        <p:spPr bwMode="auto">
          <a:xfrm>
            <a:off x="323528" y="1412776"/>
            <a:ext cx="8520112"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dirty="0">
                <a:solidFill>
                  <a:srgbClr val="0000CC"/>
                </a:solidFill>
                <a:latin typeface="Times New Roman" panose="02020603050405020304" pitchFamily="18" charset="0"/>
              </a:rPr>
              <a:t>（</a:t>
            </a:r>
            <a:r>
              <a:rPr lang="en-US" altLang="zh-CN" sz="2800" dirty="0">
                <a:solidFill>
                  <a:srgbClr val="0000CC"/>
                </a:solidFill>
                <a:latin typeface="Times New Roman" panose="02020603050405020304" pitchFamily="18" charset="0"/>
              </a:rPr>
              <a:t>2</a:t>
            </a:r>
            <a:r>
              <a:rPr lang="zh-CN" altLang="en-US" sz="2800" dirty="0">
                <a:solidFill>
                  <a:srgbClr val="0000CC"/>
                </a:solidFill>
                <a:latin typeface="Times New Roman" panose="02020603050405020304" pitchFamily="18" charset="0"/>
              </a:rPr>
              <a:t>）空间数据的不确定性影响决策结果的质量</a:t>
            </a:r>
            <a:endParaRPr lang="zh-CN" altLang="en-US" sz="2800" b="0" dirty="0">
              <a:solidFill>
                <a:srgbClr val="0000CC"/>
              </a:solidFill>
              <a:latin typeface="Times New Roman" panose="02020603050405020304" pitchFamily="18" charset="0"/>
            </a:endParaRPr>
          </a:p>
          <a:p>
            <a:pPr eaLnBrk="1" hangingPunct="1">
              <a:spcBef>
                <a:spcPct val="50000"/>
              </a:spcBef>
              <a:buClr>
                <a:srgbClr val="FFFF00"/>
              </a:buClr>
              <a:buSzTx/>
              <a:buNone/>
            </a:pPr>
            <a:r>
              <a:rPr lang="zh-CN" altLang="en-US" sz="2800" b="0" dirty="0">
                <a:latin typeface="Times New Roman" panose="02020603050405020304" pitchFamily="18" charset="0"/>
              </a:rPr>
              <a:t>在</a:t>
            </a:r>
            <a:r>
              <a:rPr lang="zh-CN" altLang="en-US" sz="2800" b="0" dirty="0">
                <a:solidFill>
                  <a:srgbClr val="0000CC"/>
                </a:solidFill>
                <a:latin typeface="Times New Roman" panose="02020603050405020304" pitchFamily="18" charset="0"/>
              </a:rPr>
              <a:t>利用空间数据辅助人类决策过程中</a:t>
            </a:r>
            <a:r>
              <a:rPr lang="zh-CN" altLang="en-US" sz="2800" b="0" dirty="0">
                <a:latin typeface="Times New Roman" panose="02020603050405020304" pitchFamily="18" charset="0"/>
              </a:rPr>
              <a:t>，例如城市规划、土地管理等，不确定性是广泛存在的。</a:t>
            </a:r>
          </a:p>
          <a:p>
            <a:pPr eaLnBrk="1" hangingPunct="1">
              <a:spcBef>
                <a:spcPct val="50000"/>
              </a:spcBef>
              <a:buClr>
                <a:srgbClr val="FFFF00"/>
              </a:buClr>
              <a:buSzTx/>
              <a:buNone/>
            </a:pPr>
            <a:r>
              <a:rPr lang="zh-CN" altLang="en-US" sz="2800" b="0" dirty="0">
                <a:latin typeface="Times New Roman" panose="02020603050405020304" pitchFamily="18" charset="0"/>
              </a:rPr>
              <a:t>许多基于地学数据的决策，都会受到数据不确定性问题的影响。</a:t>
            </a:r>
          </a:p>
          <a:p>
            <a:pPr eaLnBrk="1" hangingPunct="1">
              <a:spcBef>
                <a:spcPct val="50000"/>
              </a:spcBef>
              <a:buClr>
                <a:srgbClr val="FFFF00"/>
              </a:buClr>
              <a:buSzTx/>
              <a:buNone/>
            </a:pPr>
            <a:r>
              <a:rPr lang="zh-CN" altLang="en-US" sz="2800" dirty="0">
                <a:solidFill>
                  <a:srgbClr val="0000CC"/>
                </a:solidFill>
                <a:latin typeface="Times New Roman" panose="02020603050405020304" pitchFamily="18" charset="0"/>
              </a:rPr>
              <a:t>空间数据的不确定性可以直接或间接地影响最终决策的准确性和可靠性。</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68</a:t>
            </a:fld>
            <a:endParaRPr lang="en-US" altLang="zh-CN"/>
          </a:p>
        </p:txBody>
      </p:sp>
      <p:sp>
        <p:nvSpPr>
          <p:cNvPr id="4" name="Text Box 2"/>
          <p:cNvSpPr txBox="1">
            <a:spLocks noChangeArrowheads="1"/>
          </p:cNvSpPr>
          <p:nvPr/>
        </p:nvSpPr>
        <p:spPr bwMode="auto">
          <a:xfrm>
            <a:off x="179512" y="135732"/>
            <a:ext cx="853440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2.5.2   </a:t>
            </a:r>
            <a:r>
              <a:rPr lang="zh-CN" altLang="en-US" dirty="0">
                <a:solidFill>
                  <a:srgbClr val="FFFF00"/>
                </a:solidFill>
                <a:latin typeface="Times New Roman" panose="02020603050405020304" pitchFamily="18" charset="0"/>
              </a:rPr>
              <a:t>空间分析的不确定性</a:t>
            </a:r>
            <a:endParaRPr lang="zh-CN" altLang="en-US" sz="2800" b="0" dirty="0">
              <a:solidFill>
                <a:schemeClr val="accent2"/>
              </a:solidFill>
              <a:latin typeface="Times New Roman" panose="02020603050405020304" pitchFamily="18" charset="0"/>
            </a:endParaRPr>
          </a:p>
        </p:txBody>
      </p:sp>
    </p:spTree>
    <p:extLst>
      <p:ext uri="{BB962C8B-B14F-4D97-AF65-F5344CB8AC3E}">
        <p14:creationId xmlns:p14="http://schemas.microsoft.com/office/powerpoint/2010/main" val="2085802066"/>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Text Box 2"/>
          <p:cNvSpPr txBox="1">
            <a:spLocks noChangeArrowheads="1"/>
          </p:cNvSpPr>
          <p:nvPr/>
        </p:nvSpPr>
        <p:spPr bwMode="auto">
          <a:xfrm>
            <a:off x="251520" y="1340768"/>
            <a:ext cx="8693150" cy="32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FF00"/>
              </a:buClr>
              <a:buSzTx/>
              <a:buFont typeface="Wingdings" panose="05000000000000000000" pitchFamily="2" charset="2"/>
              <a:buNone/>
            </a:pPr>
            <a:r>
              <a:rPr lang="zh-CN" altLang="en-US" sz="2800" dirty="0">
                <a:solidFill>
                  <a:srgbClr val="0000CC"/>
                </a:solidFill>
                <a:latin typeface="Times New Roman" panose="02020603050405020304" pitchFamily="18" charset="0"/>
              </a:rPr>
              <a:t>（</a:t>
            </a:r>
            <a:r>
              <a:rPr lang="en-US" altLang="zh-CN" sz="2800" dirty="0">
                <a:solidFill>
                  <a:srgbClr val="0000CC"/>
                </a:solidFill>
                <a:latin typeface="Times New Roman" panose="02020603050405020304" pitchFamily="18" charset="0"/>
              </a:rPr>
              <a:t>3</a:t>
            </a:r>
            <a:r>
              <a:rPr lang="zh-CN" altLang="en-US" sz="2800" dirty="0">
                <a:solidFill>
                  <a:srgbClr val="0000CC"/>
                </a:solidFill>
                <a:latin typeface="Times New Roman" panose="02020603050405020304" pitchFamily="18" charset="0"/>
              </a:rPr>
              <a:t>）空间数据的不确定性直接影响</a:t>
            </a:r>
            <a:r>
              <a:rPr lang="en-US" altLang="zh-CN" sz="2800" dirty="0">
                <a:solidFill>
                  <a:srgbClr val="0000CC"/>
                </a:solidFill>
                <a:latin typeface="Times New Roman" panose="02020603050405020304" pitchFamily="18" charset="0"/>
              </a:rPr>
              <a:t>GIS</a:t>
            </a:r>
            <a:r>
              <a:rPr lang="zh-CN" altLang="en-US" sz="2800" dirty="0">
                <a:solidFill>
                  <a:srgbClr val="0000CC"/>
                </a:solidFill>
                <a:latin typeface="Times New Roman" panose="02020603050405020304" pitchFamily="18" charset="0"/>
              </a:rPr>
              <a:t>产品的质量</a:t>
            </a:r>
          </a:p>
          <a:p>
            <a:pPr eaLnBrk="1" hangingPunct="1">
              <a:spcBef>
                <a:spcPct val="50000"/>
              </a:spcBef>
              <a:buClr>
                <a:srgbClr val="FFFF00"/>
              </a:buClr>
              <a:buSzTx/>
              <a:buNone/>
            </a:pPr>
            <a:r>
              <a:rPr lang="zh-CN" altLang="en-US" sz="2800" b="0" dirty="0">
                <a:solidFill>
                  <a:srgbClr val="0000CC"/>
                </a:solidFill>
                <a:latin typeface="Times New Roman" panose="02020603050405020304" pitchFamily="18" charset="0"/>
              </a:rPr>
              <a:t>当前</a:t>
            </a:r>
            <a:r>
              <a:rPr lang="en-US" altLang="zh-CN" sz="2800" b="0" dirty="0">
                <a:solidFill>
                  <a:srgbClr val="0000CC"/>
                </a:solidFill>
                <a:latin typeface="Times New Roman" panose="02020603050405020304" pitchFamily="18" charset="0"/>
              </a:rPr>
              <a:t>GIS</a:t>
            </a:r>
            <a:r>
              <a:rPr lang="zh-CN" altLang="en-US" sz="2800" b="0" dirty="0">
                <a:solidFill>
                  <a:srgbClr val="0000CC"/>
                </a:solidFill>
                <a:latin typeface="Times New Roman" panose="02020603050405020304" pitchFamily="18" charset="0"/>
              </a:rPr>
              <a:t>软件设计的假设前提是空间数据中不含有误差</a:t>
            </a:r>
            <a:r>
              <a:rPr lang="zh-CN" altLang="en-US" sz="2800" b="0" dirty="0">
                <a:latin typeface="Times New Roman" panose="02020603050405020304" pitchFamily="18" charset="0"/>
              </a:rPr>
              <a:t>，</a:t>
            </a:r>
            <a:r>
              <a:rPr lang="en-US" altLang="zh-CN" sz="2800" b="0" dirty="0">
                <a:solidFill>
                  <a:srgbClr val="0000CC"/>
                </a:solidFill>
                <a:latin typeface="Times New Roman" panose="02020603050405020304" pitchFamily="18" charset="0"/>
              </a:rPr>
              <a:t>GIS</a:t>
            </a:r>
            <a:r>
              <a:rPr lang="zh-CN" altLang="en-US" sz="2800" b="0" dirty="0">
                <a:solidFill>
                  <a:srgbClr val="0000CC"/>
                </a:solidFill>
                <a:latin typeface="Times New Roman" panose="02020603050405020304" pitchFamily="18" charset="0"/>
              </a:rPr>
              <a:t>主要处理确定性数据</a:t>
            </a:r>
            <a:r>
              <a:rPr lang="zh-CN" altLang="en-US" sz="2800" b="0" dirty="0">
                <a:latin typeface="Times New Roman" panose="02020603050405020304" pitchFamily="18" charset="0"/>
              </a:rPr>
              <a:t>。</a:t>
            </a:r>
            <a:endParaRPr lang="en-US" altLang="zh-CN" sz="2800" b="0" dirty="0">
              <a:latin typeface="Times New Roman" panose="02020603050405020304" pitchFamily="18" charset="0"/>
            </a:endParaRPr>
          </a:p>
          <a:p>
            <a:pPr eaLnBrk="1" hangingPunct="1">
              <a:spcBef>
                <a:spcPct val="50000"/>
              </a:spcBef>
              <a:buClr>
                <a:srgbClr val="FFFF00"/>
              </a:buClr>
              <a:buSzTx/>
              <a:buNone/>
            </a:pPr>
            <a:r>
              <a:rPr lang="zh-CN" altLang="en-US" sz="2800" b="0" dirty="0">
                <a:latin typeface="Times New Roman" panose="02020603050405020304" pitchFamily="18" charset="0"/>
              </a:rPr>
              <a:t>这与空间数据中不确定性的普遍存在性相抵触。</a:t>
            </a:r>
          </a:p>
          <a:p>
            <a:pPr eaLnBrk="1" hangingPunct="1">
              <a:spcBef>
                <a:spcPct val="50000"/>
              </a:spcBef>
              <a:buClr>
                <a:srgbClr val="FFFF00"/>
              </a:buClr>
              <a:buSzTx/>
              <a:buNone/>
            </a:pPr>
            <a:r>
              <a:rPr lang="zh-CN" altLang="en-US" sz="2800" b="0" dirty="0">
                <a:solidFill>
                  <a:srgbClr val="0000CC"/>
                </a:solidFill>
                <a:latin typeface="Times New Roman" panose="02020603050405020304" pitchFamily="18" charset="0"/>
              </a:rPr>
              <a:t>利用只能处理确定性数据的</a:t>
            </a:r>
            <a:r>
              <a:rPr lang="en-US" altLang="zh-CN" sz="2800" b="0" dirty="0">
                <a:solidFill>
                  <a:srgbClr val="0000CC"/>
                </a:solidFill>
                <a:latin typeface="Times New Roman" panose="02020603050405020304" pitchFamily="18" charset="0"/>
              </a:rPr>
              <a:t>GIS</a:t>
            </a:r>
            <a:r>
              <a:rPr lang="zh-CN" altLang="en-US" sz="2800" b="0" dirty="0">
                <a:solidFill>
                  <a:srgbClr val="0000CC"/>
                </a:solidFill>
                <a:latin typeface="Times New Roman" panose="02020603050405020304" pitchFamily="18" charset="0"/>
              </a:rPr>
              <a:t>软件来处理大量具有不确定性的空间数据会导致与现实不符的结果。</a:t>
            </a:r>
            <a:endParaRPr lang="zh-CN" altLang="en-US" sz="2800" b="0" dirty="0">
              <a:latin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69</a:t>
            </a:fld>
            <a:endParaRPr lang="en-US" altLang="zh-CN"/>
          </a:p>
        </p:txBody>
      </p:sp>
      <p:sp>
        <p:nvSpPr>
          <p:cNvPr id="4" name="Text Box 2"/>
          <p:cNvSpPr txBox="1">
            <a:spLocks noChangeArrowheads="1"/>
          </p:cNvSpPr>
          <p:nvPr/>
        </p:nvSpPr>
        <p:spPr bwMode="auto">
          <a:xfrm>
            <a:off x="179512" y="135732"/>
            <a:ext cx="8534400"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2.5.2   </a:t>
            </a:r>
            <a:r>
              <a:rPr lang="zh-CN" altLang="en-US" dirty="0">
                <a:solidFill>
                  <a:srgbClr val="FFFF00"/>
                </a:solidFill>
                <a:latin typeface="Times New Roman" panose="02020603050405020304" pitchFamily="18" charset="0"/>
              </a:rPr>
              <a:t>空间分析的不确定性</a:t>
            </a:r>
            <a:endParaRPr lang="zh-CN" altLang="en-US" sz="2800" b="0" dirty="0">
              <a:solidFill>
                <a:schemeClr val="accent2"/>
              </a:solidFill>
              <a:latin typeface="Times New Roman" panose="02020603050405020304" pitchFamily="18" charset="0"/>
            </a:endParaRPr>
          </a:p>
        </p:txBody>
      </p:sp>
    </p:spTree>
    <p:extLst>
      <p:ext uri="{BB962C8B-B14F-4D97-AF65-F5344CB8AC3E}">
        <p14:creationId xmlns:p14="http://schemas.microsoft.com/office/powerpoint/2010/main" val="3252596580"/>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Text Box 2"/>
          <p:cNvSpPr txBox="1">
            <a:spLocks noChangeArrowheads="1"/>
          </p:cNvSpPr>
          <p:nvPr/>
        </p:nvSpPr>
        <p:spPr bwMode="auto">
          <a:xfrm>
            <a:off x="262681" y="1124744"/>
            <a:ext cx="8375650"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CC"/>
                </a:solidFill>
                <a:latin typeface="Times New Roman" panose="02020603050405020304" pitchFamily="18" charset="0"/>
              </a:rPr>
              <a:t>（</a:t>
            </a:r>
            <a:r>
              <a:rPr lang="en-US" altLang="zh-CN" sz="3600" dirty="0">
                <a:solidFill>
                  <a:srgbClr val="0000CC"/>
                </a:solidFill>
                <a:latin typeface="Times New Roman" panose="02020603050405020304" pitchFamily="18" charset="0"/>
              </a:rPr>
              <a:t>1</a:t>
            </a:r>
            <a:r>
              <a:rPr lang="zh-CN" altLang="en-US" sz="3600" dirty="0">
                <a:solidFill>
                  <a:srgbClr val="0000CC"/>
                </a:solidFill>
                <a:latin typeface="Times New Roman" panose="02020603050405020304" pitchFamily="18" charset="0"/>
              </a:rPr>
              <a:t>）网络分析及其不确定性</a:t>
            </a:r>
            <a:endParaRPr lang="en-US" altLang="zh-CN" sz="3600" dirty="0">
              <a:solidFill>
                <a:srgbClr val="0000CC"/>
              </a:solidFill>
              <a:latin typeface="Times New Roman" panose="02020603050405020304" pitchFamily="18" charset="0"/>
            </a:endParaRPr>
          </a:p>
          <a:p>
            <a:pPr eaLnBrk="1" hangingPunct="1">
              <a:spcBef>
                <a:spcPct val="50000"/>
              </a:spcBef>
              <a:buClrTx/>
              <a:buSzTx/>
              <a:buFontTx/>
              <a:buNone/>
            </a:pPr>
            <a:r>
              <a:rPr lang="zh-CN" altLang="en-US" sz="2800" b="0" dirty="0">
                <a:solidFill>
                  <a:srgbClr val="0000CC"/>
                </a:solidFill>
                <a:latin typeface="Times New Roman" panose="02020603050405020304" pitchFamily="18" charset="0"/>
                <a:ea typeface="楷体_GB2312" pitchFamily="49" charset="-122"/>
              </a:rPr>
              <a:t>网络分析</a:t>
            </a:r>
            <a:r>
              <a:rPr lang="zh-CN" altLang="en-US" sz="2800" b="0" dirty="0">
                <a:latin typeface="Times New Roman" panose="02020603050405020304" pitchFamily="18" charset="0"/>
                <a:ea typeface="楷体_GB2312" pitchFamily="49" charset="-122"/>
              </a:rPr>
              <a:t>是一种十分重要的</a:t>
            </a:r>
            <a:r>
              <a:rPr lang="en-US" altLang="zh-CN" sz="2800" b="0" dirty="0">
                <a:latin typeface="Times New Roman" panose="02020603050405020304" pitchFamily="18" charset="0"/>
                <a:ea typeface="楷体_GB2312" pitchFamily="49" charset="-122"/>
              </a:rPr>
              <a:t>GIS</a:t>
            </a:r>
            <a:r>
              <a:rPr lang="zh-CN" altLang="en-US" sz="2800" b="0" dirty="0">
                <a:latin typeface="Times New Roman" panose="02020603050405020304" pitchFamily="18" charset="0"/>
                <a:ea typeface="楷体_GB2312" pitchFamily="49" charset="-122"/>
              </a:rPr>
              <a:t>空间分析方法。</a:t>
            </a: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70</a:t>
            </a:fld>
            <a:endParaRPr lang="en-US" altLang="zh-CN"/>
          </a:p>
        </p:txBody>
      </p:sp>
      <p:sp>
        <p:nvSpPr>
          <p:cNvPr id="4" name="Text Box 2"/>
          <p:cNvSpPr txBox="1">
            <a:spLocks noChangeArrowheads="1"/>
          </p:cNvSpPr>
          <p:nvPr/>
        </p:nvSpPr>
        <p:spPr bwMode="auto">
          <a:xfrm>
            <a:off x="276225" y="188640"/>
            <a:ext cx="854868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2.5.3   </a:t>
            </a:r>
            <a:r>
              <a:rPr lang="zh-CN" altLang="en-US" dirty="0">
                <a:solidFill>
                  <a:srgbClr val="FFFF00"/>
                </a:solidFill>
                <a:latin typeface="Times New Roman" panose="02020603050405020304" pitchFamily="18" charset="0"/>
              </a:rPr>
              <a:t>空间分析方法的不确定性</a:t>
            </a:r>
            <a:endParaRPr lang="zh-CN" altLang="en-US" sz="2800" b="0" dirty="0">
              <a:latin typeface="Times New Roman" panose="02020603050405020304" pitchFamily="18" charset="0"/>
            </a:endParaRPr>
          </a:p>
        </p:txBody>
      </p:sp>
      <p:pic>
        <p:nvPicPr>
          <p:cNvPr id="5" name="Picture 5" descr="http://www.souvr.com/vr168/uploadfiles_8954/201010/201010111507278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781" y="3920920"/>
            <a:ext cx="4194175"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http://geolab.gzhu.edu.cn/experiment/gis/printing/images.files/image01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4024227"/>
            <a:ext cx="338137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2"/>
          <p:cNvSpPr txBox="1">
            <a:spLocks noChangeArrowheads="1"/>
          </p:cNvSpPr>
          <p:nvPr/>
        </p:nvSpPr>
        <p:spPr bwMode="auto">
          <a:xfrm>
            <a:off x="276225" y="2368252"/>
            <a:ext cx="837565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0" dirty="0">
                <a:latin typeface="Times New Roman" panose="02020603050405020304" pitchFamily="18" charset="0"/>
                <a:ea typeface="楷体_GB2312" pitchFamily="49" charset="-122"/>
              </a:rPr>
              <a:t>在实时交通网络分析过程中，网络结点</a:t>
            </a:r>
            <a:r>
              <a:rPr lang="en-US" altLang="zh-CN" sz="2800" b="0" dirty="0">
                <a:latin typeface="Times New Roman" panose="02020603050405020304" pitchFamily="18" charset="0"/>
                <a:ea typeface="楷体_GB2312" pitchFamily="49" charset="-122"/>
              </a:rPr>
              <a:t>(</a:t>
            </a:r>
            <a:r>
              <a:rPr lang="zh-CN" altLang="en-US" sz="2800" b="0" dirty="0">
                <a:latin typeface="Times New Roman" panose="02020603050405020304" pitchFamily="18" charset="0"/>
                <a:ea typeface="楷体_GB2312" pitchFamily="49" charset="-122"/>
              </a:rPr>
              <a:t>如十字路口</a:t>
            </a:r>
            <a:r>
              <a:rPr lang="en-US" altLang="zh-CN" sz="2800" b="0" dirty="0">
                <a:latin typeface="Times New Roman" panose="02020603050405020304" pitchFamily="18" charset="0"/>
                <a:ea typeface="楷体_GB2312" pitchFamily="49" charset="-122"/>
              </a:rPr>
              <a:t>)</a:t>
            </a:r>
            <a:r>
              <a:rPr lang="zh-CN" altLang="en-US" sz="2800" b="0" dirty="0">
                <a:latin typeface="Times New Roman" panose="02020603050405020304" pitchFamily="18" charset="0"/>
                <a:ea typeface="楷体_GB2312" pitchFamily="49" charset="-122"/>
              </a:rPr>
              <a:t>和边</a:t>
            </a:r>
            <a:r>
              <a:rPr lang="en-US" altLang="zh-CN" sz="2800" b="0" dirty="0">
                <a:latin typeface="Times New Roman" panose="02020603050405020304" pitchFamily="18" charset="0"/>
                <a:ea typeface="楷体_GB2312" pitchFamily="49" charset="-122"/>
              </a:rPr>
              <a:t>(</a:t>
            </a:r>
            <a:r>
              <a:rPr lang="zh-CN" altLang="en-US" sz="2800" b="0" dirty="0">
                <a:latin typeface="Times New Roman" panose="02020603050405020304" pitchFamily="18" charset="0"/>
                <a:ea typeface="楷体_GB2312" pitchFamily="49" charset="-122"/>
              </a:rPr>
              <a:t>站点之间的交通拥塞情况</a:t>
            </a:r>
            <a:r>
              <a:rPr lang="en-US" altLang="zh-CN" sz="2800" b="0" dirty="0">
                <a:latin typeface="Times New Roman" panose="02020603050405020304" pitchFamily="18" charset="0"/>
                <a:ea typeface="楷体_GB2312" pitchFamily="49" charset="-122"/>
              </a:rPr>
              <a:t>)</a:t>
            </a:r>
            <a:r>
              <a:rPr lang="zh-CN" altLang="en-US" sz="2800" b="0" dirty="0">
                <a:latin typeface="Times New Roman" panose="02020603050405020304" pitchFamily="18" charset="0"/>
                <a:ea typeface="楷体_GB2312" pitchFamily="49" charset="-122"/>
              </a:rPr>
              <a:t>具有</a:t>
            </a:r>
            <a:r>
              <a:rPr lang="zh-CN" altLang="en-US" sz="2800" b="0" dirty="0">
                <a:solidFill>
                  <a:srgbClr val="0000CC"/>
                </a:solidFill>
                <a:latin typeface="Times New Roman" panose="02020603050405020304" pitchFamily="18" charset="0"/>
                <a:ea typeface="楷体_GB2312" pitchFamily="49" charset="-122"/>
              </a:rPr>
              <a:t>动态性</a:t>
            </a:r>
            <a:r>
              <a:rPr lang="zh-CN" altLang="en-US" sz="2800" b="0" dirty="0">
                <a:latin typeface="Times New Roman" panose="02020603050405020304" pitchFamily="18" charset="0"/>
                <a:ea typeface="楷体_GB2312" pitchFamily="49" charset="-122"/>
              </a:rPr>
              <a:t>，以至于在</a:t>
            </a:r>
            <a:r>
              <a:rPr lang="zh-CN" altLang="en-US" sz="2800" b="0" dirty="0">
                <a:solidFill>
                  <a:srgbClr val="0000CC"/>
                </a:solidFill>
                <a:latin typeface="Times New Roman" panose="02020603050405020304" pitchFamily="18" charset="0"/>
                <a:ea typeface="楷体_GB2312" pitchFamily="49" charset="-122"/>
              </a:rPr>
              <a:t>实时的最佳路径分析中具有不确定性</a:t>
            </a:r>
            <a:r>
              <a:rPr lang="zh-CN" altLang="en-US" sz="2800" b="0" dirty="0">
                <a:latin typeface="Times New Roman" panose="02020603050405020304" pitchFamily="18" charset="0"/>
                <a:ea typeface="楷体_GB2312" pitchFamily="49" charset="-122"/>
              </a:rPr>
              <a:t>。</a:t>
            </a:r>
          </a:p>
        </p:txBody>
      </p:sp>
    </p:spTree>
    <p:extLst>
      <p:ext uri="{BB962C8B-B14F-4D97-AF65-F5344CB8AC3E}">
        <p14:creationId xmlns:p14="http://schemas.microsoft.com/office/powerpoint/2010/main" val="3517814178"/>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Text Box 2"/>
          <p:cNvSpPr txBox="1">
            <a:spLocks noChangeArrowheads="1"/>
          </p:cNvSpPr>
          <p:nvPr/>
        </p:nvSpPr>
        <p:spPr bwMode="auto">
          <a:xfrm>
            <a:off x="246063" y="1196752"/>
            <a:ext cx="862171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just" eaLnBrk="1" hangingPunct="1">
              <a:defRPr/>
            </a:pPr>
            <a:r>
              <a:rPr lang="zh-CN" altLang="en-US" sz="3200" b="1" dirty="0">
                <a:solidFill>
                  <a:srgbClr val="0000CC"/>
                </a:solidFill>
                <a:ea typeface="楷体_GB2312"/>
                <a:cs typeface="楷体_GB2312"/>
              </a:rPr>
              <a:t>（</a:t>
            </a:r>
            <a:r>
              <a:rPr lang="en-US" altLang="zh-CN" sz="3200" b="1" dirty="0">
                <a:solidFill>
                  <a:srgbClr val="0000CC"/>
                </a:solidFill>
                <a:ea typeface="楷体_GB2312"/>
                <a:cs typeface="楷体_GB2312"/>
              </a:rPr>
              <a:t>2</a:t>
            </a:r>
            <a:r>
              <a:rPr lang="zh-CN" altLang="en-US" sz="3200" b="1" dirty="0">
                <a:solidFill>
                  <a:srgbClr val="0000CC"/>
                </a:solidFill>
                <a:ea typeface="楷体_GB2312"/>
                <a:cs typeface="楷体_GB2312"/>
              </a:rPr>
              <a:t>）空间统计分析及其不确定性</a:t>
            </a:r>
            <a:endParaRPr lang="zh-CN" altLang="en-US" dirty="0">
              <a:solidFill>
                <a:srgbClr val="0000CC"/>
              </a:solidFill>
              <a:ea typeface="楷体_GB2312"/>
              <a:cs typeface="楷体_GB2312"/>
            </a:endParaRP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71</a:t>
            </a:fld>
            <a:endParaRPr lang="en-US" altLang="zh-CN"/>
          </a:p>
        </p:txBody>
      </p:sp>
      <p:sp>
        <p:nvSpPr>
          <p:cNvPr id="4" name="Text Box 2"/>
          <p:cNvSpPr txBox="1">
            <a:spLocks noChangeArrowheads="1"/>
          </p:cNvSpPr>
          <p:nvPr/>
        </p:nvSpPr>
        <p:spPr bwMode="auto">
          <a:xfrm>
            <a:off x="246063" y="1905945"/>
            <a:ext cx="8621712"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just" eaLnBrk="1" hangingPunct="1">
              <a:buClr>
                <a:srgbClr val="FFFF00"/>
              </a:buClr>
              <a:defRPr/>
            </a:pPr>
            <a:r>
              <a:rPr lang="zh-CN" altLang="en-US" dirty="0">
                <a:ea typeface="楷体_GB2312"/>
                <a:cs typeface="楷体_GB2312"/>
              </a:rPr>
              <a:t>空间统计分析是</a:t>
            </a:r>
            <a:r>
              <a:rPr lang="en-US" altLang="zh-CN" dirty="0">
                <a:ea typeface="楷体_GB2312"/>
                <a:cs typeface="楷体_GB2312"/>
              </a:rPr>
              <a:t>GIS</a:t>
            </a:r>
            <a:r>
              <a:rPr lang="zh-CN" altLang="en-US" dirty="0">
                <a:ea typeface="楷体_GB2312"/>
                <a:cs typeface="楷体_GB2312"/>
              </a:rPr>
              <a:t>空间分析的重要功能之一，空间统计分析方法包括：</a:t>
            </a:r>
            <a:r>
              <a:rPr lang="zh-CN" altLang="en-US" dirty="0">
                <a:solidFill>
                  <a:srgbClr val="0000CC"/>
                </a:solidFill>
                <a:ea typeface="楷体_GB2312"/>
                <a:cs typeface="楷体_GB2312"/>
              </a:rPr>
              <a:t>常规统计分析、空间自相关分析、回归分析、趋势分析</a:t>
            </a:r>
            <a:r>
              <a:rPr lang="zh-CN" altLang="en-US" dirty="0">
                <a:ea typeface="楷体_GB2312"/>
                <a:cs typeface="楷体_GB2312"/>
              </a:rPr>
              <a:t>、</a:t>
            </a:r>
            <a:r>
              <a:rPr lang="zh-CN" altLang="en-US" dirty="0">
                <a:solidFill>
                  <a:schemeClr val="accent2">
                    <a:lumMod val="60000"/>
                    <a:lumOff val="40000"/>
                  </a:schemeClr>
                </a:solidFill>
                <a:ea typeface="楷体_GB2312"/>
                <a:cs typeface="楷体_GB2312"/>
              </a:rPr>
              <a:t>专家打分模型分析</a:t>
            </a:r>
            <a:r>
              <a:rPr lang="zh-CN" altLang="en-US" dirty="0">
                <a:ea typeface="楷体_GB2312"/>
                <a:cs typeface="楷体_GB2312"/>
              </a:rPr>
              <a:t>等。</a:t>
            </a:r>
          </a:p>
          <a:p>
            <a:pPr algn="just" eaLnBrk="1" hangingPunct="1">
              <a:buClr>
                <a:srgbClr val="FFFF00"/>
              </a:buClr>
              <a:defRPr/>
            </a:pPr>
            <a:endParaRPr lang="en-US" altLang="zh-CN" dirty="0">
              <a:ea typeface="楷体_GB2312"/>
              <a:cs typeface="楷体_GB2312"/>
            </a:endParaRPr>
          </a:p>
          <a:p>
            <a:pPr algn="just" eaLnBrk="1" hangingPunct="1">
              <a:buClr>
                <a:srgbClr val="FFFF00"/>
              </a:buClr>
              <a:defRPr/>
            </a:pPr>
            <a:r>
              <a:rPr lang="zh-CN" altLang="en-US" dirty="0">
                <a:ea typeface="楷体_GB2312"/>
                <a:cs typeface="楷体_GB2312"/>
              </a:rPr>
              <a:t>统计分析方法选择的不同，得的统计分析结果也将不一致，</a:t>
            </a:r>
            <a:r>
              <a:rPr lang="zh-CN" altLang="en-US" dirty="0">
                <a:solidFill>
                  <a:srgbClr val="0000CC"/>
                </a:solidFill>
                <a:ea typeface="楷体_GB2312"/>
                <a:cs typeface="楷体_GB2312"/>
              </a:rPr>
              <a:t>具有不确定性</a:t>
            </a:r>
            <a:r>
              <a:rPr lang="zh-CN" altLang="en-US" dirty="0">
                <a:ea typeface="楷体_GB2312"/>
                <a:cs typeface="楷体_GB2312"/>
              </a:rPr>
              <a:t>。</a:t>
            </a:r>
          </a:p>
        </p:txBody>
      </p:sp>
      <p:sp>
        <p:nvSpPr>
          <p:cNvPr id="5" name="Text Box 2"/>
          <p:cNvSpPr txBox="1">
            <a:spLocks noChangeArrowheads="1"/>
          </p:cNvSpPr>
          <p:nvPr/>
        </p:nvSpPr>
        <p:spPr bwMode="auto">
          <a:xfrm>
            <a:off x="276225" y="188640"/>
            <a:ext cx="854868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2.5.3   </a:t>
            </a:r>
            <a:r>
              <a:rPr lang="zh-CN" altLang="en-US" dirty="0">
                <a:solidFill>
                  <a:srgbClr val="FFFF00"/>
                </a:solidFill>
                <a:latin typeface="Times New Roman" panose="02020603050405020304" pitchFamily="18" charset="0"/>
              </a:rPr>
              <a:t>空间分析方法的不确定性</a:t>
            </a:r>
            <a:endParaRPr lang="zh-CN" altLang="en-US" sz="2800" b="0" dirty="0">
              <a:latin typeface="Times New Roman" panose="02020603050405020304" pitchFamily="18" charset="0"/>
            </a:endParaRPr>
          </a:p>
        </p:txBody>
      </p:sp>
      <p:sp>
        <p:nvSpPr>
          <p:cNvPr id="6" name="Text Box 2"/>
          <p:cNvSpPr txBox="1">
            <a:spLocks noChangeArrowheads="1"/>
          </p:cNvSpPr>
          <p:nvPr/>
        </p:nvSpPr>
        <p:spPr bwMode="auto">
          <a:xfrm>
            <a:off x="306539" y="5019646"/>
            <a:ext cx="8621712"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just" eaLnBrk="1" hangingPunct="1">
              <a:buClr>
                <a:srgbClr val="FFFF00"/>
              </a:buClr>
              <a:defRPr/>
            </a:pPr>
            <a:r>
              <a:rPr lang="zh-CN" altLang="en-US" dirty="0">
                <a:solidFill>
                  <a:srgbClr val="0000CC"/>
                </a:solidFill>
                <a:ea typeface="楷体_GB2312"/>
                <a:cs typeface="楷体_GB2312"/>
              </a:rPr>
              <a:t>专家打分</a:t>
            </a:r>
            <a:r>
              <a:rPr lang="zh-CN" altLang="en-US" dirty="0">
                <a:ea typeface="楷体_GB2312"/>
                <a:cs typeface="楷体_GB2312"/>
              </a:rPr>
              <a:t>则具有明显的主观色彩，对最终结果必然带来不同程度的不确定性。</a:t>
            </a:r>
          </a:p>
        </p:txBody>
      </p:sp>
    </p:spTree>
    <p:extLst>
      <p:ext uri="{BB962C8B-B14F-4D97-AF65-F5344CB8AC3E}">
        <p14:creationId xmlns:p14="http://schemas.microsoft.com/office/powerpoint/2010/main" val="10780107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Text Box 2"/>
          <p:cNvSpPr txBox="1">
            <a:spLocks noChangeArrowheads="1"/>
          </p:cNvSpPr>
          <p:nvPr/>
        </p:nvSpPr>
        <p:spPr bwMode="auto">
          <a:xfrm>
            <a:off x="210485" y="1088740"/>
            <a:ext cx="862171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dirty="0">
                <a:solidFill>
                  <a:srgbClr val="0000CC"/>
                </a:solidFill>
                <a:latin typeface="Times New Roman" panose="02020603050405020304" pitchFamily="18" charset="0"/>
                <a:ea typeface="楷体_GB2312" pitchFamily="49" charset="-122"/>
              </a:rPr>
              <a:t>（</a:t>
            </a:r>
            <a:r>
              <a:rPr lang="en-US" altLang="zh-CN" dirty="0">
                <a:solidFill>
                  <a:srgbClr val="0000CC"/>
                </a:solidFill>
                <a:latin typeface="Times New Roman" panose="02020603050405020304" pitchFamily="18" charset="0"/>
                <a:ea typeface="楷体_GB2312" pitchFamily="49" charset="-122"/>
              </a:rPr>
              <a:t>3</a:t>
            </a:r>
            <a:r>
              <a:rPr lang="zh-CN" altLang="en-US" dirty="0">
                <a:solidFill>
                  <a:srgbClr val="0000CC"/>
                </a:solidFill>
                <a:latin typeface="Times New Roman" panose="02020603050405020304" pitchFamily="18" charset="0"/>
                <a:ea typeface="楷体_GB2312" pitchFamily="49" charset="-122"/>
              </a:rPr>
              <a:t>）叠置分析及其不确定性</a:t>
            </a:r>
            <a:endParaRPr lang="zh-CN" altLang="en-US" sz="2800" b="0" dirty="0">
              <a:solidFill>
                <a:srgbClr val="0000CC"/>
              </a:solidFill>
              <a:latin typeface="Times New Roman" panose="02020603050405020304" pitchFamily="18" charset="0"/>
              <a:ea typeface="楷体_GB2312" pitchFamily="49" charset="-122"/>
            </a:endParaRPr>
          </a:p>
        </p:txBody>
      </p:sp>
      <p:pic>
        <p:nvPicPr>
          <p:cNvPr id="157700" name="Picture 5" descr="http://t3.baidu.com/it/u=2267378180,2220280243&amp;fm=0&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4076700"/>
            <a:ext cx="2398712"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72</a:t>
            </a:fld>
            <a:endParaRPr lang="en-US" altLang="zh-CN"/>
          </a:p>
        </p:txBody>
      </p:sp>
      <p:sp>
        <p:nvSpPr>
          <p:cNvPr id="5" name="Text Box 2"/>
          <p:cNvSpPr txBox="1">
            <a:spLocks noChangeArrowheads="1"/>
          </p:cNvSpPr>
          <p:nvPr/>
        </p:nvSpPr>
        <p:spPr bwMode="auto">
          <a:xfrm>
            <a:off x="203201" y="1660297"/>
            <a:ext cx="8621712"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FF00"/>
              </a:buClr>
              <a:buSzTx/>
              <a:buNone/>
            </a:pPr>
            <a:r>
              <a:rPr lang="zh-CN" altLang="en-US" b="0" dirty="0">
                <a:solidFill>
                  <a:srgbClr val="0000CC"/>
                </a:solidFill>
                <a:latin typeface="Times New Roman" panose="02020603050405020304" pitchFamily="18" charset="0"/>
                <a:ea typeface="楷体_GB2312" pitchFamily="49" charset="-122"/>
              </a:rPr>
              <a:t>叠置分析</a:t>
            </a:r>
            <a:r>
              <a:rPr lang="zh-CN" altLang="en-US" b="0" dirty="0">
                <a:latin typeface="Times New Roman" panose="02020603050405020304" pitchFamily="18" charset="0"/>
                <a:ea typeface="楷体_GB2312" pitchFamily="49" charset="-122"/>
              </a:rPr>
              <a:t>的不确定性：</a:t>
            </a:r>
          </a:p>
          <a:p>
            <a:pPr marL="457200" indent="-457200" eaLnBrk="1" hangingPunct="1">
              <a:spcBef>
                <a:spcPts val="600"/>
              </a:spcBef>
              <a:buClr>
                <a:schemeClr val="accent6">
                  <a:lumMod val="50000"/>
                  <a:lumOff val="50000"/>
                </a:schemeClr>
              </a:buClr>
              <a:buSzTx/>
              <a:buFont typeface="Wingdings" panose="05000000000000000000" pitchFamily="2" charset="2"/>
              <a:buChar char="u"/>
            </a:pPr>
            <a:r>
              <a:rPr lang="zh-CN" altLang="en-US" b="0" dirty="0">
                <a:latin typeface="Times New Roman" panose="02020603050405020304" pitchFamily="18" charset="0"/>
                <a:ea typeface="楷体_GB2312" pitchFamily="49" charset="-122"/>
              </a:rPr>
              <a:t>叠置结果既保留了叠置前各层的点、线、面等空间对象的固有属性及其不确定性，</a:t>
            </a:r>
            <a:endParaRPr lang="en-US" altLang="zh-CN" b="0" dirty="0">
              <a:latin typeface="Times New Roman" panose="02020603050405020304" pitchFamily="18" charset="0"/>
              <a:ea typeface="楷体_GB2312" pitchFamily="49" charset="-122"/>
            </a:endParaRPr>
          </a:p>
          <a:p>
            <a:pPr marL="457200" indent="-457200" eaLnBrk="1" hangingPunct="1">
              <a:spcBef>
                <a:spcPts val="600"/>
              </a:spcBef>
              <a:buClr>
                <a:schemeClr val="accent6">
                  <a:lumMod val="50000"/>
                  <a:lumOff val="50000"/>
                </a:schemeClr>
              </a:buClr>
              <a:buSzTx/>
              <a:buFont typeface="Wingdings" panose="05000000000000000000" pitchFamily="2" charset="2"/>
              <a:buChar char="u"/>
            </a:pPr>
            <a:r>
              <a:rPr lang="zh-CN" altLang="en-US" b="0" dirty="0">
                <a:latin typeface="Times New Roman" panose="02020603050405020304" pitchFamily="18" charset="0"/>
                <a:ea typeface="楷体_GB2312" pitchFamily="49" charset="-122"/>
              </a:rPr>
              <a:t>同时由于叠置操作也产生了新的不确定性。</a:t>
            </a:r>
          </a:p>
        </p:txBody>
      </p:sp>
      <p:sp>
        <p:nvSpPr>
          <p:cNvPr id="6" name="Text Box 2"/>
          <p:cNvSpPr txBox="1">
            <a:spLocks noChangeArrowheads="1"/>
          </p:cNvSpPr>
          <p:nvPr/>
        </p:nvSpPr>
        <p:spPr bwMode="auto">
          <a:xfrm>
            <a:off x="276225" y="188640"/>
            <a:ext cx="854868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2.5.3   </a:t>
            </a:r>
            <a:r>
              <a:rPr lang="zh-CN" altLang="en-US" dirty="0">
                <a:solidFill>
                  <a:srgbClr val="FFFF00"/>
                </a:solidFill>
                <a:latin typeface="Times New Roman" panose="02020603050405020304" pitchFamily="18" charset="0"/>
              </a:rPr>
              <a:t>空间分析方法的不确定性</a:t>
            </a:r>
            <a:endParaRPr lang="zh-CN" altLang="en-US" sz="2800" b="0" dirty="0">
              <a:latin typeface="Times New Roman" panose="02020603050405020304" pitchFamily="18" charset="0"/>
            </a:endParaRPr>
          </a:p>
        </p:txBody>
      </p:sp>
    </p:spTree>
    <p:extLst>
      <p:ext uri="{BB962C8B-B14F-4D97-AF65-F5344CB8AC3E}">
        <p14:creationId xmlns:p14="http://schemas.microsoft.com/office/powerpoint/2010/main" val="1734627987"/>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Text Box 2"/>
          <p:cNvSpPr txBox="1">
            <a:spLocks noChangeArrowheads="1"/>
          </p:cNvSpPr>
          <p:nvPr/>
        </p:nvSpPr>
        <p:spPr bwMode="auto">
          <a:xfrm>
            <a:off x="260758" y="1052487"/>
            <a:ext cx="85344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800" dirty="0">
                <a:solidFill>
                  <a:srgbClr val="0000CC"/>
                </a:solidFill>
                <a:latin typeface="Times New Roman" panose="02020603050405020304" pitchFamily="18" charset="0"/>
                <a:ea typeface="楷体_GB2312" pitchFamily="49" charset="-122"/>
              </a:rPr>
              <a:t>（</a:t>
            </a:r>
            <a:r>
              <a:rPr lang="en-US" altLang="zh-CN" sz="2800" dirty="0">
                <a:solidFill>
                  <a:srgbClr val="0000CC"/>
                </a:solidFill>
                <a:latin typeface="Times New Roman" panose="02020603050405020304" pitchFamily="18" charset="0"/>
                <a:ea typeface="楷体_GB2312" pitchFamily="49" charset="-122"/>
              </a:rPr>
              <a:t>4</a:t>
            </a:r>
            <a:r>
              <a:rPr lang="zh-CN" altLang="en-US" sz="2800" dirty="0">
                <a:solidFill>
                  <a:srgbClr val="0000CC"/>
                </a:solidFill>
                <a:latin typeface="Times New Roman" panose="02020603050405020304" pitchFamily="18" charset="0"/>
                <a:ea typeface="楷体_GB2312" pitchFamily="49" charset="-122"/>
              </a:rPr>
              <a:t>）缓冲区分析及其不确定性</a:t>
            </a:r>
            <a:endParaRPr lang="zh-CN" altLang="en-US" sz="2800" b="0" dirty="0">
              <a:solidFill>
                <a:srgbClr val="0000CC"/>
              </a:solidFill>
              <a:latin typeface="Times New Roman" panose="02020603050405020304" pitchFamily="18" charset="0"/>
              <a:ea typeface="楷体_GB2312" pitchFamily="49" charset="-122"/>
            </a:endParaRPr>
          </a:p>
        </p:txBody>
      </p:sp>
      <p:pic>
        <p:nvPicPr>
          <p:cNvPr id="158724" name="Picture 5" descr="http://img15.artxun.com/sdc/oldimg/aaa7/aaa779ec8c22e88bb77a69c4a902428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3267008"/>
            <a:ext cx="323850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73</a:t>
            </a:fld>
            <a:endParaRPr lang="en-US" altLang="zh-CN"/>
          </a:p>
        </p:txBody>
      </p:sp>
      <p:sp>
        <p:nvSpPr>
          <p:cNvPr id="5" name="Text Box 2"/>
          <p:cNvSpPr txBox="1">
            <a:spLocks noChangeArrowheads="1"/>
          </p:cNvSpPr>
          <p:nvPr/>
        </p:nvSpPr>
        <p:spPr bwMode="auto">
          <a:xfrm>
            <a:off x="406400" y="1654218"/>
            <a:ext cx="8534400" cy="168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40000"/>
              </a:spcBef>
              <a:buClr>
                <a:srgbClr val="FFFF00"/>
              </a:buClr>
              <a:buSzTx/>
              <a:buNone/>
            </a:pPr>
            <a:r>
              <a:rPr lang="zh-CN" altLang="en-US" sz="2800" b="0" dirty="0">
                <a:solidFill>
                  <a:schemeClr val="accent2"/>
                </a:solidFill>
                <a:latin typeface="Times New Roman" panose="02020603050405020304" pitchFamily="18" charset="0"/>
                <a:ea typeface="楷体_GB2312" pitchFamily="49" charset="-122"/>
              </a:rPr>
              <a:t>缓冲区分析的不确定性（两个方面）：</a:t>
            </a:r>
            <a:endParaRPr lang="en-US" altLang="zh-CN" sz="2800" b="0" dirty="0">
              <a:solidFill>
                <a:schemeClr val="accent2"/>
              </a:solidFill>
              <a:latin typeface="Times New Roman" panose="02020603050405020304" pitchFamily="18" charset="0"/>
              <a:ea typeface="楷体_GB2312" pitchFamily="49" charset="-122"/>
            </a:endParaRPr>
          </a:p>
          <a:p>
            <a:pPr marL="457200" indent="-457200" eaLnBrk="1" hangingPunct="1">
              <a:spcBef>
                <a:spcPct val="40000"/>
              </a:spcBef>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ea typeface="楷体_GB2312" pitchFamily="49" charset="-122"/>
              </a:rPr>
              <a:t>源空间特征的位置不确定性、</a:t>
            </a:r>
            <a:endParaRPr lang="en-US" altLang="zh-CN" sz="2800" b="0" dirty="0">
              <a:solidFill>
                <a:srgbClr val="0000CC"/>
              </a:solidFill>
              <a:latin typeface="Times New Roman" panose="02020603050405020304" pitchFamily="18" charset="0"/>
              <a:ea typeface="楷体_GB2312" pitchFamily="49" charset="-122"/>
            </a:endParaRPr>
          </a:p>
          <a:p>
            <a:pPr marL="457200" indent="-457200" eaLnBrk="1" hangingPunct="1">
              <a:spcBef>
                <a:spcPct val="40000"/>
              </a:spcBef>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ea typeface="楷体_GB2312" pitchFamily="49" charset="-122"/>
              </a:rPr>
              <a:t>缓冲区宽度的不确定性</a:t>
            </a:r>
            <a:endParaRPr lang="zh-CN" altLang="en-US" sz="2800" b="0" dirty="0">
              <a:latin typeface="Times New Roman" panose="02020603050405020304" pitchFamily="18" charset="0"/>
              <a:ea typeface="楷体_GB2312" pitchFamily="49" charset="-122"/>
            </a:endParaRPr>
          </a:p>
        </p:txBody>
      </p:sp>
      <p:sp>
        <p:nvSpPr>
          <p:cNvPr id="6" name="Text Box 2"/>
          <p:cNvSpPr txBox="1">
            <a:spLocks noChangeArrowheads="1"/>
          </p:cNvSpPr>
          <p:nvPr/>
        </p:nvSpPr>
        <p:spPr bwMode="auto">
          <a:xfrm>
            <a:off x="276225" y="188640"/>
            <a:ext cx="854868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2.5.3   </a:t>
            </a:r>
            <a:r>
              <a:rPr lang="zh-CN" altLang="en-US" dirty="0">
                <a:solidFill>
                  <a:srgbClr val="FFFF00"/>
                </a:solidFill>
                <a:latin typeface="Times New Roman" panose="02020603050405020304" pitchFamily="18" charset="0"/>
              </a:rPr>
              <a:t>空间分析方法的不确定性</a:t>
            </a:r>
            <a:endParaRPr lang="zh-CN" altLang="en-US" sz="2800" b="0" dirty="0">
              <a:latin typeface="Times New Roman" panose="02020603050405020304" pitchFamily="18" charset="0"/>
            </a:endParaRPr>
          </a:p>
        </p:txBody>
      </p:sp>
    </p:spTree>
    <p:extLst>
      <p:ext uri="{BB962C8B-B14F-4D97-AF65-F5344CB8AC3E}">
        <p14:creationId xmlns:p14="http://schemas.microsoft.com/office/powerpoint/2010/main" val="1102916027"/>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Text Box 2"/>
          <p:cNvSpPr txBox="1">
            <a:spLocks noChangeArrowheads="1"/>
          </p:cNvSpPr>
          <p:nvPr/>
        </p:nvSpPr>
        <p:spPr bwMode="auto">
          <a:xfrm>
            <a:off x="323527" y="1262308"/>
            <a:ext cx="846137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1200"/>
              </a:spcBef>
              <a:buClrTx/>
              <a:buSzTx/>
              <a:buFontTx/>
              <a:buNone/>
            </a:pPr>
            <a:r>
              <a:rPr lang="zh-CN" altLang="en-US" sz="2800" dirty="0">
                <a:solidFill>
                  <a:srgbClr val="0000CC"/>
                </a:solidFill>
                <a:latin typeface="Times New Roman" panose="02020603050405020304" pitchFamily="18" charset="0"/>
                <a:ea typeface="楷体_GB2312" pitchFamily="49" charset="-122"/>
              </a:rPr>
              <a:t>（</a:t>
            </a:r>
            <a:r>
              <a:rPr lang="en-US" altLang="zh-CN" sz="2800" dirty="0">
                <a:solidFill>
                  <a:srgbClr val="0000CC"/>
                </a:solidFill>
                <a:latin typeface="Times New Roman" panose="02020603050405020304" pitchFamily="18" charset="0"/>
                <a:ea typeface="楷体_GB2312" pitchFamily="49" charset="-122"/>
              </a:rPr>
              <a:t>5</a:t>
            </a:r>
            <a:r>
              <a:rPr lang="zh-CN" altLang="en-US" sz="2800" dirty="0">
                <a:solidFill>
                  <a:srgbClr val="0000CC"/>
                </a:solidFill>
                <a:latin typeface="Times New Roman" panose="02020603050405020304" pitchFamily="18" charset="0"/>
                <a:ea typeface="楷体_GB2312" pitchFamily="49" charset="-122"/>
              </a:rPr>
              <a:t>）不确定性及其分布的可视化</a:t>
            </a:r>
            <a:endParaRPr lang="zh-CN" altLang="en-US" sz="2800" b="0" dirty="0">
              <a:solidFill>
                <a:srgbClr val="0000CC"/>
              </a:solidFill>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0"/>
          </p:nvPr>
        </p:nvSpPr>
        <p:spPr/>
        <p:txBody>
          <a:bodyPr/>
          <a:lstStyle/>
          <a:p>
            <a:pPr>
              <a:defRPr/>
            </a:pPr>
            <a:fld id="{FFB017E2-A819-45B0-ADA2-5E7883AB44A0}" type="slidenum">
              <a:rPr lang="zh-CN" altLang="en-US" smtClean="0"/>
              <a:pPr>
                <a:defRPr/>
              </a:pPr>
              <a:t>74</a:t>
            </a:fld>
            <a:endParaRPr lang="en-US" altLang="zh-CN"/>
          </a:p>
        </p:txBody>
      </p:sp>
      <p:sp>
        <p:nvSpPr>
          <p:cNvPr id="4" name="Text Box 2"/>
          <p:cNvSpPr txBox="1">
            <a:spLocks noChangeArrowheads="1"/>
          </p:cNvSpPr>
          <p:nvPr/>
        </p:nvSpPr>
        <p:spPr bwMode="auto">
          <a:xfrm>
            <a:off x="323527" y="2060848"/>
            <a:ext cx="8461375" cy="367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ts val="1200"/>
              </a:spcBef>
              <a:buClr>
                <a:srgbClr val="FFFF00"/>
              </a:buClr>
              <a:buSzTx/>
              <a:buNone/>
            </a:pPr>
            <a:r>
              <a:rPr lang="zh-CN" altLang="en-US" sz="2800" b="0" dirty="0">
                <a:solidFill>
                  <a:srgbClr val="0000CC"/>
                </a:solidFill>
                <a:latin typeface="Times New Roman" panose="02020603050405020304" pitchFamily="18" charset="0"/>
                <a:ea typeface="楷体_GB2312" pitchFamily="49" charset="-122"/>
              </a:rPr>
              <a:t>不确定性的可视化：</a:t>
            </a:r>
            <a:r>
              <a:rPr lang="zh-CN" altLang="en-US" sz="2800" b="0" dirty="0">
                <a:latin typeface="Times New Roman" panose="02020603050405020304" pitchFamily="18" charset="0"/>
                <a:ea typeface="楷体_GB2312" pitchFamily="49" charset="-122"/>
              </a:rPr>
              <a:t>空间分析的主要研究领域之一。</a:t>
            </a:r>
          </a:p>
          <a:p>
            <a:pPr eaLnBrk="1" hangingPunct="1">
              <a:spcBef>
                <a:spcPts val="1200"/>
              </a:spcBef>
              <a:buClr>
                <a:srgbClr val="FFFF00"/>
              </a:buClr>
              <a:buSzTx/>
              <a:buNone/>
            </a:pPr>
            <a:r>
              <a:rPr lang="zh-CN" altLang="en-US" sz="2800" dirty="0">
                <a:solidFill>
                  <a:srgbClr val="0000CC"/>
                </a:solidFill>
                <a:latin typeface="Times New Roman" panose="02020603050405020304" pitchFamily="18" charset="0"/>
                <a:ea typeface="楷体_GB2312" pitchFamily="49" charset="-122"/>
              </a:rPr>
              <a:t>空间数据质量的可视化</a:t>
            </a:r>
            <a:r>
              <a:rPr lang="zh-CN" altLang="en-US" sz="2800" b="0" dirty="0">
                <a:latin typeface="Times New Roman" panose="02020603050405020304" pitchFamily="18" charset="0"/>
                <a:ea typeface="楷体_GB2312" pitchFamily="49" charset="-122"/>
              </a:rPr>
              <a:t>采用直观的二维、三维图形或其它灵活的形式表现出数据的质量，可以把抽象的数据质量度量表现出来。</a:t>
            </a:r>
            <a:endParaRPr lang="zh-CN" altLang="en-US" sz="2800" b="0" dirty="0">
              <a:solidFill>
                <a:srgbClr val="0000CC"/>
              </a:solidFill>
              <a:latin typeface="Times New Roman" panose="02020603050405020304" pitchFamily="18" charset="0"/>
              <a:ea typeface="楷体_GB2312" pitchFamily="49" charset="-122"/>
            </a:endParaRPr>
          </a:p>
          <a:p>
            <a:pPr eaLnBrk="1" hangingPunct="1">
              <a:spcBef>
                <a:spcPts val="1200"/>
              </a:spcBef>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ea typeface="楷体_GB2312" pitchFamily="49" charset="-122"/>
              </a:rPr>
              <a:t>空间矢量数据误差模型的可视化表示</a:t>
            </a:r>
            <a:endParaRPr lang="en-US" altLang="zh-CN" sz="2800" b="0" dirty="0">
              <a:solidFill>
                <a:srgbClr val="0000CC"/>
              </a:solidFill>
              <a:latin typeface="Times New Roman" panose="02020603050405020304" pitchFamily="18" charset="0"/>
              <a:ea typeface="楷体_GB2312" pitchFamily="49" charset="-122"/>
            </a:endParaRPr>
          </a:p>
          <a:p>
            <a:pPr eaLnBrk="1" hangingPunct="1">
              <a:spcBef>
                <a:spcPts val="1200"/>
              </a:spcBef>
              <a:buClr>
                <a:srgbClr val="0000CC"/>
              </a:buClr>
              <a:buSzTx/>
              <a:buFont typeface="Wingdings" panose="05000000000000000000" pitchFamily="2" charset="2"/>
              <a:buChar char="Ø"/>
            </a:pPr>
            <a:r>
              <a:rPr lang="zh-CN" altLang="en-US" sz="2800" b="0" dirty="0">
                <a:solidFill>
                  <a:srgbClr val="0000CC"/>
                </a:solidFill>
                <a:latin typeface="Times New Roman" panose="02020603050405020304" pitchFamily="18" charset="0"/>
                <a:ea typeface="楷体_GB2312" pitchFamily="49" charset="-122"/>
              </a:rPr>
              <a:t>栅格数据</a:t>
            </a:r>
            <a:r>
              <a:rPr lang="en-US" altLang="zh-CN" sz="2800" b="0" dirty="0">
                <a:solidFill>
                  <a:srgbClr val="0000CC"/>
                </a:solidFill>
                <a:latin typeface="Times New Roman" panose="02020603050405020304" pitchFamily="18" charset="0"/>
                <a:ea typeface="楷体_GB2312" pitchFamily="49" charset="-122"/>
              </a:rPr>
              <a:t>(</a:t>
            </a:r>
            <a:r>
              <a:rPr lang="zh-CN" altLang="en-US" sz="2800" b="0" dirty="0">
                <a:solidFill>
                  <a:srgbClr val="0000CC"/>
                </a:solidFill>
                <a:latin typeface="Times New Roman" panose="02020603050405020304" pitchFamily="18" charset="0"/>
                <a:ea typeface="楷体_GB2312" pitchFamily="49" charset="-122"/>
              </a:rPr>
              <a:t>如影像分类</a:t>
            </a:r>
            <a:r>
              <a:rPr lang="en-US" altLang="zh-CN" sz="2800" b="0" dirty="0">
                <a:solidFill>
                  <a:srgbClr val="0000CC"/>
                </a:solidFill>
                <a:latin typeface="Times New Roman" panose="02020603050405020304" pitchFamily="18" charset="0"/>
                <a:ea typeface="楷体_GB2312" pitchFamily="49" charset="-122"/>
              </a:rPr>
              <a:t>)</a:t>
            </a:r>
            <a:r>
              <a:rPr lang="zh-CN" altLang="en-US" sz="2800" b="0" dirty="0">
                <a:solidFill>
                  <a:srgbClr val="0000CC"/>
                </a:solidFill>
                <a:latin typeface="Times New Roman" panose="02020603050405020304" pitchFamily="18" charset="0"/>
                <a:ea typeface="楷体_GB2312" pitchFamily="49" charset="-122"/>
              </a:rPr>
              <a:t>结果不确定性的可视化表示、</a:t>
            </a:r>
            <a:endParaRPr lang="en-US" altLang="zh-CN" sz="2800" b="0" dirty="0">
              <a:solidFill>
                <a:srgbClr val="0000CC"/>
              </a:solidFill>
              <a:latin typeface="Times New Roman" panose="02020603050405020304" pitchFamily="18" charset="0"/>
              <a:ea typeface="楷体_GB2312" pitchFamily="49" charset="-122"/>
            </a:endParaRPr>
          </a:p>
          <a:p>
            <a:pPr eaLnBrk="1" hangingPunct="1">
              <a:spcBef>
                <a:spcPts val="1200"/>
              </a:spcBef>
              <a:buClr>
                <a:srgbClr val="0000CC"/>
              </a:buClr>
              <a:buSzTx/>
              <a:buFont typeface="Wingdings" panose="05000000000000000000" pitchFamily="2" charset="2"/>
              <a:buChar char="Ø"/>
            </a:pPr>
            <a:r>
              <a:rPr lang="en-US" altLang="zh-CN" sz="2800" b="0" dirty="0">
                <a:solidFill>
                  <a:srgbClr val="0000CC"/>
                </a:solidFill>
                <a:latin typeface="Times New Roman" panose="02020603050405020304" pitchFamily="18" charset="0"/>
                <a:ea typeface="楷体_GB2312" pitchFamily="49" charset="-122"/>
              </a:rPr>
              <a:t>GIS</a:t>
            </a:r>
            <a:r>
              <a:rPr lang="zh-CN" altLang="en-US" sz="2800" b="0" dirty="0">
                <a:solidFill>
                  <a:srgbClr val="0000CC"/>
                </a:solidFill>
                <a:latin typeface="Times New Roman" panose="02020603050405020304" pitchFamily="18" charset="0"/>
                <a:ea typeface="楷体_GB2312" pitchFamily="49" charset="-122"/>
              </a:rPr>
              <a:t>分析应用结果中不确定性的可视化</a:t>
            </a:r>
            <a:r>
              <a:rPr lang="zh-CN" altLang="en-US" sz="2800" b="0" dirty="0">
                <a:latin typeface="Times New Roman" panose="02020603050405020304" pitchFamily="18" charset="0"/>
                <a:ea typeface="楷体_GB2312" pitchFamily="49" charset="-122"/>
              </a:rPr>
              <a:t>等。</a:t>
            </a:r>
          </a:p>
        </p:txBody>
      </p:sp>
      <p:sp>
        <p:nvSpPr>
          <p:cNvPr id="5" name="Text Box 2"/>
          <p:cNvSpPr txBox="1">
            <a:spLocks noChangeArrowheads="1"/>
          </p:cNvSpPr>
          <p:nvPr/>
        </p:nvSpPr>
        <p:spPr bwMode="auto">
          <a:xfrm>
            <a:off x="276225" y="188640"/>
            <a:ext cx="854868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tIns="0">
            <a:spAutoFit/>
          </a:bodyPr>
          <a:lstStyle>
            <a:lvl1pPr>
              <a:spcBef>
                <a:spcPct val="20000"/>
              </a:spcBef>
              <a:buClr>
                <a:schemeClr val="accent2"/>
              </a:buClr>
              <a:buSzPct val="80000"/>
              <a:buFont typeface="Wingdings" panose="05000000000000000000" pitchFamily="2" charset="2"/>
              <a:buChar char="l"/>
              <a:defRPr kumimoji="1" sz="32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kumimoji="1"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Char char="•"/>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kumimoji="1"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dirty="0">
                <a:solidFill>
                  <a:srgbClr val="FFFF00"/>
                </a:solidFill>
                <a:latin typeface="Times New Roman" panose="02020603050405020304" pitchFamily="18" charset="0"/>
              </a:rPr>
              <a:t>2.5.3   </a:t>
            </a:r>
            <a:r>
              <a:rPr lang="zh-CN" altLang="en-US" dirty="0">
                <a:solidFill>
                  <a:srgbClr val="FFFF00"/>
                </a:solidFill>
                <a:latin typeface="Times New Roman" panose="02020603050405020304" pitchFamily="18" charset="0"/>
              </a:rPr>
              <a:t>空间分析方法的不确定性</a:t>
            </a:r>
            <a:endParaRPr lang="zh-CN" altLang="en-US" sz="2800" b="0" dirty="0">
              <a:latin typeface="Times New Roman" panose="02020603050405020304" pitchFamily="18" charset="0"/>
            </a:endParaRPr>
          </a:p>
        </p:txBody>
      </p:sp>
    </p:spTree>
    <p:extLst>
      <p:ext uri="{BB962C8B-B14F-4D97-AF65-F5344CB8AC3E}">
        <p14:creationId xmlns:p14="http://schemas.microsoft.com/office/powerpoint/2010/main" val="2766301309"/>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1" name="Text Box 4"/>
          <p:cNvSpPr txBox="1">
            <a:spLocks noChangeArrowheads="1"/>
          </p:cNvSpPr>
          <p:nvPr/>
        </p:nvSpPr>
        <p:spPr bwMode="auto">
          <a:xfrm>
            <a:off x="-34925" y="908720"/>
            <a:ext cx="9144000" cy="1129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113157" tIns="56579" rIns="113157" bIns="56579">
            <a:spAutoFit/>
          </a:bodyPr>
          <a:lstStyle>
            <a:lvl1pPr defTabSz="1131888" eaLnBrk="0" hangingPunct="0">
              <a:defRPr>
                <a:solidFill>
                  <a:srgbClr val="000000"/>
                </a:solidFill>
                <a:latin typeface="Arial" pitchFamily="34" charset="0"/>
                <a:ea typeface="黑体" pitchFamily="49" charset="-122"/>
              </a:defRPr>
            </a:lvl1pPr>
            <a:lvl2pPr marL="742950" indent="-285750" defTabSz="1131888" eaLnBrk="0" hangingPunct="0">
              <a:defRPr>
                <a:solidFill>
                  <a:srgbClr val="000000"/>
                </a:solidFill>
                <a:latin typeface="Arial" pitchFamily="34" charset="0"/>
                <a:ea typeface="黑体" pitchFamily="49" charset="-122"/>
              </a:defRPr>
            </a:lvl2pPr>
            <a:lvl3pPr marL="1143000" indent="-228600" defTabSz="1131888" eaLnBrk="0" hangingPunct="0">
              <a:defRPr>
                <a:solidFill>
                  <a:srgbClr val="000000"/>
                </a:solidFill>
                <a:latin typeface="Arial" pitchFamily="34" charset="0"/>
                <a:ea typeface="黑体" pitchFamily="49" charset="-122"/>
              </a:defRPr>
            </a:lvl3pPr>
            <a:lvl4pPr marL="1600200" indent="-228600" defTabSz="1131888" eaLnBrk="0" hangingPunct="0">
              <a:defRPr>
                <a:solidFill>
                  <a:srgbClr val="000000"/>
                </a:solidFill>
                <a:latin typeface="Arial" pitchFamily="34" charset="0"/>
                <a:ea typeface="黑体" pitchFamily="49" charset="-122"/>
              </a:defRPr>
            </a:lvl4pPr>
            <a:lvl5pPr marL="2057400" indent="-228600" defTabSz="1131888" eaLnBrk="0" hangingPunct="0">
              <a:defRPr>
                <a:solidFill>
                  <a:srgbClr val="000000"/>
                </a:solidFill>
                <a:latin typeface="Arial" pitchFamily="34" charset="0"/>
                <a:ea typeface="黑体" pitchFamily="49" charset="-122"/>
              </a:defRPr>
            </a:lvl5pPr>
            <a:lvl6pPr marL="2514600" indent="-228600" defTabSz="1131888" eaLnBrk="0" fontAlgn="base" hangingPunct="0">
              <a:spcBef>
                <a:spcPct val="0"/>
              </a:spcBef>
              <a:spcAft>
                <a:spcPct val="0"/>
              </a:spcAft>
              <a:defRPr>
                <a:solidFill>
                  <a:srgbClr val="000000"/>
                </a:solidFill>
                <a:latin typeface="Arial" pitchFamily="34" charset="0"/>
                <a:ea typeface="黑体" pitchFamily="49" charset="-122"/>
              </a:defRPr>
            </a:lvl6pPr>
            <a:lvl7pPr marL="2971800" indent="-228600" defTabSz="1131888" eaLnBrk="0" fontAlgn="base" hangingPunct="0">
              <a:spcBef>
                <a:spcPct val="0"/>
              </a:spcBef>
              <a:spcAft>
                <a:spcPct val="0"/>
              </a:spcAft>
              <a:defRPr>
                <a:solidFill>
                  <a:srgbClr val="000000"/>
                </a:solidFill>
                <a:latin typeface="Arial" pitchFamily="34" charset="0"/>
                <a:ea typeface="黑体" pitchFamily="49" charset="-122"/>
              </a:defRPr>
            </a:lvl7pPr>
            <a:lvl8pPr marL="3429000" indent="-228600" defTabSz="1131888" eaLnBrk="0" fontAlgn="base" hangingPunct="0">
              <a:spcBef>
                <a:spcPct val="0"/>
              </a:spcBef>
              <a:spcAft>
                <a:spcPct val="0"/>
              </a:spcAft>
              <a:defRPr>
                <a:solidFill>
                  <a:srgbClr val="000000"/>
                </a:solidFill>
                <a:latin typeface="Arial" pitchFamily="34" charset="0"/>
                <a:ea typeface="黑体" pitchFamily="49" charset="-122"/>
              </a:defRPr>
            </a:lvl8pPr>
            <a:lvl9pPr marL="3886200" indent="-228600" defTabSz="1131888" eaLnBrk="0" fontAlgn="base" hangingPunct="0">
              <a:spcBef>
                <a:spcPct val="0"/>
              </a:spcBef>
              <a:spcAft>
                <a:spcPct val="0"/>
              </a:spcAft>
              <a:defRPr>
                <a:solidFill>
                  <a:srgbClr val="000000"/>
                </a:solidFill>
                <a:latin typeface="Arial" pitchFamily="34" charset="0"/>
                <a:ea typeface="黑体" pitchFamily="49" charset="-122"/>
              </a:defRPr>
            </a:lvl9pPr>
          </a:lstStyle>
          <a:p>
            <a:pPr algn="ctr" eaLnBrk="1" hangingPunct="1">
              <a:spcBef>
                <a:spcPts val="0"/>
              </a:spcBef>
            </a:pPr>
            <a:r>
              <a:rPr kumimoji="1" lang="en-US" altLang="zh-CN" sz="6600" b="1" dirty="0">
                <a:solidFill>
                  <a:srgbClr val="FF0000"/>
                </a:solidFill>
                <a:latin typeface="Times New Roman" panose="02020603050405020304" pitchFamily="18" charset="0"/>
                <a:ea typeface="+mn-ea"/>
                <a:cs typeface="Times New Roman" panose="02020603050405020304" pitchFamily="18" charset="0"/>
              </a:rPr>
              <a:t>Questions/Comments?</a:t>
            </a:r>
            <a:endParaRPr kumimoji="1" lang="zh-CN" altLang="en-US" sz="6600" b="1" dirty="0">
              <a:solidFill>
                <a:srgbClr val="FF0000"/>
              </a:solidFill>
              <a:latin typeface="Times New Roman" panose="02020603050405020304" pitchFamily="18" charset="0"/>
              <a:ea typeface="+mn-ea"/>
              <a:cs typeface="Times New Roman" panose="02020603050405020304" pitchFamily="18" charset="0"/>
            </a:endParaRPr>
          </a:p>
        </p:txBody>
      </p:sp>
      <p:sp>
        <p:nvSpPr>
          <p:cNvPr id="7" name="Rectangle 94"/>
          <p:cNvSpPr>
            <a:spLocks noChangeArrowheads="1"/>
          </p:cNvSpPr>
          <p:nvPr/>
        </p:nvSpPr>
        <p:spPr bwMode="black">
          <a:xfrm>
            <a:off x="-1" y="1"/>
            <a:ext cx="9109075" cy="839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61950" indent="-361950" algn="ctr" eaLnBrk="0" hangingPunct="0"/>
            <a:r>
              <a:rPr lang="en-US" altLang="zh-CN" sz="5400" b="1" dirty="0">
                <a:solidFill>
                  <a:srgbClr val="FFFF00"/>
                </a:solidFill>
                <a:ea typeface="微软雅黑" pitchFamily="34" charset="-122"/>
              </a:rPr>
              <a:t> Thanks!</a:t>
            </a:r>
            <a:endParaRPr lang="zh-CN" altLang="en-US" sz="5400" b="1" dirty="0">
              <a:solidFill>
                <a:srgbClr val="FFFF00"/>
              </a:solidFill>
              <a:ea typeface="微软雅黑" pitchFamily="34" charset="-122"/>
            </a:endParaRPr>
          </a:p>
        </p:txBody>
      </p:sp>
      <p:sp>
        <p:nvSpPr>
          <p:cNvPr id="2" name="灯片编号占位符 1"/>
          <p:cNvSpPr>
            <a:spLocks noGrp="1"/>
          </p:cNvSpPr>
          <p:nvPr>
            <p:ph type="sldNum" sz="quarter" idx="10"/>
          </p:nvPr>
        </p:nvSpPr>
        <p:spPr/>
        <p:txBody>
          <a:bodyPr/>
          <a:lstStyle/>
          <a:p>
            <a:pPr>
              <a:defRPr/>
            </a:pPr>
            <a:fld id="{F2022BCA-CEF6-49A1-BA1D-26724DAA5E0F}" type="slidenum">
              <a:rPr lang="zh-CN" altLang="en-US" smtClean="0"/>
              <a:pPr>
                <a:defRPr/>
              </a:pPr>
              <a:t>75</a:t>
            </a:fld>
            <a:endParaRPr lang="en-US" altLang="zh-CN"/>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3896" y="1964170"/>
            <a:ext cx="6148258" cy="4777197"/>
          </a:xfrm>
          <a:prstGeom prst="rect">
            <a:avLst/>
          </a:prstGeom>
        </p:spPr>
      </p:pic>
    </p:spTree>
    <p:extLst>
      <p:ext uri="{BB962C8B-B14F-4D97-AF65-F5344CB8AC3E}">
        <p14:creationId xmlns:p14="http://schemas.microsoft.com/office/powerpoint/2010/main" val="1616796468"/>
      </p:ext>
    </p:extLst>
  </p:cSld>
  <p:clrMapOvr>
    <a:masterClrMapping/>
  </p:clrMapOvr>
  <p:transition advTm="1403"/>
</p:sld>
</file>

<file path=ppt/theme/theme1.xml><?xml version="1.0" encoding="utf-8"?>
<a:theme xmlns:a="http://schemas.openxmlformats.org/drawingml/2006/main" name="Copyright (c) 2007-2010 NordriDesign™ _light">
  <a:themeElements>
    <a:clrScheme name="Copyright (c) 2007-2010 NordriDesign™ _light 9">
      <a:dk1>
        <a:srgbClr val="B2B2B2"/>
      </a:dk1>
      <a:lt1>
        <a:srgbClr val="FFFFFF"/>
      </a:lt1>
      <a:dk2>
        <a:srgbClr val="000000"/>
      </a:dk2>
      <a:lt2>
        <a:srgbClr val="FFFFFF"/>
      </a:lt2>
      <a:accent1>
        <a:srgbClr val="43A1FF"/>
      </a:accent1>
      <a:accent2>
        <a:srgbClr val="00246C"/>
      </a:accent2>
      <a:accent3>
        <a:srgbClr val="AAAAAA"/>
      </a:accent3>
      <a:accent4>
        <a:srgbClr val="DADADA"/>
      </a:accent4>
      <a:accent5>
        <a:srgbClr val="B0CDFF"/>
      </a:accent5>
      <a:accent6>
        <a:srgbClr val="002061"/>
      </a:accent6>
      <a:hlink>
        <a:srgbClr val="FEA23C"/>
      </a:hlink>
      <a:folHlink>
        <a:srgbClr val="FFFF5B"/>
      </a:folHlink>
    </a:clrScheme>
    <a:fontScheme name="Copyright (c) 2007-2010 NordriDesign™ _light">
      <a:majorFont>
        <a:latin typeface="微软雅黑"/>
        <a:ea typeface="宋体"/>
        <a:cs typeface=""/>
      </a:majorFont>
      <a:minorFont>
        <a:latin typeface="微软雅黑"/>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Copyright (c) 2007-2010 NordriDesign™ _light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clrMap bg1="lt1" tx1="dk1" bg2="lt2" tx2="dk2" accent1="accent1" accent2="accent2" accent3="accent3" accent4="accent4" accent5="accent5" accent6="accent6" hlink="hlink" folHlink="folHlink"/>
    </a:extraClrScheme>
    <a:extraClrScheme>
      <a:clrScheme name="Copyright (c) 2007-2010 NordriDesign™ _light 2">
        <a:dk1>
          <a:srgbClr val="B2B2B2"/>
        </a:dk1>
        <a:lt1>
          <a:srgbClr val="FFFFFF"/>
        </a:lt1>
        <a:dk2>
          <a:srgbClr val="000000"/>
        </a:dk2>
        <a:lt2>
          <a:srgbClr val="FFFFFF"/>
        </a:lt2>
        <a:accent1>
          <a:srgbClr val="0066CC"/>
        </a:accent1>
        <a:accent2>
          <a:srgbClr val="003399"/>
        </a:accent2>
        <a:accent3>
          <a:srgbClr val="AAAAAA"/>
        </a:accent3>
        <a:accent4>
          <a:srgbClr val="DADADA"/>
        </a:accent4>
        <a:accent5>
          <a:srgbClr val="AAB8E2"/>
        </a:accent5>
        <a:accent6>
          <a:srgbClr val="002D8A"/>
        </a:accent6>
        <a:hlink>
          <a:srgbClr val="FEA23C"/>
        </a:hlink>
        <a:folHlink>
          <a:srgbClr val="FFCC66"/>
        </a:folHlink>
      </a:clrScheme>
      <a:clrMap bg1="dk2" tx1="lt1" bg2="dk1" tx2="lt2" accent1="accent1" accent2="accent2" accent3="accent3" accent4="accent4" accent5="accent5" accent6="accent6" hlink="hlink" folHlink="folHlink"/>
    </a:extraClrScheme>
    <a:extraClrScheme>
      <a:clrScheme name="Copyright (c) 2007-2010 NordriDesign™ _light 3">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CC66"/>
        </a:folHlink>
      </a:clrScheme>
      <a:clrMap bg1="dk2" tx1="lt1" bg2="dk1" tx2="lt2" accent1="accent1" accent2="accent2" accent3="accent3" accent4="accent4" accent5="accent5" accent6="accent6" hlink="hlink" folHlink="folHlink"/>
    </a:extraClrScheme>
    <a:extraClrScheme>
      <a:clrScheme name="Copyright (c) 2007-2010 NordriDesign™ _light 4">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99"/>
        </a:folHlink>
      </a:clrScheme>
      <a:clrMap bg1="dk2" tx1="lt1" bg2="dk1" tx2="lt2" accent1="accent1" accent2="accent2" accent3="accent3" accent4="accent4" accent5="accent5" accent6="accent6" hlink="hlink" folHlink="folHlink"/>
    </a:extraClrScheme>
    <a:extraClrScheme>
      <a:clrScheme name="Copyright (c) 2007-2010 NordriDesign™ _light 5">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B9"/>
        </a:folHlink>
      </a:clrScheme>
      <a:clrMap bg1="dk2" tx1="lt1" bg2="dk1" tx2="lt2" accent1="accent1" accent2="accent2" accent3="accent3" accent4="accent4" accent5="accent5" accent6="accent6" hlink="hlink" folHlink="folHlink"/>
    </a:extraClrScheme>
    <a:extraClrScheme>
      <a:clrScheme name="Copyright (c) 2007-2010 NordriDesign™ _light 6">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00"/>
        </a:folHlink>
      </a:clrScheme>
      <a:clrMap bg1="dk2" tx1="lt1" bg2="dk1" tx2="lt2" accent1="accent1" accent2="accent2" accent3="accent3" accent4="accent4" accent5="accent5" accent6="accent6" hlink="hlink" folHlink="folHlink"/>
    </a:extraClrScheme>
    <a:extraClrScheme>
      <a:clrScheme name="Copyright (c) 2007-2010 NordriDesign™ _light 7">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Copyright (c) 2007-2010 NordriDesign™ _light 8">
        <a:dk1>
          <a:srgbClr val="B2B2B2"/>
        </a:dk1>
        <a:lt1>
          <a:srgbClr val="FFFFFF"/>
        </a:lt1>
        <a:dk2>
          <a:srgbClr val="000000"/>
        </a:dk2>
        <a:lt2>
          <a:srgbClr val="FFFFFF"/>
        </a:lt2>
        <a:accent1>
          <a:srgbClr val="43A1FF"/>
        </a:accent1>
        <a:accent2>
          <a:srgbClr val="001F5C"/>
        </a:accent2>
        <a:accent3>
          <a:srgbClr val="AAAAAA"/>
        </a:accent3>
        <a:accent4>
          <a:srgbClr val="DADADA"/>
        </a:accent4>
        <a:accent5>
          <a:srgbClr val="B0CDFF"/>
        </a:accent5>
        <a:accent6>
          <a:srgbClr val="001B53"/>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Copyright (c) 2007-2010 NordriDesign™ _light 9">
        <a:dk1>
          <a:srgbClr val="B2B2B2"/>
        </a:dk1>
        <a:lt1>
          <a:srgbClr val="FFFFFF"/>
        </a:lt1>
        <a:dk2>
          <a:srgbClr val="000000"/>
        </a:dk2>
        <a:lt2>
          <a:srgbClr val="FFFFFF"/>
        </a:lt2>
        <a:accent1>
          <a:srgbClr val="43A1FF"/>
        </a:accent1>
        <a:accent2>
          <a:srgbClr val="00246C"/>
        </a:accent2>
        <a:accent3>
          <a:srgbClr val="AAAAAA"/>
        </a:accent3>
        <a:accent4>
          <a:srgbClr val="DADADA"/>
        </a:accent4>
        <a:accent5>
          <a:srgbClr val="B0CDFF"/>
        </a:accent5>
        <a:accent6>
          <a:srgbClr val="002061"/>
        </a:accent6>
        <a:hlink>
          <a:srgbClr val="FEA23C"/>
        </a:hlink>
        <a:folHlink>
          <a:srgbClr val="FFFF5B"/>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opyright (c) 2007-2010 NordriDesign™ _light">
  <a:themeElements>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_Copyright (c) 2007-2010 NordriDesign™ _ligh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57150">
          <a:solidFill>
            <a:srgbClr val="FF0000"/>
          </a:solidFill>
          <a:prstDash val="dash"/>
          <a:round/>
          <a:headEnd/>
          <a:tailEnd type="triangle" w="med" len="med"/>
        </a:ln>
      </a:spPr>
      <a:bodyP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14276</TotalTime>
  <Words>5448</Words>
  <Application>Microsoft Office PowerPoint</Application>
  <PresentationFormat>On-screen Show (4:3)</PresentationFormat>
  <Paragraphs>622</Paragraphs>
  <Slides>75</Slides>
  <Notes>39</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4</vt:i4>
      </vt:variant>
      <vt:variant>
        <vt:lpstr>Slide Titles</vt:lpstr>
      </vt:variant>
      <vt:variant>
        <vt:i4>75</vt:i4>
      </vt:variant>
    </vt:vector>
  </HeadingPairs>
  <TitlesOfParts>
    <vt:vector size="90" baseType="lpstr">
      <vt:lpstr>楷体_GB2312</vt:lpstr>
      <vt:lpstr>微软雅黑</vt:lpstr>
      <vt:lpstr>黑体</vt:lpstr>
      <vt:lpstr>宋体</vt:lpstr>
      <vt:lpstr>锐字真言体免费商用</vt:lpstr>
      <vt:lpstr>思源黑体 CN Normal</vt:lpstr>
      <vt:lpstr>Arial</vt:lpstr>
      <vt:lpstr>Times New Roman</vt:lpstr>
      <vt:lpstr>Wingdings</vt:lpstr>
      <vt:lpstr>Copyright (c) 2007-2010 NordriDesign™ _light</vt:lpstr>
      <vt:lpstr>1_Copyright (c) 2007-2010 NordriDesign™ _light</vt:lpstr>
      <vt:lpstr>Equation</vt:lpstr>
      <vt:lpstr>Equation.DSMT4</vt:lpstr>
      <vt:lpstr>公式</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dc:creator>
  <cp:lastModifiedBy>Xiran</cp:lastModifiedBy>
  <cp:revision>1288</cp:revision>
  <dcterms:created xsi:type="dcterms:W3CDTF">2011-05-09T02:43:52Z</dcterms:created>
  <dcterms:modified xsi:type="dcterms:W3CDTF">2024-02-26T12:34:43Z</dcterms:modified>
</cp:coreProperties>
</file>