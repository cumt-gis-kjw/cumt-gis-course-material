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1"/>
  </p:sldMasterIdLst>
  <p:notesMasterIdLst>
    <p:notesMasterId r:id="rId98"/>
  </p:notesMasterIdLst>
  <p:sldIdLst>
    <p:sldId id="256" r:id="rId2"/>
    <p:sldId id="259" r:id="rId3"/>
    <p:sldId id="260" r:id="rId4"/>
    <p:sldId id="261" r:id="rId5"/>
    <p:sldId id="262" r:id="rId6"/>
    <p:sldId id="263" r:id="rId7"/>
    <p:sldId id="283" r:id="rId8"/>
    <p:sldId id="264" r:id="rId9"/>
    <p:sldId id="265" r:id="rId10"/>
    <p:sldId id="266" r:id="rId11"/>
    <p:sldId id="284" r:id="rId12"/>
    <p:sldId id="267" r:id="rId13"/>
    <p:sldId id="268" r:id="rId14"/>
    <p:sldId id="269" r:id="rId15"/>
    <p:sldId id="332" r:id="rId16"/>
    <p:sldId id="379" r:id="rId17"/>
    <p:sldId id="380" r:id="rId18"/>
    <p:sldId id="381" r:id="rId19"/>
    <p:sldId id="382" r:id="rId20"/>
    <p:sldId id="270" r:id="rId21"/>
    <p:sldId id="271" r:id="rId22"/>
    <p:sldId id="333" r:id="rId23"/>
    <p:sldId id="383" r:id="rId24"/>
    <p:sldId id="273" r:id="rId25"/>
    <p:sldId id="286" r:id="rId26"/>
    <p:sldId id="276" r:id="rId27"/>
    <p:sldId id="277" r:id="rId28"/>
    <p:sldId id="278" r:id="rId29"/>
    <p:sldId id="279" r:id="rId30"/>
    <p:sldId id="280" r:id="rId31"/>
    <p:sldId id="385" r:id="rId32"/>
    <p:sldId id="386" r:id="rId33"/>
    <p:sldId id="281" r:id="rId34"/>
    <p:sldId id="287" r:id="rId35"/>
    <p:sldId id="288" r:id="rId36"/>
    <p:sldId id="289" r:id="rId37"/>
    <p:sldId id="290" r:id="rId38"/>
    <p:sldId id="291" r:id="rId39"/>
    <p:sldId id="292" r:id="rId40"/>
    <p:sldId id="293" r:id="rId41"/>
    <p:sldId id="294" r:id="rId42"/>
    <p:sldId id="440" r:id="rId43"/>
    <p:sldId id="353" r:id="rId44"/>
    <p:sldId id="354" r:id="rId45"/>
    <p:sldId id="355" r:id="rId46"/>
    <p:sldId id="356" r:id="rId47"/>
    <p:sldId id="357" r:id="rId48"/>
    <p:sldId id="358" r:id="rId49"/>
    <p:sldId id="388" r:id="rId50"/>
    <p:sldId id="389" r:id="rId51"/>
    <p:sldId id="390" r:id="rId52"/>
    <p:sldId id="391" r:id="rId53"/>
    <p:sldId id="392" r:id="rId54"/>
    <p:sldId id="393" r:id="rId55"/>
    <p:sldId id="394" r:id="rId56"/>
    <p:sldId id="395" r:id="rId57"/>
    <p:sldId id="396" r:id="rId58"/>
    <p:sldId id="397" r:id="rId59"/>
    <p:sldId id="399" r:id="rId60"/>
    <p:sldId id="400" r:id="rId61"/>
    <p:sldId id="401" r:id="rId62"/>
    <p:sldId id="402" r:id="rId63"/>
    <p:sldId id="403" r:id="rId64"/>
    <p:sldId id="404" r:id="rId65"/>
    <p:sldId id="405" r:id="rId66"/>
    <p:sldId id="406" r:id="rId67"/>
    <p:sldId id="426" r:id="rId68"/>
    <p:sldId id="427" r:id="rId69"/>
    <p:sldId id="428" r:id="rId70"/>
    <p:sldId id="432" r:id="rId71"/>
    <p:sldId id="433" r:id="rId72"/>
    <p:sldId id="434" r:id="rId73"/>
    <p:sldId id="435" r:id="rId74"/>
    <p:sldId id="436" r:id="rId75"/>
    <p:sldId id="437" r:id="rId76"/>
    <p:sldId id="438" r:id="rId77"/>
    <p:sldId id="439" r:id="rId78"/>
    <p:sldId id="408" r:id="rId79"/>
    <p:sldId id="410" r:id="rId80"/>
    <p:sldId id="411" r:id="rId81"/>
    <p:sldId id="412" r:id="rId82"/>
    <p:sldId id="414" r:id="rId83"/>
    <p:sldId id="415" r:id="rId84"/>
    <p:sldId id="416" r:id="rId85"/>
    <p:sldId id="417" r:id="rId86"/>
    <p:sldId id="421" r:id="rId87"/>
    <p:sldId id="499" r:id="rId88"/>
    <p:sldId id="500" r:id="rId89"/>
    <p:sldId id="502" r:id="rId90"/>
    <p:sldId id="503" r:id="rId91"/>
    <p:sldId id="504" r:id="rId92"/>
    <p:sldId id="505" r:id="rId93"/>
    <p:sldId id="506" r:id="rId94"/>
    <p:sldId id="507" r:id="rId95"/>
    <p:sldId id="508" r:id="rId96"/>
    <p:sldId id="509" r:id="rId97"/>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00"/>
    <a:srgbClr val="FF0000"/>
    <a:srgbClr val="CCFFFF"/>
    <a:srgbClr val="FFFFCC"/>
    <a:srgbClr val="FFFF99"/>
    <a:srgbClr val="FFCCFF"/>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70" autoAdjust="0"/>
    <p:restoredTop sz="94657"/>
  </p:normalViewPr>
  <p:slideViewPr>
    <p:cSldViewPr>
      <p:cViewPr varScale="1">
        <p:scale>
          <a:sx n="108" d="100"/>
          <a:sy n="108" d="100"/>
        </p:scale>
        <p:origin x="1024"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3160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image" Target="../media/image1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 Id="rId5" Type="http://schemas.openxmlformats.org/officeDocument/2006/relationships/image" Target="../media/image41.wmf"/><Relationship Id="rId4" Type="http://schemas.openxmlformats.org/officeDocument/2006/relationships/image" Target="../media/image40.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49.wmf"/><Relationship Id="rId13" Type="http://schemas.openxmlformats.org/officeDocument/2006/relationships/image" Target="../media/image54.wmf"/><Relationship Id="rId18" Type="http://schemas.openxmlformats.org/officeDocument/2006/relationships/image" Target="../media/image59.wmf"/><Relationship Id="rId3" Type="http://schemas.openxmlformats.org/officeDocument/2006/relationships/image" Target="../media/image44.wmf"/><Relationship Id="rId21" Type="http://schemas.openxmlformats.org/officeDocument/2006/relationships/image" Target="../media/image62.wmf"/><Relationship Id="rId7" Type="http://schemas.openxmlformats.org/officeDocument/2006/relationships/image" Target="../media/image48.wmf"/><Relationship Id="rId12" Type="http://schemas.openxmlformats.org/officeDocument/2006/relationships/image" Target="../media/image53.wmf"/><Relationship Id="rId17" Type="http://schemas.openxmlformats.org/officeDocument/2006/relationships/image" Target="../media/image58.wmf"/><Relationship Id="rId2" Type="http://schemas.openxmlformats.org/officeDocument/2006/relationships/image" Target="../media/image43.wmf"/><Relationship Id="rId16" Type="http://schemas.openxmlformats.org/officeDocument/2006/relationships/image" Target="../media/image57.wmf"/><Relationship Id="rId20" Type="http://schemas.openxmlformats.org/officeDocument/2006/relationships/image" Target="../media/image61.wmf"/><Relationship Id="rId1" Type="http://schemas.openxmlformats.org/officeDocument/2006/relationships/image" Target="../media/image42.wmf"/><Relationship Id="rId6" Type="http://schemas.openxmlformats.org/officeDocument/2006/relationships/image" Target="../media/image47.wmf"/><Relationship Id="rId11" Type="http://schemas.openxmlformats.org/officeDocument/2006/relationships/image" Target="../media/image52.wmf"/><Relationship Id="rId24" Type="http://schemas.openxmlformats.org/officeDocument/2006/relationships/image" Target="../media/image65.wmf"/><Relationship Id="rId5" Type="http://schemas.openxmlformats.org/officeDocument/2006/relationships/image" Target="../media/image46.wmf"/><Relationship Id="rId15" Type="http://schemas.openxmlformats.org/officeDocument/2006/relationships/image" Target="../media/image56.wmf"/><Relationship Id="rId23" Type="http://schemas.openxmlformats.org/officeDocument/2006/relationships/image" Target="../media/image64.wmf"/><Relationship Id="rId10" Type="http://schemas.openxmlformats.org/officeDocument/2006/relationships/image" Target="../media/image51.wmf"/><Relationship Id="rId19" Type="http://schemas.openxmlformats.org/officeDocument/2006/relationships/image" Target="../media/image60.wmf"/><Relationship Id="rId4" Type="http://schemas.openxmlformats.org/officeDocument/2006/relationships/image" Target="../media/image45.wmf"/><Relationship Id="rId9" Type="http://schemas.openxmlformats.org/officeDocument/2006/relationships/image" Target="../media/image50.wmf"/><Relationship Id="rId14" Type="http://schemas.openxmlformats.org/officeDocument/2006/relationships/image" Target="../media/image55.wmf"/><Relationship Id="rId22" Type="http://schemas.openxmlformats.org/officeDocument/2006/relationships/image" Target="../media/image63.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73.wmf"/><Relationship Id="rId3" Type="http://schemas.openxmlformats.org/officeDocument/2006/relationships/image" Target="../media/image68.wmf"/><Relationship Id="rId7" Type="http://schemas.openxmlformats.org/officeDocument/2006/relationships/image" Target="../media/image72.wmf"/><Relationship Id="rId12" Type="http://schemas.openxmlformats.org/officeDocument/2006/relationships/image" Target="../media/image77.wmf"/><Relationship Id="rId2" Type="http://schemas.openxmlformats.org/officeDocument/2006/relationships/image" Target="../media/image67.wmf"/><Relationship Id="rId1" Type="http://schemas.openxmlformats.org/officeDocument/2006/relationships/image" Target="../media/image66.wmf"/><Relationship Id="rId6" Type="http://schemas.openxmlformats.org/officeDocument/2006/relationships/image" Target="../media/image71.wmf"/><Relationship Id="rId11" Type="http://schemas.openxmlformats.org/officeDocument/2006/relationships/image" Target="../media/image76.wmf"/><Relationship Id="rId5" Type="http://schemas.openxmlformats.org/officeDocument/2006/relationships/image" Target="../media/image70.wmf"/><Relationship Id="rId10" Type="http://schemas.openxmlformats.org/officeDocument/2006/relationships/image" Target="../media/image75.wmf"/><Relationship Id="rId4" Type="http://schemas.openxmlformats.org/officeDocument/2006/relationships/image" Target="../media/image69.wmf"/><Relationship Id="rId9" Type="http://schemas.openxmlformats.org/officeDocument/2006/relationships/image" Target="../media/image74.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85.wmf"/><Relationship Id="rId3" Type="http://schemas.openxmlformats.org/officeDocument/2006/relationships/image" Target="../media/image80.wmf"/><Relationship Id="rId7" Type="http://schemas.openxmlformats.org/officeDocument/2006/relationships/image" Target="../media/image84.wmf"/><Relationship Id="rId2" Type="http://schemas.openxmlformats.org/officeDocument/2006/relationships/image" Target="../media/image79.wmf"/><Relationship Id="rId1" Type="http://schemas.openxmlformats.org/officeDocument/2006/relationships/image" Target="../media/image78.wmf"/><Relationship Id="rId6" Type="http://schemas.openxmlformats.org/officeDocument/2006/relationships/image" Target="../media/image83.wmf"/><Relationship Id="rId5" Type="http://schemas.openxmlformats.org/officeDocument/2006/relationships/image" Target="../media/image82.wmf"/><Relationship Id="rId4" Type="http://schemas.openxmlformats.org/officeDocument/2006/relationships/image" Target="../media/image81.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86.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88.wmf"/><Relationship Id="rId1" Type="http://schemas.openxmlformats.org/officeDocument/2006/relationships/image" Target="../media/image87.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91.wmf"/><Relationship Id="rId2" Type="http://schemas.openxmlformats.org/officeDocument/2006/relationships/image" Target="../media/image90.wmf"/><Relationship Id="rId1" Type="http://schemas.openxmlformats.org/officeDocument/2006/relationships/image" Target="../media/image89.wmf"/><Relationship Id="rId4" Type="http://schemas.openxmlformats.org/officeDocument/2006/relationships/image" Target="../media/image92.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93.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96.wmf"/><Relationship Id="rId2" Type="http://schemas.openxmlformats.org/officeDocument/2006/relationships/image" Target="../media/image95.wmf"/><Relationship Id="rId1" Type="http://schemas.openxmlformats.org/officeDocument/2006/relationships/image" Target="../media/image94.wmf"/><Relationship Id="rId6" Type="http://schemas.openxmlformats.org/officeDocument/2006/relationships/image" Target="../media/image99.wmf"/><Relationship Id="rId5" Type="http://schemas.openxmlformats.org/officeDocument/2006/relationships/image" Target="../media/image98.wmf"/><Relationship Id="rId4" Type="http://schemas.openxmlformats.org/officeDocument/2006/relationships/image" Target="../media/image97.w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101.wmf"/><Relationship Id="rId1" Type="http://schemas.openxmlformats.org/officeDocument/2006/relationships/image" Target="../media/image100.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02.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96.wmf"/><Relationship Id="rId2" Type="http://schemas.openxmlformats.org/officeDocument/2006/relationships/image" Target="../media/image95.wmf"/><Relationship Id="rId1" Type="http://schemas.openxmlformats.org/officeDocument/2006/relationships/image" Target="../media/image94.wmf"/><Relationship Id="rId6" Type="http://schemas.openxmlformats.org/officeDocument/2006/relationships/image" Target="../media/image99.wmf"/><Relationship Id="rId5" Type="http://schemas.openxmlformats.org/officeDocument/2006/relationships/image" Target="../media/image98.wmf"/><Relationship Id="rId4" Type="http://schemas.openxmlformats.org/officeDocument/2006/relationships/image" Target="../media/image97.w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101.wmf"/><Relationship Id="rId1" Type="http://schemas.openxmlformats.org/officeDocument/2006/relationships/image" Target="../media/image100.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02.w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03.png"/></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04.png"/></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05.png"/></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2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FD684A6E-87CB-4C68-B49A-C768F7B74277}"/>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zh-CN" altLang="en-US"/>
          </a:p>
        </p:txBody>
      </p:sp>
      <p:sp>
        <p:nvSpPr>
          <p:cNvPr id="3" name="日期占位符 2">
            <a:extLst>
              <a:ext uri="{FF2B5EF4-FFF2-40B4-BE49-F238E27FC236}">
                <a16:creationId xmlns:a16="http://schemas.microsoft.com/office/drawing/2014/main" id="{BA6AFABB-9E59-4EEE-B2C8-9E9E8BFFBCC7}"/>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F831706F-2920-4A80-A227-64EA8A842075}" type="datetimeFigureOut">
              <a:rPr lang="zh-CN" altLang="en-US"/>
              <a:pPr>
                <a:defRPr/>
              </a:pPr>
              <a:t>2024/2/29</a:t>
            </a:fld>
            <a:endParaRPr lang="zh-CN" altLang="en-US"/>
          </a:p>
        </p:txBody>
      </p:sp>
      <p:sp>
        <p:nvSpPr>
          <p:cNvPr id="4" name="幻灯片图像占位符 3">
            <a:extLst>
              <a:ext uri="{FF2B5EF4-FFF2-40B4-BE49-F238E27FC236}">
                <a16:creationId xmlns:a16="http://schemas.microsoft.com/office/drawing/2014/main" id="{03CED594-14E3-4948-94D6-08B3158B9BCA}"/>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373004F4-E6DF-49BD-80F4-8CC8C555D6B5}"/>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41DDCEFC-CD60-4D2E-AD9E-FD6C20B1A2C9}"/>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zh-CN" altLang="en-US"/>
          </a:p>
        </p:txBody>
      </p:sp>
      <p:sp>
        <p:nvSpPr>
          <p:cNvPr id="7" name="灯片编号占位符 6">
            <a:extLst>
              <a:ext uri="{FF2B5EF4-FFF2-40B4-BE49-F238E27FC236}">
                <a16:creationId xmlns:a16="http://schemas.microsoft.com/office/drawing/2014/main" id="{2B056BC2-B8E0-496F-8B1B-FD7CA92A87E2}"/>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8E40E3D8-98E2-4D86-BA32-D87779889570}" type="slidenum">
              <a:rPr lang="zh-CN" altLang="en-US"/>
              <a:pPr/>
              <a:t>‹#›</a:t>
            </a:fld>
            <a:endParaRPr lang="zh-CN" altLang="en-US"/>
          </a:p>
        </p:txBody>
      </p:sp>
    </p:spTree>
    <p:extLst>
      <p:ext uri="{BB962C8B-B14F-4D97-AF65-F5344CB8AC3E}">
        <p14:creationId xmlns:p14="http://schemas.microsoft.com/office/powerpoint/2010/main" val="8173775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A6634FA-A86B-4141-9B9E-3EDA79936886}" type="slidenum">
              <a:rPr lang="zh-CN" altLang="en-US" smtClean="0"/>
              <a:t>43</a:t>
            </a:fld>
            <a:endParaRPr lang="zh-CN" altLang="en-US"/>
          </a:p>
        </p:txBody>
      </p:sp>
    </p:spTree>
    <p:extLst>
      <p:ext uri="{BB962C8B-B14F-4D97-AF65-F5344CB8AC3E}">
        <p14:creationId xmlns:p14="http://schemas.microsoft.com/office/powerpoint/2010/main" val="24557246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A6634FA-A86B-4141-9B9E-3EDA79936886}" type="slidenum">
              <a:rPr lang="zh-CN" altLang="en-US" smtClean="0"/>
              <a:t>45</a:t>
            </a:fld>
            <a:endParaRPr lang="zh-CN" altLang="en-US"/>
          </a:p>
        </p:txBody>
      </p:sp>
    </p:spTree>
    <p:extLst>
      <p:ext uri="{BB962C8B-B14F-4D97-AF65-F5344CB8AC3E}">
        <p14:creationId xmlns:p14="http://schemas.microsoft.com/office/powerpoint/2010/main" val="35419621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E40E3D8-98E2-4D86-BA32-D87779889570}" type="slidenum">
              <a:rPr lang="zh-CN" altLang="en-US" smtClean="0"/>
              <a:pPr/>
              <a:t>49</a:t>
            </a:fld>
            <a:endParaRPr lang="zh-CN" altLang="en-US"/>
          </a:p>
        </p:txBody>
      </p:sp>
    </p:spTree>
    <p:extLst>
      <p:ext uri="{BB962C8B-B14F-4D97-AF65-F5344CB8AC3E}">
        <p14:creationId xmlns:p14="http://schemas.microsoft.com/office/powerpoint/2010/main" val="36799248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B46487B5-6114-48FD-825E-C7981E9CF7F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71BD2EA-2225-46A4-A678-4185724202B3}" type="slidenum">
              <a:rPr lang="en-US" altLang="ko-KR"/>
              <a:pPr eaLnBrk="1" hangingPunct="1"/>
              <a:t>79</a:t>
            </a:fld>
            <a:endParaRPr lang="en-US" altLang="ko-KR"/>
          </a:p>
        </p:txBody>
      </p:sp>
      <p:sp>
        <p:nvSpPr>
          <p:cNvPr id="91139" name="Rectangle 2">
            <a:extLst>
              <a:ext uri="{FF2B5EF4-FFF2-40B4-BE49-F238E27FC236}">
                <a16:creationId xmlns:a16="http://schemas.microsoft.com/office/drawing/2014/main" id="{3B48F79B-27D5-46CF-86FF-8E0B9052279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40" name="Rectangle 3">
            <a:extLst>
              <a:ext uri="{FF2B5EF4-FFF2-40B4-BE49-F238E27FC236}">
                <a16:creationId xmlns:a16="http://schemas.microsoft.com/office/drawing/2014/main" id="{90B33A4F-13F7-422B-AC43-60BBC1A8BB1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a:p>
        </p:txBody>
      </p:sp>
    </p:spTree>
    <p:extLst>
      <p:ext uri="{BB962C8B-B14F-4D97-AF65-F5344CB8AC3E}">
        <p14:creationId xmlns:p14="http://schemas.microsoft.com/office/powerpoint/2010/main" val="5708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C705AA66-02F0-4B6D-BADF-A720F515FE6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902A305-A46C-4BE1-8EA1-9C9302533DF0}" type="slidenum">
              <a:rPr lang="en-US" altLang="ko-KR"/>
              <a:pPr eaLnBrk="1" hangingPunct="1"/>
              <a:t>80</a:t>
            </a:fld>
            <a:endParaRPr lang="en-US" altLang="ko-KR"/>
          </a:p>
        </p:txBody>
      </p:sp>
      <p:sp>
        <p:nvSpPr>
          <p:cNvPr id="92163" name="Rectangle 2">
            <a:extLst>
              <a:ext uri="{FF2B5EF4-FFF2-40B4-BE49-F238E27FC236}">
                <a16:creationId xmlns:a16="http://schemas.microsoft.com/office/drawing/2014/main" id="{C4C5A795-0947-40DB-B5CC-F13A8F8AC99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4" name="Rectangle 3">
            <a:extLst>
              <a:ext uri="{FF2B5EF4-FFF2-40B4-BE49-F238E27FC236}">
                <a16:creationId xmlns:a16="http://schemas.microsoft.com/office/drawing/2014/main" id="{D002519E-6851-4DAE-861F-E158A23EFA2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a:p>
        </p:txBody>
      </p:sp>
    </p:spTree>
    <p:extLst>
      <p:ext uri="{BB962C8B-B14F-4D97-AF65-F5344CB8AC3E}">
        <p14:creationId xmlns:p14="http://schemas.microsoft.com/office/powerpoint/2010/main" val="10035346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387D091E-6E72-491A-9D6F-5CF68444AEE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3BF5341-2C9B-40CD-B306-81809E55CEE4}" type="slidenum">
              <a:rPr lang="en-US" altLang="ko-KR"/>
              <a:pPr eaLnBrk="1" hangingPunct="1"/>
              <a:t>81</a:t>
            </a:fld>
            <a:endParaRPr lang="en-US" altLang="ko-KR"/>
          </a:p>
        </p:txBody>
      </p:sp>
      <p:sp>
        <p:nvSpPr>
          <p:cNvPr id="93187" name="Rectangle 2">
            <a:extLst>
              <a:ext uri="{FF2B5EF4-FFF2-40B4-BE49-F238E27FC236}">
                <a16:creationId xmlns:a16="http://schemas.microsoft.com/office/drawing/2014/main" id="{EEBD647E-274A-4FD8-B4BE-3CB91F62932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8" name="Rectangle 3">
            <a:extLst>
              <a:ext uri="{FF2B5EF4-FFF2-40B4-BE49-F238E27FC236}">
                <a16:creationId xmlns:a16="http://schemas.microsoft.com/office/drawing/2014/main" id="{F0FCF632-915D-4EFA-9830-B5077C888AD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a:p>
        </p:txBody>
      </p:sp>
    </p:spTree>
    <p:extLst>
      <p:ext uri="{BB962C8B-B14F-4D97-AF65-F5344CB8AC3E}">
        <p14:creationId xmlns:p14="http://schemas.microsoft.com/office/powerpoint/2010/main" val="698956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A415204B-2927-468B-A47A-B85834065C9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F70324A-2BAD-48A8-9D7B-67ABCB4D7B88}" type="slidenum">
              <a:rPr lang="en-US" altLang="ko-KR"/>
              <a:pPr eaLnBrk="1" hangingPunct="1"/>
              <a:t>82</a:t>
            </a:fld>
            <a:endParaRPr lang="en-US" altLang="ko-KR"/>
          </a:p>
        </p:txBody>
      </p:sp>
      <p:sp>
        <p:nvSpPr>
          <p:cNvPr id="94211" name="Rectangle 2">
            <a:extLst>
              <a:ext uri="{FF2B5EF4-FFF2-40B4-BE49-F238E27FC236}">
                <a16:creationId xmlns:a16="http://schemas.microsoft.com/office/drawing/2014/main" id="{FAF2710E-119F-44FD-8F10-DEADA5E1123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2" name="Rectangle 3">
            <a:extLst>
              <a:ext uri="{FF2B5EF4-FFF2-40B4-BE49-F238E27FC236}">
                <a16:creationId xmlns:a16="http://schemas.microsoft.com/office/drawing/2014/main" id="{7B322FBE-792B-4099-BAE2-09D965DA769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a:p>
        </p:txBody>
      </p:sp>
    </p:spTree>
    <p:extLst>
      <p:ext uri="{BB962C8B-B14F-4D97-AF65-F5344CB8AC3E}">
        <p14:creationId xmlns:p14="http://schemas.microsoft.com/office/powerpoint/2010/main" val="625337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13237341-3A49-4D83-B5BF-6AA66F70433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44B13CA-05FA-4D9E-B559-13287AE3B5FB}" type="slidenum">
              <a:rPr lang="en-US" altLang="ko-KR"/>
              <a:pPr eaLnBrk="1" hangingPunct="1"/>
              <a:t>83</a:t>
            </a:fld>
            <a:endParaRPr lang="en-US" altLang="ko-KR"/>
          </a:p>
        </p:txBody>
      </p:sp>
      <p:sp>
        <p:nvSpPr>
          <p:cNvPr id="95235" name="Rectangle 2">
            <a:extLst>
              <a:ext uri="{FF2B5EF4-FFF2-40B4-BE49-F238E27FC236}">
                <a16:creationId xmlns:a16="http://schemas.microsoft.com/office/drawing/2014/main" id="{7C75B051-1CC2-494A-AEA1-135AAC57C2B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6" name="Rectangle 3">
            <a:extLst>
              <a:ext uri="{FF2B5EF4-FFF2-40B4-BE49-F238E27FC236}">
                <a16:creationId xmlns:a16="http://schemas.microsoft.com/office/drawing/2014/main" id="{755EC972-776C-452D-96E2-0C442B82A55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a:p>
        </p:txBody>
      </p:sp>
    </p:spTree>
    <p:extLst>
      <p:ext uri="{BB962C8B-B14F-4D97-AF65-F5344CB8AC3E}">
        <p14:creationId xmlns:p14="http://schemas.microsoft.com/office/powerpoint/2010/main" val="8860564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E9E2BFE6-67A1-48A9-B9E0-865E1E24ABA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39A2BA0-4CDF-46E1-9499-9F014B5E06ED}" type="slidenum">
              <a:rPr lang="en-US" altLang="ko-KR"/>
              <a:pPr eaLnBrk="1" hangingPunct="1"/>
              <a:t>84</a:t>
            </a:fld>
            <a:endParaRPr lang="en-US" altLang="ko-KR"/>
          </a:p>
        </p:txBody>
      </p:sp>
      <p:sp>
        <p:nvSpPr>
          <p:cNvPr id="96259" name="Rectangle 2">
            <a:extLst>
              <a:ext uri="{FF2B5EF4-FFF2-40B4-BE49-F238E27FC236}">
                <a16:creationId xmlns:a16="http://schemas.microsoft.com/office/drawing/2014/main" id="{FBD8D129-A0AA-47BF-B3B6-FCF64C7E54B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60" name="Rectangle 3">
            <a:extLst>
              <a:ext uri="{FF2B5EF4-FFF2-40B4-BE49-F238E27FC236}">
                <a16:creationId xmlns:a16="http://schemas.microsoft.com/office/drawing/2014/main" id="{7A264D9E-1412-4E8A-98ED-F71B9209B65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a:p>
        </p:txBody>
      </p:sp>
    </p:spTree>
    <p:extLst>
      <p:ext uri="{BB962C8B-B14F-4D97-AF65-F5344CB8AC3E}">
        <p14:creationId xmlns:p14="http://schemas.microsoft.com/office/powerpoint/2010/main" val="12984745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40D62C8A-BE38-4AA9-B8FE-37618834FA1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856737F-0C40-4ABB-BFF4-7E4F1046AEF4}" type="slidenum">
              <a:rPr lang="en-US" altLang="ko-KR"/>
              <a:pPr eaLnBrk="1" hangingPunct="1"/>
              <a:t>85</a:t>
            </a:fld>
            <a:endParaRPr lang="en-US" altLang="ko-KR"/>
          </a:p>
        </p:txBody>
      </p:sp>
      <p:sp>
        <p:nvSpPr>
          <p:cNvPr id="97283" name="Rectangle 2">
            <a:extLst>
              <a:ext uri="{FF2B5EF4-FFF2-40B4-BE49-F238E27FC236}">
                <a16:creationId xmlns:a16="http://schemas.microsoft.com/office/drawing/2014/main" id="{57C90D8B-8786-4931-A9F4-098A9D2B289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4" name="Rectangle 3">
            <a:extLst>
              <a:ext uri="{FF2B5EF4-FFF2-40B4-BE49-F238E27FC236}">
                <a16:creationId xmlns:a16="http://schemas.microsoft.com/office/drawing/2014/main" id="{C65B73B2-9ACC-4B0E-AA37-B20DBB40073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a:p>
        </p:txBody>
      </p:sp>
    </p:spTree>
    <p:extLst>
      <p:ext uri="{BB962C8B-B14F-4D97-AF65-F5344CB8AC3E}">
        <p14:creationId xmlns:p14="http://schemas.microsoft.com/office/powerpoint/2010/main" val="19413448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5FCE3145-3B3D-44BE-AEFB-CE41073B357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9D072AF-8013-42E1-BC79-88D9EAA6AB50}" type="slidenum">
              <a:rPr lang="en-US" altLang="ko-KR"/>
              <a:pPr eaLnBrk="1" hangingPunct="1"/>
              <a:t>86</a:t>
            </a:fld>
            <a:endParaRPr lang="en-US" altLang="ko-KR"/>
          </a:p>
        </p:txBody>
      </p:sp>
      <p:sp>
        <p:nvSpPr>
          <p:cNvPr id="98307" name="Rectangle 2">
            <a:extLst>
              <a:ext uri="{FF2B5EF4-FFF2-40B4-BE49-F238E27FC236}">
                <a16:creationId xmlns:a16="http://schemas.microsoft.com/office/drawing/2014/main" id="{49F0B8CF-CABE-4853-9095-0868CDE28D5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8" name="Rectangle 3">
            <a:extLst>
              <a:ext uri="{FF2B5EF4-FFF2-40B4-BE49-F238E27FC236}">
                <a16:creationId xmlns:a16="http://schemas.microsoft.com/office/drawing/2014/main" id="{58F33949-2BF8-4D46-8E16-CB38C80A409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dirty="0"/>
          </a:p>
        </p:txBody>
      </p:sp>
    </p:spTree>
    <p:extLst>
      <p:ext uri="{BB962C8B-B14F-4D97-AF65-F5344CB8AC3E}">
        <p14:creationId xmlns:p14="http://schemas.microsoft.com/office/powerpoint/2010/main" val="14634921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5C34BD4C-42CE-4BD9-8E7B-D75D543A8F6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lgn="r" fontAlgn="base"/>
            <a:fld id="{F4F5907A-927D-42FA-918A-8EABA174D46A}" type="slidenum">
              <a:rPr lang="en-US" altLang="ko-KR" sz="1200">
                <a:latin typeface="굴림" panose="020B0600000101010101" pitchFamily="34" charset="-127"/>
                <a:ea typeface="굴림" panose="020B0600000101010101" pitchFamily="34" charset="-127"/>
              </a:rPr>
              <a:pPr algn="r" fontAlgn="base"/>
              <a:t>87</a:t>
            </a:fld>
            <a:endParaRPr lang="en-US" altLang="ko-KR" sz="1200">
              <a:latin typeface="굴림" panose="020B0600000101010101" pitchFamily="34" charset="-127"/>
              <a:ea typeface="굴림" panose="020B0600000101010101" pitchFamily="34" charset="-127"/>
            </a:endParaRPr>
          </a:p>
        </p:txBody>
      </p:sp>
      <p:sp>
        <p:nvSpPr>
          <p:cNvPr id="54275" name="Rectangle 2">
            <a:extLst>
              <a:ext uri="{FF2B5EF4-FFF2-40B4-BE49-F238E27FC236}">
                <a16:creationId xmlns:a16="http://schemas.microsoft.com/office/drawing/2014/main" id="{07BD03BF-E973-495B-B380-7F37A6464CAE}"/>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0E36B49F-F7BF-4BE4-8D83-B2362719379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TW" altLang="en-US"/>
          </a:p>
        </p:txBody>
      </p:sp>
    </p:spTree>
    <p:extLst>
      <p:ext uri="{BB962C8B-B14F-4D97-AF65-F5344CB8AC3E}">
        <p14:creationId xmlns:p14="http://schemas.microsoft.com/office/powerpoint/2010/main" val="17820534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02A37BA1-4D52-4F30-8935-A97ED86C65A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lgn="r" fontAlgn="base"/>
            <a:fld id="{02210651-651C-4EA6-81F2-326AE29C0C3B}" type="slidenum">
              <a:rPr lang="en-US" altLang="ko-KR" sz="1200">
                <a:latin typeface="굴림" panose="020B0600000101010101" pitchFamily="34" charset="-127"/>
                <a:ea typeface="굴림" panose="020B0600000101010101" pitchFamily="34" charset="-127"/>
              </a:rPr>
              <a:pPr algn="r" fontAlgn="base"/>
              <a:t>88</a:t>
            </a:fld>
            <a:endParaRPr lang="en-US" altLang="ko-KR" sz="1200">
              <a:latin typeface="굴림" panose="020B0600000101010101" pitchFamily="34" charset="-127"/>
              <a:ea typeface="굴림" panose="020B0600000101010101" pitchFamily="34" charset="-127"/>
            </a:endParaRPr>
          </a:p>
        </p:txBody>
      </p:sp>
      <p:sp>
        <p:nvSpPr>
          <p:cNvPr id="56323" name="Rectangle 2">
            <a:extLst>
              <a:ext uri="{FF2B5EF4-FFF2-40B4-BE49-F238E27FC236}">
                <a16:creationId xmlns:a16="http://schemas.microsoft.com/office/drawing/2014/main" id="{B8C02360-D6AC-4390-A325-673D1563BE78}"/>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6C503648-8C1E-40B6-8B95-99B903653A1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TW" altLang="en-US"/>
          </a:p>
        </p:txBody>
      </p:sp>
    </p:spTree>
    <p:extLst>
      <p:ext uri="{BB962C8B-B14F-4D97-AF65-F5344CB8AC3E}">
        <p14:creationId xmlns:p14="http://schemas.microsoft.com/office/powerpoint/2010/main" val="176237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81DCB0A2-A4DC-4F65-965D-3C8D06F3378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lgn="r" fontAlgn="base"/>
            <a:fld id="{F563B7B9-D7C6-4AEC-A23B-8654F0403457}" type="slidenum">
              <a:rPr lang="en-US" altLang="ko-KR" sz="1200">
                <a:latin typeface="굴림" panose="020B0600000101010101" pitchFamily="34" charset="-127"/>
                <a:ea typeface="굴림" panose="020B0600000101010101" pitchFamily="34" charset="-127"/>
              </a:rPr>
              <a:pPr algn="r" fontAlgn="base"/>
              <a:t>89</a:t>
            </a:fld>
            <a:endParaRPr lang="en-US" altLang="ko-KR" sz="1200">
              <a:latin typeface="굴림" panose="020B0600000101010101" pitchFamily="34" charset="-127"/>
              <a:ea typeface="굴림" panose="020B0600000101010101" pitchFamily="34" charset="-127"/>
            </a:endParaRPr>
          </a:p>
        </p:txBody>
      </p:sp>
      <p:sp>
        <p:nvSpPr>
          <p:cNvPr id="58371" name="Rectangle 2">
            <a:extLst>
              <a:ext uri="{FF2B5EF4-FFF2-40B4-BE49-F238E27FC236}">
                <a16:creationId xmlns:a16="http://schemas.microsoft.com/office/drawing/2014/main" id="{A206A681-0FC9-488B-B59F-D9CFE5824349}"/>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DD9E1A2F-44C4-42DF-B84D-5BCEBED1BDD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TW" altLang="en-US"/>
          </a:p>
        </p:txBody>
      </p:sp>
    </p:spTree>
    <p:extLst>
      <p:ext uri="{BB962C8B-B14F-4D97-AF65-F5344CB8AC3E}">
        <p14:creationId xmlns:p14="http://schemas.microsoft.com/office/powerpoint/2010/main" val="19966360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AEDF79F2-BE88-44C9-B103-DF0540E3A66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lgn="r" fontAlgn="base"/>
            <a:fld id="{90903BF3-3DF3-44B3-BCB1-096F9C94479D}" type="slidenum">
              <a:rPr lang="en-US" altLang="ko-KR" sz="1200">
                <a:latin typeface="굴림" panose="020B0600000101010101" pitchFamily="34" charset="-127"/>
                <a:ea typeface="굴림" panose="020B0600000101010101" pitchFamily="34" charset="-127"/>
              </a:rPr>
              <a:pPr algn="r" fontAlgn="base"/>
              <a:t>90</a:t>
            </a:fld>
            <a:endParaRPr lang="en-US" altLang="ko-KR" sz="1200">
              <a:latin typeface="굴림" panose="020B0600000101010101" pitchFamily="34" charset="-127"/>
              <a:ea typeface="굴림" panose="020B0600000101010101" pitchFamily="34" charset="-127"/>
            </a:endParaRPr>
          </a:p>
        </p:txBody>
      </p:sp>
      <p:sp>
        <p:nvSpPr>
          <p:cNvPr id="60419" name="Rectangle 2">
            <a:extLst>
              <a:ext uri="{FF2B5EF4-FFF2-40B4-BE49-F238E27FC236}">
                <a16:creationId xmlns:a16="http://schemas.microsoft.com/office/drawing/2014/main" id="{F4779BF1-70F9-4E0C-9459-17C15FBF94B7}"/>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A072229E-1DA5-4253-91AB-FE650989310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TW" altLang="en-US"/>
          </a:p>
        </p:txBody>
      </p:sp>
    </p:spTree>
    <p:extLst>
      <p:ext uri="{BB962C8B-B14F-4D97-AF65-F5344CB8AC3E}">
        <p14:creationId xmlns:p14="http://schemas.microsoft.com/office/powerpoint/2010/main" val="8820360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40BA7CD4-04C9-4B34-AE4E-FFD0227E1FC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lgn="r" fontAlgn="base"/>
            <a:fld id="{DD4F02D6-A5B3-43F3-98AC-8938862ED2DB}" type="slidenum">
              <a:rPr lang="en-US" altLang="ko-KR" sz="1200">
                <a:latin typeface="굴림" panose="020B0600000101010101" pitchFamily="34" charset="-127"/>
                <a:ea typeface="굴림" panose="020B0600000101010101" pitchFamily="34" charset="-127"/>
              </a:rPr>
              <a:pPr algn="r" fontAlgn="base"/>
              <a:t>91</a:t>
            </a:fld>
            <a:endParaRPr lang="en-US" altLang="ko-KR" sz="1200">
              <a:latin typeface="굴림" panose="020B0600000101010101" pitchFamily="34" charset="-127"/>
              <a:ea typeface="굴림" panose="020B0600000101010101" pitchFamily="34" charset="-127"/>
            </a:endParaRPr>
          </a:p>
        </p:txBody>
      </p:sp>
      <p:sp>
        <p:nvSpPr>
          <p:cNvPr id="62467" name="Rectangle 2">
            <a:extLst>
              <a:ext uri="{FF2B5EF4-FFF2-40B4-BE49-F238E27FC236}">
                <a16:creationId xmlns:a16="http://schemas.microsoft.com/office/drawing/2014/main" id="{8EF004CF-367E-4C02-A388-EC7B71828805}"/>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8E992298-4BD6-447D-8349-C0FC8A9CB4C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TW" altLang="en-US"/>
          </a:p>
        </p:txBody>
      </p:sp>
    </p:spTree>
    <p:extLst>
      <p:ext uri="{BB962C8B-B14F-4D97-AF65-F5344CB8AC3E}">
        <p14:creationId xmlns:p14="http://schemas.microsoft.com/office/powerpoint/2010/main" val="3008317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7A44ECB9-DB96-423C-AE3C-B048FEA855F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lgn="r" fontAlgn="base"/>
            <a:fld id="{29C72CE7-92E9-49AA-AE6B-9A206995C104}" type="slidenum">
              <a:rPr lang="en-US" altLang="ko-KR" sz="1200">
                <a:latin typeface="굴림" panose="020B0600000101010101" pitchFamily="34" charset="-127"/>
                <a:ea typeface="굴림" panose="020B0600000101010101" pitchFamily="34" charset="-127"/>
              </a:rPr>
              <a:pPr algn="r" fontAlgn="base"/>
              <a:t>92</a:t>
            </a:fld>
            <a:endParaRPr lang="en-US" altLang="ko-KR" sz="1200">
              <a:latin typeface="굴림" panose="020B0600000101010101" pitchFamily="34" charset="-127"/>
              <a:ea typeface="굴림" panose="020B0600000101010101" pitchFamily="34" charset="-127"/>
            </a:endParaRPr>
          </a:p>
        </p:txBody>
      </p:sp>
      <p:sp>
        <p:nvSpPr>
          <p:cNvPr id="64515" name="Rectangle 2">
            <a:extLst>
              <a:ext uri="{FF2B5EF4-FFF2-40B4-BE49-F238E27FC236}">
                <a16:creationId xmlns:a16="http://schemas.microsoft.com/office/drawing/2014/main" id="{61E84402-DAA4-40E3-8C22-5D834E6C6EFF}"/>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3E9EA171-9C18-409C-BD2C-2F4814D0A01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TW" altLang="en-US"/>
          </a:p>
        </p:txBody>
      </p:sp>
    </p:spTree>
    <p:extLst>
      <p:ext uri="{BB962C8B-B14F-4D97-AF65-F5344CB8AC3E}">
        <p14:creationId xmlns:p14="http://schemas.microsoft.com/office/powerpoint/2010/main" val="9025491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4F28500D-D7DF-4C84-8612-28D9DBD8DBA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lgn="r" fontAlgn="base"/>
            <a:fld id="{47D39AE9-E0CC-474F-994F-CB30E1350DE6}" type="slidenum">
              <a:rPr lang="en-US" altLang="ko-KR" sz="1200">
                <a:latin typeface="굴림" panose="020B0600000101010101" pitchFamily="34" charset="-127"/>
                <a:ea typeface="굴림" panose="020B0600000101010101" pitchFamily="34" charset="-127"/>
              </a:rPr>
              <a:pPr algn="r" fontAlgn="base"/>
              <a:t>93</a:t>
            </a:fld>
            <a:endParaRPr lang="en-US" altLang="ko-KR" sz="1200">
              <a:latin typeface="굴림" panose="020B0600000101010101" pitchFamily="34" charset="-127"/>
              <a:ea typeface="굴림" panose="020B0600000101010101" pitchFamily="34" charset="-127"/>
            </a:endParaRPr>
          </a:p>
        </p:txBody>
      </p:sp>
      <p:sp>
        <p:nvSpPr>
          <p:cNvPr id="66563" name="Rectangle 2">
            <a:extLst>
              <a:ext uri="{FF2B5EF4-FFF2-40B4-BE49-F238E27FC236}">
                <a16:creationId xmlns:a16="http://schemas.microsoft.com/office/drawing/2014/main" id="{E2650B2D-2694-4AC5-8A89-571FE2451FB9}"/>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5F8C2313-8442-482C-BF72-F3694F16F77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TW" altLang="en-US"/>
          </a:p>
        </p:txBody>
      </p:sp>
    </p:spTree>
    <p:extLst>
      <p:ext uri="{BB962C8B-B14F-4D97-AF65-F5344CB8AC3E}">
        <p14:creationId xmlns:p14="http://schemas.microsoft.com/office/powerpoint/2010/main" val="14664308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D65680B7-F679-43C0-998B-1BF66A0510C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lgn="r" fontAlgn="base"/>
            <a:fld id="{0E119227-0E97-481B-9D03-768A379E2429}" type="slidenum">
              <a:rPr lang="en-US" altLang="ko-KR" sz="1200">
                <a:latin typeface="굴림" panose="020B0600000101010101" pitchFamily="34" charset="-127"/>
                <a:ea typeface="굴림" panose="020B0600000101010101" pitchFamily="34" charset="-127"/>
              </a:rPr>
              <a:pPr algn="r" fontAlgn="base"/>
              <a:t>94</a:t>
            </a:fld>
            <a:endParaRPr lang="en-US" altLang="ko-KR" sz="1200">
              <a:latin typeface="굴림" panose="020B0600000101010101" pitchFamily="34" charset="-127"/>
              <a:ea typeface="굴림" panose="020B0600000101010101" pitchFamily="34" charset="-127"/>
            </a:endParaRPr>
          </a:p>
        </p:txBody>
      </p:sp>
      <p:sp>
        <p:nvSpPr>
          <p:cNvPr id="68611" name="Rectangle 2">
            <a:extLst>
              <a:ext uri="{FF2B5EF4-FFF2-40B4-BE49-F238E27FC236}">
                <a16:creationId xmlns:a16="http://schemas.microsoft.com/office/drawing/2014/main" id="{1565C994-138D-4EB2-97BC-B36AF48A4459}"/>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A0F8B435-F46D-4711-A98A-F27CA51FBA0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TW" altLang="en-US"/>
          </a:p>
        </p:txBody>
      </p:sp>
    </p:spTree>
    <p:extLst>
      <p:ext uri="{BB962C8B-B14F-4D97-AF65-F5344CB8AC3E}">
        <p14:creationId xmlns:p14="http://schemas.microsoft.com/office/powerpoint/2010/main" val="17806772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C0A0F19F-C54B-467E-83D8-FB458E4EA71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lgn="r" fontAlgn="base"/>
            <a:fld id="{52B92A60-63C8-46EC-BA2C-A0A7DF08A838}" type="slidenum">
              <a:rPr lang="en-US" altLang="ko-KR" sz="1200">
                <a:latin typeface="굴림" panose="020B0600000101010101" pitchFamily="34" charset="-127"/>
                <a:ea typeface="굴림" panose="020B0600000101010101" pitchFamily="34" charset="-127"/>
              </a:rPr>
              <a:pPr algn="r" fontAlgn="base"/>
              <a:t>95</a:t>
            </a:fld>
            <a:endParaRPr lang="en-US" altLang="ko-KR" sz="1200">
              <a:latin typeface="굴림" panose="020B0600000101010101" pitchFamily="34" charset="-127"/>
              <a:ea typeface="굴림" panose="020B0600000101010101" pitchFamily="34" charset="-127"/>
            </a:endParaRPr>
          </a:p>
        </p:txBody>
      </p:sp>
      <p:sp>
        <p:nvSpPr>
          <p:cNvPr id="70659" name="Rectangle 2">
            <a:extLst>
              <a:ext uri="{FF2B5EF4-FFF2-40B4-BE49-F238E27FC236}">
                <a16:creationId xmlns:a16="http://schemas.microsoft.com/office/drawing/2014/main" id="{6142461A-7D5E-423D-B0E3-92AA29BB0232}"/>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C62091F8-E595-414C-8DD4-86291E3B035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TW" altLang="en-US"/>
          </a:p>
        </p:txBody>
      </p:sp>
    </p:spTree>
    <p:extLst>
      <p:ext uri="{BB962C8B-B14F-4D97-AF65-F5344CB8AC3E}">
        <p14:creationId xmlns:p14="http://schemas.microsoft.com/office/powerpoint/2010/main" val="5105874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F1FEB3FF-410D-41B5-9687-1618CFEE05E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lgn="r" fontAlgn="base"/>
            <a:fld id="{5AA0A424-5342-41D7-948B-3E6C268BC0F5}" type="slidenum">
              <a:rPr lang="en-US" altLang="ko-KR" sz="1200">
                <a:latin typeface="굴림" panose="020B0600000101010101" pitchFamily="34" charset="-127"/>
                <a:ea typeface="굴림" panose="020B0600000101010101" pitchFamily="34" charset="-127"/>
              </a:rPr>
              <a:pPr algn="r" fontAlgn="base"/>
              <a:t>96</a:t>
            </a:fld>
            <a:endParaRPr lang="en-US" altLang="ko-KR" sz="1200">
              <a:latin typeface="굴림" panose="020B0600000101010101" pitchFamily="34" charset="-127"/>
              <a:ea typeface="굴림" panose="020B0600000101010101" pitchFamily="34" charset="-127"/>
            </a:endParaRPr>
          </a:p>
        </p:txBody>
      </p:sp>
      <p:sp>
        <p:nvSpPr>
          <p:cNvPr id="72707" name="Rectangle 2">
            <a:extLst>
              <a:ext uri="{FF2B5EF4-FFF2-40B4-BE49-F238E27FC236}">
                <a16:creationId xmlns:a16="http://schemas.microsoft.com/office/drawing/2014/main" id="{21BA3575-64AE-461A-81DE-DDFDF40DCA24}"/>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FC9158B3-EF41-4239-8785-2A4ADB43982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TW" altLang="en-US"/>
          </a:p>
        </p:txBody>
      </p:sp>
    </p:spTree>
    <p:extLst>
      <p:ext uri="{BB962C8B-B14F-4D97-AF65-F5344CB8AC3E}">
        <p14:creationId xmlns:p14="http://schemas.microsoft.com/office/powerpoint/2010/main" val="981313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4E2125E9-D649-488C-85B6-9C42737ED75A}"/>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E9473F37-D0EA-4848-A122-6F0C2FD5233F}"/>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9B1FF168-62C8-4EC3-94BC-67DB6F5B6428}"/>
              </a:ext>
            </a:extLst>
          </p:cNvPr>
          <p:cNvSpPr>
            <a:spLocks noGrp="1"/>
          </p:cNvSpPr>
          <p:nvPr>
            <p:ph type="sldNum" sz="quarter" idx="12"/>
          </p:nvPr>
        </p:nvSpPr>
        <p:spPr/>
        <p:txBody>
          <a:bodyPr/>
          <a:lstStyle>
            <a:lvl1pPr>
              <a:defRPr/>
            </a:lvl1pPr>
          </a:lstStyle>
          <a:p>
            <a:fld id="{5C2A5CAF-014A-432C-90C7-1B1B5C75F480}" type="slidenum">
              <a:rPr lang="en-US" altLang="zh-CN"/>
              <a:pPr/>
              <a:t>‹#›</a:t>
            </a:fld>
            <a:endParaRPr lang="en-US" altLang="zh-CN"/>
          </a:p>
        </p:txBody>
      </p:sp>
    </p:spTree>
    <p:extLst>
      <p:ext uri="{BB962C8B-B14F-4D97-AF65-F5344CB8AC3E}">
        <p14:creationId xmlns:p14="http://schemas.microsoft.com/office/powerpoint/2010/main" val="3800049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0B96992-2704-4633-8E8C-9D04F939950F}"/>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D2D6DED2-D4BE-4E93-8B3E-6FE33AD27CC2}"/>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16B4F41B-BD60-4E81-8698-83F42AEA469C}"/>
              </a:ext>
            </a:extLst>
          </p:cNvPr>
          <p:cNvSpPr>
            <a:spLocks noGrp="1"/>
          </p:cNvSpPr>
          <p:nvPr>
            <p:ph type="sldNum" sz="quarter" idx="12"/>
          </p:nvPr>
        </p:nvSpPr>
        <p:spPr/>
        <p:txBody>
          <a:bodyPr/>
          <a:lstStyle>
            <a:lvl1pPr>
              <a:defRPr/>
            </a:lvl1pPr>
          </a:lstStyle>
          <a:p>
            <a:fld id="{E89FD510-F721-4617-9D1D-108FF4405516}" type="slidenum">
              <a:rPr lang="en-US" altLang="zh-CN"/>
              <a:pPr/>
              <a:t>‹#›</a:t>
            </a:fld>
            <a:endParaRPr lang="en-US" altLang="zh-CN"/>
          </a:p>
        </p:txBody>
      </p:sp>
    </p:spTree>
    <p:extLst>
      <p:ext uri="{BB962C8B-B14F-4D97-AF65-F5344CB8AC3E}">
        <p14:creationId xmlns:p14="http://schemas.microsoft.com/office/powerpoint/2010/main" val="1508264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005366E-B29B-4A37-B1E3-4EBFA55DDF07}"/>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A2FCA40B-0DDE-455E-A1B4-BAE8BBF3A7DE}"/>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8CF8E981-3799-4FBB-879D-ADF00C0A2421}"/>
              </a:ext>
            </a:extLst>
          </p:cNvPr>
          <p:cNvSpPr>
            <a:spLocks noGrp="1"/>
          </p:cNvSpPr>
          <p:nvPr>
            <p:ph type="sldNum" sz="quarter" idx="12"/>
          </p:nvPr>
        </p:nvSpPr>
        <p:spPr/>
        <p:txBody>
          <a:bodyPr/>
          <a:lstStyle>
            <a:lvl1pPr>
              <a:defRPr/>
            </a:lvl1pPr>
          </a:lstStyle>
          <a:p>
            <a:fld id="{E2D8D4E4-6D71-4576-A424-19099D2925FC}" type="slidenum">
              <a:rPr lang="en-US" altLang="zh-CN"/>
              <a:pPr/>
              <a:t>‹#›</a:t>
            </a:fld>
            <a:endParaRPr lang="en-US" altLang="zh-CN"/>
          </a:p>
        </p:txBody>
      </p:sp>
    </p:spTree>
    <p:extLst>
      <p:ext uri="{BB962C8B-B14F-4D97-AF65-F5344CB8AC3E}">
        <p14:creationId xmlns:p14="http://schemas.microsoft.com/office/powerpoint/2010/main" val="3315283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BD485B1D-68DA-4A0B-A023-DF9DC8C27182}"/>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DF95A7C7-A3AE-426E-B4B1-73E38C2212B1}"/>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0275F4DD-45B8-4052-BD84-84B8EAA02178}"/>
              </a:ext>
            </a:extLst>
          </p:cNvPr>
          <p:cNvSpPr>
            <a:spLocks noGrp="1"/>
          </p:cNvSpPr>
          <p:nvPr>
            <p:ph type="sldNum" sz="quarter" idx="12"/>
          </p:nvPr>
        </p:nvSpPr>
        <p:spPr/>
        <p:txBody>
          <a:bodyPr/>
          <a:lstStyle>
            <a:lvl1pPr>
              <a:defRPr/>
            </a:lvl1pPr>
          </a:lstStyle>
          <a:p>
            <a:fld id="{D2BBCFA8-3F94-478E-8578-2281205CDD76}" type="slidenum">
              <a:rPr lang="en-US" altLang="zh-CN"/>
              <a:pPr/>
              <a:t>‹#›</a:t>
            </a:fld>
            <a:endParaRPr lang="en-US" altLang="zh-CN"/>
          </a:p>
        </p:txBody>
      </p:sp>
    </p:spTree>
    <p:extLst>
      <p:ext uri="{BB962C8B-B14F-4D97-AF65-F5344CB8AC3E}">
        <p14:creationId xmlns:p14="http://schemas.microsoft.com/office/powerpoint/2010/main" val="40894989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667515F9-DB65-4FBA-B500-D1CE060648C6}"/>
              </a:ext>
            </a:extLst>
          </p:cNvPr>
          <p:cNvSpPr>
            <a:spLocks noGrp="1"/>
          </p:cNvSpPr>
          <p:nvPr>
            <p:ph type="dt" sz="half" idx="10"/>
          </p:nvPr>
        </p:nvSpPr>
        <p:spPr/>
        <p:txBody>
          <a:bodyPr/>
          <a:lstStyle>
            <a:lvl1pPr>
              <a:defRPr/>
            </a:lvl1pPr>
          </a:lstStyle>
          <a:p>
            <a:pPr>
              <a:defRPr/>
            </a:pPr>
            <a:endParaRPr lang="en-US" altLang="zh-CN"/>
          </a:p>
        </p:txBody>
      </p:sp>
      <p:sp>
        <p:nvSpPr>
          <p:cNvPr id="8" name="页脚占位符 4">
            <a:extLst>
              <a:ext uri="{FF2B5EF4-FFF2-40B4-BE49-F238E27FC236}">
                <a16:creationId xmlns:a16="http://schemas.microsoft.com/office/drawing/2014/main" id="{1A189BE9-C3AE-4146-8DE5-2EB4DF51FE83}"/>
              </a:ext>
            </a:extLst>
          </p:cNvPr>
          <p:cNvSpPr>
            <a:spLocks noGrp="1"/>
          </p:cNvSpPr>
          <p:nvPr>
            <p:ph type="ftr" sz="quarter" idx="11"/>
          </p:nvPr>
        </p:nvSpPr>
        <p:spPr/>
        <p:txBody>
          <a:bodyPr/>
          <a:lstStyle>
            <a:lvl1pPr>
              <a:defRPr/>
            </a:lvl1pPr>
          </a:lstStyle>
          <a:p>
            <a:pPr>
              <a:defRPr/>
            </a:pPr>
            <a:endParaRPr lang="en-US" altLang="zh-CN"/>
          </a:p>
        </p:txBody>
      </p:sp>
      <p:sp>
        <p:nvSpPr>
          <p:cNvPr id="9" name="灯片编号占位符 5">
            <a:extLst>
              <a:ext uri="{FF2B5EF4-FFF2-40B4-BE49-F238E27FC236}">
                <a16:creationId xmlns:a16="http://schemas.microsoft.com/office/drawing/2014/main" id="{16B8C39C-F86C-4D4F-9896-F8A34FA89110}"/>
              </a:ext>
            </a:extLst>
          </p:cNvPr>
          <p:cNvSpPr>
            <a:spLocks noGrp="1"/>
          </p:cNvSpPr>
          <p:nvPr>
            <p:ph type="sldNum" sz="quarter" idx="12"/>
          </p:nvPr>
        </p:nvSpPr>
        <p:spPr/>
        <p:txBody>
          <a:bodyPr/>
          <a:lstStyle>
            <a:lvl1pPr>
              <a:defRPr/>
            </a:lvl1pPr>
          </a:lstStyle>
          <a:p>
            <a:fld id="{150183B0-7594-4E33-9776-E6BA7296D611}" type="slidenum">
              <a:rPr lang="en-US" altLang="zh-CN"/>
              <a:pPr/>
              <a:t>‹#›</a:t>
            </a:fld>
            <a:endParaRPr lang="en-US" altLang="zh-CN"/>
          </a:p>
        </p:txBody>
      </p:sp>
    </p:spTree>
    <p:extLst>
      <p:ext uri="{BB962C8B-B14F-4D97-AF65-F5344CB8AC3E}">
        <p14:creationId xmlns:p14="http://schemas.microsoft.com/office/powerpoint/2010/main" val="1830181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AFF6E6E8-256F-4B50-B56B-5D9C145560FA}"/>
              </a:ext>
            </a:extLst>
          </p:cNvPr>
          <p:cNvSpPr>
            <a:spLocks noGrp="1"/>
          </p:cNvSpPr>
          <p:nvPr>
            <p:ph type="dt" sz="half" idx="10"/>
          </p:nvPr>
        </p:nvSpPr>
        <p:spPr/>
        <p:txBody>
          <a:bodyPr/>
          <a:lstStyle>
            <a:lvl1pPr>
              <a:defRPr/>
            </a:lvl1pPr>
          </a:lstStyle>
          <a:p>
            <a:pPr>
              <a:defRPr/>
            </a:pPr>
            <a:endParaRPr lang="en-US" altLang="zh-CN"/>
          </a:p>
        </p:txBody>
      </p:sp>
      <p:sp>
        <p:nvSpPr>
          <p:cNvPr id="4" name="页脚占位符 4">
            <a:extLst>
              <a:ext uri="{FF2B5EF4-FFF2-40B4-BE49-F238E27FC236}">
                <a16:creationId xmlns:a16="http://schemas.microsoft.com/office/drawing/2014/main" id="{BA2855CC-AF98-4919-819E-753AD1119CF3}"/>
              </a:ext>
            </a:extLst>
          </p:cNvPr>
          <p:cNvSpPr>
            <a:spLocks noGrp="1"/>
          </p:cNvSpPr>
          <p:nvPr>
            <p:ph type="ftr" sz="quarter" idx="11"/>
          </p:nvPr>
        </p:nvSpPr>
        <p:spPr/>
        <p:txBody>
          <a:bodyPr/>
          <a:lstStyle>
            <a:lvl1pPr>
              <a:defRPr/>
            </a:lvl1pPr>
          </a:lstStyle>
          <a:p>
            <a:pPr>
              <a:defRPr/>
            </a:pPr>
            <a:endParaRPr lang="en-US" altLang="zh-CN"/>
          </a:p>
        </p:txBody>
      </p:sp>
      <p:sp>
        <p:nvSpPr>
          <p:cNvPr id="5" name="灯片编号占位符 5">
            <a:extLst>
              <a:ext uri="{FF2B5EF4-FFF2-40B4-BE49-F238E27FC236}">
                <a16:creationId xmlns:a16="http://schemas.microsoft.com/office/drawing/2014/main" id="{1ED1033E-C87D-4DBF-9964-AAFB289868BE}"/>
              </a:ext>
            </a:extLst>
          </p:cNvPr>
          <p:cNvSpPr>
            <a:spLocks noGrp="1"/>
          </p:cNvSpPr>
          <p:nvPr>
            <p:ph type="sldNum" sz="quarter" idx="12"/>
          </p:nvPr>
        </p:nvSpPr>
        <p:spPr/>
        <p:txBody>
          <a:bodyPr/>
          <a:lstStyle>
            <a:lvl1pPr>
              <a:defRPr/>
            </a:lvl1pPr>
          </a:lstStyle>
          <a:p>
            <a:fld id="{3DA30B54-1A29-4A3B-AE4E-0AFDBDE0A2E2}" type="slidenum">
              <a:rPr lang="en-US" altLang="zh-CN"/>
              <a:pPr/>
              <a:t>‹#›</a:t>
            </a:fld>
            <a:endParaRPr lang="en-US" altLang="zh-CN"/>
          </a:p>
        </p:txBody>
      </p:sp>
    </p:spTree>
    <p:extLst>
      <p:ext uri="{BB962C8B-B14F-4D97-AF65-F5344CB8AC3E}">
        <p14:creationId xmlns:p14="http://schemas.microsoft.com/office/powerpoint/2010/main" val="558734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1790031B-99DB-4D7B-B0F6-39CB218BF05B}"/>
              </a:ext>
            </a:extLst>
          </p:cNvPr>
          <p:cNvSpPr>
            <a:spLocks noGrp="1"/>
          </p:cNvSpPr>
          <p:nvPr>
            <p:ph type="dt" sz="half" idx="10"/>
          </p:nvPr>
        </p:nvSpPr>
        <p:spPr/>
        <p:txBody>
          <a:bodyPr/>
          <a:lstStyle>
            <a:lvl1pPr>
              <a:defRPr/>
            </a:lvl1pPr>
          </a:lstStyle>
          <a:p>
            <a:pPr>
              <a:defRPr/>
            </a:pPr>
            <a:endParaRPr lang="en-US" altLang="zh-CN"/>
          </a:p>
        </p:txBody>
      </p:sp>
      <p:sp>
        <p:nvSpPr>
          <p:cNvPr id="3" name="页脚占位符 4">
            <a:extLst>
              <a:ext uri="{FF2B5EF4-FFF2-40B4-BE49-F238E27FC236}">
                <a16:creationId xmlns:a16="http://schemas.microsoft.com/office/drawing/2014/main" id="{44B77118-EF4E-4EAD-AF21-9355E65F3B6E}"/>
              </a:ext>
            </a:extLst>
          </p:cNvPr>
          <p:cNvSpPr>
            <a:spLocks noGrp="1"/>
          </p:cNvSpPr>
          <p:nvPr>
            <p:ph type="ftr" sz="quarter" idx="11"/>
          </p:nvPr>
        </p:nvSpPr>
        <p:spPr/>
        <p:txBody>
          <a:bodyPr/>
          <a:lstStyle>
            <a:lvl1pPr>
              <a:defRPr/>
            </a:lvl1pPr>
          </a:lstStyle>
          <a:p>
            <a:pPr>
              <a:defRPr/>
            </a:pPr>
            <a:endParaRPr lang="en-US" altLang="zh-CN"/>
          </a:p>
        </p:txBody>
      </p:sp>
      <p:sp>
        <p:nvSpPr>
          <p:cNvPr id="4" name="灯片编号占位符 5">
            <a:extLst>
              <a:ext uri="{FF2B5EF4-FFF2-40B4-BE49-F238E27FC236}">
                <a16:creationId xmlns:a16="http://schemas.microsoft.com/office/drawing/2014/main" id="{B203EE2B-1642-41CA-A973-A8962004DB54}"/>
              </a:ext>
            </a:extLst>
          </p:cNvPr>
          <p:cNvSpPr>
            <a:spLocks noGrp="1"/>
          </p:cNvSpPr>
          <p:nvPr>
            <p:ph type="sldNum" sz="quarter" idx="12"/>
          </p:nvPr>
        </p:nvSpPr>
        <p:spPr/>
        <p:txBody>
          <a:bodyPr/>
          <a:lstStyle>
            <a:lvl1pPr>
              <a:defRPr/>
            </a:lvl1pPr>
          </a:lstStyle>
          <a:p>
            <a:fld id="{76BE54FA-C00A-4A1A-93EB-7187296C08F0}" type="slidenum">
              <a:rPr lang="en-US" altLang="zh-CN"/>
              <a:pPr/>
              <a:t>‹#›</a:t>
            </a:fld>
            <a:endParaRPr lang="en-US" altLang="zh-CN"/>
          </a:p>
        </p:txBody>
      </p:sp>
    </p:spTree>
    <p:extLst>
      <p:ext uri="{BB962C8B-B14F-4D97-AF65-F5344CB8AC3E}">
        <p14:creationId xmlns:p14="http://schemas.microsoft.com/office/powerpoint/2010/main" val="3471822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0205D250-DBBE-4592-B9B3-FBA0BB55BE71}"/>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FA6F23DC-91DE-489F-8F76-1F47782056CF}"/>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8498C4AC-4801-407F-9818-F11AFD357FDC}"/>
              </a:ext>
            </a:extLst>
          </p:cNvPr>
          <p:cNvSpPr>
            <a:spLocks noGrp="1"/>
          </p:cNvSpPr>
          <p:nvPr>
            <p:ph type="sldNum" sz="quarter" idx="12"/>
          </p:nvPr>
        </p:nvSpPr>
        <p:spPr/>
        <p:txBody>
          <a:bodyPr/>
          <a:lstStyle>
            <a:lvl1pPr>
              <a:defRPr/>
            </a:lvl1pPr>
          </a:lstStyle>
          <a:p>
            <a:fld id="{C45C0C22-8F5D-4F73-8F93-CC2A2045355D}" type="slidenum">
              <a:rPr lang="en-US" altLang="zh-CN"/>
              <a:pPr/>
              <a:t>‹#›</a:t>
            </a:fld>
            <a:endParaRPr lang="en-US" altLang="zh-CN"/>
          </a:p>
        </p:txBody>
      </p:sp>
    </p:spTree>
    <p:extLst>
      <p:ext uri="{BB962C8B-B14F-4D97-AF65-F5344CB8AC3E}">
        <p14:creationId xmlns:p14="http://schemas.microsoft.com/office/powerpoint/2010/main" val="21377483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80B12DD4-D578-4198-BA6F-7537854A2354}"/>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052B9FBD-70DB-427B-8F3E-E43AB32173FC}"/>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77853162-9B88-49F2-94C3-271549F1301B}"/>
              </a:ext>
            </a:extLst>
          </p:cNvPr>
          <p:cNvSpPr>
            <a:spLocks noGrp="1"/>
          </p:cNvSpPr>
          <p:nvPr>
            <p:ph type="sldNum" sz="quarter" idx="12"/>
          </p:nvPr>
        </p:nvSpPr>
        <p:spPr/>
        <p:txBody>
          <a:bodyPr/>
          <a:lstStyle>
            <a:lvl1pPr>
              <a:defRPr/>
            </a:lvl1pPr>
          </a:lstStyle>
          <a:p>
            <a:fld id="{00C3967C-9909-4A55-B2DC-33B02FFD03A4}" type="slidenum">
              <a:rPr lang="en-US" altLang="zh-CN"/>
              <a:pPr/>
              <a:t>‹#›</a:t>
            </a:fld>
            <a:endParaRPr lang="en-US" altLang="zh-CN"/>
          </a:p>
        </p:txBody>
      </p:sp>
    </p:spTree>
    <p:extLst>
      <p:ext uri="{BB962C8B-B14F-4D97-AF65-F5344CB8AC3E}">
        <p14:creationId xmlns:p14="http://schemas.microsoft.com/office/powerpoint/2010/main" val="2333959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1B43C31-F468-44E6-9788-87B07DD080D6}"/>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95C91770-1D71-4B4C-87C5-AF0E75ADD35C}"/>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C27B3738-78E3-40DA-8089-AAE01D6A1F76}"/>
              </a:ext>
            </a:extLst>
          </p:cNvPr>
          <p:cNvSpPr>
            <a:spLocks noGrp="1"/>
          </p:cNvSpPr>
          <p:nvPr>
            <p:ph type="sldNum" sz="quarter" idx="12"/>
          </p:nvPr>
        </p:nvSpPr>
        <p:spPr/>
        <p:txBody>
          <a:bodyPr/>
          <a:lstStyle>
            <a:lvl1pPr>
              <a:defRPr/>
            </a:lvl1pPr>
          </a:lstStyle>
          <a:p>
            <a:fld id="{C752307B-BDA6-4715-B773-8A3E46F378A4}" type="slidenum">
              <a:rPr lang="en-US" altLang="zh-CN"/>
              <a:pPr/>
              <a:t>‹#›</a:t>
            </a:fld>
            <a:endParaRPr lang="en-US" altLang="zh-CN"/>
          </a:p>
        </p:txBody>
      </p:sp>
    </p:spTree>
    <p:extLst>
      <p:ext uri="{BB962C8B-B14F-4D97-AF65-F5344CB8AC3E}">
        <p14:creationId xmlns:p14="http://schemas.microsoft.com/office/powerpoint/2010/main" val="528071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F88EC90-B26D-4477-B93C-42638BEABEFA}"/>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331740CC-5084-4F1E-96CA-5155B609DCE9}"/>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10FDD8FA-D33A-4BBA-9BC9-E652AB73F030}"/>
              </a:ext>
            </a:extLst>
          </p:cNvPr>
          <p:cNvSpPr>
            <a:spLocks noGrp="1"/>
          </p:cNvSpPr>
          <p:nvPr>
            <p:ph type="sldNum" sz="quarter" idx="12"/>
          </p:nvPr>
        </p:nvSpPr>
        <p:spPr/>
        <p:txBody>
          <a:bodyPr/>
          <a:lstStyle>
            <a:lvl1pPr>
              <a:defRPr/>
            </a:lvl1pPr>
          </a:lstStyle>
          <a:p>
            <a:fld id="{F39EEDDE-202C-429B-AF09-DE7DC320B4A6}" type="slidenum">
              <a:rPr lang="en-US" altLang="zh-CN"/>
              <a:pPr/>
              <a:t>‹#›</a:t>
            </a:fld>
            <a:endParaRPr lang="en-US" altLang="zh-CN"/>
          </a:p>
        </p:txBody>
      </p:sp>
    </p:spTree>
    <p:extLst>
      <p:ext uri="{BB962C8B-B14F-4D97-AF65-F5344CB8AC3E}">
        <p14:creationId xmlns:p14="http://schemas.microsoft.com/office/powerpoint/2010/main" val="4869372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43000"/>
          </a:xfr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91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41763"/>
            <a:ext cx="4038600" cy="2189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3">
            <a:extLst>
              <a:ext uri="{FF2B5EF4-FFF2-40B4-BE49-F238E27FC236}">
                <a16:creationId xmlns:a16="http://schemas.microsoft.com/office/drawing/2014/main" id="{C8122C88-5AC0-4EFC-AA6C-5088FBC9A2F1}"/>
              </a:ext>
            </a:extLst>
          </p:cNvPr>
          <p:cNvSpPr>
            <a:spLocks noGrp="1"/>
          </p:cNvSpPr>
          <p:nvPr>
            <p:ph type="dt" sz="half" idx="10"/>
          </p:nvPr>
        </p:nvSpPr>
        <p:spPr/>
        <p:txBody>
          <a:bodyPr/>
          <a:lstStyle>
            <a:lvl1pPr>
              <a:defRPr/>
            </a:lvl1pPr>
          </a:lstStyle>
          <a:p>
            <a:pPr>
              <a:defRPr/>
            </a:pPr>
            <a:endParaRPr lang="en-US" altLang="zh-CN"/>
          </a:p>
        </p:txBody>
      </p:sp>
      <p:sp>
        <p:nvSpPr>
          <p:cNvPr id="7" name="页脚占位符 4">
            <a:extLst>
              <a:ext uri="{FF2B5EF4-FFF2-40B4-BE49-F238E27FC236}">
                <a16:creationId xmlns:a16="http://schemas.microsoft.com/office/drawing/2014/main" id="{02575082-99A6-4D3F-B224-50560D142431}"/>
              </a:ext>
            </a:extLst>
          </p:cNvPr>
          <p:cNvSpPr>
            <a:spLocks noGrp="1"/>
          </p:cNvSpPr>
          <p:nvPr>
            <p:ph type="ftr" sz="quarter" idx="11"/>
          </p:nvPr>
        </p:nvSpPr>
        <p:spPr/>
        <p:txBody>
          <a:bodyPr/>
          <a:lstStyle>
            <a:lvl1pPr>
              <a:defRPr/>
            </a:lvl1pPr>
          </a:lstStyle>
          <a:p>
            <a:pPr>
              <a:defRPr/>
            </a:pPr>
            <a:endParaRPr lang="en-US" altLang="zh-CN"/>
          </a:p>
        </p:txBody>
      </p:sp>
      <p:sp>
        <p:nvSpPr>
          <p:cNvPr id="8" name="灯片编号占位符 5">
            <a:extLst>
              <a:ext uri="{FF2B5EF4-FFF2-40B4-BE49-F238E27FC236}">
                <a16:creationId xmlns:a16="http://schemas.microsoft.com/office/drawing/2014/main" id="{BEC6AE84-7160-4BF2-A64C-1837268178EA}"/>
              </a:ext>
            </a:extLst>
          </p:cNvPr>
          <p:cNvSpPr>
            <a:spLocks noGrp="1"/>
          </p:cNvSpPr>
          <p:nvPr>
            <p:ph type="sldNum" sz="quarter" idx="12"/>
          </p:nvPr>
        </p:nvSpPr>
        <p:spPr/>
        <p:txBody>
          <a:bodyPr/>
          <a:lstStyle>
            <a:lvl1pPr>
              <a:defRPr/>
            </a:lvl1pPr>
          </a:lstStyle>
          <a:p>
            <a:fld id="{EC3A4E1D-8060-4E60-82CF-AAD54E2754E7}" type="slidenum">
              <a:rPr lang="en-US" altLang="zh-CN"/>
              <a:pPr/>
              <a:t>‹#›</a:t>
            </a:fld>
            <a:endParaRPr lang="en-US" altLang="zh-CN"/>
          </a:p>
        </p:txBody>
      </p:sp>
    </p:spTree>
    <p:extLst>
      <p:ext uri="{BB962C8B-B14F-4D97-AF65-F5344CB8AC3E}">
        <p14:creationId xmlns:p14="http://schemas.microsoft.com/office/powerpoint/2010/main" val="11949814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x">
  <p:cSld name="标题，内容与文本">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43000"/>
          </a:xfr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648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F27AA481-16A6-4726-A02E-8BA2C57FE9BF}"/>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6598D816-3CB3-4F81-8D4A-4F534D2817C7}"/>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A37BE139-4462-4CA3-90A4-C96C72275E64}"/>
              </a:ext>
            </a:extLst>
          </p:cNvPr>
          <p:cNvSpPr>
            <a:spLocks noGrp="1"/>
          </p:cNvSpPr>
          <p:nvPr>
            <p:ph type="sldNum" sz="quarter" idx="12"/>
          </p:nvPr>
        </p:nvSpPr>
        <p:spPr/>
        <p:txBody>
          <a:bodyPr/>
          <a:lstStyle>
            <a:lvl1pPr>
              <a:defRPr/>
            </a:lvl1pPr>
          </a:lstStyle>
          <a:p>
            <a:fld id="{F4F94429-DD7F-4ECF-ADC3-C17B3122E838}" type="slidenum">
              <a:rPr lang="en-US" altLang="zh-CN"/>
              <a:pPr/>
              <a:t>‹#›</a:t>
            </a:fld>
            <a:endParaRPr lang="en-US" altLang="zh-CN"/>
          </a:p>
        </p:txBody>
      </p:sp>
    </p:spTree>
    <p:extLst>
      <p:ext uri="{BB962C8B-B14F-4D97-AF65-F5344CB8AC3E}">
        <p14:creationId xmlns:p14="http://schemas.microsoft.com/office/powerpoint/2010/main" val="10196200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CD880E27-8DD4-4EE3-AC49-5C945AFA6031}"/>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D718154D-E7DC-4D2B-ADF0-B08BD2D0F883}"/>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69B3EA22-E5EA-4823-85E1-BD3BEA38665D}"/>
              </a:ext>
            </a:extLst>
          </p:cNvPr>
          <p:cNvSpPr>
            <a:spLocks noGrp="1"/>
          </p:cNvSpPr>
          <p:nvPr>
            <p:ph type="sldNum" sz="quarter" idx="12"/>
          </p:nvPr>
        </p:nvSpPr>
        <p:spPr/>
        <p:txBody>
          <a:bodyPr/>
          <a:lstStyle>
            <a:lvl1pPr>
              <a:defRPr/>
            </a:lvl1pPr>
          </a:lstStyle>
          <a:p>
            <a:fld id="{5A92BD3A-139F-4E2B-B995-DE3BB7E1B3E9}" type="slidenum">
              <a:rPr lang="en-US" altLang="zh-CN"/>
              <a:pPr/>
              <a:t>‹#›</a:t>
            </a:fld>
            <a:endParaRPr lang="en-US" altLang="zh-CN"/>
          </a:p>
        </p:txBody>
      </p:sp>
    </p:spTree>
    <p:extLst>
      <p:ext uri="{BB962C8B-B14F-4D97-AF65-F5344CB8AC3E}">
        <p14:creationId xmlns:p14="http://schemas.microsoft.com/office/powerpoint/2010/main" val="40867368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43000"/>
          </a:xfrm>
        </p:spPr>
        <p:txBody>
          <a:bodyPr/>
          <a:lstStyle/>
          <a:p>
            <a:r>
              <a:rPr lang="zh-CN" altLang="en-US"/>
              <a:t>单击此处编辑母版标题样式</a:t>
            </a:r>
          </a:p>
        </p:txBody>
      </p:sp>
      <p:sp>
        <p:nvSpPr>
          <p:cNvPr id="3" name="表格占位符 2"/>
          <p:cNvSpPr>
            <a:spLocks noGrp="1"/>
          </p:cNvSpPr>
          <p:nvPr>
            <p:ph type="tbl" idx="1"/>
          </p:nvPr>
        </p:nvSpPr>
        <p:spPr>
          <a:xfrm>
            <a:off x="457200" y="1600200"/>
            <a:ext cx="8229600" cy="4530725"/>
          </a:xfrm>
        </p:spPr>
        <p:txBody>
          <a:bodyPr rtlCol="0">
            <a:normAutofit/>
          </a:bodyPr>
          <a:lstStyle/>
          <a:p>
            <a:pPr lvl="0"/>
            <a:endParaRPr lang="zh-CN" altLang="en-US" noProof="0"/>
          </a:p>
        </p:txBody>
      </p:sp>
      <p:sp>
        <p:nvSpPr>
          <p:cNvPr id="4" name="日期占位符 3">
            <a:extLst>
              <a:ext uri="{FF2B5EF4-FFF2-40B4-BE49-F238E27FC236}">
                <a16:creationId xmlns:a16="http://schemas.microsoft.com/office/drawing/2014/main" id="{6E84FA4C-1EB1-4782-8FAA-6D55ECE584D4}"/>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821A9FF5-8507-4FD7-B455-EA30A85268C8}"/>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21780519-8D14-49B4-A31F-516B9CFDB1A4}"/>
              </a:ext>
            </a:extLst>
          </p:cNvPr>
          <p:cNvSpPr>
            <a:spLocks noGrp="1"/>
          </p:cNvSpPr>
          <p:nvPr>
            <p:ph type="sldNum" sz="quarter" idx="12"/>
          </p:nvPr>
        </p:nvSpPr>
        <p:spPr/>
        <p:txBody>
          <a:bodyPr/>
          <a:lstStyle>
            <a:lvl1pPr>
              <a:defRPr/>
            </a:lvl1pPr>
          </a:lstStyle>
          <a:p>
            <a:fld id="{CA6C40A2-5F7B-42D4-AADE-2B228F9C1C0F}" type="slidenum">
              <a:rPr lang="en-US" altLang="zh-CN"/>
              <a:pPr/>
              <a:t>‹#›</a:t>
            </a:fld>
            <a:endParaRPr lang="en-US" altLang="zh-CN"/>
          </a:p>
        </p:txBody>
      </p:sp>
    </p:spTree>
    <p:extLst>
      <p:ext uri="{BB962C8B-B14F-4D97-AF65-F5344CB8AC3E}">
        <p14:creationId xmlns:p14="http://schemas.microsoft.com/office/powerpoint/2010/main" val="29533059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7813"/>
            <a:ext cx="8229600" cy="58531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a:extLst>
              <a:ext uri="{FF2B5EF4-FFF2-40B4-BE49-F238E27FC236}">
                <a16:creationId xmlns:a16="http://schemas.microsoft.com/office/drawing/2014/main" id="{28C559F4-8E54-40A3-8798-075D08B041E3}"/>
              </a:ext>
            </a:extLst>
          </p:cNvPr>
          <p:cNvSpPr>
            <a:spLocks noGrp="1"/>
          </p:cNvSpPr>
          <p:nvPr>
            <p:ph type="dt" sz="half" idx="10"/>
          </p:nvPr>
        </p:nvSpPr>
        <p:spPr/>
        <p:txBody>
          <a:bodyPr/>
          <a:lstStyle>
            <a:lvl1pPr>
              <a:defRPr/>
            </a:lvl1pPr>
          </a:lstStyle>
          <a:p>
            <a:pPr>
              <a:defRPr/>
            </a:pPr>
            <a:endParaRPr lang="en-US" altLang="zh-CN"/>
          </a:p>
        </p:txBody>
      </p:sp>
      <p:sp>
        <p:nvSpPr>
          <p:cNvPr id="4" name="页脚占位符 4">
            <a:extLst>
              <a:ext uri="{FF2B5EF4-FFF2-40B4-BE49-F238E27FC236}">
                <a16:creationId xmlns:a16="http://schemas.microsoft.com/office/drawing/2014/main" id="{C85B0906-A604-42AB-9091-BD4CFAB87D27}"/>
              </a:ext>
            </a:extLst>
          </p:cNvPr>
          <p:cNvSpPr>
            <a:spLocks noGrp="1"/>
          </p:cNvSpPr>
          <p:nvPr>
            <p:ph type="ftr" sz="quarter" idx="11"/>
          </p:nvPr>
        </p:nvSpPr>
        <p:spPr/>
        <p:txBody>
          <a:bodyPr/>
          <a:lstStyle>
            <a:lvl1pPr>
              <a:defRPr/>
            </a:lvl1pPr>
          </a:lstStyle>
          <a:p>
            <a:pPr>
              <a:defRPr/>
            </a:pPr>
            <a:endParaRPr lang="en-US" altLang="zh-CN"/>
          </a:p>
        </p:txBody>
      </p:sp>
      <p:sp>
        <p:nvSpPr>
          <p:cNvPr id="5" name="灯片编号占位符 5">
            <a:extLst>
              <a:ext uri="{FF2B5EF4-FFF2-40B4-BE49-F238E27FC236}">
                <a16:creationId xmlns:a16="http://schemas.microsoft.com/office/drawing/2014/main" id="{F1C81F5A-6F6B-4D00-B74C-59984140B439}"/>
              </a:ext>
            </a:extLst>
          </p:cNvPr>
          <p:cNvSpPr>
            <a:spLocks noGrp="1"/>
          </p:cNvSpPr>
          <p:nvPr>
            <p:ph type="sldNum" sz="quarter" idx="12"/>
          </p:nvPr>
        </p:nvSpPr>
        <p:spPr/>
        <p:txBody>
          <a:bodyPr/>
          <a:lstStyle>
            <a:lvl1pPr>
              <a:defRPr/>
            </a:lvl1pPr>
          </a:lstStyle>
          <a:p>
            <a:fld id="{F8D8D046-86F4-4D8B-AED3-51BC2E42F914}" type="slidenum">
              <a:rPr lang="en-US" altLang="zh-CN"/>
              <a:pPr/>
              <a:t>‹#›</a:t>
            </a:fld>
            <a:endParaRPr lang="en-US" altLang="zh-CN"/>
          </a:p>
        </p:txBody>
      </p:sp>
    </p:spTree>
    <p:extLst>
      <p:ext uri="{BB962C8B-B14F-4D97-AF65-F5344CB8AC3E}">
        <p14:creationId xmlns:p14="http://schemas.microsoft.com/office/powerpoint/2010/main" val="11285374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91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41763"/>
            <a:ext cx="4038600" cy="2189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3">
            <a:extLst>
              <a:ext uri="{FF2B5EF4-FFF2-40B4-BE49-F238E27FC236}">
                <a16:creationId xmlns:a16="http://schemas.microsoft.com/office/drawing/2014/main" id="{3AC5B3E4-F61A-4ADE-A451-5CE8FC5B85B8}"/>
              </a:ext>
            </a:extLst>
          </p:cNvPr>
          <p:cNvSpPr>
            <a:spLocks noGrp="1"/>
          </p:cNvSpPr>
          <p:nvPr>
            <p:ph type="dt" sz="half" idx="10"/>
          </p:nvPr>
        </p:nvSpPr>
        <p:spPr/>
        <p:txBody>
          <a:bodyPr/>
          <a:lstStyle>
            <a:lvl1pPr>
              <a:defRPr/>
            </a:lvl1pPr>
          </a:lstStyle>
          <a:p>
            <a:pPr>
              <a:defRPr/>
            </a:pPr>
            <a:endParaRPr lang="en-US" altLang="zh-CN"/>
          </a:p>
        </p:txBody>
      </p:sp>
      <p:sp>
        <p:nvSpPr>
          <p:cNvPr id="7" name="页脚占位符 4">
            <a:extLst>
              <a:ext uri="{FF2B5EF4-FFF2-40B4-BE49-F238E27FC236}">
                <a16:creationId xmlns:a16="http://schemas.microsoft.com/office/drawing/2014/main" id="{6A8657F2-B629-4566-9B15-5E9C4C5F40E4}"/>
              </a:ext>
            </a:extLst>
          </p:cNvPr>
          <p:cNvSpPr>
            <a:spLocks noGrp="1"/>
          </p:cNvSpPr>
          <p:nvPr>
            <p:ph type="ftr" sz="quarter" idx="11"/>
          </p:nvPr>
        </p:nvSpPr>
        <p:spPr/>
        <p:txBody>
          <a:bodyPr/>
          <a:lstStyle>
            <a:lvl1pPr>
              <a:defRPr/>
            </a:lvl1pPr>
          </a:lstStyle>
          <a:p>
            <a:pPr>
              <a:defRPr/>
            </a:pPr>
            <a:endParaRPr lang="en-US" altLang="zh-CN"/>
          </a:p>
        </p:txBody>
      </p:sp>
      <p:sp>
        <p:nvSpPr>
          <p:cNvPr id="8" name="灯片编号占位符 5">
            <a:extLst>
              <a:ext uri="{FF2B5EF4-FFF2-40B4-BE49-F238E27FC236}">
                <a16:creationId xmlns:a16="http://schemas.microsoft.com/office/drawing/2014/main" id="{AF111054-75AD-40F7-8B9D-7A248377AD80}"/>
              </a:ext>
            </a:extLst>
          </p:cNvPr>
          <p:cNvSpPr>
            <a:spLocks noGrp="1"/>
          </p:cNvSpPr>
          <p:nvPr>
            <p:ph type="sldNum" sz="quarter" idx="12"/>
          </p:nvPr>
        </p:nvSpPr>
        <p:spPr/>
        <p:txBody>
          <a:bodyPr/>
          <a:lstStyle>
            <a:lvl1pPr>
              <a:defRPr/>
            </a:lvl1pPr>
          </a:lstStyle>
          <a:p>
            <a:fld id="{EEC5ADB7-B34F-43DE-8ABA-88C5827FC1EE}" type="slidenum">
              <a:rPr lang="en-US" altLang="zh-CN"/>
              <a:pPr/>
              <a:t>‹#›</a:t>
            </a:fld>
            <a:endParaRPr lang="en-US" altLang="zh-CN"/>
          </a:p>
        </p:txBody>
      </p:sp>
    </p:spTree>
    <p:extLst>
      <p:ext uri="{BB962C8B-B14F-4D97-AF65-F5344CB8AC3E}">
        <p14:creationId xmlns:p14="http://schemas.microsoft.com/office/powerpoint/2010/main" val="24600418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3D5274B8-304B-4D1A-AABD-DF6215D697F6}"/>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79084165-FA4D-4456-AC73-63E7D393C7B0}"/>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06505BE-B7CD-44EC-AE00-30EA5897CB01}"/>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defRPr>
            </a:lvl1pPr>
          </a:lstStyle>
          <a:p>
            <a:pPr>
              <a:defRPr/>
            </a:pPr>
            <a:endParaRPr lang="en-US" altLang="zh-CN"/>
          </a:p>
        </p:txBody>
      </p:sp>
      <p:sp>
        <p:nvSpPr>
          <p:cNvPr id="5" name="页脚占位符 4">
            <a:extLst>
              <a:ext uri="{FF2B5EF4-FFF2-40B4-BE49-F238E27FC236}">
                <a16:creationId xmlns:a16="http://schemas.microsoft.com/office/drawing/2014/main" id="{B07FB475-E824-4A94-A0D8-E829FA3A38EA}"/>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defRPr>
            </a:lvl1pPr>
          </a:lstStyle>
          <a:p>
            <a:pPr>
              <a:defRPr/>
            </a:pPr>
            <a:endParaRPr lang="en-US" altLang="zh-CN"/>
          </a:p>
        </p:txBody>
      </p:sp>
      <p:sp>
        <p:nvSpPr>
          <p:cNvPr id="6" name="灯片编号占位符 5">
            <a:extLst>
              <a:ext uri="{FF2B5EF4-FFF2-40B4-BE49-F238E27FC236}">
                <a16:creationId xmlns:a16="http://schemas.microsoft.com/office/drawing/2014/main" id="{1A9EA243-52A9-4493-8B3F-F669E3A11935}"/>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21A55805-1DE0-422D-AF11-FE4D0877468E}"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 id="2147483725" r:id="rId16"/>
    <p:sldLayoutId id="2147483726" r:id="rId17"/>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wmf"/><Relationship Id="rId1" Type="http://schemas.openxmlformats.org/officeDocument/2006/relationships/slideLayout" Target="../slideLayouts/slideLayout12.xml"/><Relationship Id="rId5" Type="http://schemas.openxmlformats.org/officeDocument/2006/relationships/slide" Target="slide2.xml"/><Relationship Id="rId4" Type="http://schemas.openxmlformats.org/officeDocument/2006/relationships/image" Target="../media/image3.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image" Target="../media/image5.wmf"/><Relationship Id="rId5" Type="http://schemas.openxmlformats.org/officeDocument/2006/relationships/oleObject" Target="../embeddings/oleObject2.bin"/><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6.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3.xml"/><Relationship Id="rId1" Type="http://schemas.openxmlformats.org/officeDocument/2006/relationships/vmlDrawing" Target="../drawings/vmlDrawing3.vml"/><Relationship Id="rId4" Type="http://schemas.openxmlformats.org/officeDocument/2006/relationships/image" Target="../media/image7.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4.xml"/><Relationship Id="rId1" Type="http://schemas.openxmlformats.org/officeDocument/2006/relationships/vmlDrawing" Target="../drawings/vmlDrawing4.vml"/><Relationship Id="rId4" Type="http://schemas.openxmlformats.org/officeDocument/2006/relationships/image" Target="../media/image8.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9.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slideLayout" Target="../slideLayouts/slideLayout16.xml"/><Relationship Id="rId1" Type="http://schemas.openxmlformats.org/officeDocument/2006/relationships/vmlDrawing" Target="../drawings/vmlDrawing6.vml"/><Relationship Id="rId6" Type="http://schemas.openxmlformats.org/officeDocument/2006/relationships/image" Target="../media/image11.wmf"/><Relationship Id="rId5" Type="http://schemas.openxmlformats.org/officeDocument/2006/relationships/oleObject" Target="../embeddings/oleObject8.bin"/><Relationship Id="rId4" Type="http://schemas.openxmlformats.org/officeDocument/2006/relationships/image" Target="../media/image10.wmf"/></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slideLayout" Target="../slideLayouts/slideLayout6.xml"/><Relationship Id="rId1" Type="http://schemas.openxmlformats.org/officeDocument/2006/relationships/vmlDrawing" Target="../drawings/vmlDrawing7.vml"/><Relationship Id="rId6" Type="http://schemas.openxmlformats.org/officeDocument/2006/relationships/image" Target="../media/image15.wmf"/><Relationship Id="rId5" Type="http://schemas.openxmlformats.org/officeDocument/2006/relationships/oleObject" Target="../embeddings/oleObject11.bin"/><Relationship Id="rId4" Type="http://schemas.openxmlformats.org/officeDocument/2006/relationships/image" Target="../media/image14.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4.xml"/><Relationship Id="rId1" Type="http://schemas.openxmlformats.org/officeDocument/2006/relationships/vmlDrawing" Target="../drawings/vmlDrawing8.vml"/><Relationship Id="rId6" Type="http://schemas.openxmlformats.org/officeDocument/2006/relationships/image" Target="../media/image18.png"/><Relationship Id="rId5" Type="http://schemas.openxmlformats.org/officeDocument/2006/relationships/oleObject" Target="../embeddings/oleObject14.bin"/><Relationship Id="rId4" Type="http://schemas.openxmlformats.org/officeDocument/2006/relationships/image" Target="../media/image17.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19.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6.xml"/><Relationship Id="rId1" Type="http://schemas.openxmlformats.org/officeDocument/2006/relationships/vmlDrawing" Target="../drawings/vmlDrawing10.vml"/><Relationship Id="rId4" Type="http://schemas.openxmlformats.org/officeDocument/2006/relationships/image" Target="../media/image20.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7.xml"/><Relationship Id="rId1" Type="http://schemas.openxmlformats.org/officeDocument/2006/relationships/vmlDrawing" Target="../drawings/vmlDrawing11.vml"/><Relationship Id="rId4" Type="http://schemas.openxmlformats.org/officeDocument/2006/relationships/image" Target="../media/image21.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14.xml"/><Relationship Id="rId1" Type="http://schemas.openxmlformats.org/officeDocument/2006/relationships/vmlDrawing" Target="../drawings/vmlDrawing12.vml"/><Relationship Id="rId5" Type="http://schemas.openxmlformats.org/officeDocument/2006/relationships/slide" Target="slide2.xml"/><Relationship Id="rId4" Type="http://schemas.openxmlformats.org/officeDocument/2006/relationships/image" Target="../media/image22.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14.xml"/><Relationship Id="rId1" Type="http://schemas.openxmlformats.org/officeDocument/2006/relationships/vmlDrawing" Target="../drawings/vmlDrawing13.vml"/><Relationship Id="rId4" Type="http://schemas.openxmlformats.org/officeDocument/2006/relationships/image" Target="../media/image23.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4.xml"/><Relationship Id="rId1" Type="http://schemas.openxmlformats.org/officeDocument/2006/relationships/vmlDrawing" Target="../drawings/vmlDrawing14.vml"/><Relationship Id="rId6" Type="http://schemas.openxmlformats.org/officeDocument/2006/relationships/image" Target="../media/image25.wmf"/><Relationship Id="rId5" Type="http://schemas.openxmlformats.org/officeDocument/2006/relationships/oleObject" Target="../embeddings/oleObject21.bin"/><Relationship Id="rId4" Type="http://schemas.openxmlformats.org/officeDocument/2006/relationships/image" Target="../media/image24.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4.xml"/><Relationship Id="rId1" Type="http://schemas.openxmlformats.org/officeDocument/2006/relationships/vmlDrawing" Target="../drawings/vmlDrawing15.vml"/><Relationship Id="rId6" Type="http://schemas.openxmlformats.org/officeDocument/2006/relationships/image" Target="../media/image27.wmf"/><Relationship Id="rId5" Type="http://schemas.openxmlformats.org/officeDocument/2006/relationships/oleObject" Target="../embeddings/oleObject23.bin"/><Relationship Id="rId4" Type="http://schemas.openxmlformats.org/officeDocument/2006/relationships/image" Target="../media/image26.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28.w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14.xml"/><Relationship Id="rId1" Type="http://schemas.openxmlformats.org/officeDocument/2006/relationships/vmlDrawing" Target="../drawings/vmlDrawing17.vml"/><Relationship Id="rId4" Type="http://schemas.openxmlformats.org/officeDocument/2006/relationships/image" Target="../media/image29.wmf"/></Relationships>
</file>

<file path=ppt/slides/_rels/slide35.x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14.xml"/><Relationship Id="rId1" Type="http://schemas.openxmlformats.org/officeDocument/2006/relationships/vmlDrawing" Target="../drawings/vmlDrawing18.vml"/><Relationship Id="rId4" Type="http://schemas.openxmlformats.org/officeDocument/2006/relationships/image" Target="../media/image31.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17.xml"/><Relationship Id="rId1" Type="http://schemas.openxmlformats.org/officeDocument/2006/relationships/vmlDrawing" Target="../drawings/vmlDrawing19.vml"/><Relationship Id="rId6" Type="http://schemas.openxmlformats.org/officeDocument/2006/relationships/image" Target="../media/image33.wmf"/><Relationship Id="rId5" Type="http://schemas.openxmlformats.org/officeDocument/2006/relationships/oleObject" Target="../embeddings/oleObject28.bin"/><Relationship Id="rId4" Type="http://schemas.openxmlformats.org/officeDocument/2006/relationships/image" Target="../media/image32.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14.xml"/><Relationship Id="rId1" Type="http://schemas.openxmlformats.org/officeDocument/2006/relationships/vmlDrawing" Target="../drawings/vmlDrawing20.vml"/><Relationship Id="rId4" Type="http://schemas.openxmlformats.org/officeDocument/2006/relationships/image" Target="../media/image34.wmf"/></Relationships>
</file>

<file path=ppt/slides/_rels/slide40.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slideLayout" Target="../slideLayouts/slideLayout14.xml"/><Relationship Id="rId1" Type="http://schemas.openxmlformats.org/officeDocument/2006/relationships/vmlDrawing" Target="../drawings/vmlDrawing21.vml"/><Relationship Id="rId5" Type="http://schemas.openxmlformats.org/officeDocument/2006/relationships/image" Target="../media/image35.wmf"/><Relationship Id="rId4" Type="http://schemas.openxmlformats.org/officeDocument/2006/relationships/oleObject" Target="../embeddings/oleObject30.bin"/></Relationships>
</file>

<file path=ppt/slides/_rels/slide4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33.bin"/><Relationship Id="rId13" Type="http://schemas.openxmlformats.org/officeDocument/2006/relationships/image" Target="../media/image41.wmf"/><Relationship Id="rId3" Type="http://schemas.openxmlformats.org/officeDocument/2006/relationships/image" Target="../media/image80.png"/><Relationship Id="rId7" Type="http://schemas.openxmlformats.org/officeDocument/2006/relationships/image" Target="../media/image38.wmf"/><Relationship Id="rId12" Type="http://schemas.openxmlformats.org/officeDocument/2006/relationships/oleObject" Target="../embeddings/oleObject35.bin"/><Relationship Id="rId2" Type="http://schemas.openxmlformats.org/officeDocument/2006/relationships/slideLayout" Target="../slideLayouts/slideLayout6.xml"/><Relationship Id="rId1" Type="http://schemas.openxmlformats.org/officeDocument/2006/relationships/vmlDrawing" Target="../drawings/vmlDrawing22.vml"/><Relationship Id="rId6" Type="http://schemas.openxmlformats.org/officeDocument/2006/relationships/oleObject" Target="../embeddings/oleObject32.bin"/><Relationship Id="rId11" Type="http://schemas.openxmlformats.org/officeDocument/2006/relationships/image" Target="../media/image40.wmf"/><Relationship Id="rId5" Type="http://schemas.openxmlformats.org/officeDocument/2006/relationships/image" Target="../media/image37.wmf"/><Relationship Id="rId10" Type="http://schemas.openxmlformats.org/officeDocument/2006/relationships/oleObject" Target="../embeddings/oleObject34.bin"/><Relationship Id="rId4" Type="http://schemas.openxmlformats.org/officeDocument/2006/relationships/oleObject" Target="../embeddings/oleObject31.bin"/><Relationship Id="rId9" Type="http://schemas.openxmlformats.org/officeDocument/2006/relationships/image" Target="../media/image39.wmf"/></Relationships>
</file>

<file path=ppt/slides/_rels/slide45.xml.rels><?xml version="1.0" encoding="UTF-8" standalone="yes"?>
<Relationships xmlns="http://schemas.openxmlformats.org/package/2006/relationships"><Relationship Id="rId13" Type="http://schemas.openxmlformats.org/officeDocument/2006/relationships/image" Target="../media/image46.wmf"/><Relationship Id="rId18" Type="http://schemas.openxmlformats.org/officeDocument/2006/relationships/oleObject" Target="../embeddings/oleObject43.bin"/><Relationship Id="rId26" Type="http://schemas.openxmlformats.org/officeDocument/2006/relationships/oleObject" Target="../embeddings/oleObject47.bin"/><Relationship Id="rId39" Type="http://schemas.openxmlformats.org/officeDocument/2006/relationships/oleObject" Target="../embeddings/oleObject54.bin"/><Relationship Id="rId21" Type="http://schemas.openxmlformats.org/officeDocument/2006/relationships/image" Target="../media/image50.wmf"/><Relationship Id="rId34" Type="http://schemas.openxmlformats.org/officeDocument/2006/relationships/oleObject" Target="../embeddings/oleObject51.bin"/><Relationship Id="rId42" Type="http://schemas.openxmlformats.org/officeDocument/2006/relationships/image" Target="../media/image60.wmf"/><Relationship Id="rId47" Type="http://schemas.openxmlformats.org/officeDocument/2006/relationships/oleObject" Target="../embeddings/oleObject58.bin"/><Relationship Id="rId50" Type="http://schemas.openxmlformats.org/officeDocument/2006/relationships/oleObject" Target="../embeddings/oleObject60.bin"/><Relationship Id="rId7" Type="http://schemas.openxmlformats.org/officeDocument/2006/relationships/image" Target="../media/image43.wmf"/><Relationship Id="rId2" Type="http://schemas.openxmlformats.org/officeDocument/2006/relationships/slideLayout" Target="../slideLayouts/slideLayout6.xml"/><Relationship Id="rId16" Type="http://schemas.openxmlformats.org/officeDocument/2006/relationships/oleObject" Target="../embeddings/oleObject42.bin"/><Relationship Id="rId29" Type="http://schemas.openxmlformats.org/officeDocument/2006/relationships/image" Target="../media/image54.wmf"/><Relationship Id="rId11" Type="http://schemas.openxmlformats.org/officeDocument/2006/relationships/image" Target="../media/image45.wmf"/><Relationship Id="rId24" Type="http://schemas.openxmlformats.org/officeDocument/2006/relationships/oleObject" Target="../embeddings/oleObject46.bin"/><Relationship Id="rId32" Type="http://schemas.openxmlformats.org/officeDocument/2006/relationships/oleObject" Target="../embeddings/oleObject50.bin"/><Relationship Id="rId37" Type="http://schemas.openxmlformats.org/officeDocument/2006/relationships/image" Target="../media/image58.wmf"/><Relationship Id="rId40" Type="http://schemas.openxmlformats.org/officeDocument/2006/relationships/image" Target="../media/image59.wmf"/><Relationship Id="rId45" Type="http://schemas.openxmlformats.org/officeDocument/2006/relationships/oleObject" Target="../embeddings/oleObject57.bin"/><Relationship Id="rId53" Type="http://schemas.openxmlformats.org/officeDocument/2006/relationships/image" Target="../media/image65.wmf"/><Relationship Id="rId5" Type="http://schemas.openxmlformats.org/officeDocument/2006/relationships/image" Target="../media/image42.wmf"/><Relationship Id="rId10" Type="http://schemas.openxmlformats.org/officeDocument/2006/relationships/oleObject" Target="../embeddings/oleObject39.bin"/><Relationship Id="rId19" Type="http://schemas.openxmlformats.org/officeDocument/2006/relationships/image" Target="../media/image49.wmf"/><Relationship Id="rId31" Type="http://schemas.openxmlformats.org/officeDocument/2006/relationships/image" Target="../media/image55.wmf"/><Relationship Id="rId44" Type="http://schemas.openxmlformats.org/officeDocument/2006/relationships/image" Target="../media/image61.wmf"/><Relationship Id="rId52" Type="http://schemas.openxmlformats.org/officeDocument/2006/relationships/oleObject" Target="../embeddings/oleObject61.bin"/><Relationship Id="rId4" Type="http://schemas.openxmlformats.org/officeDocument/2006/relationships/oleObject" Target="../embeddings/oleObject36.bin"/><Relationship Id="rId9" Type="http://schemas.openxmlformats.org/officeDocument/2006/relationships/image" Target="../media/image44.wmf"/><Relationship Id="rId14" Type="http://schemas.openxmlformats.org/officeDocument/2006/relationships/oleObject" Target="../embeddings/oleObject41.bin"/><Relationship Id="rId22" Type="http://schemas.openxmlformats.org/officeDocument/2006/relationships/oleObject" Target="../embeddings/oleObject45.bin"/><Relationship Id="rId27" Type="http://schemas.openxmlformats.org/officeDocument/2006/relationships/image" Target="../media/image53.wmf"/><Relationship Id="rId30" Type="http://schemas.openxmlformats.org/officeDocument/2006/relationships/oleObject" Target="../embeddings/oleObject49.bin"/><Relationship Id="rId35" Type="http://schemas.openxmlformats.org/officeDocument/2006/relationships/image" Target="../media/image57.wmf"/><Relationship Id="rId43" Type="http://schemas.openxmlformats.org/officeDocument/2006/relationships/oleObject" Target="../embeddings/oleObject56.bin"/><Relationship Id="rId48" Type="http://schemas.openxmlformats.org/officeDocument/2006/relationships/image" Target="../media/image63.wmf"/><Relationship Id="rId8" Type="http://schemas.openxmlformats.org/officeDocument/2006/relationships/oleObject" Target="../embeddings/oleObject38.bin"/><Relationship Id="rId51" Type="http://schemas.openxmlformats.org/officeDocument/2006/relationships/image" Target="../media/image64.wmf"/><Relationship Id="rId3" Type="http://schemas.openxmlformats.org/officeDocument/2006/relationships/notesSlide" Target="../notesSlides/notesSlide2.xml"/><Relationship Id="rId12" Type="http://schemas.openxmlformats.org/officeDocument/2006/relationships/oleObject" Target="../embeddings/oleObject40.bin"/><Relationship Id="rId17" Type="http://schemas.openxmlformats.org/officeDocument/2006/relationships/image" Target="../media/image48.wmf"/><Relationship Id="rId25" Type="http://schemas.openxmlformats.org/officeDocument/2006/relationships/image" Target="../media/image52.wmf"/><Relationship Id="rId33" Type="http://schemas.openxmlformats.org/officeDocument/2006/relationships/image" Target="../media/image56.wmf"/><Relationship Id="rId38" Type="http://schemas.openxmlformats.org/officeDocument/2006/relationships/oleObject" Target="../embeddings/oleObject53.bin"/><Relationship Id="rId46" Type="http://schemas.openxmlformats.org/officeDocument/2006/relationships/image" Target="../media/image62.wmf"/><Relationship Id="rId20" Type="http://schemas.openxmlformats.org/officeDocument/2006/relationships/oleObject" Target="../embeddings/oleObject44.bin"/><Relationship Id="rId41" Type="http://schemas.openxmlformats.org/officeDocument/2006/relationships/oleObject" Target="../embeddings/oleObject55.bin"/><Relationship Id="rId1" Type="http://schemas.openxmlformats.org/officeDocument/2006/relationships/vmlDrawing" Target="../drawings/vmlDrawing23.vml"/><Relationship Id="rId6" Type="http://schemas.openxmlformats.org/officeDocument/2006/relationships/oleObject" Target="../embeddings/oleObject37.bin"/><Relationship Id="rId15" Type="http://schemas.openxmlformats.org/officeDocument/2006/relationships/image" Target="../media/image47.wmf"/><Relationship Id="rId23" Type="http://schemas.openxmlformats.org/officeDocument/2006/relationships/image" Target="../media/image51.wmf"/><Relationship Id="rId28" Type="http://schemas.openxmlformats.org/officeDocument/2006/relationships/oleObject" Target="../embeddings/oleObject48.bin"/><Relationship Id="rId36" Type="http://schemas.openxmlformats.org/officeDocument/2006/relationships/oleObject" Target="../embeddings/oleObject52.bin"/><Relationship Id="rId49" Type="http://schemas.openxmlformats.org/officeDocument/2006/relationships/oleObject" Target="../embeddings/oleObject59.bin"/></Relationships>
</file>

<file path=ppt/slides/_rels/slide46.xml.rels><?xml version="1.0" encoding="UTF-8" standalone="yes"?>
<Relationships xmlns="http://schemas.openxmlformats.org/package/2006/relationships"><Relationship Id="rId8" Type="http://schemas.openxmlformats.org/officeDocument/2006/relationships/image" Target="../media/image68.wmf"/><Relationship Id="rId13" Type="http://schemas.openxmlformats.org/officeDocument/2006/relationships/oleObject" Target="../embeddings/oleObject67.bin"/><Relationship Id="rId18" Type="http://schemas.openxmlformats.org/officeDocument/2006/relationships/oleObject" Target="../embeddings/oleObject70.bin"/><Relationship Id="rId26" Type="http://schemas.openxmlformats.org/officeDocument/2006/relationships/oleObject" Target="../embeddings/oleObject74.bin"/><Relationship Id="rId3" Type="http://schemas.openxmlformats.org/officeDocument/2006/relationships/oleObject" Target="../embeddings/oleObject62.bin"/><Relationship Id="rId21" Type="http://schemas.openxmlformats.org/officeDocument/2006/relationships/image" Target="../media/image74.wmf"/><Relationship Id="rId7" Type="http://schemas.openxmlformats.org/officeDocument/2006/relationships/oleObject" Target="../embeddings/oleObject64.bin"/><Relationship Id="rId12" Type="http://schemas.openxmlformats.org/officeDocument/2006/relationships/image" Target="../media/image70.wmf"/><Relationship Id="rId17" Type="http://schemas.openxmlformats.org/officeDocument/2006/relationships/image" Target="../media/image72.wmf"/><Relationship Id="rId25" Type="http://schemas.openxmlformats.org/officeDocument/2006/relationships/image" Target="../media/image76.wmf"/><Relationship Id="rId2" Type="http://schemas.openxmlformats.org/officeDocument/2006/relationships/slideLayout" Target="../slideLayouts/slideLayout6.xml"/><Relationship Id="rId16" Type="http://schemas.openxmlformats.org/officeDocument/2006/relationships/oleObject" Target="../embeddings/oleObject69.bin"/><Relationship Id="rId20" Type="http://schemas.openxmlformats.org/officeDocument/2006/relationships/oleObject" Target="../embeddings/oleObject71.bin"/><Relationship Id="rId1" Type="http://schemas.openxmlformats.org/officeDocument/2006/relationships/vmlDrawing" Target="../drawings/vmlDrawing24.vml"/><Relationship Id="rId6" Type="http://schemas.openxmlformats.org/officeDocument/2006/relationships/image" Target="../media/image67.wmf"/><Relationship Id="rId11" Type="http://schemas.openxmlformats.org/officeDocument/2006/relationships/oleObject" Target="../embeddings/oleObject66.bin"/><Relationship Id="rId24" Type="http://schemas.openxmlformats.org/officeDocument/2006/relationships/oleObject" Target="../embeddings/oleObject73.bin"/><Relationship Id="rId5" Type="http://schemas.openxmlformats.org/officeDocument/2006/relationships/oleObject" Target="../embeddings/oleObject63.bin"/><Relationship Id="rId15" Type="http://schemas.openxmlformats.org/officeDocument/2006/relationships/oleObject" Target="../embeddings/oleObject68.bin"/><Relationship Id="rId23" Type="http://schemas.openxmlformats.org/officeDocument/2006/relationships/image" Target="../media/image75.wmf"/><Relationship Id="rId10" Type="http://schemas.openxmlformats.org/officeDocument/2006/relationships/image" Target="../media/image69.wmf"/><Relationship Id="rId19" Type="http://schemas.openxmlformats.org/officeDocument/2006/relationships/image" Target="../media/image73.wmf"/><Relationship Id="rId4" Type="http://schemas.openxmlformats.org/officeDocument/2006/relationships/image" Target="../media/image66.wmf"/><Relationship Id="rId9" Type="http://schemas.openxmlformats.org/officeDocument/2006/relationships/oleObject" Target="../embeddings/oleObject65.bin"/><Relationship Id="rId14" Type="http://schemas.openxmlformats.org/officeDocument/2006/relationships/image" Target="../media/image71.wmf"/><Relationship Id="rId22" Type="http://schemas.openxmlformats.org/officeDocument/2006/relationships/oleObject" Target="../embeddings/oleObject72.bin"/><Relationship Id="rId27" Type="http://schemas.openxmlformats.org/officeDocument/2006/relationships/image" Target="../media/image77.wmf"/></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77.bin"/><Relationship Id="rId13" Type="http://schemas.openxmlformats.org/officeDocument/2006/relationships/image" Target="../media/image82.wmf"/><Relationship Id="rId18" Type="http://schemas.openxmlformats.org/officeDocument/2006/relationships/oleObject" Target="../embeddings/oleObject82.bin"/><Relationship Id="rId3" Type="http://schemas.openxmlformats.org/officeDocument/2006/relationships/image" Target="../media/image125.png"/><Relationship Id="rId7" Type="http://schemas.openxmlformats.org/officeDocument/2006/relationships/image" Target="../media/image79.wmf"/><Relationship Id="rId12" Type="http://schemas.openxmlformats.org/officeDocument/2006/relationships/oleObject" Target="../embeddings/oleObject79.bin"/><Relationship Id="rId17" Type="http://schemas.openxmlformats.org/officeDocument/2006/relationships/image" Target="../media/image84.wmf"/><Relationship Id="rId2" Type="http://schemas.openxmlformats.org/officeDocument/2006/relationships/slideLayout" Target="../slideLayouts/slideLayout6.xml"/><Relationship Id="rId16" Type="http://schemas.openxmlformats.org/officeDocument/2006/relationships/oleObject" Target="../embeddings/oleObject81.bin"/><Relationship Id="rId1" Type="http://schemas.openxmlformats.org/officeDocument/2006/relationships/vmlDrawing" Target="../drawings/vmlDrawing25.vml"/><Relationship Id="rId6" Type="http://schemas.openxmlformats.org/officeDocument/2006/relationships/oleObject" Target="../embeddings/oleObject76.bin"/><Relationship Id="rId11" Type="http://schemas.openxmlformats.org/officeDocument/2006/relationships/image" Target="../media/image81.wmf"/><Relationship Id="rId5" Type="http://schemas.openxmlformats.org/officeDocument/2006/relationships/image" Target="../media/image78.wmf"/><Relationship Id="rId15" Type="http://schemas.openxmlformats.org/officeDocument/2006/relationships/image" Target="../media/image83.wmf"/><Relationship Id="rId10" Type="http://schemas.openxmlformats.org/officeDocument/2006/relationships/oleObject" Target="../embeddings/oleObject78.bin"/><Relationship Id="rId19" Type="http://schemas.openxmlformats.org/officeDocument/2006/relationships/image" Target="../media/image85.wmf"/><Relationship Id="rId4" Type="http://schemas.openxmlformats.org/officeDocument/2006/relationships/oleObject" Target="../embeddings/oleObject75.bin"/><Relationship Id="rId9" Type="http://schemas.openxmlformats.org/officeDocument/2006/relationships/image" Target="../media/image80.wmf"/><Relationship Id="rId14" Type="http://schemas.openxmlformats.org/officeDocument/2006/relationships/oleObject" Target="../embeddings/oleObject80.bin"/></Relationships>
</file>

<file path=ppt/slides/_rels/slide48.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83.bin"/><Relationship Id="rId2" Type="http://schemas.openxmlformats.org/officeDocument/2006/relationships/slideLayout" Target="../slideLayouts/slideLayout2.xml"/><Relationship Id="rId1" Type="http://schemas.openxmlformats.org/officeDocument/2006/relationships/vmlDrawing" Target="../drawings/vmlDrawing26.vml"/><Relationship Id="rId4" Type="http://schemas.openxmlformats.org/officeDocument/2006/relationships/image" Target="../media/image86.w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84.bin"/><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image" Target="../media/image88.wmf"/><Relationship Id="rId5" Type="http://schemas.openxmlformats.org/officeDocument/2006/relationships/oleObject" Target="../embeddings/oleObject85.bin"/><Relationship Id="rId4" Type="http://schemas.openxmlformats.org/officeDocument/2006/relationships/image" Target="../media/image87.w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image" Target="../media/image91.wmf"/><Relationship Id="rId3" Type="http://schemas.openxmlformats.org/officeDocument/2006/relationships/oleObject" Target="../embeddings/oleObject86.bin"/><Relationship Id="rId7" Type="http://schemas.openxmlformats.org/officeDocument/2006/relationships/oleObject" Target="../embeddings/oleObject88.bin"/><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image" Target="../media/image90.wmf"/><Relationship Id="rId5" Type="http://schemas.openxmlformats.org/officeDocument/2006/relationships/oleObject" Target="../embeddings/oleObject87.bin"/><Relationship Id="rId10" Type="http://schemas.openxmlformats.org/officeDocument/2006/relationships/image" Target="../media/image92.wmf"/><Relationship Id="rId4" Type="http://schemas.openxmlformats.org/officeDocument/2006/relationships/image" Target="../media/image89.wmf"/><Relationship Id="rId9" Type="http://schemas.openxmlformats.org/officeDocument/2006/relationships/oleObject" Target="../embeddings/oleObject89.bin"/></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90.bin"/><Relationship Id="rId2" Type="http://schemas.openxmlformats.org/officeDocument/2006/relationships/slideLayout" Target="../slideLayouts/slideLayout2.xml"/><Relationship Id="rId1" Type="http://schemas.openxmlformats.org/officeDocument/2006/relationships/vmlDrawing" Target="../drawings/vmlDrawing29.vml"/><Relationship Id="rId4" Type="http://schemas.openxmlformats.org/officeDocument/2006/relationships/image" Target="../media/image93.w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8" Type="http://schemas.openxmlformats.org/officeDocument/2006/relationships/image" Target="../media/image96.wmf"/><Relationship Id="rId13" Type="http://schemas.openxmlformats.org/officeDocument/2006/relationships/oleObject" Target="../embeddings/oleObject96.bin"/><Relationship Id="rId3" Type="http://schemas.openxmlformats.org/officeDocument/2006/relationships/oleObject" Target="../embeddings/oleObject91.bin"/><Relationship Id="rId7" Type="http://schemas.openxmlformats.org/officeDocument/2006/relationships/oleObject" Target="../embeddings/oleObject93.bin"/><Relationship Id="rId12" Type="http://schemas.openxmlformats.org/officeDocument/2006/relationships/image" Target="../media/image98.wmf"/><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image" Target="../media/image95.wmf"/><Relationship Id="rId11" Type="http://schemas.openxmlformats.org/officeDocument/2006/relationships/oleObject" Target="../embeddings/oleObject95.bin"/><Relationship Id="rId5" Type="http://schemas.openxmlformats.org/officeDocument/2006/relationships/oleObject" Target="../embeddings/oleObject92.bin"/><Relationship Id="rId10" Type="http://schemas.openxmlformats.org/officeDocument/2006/relationships/image" Target="../media/image97.wmf"/><Relationship Id="rId4" Type="http://schemas.openxmlformats.org/officeDocument/2006/relationships/image" Target="../media/image94.wmf"/><Relationship Id="rId9" Type="http://schemas.openxmlformats.org/officeDocument/2006/relationships/oleObject" Target="../embeddings/oleObject94.bin"/><Relationship Id="rId14" Type="http://schemas.openxmlformats.org/officeDocument/2006/relationships/image" Target="../media/image99.wmf"/></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97.bin"/><Relationship Id="rId2" Type="http://schemas.openxmlformats.org/officeDocument/2006/relationships/slideLayout" Target="../slideLayouts/slideLayout2.xml"/><Relationship Id="rId1" Type="http://schemas.openxmlformats.org/officeDocument/2006/relationships/vmlDrawing" Target="../drawings/vmlDrawing31.vml"/><Relationship Id="rId6" Type="http://schemas.openxmlformats.org/officeDocument/2006/relationships/image" Target="../media/image101.wmf"/><Relationship Id="rId5" Type="http://schemas.openxmlformats.org/officeDocument/2006/relationships/oleObject" Target="../embeddings/oleObject98.bin"/><Relationship Id="rId4" Type="http://schemas.openxmlformats.org/officeDocument/2006/relationships/image" Target="../media/image100.wmf"/></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99.bin"/><Relationship Id="rId2" Type="http://schemas.openxmlformats.org/officeDocument/2006/relationships/slideLayout" Target="../slideLayouts/slideLayout2.xml"/><Relationship Id="rId1" Type="http://schemas.openxmlformats.org/officeDocument/2006/relationships/vmlDrawing" Target="../drawings/vmlDrawing32.vml"/><Relationship Id="rId4" Type="http://schemas.openxmlformats.org/officeDocument/2006/relationships/image" Target="../media/image102.wm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8" Type="http://schemas.openxmlformats.org/officeDocument/2006/relationships/image" Target="../media/image96.wmf"/><Relationship Id="rId13" Type="http://schemas.openxmlformats.org/officeDocument/2006/relationships/oleObject" Target="../embeddings/oleObject105.bin"/><Relationship Id="rId3" Type="http://schemas.openxmlformats.org/officeDocument/2006/relationships/oleObject" Target="../embeddings/oleObject100.bin"/><Relationship Id="rId7" Type="http://schemas.openxmlformats.org/officeDocument/2006/relationships/oleObject" Target="../embeddings/oleObject102.bin"/><Relationship Id="rId12" Type="http://schemas.openxmlformats.org/officeDocument/2006/relationships/image" Target="../media/image98.wmf"/><Relationship Id="rId2" Type="http://schemas.openxmlformats.org/officeDocument/2006/relationships/slideLayout" Target="../slideLayouts/slideLayout2.xml"/><Relationship Id="rId1" Type="http://schemas.openxmlformats.org/officeDocument/2006/relationships/vmlDrawing" Target="../drawings/vmlDrawing33.vml"/><Relationship Id="rId6" Type="http://schemas.openxmlformats.org/officeDocument/2006/relationships/image" Target="../media/image95.wmf"/><Relationship Id="rId11" Type="http://schemas.openxmlformats.org/officeDocument/2006/relationships/oleObject" Target="../embeddings/oleObject104.bin"/><Relationship Id="rId5" Type="http://schemas.openxmlformats.org/officeDocument/2006/relationships/oleObject" Target="../embeddings/oleObject101.bin"/><Relationship Id="rId10" Type="http://schemas.openxmlformats.org/officeDocument/2006/relationships/image" Target="../media/image97.wmf"/><Relationship Id="rId4" Type="http://schemas.openxmlformats.org/officeDocument/2006/relationships/image" Target="../media/image94.wmf"/><Relationship Id="rId9" Type="http://schemas.openxmlformats.org/officeDocument/2006/relationships/oleObject" Target="../embeddings/oleObject103.bin"/><Relationship Id="rId14" Type="http://schemas.openxmlformats.org/officeDocument/2006/relationships/image" Target="../media/image99.wmf"/></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106.bin"/><Relationship Id="rId2" Type="http://schemas.openxmlformats.org/officeDocument/2006/relationships/slideLayout" Target="../slideLayouts/slideLayout2.xml"/><Relationship Id="rId1" Type="http://schemas.openxmlformats.org/officeDocument/2006/relationships/vmlDrawing" Target="../drawings/vmlDrawing34.vml"/><Relationship Id="rId6" Type="http://schemas.openxmlformats.org/officeDocument/2006/relationships/image" Target="../media/image101.wmf"/><Relationship Id="rId5" Type="http://schemas.openxmlformats.org/officeDocument/2006/relationships/oleObject" Target="../embeddings/oleObject107.bin"/><Relationship Id="rId4" Type="http://schemas.openxmlformats.org/officeDocument/2006/relationships/image" Target="../media/image100.wmf"/></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108.bin"/><Relationship Id="rId2" Type="http://schemas.openxmlformats.org/officeDocument/2006/relationships/slideLayout" Target="../slideLayouts/slideLayout2.xml"/><Relationship Id="rId1" Type="http://schemas.openxmlformats.org/officeDocument/2006/relationships/vmlDrawing" Target="../drawings/vmlDrawing35.vml"/><Relationship Id="rId4" Type="http://schemas.openxmlformats.org/officeDocument/2006/relationships/image" Target="../media/image102.wmf"/></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109.bin"/><Relationship Id="rId2" Type="http://schemas.openxmlformats.org/officeDocument/2006/relationships/slideLayout" Target="../slideLayouts/slideLayout7.xml"/><Relationship Id="rId1" Type="http://schemas.openxmlformats.org/officeDocument/2006/relationships/vmlDrawing" Target="../drawings/vmlDrawing36.vml"/><Relationship Id="rId4" Type="http://schemas.openxmlformats.org/officeDocument/2006/relationships/image" Target="../media/image10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110.bin"/><Relationship Id="rId2" Type="http://schemas.openxmlformats.org/officeDocument/2006/relationships/slideLayout" Target="../slideLayouts/slideLayout7.xml"/><Relationship Id="rId1" Type="http://schemas.openxmlformats.org/officeDocument/2006/relationships/vmlDrawing" Target="../drawings/vmlDrawing37.vml"/><Relationship Id="rId4" Type="http://schemas.openxmlformats.org/officeDocument/2006/relationships/image" Target="../media/image104.png"/></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111.bin"/><Relationship Id="rId2" Type="http://schemas.openxmlformats.org/officeDocument/2006/relationships/slideLayout" Target="../slideLayouts/slideLayout16.xml"/><Relationship Id="rId1" Type="http://schemas.openxmlformats.org/officeDocument/2006/relationships/vmlDrawing" Target="../drawings/vmlDrawing38.vml"/><Relationship Id="rId4" Type="http://schemas.openxmlformats.org/officeDocument/2006/relationships/image" Target="../media/image10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08.jpeg"/></Relationships>
</file>

<file path=ppt/slides/_rels/slide80.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8" Type="http://schemas.openxmlformats.org/officeDocument/2006/relationships/image" Target="../media/image112.jpeg"/><Relationship Id="rId13" Type="http://schemas.openxmlformats.org/officeDocument/2006/relationships/image" Target="file:///C:\DOCUME~1\ADMINI~1\LOCALS~1\Temp\HC@6V1QZ(_UV%60BUR6(RFT%5bJ.jpg" TargetMode="External"/><Relationship Id="rId3" Type="http://schemas.openxmlformats.org/officeDocument/2006/relationships/image" Target="../media/image107.jpeg"/><Relationship Id="rId7" Type="http://schemas.openxmlformats.org/officeDocument/2006/relationships/image" Target="file:///C:\DOCUME~1\ADMINI~1\LOCALS~1\Temp\%25B38DU2HV2U%5bGB$N%60PT4%60ZU.jpg" TargetMode="External"/><Relationship Id="rId12" Type="http://schemas.openxmlformats.org/officeDocument/2006/relationships/image" Target="../media/image114.jpe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11.jpeg"/><Relationship Id="rId11" Type="http://schemas.openxmlformats.org/officeDocument/2006/relationships/image" Target="file:///C:\DOCUME~1\ADMINI~1\LOCALS~1\Temp\~TQ$F9F2PAA1F83KR(W0SFD.jpg" TargetMode="External"/><Relationship Id="rId5" Type="http://schemas.openxmlformats.org/officeDocument/2006/relationships/image" Target="file:///C:\DOCUME~1\ADMINI~1\LOCALS~1\Temp\Q%5dBB1%5b4UUECK%5d8IUAOL6COJ.jpg" TargetMode="External"/><Relationship Id="rId10" Type="http://schemas.openxmlformats.org/officeDocument/2006/relationships/image" Target="../media/image113.jpeg"/><Relationship Id="rId4" Type="http://schemas.openxmlformats.org/officeDocument/2006/relationships/image" Target="../media/image110.jpeg"/><Relationship Id="rId9" Type="http://schemas.openxmlformats.org/officeDocument/2006/relationships/image" Target="file:///C:\DOCUME~1\ADMINI~1\LOCALS~1\Temp\KU%5dUY%25GIOT9$EO)5T~)6%5d%7dM.jpg" TargetMode="External"/></Relationships>
</file>

<file path=ppt/slides/_rels/slide83.xml.rels><?xml version="1.0" encoding="UTF-8" standalone="yes"?>
<Relationships xmlns="http://schemas.openxmlformats.org/package/2006/relationships"><Relationship Id="rId3" Type="http://schemas.openxmlformats.org/officeDocument/2006/relationships/image" Target="../media/image107.jpeg"/><Relationship Id="rId7" Type="http://schemas.openxmlformats.org/officeDocument/2006/relationships/image" Target="../media/image118.jpe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17.jpeg"/><Relationship Id="rId5" Type="http://schemas.openxmlformats.org/officeDocument/2006/relationships/image" Target="../media/image116.jpeg"/><Relationship Id="rId4" Type="http://schemas.openxmlformats.org/officeDocument/2006/relationships/image" Target="../media/image115.jpeg"/></Relationships>
</file>

<file path=ppt/slides/_rels/slide84.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20.jpeg"/><Relationship Id="rId4" Type="http://schemas.openxmlformats.org/officeDocument/2006/relationships/image" Target="../media/image119.jpeg"/></Relationships>
</file>

<file path=ppt/slides/_rels/slide85.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8" Type="http://schemas.openxmlformats.org/officeDocument/2006/relationships/oleObject" Target="../embeddings/oleObject112.bin"/><Relationship Id="rId3" Type="http://schemas.openxmlformats.org/officeDocument/2006/relationships/notesSlide" Target="../notesSlides/notesSlide11.xml"/><Relationship Id="rId7" Type="http://schemas.openxmlformats.org/officeDocument/2006/relationships/image" Target="../media/image123.jpeg"/><Relationship Id="rId2" Type="http://schemas.openxmlformats.org/officeDocument/2006/relationships/slideLayout" Target="../slideLayouts/slideLayout7.xml"/><Relationship Id="rId1" Type="http://schemas.openxmlformats.org/officeDocument/2006/relationships/vmlDrawing" Target="../drawings/vmlDrawing39.vml"/><Relationship Id="rId6" Type="http://schemas.openxmlformats.org/officeDocument/2006/relationships/image" Target="file:///C:\DOCUME~1\ADMINI~1\LOCALS~1\Temp\%7b7%5bQYR6@N5U%7dM@W2Y$Q8AC0.jpg" TargetMode="External"/><Relationship Id="rId5" Type="http://schemas.openxmlformats.org/officeDocument/2006/relationships/image" Target="../media/image122.jpeg"/><Relationship Id="rId4" Type="http://schemas.openxmlformats.org/officeDocument/2006/relationships/image" Target="../media/image107.jpeg"/><Relationship Id="rId9" Type="http://schemas.openxmlformats.org/officeDocument/2006/relationships/image" Target="../media/image121.wmf"/></Relationships>
</file>

<file path=ppt/slides/_rels/slide87.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24.emf"/></Relationships>
</file>

<file path=ppt/slides/_rels/slide88.xml.rels><?xml version="1.0" encoding="UTF-8" standalone="yes"?>
<Relationships xmlns="http://schemas.openxmlformats.org/package/2006/relationships"><Relationship Id="rId3" Type="http://schemas.openxmlformats.org/officeDocument/2006/relationships/image" Target="../media/image107.jpeg"/><Relationship Id="rId7" Type="http://schemas.openxmlformats.org/officeDocument/2006/relationships/image" Target="../media/image128.jpe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27.jpeg"/><Relationship Id="rId5" Type="http://schemas.openxmlformats.org/officeDocument/2006/relationships/image" Target="../media/image126.jpeg"/><Relationship Id="rId4" Type="http://schemas.openxmlformats.org/officeDocument/2006/relationships/image" Target="../media/image125.jpeg"/></Relationships>
</file>

<file path=ppt/slides/_rels/slide89.xml.rels><?xml version="1.0" encoding="UTF-8" standalone="yes"?>
<Relationships xmlns="http://schemas.openxmlformats.org/package/2006/relationships"><Relationship Id="rId8" Type="http://schemas.openxmlformats.org/officeDocument/2006/relationships/image" Target="../media/image133.jpeg"/><Relationship Id="rId3" Type="http://schemas.openxmlformats.org/officeDocument/2006/relationships/image" Target="../media/image107.jpeg"/><Relationship Id="rId7" Type="http://schemas.openxmlformats.org/officeDocument/2006/relationships/image" Target="../media/image132.jpe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31.jpeg"/><Relationship Id="rId5" Type="http://schemas.openxmlformats.org/officeDocument/2006/relationships/image" Target="../media/image130.jpeg"/><Relationship Id="rId4" Type="http://schemas.openxmlformats.org/officeDocument/2006/relationships/image" Target="../media/image129.jpeg"/></Relationships>
</file>

<file path=ppt/slides/_rels/slide90.xml.rels><?xml version="1.0" encoding="UTF-8" standalone="yes"?>
<Relationships xmlns="http://schemas.openxmlformats.org/package/2006/relationships"><Relationship Id="rId8" Type="http://schemas.openxmlformats.org/officeDocument/2006/relationships/image" Target="../media/image138.jpeg"/><Relationship Id="rId3" Type="http://schemas.openxmlformats.org/officeDocument/2006/relationships/image" Target="../media/image107.jpeg"/><Relationship Id="rId7" Type="http://schemas.openxmlformats.org/officeDocument/2006/relationships/image" Target="../media/image137.jpe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136.jpeg"/><Relationship Id="rId5" Type="http://schemas.openxmlformats.org/officeDocument/2006/relationships/image" Target="../media/image135.jpeg"/><Relationship Id="rId4" Type="http://schemas.openxmlformats.org/officeDocument/2006/relationships/image" Target="../media/image134.jpeg"/><Relationship Id="rId9" Type="http://schemas.openxmlformats.org/officeDocument/2006/relationships/image" Target="../media/image139.jpeg"/></Relationships>
</file>

<file path=ppt/slides/_rels/slide91.xml.rels><?xml version="1.0" encoding="UTF-8" standalone="yes"?>
<Relationships xmlns="http://schemas.openxmlformats.org/package/2006/relationships"><Relationship Id="rId8" Type="http://schemas.openxmlformats.org/officeDocument/2006/relationships/image" Target="../media/image144.jpeg"/><Relationship Id="rId3" Type="http://schemas.openxmlformats.org/officeDocument/2006/relationships/image" Target="../media/image107.jpeg"/><Relationship Id="rId7" Type="http://schemas.openxmlformats.org/officeDocument/2006/relationships/image" Target="../media/image143.jpe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42.jpeg"/><Relationship Id="rId5" Type="http://schemas.openxmlformats.org/officeDocument/2006/relationships/image" Target="../media/image141.jpeg"/><Relationship Id="rId4" Type="http://schemas.openxmlformats.org/officeDocument/2006/relationships/image" Target="../media/image140.jpeg"/><Relationship Id="rId9" Type="http://schemas.openxmlformats.org/officeDocument/2006/relationships/image" Target="../media/image145.jpeg"/></Relationships>
</file>

<file path=ppt/slides/_rels/slide92.xml.rels><?xml version="1.0" encoding="UTF-8" standalone="yes"?>
<Relationships xmlns="http://schemas.openxmlformats.org/package/2006/relationships"><Relationship Id="rId8" Type="http://schemas.openxmlformats.org/officeDocument/2006/relationships/image" Target="../media/image150.jpeg"/><Relationship Id="rId3" Type="http://schemas.openxmlformats.org/officeDocument/2006/relationships/image" Target="../media/image107.jpeg"/><Relationship Id="rId7" Type="http://schemas.openxmlformats.org/officeDocument/2006/relationships/image" Target="../media/image149.jpe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148.jpeg"/><Relationship Id="rId5" Type="http://schemas.openxmlformats.org/officeDocument/2006/relationships/image" Target="../media/image147.jpeg"/><Relationship Id="rId4" Type="http://schemas.openxmlformats.org/officeDocument/2006/relationships/image" Target="../media/image146.jpeg"/><Relationship Id="rId9" Type="http://schemas.openxmlformats.org/officeDocument/2006/relationships/image" Target="../media/image151.jpeg"/></Relationships>
</file>

<file path=ppt/slides/_rels/slide93.xml.rels><?xml version="1.0" encoding="UTF-8" standalone="yes"?>
<Relationships xmlns="http://schemas.openxmlformats.org/package/2006/relationships"><Relationship Id="rId8" Type="http://schemas.openxmlformats.org/officeDocument/2006/relationships/image" Target="../media/image156.jpeg"/><Relationship Id="rId3" Type="http://schemas.openxmlformats.org/officeDocument/2006/relationships/image" Target="../media/image107.jpeg"/><Relationship Id="rId7" Type="http://schemas.openxmlformats.org/officeDocument/2006/relationships/image" Target="../media/image155.jpe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154.jpeg"/><Relationship Id="rId5" Type="http://schemas.openxmlformats.org/officeDocument/2006/relationships/image" Target="../media/image153.jpeg"/><Relationship Id="rId4" Type="http://schemas.openxmlformats.org/officeDocument/2006/relationships/image" Target="../media/image152.jpeg"/><Relationship Id="rId9" Type="http://schemas.openxmlformats.org/officeDocument/2006/relationships/image" Target="../media/image157.jpeg"/></Relationships>
</file>

<file path=ppt/slides/_rels/slide94.xml.rels><?xml version="1.0" encoding="UTF-8" standalone="yes"?>
<Relationships xmlns="http://schemas.openxmlformats.org/package/2006/relationships"><Relationship Id="rId8" Type="http://schemas.openxmlformats.org/officeDocument/2006/relationships/image" Target="../media/image162.jpeg"/><Relationship Id="rId3" Type="http://schemas.openxmlformats.org/officeDocument/2006/relationships/image" Target="../media/image107.jpeg"/><Relationship Id="rId7" Type="http://schemas.openxmlformats.org/officeDocument/2006/relationships/image" Target="../media/image161.jpe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160.jpeg"/><Relationship Id="rId5" Type="http://schemas.openxmlformats.org/officeDocument/2006/relationships/image" Target="../media/image159.jpeg"/><Relationship Id="rId4" Type="http://schemas.openxmlformats.org/officeDocument/2006/relationships/image" Target="../media/image158.jpeg"/><Relationship Id="rId9" Type="http://schemas.openxmlformats.org/officeDocument/2006/relationships/image" Target="../media/image163.jpeg"/></Relationships>
</file>

<file path=ppt/slides/_rels/slide95.xml.rels><?xml version="1.0" encoding="UTF-8" standalone="yes"?>
<Relationships xmlns="http://schemas.openxmlformats.org/package/2006/relationships"><Relationship Id="rId8" Type="http://schemas.openxmlformats.org/officeDocument/2006/relationships/image" Target="../media/image168.jpeg"/><Relationship Id="rId3" Type="http://schemas.openxmlformats.org/officeDocument/2006/relationships/image" Target="../media/image107.jpeg"/><Relationship Id="rId7" Type="http://schemas.openxmlformats.org/officeDocument/2006/relationships/image" Target="../media/image167.jpe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166.jpeg"/><Relationship Id="rId5" Type="http://schemas.openxmlformats.org/officeDocument/2006/relationships/image" Target="../media/image165.jpeg"/><Relationship Id="rId4" Type="http://schemas.openxmlformats.org/officeDocument/2006/relationships/image" Target="../media/image164.jpeg"/><Relationship Id="rId9" Type="http://schemas.openxmlformats.org/officeDocument/2006/relationships/image" Target="../media/image169.jpeg"/></Relationships>
</file>

<file path=ppt/slides/_rels/slide96.xml.rels><?xml version="1.0" encoding="UTF-8" standalone="yes"?>
<Relationships xmlns="http://schemas.openxmlformats.org/package/2006/relationships"><Relationship Id="rId8" Type="http://schemas.openxmlformats.org/officeDocument/2006/relationships/image" Target="../media/image174.jpeg"/><Relationship Id="rId3" Type="http://schemas.openxmlformats.org/officeDocument/2006/relationships/image" Target="../media/image107.jpeg"/><Relationship Id="rId7" Type="http://schemas.openxmlformats.org/officeDocument/2006/relationships/image" Target="../media/image173.jpe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172.jpeg"/><Relationship Id="rId5" Type="http://schemas.openxmlformats.org/officeDocument/2006/relationships/image" Target="../media/image171.jpeg"/><Relationship Id="rId4" Type="http://schemas.openxmlformats.org/officeDocument/2006/relationships/image" Target="../media/image170.jpeg"/><Relationship Id="rId9" Type="http://schemas.openxmlformats.org/officeDocument/2006/relationships/image" Target="../media/image17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7F27B60A-069E-4760-88F6-55E4B60A174B}"/>
              </a:ext>
            </a:extLst>
          </p:cNvPr>
          <p:cNvSpPr>
            <a:spLocks noGrp="1" noChangeArrowheads="1"/>
          </p:cNvSpPr>
          <p:nvPr>
            <p:ph type="ctrTitle"/>
          </p:nvPr>
        </p:nvSpPr>
        <p:spPr>
          <a:xfrm>
            <a:off x="685800" y="821700"/>
            <a:ext cx="7772400" cy="3167062"/>
          </a:xfrm>
        </p:spPr>
        <p:txBody>
          <a:bodyPr/>
          <a:lstStyle/>
          <a:p>
            <a:pPr eaLnBrk="1" hangingPunct="1"/>
            <a:r>
              <a:rPr lang="zh-CN" altLang="en-US" b="1" dirty="0">
                <a:solidFill>
                  <a:srgbClr val="FF0000"/>
                </a:solidFill>
                <a:ea typeface="黑体" panose="02010609060101010101" pitchFamily="49" charset="-122"/>
              </a:rPr>
              <a:t>第三章</a:t>
            </a:r>
            <a:br>
              <a:rPr lang="zh-CN" altLang="en-US" b="1" dirty="0">
                <a:solidFill>
                  <a:srgbClr val="FF0000"/>
                </a:solidFill>
                <a:ea typeface="黑体" panose="02010609060101010101" pitchFamily="49" charset="-122"/>
              </a:rPr>
            </a:br>
            <a:r>
              <a:rPr lang="zh-CN" altLang="en-US" b="1" dirty="0">
                <a:solidFill>
                  <a:srgbClr val="FF0000"/>
                </a:solidFill>
                <a:ea typeface="黑体" panose="02010609060101010101" pitchFamily="49" charset="-122"/>
              </a:rPr>
              <a:t>地理相关性分析</a:t>
            </a:r>
          </a:p>
        </p:txBody>
      </p:sp>
      <p:sp>
        <p:nvSpPr>
          <p:cNvPr id="2" name="文本框 1"/>
          <p:cNvSpPr txBox="1"/>
          <p:nvPr/>
        </p:nvSpPr>
        <p:spPr>
          <a:xfrm>
            <a:off x="2051720" y="3629342"/>
            <a:ext cx="5688632" cy="1815882"/>
          </a:xfrm>
          <a:prstGeom prst="rect">
            <a:avLst/>
          </a:prstGeom>
          <a:noFill/>
        </p:spPr>
        <p:txBody>
          <a:bodyPr wrap="square" rtlCol="0">
            <a:spAutoFit/>
          </a:bodyPr>
          <a:lstStyle/>
          <a:p>
            <a:pPr algn="ctr"/>
            <a:r>
              <a:rPr lang="zh-CN" altLang="en-US" sz="3200" dirty="0"/>
              <a:t>主讲：周熙然</a:t>
            </a:r>
            <a:endParaRPr lang="en-US" altLang="zh-CN" sz="3200" dirty="0"/>
          </a:p>
          <a:p>
            <a:pPr algn="ctr"/>
            <a:r>
              <a:rPr lang="zh-CN" altLang="en-US" sz="2400" dirty="0"/>
              <a:t>中国矿业大学</a:t>
            </a:r>
            <a:endParaRPr lang="en-US" altLang="zh-CN" sz="2400" dirty="0"/>
          </a:p>
          <a:p>
            <a:pPr algn="ctr"/>
            <a:r>
              <a:rPr lang="zh-CN" altLang="en-US" sz="3200" dirty="0"/>
              <a:t>课件提供：陈江平</a:t>
            </a:r>
            <a:endParaRPr lang="en-US" altLang="zh-CN" sz="3200" dirty="0"/>
          </a:p>
          <a:p>
            <a:pPr algn="ctr"/>
            <a:r>
              <a:rPr lang="zh-CN" altLang="en-US" sz="2400" dirty="0"/>
              <a:t>武汉大学遥感信息工程学院</a:t>
            </a:r>
            <a:endParaRPr lang="zh-CN" altLang="en-US" sz="1400"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400F5F03-0AC8-4744-BAFB-96B957788E19}"/>
              </a:ext>
            </a:extLst>
          </p:cNvPr>
          <p:cNvSpPr>
            <a:spLocks noGrp="1" noChangeArrowheads="1"/>
          </p:cNvSpPr>
          <p:nvPr>
            <p:ph type="title"/>
          </p:nvPr>
        </p:nvSpPr>
        <p:spPr>
          <a:xfrm>
            <a:off x="457200" y="274638"/>
            <a:ext cx="8229600" cy="825553"/>
          </a:xfrm>
        </p:spPr>
        <p:txBody>
          <a:bodyPr/>
          <a:lstStyle/>
          <a:p>
            <a:pPr eaLnBrk="1" hangingPunct="1"/>
            <a:r>
              <a:rPr lang="zh-CN" altLang="en-US" dirty="0">
                <a:latin typeface="Times New Roman" panose="02020603050405020304" pitchFamily="18" charset="0"/>
                <a:ea typeface="黑体" panose="02010609060101010101" pitchFamily="49" charset="-122"/>
                <a:cs typeface="Times New Roman" panose="02020603050405020304" pitchFamily="18" charset="0"/>
              </a:rPr>
              <a:t>第三章    地理相关分析方法</a:t>
            </a:r>
          </a:p>
        </p:txBody>
      </p:sp>
      <p:sp>
        <p:nvSpPr>
          <p:cNvPr id="4099" name="Rectangle 3">
            <a:extLst>
              <a:ext uri="{FF2B5EF4-FFF2-40B4-BE49-F238E27FC236}">
                <a16:creationId xmlns:a16="http://schemas.microsoft.com/office/drawing/2014/main" id="{B6D33B59-B987-457A-9D2D-022F7F2BC836}"/>
              </a:ext>
            </a:extLst>
          </p:cNvPr>
          <p:cNvSpPr>
            <a:spLocks noGrp="1" noChangeArrowheads="1"/>
          </p:cNvSpPr>
          <p:nvPr>
            <p:ph idx="1"/>
          </p:nvPr>
        </p:nvSpPr>
        <p:spPr>
          <a:xfrm>
            <a:off x="457200" y="1600201"/>
            <a:ext cx="8229600" cy="3268960"/>
          </a:xfrm>
        </p:spPr>
        <p:txBody>
          <a:bodyPr/>
          <a:lstStyle/>
          <a:p>
            <a:pPr eaLnBrk="1" hangingPunct="1"/>
            <a:r>
              <a:rPr lang="en-US" altLang="zh-CN" dirty="0">
                <a:latin typeface="Times New Roman" panose="02020603050405020304" pitchFamily="18" charset="0"/>
                <a:ea typeface="黑体" panose="02010609060101010101" pitchFamily="49" charset="-122"/>
                <a:cs typeface="Times New Roman" panose="02020603050405020304" pitchFamily="18" charset="0"/>
              </a:rPr>
              <a:t>3.1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相关的意义</a:t>
            </a:r>
          </a:p>
          <a:p>
            <a:pPr eaLnBrk="1" hangingPunct="1"/>
            <a:r>
              <a:rPr lang="en-US" altLang="zh-CN" dirty="0">
                <a:latin typeface="Times New Roman" panose="02020603050405020304" pitchFamily="18" charset="0"/>
                <a:ea typeface="黑体" panose="02010609060101010101" pitchFamily="49" charset="-122"/>
                <a:cs typeface="Times New Roman" panose="02020603050405020304" pitchFamily="18" charset="0"/>
              </a:rPr>
              <a:t>3.2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一般相关程度的度量方法</a:t>
            </a:r>
          </a:p>
          <a:p>
            <a:pPr eaLnBrk="1" hangingPunct="1"/>
            <a:r>
              <a:rPr lang="en-US" altLang="zh-CN" dirty="0">
                <a:latin typeface="Times New Roman" panose="02020603050405020304" pitchFamily="18" charset="0"/>
                <a:ea typeface="黑体" panose="02010609060101010101" pitchFamily="49" charset="-122"/>
                <a:cs typeface="Times New Roman" panose="02020603050405020304" pitchFamily="18" charset="0"/>
              </a:rPr>
              <a:t>3.3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多要素间相关程度的测度</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r>
              <a:rPr lang="en-US" altLang="zh-CN" dirty="0">
                <a:latin typeface="Times New Roman" panose="02020603050405020304" pitchFamily="18" charset="0"/>
                <a:ea typeface="黑体" panose="02010609060101010101" pitchFamily="49" charset="-122"/>
                <a:cs typeface="Times New Roman" panose="02020603050405020304" pitchFamily="18" charset="0"/>
              </a:rPr>
              <a:t>3.4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相关性分析小结</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r>
              <a:rPr lang="en-US" altLang="zh-CN" dirty="0">
                <a:latin typeface="Times New Roman" panose="02020603050405020304" pitchFamily="18" charset="0"/>
                <a:ea typeface="黑体" panose="02010609060101010101" pitchFamily="49" charset="-122"/>
                <a:cs typeface="Times New Roman" panose="02020603050405020304" pitchFamily="18" charset="0"/>
              </a:rPr>
              <a:t>3.5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空间相关性分析</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5FB1564-D60A-4143-B219-7EABED170FDC}"/>
              </a:ext>
            </a:extLst>
          </p:cNvPr>
          <p:cNvSpPr>
            <a:spLocks noGrp="1" noChangeArrowheads="1"/>
          </p:cNvSpPr>
          <p:nvPr>
            <p:ph type="title"/>
          </p:nvPr>
        </p:nvSpPr>
        <p:spPr/>
        <p:txBody>
          <a:bodyPr/>
          <a:lstStyle/>
          <a:p>
            <a:pPr eaLnBrk="1" hangingPunct="1"/>
            <a:r>
              <a:rPr lang="en-US" altLang="zh-CN" dirty="0"/>
              <a:t>3.1 </a:t>
            </a:r>
            <a:r>
              <a:rPr lang="zh-CN" altLang="en-US" dirty="0"/>
              <a:t>相关的意义</a:t>
            </a:r>
          </a:p>
        </p:txBody>
      </p:sp>
      <p:sp>
        <p:nvSpPr>
          <p:cNvPr id="6147" name="Rectangle 3">
            <a:extLst>
              <a:ext uri="{FF2B5EF4-FFF2-40B4-BE49-F238E27FC236}">
                <a16:creationId xmlns:a16="http://schemas.microsoft.com/office/drawing/2014/main" id="{118953C9-F0D0-45E5-9818-6DC92E9A86B1}"/>
              </a:ext>
            </a:extLst>
          </p:cNvPr>
          <p:cNvSpPr>
            <a:spLocks noGrp="1" noChangeArrowheads="1"/>
          </p:cNvSpPr>
          <p:nvPr>
            <p:ph idx="1"/>
          </p:nvPr>
        </p:nvSpPr>
        <p:spPr>
          <a:xfrm>
            <a:off x="261412" y="1484784"/>
            <a:ext cx="8867328" cy="4824536"/>
          </a:xfrm>
        </p:spPr>
        <p:txBody>
          <a:bodyPr/>
          <a:lstStyle/>
          <a:p>
            <a:pPr eaLnBrk="1" hangingPunct="1"/>
            <a:r>
              <a:rPr lang="zh-CN" altLang="en-US" dirty="0">
                <a:latin typeface="黑体" panose="02010609060101010101" pitchFamily="49" charset="-122"/>
                <a:ea typeface="黑体" panose="02010609060101010101" pitchFamily="49" charset="-122"/>
              </a:rPr>
              <a:t>相关与地理相关</a:t>
            </a:r>
            <a:endParaRPr lang="en-US" altLang="zh-CN" dirty="0">
              <a:latin typeface="黑体" panose="02010609060101010101" pitchFamily="49" charset="-122"/>
              <a:ea typeface="黑体" panose="02010609060101010101" pitchFamily="49" charset="-122"/>
            </a:endParaRPr>
          </a:p>
          <a:p>
            <a:pPr eaLnBrk="1" hangingPunct="1"/>
            <a:endParaRPr lang="zh-CN" altLang="en-US" dirty="0">
              <a:latin typeface="黑体" panose="02010609060101010101" pitchFamily="49" charset="-122"/>
              <a:ea typeface="黑体" panose="02010609060101010101" pitchFamily="49" charset="-122"/>
            </a:endParaRPr>
          </a:p>
          <a:p>
            <a:pPr lvl="1" eaLnBrk="1" hangingPunct="1">
              <a:buFont typeface="Wingdings" panose="05000000000000000000" pitchFamily="2" charset="2"/>
              <a:buChar char="Ø"/>
            </a:pPr>
            <a:r>
              <a:rPr lang="zh-CN" altLang="en-US" dirty="0"/>
              <a:t>相关是指两个或两个以上变数间相互关系是否密切。在研究这种关系时</a:t>
            </a:r>
            <a:r>
              <a:rPr lang="zh-CN" altLang="en-US" dirty="0">
                <a:solidFill>
                  <a:srgbClr val="FF0000"/>
                </a:solidFill>
              </a:rPr>
              <a:t>并不专指哪一个是自变量</a:t>
            </a:r>
            <a:r>
              <a:rPr lang="zh-CN" altLang="en-US" dirty="0"/>
              <a:t>，哪一个是</a:t>
            </a:r>
            <a:r>
              <a:rPr lang="zh-CN" altLang="en-US" dirty="0">
                <a:solidFill>
                  <a:srgbClr val="FF0000"/>
                </a:solidFill>
              </a:rPr>
              <a:t>因变量</a:t>
            </a:r>
            <a:r>
              <a:rPr lang="zh-CN" altLang="en-US" dirty="0"/>
              <a:t>，而视实际需要确定。相关分析仅限于测定两个或两个以上</a:t>
            </a:r>
            <a:r>
              <a:rPr lang="zh-CN" altLang="en-US" dirty="0">
                <a:solidFill>
                  <a:srgbClr val="FF0000"/>
                </a:solidFill>
              </a:rPr>
              <a:t>变数具有相关关系</a:t>
            </a:r>
            <a:r>
              <a:rPr lang="zh-CN" altLang="en-US" dirty="0"/>
              <a:t>者，其主要目的是计算出表示两个或两个以上变数间的相关程度和性质</a:t>
            </a:r>
          </a:p>
          <a:p>
            <a:pPr lvl="1" eaLnBrk="1" hangingPunct="1">
              <a:buFont typeface="Wingdings" panose="05000000000000000000" pitchFamily="2" charset="2"/>
              <a:buChar char="Ø"/>
            </a:pPr>
            <a:r>
              <a:rPr lang="zh-CN" altLang="en-US" dirty="0"/>
              <a:t>地理相关，就是应用相关分析法来研究</a:t>
            </a:r>
            <a:r>
              <a:rPr lang="zh-CN" altLang="en-US" dirty="0">
                <a:solidFill>
                  <a:srgbClr val="FF0000"/>
                </a:solidFill>
              </a:rPr>
              <a:t>各地理要素间的相互关系和联系强度</a:t>
            </a:r>
            <a:r>
              <a:rPr lang="zh-CN" altLang="en-US" dirty="0"/>
              <a:t>的一种度量指标 </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a:extLst>
              <a:ext uri="{FF2B5EF4-FFF2-40B4-BE49-F238E27FC236}">
                <a16:creationId xmlns:a16="http://schemas.microsoft.com/office/drawing/2014/main" id="{4CA01A29-1DB0-4DD8-A7B6-E8B22BEB6CEC}"/>
              </a:ext>
            </a:extLst>
          </p:cNvPr>
          <p:cNvSpPr>
            <a:spLocks noGrp="1" noChangeArrowheads="1"/>
          </p:cNvSpPr>
          <p:nvPr>
            <p:ph idx="1"/>
          </p:nvPr>
        </p:nvSpPr>
        <p:spPr/>
        <p:txBody>
          <a:bodyPr/>
          <a:lstStyle/>
          <a:p>
            <a:pPr eaLnBrk="1" hangingPunct="1"/>
            <a:r>
              <a:rPr lang="zh-CN" altLang="en-US" dirty="0"/>
              <a:t>地理要素间的关系 </a:t>
            </a:r>
          </a:p>
          <a:p>
            <a:pPr lvl="1" eaLnBrk="1" hangingPunct="1"/>
            <a:r>
              <a:rPr lang="zh-CN" altLang="en-US" dirty="0">
                <a:solidFill>
                  <a:srgbClr val="0000FF"/>
                </a:solidFill>
              </a:rPr>
              <a:t>函数关系：</a:t>
            </a:r>
            <a:r>
              <a:rPr lang="zh-CN" altLang="en-US" dirty="0"/>
              <a:t>确定性的关系，这种关系在地理各要素间较少见，这是因为许多地理要素的变化具有随机性的缘故；</a:t>
            </a:r>
          </a:p>
          <a:p>
            <a:pPr lvl="1" eaLnBrk="1" hangingPunct="1"/>
            <a:r>
              <a:rPr lang="zh-CN" altLang="en-US" dirty="0">
                <a:solidFill>
                  <a:srgbClr val="0000FF"/>
                </a:solidFill>
              </a:rPr>
              <a:t>相关关系：</a:t>
            </a:r>
            <a:r>
              <a:rPr lang="zh-CN" altLang="en-US" dirty="0"/>
              <a:t>即要素间既存在密切的关系，但又不能由一个（或几个）要素（或变量）的值明确地求出另一个要素（变量）的值 </a:t>
            </a:r>
          </a:p>
        </p:txBody>
      </p:sp>
      <p:sp>
        <p:nvSpPr>
          <p:cNvPr id="4" name="Rectangle 2">
            <a:extLst>
              <a:ext uri="{FF2B5EF4-FFF2-40B4-BE49-F238E27FC236}">
                <a16:creationId xmlns:a16="http://schemas.microsoft.com/office/drawing/2014/main" id="{F6D587E9-BDCE-4614-97D6-CE2ED766A6A6}"/>
              </a:ext>
            </a:extLst>
          </p:cNvPr>
          <p:cNvSpPr>
            <a:spLocks noGrp="1" noChangeArrowheads="1"/>
          </p:cNvSpPr>
          <p:nvPr>
            <p:ph type="title"/>
          </p:nvPr>
        </p:nvSpPr>
        <p:spPr>
          <a:xfrm>
            <a:off x="457200" y="274638"/>
            <a:ext cx="8229600" cy="1143000"/>
          </a:xfrm>
        </p:spPr>
        <p:txBody>
          <a:bodyPr/>
          <a:lstStyle/>
          <a:p>
            <a:pPr eaLnBrk="1" hangingPunct="1"/>
            <a:r>
              <a:rPr lang="en-US" altLang="zh-CN" dirty="0"/>
              <a:t>3.1 </a:t>
            </a:r>
            <a:r>
              <a:rPr lang="zh-CN" altLang="en-US" dirty="0"/>
              <a:t>相关的意义</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FD0C2328-134C-4314-B803-A56A486EF7B4}"/>
              </a:ext>
            </a:extLst>
          </p:cNvPr>
          <p:cNvSpPr>
            <a:spLocks noGrp="1" noChangeArrowheads="1"/>
          </p:cNvSpPr>
          <p:nvPr>
            <p:ph type="title"/>
          </p:nvPr>
        </p:nvSpPr>
        <p:spPr/>
        <p:txBody>
          <a:bodyPr/>
          <a:lstStyle/>
          <a:p>
            <a:pPr eaLnBrk="1" hangingPunct="1"/>
            <a:endParaRPr lang="zh-CN" altLang="zh-CN"/>
          </a:p>
        </p:txBody>
      </p:sp>
      <p:pic>
        <p:nvPicPr>
          <p:cNvPr id="32768" name="Picture 0">
            <a:extLst>
              <a:ext uri="{FF2B5EF4-FFF2-40B4-BE49-F238E27FC236}">
                <a16:creationId xmlns:a16="http://schemas.microsoft.com/office/drawing/2014/main" id="{ADC76619-3C01-428B-A8C9-9D8C9B61F8B9}"/>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827088" y="981075"/>
            <a:ext cx="5976937" cy="3535363"/>
          </a:xfrm>
        </p:spPr>
      </p:pic>
      <p:pic>
        <p:nvPicPr>
          <p:cNvPr id="32771" name="Picture 3">
            <a:extLst>
              <a:ext uri="{FF2B5EF4-FFF2-40B4-BE49-F238E27FC236}">
                <a16:creationId xmlns:a16="http://schemas.microsoft.com/office/drawing/2014/main" id="{731CB087-A8C3-429B-A36A-60D628D30944}"/>
              </a:ext>
            </a:extLst>
          </p:cNvPr>
          <p:cNvPicPr>
            <a:picLocks noGrp="1" noChangeAspect="1" noChangeArrowheads="1"/>
          </p:cNvPicPr>
          <p:nvPr>
            <p:ph sz="quarter" idx="2"/>
          </p:nvPr>
        </p:nvPicPr>
        <p:blipFill>
          <a:blip r:embed="rId3" cstate="hqprint">
            <a:extLst>
              <a:ext uri="{28A0092B-C50C-407E-A947-70E740481C1C}">
                <a14:useLocalDpi xmlns:a14="http://schemas.microsoft.com/office/drawing/2010/main" val="0"/>
              </a:ext>
            </a:extLst>
          </a:blip>
          <a:srcRect/>
          <a:stretch>
            <a:fillRect/>
          </a:stretch>
        </p:blipFill>
        <p:spPr>
          <a:xfrm>
            <a:off x="2411413" y="1773238"/>
            <a:ext cx="5184775" cy="3206750"/>
          </a:xfrm>
        </p:spPr>
      </p:pic>
      <p:pic>
        <p:nvPicPr>
          <p:cNvPr id="32774" name="Picture 6">
            <a:extLst>
              <a:ext uri="{FF2B5EF4-FFF2-40B4-BE49-F238E27FC236}">
                <a16:creationId xmlns:a16="http://schemas.microsoft.com/office/drawing/2014/main" id="{9FA5FA7E-B173-49B3-9B1F-A3F061C89051}"/>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4427538" y="2565400"/>
            <a:ext cx="3411537" cy="3744913"/>
          </a:xfrm>
        </p:spPr>
      </p:pic>
      <p:sp>
        <p:nvSpPr>
          <p:cNvPr id="8198" name="AutoShape 0">
            <a:hlinkClick r:id="rId5" action="ppaction://hlinksldjump" highlightClick="1"/>
            <a:extLst>
              <a:ext uri="{FF2B5EF4-FFF2-40B4-BE49-F238E27FC236}">
                <a16:creationId xmlns:a16="http://schemas.microsoft.com/office/drawing/2014/main" id="{E9D3DF43-B71F-4467-B738-5D9B91033E86}"/>
              </a:ext>
            </a:extLst>
          </p:cNvPr>
          <p:cNvSpPr>
            <a:spLocks noChangeArrowheads="1"/>
          </p:cNvSpPr>
          <p:nvPr/>
        </p:nvSpPr>
        <p:spPr bwMode="auto">
          <a:xfrm>
            <a:off x="7956550" y="6308725"/>
            <a:ext cx="1187450" cy="549275"/>
          </a:xfrm>
          <a:prstGeom prst="actionButtonReturn">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32768"/>
                                        </p:tgtEl>
                                        <p:attrNameLst>
                                          <p:attrName>style.visibility</p:attrName>
                                        </p:attrNameLst>
                                      </p:cBhvr>
                                      <p:to>
                                        <p:strVal val="visible"/>
                                      </p:to>
                                    </p:set>
                                    <p:anim calcmode="lin" valueType="num">
                                      <p:cBhvr>
                                        <p:cTn id="7" dur="1000" fill="hold"/>
                                        <p:tgtEl>
                                          <p:spTgt spid="32768"/>
                                        </p:tgtEl>
                                        <p:attrNameLst>
                                          <p:attrName>ppt_w</p:attrName>
                                        </p:attrNameLst>
                                      </p:cBhvr>
                                      <p:tavLst>
                                        <p:tav tm="0">
                                          <p:val>
                                            <p:fltVal val="0"/>
                                          </p:val>
                                        </p:tav>
                                        <p:tav tm="100000">
                                          <p:val>
                                            <p:strVal val="#ppt_w"/>
                                          </p:val>
                                        </p:tav>
                                      </p:tavLst>
                                    </p:anim>
                                    <p:anim calcmode="lin" valueType="num">
                                      <p:cBhvr>
                                        <p:cTn id="8" dur="1000" fill="hold"/>
                                        <p:tgtEl>
                                          <p:spTgt spid="32768"/>
                                        </p:tgtEl>
                                        <p:attrNameLst>
                                          <p:attrName>ppt_h</p:attrName>
                                        </p:attrNameLst>
                                      </p:cBhvr>
                                      <p:tavLst>
                                        <p:tav tm="0">
                                          <p:val>
                                            <p:fltVal val="0"/>
                                          </p:val>
                                        </p:tav>
                                        <p:tav tm="100000">
                                          <p:val>
                                            <p:strVal val="#ppt_h"/>
                                          </p:val>
                                        </p:tav>
                                      </p:tavLst>
                                    </p:anim>
                                    <p:anim calcmode="lin" valueType="num">
                                      <p:cBhvr>
                                        <p:cTn id="9" dur="1000" fill="hold"/>
                                        <p:tgtEl>
                                          <p:spTgt spid="32768"/>
                                        </p:tgtEl>
                                        <p:attrNameLst>
                                          <p:attrName>style.rotation</p:attrName>
                                        </p:attrNameLst>
                                      </p:cBhvr>
                                      <p:tavLst>
                                        <p:tav tm="0">
                                          <p:val>
                                            <p:fltVal val="90"/>
                                          </p:val>
                                        </p:tav>
                                        <p:tav tm="100000">
                                          <p:val>
                                            <p:fltVal val="0"/>
                                          </p:val>
                                        </p:tav>
                                      </p:tavLst>
                                    </p:anim>
                                    <p:animEffect transition="in" filter="fade">
                                      <p:cBhvr>
                                        <p:cTn id="10" dur="1000"/>
                                        <p:tgtEl>
                                          <p:spTgt spid="3276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8" presetClass="exit" presetSubtype="16" fill="hold" nodeType="clickEffect">
                                  <p:stCondLst>
                                    <p:cond delay="0"/>
                                  </p:stCondLst>
                                  <p:iterate type="lt">
                                    <p:tmPct val="0"/>
                                  </p:iterate>
                                  <p:childTnLst>
                                    <p:animEffect transition="out" filter="diamond(in)">
                                      <p:cBhvr>
                                        <p:cTn id="14" dur="2000"/>
                                        <p:tgtEl>
                                          <p:spTgt spid="32768"/>
                                        </p:tgtEl>
                                      </p:cBhvr>
                                    </p:animEffect>
                                    <p:set>
                                      <p:cBhvr>
                                        <p:cTn id="15" dur="1" fill="hold">
                                          <p:stCondLst>
                                            <p:cond delay="1999"/>
                                          </p:stCondLst>
                                        </p:cTn>
                                        <p:tgtEl>
                                          <p:spTgt spid="32768"/>
                                        </p:tgtEl>
                                        <p:attrNameLst>
                                          <p:attrName>style.visibility</p:attrName>
                                        </p:attrNameLst>
                                      </p:cBhvr>
                                      <p:to>
                                        <p:strVal val="hidden"/>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nodeType="clickEffect">
                                  <p:stCondLst>
                                    <p:cond delay="0"/>
                                  </p:stCondLst>
                                  <p:childTnLst>
                                    <p:set>
                                      <p:cBhvr>
                                        <p:cTn id="19" dur="1" fill="hold">
                                          <p:stCondLst>
                                            <p:cond delay="0"/>
                                          </p:stCondLst>
                                        </p:cTn>
                                        <p:tgtEl>
                                          <p:spTgt spid="32771"/>
                                        </p:tgtEl>
                                        <p:attrNameLst>
                                          <p:attrName>style.visibility</p:attrName>
                                        </p:attrNameLst>
                                      </p:cBhvr>
                                      <p:to>
                                        <p:strVal val="visible"/>
                                      </p:to>
                                    </p:set>
                                    <p:animEffect transition="in" filter="box(in)">
                                      <p:cBhvr>
                                        <p:cTn id="20" dur="500"/>
                                        <p:tgtEl>
                                          <p:spTgt spid="3277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xit" presetSubtype="16" fill="hold" nodeType="clickEffect">
                                  <p:stCondLst>
                                    <p:cond delay="0"/>
                                  </p:stCondLst>
                                  <p:childTnLst>
                                    <p:animEffect transition="out" filter="box(in)">
                                      <p:cBhvr>
                                        <p:cTn id="24" dur="500"/>
                                        <p:tgtEl>
                                          <p:spTgt spid="32771"/>
                                        </p:tgtEl>
                                      </p:cBhvr>
                                    </p:animEffect>
                                    <p:set>
                                      <p:cBhvr>
                                        <p:cTn id="25" dur="1" fill="hold">
                                          <p:stCondLst>
                                            <p:cond delay="499"/>
                                          </p:stCondLst>
                                        </p:cTn>
                                        <p:tgtEl>
                                          <p:spTgt spid="32771"/>
                                        </p:tgtEl>
                                        <p:attrNameLst>
                                          <p:attrName>style.visibility</p:attrName>
                                        </p:attrNameLst>
                                      </p:cBhvr>
                                      <p:to>
                                        <p:strVal val="hidden"/>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8" presetClass="entr" presetSubtype="16" fill="hold" nodeType="clickEffect">
                                  <p:stCondLst>
                                    <p:cond delay="0"/>
                                  </p:stCondLst>
                                  <p:childTnLst>
                                    <p:set>
                                      <p:cBhvr>
                                        <p:cTn id="29" dur="1" fill="hold">
                                          <p:stCondLst>
                                            <p:cond delay="0"/>
                                          </p:stCondLst>
                                        </p:cTn>
                                        <p:tgtEl>
                                          <p:spTgt spid="32774"/>
                                        </p:tgtEl>
                                        <p:attrNameLst>
                                          <p:attrName>style.visibility</p:attrName>
                                        </p:attrNameLst>
                                      </p:cBhvr>
                                      <p:to>
                                        <p:strVal val="visible"/>
                                      </p:to>
                                    </p:set>
                                    <p:animEffect transition="in" filter="diamond(in)">
                                      <p:cBhvr>
                                        <p:cTn id="30" dur="2000"/>
                                        <p:tgtEl>
                                          <p:spTgt spid="3277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 presetClass="exit" presetSubtype="10" fill="hold" nodeType="clickEffect">
                                  <p:stCondLst>
                                    <p:cond delay="0"/>
                                  </p:stCondLst>
                                  <p:childTnLst>
                                    <p:animEffect transition="out" filter="checkerboard(across)">
                                      <p:cBhvr>
                                        <p:cTn id="34" dur="500"/>
                                        <p:tgtEl>
                                          <p:spTgt spid="32774"/>
                                        </p:tgtEl>
                                      </p:cBhvr>
                                    </p:animEffect>
                                    <p:set>
                                      <p:cBhvr>
                                        <p:cTn id="35" dur="1" fill="hold">
                                          <p:stCondLst>
                                            <p:cond delay="499"/>
                                          </p:stCondLst>
                                        </p:cTn>
                                        <p:tgtEl>
                                          <p:spTgt spid="3277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BA581AD4-9F26-4BA9-ADE8-4D67360F09CE}"/>
              </a:ext>
            </a:extLst>
          </p:cNvPr>
          <p:cNvSpPr>
            <a:spLocks noGrp="1" noChangeArrowheads="1"/>
          </p:cNvSpPr>
          <p:nvPr>
            <p:ph type="title"/>
          </p:nvPr>
        </p:nvSpPr>
        <p:spPr/>
        <p:txBody>
          <a:bodyPr/>
          <a:lstStyle/>
          <a:p>
            <a:pPr eaLnBrk="1" hangingPunct="1"/>
            <a:r>
              <a:rPr lang="en-US" altLang="zh-CN" dirty="0"/>
              <a:t>3.2 </a:t>
            </a:r>
            <a:r>
              <a:rPr lang="zh-CN" altLang="en-US" dirty="0"/>
              <a:t>一般相关程度的度量方法</a:t>
            </a:r>
          </a:p>
        </p:txBody>
      </p:sp>
      <p:sp>
        <p:nvSpPr>
          <p:cNvPr id="9219" name="Rectangle 3">
            <a:extLst>
              <a:ext uri="{FF2B5EF4-FFF2-40B4-BE49-F238E27FC236}">
                <a16:creationId xmlns:a16="http://schemas.microsoft.com/office/drawing/2014/main" id="{D255C7C1-A4F0-489C-993D-DF43C9A06F5D}"/>
              </a:ext>
            </a:extLst>
          </p:cNvPr>
          <p:cNvSpPr>
            <a:spLocks noGrp="1" noChangeArrowheads="1"/>
          </p:cNvSpPr>
          <p:nvPr>
            <p:ph idx="1"/>
          </p:nvPr>
        </p:nvSpPr>
        <p:spPr>
          <a:xfrm>
            <a:off x="519113" y="1268760"/>
            <a:ext cx="8229600" cy="5184576"/>
          </a:xfrm>
        </p:spPr>
        <p:txBody>
          <a:bodyPr/>
          <a:lstStyle/>
          <a:p>
            <a:pPr eaLnBrk="1" hangingPunct="1"/>
            <a:r>
              <a:rPr lang="zh-CN" altLang="en-US" dirty="0"/>
              <a:t>（一）简单直线相关程度的度量</a:t>
            </a:r>
          </a:p>
          <a:p>
            <a:pPr lvl="1" eaLnBrk="1" hangingPunct="1"/>
            <a:r>
              <a:rPr lang="zh-CN" altLang="en-US" sz="3200" dirty="0"/>
              <a:t>相关程度</a:t>
            </a:r>
          </a:p>
          <a:p>
            <a:pPr lvl="2" eaLnBrk="1" hangingPunct="1"/>
            <a:r>
              <a:rPr lang="zh-CN" altLang="en-US" sz="3200" dirty="0"/>
              <a:t>研究两个地理要素之间的相互关系是否密切</a:t>
            </a:r>
          </a:p>
          <a:p>
            <a:pPr lvl="1" eaLnBrk="1" hangingPunct="1"/>
            <a:r>
              <a:rPr lang="zh-CN" altLang="en-US" sz="3200" dirty="0"/>
              <a:t>相关方向</a:t>
            </a:r>
          </a:p>
          <a:p>
            <a:pPr lvl="2" eaLnBrk="1" hangingPunct="1"/>
            <a:r>
              <a:rPr lang="zh-CN" altLang="en-US" sz="3200" dirty="0"/>
              <a:t>正相关：</a:t>
            </a:r>
            <a:r>
              <a:rPr lang="en-US" altLang="zh-CN" sz="3200" b="1" dirty="0">
                <a:solidFill>
                  <a:srgbClr val="0000FF"/>
                </a:solidFill>
              </a:rPr>
              <a:t>y</a:t>
            </a:r>
            <a:r>
              <a:rPr lang="zh-CN" altLang="en-US" sz="3200" b="1" dirty="0">
                <a:solidFill>
                  <a:srgbClr val="0000FF"/>
                </a:solidFill>
              </a:rPr>
              <a:t>值随</a:t>
            </a:r>
            <a:r>
              <a:rPr lang="en-US" altLang="zh-CN" sz="3200" b="1" dirty="0">
                <a:solidFill>
                  <a:srgbClr val="0000FF"/>
                </a:solidFill>
              </a:rPr>
              <a:t>x</a:t>
            </a:r>
            <a:r>
              <a:rPr lang="zh-CN" altLang="en-US" sz="3200" b="1" dirty="0">
                <a:solidFill>
                  <a:srgbClr val="0000FF"/>
                </a:solidFill>
              </a:rPr>
              <a:t>的增加而变大或随</a:t>
            </a:r>
            <a:r>
              <a:rPr lang="en-US" altLang="zh-CN" sz="3200" b="1" dirty="0">
                <a:solidFill>
                  <a:srgbClr val="0000FF"/>
                </a:solidFill>
              </a:rPr>
              <a:t>x</a:t>
            </a:r>
            <a:r>
              <a:rPr lang="zh-CN" altLang="en-US" sz="3200" b="1" dirty="0">
                <a:solidFill>
                  <a:srgbClr val="0000FF"/>
                </a:solidFill>
              </a:rPr>
              <a:t>的减少而变小</a:t>
            </a:r>
          </a:p>
          <a:p>
            <a:pPr lvl="2" eaLnBrk="1" hangingPunct="1"/>
            <a:r>
              <a:rPr lang="zh-CN" altLang="en-US" sz="3200" b="1" dirty="0"/>
              <a:t>负相关：</a:t>
            </a:r>
            <a:r>
              <a:rPr lang="en-US" altLang="zh-CN" sz="3200" b="1" dirty="0">
                <a:solidFill>
                  <a:srgbClr val="0000FF"/>
                </a:solidFill>
              </a:rPr>
              <a:t>y</a:t>
            </a:r>
            <a:r>
              <a:rPr lang="zh-CN" altLang="en-US" sz="3200" b="1" dirty="0">
                <a:solidFill>
                  <a:srgbClr val="0000FF"/>
                </a:solidFill>
              </a:rPr>
              <a:t>值随</a:t>
            </a:r>
            <a:r>
              <a:rPr lang="en-US" altLang="zh-CN" sz="3200" b="1" dirty="0">
                <a:solidFill>
                  <a:srgbClr val="0000FF"/>
                </a:solidFill>
              </a:rPr>
              <a:t>x</a:t>
            </a:r>
            <a:r>
              <a:rPr lang="zh-CN" altLang="en-US" sz="3200" b="1" dirty="0">
                <a:solidFill>
                  <a:srgbClr val="0000FF"/>
                </a:solidFill>
              </a:rPr>
              <a:t>的增加而变小或随</a:t>
            </a:r>
            <a:r>
              <a:rPr lang="en-US" altLang="zh-CN" sz="3200" b="1" dirty="0">
                <a:solidFill>
                  <a:srgbClr val="0000FF"/>
                </a:solidFill>
              </a:rPr>
              <a:t>x</a:t>
            </a:r>
            <a:r>
              <a:rPr lang="zh-CN" altLang="en-US" sz="3200" b="1" dirty="0">
                <a:solidFill>
                  <a:srgbClr val="0000FF"/>
                </a:solidFill>
              </a:rPr>
              <a:t>的减少而增大</a:t>
            </a:r>
          </a:p>
          <a:p>
            <a:pPr lvl="2" eaLnBrk="1" hangingPunct="1"/>
            <a:endParaRPr lang="en-US" altLang="zh-CN" dirty="0">
              <a:solidFill>
                <a:schemeClr val="tx2"/>
              </a:solidFill>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a:extLst>
              <a:ext uri="{FF2B5EF4-FFF2-40B4-BE49-F238E27FC236}">
                <a16:creationId xmlns:a16="http://schemas.microsoft.com/office/drawing/2014/main" id="{D8EC1E41-7D28-4228-AEDB-D22050993FA1}"/>
              </a:ext>
            </a:extLst>
          </p:cNvPr>
          <p:cNvSpPr>
            <a:spLocks noGrp="1" noChangeArrowheads="1"/>
          </p:cNvSpPr>
          <p:nvPr>
            <p:ph idx="1"/>
          </p:nvPr>
        </p:nvSpPr>
        <p:spPr/>
        <p:txBody>
          <a:bodyPr/>
          <a:lstStyle/>
          <a:p>
            <a:pPr eaLnBrk="1" hangingPunct="1"/>
            <a:r>
              <a:rPr lang="zh-CN" altLang="en-US" dirty="0">
                <a:latin typeface="黑体" panose="02010609060101010101" pitchFamily="49" charset="-122"/>
                <a:ea typeface="黑体" panose="02010609060101010101" pitchFamily="49" charset="-122"/>
              </a:rPr>
              <a:t>地理要素之间的相关分析的任务，是揭示地理要素之间相互关系的密切程度。而地理要素之间相互关系的密切程度的测定，主要是通过对相关系数的计算与检验来完成的。</a:t>
            </a:r>
          </a:p>
        </p:txBody>
      </p:sp>
      <p:sp>
        <p:nvSpPr>
          <p:cNvPr id="4" name="Rectangle 2">
            <a:extLst>
              <a:ext uri="{FF2B5EF4-FFF2-40B4-BE49-F238E27FC236}">
                <a16:creationId xmlns:a16="http://schemas.microsoft.com/office/drawing/2014/main" id="{AC2D76C5-94A8-407F-9F63-489F7BCC793B}"/>
              </a:ext>
            </a:extLst>
          </p:cNvPr>
          <p:cNvSpPr>
            <a:spLocks noGrp="1" noChangeArrowheads="1"/>
          </p:cNvSpPr>
          <p:nvPr>
            <p:ph type="title"/>
          </p:nvPr>
        </p:nvSpPr>
        <p:spPr>
          <a:xfrm>
            <a:off x="457200" y="274638"/>
            <a:ext cx="8229600" cy="1143000"/>
          </a:xfrm>
        </p:spPr>
        <p:txBody>
          <a:bodyPr/>
          <a:lstStyle/>
          <a:p>
            <a:pPr eaLnBrk="1" hangingPunct="1"/>
            <a:r>
              <a:rPr lang="en-US" altLang="zh-CN" dirty="0"/>
              <a:t>3.2 </a:t>
            </a:r>
            <a:r>
              <a:rPr lang="zh-CN" altLang="en-US" dirty="0"/>
              <a:t>一般相关程度的度量方法</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6">
            <a:extLst>
              <a:ext uri="{FF2B5EF4-FFF2-40B4-BE49-F238E27FC236}">
                <a16:creationId xmlns:a16="http://schemas.microsoft.com/office/drawing/2014/main" id="{0EBB5B8D-9AFB-41F1-8AC6-C1B4203E7CE9}"/>
              </a:ext>
            </a:extLst>
          </p:cNvPr>
          <p:cNvSpPr>
            <a:spLocks noGrp="1" noChangeArrowheads="1"/>
          </p:cNvSpPr>
          <p:nvPr>
            <p:ph type="title"/>
          </p:nvPr>
        </p:nvSpPr>
        <p:spPr/>
        <p:txBody>
          <a:bodyPr/>
          <a:lstStyle/>
          <a:p>
            <a:pPr eaLnBrk="1" hangingPunct="1"/>
            <a:r>
              <a:rPr lang="en-US" altLang="zh-CN" dirty="0"/>
              <a:t>3.2.1</a:t>
            </a:r>
            <a:r>
              <a:rPr lang="zh-CN" altLang="en-US" dirty="0"/>
              <a:t>一般常用相关系数的计算</a:t>
            </a:r>
          </a:p>
        </p:txBody>
      </p:sp>
      <p:graphicFrame>
        <p:nvGraphicFramePr>
          <p:cNvPr id="10243" name="Object 15">
            <a:extLst>
              <a:ext uri="{FF2B5EF4-FFF2-40B4-BE49-F238E27FC236}">
                <a16:creationId xmlns:a16="http://schemas.microsoft.com/office/drawing/2014/main" id="{30049354-5D1A-4BAD-AD2A-84E65A196C28}"/>
              </a:ext>
            </a:extLst>
          </p:cNvPr>
          <p:cNvGraphicFramePr>
            <a:graphicFrameLocks noGrp="1" noChangeAspect="1"/>
          </p:cNvGraphicFramePr>
          <p:nvPr>
            <p:ph sz="half" idx="1"/>
            <p:extLst>
              <p:ext uri="{D42A27DB-BD31-4B8C-83A1-F6EECF244321}">
                <p14:modId xmlns:p14="http://schemas.microsoft.com/office/powerpoint/2010/main" val="4291630286"/>
              </p:ext>
            </p:extLst>
          </p:nvPr>
        </p:nvGraphicFramePr>
        <p:xfrm>
          <a:off x="827584" y="1441793"/>
          <a:ext cx="7418387" cy="1719263"/>
        </p:xfrm>
        <a:graphic>
          <a:graphicData uri="http://schemas.openxmlformats.org/presentationml/2006/ole">
            <mc:AlternateContent xmlns:mc="http://schemas.openxmlformats.org/markup-compatibility/2006">
              <mc:Choice xmlns:v="urn:schemas-microsoft-com:vml" Requires="v">
                <p:oleObj spid="_x0000_s10337" name="位图图像" r:id="rId3" imgW="3780952" imgH="876190" progId="Paint.Picture">
                  <p:embed/>
                </p:oleObj>
              </mc:Choice>
              <mc:Fallback>
                <p:oleObj name="位图图像" r:id="rId3" imgW="3780952" imgH="876190" progId="Paint.Picture">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584" y="1441793"/>
                        <a:ext cx="7418387" cy="1719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4" name="Object 3">
            <a:extLst>
              <a:ext uri="{FF2B5EF4-FFF2-40B4-BE49-F238E27FC236}">
                <a16:creationId xmlns:a16="http://schemas.microsoft.com/office/drawing/2014/main" id="{A6F03F03-E9F2-47CF-B4CE-64CE41CAB979}"/>
              </a:ext>
            </a:extLst>
          </p:cNvPr>
          <p:cNvGraphicFramePr>
            <a:graphicFrameLocks noGrp="1" noChangeAspect="1"/>
          </p:cNvGraphicFramePr>
          <p:nvPr>
            <p:ph sz="quarter" idx="2"/>
          </p:nvPr>
        </p:nvGraphicFramePr>
        <p:xfrm>
          <a:off x="685800" y="3546475"/>
          <a:ext cx="8002588" cy="2211388"/>
        </p:xfrm>
        <a:graphic>
          <a:graphicData uri="http://schemas.openxmlformats.org/presentationml/2006/ole">
            <mc:AlternateContent xmlns:mc="http://schemas.openxmlformats.org/markup-compatibility/2006">
              <mc:Choice xmlns:v="urn:schemas-microsoft-com:vml" Requires="v">
                <p:oleObj spid="_x0000_s10338" name="公式" r:id="rId5" imgW="1930400" imgH="533400" progId="Equation.3">
                  <p:embed/>
                </p:oleObj>
              </mc:Choice>
              <mc:Fallback>
                <p:oleObj name="公式" r:id="rId5" imgW="1930400" imgH="5334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 y="3546475"/>
                        <a:ext cx="8002588" cy="221138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a:extLst>
              <a:ext uri="{FF2B5EF4-FFF2-40B4-BE49-F238E27FC236}">
                <a16:creationId xmlns:a16="http://schemas.microsoft.com/office/drawing/2014/main" id="{75407CA6-1A72-418C-A0EC-D6717282077F}"/>
              </a:ext>
            </a:extLst>
          </p:cNvPr>
          <p:cNvSpPr>
            <a:spLocks noGrp="1" noChangeArrowheads="1"/>
          </p:cNvSpPr>
          <p:nvPr>
            <p:ph idx="1"/>
          </p:nvPr>
        </p:nvSpPr>
        <p:spPr>
          <a:xfrm>
            <a:off x="685800" y="1557338"/>
            <a:ext cx="7772400" cy="4538662"/>
          </a:xfrm>
        </p:spPr>
        <p:txBody>
          <a:bodyPr/>
          <a:lstStyle/>
          <a:p>
            <a:pPr eaLnBrk="1" hangingPunct="1"/>
            <a:r>
              <a:rPr lang="en-US" altLang="zh-CN" dirty="0" err="1"/>
              <a:t>r</a:t>
            </a:r>
            <a:r>
              <a:rPr lang="en-US" altLang="zh-CN" baseline="-25000" dirty="0" err="1"/>
              <a:t>xy</a:t>
            </a:r>
            <a:r>
              <a:rPr lang="zh-CN" altLang="en-US" dirty="0"/>
              <a:t>为要素</a:t>
            </a:r>
            <a:r>
              <a:rPr lang="en-US" altLang="zh-CN" dirty="0"/>
              <a:t>x</a:t>
            </a:r>
            <a:r>
              <a:rPr lang="zh-CN" altLang="en-US" dirty="0"/>
              <a:t>与</a:t>
            </a:r>
            <a:r>
              <a:rPr lang="en-US" altLang="zh-CN" dirty="0"/>
              <a:t>y</a:t>
            </a:r>
            <a:r>
              <a:rPr lang="zh-CN" altLang="en-US" dirty="0"/>
              <a:t>之间的</a:t>
            </a:r>
            <a:r>
              <a:rPr lang="zh-CN" altLang="en-US" dirty="0">
                <a:solidFill>
                  <a:srgbClr val="FF0000"/>
                </a:solidFill>
              </a:rPr>
              <a:t>相关系数</a:t>
            </a:r>
            <a:r>
              <a:rPr lang="zh-CN" altLang="en-US" dirty="0"/>
              <a:t>，它就是表示该两要素之间相关程度的</a:t>
            </a:r>
            <a:r>
              <a:rPr lang="zh-CN" altLang="en-US" dirty="0">
                <a:solidFill>
                  <a:srgbClr val="FF0000"/>
                </a:solidFill>
              </a:rPr>
              <a:t>统计指标</a:t>
            </a:r>
            <a:r>
              <a:rPr lang="zh-CN" altLang="en-US" dirty="0"/>
              <a:t>，其值在［</a:t>
            </a:r>
            <a:r>
              <a:rPr lang="en-US" altLang="zh-CN" dirty="0"/>
              <a:t>-1</a:t>
            </a:r>
            <a:r>
              <a:rPr lang="zh-CN" altLang="en-US" dirty="0"/>
              <a:t>，</a:t>
            </a:r>
            <a:r>
              <a:rPr lang="en-US" altLang="zh-CN" dirty="0"/>
              <a:t>1</a:t>
            </a:r>
            <a:r>
              <a:rPr lang="zh-CN" altLang="en-US" dirty="0"/>
              <a:t>］区间之内</a:t>
            </a:r>
          </a:p>
          <a:p>
            <a:pPr lvl="1" eaLnBrk="1" hangingPunct="1"/>
            <a:r>
              <a:rPr lang="en-US" altLang="zh-CN" dirty="0" err="1"/>
              <a:t>r</a:t>
            </a:r>
            <a:r>
              <a:rPr lang="en-US" altLang="zh-CN" baseline="-25000" dirty="0" err="1"/>
              <a:t>xy</a:t>
            </a:r>
            <a:r>
              <a:rPr lang="zh-CN" altLang="en-US" dirty="0"/>
              <a:t>＞</a:t>
            </a:r>
            <a:r>
              <a:rPr lang="en-US" altLang="zh-CN" dirty="0"/>
              <a:t>0</a:t>
            </a:r>
            <a:r>
              <a:rPr lang="zh-CN" altLang="en-US" dirty="0"/>
              <a:t>，表示正相关，即两要素同向发展</a:t>
            </a:r>
          </a:p>
          <a:p>
            <a:pPr lvl="1" eaLnBrk="1" hangingPunct="1"/>
            <a:r>
              <a:rPr lang="en-US" altLang="zh-CN" dirty="0" err="1"/>
              <a:t>r</a:t>
            </a:r>
            <a:r>
              <a:rPr lang="en-US" altLang="zh-CN" baseline="-25000" dirty="0" err="1"/>
              <a:t>xy</a:t>
            </a:r>
            <a:r>
              <a:rPr lang="zh-CN" altLang="en-US" dirty="0"/>
              <a:t>＜</a:t>
            </a:r>
            <a:r>
              <a:rPr lang="en-US" altLang="zh-CN" dirty="0"/>
              <a:t>0</a:t>
            </a:r>
            <a:r>
              <a:rPr lang="zh-CN" altLang="en-US" dirty="0"/>
              <a:t>，表示负相关，即两要素异向发展</a:t>
            </a:r>
          </a:p>
          <a:p>
            <a:pPr lvl="1" eaLnBrk="1" hangingPunct="1"/>
            <a:r>
              <a:rPr lang="en-US" altLang="zh-CN" dirty="0" err="1"/>
              <a:t>r</a:t>
            </a:r>
            <a:r>
              <a:rPr lang="en-US" altLang="zh-CN" baseline="-25000" dirty="0" err="1"/>
              <a:t>xy</a:t>
            </a:r>
            <a:r>
              <a:rPr lang="en-US" altLang="zh-CN" dirty="0"/>
              <a:t> </a:t>
            </a:r>
            <a:r>
              <a:rPr lang="zh-CN" altLang="en-US" dirty="0"/>
              <a:t>的绝对值越接近于</a:t>
            </a:r>
            <a:r>
              <a:rPr lang="en-US" altLang="zh-CN" dirty="0"/>
              <a:t>1</a:t>
            </a:r>
            <a:r>
              <a:rPr lang="zh-CN" altLang="en-US" dirty="0"/>
              <a:t>，表示两要素的关系越密切； 越接近于</a:t>
            </a:r>
            <a:r>
              <a:rPr lang="en-US" altLang="zh-CN" dirty="0"/>
              <a:t>0</a:t>
            </a:r>
            <a:r>
              <a:rPr lang="zh-CN" altLang="en-US" dirty="0"/>
              <a:t>，表示两要素的关系越不密切</a:t>
            </a:r>
          </a:p>
        </p:txBody>
      </p:sp>
      <p:sp>
        <p:nvSpPr>
          <p:cNvPr id="5" name="Rectangle 16">
            <a:extLst>
              <a:ext uri="{FF2B5EF4-FFF2-40B4-BE49-F238E27FC236}">
                <a16:creationId xmlns:a16="http://schemas.microsoft.com/office/drawing/2014/main" id="{6A5745E5-FAA3-4EF4-9EB1-2FF174F665EC}"/>
              </a:ext>
            </a:extLst>
          </p:cNvPr>
          <p:cNvSpPr>
            <a:spLocks noGrp="1" noChangeArrowheads="1"/>
          </p:cNvSpPr>
          <p:nvPr>
            <p:ph type="title"/>
          </p:nvPr>
        </p:nvSpPr>
        <p:spPr>
          <a:xfrm>
            <a:off x="457200" y="277813"/>
            <a:ext cx="8229600" cy="1143000"/>
          </a:xfrm>
        </p:spPr>
        <p:txBody>
          <a:bodyPr/>
          <a:lstStyle/>
          <a:p>
            <a:pPr eaLnBrk="1" hangingPunct="1"/>
            <a:r>
              <a:rPr lang="en-US" altLang="zh-CN" dirty="0"/>
              <a:t>3.2.1</a:t>
            </a:r>
            <a:r>
              <a:rPr lang="zh-CN" altLang="en-US" dirty="0"/>
              <a:t>一般常用相关系数的计算</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91" name="Object 0">
            <a:extLst>
              <a:ext uri="{FF2B5EF4-FFF2-40B4-BE49-F238E27FC236}">
                <a16:creationId xmlns:a16="http://schemas.microsoft.com/office/drawing/2014/main" id="{DB7B1C50-D26C-47DE-B4B6-0CF70AE964B3}"/>
              </a:ext>
            </a:extLst>
          </p:cNvPr>
          <p:cNvGraphicFramePr>
            <a:graphicFrameLocks noGrp="1" noChangeAspect="1"/>
          </p:cNvGraphicFramePr>
          <p:nvPr>
            <p:ph sz="half" idx="1"/>
          </p:nvPr>
        </p:nvGraphicFramePr>
        <p:xfrm>
          <a:off x="265113" y="1412875"/>
          <a:ext cx="8720137" cy="3473450"/>
        </p:xfrm>
        <a:graphic>
          <a:graphicData uri="http://schemas.openxmlformats.org/presentationml/2006/ole">
            <mc:AlternateContent xmlns:mc="http://schemas.openxmlformats.org/markup-compatibility/2006">
              <mc:Choice xmlns:v="urn:schemas-microsoft-com:vml" Requires="v">
                <p:oleObj spid="_x0000_s12338" name="公式" r:id="rId3" imgW="3060700" imgH="1219200" progId="Equation.3">
                  <p:embed/>
                </p:oleObj>
              </mc:Choice>
              <mc:Fallback>
                <p:oleObj name="公式" r:id="rId3" imgW="3060700" imgH="1219200"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113" y="1412875"/>
                        <a:ext cx="8720137" cy="34734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Rectangle 16">
            <a:extLst>
              <a:ext uri="{FF2B5EF4-FFF2-40B4-BE49-F238E27FC236}">
                <a16:creationId xmlns:a16="http://schemas.microsoft.com/office/drawing/2014/main" id="{9DA42A66-4DFC-4A6E-A583-0C31DF3C20E4}"/>
              </a:ext>
            </a:extLst>
          </p:cNvPr>
          <p:cNvSpPr txBox="1">
            <a:spLocks noChangeArrowheads="1"/>
          </p:cNvSpPr>
          <p:nvPr/>
        </p:nvSpPr>
        <p:spPr bwMode="auto">
          <a:xfrm>
            <a:off x="609600" y="430213"/>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a:lstStyle>
          <a:p>
            <a:pPr eaLnBrk="1" hangingPunct="1"/>
            <a:r>
              <a:rPr lang="en-US" altLang="zh-CN" dirty="0"/>
              <a:t>3.2.1</a:t>
            </a:r>
            <a:r>
              <a:rPr lang="zh-CN" altLang="en-US" dirty="0"/>
              <a:t>一般常用相关系数的计算</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315" name="Object 4">
            <a:extLst>
              <a:ext uri="{FF2B5EF4-FFF2-40B4-BE49-F238E27FC236}">
                <a16:creationId xmlns:a16="http://schemas.microsoft.com/office/drawing/2014/main" id="{564BB376-BA37-4E0B-A53B-4EFD60BF1DE8}"/>
              </a:ext>
            </a:extLst>
          </p:cNvPr>
          <p:cNvGraphicFramePr>
            <a:graphicFrameLocks noGrp="1" noChangeAspect="1"/>
          </p:cNvGraphicFramePr>
          <p:nvPr>
            <p:ph sz="half" idx="1"/>
          </p:nvPr>
        </p:nvGraphicFramePr>
        <p:xfrm>
          <a:off x="1374775" y="1755775"/>
          <a:ext cx="5857875" cy="3409950"/>
        </p:xfrm>
        <a:graphic>
          <a:graphicData uri="http://schemas.openxmlformats.org/presentationml/2006/ole">
            <mc:AlternateContent xmlns:mc="http://schemas.openxmlformats.org/markup-compatibility/2006">
              <mc:Choice xmlns:v="urn:schemas-microsoft-com:vml" Requires="v">
                <p:oleObj spid="_x0000_s13362" name="公式" r:id="rId3" imgW="850531" imgH="495085" progId="Equation.3">
                  <p:embed/>
                </p:oleObj>
              </mc:Choice>
              <mc:Fallback>
                <p:oleObj name="公式" r:id="rId3" imgW="850531" imgH="495085"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4775" y="1755775"/>
                        <a:ext cx="5857875" cy="34099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Rectangle 16">
            <a:extLst>
              <a:ext uri="{FF2B5EF4-FFF2-40B4-BE49-F238E27FC236}">
                <a16:creationId xmlns:a16="http://schemas.microsoft.com/office/drawing/2014/main" id="{3A4BF847-ADEF-4EB2-9CDE-F640D6D2729D}"/>
              </a:ext>
            </a:extLst>
          </p:cNvPr>
          <p:cNvSpPr>
            <a:spLocks noGrp="1" noChangeArrowheads="1"/>
          </p:cNvSpPr>
          <p:nvPr>
            <p:ph type="title"/>
          </p:nvPr>
        </p:nvSpPr>
        <p:spPr>
          <a:xfrm>
            <a:off x="457200" y="277813"/>
            <a:ext cx="8229600" cy="1143000"/>
          </a:xfrm>
        </p:spPr>
        <p:txBody>
          <a:bodyPr/>
          <a:lstStyle/>
          <a:p>
            <a:pPr eaLnBrk="1" hangingPunct="1"/>
            <a:r>
              <a:rPr lang="en-US" altLang="zh-CN" dirty="0"/>
              <a:t>3.2.1</a:t>
            </a:r>
            <a:r>
              <a:rPr lang="zh-CN" altLang="en-US" dirty="0"/>
              <a:t>一般常用相关系数的计算</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379E256-ED2B-4EEF-9581-2C91EF1B1492}"/>
              </a:ext>
            </a:extLst>
          </p:cNvPr>
          <p:cNvSpPr>
            <a:spLocks noGrp="1" noChangeArrowheads="1"/>
          </p:cNvSpPr>
          <p:nvPr>
            <p:ph type="title"/>
          </p:nvPr>
        </p:nvSpPr>
        <p:spPr>
          <a:xfrm>
            <a:off x="685800" y="887413"/>
            <a:ext cx="7772400" cy="1462087"/>
          </a:xfrm>
        </p:spPr>
        <p:txBody>
          <a:bodyPr/>
          <a:lstStyle/>
          <a:p>
            <a:pPr eaLnBrk="1" hangingPunct="1">
              <a:buFontTx/>
              <a:buChar char="•"/>
            </a:pPr>
            <a:r>
              <a:rPr lang="zh-CN" altLang="en-US" sz="2800">
                <a:latin typeface="华文中宋" panose="02010600040101010101" pitchFamily="2" charset="-122"/>
                <a:ea typeface="华文中宋" panose="02010600040101010101" pitchFamily="2" charset="-122"/>
              </a:rPr>
              <a:t>举例，北京市多年各月平均气温与</a:t>
            </a:r>
            <a:r>
              <a:rPr lang="en-US" altLang="zh-CN" sz="2800">
                <a:latin typeface="华文中宋" panose="02010600040101010101" pitchFamily="2" charset="-122"/>
                <a:ea typeface="华文中宋" panose="02010600040101010101" pitchFamily="2" charset="-122"/>
              </a:rPr>
              <a:t>5cm</a:t>
            </a:r>
            <a:r>
              <a:rPr lang="zh-CN" altLang="en-US" sz="2800">
                <a:latin typeface="华文中宋" panose="02010600040101010101" pitchFamily="2" charset="-122"/>
                <a:ea typeface="华文中宋" panose="02010600040101010101" pitchFamily="2" charset="-122"/>
              </a:rPr>
              <a:t>深的平均地温，如表所示，请计算两者的相关系数</a:t>
            </a:r>
          </a:p>
        </p:txBody>
      </p:sp>
      <p:graphicFrame>
        <p:nvGraphicFramePr>
          <p:cNvPr id="55552" name="Group 256">
            <a:extLst>
              <a:ext uri="{FF2B5EF4-FFF2-40B4-BE49-F238E27FC236}">
                <a16:creationId xmlns:a16="http://schemas.microsoft.com/office/drawing/2014/main" id="{153FFFBF-FB74-45DD-BF26-B9556F51FDE1}"/>
              </a:ext>
            </a:extLst>
          </p:cNvPr>
          <p:cNvGraphicFramePr>
            <a:graphicFrameLocks noGrp="1"/>
          </p:cNvGraphicFramePr>
          <p:nvPr>
            <p:ph idx="1"/>
          </p:nvPr>
        </p:nvGraphicFramePr>
        <p:xfrm>
          <a:off x="107950" y="2492375"/>
          <a:ext cx="8855075" cy="2451101"/>
        </p:xfrm>
        <a:graphic>
          <a:graphicData uri="http://schemas.openxmlformats.org/drawingml/2006/table">
            <a:tbl>
              <a:tblPr/>
              <a:tblGrid>
                <a:gridCol w="681038">
                  <a:extLst>
                    <a:ext uri="{9D8B030D-6E8A-4147-A177-3AD203B41FA5}">
                      <a16:colId xmlns:a16="http://schemas.microsoft.com/office/drawing/2014/main" val="20000"/>
                    </a:ext>
                  </a:extLst>
                </a:gridCol>
                <a:gridCol w="681037">
                  <a:extLst>
                    <a:ext uri="{9D8B030D-6E8A-4147-A177-3AD203B41FA5}">
                      <a16:colId xmlns:a16="http://schemas.microsoft.com/office/drawing/2014/main" val="20001"/>
                    </a:ext>
                  </a:extLst>
                </a:gridCol>
                <a:gridCol w="681038">
                  <a:extLst>
                    <a:ext uri="{9D8B030D-6E8A-4147-A177-3AD203B41FA5}">
                      <a16:colId xmlns:a16="http://schemas.microsoft.com/office/drawing/2014/main" val="20002"/>
                    </a:ext>
                  </a:extLst>
                </a:gridCol>
                <a:gridCol w="693737">
                  <a:extLst>
                    <a:ext uri="{9D8B030D-6E8A-4147-A177-3AD203B41FA5}">
                      <a16:colId xmlns:a16="http://schemas.microsoft.com/office/drawing/2014/main" val="20003"/>
                    </a:ext>
                  </a:extLst>
                </a:gridCol>
                <a:gridCol w="668338">
                  <a:extLst>
                    <a:ext uri="{9D8B030D-6E8A-4147-A177-3AD203B41FA5}">
                      <a16:colId xmlns:a16="http://schemas.microsoft.com/office/drawing/2014/main" val="20004"/>
                    </a:ext>
                  </a:extLst>
                </a:gridCol>
                <a:gridCol w="681037">
                  <a:extLst>
                    <a:ext uri="{9D8B030D-6E8A-4147-A177-3AD203B41FA5}">
                      <a16:colId xmlns:a16="http://schemas.microsoft.com/office/drawing/2014/main" val="20005"/>
                    </a:ext>
                  </a:extLst>
                </a:gridCol>
                <a:gridCol w="682625">
                  <a:extLst>
                    <a:ext uri="{9D8B030D-6E8A-4147-A177-3AD203B41FA5}">
                      <a16:colId xmlns:a16="http://schemas.microsoft.com/office/drawing/2014/main" val="20006"/>
                    </a:ext>
                  </a:extLst>
                </a:gridCol>
                <a:gridCol w="681038">
                  <a:extLst>
                    <a:ext uri="{9D8B030D-6E8A-4147-A177-3AD203B41FA5}">
                      <a16:colId xmlns:a16="http://schemas.microsoft.com/office/drawing/2014/main" val="20007"/>
                    </a:ext>
                  </a:extLst>
                </a:gridCol>
                <a:gridCol w="681037">
                  <a:extLst>
                    <a:ext uri="{9D8B030D-6E8A-4147-A177-3AD203B41FA5}">
                      <a16:colId xmlns:a16="http://schemas.microsoft.com/office/drawing/2014/main" val="20008"/>
                    </a:ext>
                  </a:extLst>
                </a:gridCol>
                <a:gridCol w="681038">
                  <a:extLst>
                    <a:ext uri="{9D8B030D-6E8A-4147-A177-3AD203B41FA5}">
                      <a16:colId xmlns:a16="http://schemas.microsoft.com/office/drawing/2014/main" val="20009"/>
                    </a:ext>
                  </a:extLst>
                </a:gridCol>
                <a:gridCol w="681037">
                  <a:extLst>
                    <a:ext uri="{9D8B030D-6E8A-4147-A177-3AD203B41FA5}">
                      <a16:colId xmlns:a16="http://schemas.microsoft.com/office/drawing/2014/main" val="20010"/>
                    </a:ext>
                  </a:extLst>
                </a:gridCol>
                <a:gridCol w="681038">
                  <a:extLst>
                    <a:ext uri="{9D8B030D-6E8A-4147-A177-3AD203B41FA5}">
                      <a16:colId xmlns:a16="http://schemas.microsoft.com/office/drawing/2014/main" val="20011"/>
                    </a:ext>
                  </a:extLst>
                </a:gridCol>
                <a:gridCol w="681037">
                  <a:extLst>
                    <a:ext uri="{9D8B030D-6E8A-4147-A177-3AD203B41FA5}">
                      <a16:colId xmlns:a16="http://schemas.microsoft.com/office/drawing/2014/main" val="20012"/>
                    </a:ext>
                  </a:extLst>
                </a:gridCol>
              </a:tblGrid>
              <a:tr h="817563">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zh-CN" altLang="en-US" sz="2000" b="0" i="0" u="none" strike="noStrike" cap="none" normalizeH="0" baseline="0" dirty="0">
                          <a:ln>
                            <a:noFill/>
                          </a:ln>
                          <a:solidFill>
                            <a:schemeClr val="tx1"/>
                          </a:solidFill>
                          <a:effectLst>
                            <a:outerShdw blurRad="38100" dist="38100" dir="2700000" algn="tl">
                              <a:srgbClr val="C0C0C0"/>
                            </a:outerShdw>
                          </a:effectLst>
                          <a:latin typeface="华文中宋" pitchFamily="2" charset="-122"/>
                          <a:ea typeface="宋体" pitchFamily="2" charset="-122"/>
                        </a:rPr>
                        <a:t>月份</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dirty="0">
                          <a:ln>
                            <a:noFill/>
                          </a:ln>
                          <a:solidFill>
                            <a:schemeClr val="tx1"/>
                          </a:solidFill>
                          <a:effectLst>
                            <a:outerShdw blurRad="38100" dist="38100" dir="2700000" algn="tl">
                              <a:srgbClr val="C0C0C0"/>
                            </a:outerShdw>
                          </a:effectLst>
                          <a:latin typeface="华文中宋" pitchFamily="2" charset="-122"/>
                          <a:ea typeface="宋体" pitchFamily="2" charset="-122"/>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10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11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12</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15975">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zh-CN" altLang="en-US"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气温</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-4.7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-2.3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4.4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13.2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20.2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24.2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26.0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24.6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19.5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12.5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4.0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dirty="0">
                          <a:ln>
                            <a:noFill/>
                          </a:ln>
                          <a:solidFill>
                            <a:schemeClr val="tx1"/>
                          </a:solidFill>
                          <a:effectLst>
                            <a:outerShdw blurRad="38100" dist="38100" dir="2700000" algn="tl">
                              <a:srgbClr val="C0C0C0"/>
                            </a:outerShdw>
                          </a:effectLst>
                          <a:latin typeface="华文中宋" pitchFamily="2" charset="-122"/>
                          <a:ea typeface="宋体" pitchFamily="2" charset="-122"/>
                        </a:rPr>
                        <a:t>-2.3</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17563">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zh-CN" altLang="en-US"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地温</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-3.6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-1.4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5.1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14.5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22.3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26.9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dirty="0">
                          <a:ln>
                            <a:noFill/>
                          </a:ln>
                          <a:solidFill>
                            <a:schemeClr val="tx1"/>
                          </a:solidFill>
                          <a:effectLst>
                            <a:outerShdw blurRad="38100" dist="38100" dir="2700000" algn="tl">
                              <a:srgbClr val="C0C0C0"/>
                            </a:outerShdw>
                          </a:effectLst>
                          <a:latin typeface="华文中宋" pitchFamily="2" charset="-122"/>
                          <a:ea typeface="宋体" pitchFamily="2" charset="-122"/>
                        </a:rPr>
                        <a:t>23.2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26.5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21.1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13.4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4.6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宋体" pitchFamily="2" charset="-122"/>
                        </a:rPr>
                        <a:t>-1.9</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4" name="Rectangle 16">
            <a:extLst>
              <a:ext uri="{FF2B5EF4-FFF2-40B4-BE49-F238E27FC236}">
                <a16:creationId xmlns:a16="http://schemas.microsoft.com/office/drawing/2014/main" id="{F6C3E309-C51E-497C-9E85-11601056CCAD}"/>
              </a:ext>
            </a:extLst>
          </p:cNvPr>
          <p:cNvSpPr txBox="1">
            <a:spLocks noChangeArrowheads="1"/>
          </p:cNvSpPr>
          <p:nvPr/>
        </p:nvSpPr>
        <p:spPr bwMode="auto">
          <a:xfrm>
            <a:off x="395536" y="33556"/>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a:lstStyle>
          <a:p>
            <a:pPr eaLnBrk="1" hangingPunct="1"/>
            <a:r>
              <a:rPr lang="en-US" altLang="zh-CN" dirty="0"/>
              <a:t>3.2.1</a:t>
            </a:r>
            <a:r>
              <a:rPr lang="zh-CN" altLang="en-US" dirty="0"/>
              <a:t>一般常用相关系数的计算</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a:extLst>
              <a:ext uri="{FF2B5EF4-FFF2-40B4-BE49-F238E27FC236}">
                <a16:creationId xmlns:a16="http://schemas.microsoft.com/office/drawing/2014/main" id="{6285B8F7-7A6C-4CEA-9597-58A604075548}"/>
              </a:ext>
            </a:extLst>
          </p:cNvPr>
          <p:cNvSpPr>
            <a:spLocks noGrp="1" noChangeArrowheads="1"/>
          </p:cNvSpPr>
          <p:nvPr>
            <p:ph type="body" sz="half" idx="1"/>
          </p:nvPr>
        </p:nvSpPr>
        <p:spPr>
          <a:xfrm>
            <a:off x="395536" y="1418169"/>
            <a:ext cx="3810000" cy="4114800"/>
          </a:xfrm>
        </p:spPr>
        <p:txBody>
          <a:bodyPr/>
          <a:lstStyle/>
          <a:p>
            <a:pPr eaLnBrk="1" hangingPunct="1"/>
            <a:r>
              <a:rPr lang="zh-CN" altLang="en-US" sz="2800"/>
              <a:t>用导出公式</a:t>
            </a:r>
          </a:p>
          <a:p>
            <a:pPr eaLnBrk="1" hangingPunct="1"/>
            <a:endParaRPr lang="en-US" altLang="zh-CN" sz="2800"/>
          </a:p>
        </p:txBody>
      </p:sp>
      <p:graphicFrame>
        <p:nvGraphicFramePr>
          <p:cNvPr id="15364" name="Object 0">
            <a:extLst>
              <a:ext uri="{FF2B5EF4-FFF2-40B4-BE49-F238E27FC236}">
                <a16:creationId xmlns:a16="http://schemas.microsoft.com/office/drawing/2014/main" id="{0B96405E-6C26-4537-8DAB-76CED269E41D}"/>
              </a:ext>
            </a:extLst>
          </p:cNvPr>
          <p:cNvGraphicFramePr>
            <a:graphicFrameLocks noGrp="1" noChangeAspect="1"/>
          </p:cNvGraphicFramePr>
          <p:nvPr>
            <p:ph sz="half" idx="2"/>
          </p:nvPr>
        </p:nvGraphicFramePr>
        <p:xfrm>
          <a:off x="746125" y="1831975"/>
          <a:ext cx="7434263" cy="4505325"/>
        </p:xfrm>
        <a:graphic>
          <a:graphicData uri="http://schemas.openxmlformats.org/presentationml/2006/ole">
            <mc:AlternateContent xmlns:mc="http://schemas.openxmlformats.org/markup-compatibility/2006">
              <mc:Choice xmlns:v="urn:schemas-microsoft-com:vml" Requires="v">
                <p:oleObj spid="_x0000_s15411" name="公式" r:id="rId3" imgW="2514600" imgH="1524000" progId="Equation.3">
                  <p:embed/>
                </p:oleObj>
              </mc:Choice>
              <mc:Fallback>
                <p:oleObj name="公式" r:id="rId3" imgW="2514600" imgH="1524000"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6125" y="1831975"/>
                        <a:ext cx="7434263" cy="450532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Rectangle 16">
            <a:extLst>
              <a:ext uri="{FF2B5EF4-FFF2-40B4-BE49-F238E27FC236}">
                <a16:creationId xmlns:a16="http://schemas.microsoft.com/office/drawing/2014/main" id="{B619AB07-2280-45E0-B5BD-7E6A495A2844}"/>
              </a:ext>
            </a:extLst>
          </p:cNvPr>
          <p:cNvSpPr>
            <a:spLocks noGrp="1" noChangeArrowheads="1"/>
          </p:cNvSpPr>
          <p:nvPr>
            <p:ph type="title"/>
          </p:nvPr>
        </p:nvSpPr>
        <p:spPr>
          <a:xfrm>
            <a:off x="457200" y="277813"/>
            <a:ext cx="8229600" cy="1143000"/>
          </a:xfrm>
        </p:spPr>
        <p:txBody>
          <a:bodyPr/>
          <a:lstStyle/>
          <a:p>
            <a:pPr eaLnBrk="1" hangingPunct="1"/>
            <a:r>
              <a:rPr lang="en-US" altLang="zh-CN" dirty="0"/>
              <a:t>3.2.1</a:t>
            </a:r>
            <a:r>
              <a:rPr lang="zh-CN" altLang="en-US" dirty="0"/>
              <a:t>一般常用相关系数的计算</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56" name="Rectangle 188">
            <a:extLst>
              <a:ext uri="{FF2B5EF4-FFF2-40B4-BE49-F238E27FC236}">
                <a16:creationId xmlns:a16="http://schemas.microsoft.com/office/drawing/2014/main" id="{E09100F7-1F1F-4B12-9786-060DF84ECA6B}"/>
              </a:ext>
            </a:extLst>
          </p:cNvPr>
          <p:cNvSpPr>
            <a:spLocks noGrp="1" noChangeArrowheads="1"/>
          </p:cNvSpPr>
          <p:nvPr>
            <p:ph type="title"/>
          </p:nvPr>
        </p:nvSpPr>
        <p:spPr>
          <a:xfrm>
            <a:off x="565944" y="692696"/>
            <a:ext cx="8229600" cy="755650"/>
          </a:xfrm>
        </p:spPr>
        <p:txBody>
          <a:bodyPr rtlCol="0">
            <a:normAutofit fontScale="90000"/>
          </a:bodyPr>
          <a:lstStyle/>
          <a:p>
            <a:pPr eaLnBrk="1" fontAlgn="auto" hangingPunct="1">
              <a:spcAft>
                <a:spcPts val="0"/>
              </a:spcAft>
              <a:defRPr/>
            </a:pPr>
            <a:r>
              <a:rPr lang="zh-CN" altLang="en-US" dirty="0"/>
              <a:t>相关系数计算表</a:t>
            </a:r>
          </a:p>
        </p:txBody>
      </p:sp>
      <p:graphicFrame>
        <p:nvGraphicFramePr>
          <p:cNvPr id="58757" name="Group 389">
            <a:extLst>
              <a:ext uri="{FF2B5EF4-FFF2-40B4-BE49-F238E27FC236}">
                <a16:creationId xmlns:a16="http://schemas.microsoft.com/office/drawing/2014/main" id="{4830086D-A18B-4418-8E6B-73127B976FAE}"/>
              </a:ext>
            </a:extLst>
          </p:cNvPr>
          <p:cNvGraphicFramePr>
            <a:graphicFrameLocks noGrp="1"/>
          </p:cNvGraphicFramePr>
          <p:nvPr>
            <p:ph type="tbl" idx="1"/>
          </p:nvPr>
        </p:nvGraphicFramePr>
        <p:xfrm>
          <a:off x="685800" y="1557338"/>
          <a:ext cx="7989888" cy="5235571"/>
        </p:xfrm>
        <a:graphic>
          <a:graphicData uri="http://schemas.openxmlformats.org/drawingml/2006/table">
            <a:tbl>
              <a:tblPr/>
              <a:tblGrid>
                <a:gridCol w="1331913">
                  <a:extLst>
                    <a:ext uri="{9D8B030D-6E8A-4147-A177-3AD203B41FA5}">
                      <a16:colId xmlns:a16="http://schemas.microsoft.com/office/drawing/2014/main" val="20000"/>
                    </a:ext>
                  </a:extLst>
                </a:gridCol>
                <a:gridCol w="1331912">
                  <a:extLst>
                    <a:ext uri="{9D8B030D-6E8A-4147-A177-3AD203B41FA5}">
                      <a16:colId xmlns:a16="http://schemas.microsoft.com/office/drawing/2014/main" val="20001"/>
                    </a:ext>
                  </a:extLst>
                </a:gridCol>
                <a:gridCol w="1331913">
                  <a:extLst>
                    <a:ext uri="{9D8B030D-6E8A-4147-A177-3AD203B41FA5}">
                      <a16:colId xmlns:a16="http://schemas.microsoft.com/office/drawing/2014/main" val="20002"/>
                    </a:ext>
                  </a:extLst>
                </a:gridCol>
                <a:gridCol w="1330325">
                  <a:extLst>
                    <a:ext uri="{9D8B030D-6E8A-4147-A177-3AD203B41FA5}">
                      <a16:colId xmlns:a16="http://schemas.microsoft.com/office/drawing/2014/main" val="20003"/>
                    </a:ext>
                  </a:extLst>
                </a:gridCol>
                <a:gridCol w="1331912">
                  <a:extLst>
                    <a:ext uri="{9D8B030D-6E8A-4147-A177-3AD203B41FA5}">
                      <a16:colId xmlns:a16="http://schemas.microsoft.com/office/drawing/2014/main" val="20004"/>
                    </a:ext>
                  </a:extLst>
                </a:gridCol>
                <a:gridCol w="1331913">
                  <a:extLst>
                    <a:ext uri="{9D8B030D-6E8A-4147-A177-3AD203B41FA5}">
                      <a16:colId xmlns:a16="http://schemas.microsoft.com/office/drawing/2014/main" val="20005"/>
                    </a:ext>
                  </a:extLst>
                </a:gridCol>
              </a:tblGrid>
              <a:tr h="335300">
                <a:tc>
                  <a:txBody>
                    <a:bodyPr/>
                    <a:lstStyle/>
                    <a:p>
                      <a:pPr marL="342900" marR="0" lvl="0" indent="-342900" algn="l" defTabSz="914400" rtl="0" eaLnBrk="1" fontAlgn="ctr" latinLnBrk="0" hangingPunct="1">
                        <a:lnSpc>
                          <a:spcPct val="100000"/>
                        </a:lnSpc>
                        <a:spcBef>
                          <a:spcPct val="0"/>
                        </a:spcBef>
                        <a:spcAft>
                          <a:spcPct val="0"/>
                        </a:spcAft>
                        <a:buClrTx/>
                        <a:buSzPct val="90000"/>
                        <a:buFontTx/>
                        <a:buNone/>
                        <a:tabLst/>
                      </a:pPr>
                      <a:r>
                        <a:rPr kumimoji="0" lang="zh-CN" altLang="en-US" sz="1600" b="1" i="0" u="none" strike="noStrike" cap="none" normalizeH="0" baseline="0" dirty="0">
                          <a:ln>
                            <a:noFill/>
                          </a:ln>
                          <a:solidFill>
                            <a:schemeClr val="tx1"/>
                          </a:solidFill>
                          <a:effectLst>
                            <a:outerShdw blurRad="38100" dist="38100" dir="2700000" algn="tl">
                              <a:srgbClr val="000000"/>
                            </a:outerShdw>
                          </a:effectLst>
                          <a:latin typeface="宋体" pitchFamily="2" charset="-122"/>
                          <a:ea typeface="宋体" pitchFamily="2" charset="-122"/>
                        </a:rPr>
                        <a:t>月份</a:t>
                      </a:r>
                      <a:endParaRPr kumimoji="0" lang="zh-CN" altLang="en-US" sz="1600" b="1"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ctr" latinLnBrk="0" hangingPunct="1">
                        <a:lnSpc>
                          <a:spcPct val="100000"/>
                        </a:lnSpc>
                        <a:spcBef>
                          <a:spcPct val="0"/>
                        </a:spcBef>
                        <a:spcAft>
                          <a:spcPct val="0"/>
                        </a:spcAft>
                        <a:buClrTx/>
                        <a:buSzPct val="90000"/>
                        <a:buFontTx/>
                        <a:buNone/>
                        <a:tabLst/>
                      </a:pPr>
                      <a:r>
                        <a:rPr kumimoji="0" lang="zh-CN" altLang="en-US"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气温</a:t>
                      </a: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(x)</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ctr" latinLnBrk="0" hangingPunct="1">
                        <a:lnSpc>
                          <a:spcPct val="100000"/>
                        </a:lnSpc>
                        <a:spcBef>
                          <a:spcPct val="0"/>
                        </a:spcBef>
                        <a:spcAft>
                          <a:spcPct val="0"/>
                        </a:spcAft>
                        <a:buClrTx/>
                        <a:buSzPct val="90000"/>
                        <a:buFontTx/>
                        <a:buNone/>
                        <a:tabLst/>
                      </a:pPr>
                      <a:r>
                        <a:rPr kumimoji="0" lang="zh-CN" altLang="en-US"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地温</a:t>
                      </a: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(y)</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xy</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x</a:t>
                      </a:r>
                      <a:r>
                        <a:rPr kumimoji="0" lang="en-US" altLang="zh-CN" sz="1600" b="1" i="0" u="none" strike="noStrike" cap="none" normalizeH="0" baseline="30000">
                          <a:ln>
                            <a:noFill/>
                          </a:ln>
                          <a:solidFill>
                            <a:schemeClr val="tx1"/>
                          </a:solidFill>
                          <a:effectLst>
                            <a:outerShdw blurRad="38100" dist="38100" dir="2700000" algn="tl">
                              <a:srgbClr val="000000"/>
                            </a:outerShdw>
                          </a:effectLst>
                          <a:latin typeface="宋体" pitchFamily="2" charset="-122"/>
                          <a:ea typeface="宋体" pitchFamily="2" charset="-122"/>
                        </a:rPr>
                        <a:t>2</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y</a:t>
                      </a:r>
                      <a:r>
                        <a:rPr kumimoji="0" lang="en-US" altLang="zh-CN" sz="1600" b="1" i="0" u="none" strike="noStrike" cap="none" normalizeH="0" baseline="30000">
                          <a:ln>
                            <a:noFill/>
                          </a:ln>
                          <a:solidFill>
                            <a:schemeClr val="tx1"/>
                          </a:solidFill>
                          <a:effectLst>
                            <a:outerShdw blurRad="38100" dist="38100" dir="2700000" algn="tl">
                              <a:srgbClr val="000000"/>
                            </a:outerShdw>
                          </a:effectLst>
                          <a:latin typeface="宋体" pitchFamily="2" charset="-122"/>
                          <a:ea typeface="宋体" pitchFamily="2" charset="-122"/>
                        </a:rPr>
                        <a:t>2</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00">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1</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-4.7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-3.6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16.92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22.09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12.96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300">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2</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-2.3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-1.4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3.22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5.29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1.96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00">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3</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4.4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5.1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22.44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19.36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26.01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00">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4</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13.2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14.5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191.40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174.24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210.25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00">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5</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20.2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22.3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450.46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dirty="0">
                          <a:ln>
                            <a:noFill/>
                          </a:ln>
                          <a:solidFill>
                            <a:schemeClr val="tx1"/>
                          </a:solidFill>
                          <a:effectLst>
                            <a:outerShdw blurRad="38100" dist="38100" dir="2700000" algn="tl">
                              <a:srgbClr val="000000"/>
                            </a:outerShdw>
                          </a:effectLst>
                          <a:latin typeface="宋体" pitchFamily="2" charset="-122"/>
                          <a:ea typeface="宋体" pitchFamily="2" charset="-122"/>
                        </a:rPr>
                        <a:t>403.04 </a:t>
                      </a:r>
                      <a:endParaRPr kumimoji="0" lang="en-US" altLang="zh-CN" sz="1600" b="1"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497.29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00">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6</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24.2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26.9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dirty="0">
                          <a:ln>
                            <a:noFill/>
                          </a:ln>
                          <a:solidFill>
                            <a:schemeClr val="tx1"/>
                          </a:solidFill>
                          <a:effectLst>
                            <a:outerShdw blurRad="38100" dist="38100" dir="2700000" algn="tl">
                              <a:srgbClr val="000000"/>
                            </a:outerShdw>
                          </a:effectLst>
                          <a:latin typeface="宋体" pitchFamily="2" charset="-122"/>
                          <a:ea typeface="宋体" pitchFamily="2" charset="-122"/>
                        </a:rPr>
                        <a:t>650.93 </a:t>
                      </a:r>
                      <a:endParaRPr kumimoji="0" lang="en-US" altLang="zh-CN" sz="1600" b="1"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dirty="0">
                          <a:ln>
                            <a:noFill/>
                          </a:ln>
                          <a:solidFill>
                            <a:schemeClr val="tx1"/>
                          </a:solidFill>
                          <a:effectLst>
                            <a:outerShdw blurRad="38100" dist="38100" dir="2700000" algn="tl">
                              <a:srgbClr val="000000"/>
                            </a:outerShdw>
                          </a:effectLst>
                          <a:latin typeface="宋体" pitchFamily="2" charset="-122"/>
                          <a:ea typeface="宋体" pitchFamily="2" charset="-122"/>
                        </a:rPr>
                        <a:t>535.64 </a:t>
                      </a:r>
                      <a:endParaRPr kumimoji="0" lang="en-US" altLang="zh-CN" sz="1600" b="1"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723.61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00">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7</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26.0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dirty="0">
                          <a:ln>
                            <a:noFill/>
                          </a:ln>
                          <a:solidFill>
                            <a:schemeClr val="tx1"/>
                          </a:solidFill>
                          <a:effectLst>
                            <a:outerShdw blurRad="38100" dist="38100" dir="2700000" algn="tl">
                              <a:srgbClr val="000000"/>
                            </a:outerShdw>
                          </a:effectLst>
                          <a:latin typeface="宋体" pitchFamily="2" charset="-122"/>
                          <a:ea typeface="宋体" pitchFamily="2" charset="-122"/>
                        </a:rPr>
                        <a:t>23.2 </a:t>
                      </a:r>
                      <a:endParaRPr kumimoji="0" lang="en-US" altLang="zh-CN" sz="1600" b="1"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733.20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676.00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795.24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5300">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dirty="0">
                          <a:ln>
                            <a:noFill/>
                          </a:ln>
                          <a:solidFill>
                            <a:schemeClr val="tx1"/>
                          </a:solidFill>
                          <a:effectLst>
                            <a:outerShdw blurRad="38100" dist="38100" dir="2700000" algn="tl">
                              <a:srgbClr val="000000"/>
                            </a:outerShdw>
                          </a:effectLst>
                          <a:latin typeface="宋体" pitchFamily="2" charset="-122"/>
                          <a:ea typeface="宋体" pitchFamily="2" charset="-122"/>
                        </a:rPr>
                        <a:t>3</a:t>
                      </a:r>
                      <a:endParaRPr kumimoji="0" lang="en-US" altLang="zh-CN" sz="1600" b="1"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24.6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26.5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651.90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605.16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702.25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35300">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9</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19.5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21.1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411.45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dirty="0">
                          <a:ln>
                            <a:noFill/>
                          </a:ln>
                          <a:solidFill>
                            <a:schemeClr val="tx1"/>
                          </a:solidFill>
                          <a:effectLst>
                            <a:outerShdw blurRad="38100" dist="38100" dir="2700000" algn="tl">
                              <a:srgbClr val="000000"/>
                            </a:outerShdw>
                          </a:effectLst>
                          <a:latin typeface="宋体" pitchFamily="2" charset="-122"/>
                          <a:ea typeface="宋体" pitchFamily="2" charset="-122"/>
                        </a:rPr>
                        <a:t>330.25 </a:t>
                      </a:r>
                      <a:endParaRPr kumimoji="0" lang="en-US" altLang="zh-CN" sz="1600" b="1"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445.21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35300">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10</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12.5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13.4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167.50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156.25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179.56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35300">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11</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4.0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4.6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dirty="0">
                          <a:ln>
                            <a:noFill/>
                          </a:ln>
                          <a:solidFill>
                            <a:schemeClr val="tx1"/>
                          </a:solidFill>
                          <a:effectLst>
                            <a:outerShdw blurRad="38100" dist="38100" dir="2700000" algn="tl">
                              <a:srgbClr val="000000"/>
                            </a:outerShdw>
                          </a:effectLst>
                          <a:latin typeface="宋体" pitchFamily="2" charset="-122"/>
                          <a:ea typeface="宋体" pitchFamily="2" charset="-122"/>
                        </a:rPr>
                        <a:t>13.40 </a:t>
                      </a:r>
                      <a:endParaRPr kumimoji="0" lang="en-US" altLang="zh-CN" sz="1600" b="1"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16.00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21.16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35300">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12</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dirty="0">
                          <a:ln>
                            <a:noFill/>
                          </a:ln>
                          <a:solidFill>
                            <a:schemeClr val="tx1"/>
                          </a:solidFill>
                          <a:effectLst>
                            <a:outerShdw blurRad="38100" dist="38100" dir="2700000" algn="tl">
                              <a:srgbClr val="000000"/>
                            </a:outerShdw>
                          </a:effectLst>
                          <a:latin typeface="宋体" pitchFamily="2" charset="-122"/>
                          <a:ea typeface="宋体" pitchFamily="2" charset="-122"/>
                        </a:rPr>
                        <a:t>-2.3 </a:t>
                      </a:r>
                      <a:endParaRPr kumimoji="0" lang="en-US" altLang="zh-CN" sz="1600" b="1"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-1.9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5.32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dirty="0">
                          <a:ln>
                            <a:noFill/>
                          </a:ln>
                          <a:solidFill>
                            <a:schemeClr val="tx1"/>
                          </a:solidFill>
                          <a:effectLst>
                            <a:outerShdw blurRad="38100" dist="38100" dir="2700000" algn="tl">
                              <a:srgbClr val="000000"/>
                            </a:outerShdw>
                          </a:effectLst>
                          <a:latin typeface="宋体" pitchFamily="2" charset="-122"/>
                          <a:ea typeface="宋体" pitchFamily="2" charset="-122"/>
                        </a:rPr>
                        <a:t>7.34 </a:t>
                      </a:r>
                      <a:endParaRPr kumimoji="0" lang="en-US" altLang="zh-CN" sz="1600" b="1"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3.61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35300">
                <a:tc>
                  <a:txBody>
                    <a:bodyPr/>
                    <a:lstStyle/>
                    <a:p>
                      <a:pPr marL="342900" marR="0" lvl="0" indent="-342900" algn="l" defTabSz="914400" rtl="0" eaLnBrk="1" fontAlgn="ctr" latinLnBrk="0" hangingPunct="1">
                        <a:lnSpc>
                          <a:spcPct val="100000"/>
                        </a:lnSpc>
                        <a:spcBef>
                          <a:spcPct val="0"/>
                        </a:spcBef>
                        <a:spcAft>
                          <a:spcPct val="0"/>
                        </a:spcAft>
                        <a:buClrTx/>
                        <a:buSzPct val="90000"/>
                        <a:buFontTx/>
                        <a:buNone/>
                        <a:tabLst/>
                      </a:pPr>
                      <a:r>
                        <a:rPr kumimoji="0" lang="zh-CN" altLang="en-US"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总和</a:t>
                      </a:r>
                      <a:endParaRPr kumimoji="0" lang="zh-CN" altLang="en-US"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dirty="0">
                          <a:ln>
                            <a:noFill/>
                          </a:ln>
                          <a:solidFill>
                            <a:schemeClr val="tx1"/>
                          </a:solidFill>
                          <a:effectLst>
                            <a:outerShdw blurRad="38100" dist="38100" dir="2700000" algn="tl">
                              <a:srgbClr val="000000"/>
                            </a:outerShdw>
                          </a:effectLst>
                          <a:latin typeface="宋体" pitchFamily="2" charset="-122"/>
                          <a:ea typeface="宋体" pitchFamily="2" charset="-122"/>
                        </a:rPr>
                        <a:t>133.3 </a:t>
                      </a:r>
                      <a:endParaRPr kumimoji="0" lang="en-US" altLang="zh-CN" sz="1600" b="1"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155.7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3323.19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3056.16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3619.11 </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541371">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endParaRPr kumimoji="0" lang="zh-CN"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Pct val="90000"/>
                        <a:buFontTx/>
                        <a:buNone/>
                        <a:tabLst/>
                      </a:pPr>
                      <a:r>
                        <a:rPr kumimoji="0" lang="en-US" altLang="zh-CN" sz="1600" b="1" i="0" u="none" strike="noStrike" cap="none" normalizeH="0" baseline="0">
                          <a:ln>
                            <a:noFill/>
                          </a:ln>
                          <a:solidFill>
                            <a:schemeClr val="tx1"/>
                          </a:solidFill>
                          <a:effectLst>
                            <a:outerShdw blurRad="38100" dist="38100" dir="2700000" algn="tl">
                              <a:srgbClr val="000000"/>
                            </a:outerShdw>
                          </a:effectLst>
                          <a:latin typeface="宋体" pitchFamily="2" charset="-122"/>
                          <a:ea typeface="宋体" pitchFamily="2" charset="-122"/>
                        </a:rPr>
                        <a:t>21611.16</a:t>
                      </a:r>
                      <a:endParaRPr kumimoji="0" lang="en-US"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endParaRPr kumimoji="0" lang="zh-CN"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endParaRPr kumimoji="0" lang="zh-CN"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endParaRPr kumimoji="0" lang="zh-CN"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endParaRPr kumimoji="0" lang="zh-CN" altLang="zh-CN" sz="1600" b="1"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bl>
          </a:graphicData>
        </a:graphic>
      </p:graphicFrame>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411" name="Object 1028">
            <a:extLst>
              <a:ext uri="{FF2B5EF4-FFF2-40B4-BE49-F238E27FC236}">
                <a16:creationId xmlns:a16="http://schemas.microsoft.com/office/drawing/2014/main" id="{FFB3BA8B-6FEF-4434-9350-640C7D1D2B20}"/>
              </a:ext>
            </a:extLst>
          </p:cNvPr>
          <p:cNvGraphicFramePr>
            <a:graphicFrameLocks noGrp="1" noChangeAspect="1"/>
          </p:cNvGraphicFramePr>
          <p:nvPr>
            <p:ph idx="1"/>
            <p:extLst>
              <p:ext uri="{D42A27DB-BD31-4B8C-83A1-F6EECF244321}">
                <p14:modId xmlns:p14="http://schemas.microsoft.com/office/powerpoint/2010/main" val="1597047165"/>
              </p:ext>
            </p:extLst>
          </p:nvPr>
        </p:nvGraphicFramePr>
        <p:xfrm>
          <a:off x="971600" y="1268760"/>
          <a:ext cx="7920037" cy="5026025"/>
        </p:xfrm>
        <a:graphic>
          <a:graphicData uri="http://schemas.openxmlformats.org/presentationml/2006/ole">
            <mc:AlternateContent xmlns:mc="http://schemas.openxmlformats.org/markup-compatibility/2006">
              <mc:Choice xmlns:v="urn:schemas-microsoft-com:vml" Requires="v">
                <p:oleObj spid="_x0000_s17458" name="公式" r:id="rId3" imgW="3162300" imgH="2006600" progId="Equation.3">
                  <p:embed/>
                </p:oleObj>
              </mc:Choice>
              <mc:Fallback>
                <p:oleObj name="公式" r:id="rId3" imgW="3162300" imgH="2006600" progId="Equation.3">
                  <p:embed/>
                  <p:pic>
                    <p:nvPicPr>
                      <p:cNvPr id="0" name="Object 10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600" y="1268760"/>
                        <a:ext cx="7920037" cy="5026025"/>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Rectangle 16">
            <a:extLst>
              <a:ext uri="{FF2B5EF4-FFF2-40B4-BE49-F238E27FC236}">
                <a16:creationId xmlns:a16="http://schemas.microsoft.com/office/drawing/2014/main" id="{B5FFEF9F-0864-4792-A710-2C8A59362299}"/>
              </a:ext>
            </a:extLst>
          </p:cNvPr>
          <p:cNvSpPr>
            <a:spLocks noGrp="1" noChangeArrowheads="1"/>
          </p:cNvSpPr>
          <p:nvPr>
            <p:ph type="title"/>
          </p:nvPr>
        </p:nvSpPr>
        <p:spPr>
          <a:xfrm>
            <a:off x="457200" y="277813"/>
            <a:ext cx="8229600" cy="1143000"/>
          </a:xfrm>
        </p:spPr>
        <p:txBody>
          <a:bodyPr/>
          <a:lstStyle/>
          <a:p>
            <a:pPr eaLnBrk="1" hangingPunct="1"/>
            <a:r>
              <a:rPr lang="en-US" altLang="zh-CN" dirty="0"/>
              <a:t>3.2.1</a:t>
            </a:r>
            <a:r>
              <a:rPr lang="zh-CN" altLang="en-US" dirty="0"/>
              <a:t>一般常用相关系数的计算</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9A9B6A0-BC46-45B7-A010-1E72CAD6AF83}"/>
              </a:ext>
            </a:extLst>
          </p:cNvPr>
          <p:cNvSpPr>
            <a:spLocks noGrp="1" noChangeArrowheads="1"/>
          </p:cNvSpPr>
          <p:nvPr>
            <p:ph type="title"/>
          </p:nvPr>
        </p:nvSpPr>
        <p:spPr>
          <a:xfrm>
            <a:off x="179512" y="1196752"/>
            <a:ext cx="4114800" cy="533400"/>
          </a:xfrm>
        </p:spPr>
        <p:txBody>
          <a:bodyPr/>
          <a:lstStyle/>
          <a:p>
            <a:pPr eaLnBrk="1" hangingPunct="1">
              <a:buClr>
                <a:schemeClr val="accent2"/>
              </a:buClr>
              <a:buSzPct val="150000"/>
            </a:pPr>
            <a:r>
              <a:rPr lang="zh-CN" altLang="en-US" sz="2800" b="1" dirty="0">
                <a:solidFill>
                  <a:srgbClr val="FF0000"/>
                </a:solidFill>
                <a:latin typeface="Times New Roman" panose="02020603050405020304" pitchFamily="18" charset="0"/>
              </a:rPr>
              <a:t>相关系数的检验：</a:t>
            </a:r>
            <a:endParaRPr lang="zh-CN" altLang="en-US" b="1" dirty="0">
              <a:solidFill>
                <a:srgbClr val="FF0000"/>
              </a:solidFill>
            </a:endParaRPr>
          </a:p>
        </p:txBody>
      </p:sp>
      <p:sp>
        <p:nvSpPr>
          <p:cNvPr id="21507" name="Text Box 3">
            <a:extLst>
              <a:ext uri="{FF2B5EF4-FFF2-40B4-BE49-F238E27FC236}">
                <a16:creationId xmlns:a16="http://schemas.microsoft.com/office/drawing/2014/main" id="{14990233-B7BD-4B40-9A1B-619A7CC0F154}"/>
              </a:ext>
            </a:extLst>
          </p:cNvPr>
          <p:cNvSpPr txBox="1">
            <a:spLocks noChangeArrowheads="1"/>
          </p:cNvSpPr>
          <p:nvPr/>
        </p:nvSpPr>
        <p:spPr bwMode="auto">
          <a:xfrm>
            <a:off x="755576" y="1994693"/>
            <a:ext cx="7920880" cy="289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dirty="0">
                <a:latin typeface="宋体" panose="02010600030101010101" pitchFamily="2" charset="-122"/>
              </a:rPr>
              <a:t>     </a:t>
            </a:r>
            <a:r>
              <a:rPr kumimoji="1" lang="zh-CN" altLang="en-US" sz="2800" dirty="0">
                <a:latin typeface="宋体" panose="02010600030101010101" pitchFamily="2" charset="-122"/>
              </a:rPr>
              <a:t>相关系数是根据要素之间的样本值计算出来，</a:t>
            </a:r>
            <a:r>
              <a:rPr kumimoji="1" lang="zh-CN" altLang="en-US" sz="2800" dirty="0">
                <a:solidFill>
                  <a:srgbClr val="FF0000"/>
                </a:solidFill>
                <a:latin typeface="宋体" panose="02010600030101010101" pitchFamily="2" charset="-122"/>
              </a:rPr>
              <a:t>它随着样本数的多少或取样方式的不同而不同，因此它只是要素之间的样本相关系数，只有通过检验，才能知道它的可信度。</a:t>
            </a:r>
          </a:p>
          <a:p>
            <a:pPr eaLnBrk="1" hangingPunct="1">
              <a:spcBef>
                <a:spcPct val="50000"/>
              </a:spcBef>
            </a:pPr>
            <a:r>
              <a:rPr kumimoji="1" lang="zh-CN" altLang="en-US" sz="2800" dirty="0">
                <a:latin typeface="宋体" panose="02010600030101010101" pitchFamily="2" charset="-122"/>
              </a:rPr>
              <a:t>    检验是通过在给定的置信水平下，查相关系数检验的临界值表来实现的。</a:t>
            </a:r>
            <a:endParaRPr kumimoji="1" lang="zh-CN" altLang="en-US" sz="2800" dirty="0"/>
          </a:p>
        </p:txBody>
      </p:sp>
      <p:sp>
        <p:nvSpPr>
          <p:cNvPr id="4" name="Rectangle 16">
            <a:extLst>
              <a:ext uri="{FF2B5EF4-FFF2-40B4-BE49-F238E27FC236}">
                <a16:creationId xmlns:a16="http://schemas.microsoft.com/office/drawing/2014/main" id="{DD5A1F0C-332E-4058-BDD2-411249C7EB4B}"/>
              </a:ext>
            </a:extLst>
          </p:cNvPr>
          <p:cNvSpPr txBox="1">
            <a:spLocks noChangeArrowheads="1"/>
          </p:cNvSpPr>
          <p:nvPr/>
        </p:nvSpPr>
        <p:spPr bwMode="auto">
          <a:xfrm>
            <a:off x="35808" y="-65087"/>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a:lstStyle>
          <a:p>
            <a:pPr eaLnBrk="1" hangingPunct="1"/>
            <a:r>
              <a:rPr lang="en-US" altLang="zh-CN" dirty="0"/>
              <a:t>3.2.1</a:t>
            </a:r>
            <a:r>
              <a:rPr lang="zh-CN" altLang="en-US" dirty="0"/>
              <a:t>一般常用相关系数的计算</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2">
            <a:extLst>
              <a:ext uri="{FF2B5EF4-FFF2-40B4-BE49-F238E27FC236}">
                <a16:creationId xmlns:a16="http://schemas.microsoft.com/office/drawing/2014/main" id="{3679C8ED-6DC2-46DF-BB5D-A625245B1D85}"/>
              </a:ext>
            </a:extLst>
          </p:cNvPr>
          <p:cNvSpPr>
            <a:spLocks noChangeArrowheads="1"/>
          </p:cNvSpPr>
          <p:nvPr/>
        </p:nvSpPr>
        <p:spPr bwMode="auto">
          <a:xfrm>
            <a:off x="1295400" y="1066800"/>
            <a:ext cx="701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latin typeface="宋体" panose="02010600030101010101" pitchFamily="2" charset="-122"/>
              </a:rPr>
              <a:t>表</a:t>
            </a:r>
            <a:r>
              <a:rPr kumimoji="1" lang="en-US" altLang="zh-CN" sz="2400" b="1">
                <a:latin typeface="宋体" panose="02010600030101010101" pitchFamily="2" charset="-122"/>
              </a:rPr>
              <a:t>3.1.3  </a:t>
            </a:r>
            <a:r>
              <a:rPr kumimoji="1" lang="zh-CN" altLang="en-US" sz="2400" b="1">
                <a:latin typeface="宋体" panose="02010600030101010101" pitchFamily="2" charset="-122"/>
              </a:rPr>
              <a:t>检验相关系数       的临界值（  ）表</a:t>
            </a:r>
            <a:r>
              <a:rPr kumimoji="1" lang="zh-CN" altLang="en-US" sz="1400">
                <a:latin typeface="Times New Roman" panose="02020603050405020304" pitchFamily="18" charset="0"/>
              </a:rPr>
              <a:t> </a:t>
            </a:r>
            <a:endParaRPr kumimoji="1" lang="zh-CN" altLang="en-US" sz="2400">
              <a:latin typeface="Times New Roman" panose="02020603050405020304" pitchFamily="18" charset="0"/>
            </a:endParaRPr>
          </a:p>
        </p:txBody>
      </p:sp>
      <p:graphicFrame>
        <p:nvGraphicFramePr>
          <p:cNvPr id="22531" name="Object 34">
            <a:extLst>
              <a:ext uri="{FF2B5EF4-FFF2-40B4-BE49-F238E27FC236}">
                <a16:creationId xmlns:a16="http://schemas.microsoft.com/office/drawing/2014/main" id="{BCD85050-860D-4FD1-BB28-FB30E7A544ED}"/>
              </a:ext>
            </a:extLst>
          </p:cNvPr>
          <p:cNvGraphicFramePr>
            <a:graphicFrameLocks noChangeAspect="1"/>
          </p:cNvGraphicFramePr>
          <p:nvPr/>
        </p:nvGraphicFramePr>
        <p:xfrm>
          <a:off x="7178675" y="990600"/>
          <a:ext cx="398463" cy="609600"/>
        </p:xfrm>
        <a:graphic>
          <a:graphicData uri="http://schemas.openxmlformats.org/presentationml/2006/ole">
            <mc:AlternateContent xmlns:mc="http://schemas.openxmlformats.org/markup-compatibility/2006">
              <mc:Choice xmlns:v="urn:schemas-microsoft-com:vml" Requires="v">
                <p:oleObj spid="_x0000_s22694" name="公式" r:id="rId3" imgW="152334" imgH="228501" progId="Equation.3">
                  <p:embed/>
                </p:oleObj>
              </mc:Choice>
              <mc:Fallback>
                <p:oleObj name="公式" r:id="rId3" imgW="152334" imgH="228501" progId="Equation.3">
                  <p:embed/>
                  <p:pic>
                    <p:nvPicPr>
                      <p:cNvPr id="0" name="Object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78675" y="990600"/>
                        <a:ext cx="398463" cy="609600"/>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32" name="Object 36">
            <a:extLst>
              <a:ext uri="{FF2B5EF4-FFF2-40B4-BE49-F238E27FC236}">
                <a16:creationId xmlns:a16="http://schemas.microsoft.com/office/drawing/2014/main" id="{0628CA4C-7810-47A9-9098-A61C82485E86}"/>
              </a:ext>
            </a:extLst>
          </p:cNvPr>
          <p:cNvGraphicFramePr>
            <a:graphicFrameLocks noChangeAspect="1"/>
          </p:cNvGraphicFramePr>
          <p:nvPr/>
        </p:nvGraphicFramePr>
        <p:xfrm>
          <a:off x="3657600" y="1600200"/>
          <a:ext cx="2362200" cy="560388"/>
        </p:xfrm>
        <a:graphic>
          <a:graphicData uri="http://schemas.openxmlformats.org/presentationml/2006/ole">
            <mc:AlternateContent xmlns:mc="http://schemas.openxmlformats.org/markup-compatibility/2006">
              <mc:Choice xmlns:v="urn:schemas-microsoft-com:vml" Requires="v">
                <p:oleObj spid="_x0000_s22695" r:id="rId5" imgW="965200" imgH="228600" progId="Equation.3">
                  <p:embed/>
                </p:oleObj>
              </mc:Choice>
              <mc:Fallback>
                <p:oleObj r:id="rId5" imgW="965200" imgH="228600" progId="Equation.3">
                  <p:embed/>
                  <p:pic>
                    <p:nvPicPr>
                      <p:cNvPr id="0" name="Object 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7600" y="1600200"/>
                        <a:ext cx="2362200" cy="560388"/>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33" name="Object 33">
            <a:extLst>
              <a:ext uri="{FF2B5EF4-FFF2-40B4-BE49-F238E27FC236}">
                <a16:creationId xmlns:a16="http://schemas.microsoft.com/office/drawing/2014/main" id="{7F1AF36F-C802-4AAA-9128-E88D050BD5D8}"/>
              </a:ext>
            </a:extLst>
          </p:cNvPr>
          <p:cNvGraphicFramePr>
            <a:graphicFrameLocks noChangeAspect="1"/>
          </p:cNvGraphicFramePr>
          <p:nvPr/>
        </p:nvGraphicFramePr>
        <p:xfrm>
          <a:off x="4714875" y="1000125"/>
          <a:ext cx="990600" cy="508000"/>
        </p:xfrm>
        <a:graphic>
          <a:graphicData uri="http://schemas.openxmlformats.org/presentationml/2006/ole">
            <mc:AlternateContent xmlns:mc="http://schemas.openxmlformats.org/markup-compatibility/2006">
              <mc:Choice xmlns:v="urn:schemas-microsoft-com:vml" Requires="v">
                <p:oleObj spid="_x0000_s22696" r:id="rId7" imgW="393529" imgH="203112" progId="Equation.3">
                  <p:embed/>
                </p:oleObj>
              </mc:Choice>
              <mc:Fallback>
                <p:oleObj r:id="rId7" imgW="393529" imgH="203112" progId="Equation.3">
                  <p:embed/>
                  <p:pic>
                    <p:nvPicPr>
                      <p:cNvPr id="0" name="Object 3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14875" y="1000125"/>
                        <a:ext cx="990600" cy="508000"/>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0696" name="Group 8">
            <a:extLst>
              <a:ext uri="{FF2B5EF4-FFF2-40B4-BE49-F238E27FC236}">
                <a16:creationId xmlns:a16="http://schemas.microsoft.com/office/drawing/2014/main" id="{ED6701F9-B06D-4822-8DF1-7976E39B0F76}"/>
              </a:ext>
            </a:extLst>
          </p:cNvPr>
          <p:cNvGraphicFramePr>
            <a:graphicFrameLocks noGrp="1"/>
          </p:cNvGraphicFramePr>
          <p:nvPr/>
        </p:nvGraphicFramePr>
        <p:xfrm>
          <a:off x="228600" y="2286000"/>
          <a:ext cx="8915400" cy="3889375"/>
        </p:xfrm>
        <a:graphic>
          <a:graphicData uri="http://schemas.openxmlformats.org/drawingml/2006/table">
            <a:tbl>
              <a:tblPr/>
              <a:tblGrid>
                <a:gridCol w="1409700">
                  <a:extLst>
                    <a:ext uri="{9D8B030D-6E8A-4147-A177-3AD203B41FA5}">
                      <a16:colId xmlns:a16="http://schemas.microsoft.com/office/drawing/2014/main" val="20000"/>
                    </a:ext>
                  </a:extLst>
                </a:gridCol>
                <a:gridCol w="1501775">
                  <a:extLst>
                    <a:ext uri="{9D8B030D-6E8A-4147-A177-3AD203B41FA5}">
                      <a16:colId xmlns:a16="http://schemas.microsoft.com/office/drawing/2014/main" val="20001"/>
                    </a:ext>
                  </a:extLst>
                </a:gridCol>
                <a:gridCol w="1501775">
                  <a:extLst>
                    <a:ext uri="{9D8B030D-6E8A-4147-A177-3AD203B41FA5}">
                      <a16:colId xmlns:a16="http://schemas.microsoft.com/office/drawing/2014/main" val="20002"/>
                    </a:ext>
                  </a:extLst>
                </a:gridCol>
                <a:gridCol w="1500188">
                  <a:extLst>
                    <a:ext uri="{9D8B030D-6E8A-4147-A177-3AD203B41FA5}">
                      <a16:colId xmlns:a16="http://schemas.microsoft.com/office/drawing/2014/main" val="20003"/>
                    </a:ext>
                  </a:extLst>
                </a:gridCol>
                <a:gridCol w="1501775">
                  <a:extLst>
                    <a:ext uri="{9D8B030D-6E8A-4147-A177-3AD203B41FA5}">
                      <a16:colId xmlns:a16="http://schemas.microsoft.com/office/drawing/2014/main" val="20004"/>
                    </a:ext>
                  </a:extLst>
                </a:gridCol>
                <a:gridCol w="1500187">
                  <a:extLst>
                    <a:ext uri="{9D8B030D-6E8A-4147-A177-3AD203B41FA5}">
                      <a16:colId xmlns:a16="http://schemas.microsoft.com/office/drawing/2014/main" val="20005"/>
                    </a:ext>
                  </a:extLst>
                </a:gridCol>
              </a:tblGrid>
              <a:tr h="33529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endParaRPr kumimoji="0" lang="zh-CN"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0.10</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0.05</a:t>
                      </a:r>
                      <a:endParaRPr kumimoji="0" lang="en-US" altLang="zh-CN" sz="16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0.02</a:t>
                      </a:r>
                      <a:endParaRPr kumimoji="0" lang="en-US" altLang="zh-CN" sz="16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0.01</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   0.001</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54084">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1</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2</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3</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4</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5</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6</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7</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3</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9</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10</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11</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12</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0.93769</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0.90000</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0.3054</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0.7293</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0.6694</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0.6215</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0.5322</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0.5494</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0.5214</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0.4973</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0.4762</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0.4575  </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0.99692</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0.95000</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0.3733</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0.3114</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0.7545</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0.7067</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0.6664</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0.6319</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0.6021</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0.5760</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0.5529</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0.5324</a:t>
                      </a:r>
                      <a:r>
                        <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rPr>
                        <a:t>  </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0.999507</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0.93000</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0.93433</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0.3322</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0.3329</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0.7337</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0.7493</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0.7155</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0.6351</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0.6531</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0.6339</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0.6120</a:t>
                      </a:r>
                      <a:r>
                        <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rPr>
                        <a:t>  </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0.999377</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0.99000</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0.95373</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0.91720</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0.3745</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0.3343</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0.7977</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0.7646</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0.7343</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0.7079</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0.6335</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0.6614</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0.999993</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0.999000</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0.991160</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0.97406</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0.95074</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0.92493</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0.3932</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0.3721</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0.3471</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0.3233</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0.3010</a:t>
                      </a:r>
                      <a:endParaRPr kumimoji="0" lang="en-US" altLang="zh-CN" sz="16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6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0.7300</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 name="Rectangle 16">
            <a:extLst>
              <a:ext uri="{FF2B5EF4-FFF2-40B4-BE49-F238E27FC236}">
                <a16:creationId xmlns:a16="http://schemas.microsoft.com/office/drawing/2014/main" id="{4D803D21-CCAF-49D5-B292-8C5C56D1EC93}"/>
              </a:ext>
            </a:extLst>
          </p:cNvPr>
          <p:cNvSpPr txBox="1">
            <a:spLocks noChangeArrowheads="1"/>
          </p:cNvSpPr>
          <p:nvPr/>
        </p:nvSpPr>
        <p:spPr bwMode="auto">
          <a:xfrm>
            <a:off x="228600" y="277813"/>
            <a:ext cx="8458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r>
              <a:rPr lang="en-US" altLang="zh-CN" dirty="0"/>
              <a:t>3.2.1</a:t>
            </a:r>
            <a:r>
              <a:rPr lang="zh-CN" altLang="en-US" dirty="0"/>
              <a:t>一般常用相关系数的计算</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a:extLst>
              <a:ext uri="{FF2B5EF4-FFF2-40B4-BE49-F238E27FC236}">
                <a16:creationId xmlns:a16="http://schemas.microsoft.com/office/drawing/2014/main" id="{F08FA428-0D11-4E13-AA5C-33CB2F8DF117}"/>
              </a:ext>
            </a:extLst>
          </p:cNvPr>
          <p:cNvSpPr>
            <a:spLocks noGrp="1" noChangeArrowheads="1"/>
          </p:cNvSpPr>
          <p:nvPr>
            <p:ph/>
          </p:nvPr>
        </p:nvSpPr>
        <p:spPr>
          <a:xfrm>
            <a:off x="755650" y="1341438"/>
            <a:ext cx="8083550" cy="3581400"/>
          </a:xfrm>
        </p:spPr>
        <p:txBody>
          <a:bodyPr/>
          <a:lstStyle/>
          <a:p>
            <a:pPr eaLnBrk="1" hangingPunct="1">
              <a:lnSpc>
                <a:spcPct val="120000"/>
              </a:lnSpc>
              <a:spcBef>
                <a:spcPct val="0"/>
              </a:spcBef>
              <a:buFontTx/>
              <a:buNone/>
            </a:pPr>
            <a:r>
              <a:rPr lang="en-US" altLang="zh-CN" sz="2800">
                <a:latin typeface="宋体" panose="02010600030101010101" pitchFamily="2" charset="-122"/>
              </a:rPr>
              <a:t>      </a:t>
            </a:r>
            <a:endParaRPr lang="en-US" altLang="zh-CN" sz="2400">
              <a:latin typeface="宋体" panose="02010600030101010101" pitchFamily="2" charset="-122"/>
            </a:endParaRPr>
          </a:p>
        </p:txBody>
      </p:sp>
      <p:sp>
        <p:nvSpPr>
          <p:cNvPr id="371724" name="Rectangle 12">
            <a:extLst>
              <a:ext uri="{FF2B5EF4-FFF2-40B4-BE49-F238E27FC236}">
                <a16:creationId xmlns:a16="http://schemas.microsoft.com/office/drawing/2014/main" id="{A1F6D4DE-4899-458E-A2E5-B0B5613E0A18}"/>
              </a:ext>
            </a:extLst>
          </p:cNvPr>
          <p:cNvSpPr>
            <a:spLocks noChangeArrowheads="1"/>
          </p:cNvSpPr>
          <p:nvPr/>
        </p:nvSpPr>
        <p:spPr bwMode="auto">
          <a:xfrm>
            <a:off x="233363" y="692150"/>
            <a:ext cx="8083550" cy="5448300"/>
          </a:xfrm>
          <a:prstGeom prst="rect">
            <a:avLst/>
          </a:prstGeom>
          <a:noFill/>
          <a:ln w="9525">
            <a:noFill/>
            <a:miter lim="800000"/>
            <a:headEnd/>
            <a:tailEnd/>
          </a:ln>
          <a:effectLst/>
        </p:spPr>
        <p:txBody>
          <a:bodyPr wrap="square">
            <a:spAutoFit/>
          </a:bodyPr>
          <a:lstStyle/>
          <a:p>
            <a:pPr>
              <a:lnSpc>
                <a:spcPct val="90000"/>
              </a:lnSpc>
              <a:spcBef>
                <a:spcPct val="20000"/>
              </a:spcBef>
              <a:buClr>
                <a:schemeClr val="hlink"/>
              </a:buClr>
              <a:buSzPct val="90000"/>
              <a:buFont typeface="Wingdings" pitchFamily="2" charset="2"/>
              <a:buBlip>
                <a:blip r:embed="rId2"/>
              </a:buBlip>
              <a:defRPr/>
            </a:pPr>
            <a:r>
              <a:rPr lang="zh-CN" altLang="en-US" sz="3200" dirty="0">
                <a:effectLst>
                  <a:outerShdw blurRad="38100" dist="38100" dir="2700000" algn="tl">
                    <a:srgbClr val="000000"/>
                  </a:outerShdw>
                </a:effectLst>
              </a:rPr>
              <a:t>检验相关系数</a:t>
            </a:r>
            <a:r>
              <a:rPr lang="en-US" altLang="zh-CN" sz="3200" dirty="0">
                <a:effectLst>
                  <a:outerShdw blurRad="38100" dist="38100" dir="2700000" algn="tl">
                    <a:srgbClr val="000000"/>
                  </a:outerShdw>
                </a:effectLst>
              </a:rPr>
              <a:t>ρ</a:t>
            </a:r>
            <a:r>
              <a:rPr lang="zh-CN" altLang="en-US" sz="3200" dirty="0">
                <a:effectLst>
                  <a:outerShdw blurRad="38100" dist="38100" dir="2700000" algn="tl">
                    <a:srgbClr val="000000"/>
                  </a:outerShdw>
                </a:effectLst>
              </a:rPr>
              <a:t>＝</a:t>
            </a:r>
            <a:r>
              <a:rPr lang="en-US" altLang="zh-CN" sz="3200" dirty="0">
                <a:effectLst>
                  <a:outerShdw blurRad="38100" dist="38100" dir="2700000" algn="tl">
                    <a:srgbClr val="000000"/>
                  </a:outerShdw>
                </a:effectLst>
              </a:rPr>
              <a:t>0</a:t>
            </a:r>
            <a:r>
              <a:rPr lang="zh-CN" altLang="en-US" sz="3200" dirty="0">
                <a:effectLst>
                  <a:outerShdw blurRad="38100" dist="38100" dir="2700000" algn="tl">
                    <a:srgbClr val="000000"/>
                  </a:outerShdw>
                </a:effectLst>
              </a:rPr>
              <a:t>的临界值（</a:t>
            </a:r>
            <a:r>
              <a:rPr lang="en-US" altLang="zh-CN" sz="3200" dirty="0">
                <a:effectLst>
                  <a:outerShdw blurRad="38100" dist="38100" dir="2700000" algn="tl">
                    <a:srgbClr val="000000"/>
                  </a:outerShdw>
                </a:effectLst>
              </a:rPr>
              <a:t>r</a:t>
            </a:r>
            <a:r>
              <a:rPr lang="en-US" altLang="zh-CN" sz="3200" baseline="-25000" dirty="0">
                <a:effectLst>
                  <a:outerShdw blurRad="38100" dist="38100" dir="2700000" algn="tl">
                    <a:srgbClr val="000000"/>
                  </a:outerShdw>
                </a:effectLst>
              </a:rPr>
              <a:t>α</a:t>
            </a:r>
            <a:r>
              <a:rPr lang="zh-CN" altLang="en-US" sz="3200" dirty="0">
                <a:effectLst>
                  <a:outerShdw blurRad="38100" dist="38100" dir="2700000" algn="tl">
                    <a:srgbClr val="000000"/>
                  </a:outerShdw>
                </a:effectLst>
              </a:rPr>
              <a:t>）表</a:t>
            </a:r>
          </a:p>
          <a:p>
            <a:pPr lvl="1">
              <a:lnSpc>
                <a:spcPct val="90000"/>
              </a:lnSpc>
              <a:spcBef>
                <a:spcPct val="20000"/>
              </a:spcBef>
              <a:buFontTx/>
              <a:buChar char="–"/>
              <a:defRPr/>
            </a:pPr>
            <a:r>
              <a:rPr lang="zh-CN" altLang="en-US" sz="2800" dirty="0">
                <a:effectLst>
                  <a:outerShdw blurRad="38100" dist="38100" dir="2700000" algn="tl">
                    <a:srgbClr val="000000"/>
                  </a:outerShdw>
                </a:effectLst>
              </a:rPr>
              <a:t>左边的</a:t>
            </a:r>
            <a:r>
              <a:rPr lang="en-US" altLang="zh-CN" sz="2800" dirty="0">
                <a:effectLst>
                  <a:outerShdw blurRad="38100" dist="38100" dir="2700000" algn="tl">
                    <a:srgbClr val="000000"/>
                  </a:outerShdw>
                </a:effectLst>
              </a:rPr>
              <a:t>f </a:t>
            </a:r>
            <a:r>
              <a:rPr lang="zh-CN" altLang="en-US" sz="2800" dirty="0">
                <a:effectLst>
                  <a:outerShdw blurRad="38100" dist="38100" dir="2700000" algn="tl">
                    <a:srgbClr val="000000"/>
                  </a:outerShdw>
                </a:effectLst>
              </a:rPr>
              <a:t>值称为自由度，其数值为</a:t>
            </a:r>
            <a:r>
              <a:rPr lang="en-US" altLang="zh-CN" sz="2800" dirty="0">
                <a:effectLst>
                  <a:outerShdw blurRad="38100" dist="38100" dir="2700000" algn="tl">
                    <a:srgbClr val="000000"/>
                  </a:outerShdw>
                </a:effectLst>
              </a:rPr>
              <a:t>f=n-2</a:t>
            </a:r>
            <a:r>
              <a:rPr lang="zh-CN" altLang="en-US" sz="2800" dirty="0">
                <a:effectLst>
                  <a:outerShdw blurRad="38100" dist="38100" dir="2700000" algn="tl">
                    <a:srgbClr val="000000"/>
                  </a:outerShdw>
                </a:effectLst>
              </a:rPr>
              <a:t>，这里</a:t>
            </a:r>
            <a:r>
              <a:rPr lang="en-US" altLang="zh-CN" sz="2800" dirty="0">
                <a:effectLst>
                  <a:outerShdw blurRad="38100" dist="38100" dir="2700000" algn="tl">
                    <a:srgbClr val="000000"/>
                  </a:outerShdw>
                </a:effectLst>
              </a:rPr>
              <a:t>n </a:t>
            </a:r>
            <a:r>
              <a:rPr lang="zh-CN" altLang="en-US" sz="2800" dirty="0">
                <a:effectLst>
                  <a:outerShdw blurRad="38100" dist="38100" dir="2700000" algn="tl">
                    <a:srgbClr val="000000"/>
                  </a:outerShdw>
                </a:effectLst>
              </a:rPr>
              <a:t>为样本数；上方的</a:t>
            </a:r>
            <a:r>
              <a:rPr lang="en-US" altLang="zh-CN" sz="2800" dirty="0">
                <a:effectLst>
                  <a:outerShdw blurRad="38100" dist="38100" dir="2700000" algn="tl">
                    <a:srgbClr val="000000"/>
                  </a:outerShdw>
                </a:effectLst>
              </a:rPr>
              <a:t>α</a:t>
            </a:r>
            <a:r>
              <a:rPr lang="zh-CN" altLang="en-US" sz="2800" dirty="0">
                <a:effectLst>
                  <a:outerShdw blurRad="38100" dist="38100" dir="2700000" algn="tl">
                    <a:srgbClr val="000000"/>
                  </a:outerShdw>
                </a:effectLst>
              </a:rPr>
              <a:t>代表不同的置信水平；表内的数值代表不同的置信水平下相关系数</a:t>
            </a:r>
            <a:r>
              <a:rPr lang="en-US" altLang="zh-CN" sz="2800" dirty="0">
                <a:effectLst>
                  <a:outerShdw blurRad="38100" dist="38100" dir="2700000" algn="tl">
                    <a:srgbClr val="000000"/>
                  </a:outerShdw>
                </a:effectLst>
              </a:rPr>
              <a:t>ρ=0 </a:t>
            </a:r>
            <a:r>
              <a:rPr lang="zh-CN" altLang="en-US" sz="2800" dirty="0">
                <a:effectLst>
                  <a:outerShdw blurRad="38100" dist="38100" dir="2700000" algn="tl">
                    <a:srgbClr val="000000"/>
                  </a:outerShdw>
                </a:effectLst>
              </a:rPr>
              <a:t>的临界值，即</a:t>
            </a:r>
            <a:r>
              <a:rPr lang="en-US" altLang="zh-CN" sz="2800" dirty="0" err="1">
                <a:effectLst>
                  <a:outerShdw blurRad="38100" dist="38100" dir="2700000" algn="tl">
                    <a:srgbClr val="000000"/>
                  </a:outerShdw>
                </a:effectLst>
              </a:rPr>
              <a:t>ra</a:t>
            </a:r>
            <a:r>
              <a:rPr lang="zh-CN" altLang="en-US" sz="2800" dirty="0">
                <a:effectLst>
                  <a:outerShdw blurRad="38100" dist="38100" dir="2700000" algn="tl">
                    <a:srgbClr val="000000"/>
                  </a:outerShdw>
                </a:effectLst>
              </a:rPr>
              <a:t>；公式</a:t>
            </a:r>
            <a:r>
              <a:rPr lang="en-US" altLang="zh-CN" sz="2800" dirty="0">
                <a:effectLst>
                  <a:outerShdw blurRad="38100" dist="38100" dir="2700000" algn="tl">
                    <a:srgbClr val="000000"/>
                  </a:outerShdw>
                </a:effectLst>
              </a:rPr>
              <a:t>p=</a:t>
            </a:r>
            <a:r>
              <a:rPr lang="zh-CN" altLang="en-US" sz="2800" dirty="0">
                <a:effectLst>
                  <a:outerShdw blurRad="38100" dist="38100" dir="2700000" algn="tl">
                    <a:srgbClr val="000000"/>
                  </a:outerShdw>
                </a:effectLst>
              </a:rPr>
              <a:t>｛｜</a:t>
            </a:r>
            <a:r>
              <a:rPr lang="en-US" altLang="zh-CN" sz="2800" dirty="0">
                <a:effectLst>
                  <a:outerShdw blurRad="38100" dist="38100" dir="2700000" algn="tl">
                    <a:srgbClr val="000000"/>
                  </a:outerShdw>
                </a:effectLst>
              </a:rPr>
              <a:t>r</a:t>
            </a:r>
            <a:r>
              <a:rPr lang="zh-CN" altLang="en-US" sz="2800" dirty="0">
                <a:effectLst>
                  <a:outerShdw blurRad="38100" dist="38100" dir="2700000" algn="tl">
                    <a:srgbClr val="000000"/>
                  </a:outerShdw>
                </a:effectLst>
              </a:rPr>
              <a:t>｜＞ </a:t>
            </a:r>
            <a:r>
              <a:rPr lang="en-US" altLang="zh-CN" sz="2800" dirty="0">
                <a:effectLst>
                  <a:outerShdw blurRad="38100" dist="38100" dir="2700000" algn="tl">
                    <a:srgbClr val="000000"/>
                  </a:outerShdw>
                </a:effectLst>
              </a:rPr>
              <a:t>r</a:t>
            </a:r>
            <a:r>
              <a:rPr lang="en-US" altLang="zh-CN" sz="2800" baseline="-25000" dirty="0">
                <a:effectLst>
                  <a:outerShdw blurRad="38100" dist="38100" dir="2700000" algn="tl">
                    <a:srgbClr val="000000"/>
                  </a:outerShdw>
                </a:effectLst>
              </a:rPr>
              <a:t>α</a:t>
            </a:r>
            <a:r>
              <a:rPr lang="en-US" altLang="zh-CN" sz="2800" dirty="0">
                <a:effectLst>
                  <a:outerShdw blurRad="38100" dist="38100" dir="2700000" algn="tl">
                    <a:srgbClr val="000000"/>
                  </a:outerShdw>
                </a:effectLst>
              </a:rPr>
              <a:t> </a:t>
            </a:r>
            <a:r>
              <a:rPr lang="zh-CN" altLang="en-US" sz="2800" dirty="0">
                <a:effectLst>
                  <a:outerShdw blurRad="38100" dist="38100" dir="2700000" algn="tl">
                    <a:srgbClr val="000000"/>
                  </a:outerShdw>
                </a:effectLst>
              </a:rPr>
              <a:t>｝</a:t>
            </a:r>
            <a:r>
              <a:rPr lang="en-US" altLang="zh-CN" sz="2800" dirty="0">
                <a:effectLst>
                  <a:outerShdw blurRad="38100" dist="38100" dir="2700000" algn="tl">
                    <a:srgbClr val="000000"/>
                  </a:outerShdw>
                </a:effectLst>
              </a:rPr>
              <a:t>= α </a:t>
            </a:r>
            <a:r>
              <a:rPr lang="zh-CN" altLang="en-US" sz="2800" dirty="0">
                <a:effectLst>
                  <a:outerShdw blurRad="38100" dist="38100" dir="2700000" algn="tl">
                    <a:srgbClr val="000000"/>
                  </a:outerShdw>
                </a:effectLst>
              </a:rPr>
              <a:t>的意思是当所计算的相关系数</a:t>
            </a:r>
            <a:r>
              <a:rPr lang="en-US" altLang="zh-CN" sz="2800" dirty="0">
                <a:effectLst>
                  <a:outerShdw blurRad="38100" dist="38100" dir="2700000" algn="tl">
                    <a:srgbClr val="000000"/>
                  </a:outerShdw>
                </a:effectLst>
              </a:rPr>
              <a:t>r </a:t>
            </a:r>
            <a:r>
              <a:rPr lang="zh-CN" altLang="en-US" sz="2800" dirty="0">
                <a:effectLst>
                  <a:outerShdw blurRad="38100" dist="38100" dir="2700000" algn="tl">
                    <a:srgbClr val="000000"/>
                  </a:outerShdw>
                </a:effectLst>
              </a:rPr>
              <a:t>的绝对值大于在</a:t>
            </a:r>
            <a:r>
              <a:rPr lang="en-US" altLang="zh-CN" sz="2800" dirty="0">
                <a:effectLst>
                  <a:outerShdw blurRad="38100" dist="38100" dir="2700000" algn="tl">
                    <a:srgbClr val="000000"/>
                  </a:outerShdw>
                </a:effectLst>
              </a:rPr>
              <a:t>a </a:t>
            </a:r>
            <a:r>
              <a:rPr lang="zh-CN" altLang="en-US" sz="2800" dirty="0">
                <a:effectLst>
                  <a:outerShdw blurRad="38100" dist="38100" dir="2700000" algn="tl">
                    <a:srgbClr val="000000"/>
                  </a:outerShdw>
                </a:effectLst>
              </a:rPr>
              <a:t>水平下的临界值</a:t>
            </a:r>
            <a:r>
              <a:rPr lang="en-US" altLang="zh-CN" sz="2800" dirty="0">
                <a:effectLst>
                  <a:outerShdw blurRad="38100" dist="38100" dir="2700000" algn="tl">
                    <a:srgbClr val="000000"/>
                  </a:outerShdw>
                </a:effectLst>
              </a:rPr>
              <a:t>r</a:t>
            </a:r>
            <a:r>
              <a:rPr lang="en-US" altLang="zh-CN" sz="2800" baseline="-25000" dirty="0">
                <a:effectLst>
                  <a:outerShdw blurRad="38100" dist="38100" dir="2700000" algn="tl">
                    <a:srgbClr val="000000"/>
                  </a:outerShdw>
                </a:effectLst>
              </a:rPr>
              <a:t>α</a:t>
            </a:r>
            <a:r>
              <a:rPr lang="en-US" altLang="zh-CN" sz="2800" dirty="0">
                <a:effectLst>
                  <a:outerShdw blurRad="38100" dist="38100" dir="2700000" algn="tl">
                    <a:srgbClr val="000000"/>
                  </a:outerShdw>
                </a:effectLst>
              </a:rPr>
              <a:t>  </a:t>
            </a:r>
            <a:r>
              <a:rPr lang="zh-CN" altLang="en-US" sz="2800" dirty="0">
                <a:effectLst>
                  <a:outerShdw blurRad="38100" dist="38100" dir="2700000" algn="tl">
                    <a:srgbClr val="000000"/>
                  </a:outerShdw>
                </a:effectLst>
              </a:rPr>
              <a:t>时，两要素不相关（即</a:t>
            </a:r>
            <a:r>
              <a:rPr lang="en-US" altLang="zh-CN" sz="2800" dirty="0">
                <a:effectLst>
                  <a:outerShdw blurRad="38100" dist="38100" dir="2700000" algn="tl">
                    <a:srgbClr val="000000"/>
                  </a:outerShdw>
                </a:effectLst>
              </a:rPr>
              <a:t>ρ=0)</a:t>
            </a:r>
            <a:r>
              <a:rPr lang="zh-CN" altLang="en-US" sz="2800" dirty="0">
                <a:effectLst>
                  <a:outerShdw blurRad="38100" dist="38100" dir="2700000" algn="tl">
                    <a:srgbClr val="000000"/>
                  </a:outerShdw>
                </a:effectLst>
              </a:rPr>
              <a:t>的可能性只有</a:t>
            </a:r>
            <a:r>
              <a:rPr lang="en-US" altLang="zh-CN" sz="2800" dirty="0">
                <a:effectLst>
                  <a:outerShdw blurRad="38100" dist="38100" dir="2700000" algn="tl">
                    <a:srgbClr val="000000"/>
                  </a:outerShdw>
                </a:effectLst>
              </a:rPr>
              <a:t>a</a:t>
            </a:r>
            <a:r>
              <a:rPr lang="zh-CN" altLang="en-US" sz="2800" dirty="0">
                <a:effectLst>
                  <a:outerShdw blurRad="38100" dist="38100" dir="2700000" algn="tl">
                    <a:srgbClr val="000000"/>
                  </a:outerShdw>
                </a:effectLst>
              </a:rPr>
              <a:t>。</a:t>
            </a:r>
          </a:p>
          <a:p>
            <a:pPr lvl="1">
              <a:lnSpc>
                <a:spcPct val="90000"/>
              </a:lnSpc>
              <a:spcBef>
                <a:spcPct val="20000"/>
              </a:spcBef>
              <a:buFontTx/>
              <a:buChar char="–"/>
              <a:defRPr/>
            </a:pPr>
            <a:r>
              <a:rPr lang="zh-CN" altLang="en-US" sz="2800" dirty="0">
                <a:effectLst>
                  <a:outerShdw blurRad="38100" dist="38100" dir="2700000" algn="tl">
                    <a:srgbClr val="000000"/>
                  </a:outerShdw>
                </a:effectLst>
              </a:rPr>
              <a:t>一般而言，当｜</a:t>
            </a:r>
            <a:r>
              <a:rPr lang="en-US" altLang="zh-CN" sz="2800" dirty="0">
                <a:effectLst>
                  <a:outerShdw blurRad="38100" dist="38100" dir="2700000" algn="tl">
                    <a:srgbClr val="000000"/>
                  </a:outerShdw>
                </a:effectLst>
              </a:rPr>
              <a:t>r</a:t>
            </a:r>
            <a:r>
              <a:rPr lang="zh-CN" altLang="en-US" sz="2800" dirty="0">
                <a:effectLst>
                  <a:outerShdw blurRad="38100" dist="38100" dir="2700000" algn="tl">
                    <a:srgbClr val="000000"/>
                  </a:outerShdw>
                </a:effectLst>
              </a:rPr>
              <a:t>｜＜</a:t>
            </a:r>
            <a:r>
              <a:rPr lang="en-US" altLang="zh-CN" sz="2800" dirty="0">
                <a:effectLst>
                  <a:outerShdw blurRad="38100" dist="38100" dir="2700000" algn="tl">
                    <a:srgbClr val="000000"/>
                  </a:outerShdw>
                </a:effectLst>
              </a:rPr>
              <a:t>r</a:t>
            </a:r>
            <a:r>
              <a:rPr lang="en-US" altLang="zh-CN" sz="2800" baseline="-25000" dirty="0">
                <a:effectLst>
                  <a:outerShdw blurRad="38100" dist="38100" dir="2700000" algn="tl">
                    <a:srgbClr val="000000"/>
                  </a:outerShdw>
                </a:effectLst>
              </a:rPr>
              <a:t>α</a:t>
            </a:r>
            <a:r>
              <a:rPr lang="zh-CN" altLang="en-US" sz="2800" dirty="0">
                <a:effectLst>
                  <a:outerShdw blurRad="38100" dist="38100" dir="2700000" algn="tl">
                    <a:srgbClr val="000000"/>
                  </a:outerShdw>
                </a:effectLst>
              </a:rPr>
              <a:t>时，则认为两要素不相关，这时的样本相关系数就不能反映两要素之间的关系</a:t>
            </a:r>
            <a:endParaRPr lang="en-US" altLang="zh-CN" sz="2800" dirty="0">
              <a:effectLst>
                <a:outerShdw blurRad="38100" dist="38100" dir="2700000" algn="tl">
                  <a:srgbClr val="000000"/>
                </a:outerShdw>
              </a:effectLst>
            </a:endParaRPr>
          </a:p>
          <a:p>
            <a:pPr lvl="1" indent="-457200">
              <a:lnSpc>
                <a:spcPct val="90000"/>
              </a:lnSpc>
              <a:spcBef>
                <a:spcPct val="20000"/>
              </a:spcBef>
              <a:buFontTx/>
              <a:buChar char="–"/>
              <a:defRPr/>
            </a:pPr>
            <a:r>
              <a:rPr lang="zh-CN" altLang="en-US" sz="2800" dirty="0">
                <a:effectLst>
                  <a:outerShdw blurRad="38100" dist="38100" dir="2700000" algn="tl">
                    <a:srgbClr val="000000"/>
                  </a:outerShdw>
                </a:effectLst>
              </a:rPr>
              <a:t>统计模型的自由度等于可自由取值的自变量的个数</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a:extLst>
              <a:ext uri="{FF2B5EF4-FFF2-40B4-BE49-F238E27FC236}">
                <a16:creationId xmlns:a16="http://schemas.microsoft.com/office/drawing/2014/main" id="{7BCD4AE3-D1F6-4CB5-858A-E6EA97CF4C43}"/>
              </a:ext>
            </a:extLst>
          </p:cNvPr>
          <p:cNvSpPr txBox="1">
            <a:spLocks noChangeArrowheads="1"/>
          </p:cNvSpPr>
          <p:nvPr/>
        </p:nvSpPr>
        <p:spPr bwMode="auto">
          <a:xfrm>
            <a:off x="900113" y="1341438"/>
            <a:ext cx="7791450" cy="3392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buClr>
                <a:schemeClr val="accent2"/>
              </a:buClr>
              <a:buFont typeface="Wingdings" panose="05000000000000000000" pitchFamily="2" charset="2"/>
              <a:buNone/>
            </a:pPr>
            <a:r>
              <a:rPr kumimoji="1" lang="zh-CN" altLang="en-US" sz="2800" dirty="0">
                <a:latin typeface="宋体" panose="02010600030101010101" pitchFamily="2" charset="-122"/>
              </a:rPr>
              <a:t>（</a:t>
            </a:r>
            <a:r>
              <a:rPr kumimoji="1" lang="en-US" altLang="zh-CN" sz="2800" dirty="0">
                <a:latin typeface="宋体" panose="02010600030101010101" pitchFamily="2" charset="-122"/>
              </a:rPr>
              <a:t>1</a:t>
            </a:r>
            <a:r>
              <a:rPr kumimoji="1" lang="zh-CN" altLang="en-US" sz="2800" dirty="0">
                <a:latin typeface="宋体" panose="02010600030101010101" pitchFamily="2" charset="-122"/>
              </a:rPr>
              <a:t>）对伦敦市月平均气温（</a:t>
            </a:r>
            <a:r>
              <a:rPr kumimoji="1" lang="en-US" altLang="zh-CN" sz="2800" i="1" dirty="0">
                <a:latin typeface="Times New Roman" panose="02020603050405020304" pitchFamily="18" charset="0"/>
              </a:rPr>
              <a:t>T</a:t>
            </a:r>
            <a:r>
              <a:rPr kumimoji="1" lang="zh-CN" altLang="en-US" sz="2800" dirty="0">
                <a:latin typeface="宋体" panose="02010600030101010101" pitchFamily="2" charset="-122"/>
              </a:rPr>
              <a:t>）与降水量</a:t>
            </a:r>
            <a:r>
              <a:rPr kumimoji="1" lang="en-US" altLang="zh-CN" sz="2800" dirty="0">
                <a:latin typeface="宋体" panose="02010600030101010101" pitchFamily="2" charset="-122"/>
              </a:rPr>
              <a:t>(</a:t>
            </a:r>
            <a:r>
              <a:rPr kumimoji="1" lang="en-US" altLang="zh-CN" sz="2800" i="1" dirty="0">
                <a:latin typeface="Times New Roman" panose="02020603050405020304" pitchFamily="18" charset="0"/>
              </a:rPr>
              <a:t>P</a:t>
            </a:r>
            <a:r>
              <a:rPr kumimoji="1" lang="en-US" altLang="zh-CN" sz="2800" dirty="0">
                <a:latin typeface="宋体" panose="02010600030101010101" pitchFamily="2" charset="-122"/>
              </a:rPr>
              <a:t>)</a:t>
            </a:r>
            <a:r>
              <a:rPr kumimoji="1" lang="zh-CN" altLang="en-US" sz="2800" dirty="0">
                <a:latin typeface="宋体" panose="02010600030101010101" pitchFamily="2" charset="-122"/>
              </a:rPr>
              <a:t>之间的相关系数为</a:t>
            </a:r>
            <a:r>
              <a:rPr kumimoji="1" lang="en-US" altLang="zh-CN" sz="2800" dirty="0">
                <a:latin typeface="宋体" panose="02010600030101010101" pitchFamily="2" charset="-122"/>
              </a:rPr>
              <a:t>-0.4895</a:t>
            </a:r>
            <a:r>
              <a:rPr kumimoji="1" lang="zh-CN" altLang="en-US" sz="2800" dirty="0">
                <a:latin typeface="宋体" panose="02010600030101010101" pitchFamily="2" charset="-122"/>
              </a:rPr>
              <a:t>，</a:t>
            </a:r>
            <a:r>
              <a:rPr kumimoji="1" lang="en-US" altLang="zh-CN" sz="2800" i="1" dirty="0">
                <a:latin typeface="Times New Roman" panose="02020603050405020304" pitchFamily="18" charset="0"/>
              </a:rPr>
              <a:t>f</a:t>
            </a:r>
            <a:r>
              <a:rPr kumimoji="1" lang="en-US" altLang="zh-CN" sz="2800" dirty="0">
                <a:latin typeface="宋体" panose="02010600030101010101" pitchFamily="2" charset="-122"/>
              </a:rPr>
              <a:t>=12-2=10</a:t>
            </a:r>
            <a:r>
              <a:rPr kumimoji="1" lang="zh-CN" altLang="en-US" sz="2800" dirty="0">
                <a:latin typeface="宋体" panose="02010600030101010101" pitchFamily="2" charset="-122"/>
              </a:rPr>
              <a:t>，在显著性水平          上，查表</a:t>
            </a:r>
            <a:r>
              <a:rPr kumimoji="1" lang="en-US" altLang="zh-CN" sz="2800" dirty="0">
                <a:latin typeface="宋体" panose="02010600030101010101" pitchFamily="2" charset="-122"/>
              </a:rPr>
              <a:t>3.1.3</a:t>
            </a:r>
            <a:r>
              <a:rPr kumimoji="1" lang="zh-CN" altLang="en-US" sz="2800" dirty="0">
                <a:latin typeface="宋体" panose="02010600030101010101" pitchFamily="2" charset="-122"/>
              </a:rPr>
              <a:t>，得知：          。因为                     ，所以，伦敦市月平均气温（</a:t>
            </a:r>
            <a:r>
              <a:rPr kumimoji="1" lang="en-US" altLang="zh-CN" sz="2800" i="1" dirty="0">
                <a:latin typeface="Times New Roman" panose="02020603050405020304" pitchFamily="18" charset="0"/>
              </a:rPr>
              <a:t>T</a:t>
            </a:r>
            <a:r>
              <a:rPr kumimoji="1" lang="zh-CN" altLang="en-US" sz="2800" dirty="0">
                <a:latin typeface="宋体" panose="02010600030101010101" pitchFamily="2" charset="-122"/>
              </a:rPr>
              <a:t>）与降水量</a:t>
            </a:r>
            <a:r>
              <a:rPr kumimoji="1" lang="en-US" altLang="zh-CN" sz="2800" dirty="0">
                <a:latin typeface="宋体" panose="02010600030101010101" pitchFamily="2" charset="-122"/>
              </a:rPr>
              <a:t>(</a:t>
            </a:r>
            <a:r>
              <a:rPr kumimoji="1" lang="en-US" altLang="zh-CN" sz="2800" i="1" dirty="0">
                <a:latin typeface="Times New Roman" panose="02020603050405020304" pitchFamily="18" charset="0"/>
              </a:rPr>
              <a:t>P</a:t>
            </a:r>
            <a:r>
              <a:rPr kumimoji="1" lang="en-US" altLang="zh-CN" sz="2800" dirty="0">
                <a:latin typeface="宋体" panose="02010600030101010101" pitchFamily="2" charset="-122"/>
              </a:rPr>
              <a:t>)</a:t>
            </a:r>
            <a:r>
              <a:rPr kumimoji="1" lang="zh-CN" altLang="en-US" sz="2800" dirty="0">
                <a:latin typeface="宋体" panose="02010600030101010101" pitchFamily="2" charset="-122"/>
              </a:rPr>
              <a:t>之间的相关性并不显著。 </a:t>
            </a:r>
          </a:p>
        </p:txBody>
      </p:sp>
      <p:graphicFrame>
        <p:nvGraphicFramePr>
          <p:cNvPr id="24579" name="Object 4">
            <a:extLst>
              <a:ext uri="{FF2B5EF4-FFF2-40B4-BE49-F238E27FC236}">
                <a16:creationId xmlns:a16="http://schemas.microsoft.com/office/drawing/2014/main" id="{BA4F1498-9106-4BB3-9219-DBEBB7D3E9D7}"/>
              </a:ext>
            </a:extLst>
          </p:cNvPr>
          <p:cNvGraphicFramePr>
            <a:graphicFrameLocks noChangeAspect="1"/>
          </p:cNvGraphicFramePr>
          <p:nvPr>
            <p:extLst>
              <p:ext uri="{D42A27DB-BD31-4B8C-83A1-F6EECF244321}">
                <p14:modId xmlns:p14="http://schemas.microsoft.com/office/powerpoint/2010/main" val="3802688909"/>
              </p:ext>
            </p:extLst>
          </p:nvPr>
        </p:nvGraphicFramePr>
        <p:xfrm>
          <a:off x="1458888" y="3075425"/>
          <a:ext cx="2057400" cy="555625"/>
        </p:xfrm>
        <a:graphic>
          <a:graphicData uri="http://schemas.openxmlformats.org/presentationml/2006/ole">
            <mc:AlternateContent xmlns:mc="http://schemas.openxmlformats.org/markup-compatibility/2006">
              <mc:Choice xmlns:v="urn:schemas-microsoft-com:vml" Requires="v">
                <p:oleObj spid="_x0000_s24716" r:id="rId3" imgW="850900" imgH="228600" progId="Equation.3">
                  <p:embed/>
                </p:oleObj>
              </mc:Choice>
              <mc:Fallback>
                <p:oleObj r:id="rId3" imgW="850900" imgH="228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8888" y="3075425"/>
                        <a:ext cx="2057400" cy="555625"/>
                      </a:xfrm>
                      <a:prstGeom prst="rect">
                        <a:avLst/>
                      </a:prstGeom>
                      <a:noFill/>
                      <a:ln>
                        <a:noFill/>
                      </a:ln>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80" name="Object 5">
            <a:extLst>
              <a:ext uri="{FF2B5EF4-FFF2-40B4-BE49-F238E27FC236}">
                <a16:creationId xmlns:a16="http://schemas.microsoft.com/office/drawing/2014/main" id="{3CDCE4F3-50E4-431E-9CB4-5368BC94DD22}"/>
              </a:ext>
            </a:extLst>
          </p:cNvPr>
          <p:cNvGraphicFramePr>
            <a:graphicFrameLocks noChangeAspect="1"/>
          </p:cNvGraphicFramePr>
          <p:nvPr>
            <p:extLst>
              <p:ext uri="{D42A27DB-BD31-4B8C-83A1-F6EECF244321}">
                <p14:modId xmlns:p14="http://schemas.microsoft.com/office/powerpoint/2010/main" val="4228567517"/>
              </p:ext>
            </p:extLst>
          </p:nvPr>
        </p:nvGraphicFramePr>
        <p:xfrm>
          <a:off x="1763688" y="2538412"/>
          <a:ext cx="1447800" cy="458787"/>
        </p:xfrm>
        <a:graphic>
          <a:graphicData uri="http://schemas.openxmlformats.org/presentationml/2006/ole">
            <mc:AlternateContent xmlns:mc="http://schemas.openxmlformats.org/markup-compatibility/2006">
              <mc:Choice xmlns:v="urn:schemas-microsoft-com:vml" Requires="v">
                <p:oleObj spid="_x0000_s24717" r:id="rId5" imgW="571004" imgH="177646" progId="Equation.3">
                  <p:embed/>
                </p:oleObj>
              </mc:Choice>
              <mc:Fallback>
                <p:oleObj r:id="rId5" imgW="571004" imgH="177646"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3688" y="2538412"/>
                        <a:ext cx="1447800" cy="458787"/>
                      </a:xfrm>
                      <a:prstGeom prst="rect">
                        <a:avLst/>
                      </a:prstGeom>
                      <a:noFill/>
                      <a:ln>
                        <a:noFill/>
                      </a:ln>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81" name="Object 6">
            <a:extLst>
              <a:ext uri="{FF2B5EF4-FFF2-40B4-BE49-F238E27FC236}">
                <a16:creationId xmlns:a16="http://schemas.microsoft.com/office/drawing/2014/main" id="{2B0D679B-F8BE-47B1-A90F-759ADC96E22E}"/>
              </a:ext>
            </a:extLst>
          </p:cNvPr>
          <p:cNvGraphicFramePr>
            <a:graphicFrameLocks noChangeAspect="1"/>
          </p:cNvGraphicFramePr>
          <p:nvPr>
            <p:extLst>
              <p:ext uri="{D42A27DB-BD31-4B8C-83A1-F6EECF244321}">
                <p14:modId xmlns:p14="http://schemas.microsoft.com/office/powerpoint/2010/main" val="2217145393"/>
              </p:ext>
            </p:extLst>
          </p:nvPr>
        </p:nvGraphicFramePr>
        <p:xfrm>
          <a:off x="4572000" y="3071457"/>
          <a:ext cx="3649663" cy="563562"/>
        </p:xfrm>
        <a:graphic>
          <a:graphicData uri="http://schemas.openxmlformats.org/presentationml/2006/ole">
            <mc:AlternateContent xmlns:mc="http://schemas.openxmlformats.org/markup-compatibility/2006">
              <mc:Choice xmlns:v="urn:schemas-microsoft-com:vml" Requires="v">
                <p:oleObj spid="_x0000_s24718" name="Equation" r:id="rId7" imgW="1663700" imgH="254000" progId="Equation.3">
                  <p:embed/>
                </p:oleObj>
              </mc:Choice>
              <mc:Fallback>
                <p:oleObj name="Equation" r:id="rId7" imgW="1663700" imgH="2540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0" y="3071457"/>
                        <a:ext cx="3649663" cy="563562"/>
                      </a:xfrm>
                      <a:prstGeom prst="rect">
                        <a:avLst/>
                      </a:prstGeom>
                      <a:noFill/>
                      <a:ln>
                        <a:noFill/>
                      </a:ln>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6AF4BA00-2DD0-44C6-B5A0-E50A840C659D}"/>
              </a:ext>
            </a:extLst>
          </p:cNvPr>
          <p:cNvSpPr>
            <a:spLocks noGrp="1" noChangeArrowheads="1"/>
          </p:cNvSpPr>
          <p:nvPr>
            <p:ph type="title"/>
          </p:nvPr>
        </p:nvSpPr>
        <p:spPr>
          <a:xfrm>
            <a:off x="323850" y="95250"/>
            <a:ext cx="8458200" cy="1462088"/>
          </a:xfrm>
        </p:spPr>
        <p:txBody>
          <a:bodyPr/>
          <a:lstStyle/>
          <a:p>
            <a:pPr eaLnBrk="1" hangingPunct="1"/>
            <a:r>
              <a:rPr lang="en-US" altLang="zh-CN" dirty="0"/>
              <a:t>2</a:t>
            </a:r>
            <a:r>
              <a:rPr lang="zh-CN" altLang="en-US" dirty="0"/>
              <a:t>、顺序（等级）相关系数计算</a:t>
            </a:r>
          </a:p>
        </p:txBody>
      </p:sp>
      <p:graphicFrame>
        <p:nvGraphicFramePr>
          <p:cNvPr id="25603" name="Object 0">
            <a:extLst>
              <a:ext uri="{FF2B5EF4-FFF2-40B4-BE49-F238E27FC236}">
                <a16:creationId xmlns:a16="http://schemas.microsoft.com/office/drawing/2014/main" id="{ED0F7772-484F-481D-AD02-8FE3A2120185}"/>
              </a:ext>
            </a:extLst>
          </p:cNvPr>
          <p:cNvGraphicFramePr>
            <a:graphicFrameLocks noGrp="1" noChangeAspect="1"/>
          </p:cNvGraphicFramePr>
          <p:nvPr>
            <p:ph sz="half" idx="1"/>
          </p:nvPr>
        </p:nvGraphicFramePr>
        <p:xfrm>
          <a:off x="2484438" y="1628775"/>
          <a:ext cx="3095625" cy="1428750"/>
        </p:xfrm>
        <a:graphic>
          <a:graphicData uri="http://schemas.openxmlformats.org/presentationml/2006/ole">
            <mc:AlternateContent xmlns:mc="http://schemas.openxmlformats.org/markup-compatibility/2006">
              <mc:Choice xmlns:v="urn:schemas-microsoft-com:vml" Requires="v">
                <p:oleObj spid="_x0000_s25697" name="公式" r:id="rId3" imgW="990600" imgH="457200" progId="Equation.3">
                  <p:embed/>
                </p:oleObj>
              </mc:Choice>
              <mc:Fallback>
                <p:oleObj name="公式" r:id="rId3" imgW="990600" imgH="457200"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4438" y="1628775"/>
                        <a:ext cx="3095625" cy="14287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4" name="Object 4">
            <a:extLst>
              <a:ext uri="{FF2B5EF4-FFF2-40B4-BE49-F238E27FC236}">
                <a16:creationId xmlns:a16="http://schemas.microsoft.com/office/drawing/2014/main" id="{09F90731-2EC1-4D61-97A4-ED75879C4610}"/>
              </a:ext>
            </a:extLst>
          </p:cNvPr>
          <p:cNvGraphicFramePr>
            <a:graphicFrameLocks noGrp="1" noChangeAspect="1"/>
          </p:cNvGraphicFramePr>
          <p:nvPr>
            <p:ph sz="half" idx="2"/>
            <p:extLst>
              <p:ext uri="{D42A27DB-BD31-4B8C-83A1-F6EECF244321}">
                <p14:modId xmlns:p14="http://schemas.microsoft.com/office/powerpoint/2010/main" val="3901222965"/>
              </p:ext>
            </p:extLst>
          </p:nvPr>
        </p:nvGraphicFramePr>
        <p:xfrm>
          <a:off x="395536" y="3435856"/>
          <a:ext cx="8424986" cy="3281363"/>
        </p:xfrm>
        <a:graphic>
          <a:graphicData uri="http://schemas.openxmlformats.org/presentationml/2006/ole">
            <mc:AlternateContent xmlns:mc="http://schemas.openxmlformats.org/markup-compatibility/2006">
              <mc:Choice xmlns:v="urn:schemas-microsoft-com:vml" Requires="v">
                <p:oleObj spid="_x0000_s25698" name="位图图像" r:id="rId5" imgW="3704762" imgH="1714739" progId="Paint.Picture">
                  <p:embed/>
                </p:oleObj>
              </mc:Choice>
              <mc:Fallback>
                <p:oleObj name="位图图像" r:id="rId5" imgW="3704762" imgH="1714739" progId="Paint.Picture">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5536" y="3435856"/>
                        <a:ext cx="8424986" cy="3281363"/>
                      </a:xfrm>
                      <a:prstGeom prst="rect">
                        <a:avLst/>
                      </a:prstGeom>
                      <a:noFill/>
                      <a:ln>
                        <a:noFill/>
                      </a:ln>
                      <a:effectLst/>
                    </p:spPr>
                  </p:pic>
                </p:oleObj>
              </mc:Fallback>
            </mc:AlternateContent>
          </a:graphicData>
        </a:graphic>
      </p:graphicFrame>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957" name="Group 445">
            <a:extLst>
              <a:ext uri="{FF2B5EF4-FFF2-40B4-BE49-F238E27FC236}">
                <a16:creationId xmlns:a16="http://schemas.microsoft.com/office/drawing/2014/main" id="{30F3E85D-937F-4166-898F-872612B81D50}"/>
              </a:ext>
            </a:extLst>
          </p:cNvPr>
          <p:cNvGraphicFramePr>
            <a:graphicFrameLocks noGrp="1"/>
          </p:cNvGraphicFramePr>
          <p:nvPr>
            <p:ph idx="1"/>
          </p:nvPr>
        </p:nvGraphicFramePr>
        <p:xfrm>
          <a:off x="539750" y="476250"/>
          <a:ext cx="8208963" cy="5975350"/>
        </p:xfrm>
        <a:graphic>
          <a:graphicData uri="http://schemas.openxmlformats.org/drawingml/2006/table">
            <a:tbl>
              <a:tblPr/>
              <a:tblGrid>
                <a:gridCol w="792163">
                  <a:extLst>
                    <a:ext uri="{9D8B030D-6E8A-4147-A177-3AD203B41FA5}">
                      <a16:colId xmlns:a16="http://schemas.microsoft.com/office/drawing/2014/main" val="20000"/>
                    </a:ext>
                  </a:extLst>
                </a:gridCol>
                <a:gridCol w="863600">
                  <a:extLst>
                    <a:ext uri="{9D8B030D-6E8A-4147-A177-3AD203B41FA5}">
                      <a16:colId xmlns:a16="http://schemas.microsoft.com/office/drawing/2014/main" val="20001"/>
                    </a:ext>
                  </a:extLst>
                </a:gridCol>
                <a:gridCol w="1368425">
                  <a:extLst>
                    <a:ext uri="{9D8B030D-6E8A-4147-A177-3AD203B41FA5}">
                      <a16:colId xmlns:a16="http://schemas.microsoft.com/office/drawing/2014/main" val="20002"/>
                    </a:ext>
                  </a:extLst>
                </a:gridCol>
                <a:gridCol w="1152525">
                  <a:extLst>
                    <a:ext uri="{9D8B030D-6E8A-4147-A177-3AD203B41FA5}">
                      <a16:colId xmlns:a16="http://schemas.microsoft.com/office/drawing/2014/main" val="20003"/>
                    </a:ext>
                  </a:extLst>
                </a:gridCol>
                <a:gridCol w="1655762">
                  <a:extLst>
                    <a:ext uri="{9D8B030D-6E8A-4147-A177-3AD203B41FA5}">
                      <a16:colId xmlns:a16="http://schemas.microsoft.com/office/drawing/2014/main" val="20004"/>
                    </a:ext>
                  </a:extLst>
                </a:gridCol>
                <a:gridCol w="1225550">
                  <a:extLst>
                    <a:ext uri="{9D8B030D-6E8A-4147-A177-3AD203B41FA5}">
                      <a16:colId xmlns:a16="http://schemas.microsoft.com/office/drawing/2014/main" val="20005"/>
                    </a:ext>
                  </a:extLst>
                </a:gridCol>
                <a:gridCol w="1150938">
                  <a:extLst>
                    <a:ext uri="{9D8B030D-6E8A-4147-A177-3AD203B41FA5}">
                      <a16:colId xmlns:a16="http://schemas.microsoft.com/office/drawing/2014/main" val="20006"/>
                    </a:ext>
                  </a:extLst>
                </a:gridCol>
              </a:tblGrid>
              <a:tr h="701077">
                <a:tc>
                  <a:txBody>
                    <a:bodyPr/>
                    <a:lstStyle/>
                    <a:p>
                      <a:pPr marL="0" marR="0" lvl="0" indent="0" algn="l" defTabSz="914400" rtl="0" eaLnBrk="1" fontAlgn="ctr" latinLnBrk="0" hangingPunct="1">
                        <a:lnSpc>
                          <a:spcPct val="100000"/>
                        </a:lnSpc>
                        <a:spcBef>
                          <a:spcPct val="0"/>
                        </a:spcBef>
                        <a:spcAft>
                          <a:spcPct val="0"/>
                        </a:spcAft>
                        <a:buClrTx/>
                        <a:buSzPct val="90000"/>
                        <a:buFontTx/>
                        <a:buNone/>
                        <a:tabLst/>
                      </a:pPr>
                      <a:r>
                        <a:rPr kumimoji="0" lang="zh-CN" altLang="en-US" sz="2000" b="0" i="0" u="none" strike="noStrike" cap="none" normalizeH="0" baseline="0" dirty="0">
                          <a:ln>
                            <a:noFill/>
                          </a:ln>
                          <a:solidFill>
                            <a:srgbClr val="0000FF"/>
                          </a:solidFill>
                          <a:effectLst>
                            <a:outerShdw blurRad="38100" dist="38100" dir="2700000" algn="tl">
                              <a:srgbClr val="C0C0C0"/>
                            </a:outerShdw>
                          </a:effectLst>
                          <a:latin typeface="宋体" pitchFamily="2" charset="-122"/>
                          <a:ea typeface="宋体" pitchFamily="2" charset="-122"/>
                        </a:rPr>
                        <a:t>月份</a:t>
                      </a:r>
                      <a:endParaRPr kumimoji="0" lang="zh-CN" altLang="en-US" sz="2000" b="0" i="0" u="none" strike="noStrike" cap="none" normalizeH="0" baseline="0" dirty="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Pct val="90000"/>
                        <a:buFontTx/>
                        <a:buNone/>
                        <a:tabLst/>
                      </a:pPr>
                      <a:r>
                        <a:rPr kumimoji="0" lang="zh-CN" altLang="en-US"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气温</a:t>
                      </a: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(x)</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Pct val="90000"/>
                        <a:buFontTx/>
                        <a:buNone/>
                        <a:tabLst/>
                      </a:pPr>
                      <a:r>
                        <a:rPr kumimoji="0" lang="zh-CN" altLang="en-US"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平均气温顺序号</a:t>
                      </a: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T</a:t>
                      </a:r>
                      <a:r>
                        <a:rPr kumimoji="0" lang="en-US" altLang="zh-CN" sz="2000" b="0" i="0" u="none" strike="noStrike" cap="none" normalizeH="0" baseline="-25000">
                          <a:ln>
                            <a:noFill/>
                          </a:ln>
                          <a:solidFill>
                            <a:srgbClr val="0000FF"/>
                          </a:solidFill>
                          <a:effectLst>
                            <a:outerShdw blurRad="38100" dist="38100" dir="2700000" algn="tl">
                              <a:srgbClr val="C0C0C0"/>
                            </a:outerShdw>
                          </a:effectLst>
                          <a:latin typeface="宋体" pitchFamily="2" charset="-122"/>
                          <a:ea typeface="宋体" pitchFamily="2" charset="-122"/>
                        </a:rPr>
                        <a:t>s</a:t>
                      </a: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Pct val="90000"/>
                        <a:buFontTx/>
                        <a:buNone/>
                        <a:tabLst/>
                      </a:pPr>
                      <a:r>
                        <a:rPr kumimoji="0" lang="zh-CN" altLang="en-US"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地温</a:t>
                      </a: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(y)</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5cm</a:t>
                      </a:r>
                      <a:r>
                        <a:rPr kumimoji="0" lang="zh-CN" altLang="en-US"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平均地温顺序号</a:t>
                      </a: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T</a:t>
                      </a:r>
                      <a:r>
                        <a:rPr kumimoji="0" lang="en-US" altLang="zh-CN" sz="2000" b="0" i="0" u="none" strike="noStrike" cap="none" normalizeH="0" baseline="-25000">
                          <a:ln>
                            <a:noFill/>
                          </a:ln>
                          <a:solidFill>
                            <a:srgbClr val="0000FF"/>
                          </a:solidFill>
                          <a:effectLst>
                            <a:outerShdw blurRad="38100" dist="38100" dir="2700000" algn="tl">
                              <a:srgbClr val="C0C0C0"/>
                            </a:outerShdw>
                          </a:effectLst>
                          <a:latin typeface="宋体" pitchFamily="2" charset="-122"/>
                          <a:ea typeface="宋体" pitchFamily="2" charset="-122"/>
                        </a:rPr>
                        <a:t>ds</a:t>
                      </a: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d=T</a:t>
                      </a:r>
                      <a:r>
                        <a:rPr kumimoji="0" lang="en-US" altLang="zh-CN" sz="2000" b="0" i="0" u="none" strike="noStrike" cap="none" normalizeH="0" baseline="-25000">
                          <a:ln>
                            <a:noFill/>
                          </a:ln>
                          <a:solidFill>
                            <a:srgbClr val="0000FF"/>
                          </a:solidFill>
                          <a:effectLst>
                            <a:outerShdw blurRad="38100" dist="38100" dir="2700000" algn="tl">
                              <a:srgbClr val="C0C0C0"/>
                            </a:outerShdw>
                          </a:effectLst>
                          <a:latin typeface="宋体" pitchFamily="2" charset="-122"/>
                          <a:ea typeface="宋体" pitchFamily="2" charset="-122"/>
                        </a:rPr>
                        <a:t>s</a:t>
                      </a: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-T</a:t>
                      </a:r>
                      <a:r>
                        <a:rPr kumimoji="0" lang="en-US" altLang="zh-CN" sz="2000" b="0" i="0" u="none" strike="noStrike" cap="none" normalizeH="0" baseline="-25000">
                          <a:ln>
                            <a:noFill/>
                          </a:ln>
                          <a:solidFill>
                            <a:srgbClr val="0000FF"/>
                          </a:solidFill>
                          <a:effectLst>
                            <a:outerShdw blurRad="38100" dist="38100" dir="2700000" algn="tl">
                              <a:srgbClr val="C0C0C0"/>
                            </a:outerShdw>
                          </a:effectLst>
                          <a:latin typeface="宋体" pitchFamily="2" charset="-122"/>
                          <a:ea typeface="宋体" pitchFamily="2" charset="-122"/>
                        </a:rPr>
                        <a:t>ds</a:t>
                      </a: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d</a:t>
                      </a:r>
                      <a:r>
                        <a:rPr kumimoji="0" lang="en-US" altLang="zh-CN" sz="2000" b="0" i="0" u="none" strike="noStrike" cap="none" normalizeH="0" baseline="30000">
                          <a:ln>
                            <a:noFill/>
                          </a:ln>
                          <a:solidFill>
                            <a:srgbClr val="0000FF"/>
                          </a:solidFill>
                          <a:effectLst>
                            <a:outerShdw blurRad="38100" dist="38100" dir="2700000" algn="tl">
                              <a:srgbClr val="C0C0C0"/>
                            </a:outerShdw>
                          </a:effectLst>
                          <a:latin typeface="宋体" pitchFamily="2" charset="-122"/>
                          <a:ea typeface="宋体" pitchFamily="2" charset="-122"/>
                        </a:rPr>
                        <a:t>2</a:t>
                      </a: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261">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1</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-4.7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000000"/>
                            </a:outerShdw>
                          </a:effectLst>
                          <a:latin typeface="宋体" pitchFamily="2" charset="-122"/>
                          <a:ea typeface="宋体" pitchFamily="2" charset="-122"/>
                        </a:rPr>
                        <a:t>12 </a:t>
                      </a:r>
                      <a:endParaRPr kumimoji="0" lang="en-US" altLang="zh-CN" sz="2000" b="0" i="0" u="none" strike="noStrike" cap="none" normalizeH="0" baseline="0">
                        <a:ln>
                          <a:noFill/>
                        </a:ln>
                        <a:solidFill>
                          <a:srgbClr val="0000FF"/>
                        </a:solidFill>
                        <a:effectLst>
                          <a:outerShdw blurRad="38100" dist="38100" dir="2700000" algn="tl">
                            <a:srgbClr val="00000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-3.6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000000"/>
                            </a:outerShdw>
                          </a:effectLst>
                          <a:latin typeface="宋体" pitchFamily="2" charset="-122"/>
                          <a:ea typeface="宋体" pitchFamily="2" charset="-122"/>
                        </a:rPr>
                        <a:t>12 </a:t>
                      </a:r>
                      <a:endParaRPr kumimoji="0" lang="en-US" altLang="zh-CN" sz="2000" b="0" i="0" u="none" strike="noStrike" cap="none" normalizeH="0" baseline="0">
                        <a:ln>
                          <a:noFill/>
                        </a:ln>
                        <a:solidFill>
                          <a:srgbClr val="0000FF"/>
                        </a:solidFill>
                        <a:effectLst>
                          <a:outerShdw blurRad="38100" dist="38100" dir="2700000" algn="tl">
                            <a:srgbClr val="00000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0.00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0.00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261">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2</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-2.3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000000"/>
                            </a:outerShdw>
                          </a:effectLst>
                          <a:latin typeface="宋体" pitchFamily="2" charset="-122"/>
                          <a:ea typeface="宋体" pitchFamily="2" charset="-122"/>
                        </a:rPr>
                        <a:t>10 </a:t>
                      </a:r>
                      <a:endParaRPr kumimoji="0" lang="en-US" altLang="zh-CN" sz="2000" b="0" i="0" u="none" strike="noStrike" cap="none" normalizeH="0" baseline="0">
                        <a:ln>
                          <a:noFill/>
                        </a:ln>
                        <a:solidFill>
                          <a:srgbClr val="0000FF"/>
                        </a:solidFill>
                        <a:effectLst>
                          <a:outerShdw blurRad="38100" dist="38100" dir="2700000" algn="tl">
                            <a:srgbClr val="00000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-1.4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000000"/>
                            </a:outerShdw>
                          </a:effectLst>
                          <a:latin typeface="宋体" pitchFamily="2" charset="-122"/>
                          <a:ea typeface="宋体" pitchFamily="2" charset="-122"/>
                        </a:rPr>
                        <a:t>10 </a:t>
                      </a:r>
                      <a:endParaRPr kumimoji="0" lang="en-US" altLang="zh-CN" sz="2000" b="0" i="0" u="none" strike="noStrike" cap="none" normalizeH="0" baseline="0">
                        <a:ln>
                          <a:noFill/>
                        </a:ln>
                        <a:solidFill>
                          <a:srgbClr val="0000FF"/>
                        </a:solidFill>
                        <a:effectLst>
                          <a:outerShdw blurRad="38100" dist="38100" dir="2700000" algn="tl">
                            <a:srgbClr val="00000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0.00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0.00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261">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3</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4.4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dirty="0">
                          <a:ln>
                            <a:noFill/>
                          </a:ln>
                          <a:solidFill>
                            <a:srgbClr val="0000FF"/>
                          </a:solidFill>
                          <a:effectLst>
                            <a:outerShdw blurRad="38100" dist="38100" dir="2700000" algn="tl">
                              <a:srgbClr val="000000"/>
                            </a:outerShdw>
                          </a:effectLst>
                          <a:latin typeface="宋体" pitchFamily="2" charset="-122"/>
                          <a:ea typeface="宋体" pitchFamily="2" charset="-122"/>
                        </a:rPr>
                        <a:t>3 </a:t>
                      </a:r>
                      <a:endParaRPr kumimoji="0" lang="en-US" altLang="zh-CN" sz="2000" b="0" i="0" u="none" strike="noStrike" cap="none" normalizeH="0" baseline="0" dirty="0">
                        <a:ln>
                          <a:noFill/>
                        </a:ln>
                        <a:solidFill>
                          <a:srgbClr val="0000FF"/>
                        </a:solidFill>
                        <a:effectLst>
                          <a:outerShdw blurRad="38100" dist="38100" dir="2700000" algn="tl">
                            <a:srgbClr val="00000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5.1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dirty="0">
                          <a:ln>
                            <a:noFill/>
                          </a:ln>
                          <a:solidFill>
                            <a:srgbClr val="0000FF"/>
                          </a:solidFill>
                          <a:effectLst>
                            <a:outerShdw blurRad="38100" dist="38100" dir="2700000" algn="tl">
                              <a:srgbClr val="000000"/>
                            </a:outerShdw>
                          </a:effectLst>
                          <a:latin typeface="宋体" pitchFamily="2" charset="-122"/>
                          <a:ea typeface="宋体" pitchFamily="2" charset="-122"/>
                        </a:rPr>
                        <a:t>3 </a:t>
                      </a:r>
                      <a:endParaRPr kumimoji="0" lang="en-US" altLang="zh-CN" sz="2000" b="0" i="0" u="none" strike="noStrike" cap="none" normalizeH="0" baseline="0" dirty="0">
                        <a:ln>
                          <a:noFill/>
                        </a:ln>
                        <a:solidFill>
                          <a:srgbClr val="0000FF"/>
                        </a:solidFill>
                        <a:effectLst>
                          <a:outerShdw blurRad="38100" dist="38100" dir="2700000" algn="tl">
                            <a:srgbClr val="00000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0.00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0.00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261">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4</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13.2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000000"/>
                            </a:outerShdw>
                          </a:effectLst>
                          <a:latin typeface="宋体" pitchFamily="2" charset="-122"/>
                          <a:ea typeface="宋体" pitchFamily="2" charset="-122"/>
                        </a:rPr>
                        <a:t>6 </a:t>
                      </a:r>
                      <a:endParaRPr kumimoji="0" lang="en-US" altLang="zh-CN" sz="2000" b="0" i="0" u="none" strike="noStrike" cap="none" normalizeH="0" baseline="0">
                        <a:ln>
                          <a:noFill/>
                        </a:ln>
                        <a:solidFill>
                          <a:srgbClr val="0000FF"/>
                        </a:solidFill>
                        <a:effectLst>
                          <a:outerShdw blurRad="38100" dist="38100" dir="2700000" algn="tl">
                            <a:srgbClr val="00000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14.5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000000"/>
                            </a:outerShdw>
                          </a:effectLst>
                          <a:latin typeface="宋体" pitchFamily="2" charset="-122"/>
                          <a:ea typeface="宋体" pitchFamily="2" charset="-122"/>
                        </a:rPr>
                        <a:t>6 </a:t>
                      </a:r>
                      <a:endParaRPr kumimoji="0" lang="en-US" altLang="zh-CN" sz="2000" b="0" i="0" u="none" strike="noStrike" cap="none" normalizeH="0" baseline="0">
                        <a:ln>
                          <a:noFill/>
                        </a:ln>
                        <a:solidFill>
                          <a:srgbClr val="0000FF"/>
                        </a:solidFill>
                        <a:effectLst>
                          <a:outerShdw blurRad="38100" dist="38100" dir="2700000" algn="tl">
                            <a:srgbClr val="00000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0.00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0.00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6261">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5</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20.2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000000"/>
                            </a:outerShdw>
                          </a:effectLst>
                          <a:latin typeface="宋体" pitchFamily="2" charset="-122"/>
                          <a:ea typeface="宋体" pitchFamily="2" charset="-122"/>
                        </a:rPr>
                        <a:t>4 </a:t>
                      </a:r>
                      <a:endParaRPr kumimoji="0" lang="en-US" altLang="zh-CN" sz="2000" b="0" i="0" u="none" strike="noStrike" cap="none" normalizeH="0" baseline="0">
                        <a:ln>
                          <a:noFill/>
                        </a:ln>
                        <a:solidFill>
                          <a:srgbClr val="0000FF"/>
                        </a:solidFill>
                        <a:effectLst>
                          <a:outerShdw blurRad="38100" dist="38100" dir="2700000" algn="tl">
                            <a:srgbClr val="00000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22.3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000000"/>
                            </a:outerShdw>
                          </a:effectLst>
                          <a:latin typeface="宋体" pitchFamily="2" charset="-122"/>
                          <a:ea typeface="宋体" pitchFamily="2" charset="-122"/>
                        </a:rPr>
                        <a:t>4 </a:t>
                      </a:r>
                      <a:endParaRPr kumimoji="0" lang="en-US" altLang="zh-CN" sz="2000" b="0" i="0" u="none" strike="noStrike" cap="none" normalizeH="0" baseline="0">
                        <a:ln>
                          <a:noFill/>
                        </a:ln>
                        <a:solidFill>
                          <a:srgbClr val="0000FF"/>
                        </a:solidFill>
                        <a:effectLst>
                          <a:outerShdw blurRad="38100" dist="38100" dir="2700000" algn="tl">
                            <a:srgbClr val="00000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0.00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0.00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6261">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6</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24.2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000000"/>
                            </a:outerShdw>
                          </a:effectLst>
                          <a:latin typeface="宋体" pitchFamily="2" charset="-122"/>
                          <a:ea typeface="宋体" pitchFamily="2" charset="-122"/>
                        </a:rPr>
                        <a:t>3 </a:t>
                      </a:r>
                      <a:endParaRPr kumimoji="0" lang="en-US" altLang="zh-CN" sz="2000" b="0" i="0" u="none" strike="noStrike" cap="none" normalizeH="0" baseline="0">
                        <a:ln>
                          <a:noFill/>
                        </a:ln>
                        <a:solidFill>
                          <a:srgbClr val="0000FF"/>
                        </a:solidFill>
                        <a:effectLst>
                          <a:outerShdw blurRad="38100" dist="38100" dir="2700000" algn="tl">
                            <a:srgbClr val="00000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26.9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000000"/>
                            </a:outerShdw>
                          </a:effectLst>
                          <a:latin typeface="宋体" pitchFamily="2" charset="-122"/>
                          <a:ea typeface="宋体" pitchFamily="2" charset="-122"/>
                        </a:rPr>
                        <a:t>2 </a:t>
                      </a:r>
                      <a:endParaRPr kumimoji="0" lang="en-US" altLang="zh-CN" sz="2000" b="0" i="0" u="none" strike="noStrike" cap="none" normalizeH="0" baseline="0">
                        <a:ln>
                          <a:noFill/>
                        </a:ln>
                        <a:solidFill>
                          <a:srgbClr val="0000FF"/>
                        </a:solidFill>
                        <a:effectLst>
                          <a:outerShdw blurRad="38100" dist="38100" dir="2700000" algn="tl">
                            <a:srgbClr val="00000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1.00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1.00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6261">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7</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26.0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000000"/>
                            </a:outerShdw>
                          </a:effectLst>
                          <a:latin typeface="宋体" pitchFamily="2" charset="-122"/>
                          <a:ea typeface="宋体" pitchFamily="2" charset="-122"/>
                        </a:rPr>
                        <a:t>1 </a:t>
                      </a:r>
                      <a:endParaRPr kumimoji="0" lang="en-US" altLang="zh-CN" sz="2000" b="0" i="0" u="none" strike="noStrike" cap="none" normalizeH="0" baseline="0">
                        <a:ln>
                          <a:noFill/>
                        </a:ln>
                        <a:solidFill>
                          <a:srgbClr val="0000FF"/>
                        </a:solidFill>
                        <a:effectLst>
                          <a:outerShdw blurRad="38100" dist="38100" dir="2700000" algn="tl">
                            <a:srgbClr val="00000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dirty="0">
                          <a:ln>
                            <a:noFill/>
                          </a:ln>
                          <a:solidFill>
                            <a:srgbClr val="0000FF"/>
                          </a:solidFill>
                          <a:effectLst>
                            <a:outerShdw blurRad="38100" dist="38100" dir="2700000" algn="tl">
                              <a:srgbClr val="C0C0C0"/>
                            </a:outerShdw>
                          </a:effectLst>
                          <a:latin typeface="宋体" pitchFamily="2" charset="-122"/>
                          <a:ea typeface="宋体" pitchFamily="2" charset="-122"/>
                        </a:rPr>
                        <a:t>23.2 </a:t>
                      </a:r>
                      <a:endParaRPr kumimoji="0" lang="en-US" altLang="zh-CN" sz="2000" b="0" i="0" u="none" strike="noStrike" cap="none" normalizeH="0" baseline="0" dirty="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000000"/>
                            </a:outerShdw>
                          </a:effectLst>
                          <a:latin typeface="宋体" pitchFamily="2" charset="-122"/>
                          <a:ea typeface="宋体" pitchFamily="2" charset="-122"/>
                        </a:rPr>
                        <a:t>1 </a:t>
                      </a:r>
                      <a:endParaRPr kumimoji="0" lang="en-US" altLang="zh-CN" sz="2000" b="0" i="0" u="none" strike="noStrike" cap="none" normalizeH="0" baseline="0">
                        <a:ln>
                          <a:noFill/>
                        </a:ln>
                        <a:solidFill>
                          <a:srgbClr val="0000FF"/>
                        </a:solidFill>
                        <a:effectLst>
                          <a:outerShdw blurRad="38100" dist="38100" dir="2700000" algn="tl">
                            <a:srgbClr val="00000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0.00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0.00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96261">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dirty="0">
                          <a:ln>
                            <a:noFill/>
                          </a:ln>
                          <a:solidFill>
                            <a:srgbClr val="0000FF"/>
                          </a:solidFill>
                          <a:effectLst>
                            <a:outerShdw blurRad="38100" dist="38100" dir="2700000" algn="tl">
                              <a:srgbClr val="C0C0C0"/>
                            </a:outerShdw>
                          </a:effectLst>
                          <a:latin typeface="宋体" pitchFamily="2" charset="-122"/>
                          <a:ea typeface="宋体" pitchFamily="2" charset="-122"/>
                        </a:rPr>
                        <a:t>3</a:t>
                      </a:r>
                      <a:endParaRPr kumimoji="0" lang="en-US" altLang="zh-CN" sz="2000" b="0" i="0" u="none" strike="noStrike" cap="none" normalizeH="0" baseline="0" dirty="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24.6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000000"/>
                            </a:outerShdw>
                          </a:effectLst>
                          <a:latin typeface="宋体" pitchFamily="2" charset="-122"/>
                          <a:ea typeface="宋体" pitchFamily="2" charset="-122"/>
                        </a:rPr>
                        <a:t>2 </a:t>
                      </a:r>
                      <a:endParaRPr kumimoji="0" lang="en-US" altLang="zh-CN" sz="2000" b="0" i="0" u="none" strike="noStrike" cap="none" normalizeH="0" baseline="0">
                        <a:ln>
                          <a:noFill/>
                        </a:ln>
                        <a:solidFill>
                          <a:srgbClr val="0000FF"/>
                        </a:solidFill>
                        <a:effectLst>
                          <a:outerShdw blurRad="38100" dist="38100" dir="2700000" algn="tl">
                            <a:srgbClr val="00000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26.5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000000"/>
                            </a:outerShdw>
                          </a:effectLst>
                          <a:latin typeface="宋体" pitchFamily="2" charset="-122"/>
                          <a:ea typeface="宋体" pitchFamily="2" charset="-122"/>
                        </a:rPr>
                        <a:t>3 </a:t>
                      </a:r>
                      <a:endParaRPr kumimoji="0" lang="en-US" altLang="zh-CN" sz="2000" b="0" i="0" u="none" strike="noStrike" cap="none" normalizeH="0" baseline="0">
                        <a:ln>
                          <a:noFill/>
                        </a:ln>
                        <a:solidFill>
                          <a:srgbClr val="0000FF"/>
                        </a:solidFill>
                        <a:effectLst>
                          <a:outerShdw blurRad="38100" dist="38100" dir="2700000" algn="tl">
                            <a:srgbClr val="00000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-1.00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1.00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96261">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9</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19.5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000000"/>
                            </a:outerShdw>
                          </a:effectLst>
                          <a:latin typeface="宋体" pitchFamily="2" charset="-122"/>
                          <a:ea typeface="宋体" pitchFamily="2" charset="-122"/>
                        </a:rPr>
                        <a:t>5 </a:t>
                      </a:r>
                      <a:endParaRPr kumimoji="0" lang="en-US" altLang="zh-CN" sz="2000" b="0" i="0" u="none" strike="noStrike" cap="none" normalizeH="0" baseline="0">
                        <a:ln>
                          <a:noFill/>
                        </a:ln>
                        <a:solidFill>
                          <a:srgbClr val="0000FF"/>
                        </a:solidFill>
                        <a:effectLst>
                          <a:outerShdw blurRad="38100" dist="38100" dir="2700000" algn="tl">
                            <a:srgbClr val="00000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21.1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000000"/>
                            </a:outerShdw>
                          </a:effectLst>
                          <a:latin typeface="宋体" pitchFamily="2" charset="-122"/>
                          <a:ea typeface="宋体" pitchFamily="2" charset="-122"/>
                        </a:rPr>
                        <a:t>5 </a:t>
                      </a:r>
                      <a:endParaRPr kumimoji="0" lang="en-US" altLang="zh-CN" sz="2000" b="0" i="0" u="none" strike="noStrike" cap="none" normalizeH="0" baseline="0">
                        <a:ln>
                          <a:noFill/>
                        </a:ln>
                        <a:solidFill>
                          <a:srgbClr val="0000FF"/>
                        </a:solidFill>
                        <a:effectLst>
                          <a:outerShdw blurRad="38100" dist="38100" dir="2700000" algn="tl">
                            <a:srgbClr val="00000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0.00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0.00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96261">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10</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12.5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000000"/>
                            </a:outerShdw>
                          </a:effectLst>
                          <a:latin typeface="宋体" pitchFamily="2" charset="-122"/>
                          <a:ea typeface="宋体" pitchFamily="2" charset="-122"/>
                        </a:rPr>
                        <a:t>7 </a:t>
                      </a:r>
                      <a:endParaRPr kumimoji="0" lang="en-US" altLang="zh-CN" sz="2000" b="0" i="0" u="none" strike="noStrike" cap="none" normalizeH="0" baseline="0">
                        <a:ln>
                          <a:noFill/>
                        </a:ln>
                        <a:solidFill>
                          <a:srgbClr val="0000FF"/>
                        </a:solidFill>
                        <a:effectLst>
                          <a:outerShdw blurRad="38100" dist="38100" dir="2700000" algn="tl">
                            <a:srgbClr val="00000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13.4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000000"/>
                            </a:outerShdw>
                          </a:effectLst>
                          <a:latin typeface="宋体" pitchFamily="2" charset="-122"/>
                          <a:ea typeface="宋体" pitchFamily="2" charset="-122"/>
                        </a:rPr>
                        <a:t>7 </a:t>
                      </a:r>
                      <a:endParaRPr kumimoji="0" lang="en-US" altLang="zh-CN" sz="2000" b="0" i="0" u="none" strike="noStrike" cap="none" normalizeH="0" baseline="0">
                        <a:ln>
                          <a:noFill/>
                        </a:ln>
                        <a:solidFill>
                          <a:srgbClr val="0000FF"/>
                        </a:solidFill>
                        <a:effectLst>
                          <a:outerShdw blurRad="38100" dist="38100" dir="2700000" algn="tl">
                            <a:srgbClr val="00000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0.00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0.00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96261">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11</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4.0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000000"/>
                            </a:outerShdw>
                          </a:effectLst>
                          <a:latin typeface="宋体" pitchFamily="2" charset="-122"/>
                          <a:ea typeface="宋体" pitchFamily="2" charset="-122"/>
                        </a:rPr>
                        <a:t>9 </a:t>
                      </a:r>
                      <a:endParaRPr kumimoji="0" lang="en-US" altLang="zh-CN" sz="2000" b="0" i="0" u="none" strike="noStrike" cap="none" normalizeH="0" baseline="0">
                        <a:ln>
                          <a:noFill/>
                        </a:ln>
                        <a:solidFill>
                          <a:srgbClr val="0000FF"/>
                        </a:solidFill>
                        <a:effectLst>
                          <a:outerShdw blurRad="38100" dist="38100" dir="2700000" algn="tl">
                            <a:srgbClr val="00000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4.6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000000"/>
                            </a:outerShdw>
                          </a:effectLst>
                          <a:latin typeface="宋体" pitchFamily="2" charset="-122"/>
                          <a:ea typeface="宋体" pitchFamily="2" charset="-122"/>
                        </a:rPr>
                        <a:t>9 </a:t>
                      </a:r>
                      <a:endParaRPr kumimoji="0" lang="en-US" altLang="zh-CN" sz="2000" b="0" i="0" u="none" strike="noStrike" cap="none" normalizeH="0" baseline="0">
                        <a:ln>
                          <a:noFill/>
                        </a:ln>
                        <a:solidFill>
                          <a:srgbClr val="0000FF"/>
                        </a:solidFill>
                        <a:effectLst>
                          <a:outerShdw blurRad="38100" dist="38100" dir="2700000" algn="tl">
                            <a:srgbClr val="00000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0.00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0.00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96261">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12</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dirty="0">
                          <a:ln>
                            <a:noFill/>
                          </a:ln>
                          <a:solidFill>
                            <a:srgbClr val="0000FF"/>
                          </a:solidFill>
                          <a:effectLst>
                            <a:outerShdw blurRad="38100" dist="38100" dir="2700000" algn="tl">
                              <a:srgbClr val="C0C0C0"/>
                            </a:outerShdw>
                          </a:effectLst>
                          <a:latin typeface="宋体" pitchFamily="2" charset="-122"/>
                          <a:ea typeface="宋体" pitchFamily="2" charset="-122"/>
                        </a:rPr>
                        <a:t>-2.3 </a:t>
                      </a:r>
                      <a:endParaRPr kumimoji="0" lang="en-US" altLang="zh-CN" sz="2000" b="0" i="0" u="none" strike="noStrike" cap="none" normalizeH="0" baseline="0" dirty="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000000"/>
                            </a:outerShdw>
                          </a:effectLst>
                          <a:latin typeface="宋体" pitchFamily="2" charset="-122"/>
                          <a:ea typeface="宋体" pitchFamily="2" charset="-122"/>
                        </a:rPr>
                        <a:t>11 </a:t>
                      </a:r>
                      <a:endParaRPr kumimoji="0" lang="en-US" altLang="zh-CN" sz="2000" b="0" i="0" u="none" strike="noStrike" cap="none" normalizeH="0" baseline="0">
                        <a:ln>
                          <a:noFill/>
                        </a:ln>
                        <a:solidFill>
                          <a:srgbClr val="0000FF"/>
                        </a:solidFill>
                        <a:effectLst>
                          <a:outerShdw blurRad="38100" dist="38100" dir="2700000" algn="tl">
                            <a:srgbClr val="00000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-1.9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000000"/>
                            </a:outerShdw>
                          </a:effectLst>
                          <a:latin typeface="宋体" pitchFamily="2" charset="-122"/>
                          <a:ea typeface="宋体" pitchFamily="2" charset="-122"/>
                        </a:rPr>
                        <a:t>11 </a:t>
                      </a:r>
                      <a:endParaRPr kumimoji="0" lang="en-US" altLang="zh-CN" sz="2000" b="0" i="0" u="none" strike="noStrike" cap="none" normalizeH="0" baseline="0">
                        <a:ln>
                          <a:noFill/>
                        </a:ln>
                        <a:solidFill>
                          <a:srgbClr val="0000FF"/>
                        </a:solidFill>
                        <a:effectLst>
                          <a:outerShdw blurRad="38100" dist="38100" dir="2700000" algn="tl">
                            <a:srgbClr val="00000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0.00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0.00 </a:t>
                      </a:r>
                      <a:endParaRPr kumimoji="0" lang="en-US" altLang="zh-CN"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519141">
                <a:tc>
                  <a:txBody>
                    <a:bodyPr/>
                    <a:lstStyle/>
                    <a:p>
                      <a:pPr marL="0" marR="0" lvl="0" indent="0" algn="l" defTabSz="914400" rtl="0" eaLnBrk="1" fontAlgn="ctr" latinLnBrk="0" hangingPunct="1">
                        <a:lnSpc>
                          <a:spcPct val="100000"/>
                        </a:lnSpc>
                        <a:spcBef>
                          <a:spcPct val="0"/>
                        </a:spcBef>
                        <a:spcAft>
                          <a:spcPct val="0"/>
                        </a:spcAft>
                        <a:buClrTx/>
                        <a:buSzPct val="90000"/>
                        <a:buFontTx/>
                        <a:buNone/>
                        <a:tabLst/>
                      </a:pPr>
                      <a:r>
                        <a:rPr kumimoji="0" lang="zh-CN" altLang="en-US" sz="2000" b="0" i="0" u="none" strike="noStrike" cap="none" normalizeH="0" baseline="0">
                          <a:ln>
                            <a:noFill/>
                          </a:ln>
                          <a:solidFill>
                            <a:srgbClr val="0000FF"/>
                          </a:solidFill>
                          <a:effectLst>
                            <a:outerShdw blurRad="38100" dist="38100" dir="2700000" algn="tl">
                              <a:srgbClr val="C0C0C0"/>
                            </a:outerShdw>
                          </a:effectLst>
                          <a:latin typeface="宋体" pitchFamily="2" charset="-122"/>
                          <a:ea typeface="宋体" pitchFamily="2" charset="-122"/>
                        </a:rPr>
                        <a:t>合计</a:t>
                      </a:r>
                      <a:endParaRPr kumimoji="0" lang="zh-CN" altLang="en-US" sz="2000" b="0" i="0" u="none" strike="noStrike" cap="none" normalizeH="0" baseline="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5">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endParaRPr kumimoji="0" lang="zh-CN" altLang="zh-CN" sz="2000" b="0" i="0" u="none" strike="noStrike" cap="none" normalizeH="0" baseline="0" dirty="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marL="0" marR="0" lvl="0" indent="0" algn="r" defTabSz="914400" rtl="0" eaLnBrk="1" fontAlgn="ctr" latinLnBrk="0" hangingPunct="1">
                        <a:lnSpc>
                          <a:spcPct val="100000"/>
                        </a:lnSpc>
                        <a:spcBef>
                          <a:spcPct val="0"/>
                        </a:spcBef>
                        <a:spcAft>
                          <a:spcPct val="0"/>
                        </a:spcAft>
                        <a:buClrTx/>
                        <a:buSzPct val="90000"/>
                        <a:buFontTx/>
                        <a:buNone/>
                        <a:tabLst/>
                      </a:pPr>
                      <a:r>
                        <a:rPr kumimoji="0" lang="en-US" altLang="zh-CN" sz="2000" b="0" i="0" u="none" strike="noStrike" cap="none" normalizeH="0" baseline="0" dirty="0">
                          <a:ln>
                            <a:noFill/>
                          </a:ln>
                          <a:solidFill>
                            <a:srgbClr val="0000FF"/>
                          </a:solidFill>
                          <a:effectLst>
                            <a:outerShdw blurRad="38100" dist="38100" dir="2700000" algn="tl">
                              <a:srgbClr val="C0C0C0"/>
                            </a:outerShdw>
                          </a:effectLst>
                          <a:latin typeface="宋体" pitchFamily="2" charset="-122"/>
                          <a:ea typeface="宋体" pitchFamily="2" charset="-122"/>
                        </a:rPr>
                        <a:t>2.00 </a:t>
                      </a:r>
                      <a:endParaRPr kumimoji="0" lang="en-US" altLang="zh-CN" sz="2000" b="0" i="0" u="none" strike="noStrike" cap="none" normalizeH="0" baseline="0" dirty="0">
                        <a:ln>
                          <a:noFill/>
                        </a:ln>
                        <a:solidFill>
                          <a:srgbClr val="0000FF"/>
                        </a:solidFill>
                        <a:effectLst>
                          <a:outerShdw blurRad="38100" dist="38100" dir="2700000" algn="tl">
                            <a:srgbClr val="C0C0C0"/>
                          </a:outerShdw>
                        </a:effectLst>
                        <a:latin typeface="Arial" pitchFamily="34" charset="0"/>
                        <a:ea typeface="宋体" pitchFamily="2" charset="-122"/>
                      </a:endParaRPr>
                    </a:p>
                  </a:txBody>
                  <a:tcPr marT="45722" marB="4572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651" name="Object 1028">
            <a:extLst>
              <a:ext uri="{FF2B5EF4-FFF2-40B4-BE49-F238E27FC236}">
                <a16:creationId xmlns:a16="http://schemas.microsoft.com/office/drawing/2014/main" id="{B9719082-56CF-4BB7-A784-C6032792EEBD}"/>
              </a:ext>
            </a:extLst>
          </p:cNvPr>
          <p:cNvGraphicFramePr>
            <a:graphicFrameLocks noGrp="1" noChangeAspect="1"/>
          </p:cNvGraphicFramePr>
          <p:nvPr>
            <p:ph idx="1"/>
          </p:nvPr>
        </p:nvGraphicFramePr>
        <p:xfrm>
          <a:off x="762000" y="2351088"/>
          <a:ext cx="7548563" cy="1946275"/>
        </p:xfrm>
        <a:graphic>
          <a:graphicData uri="http://schemas.openxmlformats.org/presentationml/2006/ole">
            <mc:AlternateContent xmlns:mc="http://schemas.openxmlformats.org/markup-compatibility/2006">
              <mc:Choice xmlns:v="urn:schemas-microsoft-com:vml" Requires="v">
                <p:oleObj spid="_x0000_s27698" name="公式" r:id="rId3" imgW="1625600" imgH="419100" progId="Equation.3">
                  <p:embed/>
                </p:oleObj>
              </mc:Choice>
              <mc:Fallback>
                <p:oleObj name="公式" r:id="rId3" imgW="1625600" imgH="419100" progId="Equation.3">
                  <p:embed/>
                  <p:pic>
                    <p:nvPicPr>
                      <p:cNvPr id="0" name="Object 10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2351088"/>
                        <a:ext cx="7548563" cy="1946275"/>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Rectangle 2">
            <a:extLst>
              <a:ext uri="{FF2B5EF4-FFF2-40B4-BE49-F238E27FC236}">
                <a16:creationId xmlns:a16="http://schemas.microsoft.com/office/drawing/2014/main" id="{74E930F0-E061-4B7D-8F44-55B5B74097B7}"/>
              </a:ext>
            </a:extLst>
          </p:cNvPr>
          <p:cNvSpPr>
            <a:spLocks noGrp="1" noChangeArrowheads="1"/>
          </p:cNvSpPr>
          <p:nvPr>
            <p:ph type="title"/>
          </p:nvPr>
        </p:nvSpPr>
        <p:spPr>
          <a:xfrm>
            <a:off x="323850" y="95250"/>
            <a:ext cx="8458200" cy="1462088"/>
          </a:xfrm>
        </p:spPr>
        <p:txBody>
          <a:bodyPr/>
          <a:lstStyle/>
          <a:p>
            <a:pPr eaLnBrk="1" hangingPunct="1"/>
            <a:r>
              <a:rPr lang="en-US" altLang="zh-CN" dirty="0"/>
              <a:t>2</a:t>
            </a:r>
            <a:r>
              <a:rPr lang="zh-CN" altLang="en-US" dirty="0"/>
              <a:t>、顺序（等级）相关系数计算</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7858" name="Group 2">
            <a:extLst>
              <a:ext uri="{FF2B5EF4-FFF2-40B4-BE49-F238E27FC236}">
                <a16:creationId xmlns:a16="http://schemas.microsoft.com/office/drawing/2014/main" id="{9D52A692-693B-4B43-B1CB-A1573238559B}"/>
              </a:ext>
            </a:extLst>
          </p:cNvPr>
          <p:cNvGraphicFramePr>
            <a:graphicFrameLocks noGrp="1"/>
          </p:cNvGraphicFramePr>
          <p:nvPr/>
        </p:nvGraphicFramePr>
        <p:xfrm>
          <a:off x="914400" y="1600200"/>
          <a:ext cx="7524750" cy="4124325"/>
        </p:xfrm>
        <a:graphic>
          <a:graphicData uri="http://schemas.openxmlformats.org/drawingml/2006/table">
            <a:tbl>
              <a:tblPr/>
              <a:tblGrid>
                <a:gridCol w="1254125">
                  <a:extLst>
                    <a:ext uri="{9D8B030D-6E8A-4147-A177-3AD203B41FA5}">
                      <a16:colId xmlns:a16="http://schemas.microsoft.com/office/drawing/2014/main" val="20000"/>
                    </a:ext>
                  </a:extLst>
                </a:gridCol>
                <a:gridCol w="1254125">
                  <a:extLst>
                    <a:ext uri="{9D8B030D-6E8A-4147-A177-3AD203B41FA5}">
                      <a16:colId xmlns:a16="http://schemas.microsoft.com/office/drawing/2014/main" val="20001"/>
                    </a:ext>
                  </a:extLst>
                </a:gridCol>
                <a:gridCol w="1254125">
                  <a:extLst>
                    <a:ext uri="{9D8B030D-6E8A-4147-A177-3AD203B41FA5}">
                      <a16:colId xmlns:a16="http://schemas.microsoft.com/office/drawing/2014/main" val="20002"/>
                    </a:ext>
                  </a:extLst>
                </a:gridCol>
                <a:gridCol w="1254125">
                  <a:extLst>
                    <a:ext uri="{9D8B030D-6E8A-4147-A177-3AD203B41FA5}">
                      <a16:colId xmlns:a16="http://schemas.microsoft.com/office/drawing/2014/main" val="20003"/>
                    </a:ext>
                  </a:extLst>
                </a:gridCol>
                <a:gridCol w="1254125">
                  <a:extLst>
                    <a:ext uri="{9D8B030D-6E8A-4147-A177-3AD203B41FA5}">
                      <a16:colId xmlns:a16="http://schemas.microsoft.com/office/drawing/2014/main" val="20004"/>
                    </a:ext>
                  </a:extLst>
                </a:gridCol>
                <a:gridCol w="1254125">
                  <a:extLst>
                    <a:ext uri="{9D8B030D-6E8A-4147-A177-3AD203B41FA5}">
                      <a16:colId xmlns:a16="http://schemas.microsoft.com/office/drawing/2014/main" val="20005"/>
                    </a:ext>
                  </a:extLst>
                </a:gridCol>
              </a:tblGrid>
              <a:tr h="466725">
                <a:tc rowSpan="2">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endParaRPr kumimoji="0" lang="en-US" altLang="zh-CN" sz="18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rPr>
                        <a:t>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Times New Roman" pitchFamily="18" charset="0"/>
                          <a:ea typeface="宋体" pitchFamily="2" charset="-122"/>
                        </a:rPr>
                        <a:t>        </a:t>
                      </a:r>
                      <a:r>
                        <a:rPr kumimoji="0" lang="zh-CN" altLang="en-US" sz="1800" b="0" i="0" u="none" strike="noStrike" cap="none" normalizeH="0" baseline="0">
                          <a:ln>
                            <a:noFill/>
                          </a:ln>
                          <a:solidFill>
                            <a:srgbClr val="000000"/>
                          </a:solidFill>
                          <a:effectLst>
                            <a:outerShdw blurRad="38100" dist="38100" dir="2700000" algn="tl">
                              <a:srgbClr val="FFFFFF"/>
                            </a:outerShdw>
                          </a:effectLst>
                          <a:latin typeface="Times New Roman" pitchFamily="18" charset="0"/>
                          <a:ea typeface="宋体" pitchFamily="2" charset="-122"/>
                        </a:rPr>
                        <a:t>显著水平</a:t>
                      </a: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Times New Roman" pitchFamily="18" charset="0"/>
                          <a:ea typeface="宋体" pitchFamily="2" charset="-122"/>
                        </a:rPr>
                        <a:t>α</a:t>
                      </a:r>
                      <a:r>
                        <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rowSpan="2">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rPr>
                        <a:t>  </a:t>
                      </a:r>
                    </a:p>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rPr>
                        <a:t>      n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Times New Roman" pitchFamily="18" charset="0"/>
                          <a:ea typeface="宋体" pitchFamily="2" charset="-122"/>
                        </a:rPr>
                        <a:t>        </a:t>
                      </a:r>
                      <a:r>
                        <a:rPr kumimoji="0" lang="zh-CN" altLang="en-US" sz="1800" b="0" i="0" u="none" strike="noStrike" cap="none" normalizeH="0" baseline="0">
                          <a:ln>
                            <a:noFill/>
                          </a:ln>
                          <a:solidFill>
                            <a:srgbClr val="000000"/>
                          </a:solidFill>
                          <a:effectLst>
                            <a:outerShdw blurRad="38100" dist="38100" dir="2700000" algn="tl">
                              <a:srgbClr val="FFFFFF"/>
                            </a:outerShdw>
                          </a:effectLst>
                          <a:latin typeface="Times New Roman" pitchFamily="18" charset="0"/>
                          <a:ea typeface="宋体" pitchFamily="2" charset="-122"/>
                        </a:rPr>
                        <a:t>显著水平</a:t>
                      </a: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Times New Roman" pitchFamily="18" charset="0"/>
                          <a:ea typeface="宋体" pitchFamily="2" charset="-122"/>
                        </a:rPr>
                        <a:t>α</a:t>
                      </a:r>
                      <a:r>
                        <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352425">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0.05</a:t>
                      </a:r>
                      <a:r>
                        <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0.01</a:t>
                      </a:r>
                      <a:r>
                        <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0.05</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0.01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24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4</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1.000</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 </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16</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0.425</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0.601</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24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5</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0.900</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1.000</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13</a:t>
                      </a:r>
                      <a:endParaRPr kumimoji="0" lang="en-US" altLang="zh-CN" sz="18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0.399</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0.564</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24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6</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0.329</a:t>
                      </a:r>
                      <a:endParaRPr kumimoji="0" lang="en-US" altLang="zh-CN" sz="18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0.943</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20</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0.377</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0.534</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24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7</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0.714</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0.393</a:t>
                      </a:r>
                      <a:endParaRPr kumimoji="0" lang="en-US" altLang="zh-CN" sz="18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22</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0.359</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0.503</a:t>
                      </a:r>
                      <a:endParaRPr kumimoji="0" lang="en-US" altLang="zh-CN" sz="18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524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3</a:t>
                      </a:r>
                      <a:endParaRPr kumimoji="0" lang="en-US" altLang="zh-CN" sz="18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0.643</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0.333</a:t>
                      </a:r>
                      <a:endParaRPr kumimoji="0" lang="en-US" altLang="zh-CN" sz="18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24</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0.343</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0.435</a:t>
                      </a:r>
                      <a:endParaRPr kumimoji="0" lang="en-US" altLang="zh-CN" sz="18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401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9</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0.600</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0.733</a:t>
                      </a:r>
                      <a:endParaRPr kumimoji="0" lang="en-US" altLang="zh-CN" sz="18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26</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0.329</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0.465</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524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10</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0.564</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0.746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23</a:t>
                      </a:r>
                      <a:endParaRPr kumimoji="0" lang="en-US" altLang="zh-CN" sz="18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0.317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0.443</a:t>
                      </a:r>
                      <a:endParaRPr kumimoji="0" lang="en-US" altLang="zh-CN" sz="18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524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12</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0.456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0.712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     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   0.306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0.432</a:t>
                      </a:r>
                      <a:endPar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524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chemeClr val="tx1"/>
                          </a:solidFill>
                          <a:effectLst>
                            <a:outerShdw blurRad="38100" dist="38100" dir="2700000" algn="tl">
                              <a:srgbClr val="000000"/>
                            </a:outerShdw>
                          </a:effectLst>
                          <a:latin typeface="Arial" pitchFamily="34" charset="0"/>
                          <a:ea typeface="宋体" pitchFamily="2" charset="-122"/>
                        </a:rPr>
                        <a:t>14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0.456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0.645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18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宋体"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28757" name="Text Box 85">
            <a:extLst>
              <a:ext uri="{FF2B5EF4-FFF2-40B4-BE49-F238E27FC236}">
                <a16:creationId xmlns:a16="http://schemas.microsoft.com/office/drawing/2014/main" id="{5BCD5A69-F019-4C34-8A07-F9D2B84387FE}"/>
              </a:ext>
            </a:extLst>
          </p:cNvPr>
          <p:cNvSpPr txBox="1">
            <a:spLocks noChangeArrowheads="1"/>
          </p:cNvSpPr>
          <p:nvPr/>
        </p:nvSpPr>
        <p:spPr bwMode="auto">
          <a:xfrm>
            <a:off x="1371600" y="5715000"/>
            <a:ext cx="7467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i="1">
                <a:latin typeface="Times New Roman" panose="02020603050405020304" pitchFamily="18" charset="0"/>
              </a:rPr>
              <a:t>n</a:t>
            </a:r>
            <a:r>
              <a:rPr kumimoji="1" lang="zh-CN" altLang="en-US" sz="2400">
                <a:latin typeface="宋体" panose="02010600030101010101" pitchFamily="2" charset="-122"/>
              </a:rPr>
              <a:t>代表样本个数，</a:t>
            </a:r>
            <a:r>
              <a:rPr kumimoji="1" lang="en-US" altLang="zh-CN" sz="2400" i="1">
                <a:latin typeface="Times New Roman" panose="02020603050405020304" pitchFamily="18" charset="0"/>
              </a:rPr>
              <a:t>α</a:t>
            </a:r>
            <a:r>
              <a:rPr kumimoji="1" lang="zh-CN" altLang="en-US" sz="2400">
                <a:latin typeface="宋体" panose="02010600030101010101" pitchFamily="2" charset="-122"/>
              </a:rPr>
              <a:t>代表不同的置信水平，也称显著水平，表中的数值为临界值     。</a:t>
            </a:r>
            <a:r>
              <a:rPr kumimoji="1" lang="zh-CN" altLang="en-US" sz="2400"/>
              <a:t> </a:t>
            </a:r>
          </a:p>
        </p:txBody>
      </p:sp>
      <p:sp>
        <p:nvSpPr>
          <p:cNvPr id="28758" name="Text Box 86">
            <a:extLst>
              <a:ext uri="{FF2B5EF4-FFF2-40B4-BE49-F238E27FC236}">
                <a16:creationId xmlns:a16="http://schemas.microsoft.com/office/drawing/2014/main" id="{F07435CB-EAF1-497E-A23A-6A6DAC293D04}"/>
              </a:ext>
            </a:extLst>
          </p:cNvPr>
          <p:cNvSpPr txBox="1">
            <a:spLocks noChangeArrowheads="1"/>
          </p:cNvSpPr>
          <p:nvPr/>
        </p:nvSpPr>
        <p:spPr bwMode="auto">
          <a:xfrm>
            <a:off x="539552" y="381000"/>
            <a:ext cx="54802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600" b="1" dirty="0"/>
              <a:t>3.2.2</a:t>
            </a:r>
            <a:r>
              <a:rPr kumimoji="1" lang="zh-CN" altLang="en-US" sz="3600" b="1" dirty="0"/>
              <a:t>秩相关系数的检验</a:t>
            </a:r>
            <a:r>
              <a:rPr kumimoji="1" lang="zh-CN" altLang="en-US" sz="2400" dirty="0"/>
              <a:t> </a:t>
            </a:r>
          </a:p>
        </p:txBody>
      </p:sp>
      <p:sp>
        <p:nvSpPr>
          <p:cNvPr id="28759" name="Rectangle 87">
            <a:extLst>
              <a:ext uri="{FF2B5EF4-FFF2-40B4-BE49-F238E27FC236}">
                <a16:creationId xmlns:a16="http://schemas.microsoft.com/office/drawing/2014/main" id="{BA461B6F-2FE2-445B-B92C-26A852A65844}"/>
              </a:ext>
            </a:extLst>
          </p:cNvPr>
          <p:cNvSpPr>
            <a:spLocks noChangeArrowheads="1"/>
          </p:cNvSpPr>
          <p:nvPr/>
        </p:nvSpPr>
        <p:spPr bwMode="auto">
          <a:xfrm>
            <a:off x="2209800" y="1066800"/>
            <a:ext cx="533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latin typeface="宋体" panose="02010600030101010101" pitchFamily="2" charset="-122"/>
              </a:rPr>
              <a:t>表</a:t>
            </a:r>
            <a:r>
              <a:rPr kumimoji="1" lang="en-US" altLang="zh-CN" sz="2400" b="1">
                <a:latin typeface="宋体" panose="02010600030101010101" pitchFamily="2" charset="-122"/>
              </a:rPr>
              <a:t>3.1.5  </a:t>
            </a:r>
            <a:r>
              <a:rPr kumimoji="1" lang="zh-CN" altLang="en-US" sz="2400" b="1">
                <a:latin typeface="宋体" panose="02010600030101010101" pitchFamily="2" charset="-122"/>
              </a:rPr>
              <a:t>秩相关系数检验的临界值 </a:t>
            </a:r>
          </a:p>
        </p:txBody>
      </p:sp>
      <p:graphicFrame>
        <p:nvGraphicFramePr>
          <p:cNvPr id="28760" name="Object 88">
            <a:extLst>
              <a:ext uri="{FF2B5EF4-FFF2-40B4-BE49-F238E27FC236}">
                <a16:creationId xmlns:a16="http://schemas.microsoft.com/office/drawing/2014/main" id="{6B485747-7D8B-47EF-88FF-B4BF2516B910}"/>
              </a:ext>
            </a:extLst>
          </p:cNvPr>
          <p:cNvGraphicFramePr>
            <a:graphicFrameLocks noChangeAspect="1"/>
          </p:cNvGraphicFramePr>
          <p:nvPr/>
        </p:nvGraphicFramePr>
        <p:xfrm>
          <a:off x="5029200" y="5943600"/>
          <a:ext cx="403225" cy="609600"/>
        </p:xfrm>
        <a:graphic>
          <a:graphicData uri="http://schemas.openxmlformats.org/presentationml/2006/ole">
            <mc:AlternateContent xmlns:mc="http://schemas.openxmlformats.org/markup-compatibility/2006">
              <mc:Choice xmlns:v="urn:schemas-microsoft-com:vml" Requires="v">
                <p:oleObj spid="_x0000_s28807" name="Equation" r:id="rId3" imgW="152334" imgH="228501" progId="Equation.3">
                  <p:embed/>
                </p:oleObj>
              </mc:Choice>
              <mc:Fallback>
                <p:oleObj name="Equation" r:id="rId3" imgW="152334" imgH="228501" progId="Equation.3">
                  <p:embed/>
                  <p:pic>
                    <p:nvPicPr>
                      <p:cNvPr id="0" name="Object 8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200" y="5943600"/>
                        <a:ext cx="403225" cy="609600"/>
                      </a:xfrm>
                      <a:prstGeom prst="rect">
                        <a:avLst/>
                      </a:prstGeom>
                      <a:noFill/>
                      <a:ln>
                        <a:noFill/>
                      </a:ln>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a:extLst>
              <a:ext uri="{FF2B5EF4-FFF2-40B4-BE49-F238E27FC236}">
                <a16:creationId xmlns:a16="http://schemas.microsoft.com/office/drawing/2014/main" id="{76935BF0-5231-4CB7-9C38-A483F20FCF48}"/>
              </a:ext>
            </a:extLst>
          </p:cNvPr>
          <p:cNvSpPr>
            <a:spLocks noGrp="1" noChangeArrowheads="1"/>
          </p:cNvSpPr>
          <p:nvPr>
            <p:ph type="body" sz="half" idx="1"/>
          </p:nvPr>
        </p:nvSpPr>
        <p:spPr>
          <a:xfrm>
            <a:off x="395536" y="980728"/>
            <a:ext cx="8569325" cy="1657350"/>
          </a:xfrm>
        </p:spPr>
        <p:txBody>
          <a:bodyPr/>
          <a:lstStyle/>
          <a:p>
            <a:pPr eaLnBrk="1" hangingPunct="1">
              <a:lnSpc>
                <a:spcPct val="90000"/>
              </a:lnSpc>
            </a:pPr>
            <a:r>
              <a:rPr lang="zh-CN" altLang="en-US" sz="2800" dirty="0"/>
              <a:t>（二）多要素相关与相关矩阵</a:t>
            </a:r>
          </a:p>
          <a:p>
            <a:pPr lvl="1" eaLnBrk="1" hangingPunct="1">
              <a:lnSpc>
                <a:spcPct val="90000"/>
              </a:lnSpc>
            </a:pPr>
            <a:r>
              <a:rPr lang="zh-CN" altLang="en-US" sz="2400" dirty="0"/>
              <a:t>如果问题涉及到多个要素（</a:t>
            </a:r>
            <a:r>
              <a:rPr lang="en-US" altLang="zh-CN" sz="2400" dirty="0"/>
              <a:t>n</a:t>
            </a:r>
            <a:r>
              <a:rPr lang="zh-CN" altLang="en-US" sz="2400" dirty="0"/>
              <a:t>个），则对于其中任何两个要素</a:t>
            </a:r>
            <a:r>
              <a:rPr lang="en-US" altLang="zh-CN" sz="2400" dirty="0"/>
              <a:t>x</a:t>
            </a:r>
            <a:r>
              <a:rPr lang="en-US" altLang="zh-CN" sz="2400" baseline="-25000" dirty="0"/>
              <a:t>i</a:t>
            </a:r>
            <a:r>
              <a:rPr lang="zh-CN" altLang="en-US" sz="2400" dirty="0"/>
              <a:t>和</a:t>
            </a:r>
            <a:r>
              <a:rPr lang="en-US" altLang="zh-CN" sz="2400" dirty="0" err="1"/>
              <a:t>x</a:t>
            </a:r>
            <a:r>
              <a:rPr lang="en-US" altLang="zh-CN" sz="2400" baseline="-25000" dirty="0" err="1"/>
              <a:t>j</a:t>
            </a:r>
            <a:r>
              <a:rPr lang="en-US" altLang="zh-CN" sz="2400" baseline="-25000" dirty="0"/>
              <a:t> </a:t>
            </a:r>
            <a:r>
              <a:rPr lang="zh-CN" altLang="en-US" sz="2400" dirty="0"/>
              <a:t>，都可以按照下面的公式计算。得到多要素的相关系数矩阵</a:t>
            </a:r>
          </a:p>
        </p:txBody>
      </p:sp>
      <p:graphicFrame>
        <p:nvGraphicFramePr>
          <p:cNvPr id="32771" name="Object 2048">
            <a:extLst>
              <a:ext uri="{FF2B5EF4-FFF2-40B4-BE49-F238E27FC236}">
                <a16:creationId xmlns:a16="http://schemas.microsoft.com/office/drawing/2014/main" id="{8B77228F-2A69-4C05-8582-BB67F12BD6DE}"/>
              </a:ext>
            </a:extLst>
          </p:cNvPr>
          <p:cNvGraphicFramePr>
            <a:graphicFrameLocks noChangeAspect="1"/>
          </p:cNvGraphicFramePr>
          <p:nvPr>
            <p:extLst>
              <p:ext uri="{D42A27DB-BD31-4B8C-83A1-F6EECF244321}">
                <p14:modId xmlns:p14="http://schemas.microsoft.com/office/powerpoint/2010/main" val="1930136498"/>
              </p:ext>
            </p:extLst>
          </p:nvPr>
        </p:nvGraphicFramePr>
        <p:xfrm>
          <a:off x="1187624" y="2160964"/>
          <a:ext cx="7200900" cy="4687888"/>
        </p:xfrm>
        <a:graphic>
          <a:graphicData uri="http://schemas.openxmlformats.org/presentationml/2006/ole">
            <mc:AlternateContent xmlns:mc="http://schemas.openxmlformats.org/markup-compatibility/2006">
              <mc:Choice xmlns:v="urn:schemas-microsoft-com:vml" Requires="v">
                <p:oleObj spid="_x0000_s32819" name="公式" r:id="rId3" imgW="2146300" imgH="1397000" progId="Equation.3">
                  <p:embed/>
                </p:oleObj>
              </mc:Choice>
              <mc:Fallback>
                <p:oleObj name="公式" r:id="rId3" imgW="2146300" imgH="1397000" progId="Equation.3">
                  <p:embed/>
                  <p:pic>
                    <p:nvPicPr>
                      <p:cNvPr id="0" name="Object 20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624" y="2160964"/>
                        <a:ext cx="7200900" cy="468788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Text Box 86">
            <a:extLst>
              <a:ext uri="{FF2B5EF4-FFF2-40B4-BE49-F238E27FC236}">
                <a16:creationId xmlns:a16="http://schemas.microsoft.com/office/drawing/2014/main" id="{6FD71026-78E6-4921-9073-958C6F6EE4BF}"/>
              </a:ext>
            </a:extLst>
          </p:cNvPr>
          <p:cNvSpPr txBox="1">
            <a:spLocks noGrp="1" noChangeArrowheads="1"/>
          </p:cNvSpPr>
          <p:nvPr>
            <p:ph type="title"/>
          </p:nvPr>
        </p:nvSpPr>
        <p:spPr bwMode="auto">
          <a:xfrm>
            <a:off x="413088" y="188640"/>
            <a:ext cx="82296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600" b="1" dirty="0"/>
              <a:t>3.2.3</a:t>
            </a:r>
            <a:r>
              <a:rPr kumimoji="1" lang="zh-CN" altLang="en-US" sz="3600" b="1" dirty="0"/>
              <a:t>相关系数矩阵</a:t>
            </a:r>
            <a:endParaRPr kumimoji="1" lang="zh-CN" altLang="en-US" sz="2400" dirty="0"/>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a:extLst>
              <a:ext uri="{FF2B5EF4-FFF2-40B4-BE49-F238E27FC236}">
                <a16:creationId xmlns:a16="http://schemas.microsoft.com/office/drawing/2014/main" id="{53FF5BF8-1707-4951-9C3C-198DEB9FE3A7}"/>
              </a:ext>
            </a:extLst>
          </p:cNvPr>
          <p:cNvSpPr>
            <a:spLocks noGrp="1" noChangeArrowheads="1"/>
          </p:cNvSpPr>
          <p:nvPr>
            <p:ph type="body" sz="half" idx="1"/>
          </p:nvPr>
        </p:nvSpPr>
        <p:spPr>
          <a:xfrm>
            <a:off x="457200" y="1600200"/>
            <a:ext cx="7427168" cy="1052513"/>
          </a:xfrm>
        </p:spPr>
        <p:txBody>
          <a:bodyPr/>
          <a:lstStyle/>
          <a:p>
            <a:pPr eaLnBrk="1" hangingPunct="1"/>
            <a:r>
              <a:rPr lang="zh-CN" altLang="en-US" sz="2800" dirty="0"/>
              <a:t>多要素的相关系数矩阵</a:t>
            </a:r>
          </a:p>
          <a:p>
            <a:pPr lvl="1" eaLnBrk="1" hangingPunct="1"/>
            <a:r>
              <a:rPr lang="zh-CN" altLang="en-US" sz="2400" dirty="0"/>
              <a:t>对角线数值为</a:t>
            </a:r>
            <a:r>
              <a:rPr lang="en-US" altLang="zh-CN" sz="2400" dirty="0"/>
              <a:t>1</a:t>
            </a:r>
            <a:r>
              <a:rPr lang="zh-CN" altLang="en-US" sz="2400" dirty="0"/>
              <a:t>的对称矩阵</a:t>
            </a:r>
          </a:p>
        </p:txBody>
      </p:sp>
      <p:graphicFrame>
        <p:nvGraphicFramePr>
          <p:cNvPr id="33796" name="Object 5">
            <a:extLst>
              <a:ext uri="{FF2B5EF4-FFF2-40B4-BE49-F238E27FC236}">
                <a16:creationId xmlns:a16="http://schemas.microsoft.com/office/drawing/2014/main" id="{60DA6DFC-D9E9-4844-9693-1FB34B16A2BD}"/>
              </a:ext>
            </a:extLst>
          </p:cNvPr>
          <p:cNvGraphicFramePr>
            <a:graphicFrameLocks noGrp="1" noChangeAspect="1"/>
          </p:cNvGraphicFramePr>
          <p:nvPr>
            <p:ph sz="half" idx="2"/>
          </p:nvPr>
        </p:nvGraphicFramePr>
        <p:xfrm>
          <a:off x="4071938" y="3071813"/>
          <a:ext cx="4492625" cy="2890837"/>
        </p:xfrm>
        <a:graphic>
          <a:graphicData uri="http://schemas.openxmlformats.org/presentationml/2006/ole">
            <mc:AlternateContent xmlns:mc="http://schemas.openxmlformats.org/markup-compatibility/2006">
              <mc:Choice xmlns:v="urn:schemas-microsoft-com:vml" Requires="v">
                <p:oleObj spid="_x0000_s33845" name="公式" r:id="rId3" imgW="1459866" imgH="939392" progId="Equation.3">
                  <p:embed/>
                </p:oleObj>
              </mc:Choice>
              <mc:Fallback>
                <p:oleObj name="公式" r:id="rId3" imgW="1459866" imgH="939392"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1938" y="3071813"/>
                        <a:ext cx="4492625" cy="2890837"/>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797" name="AutoShape 4">
            <a:hlinkClick r:id="rId5" action="ppaction://hlinksldjump" highlightClick="1"/>
            <a:extLst>
              <a:ext uri="{FF2B5EF4-FFF2-40B4-BE49-F238E27FC236}">
                <a16:creationId xmlns:a16="http://schemas.microsoft.com/office/drawing/2014/main" id="{4EA2DC17-F77E-4C7E-B76B-D525DB579962}"/>
              </a:ext>
            </a:extLst>
          </p:cNvPr>
          <p:cNvSpPr>
            <a:spLocks noChangeArrowheads="1"/>
          </p:cNvSpPr>
          <p:nvPr/>
        </p:nvSpPr>
        <p:spPr bwMode="auto">
          <a:xfrm>
            <a:off x="7667625" y="6381750"/>
            <a:ext cx="1476375" cy="476250"/>
          </a:xfrm>
          <a:prstGeom prst="actionButtonReturn">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 name="Text Box 86">
            <a:extLst>
              <a:ext uri="{FF2B5EF4-FFF2-40B4-BE49-F238E27FC236}">
                <a16:creationId xmlns:a16="http://schemas.microsoft.com/office/drawing/2014/main" id="{55BCD0F4-1974-44F0-B4CE-A149A8E3EB13}"/>
              </a:ext>
            </a:extLst>
          </p:cNvPr>
          <p:cNvSpPr txBox="1">
            <a:spLocks noGrp="1" noChangeArrowheads="1"/>
          </p:cNvSpPr>
          <p:nvPr>
            <p:ph type="title"/>
          </p:nvPr>
        </p:nvSpPr>
        <p:spPr bwMode="auto">
          <a:xfrm>
            <a:off x="457200" y="526147"/>
            <a:ext cx="82296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600" b="1" dirty="0"/>
              <a:t>3.2.3</a:t>
            </a:r>
            <a:r>
              <a:rPr kumimoji="1" lang="zh-CN" altLang="en-US" sz="3600" b="1" dirty="0"/>
              <a:t>相关系数矩阵</a:t>
            </a:r>
            <a:endParaRPr kumimoji="1" lang="zh-CN" altLang="en-US" sz="2400" dirty="0"/>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06DB6ED0-204F-4776-8CC6-8A65C79AD336}"/>
              </a:ext>
            </a:extLst>
          </p:cNvPr>
          <p:cNvSpPr>
            <a:spLocks noGrp="1" noChangeArrowheads="1"/>
          </p:cNvSpPr>
          <p:nvPr>
            <p:ph type="title"/>
          </p:nvPr>
        </p:nvSpPr>
        <p:spPr/>
        <p:txBody>
          <a:bodyPr/>
          <a:lstStyle/>
          <a:p>
            <a:pPr eaLnBrk="1" hangingPunct="1"/>
            <a:r>
              <a:rPr lang="en-US" altLang="zh-CN" dirty="0"/>
              <a:t>3.3</a:t>
            </a:r>
            <a:r>
              <a:rPr lang="zh-CN" altLang="en-US" dirty="0"/>
              <a:t>多要素间相关程度的测度</a:t>
            </a:r>
          </a:p>
        </p:txBody>
      </p:sp>
      <p:sp>
        <p:nvSpPr>
          <p:cNvPr id="34819" name="Rectangle 3">
            <a:extLst>
              <a:ext uri="{FF2B5EF4-FFF2-40B4-BE49-F238E27FC236}">
                <a16:creationId xmlns:a16="http://schemas.microsoft.com/office/drawing/2014/main" id="{EAEDDC15-AA4E-4C29-AFCC-935D589D4780}"/>
              </a:ext>
            </a:extLst>
          </p:cNvPr>
          <p:cNvSpPr>
            <a:spLocks noGrp="1" noChangeArrowheads="1"/>
          </p:cNvSpPr>
          <p:nvPr>
            <p:ph idx="1"/>
          </p:nvPr>
        </p:nvSpPr>
        <p:spPr/>
        <p:txBody>
          <a:bodyPr/>
          <a:lstStyle/>
          <a:p>
            <a:pPr eaLnBrk="1" hangingPunct="1"/>
            <a:r>
              <a:rPr lang="zh-CN" altLang="en-US" sz="2800" dirty="0"/>
              <a:t>地理系统是一种多要素的复杂巨系统，其中一个要素的变化必然影响到其它各要素的变化。在多要素所构成的地理系统中，当我们研究某一个要素对另一个要素的影响或相关程度时，把其它要素的影响视为常数（保持不变</a:t>
            </a:r>
            <a:r>
              <a:rPr lang="en-US" altLang="zh-CN" sz="2800" dirty="0"/>
              <a:t>)</a:t>
            </a:r>
            <a:r>
              <a:rPr lang="zh-CN" altLang="en-US" sz="2800" dirty="0"/>
              <a:t>，即暂不考虑其它要素的影响，而单独研究那两个要素之间的相互关系的密切程度时，则称为</a:t>
            </a:r>
            <a:r>
              <a:rPr lang="zh-CN" altLang="en-US" sz="2800" dirty="0">
                <a:solidFill>
                  <a:srgbClr val="FF0000"/>
                </a:solidFill>
              </a:rPr>
              <a:t>偏相关</a:t>
            </a:r>
            <a:r>
              <a:rPr lang="zh-CN" altLang="en-US" sz="2800" dirty="0"/>
              <a:t>。用以度量偏相关程度的统计量，称为</a:t>
            </a:r>
            <a:r>
              <a:rPr lang="zh-CN" altLang="en-US" sz="2800" dirty="0">
                <a:solidFill>
                  <a:srgbClr val="FF0000"/>
                </a:solidFill>
              </a:rPr>
              <a:t>偏相关系数</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267A81D8-CD70-4AED-8BD5-C14D5682A562}"/>
              </a:ext>
            </a:extLst>
          </p:cNvPr>
          <p:cNvSpPr>
            <a:spLocks noGrp="1" noChangeArrowheads="1"/>
          </p:cNvSpPr>
          <p:nvPr>
            <p:ph type="title"/>
          </p:nvPr>
        </p:nvSpPr>
        <p:spPr>
          <a:xfrm>
            <a:off x="0" y="-100013"/>
            <a:ext cx="7772400" cy="1143001"/>
          </a:xfrm>
        </p:spPr>
        <p:txBody>
          <a:bodyPr/>
          <a:lstStyle/>
          <a:p>
            <a:pPr eaLnBrk="1" hangingPunct="1"/>
            <a:r>
              <a:rPr lang="zh-CN" altLang="en-US" sz="3600" dirty="0">
                <a:solidFill>
                  <a:schemeClr val="accent1"/>
                </a:solidFill>
              </a:rPr>
              <a:t>（一）偏相关系数的计算与检验</a:t>
            </a:r>
          </a:p>
        </p:txBody>
      </p:sp>
      <p:sp>
        <p:nvSpPr>
          <p:cNvPr id="35843" name="Rectangle 3">
            <a:extLst>
              <a:ext uri="{FF2B5EF4-FFF2-40B4-BE49-F238E27FC236}">
                <a16:creationId xmlns:a16="http://schemas.microsoft.com/office/drawing/2014/main" id="{BD3DAAF9-9CA5-4924-BC49-C9BC5AE0D844}"/>
              </a:ext>
            </a:extLst>
          </p:cNvPr>
          <p:cNvSpPr>
            <a:spLocks noGrp="1" noChangeArrowheads="1"/>
          </p:cNvSpPr>
          <p:nvPr>
            <p:ph type="body" sz="half" idx="1"/>
          </p:nvPr>
        </p:nvSpPr>
        <p:spPr>
          <a:xfrm>
            <a:off x="0" y="981075"/>
            <a:ext cx="9144000" cy="3527425"/>
          </a:xfrm>
        </p:spPr>
        <p:txBody>
          <a:bodyPr/>
          <a:lstStyle/>
          <a:p>
            <a:pPr eaLnBrk="1" hangingPunct="1"/>
            <a:r>
              <a:rPr lang="en-US" altLang="zh-CN"/>
              <a:t>1.</a:t>
            </a:r>
            <a:r>
              <a:rPr lang="zh-CN" altLang="en-US"/>
              <a:t>偏相关系数的计算</a:t>
            </a:r>
          </a:p>
          <a:p>
            <a:pPr lvl="1" eaLnBrk="1" hangingPunct="1"/>
            <a:r>
              <a:rPr lang="zh-CN" altLang="en-US"/>
              <a:t>定义：在多要素所构成的地理系统中，先不考虑其它要素的影响，而单独研究两个要素之间的相互关系的密切程度，这称为偏相关。用以度量偏相关程度的统计量，称为偏相关系数</a:t>
            </a:r>
          </a:p>
          <a:p>
            <a:pPr lvl="1" eaLnBrk="1" hangingPunct="1"/>
            <a:r>
              <a:rPr lang="zh-CN" altLang="en-US"/>
              <a:t>偏相关系数，可利用单相关系数来计算。假设有三个要素</a:t>
            </a:r>
            <a:r>
              <a:rPr lang="en-US" altLang="zh-CN"/>
              <a:t>x</a:t>
            </a:r>
            <a:r>
              <a:rPr lang="en-US" altLang="zh-CN" baseline="-25000"/>
              <a:t>1</a:t>
            </a:r>
            <a:r>
              <a:rPr lang="zh-CN" altLang="en-US"/>
              <a:t>，</a:t>
            </a:r>
            <a:r>
              <a:rPr lang="en-US" altLang="zh-CN"/>
              <a:t>x</a:t>
            </a:r>
            <a:r>
              <a:rPr lang="en-US" altLang="zh-CN" baseline="-25000"/>
              <a:t>2</a:t>
            </a:r>
            <a:r>
              <a:rPr lang="zh-CN" altLang="en-US"/>
              <a:t>，</a:t>
            </a:r>
            <a:r>
              <a:rPr lang="en-US" altLang="zh-CN"/>
              <a:t>x</a:t>
            </a:r>
            <a:r>
              <a:rPr lang="en-US" altLang="zh-CN" baseline="-25000"/>
              <a:t>3</a:t>
            </a:r>
            <a:r>
              <a:rPr lang="zh-CN" altLang="en-US"/>
              <a:t>，其两两间单相关系数矩阵为</a:t>
            </a:r>
          </a:p>
        </p:txBody>
      </p:sp>
      <p:graphicFrame>
        <p:nvGraphicFramePr>
          <p:cNvPr id="35844" name="Object 0">
            <a:extLst>
              <a:ext uri="{FF2B5EF4-FFF2-40B4-BE49-F238E27FC236}">
                <a16:creationId xmlns:a16="http://schemas.microsoft.com/office/drawing/2014/main" id="{4D7212C1-3AF2-4B6D-A09A-D50F2382611A}"/>
              </a:ext>
            </a:extLst>
          </p:cNvPr>
          <p:cNvGraphicFramePr>
            <a:graphicFrameLocks noGrp="1" noChangeAspect="1"/>
          </p:cNvGraphicFramePr>
          <p:nvPr>
            <p:ph sz="half" idx="2"/>
          </p:nvPr>
        </p:nvGraphicFramePr>
        <p:xfrm>
          <a:off x="828675" y="4279900"/>
          <a:ext cx="7918450" cy="2578100"/>
        </p:xfrm>
        <a:graphic>
          <a:graphicData uri="http://schemas.openxmlformats.org/presentationml/2006/ole">
            <mc:AlternateContent xmlns:mc="http://schemas.openxmlformats.org/markup-compatibility/2006">
              <mc:Choice xmlns:v="urn:schemas-microsoft-com:vml" Requires="v">
                <p:oleObj spid="_x0000_s35891" name="公式" r:id="rId3" imgW="2184400" imgH="711200" progId="Equation.3">
                  <p:embed/>
                </p:oleObj>
              </mc:Choice>
              <mc:Fallback>
                <p:oleObj name="公式" r:id="rId3" imgW="2184400" imgH="711200"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8675" y="4279900"/>
                        <a:ext cx="7918450" cy="25781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a:extLst>
              <a:ext uri="{FF2B5EF4-FFF2-40B4-BE49-F238E27FC236}">
                <a16:creationId xmlns:a16="http://schemas.microsoft.com/office/drawing/2014/main" id="{300ADF96-D9BD-4AF4-835E-B37F904B2FED}"/>
              </a:ext>
            </a:extLst>
          </p:cNvPr>
          <p:cNvSpPr>
            <a:spLocks noGrp="1" noChangeArrowheads="1"/>
          </p:cNvSpPr>
          <p:nvPr>
            <p:ph idx="1"/>
          </p:nvPr>
        </p:nvSpPr>
        <p:spPr/>
        <p:txBody>
          <a:bodyPr/>
          <a:lstStyle/>
          <a:p>
            <a:pPr eaLnBrk="1" hangingPunct="1">
              <a:lnSpc>
                <a:spcPct val="90000"/>
              </a:lnSpc>
            </a:pPr>
            <a:r>
              <a:rPr lang="zh-CN" altLang="en-US"/>
              <a:t>因为相关系数矩阵是对称的，故在实际计算时，只要计算出</a:t>
            </a:r>
            <a:r>
              <a:rPr lang="en-US" altLang="zh-CN"/>
              <a:t>r</a:t>
            </a:r>
            <a:r>
              <a:rPr lang="en-US" altLang="zh-CN" baseline="-25000"/>
              <a:t>12</a:t>
            </a:r>
            <a:r>
              <a:rPr lang="zh-CN" altLang="en-US"/>
              <a:t>，</a:t>
            </a:r>
            <a:r>
              <a:rPr lang="en-US" altLang="zh-CN"/>
              <a:t>r</a:t>
            </a:r>
            <a:r>
              <a:rPr lang="en-US" altLang="zh-CN" baseline="-25000"/>
              <a:t>13</a:t>
            </a:r>
            <a:r>
              <a:rPr lang="en-US" altLang="zh-CN"/>
              <a:t> </a:t>
            </a:r>
            <a:r>
              <a:rPr lang="zh-CN" altLang="en-US"/>
              <a:t>和</a:t>
            </a:r>
            <a:r>
              <a:rPr lang="en-US" altLang="zh-CN"/>
              <a:t>r</a:t>
            </a:r>
            <a:r>
              <a:rPr lang="en-US" altLang="zh-CN" baseline="-25000"/>
              <a:t>23</a:t>
            </a:r>
            <a:r>
              <a:rPr lang="zh-CN" altLang="en-US"/>
              <a:t>即可。在偏相关分析中，常称这些单相关系数为零级相关系数。对于上述三个要素</a:t>
            </a:r>
            <a:r>
              <a:rPr lang="en-US" altLang="zh-CN"/>
              <a:t>x</a:t>
            </a:r>
            <a:r>
              <a:rPr lang="en-US" altLang="zh-CN" baseline="-25000"/>
              <a:t>1</a:t>
            </a:r>
            <a:r>
              <a:rPr lang="zh-CN" altLang="en-US"/>
              <a:t>，</a:t>
            </a:r>
            <a:r>
              <a:rPr lang="en-US" altLang="zh-CN"/>
              <a:t>x</a:t>
            </a:r>
            <a:r>
              <a:rPr lang="en-US" altLang="zh-CN" baseline="-25000"/>
              <a:t>2</a:t>
            </a:r>
            <a:r>
              <a:rPr lang="zh-CN" altLang="en-US"/>
              <a:t>，</a:t>
            </a:r>
            <a:r>
              <a:rPr lang="en-US" altLang="zh-CN"/>
              <a:t>x</a:t>
            </a:r>
            <a:r>
              <a:rPr lang="en-US" altLang="zh-CN" baseline="-25000"/>
              <a:t>3</a:t>
            </a:r>
            <a:r>
              <a:rPr lang="zh-CN" altLang="en-US"/>
              <a:t>，它们之间的偏相关系数共有三个，即</a:t>
            </a:r>
            <a:r>
              <a:rPr lang="en-US" altLang="zh-CN"/>
              <a:t>r</a:t>
            </a:r>
            <a:r>
              <a:rPr lang="en-US" altLang="zh-CN" baseline="-25000"/>
              <a:t>12</a:t>
            </a:r>
            <a:r>
              <a:rPr lang="en-US" altLang="zh-CN" baseline="-25000">
                <a:latin typeface="Arial Black" panose="020B0A04020102020204" pitchFamily="34" charset="0"/>
              </a:rPr>
              <a:t>·</a:t>
            </a:r>
            <a:r>
              <a:rPr lang="en-US" altLang="zh-CN" baseline="-25000"/>
              <a:t>3</a:t>
            </a:r>
            <a:r>
              <a:rPr lang="zh-CN" altLang="en-US"/>
              <a:t>，</a:t>
            </a:r>
            <a:r>
              <a:rPr lang="en-US" altLang="zh-CN"/>
              <a:t>r</a:t>
            </a:r>
            <a:r>
              <a:rPr lang="en-US" altLang="zh-CN" baseline="-25000"/>
              <a:t>13</a:t>
            </a:r>
            <a:r>
              <a:rPr lang="en-US" altLang="zh-CN" baseline="-25000">
                <a:latin typeface="Arial Black" panose="020B0A04020102020204" pitchFamily="34" charset="0"/>
              </a:rPr>
              <a:t>·</a:t>
            </a:r>
            <a:r>
              <a:rPr lang="en-US" altLang="zh-CN" baseline="-25000"/>
              <a:t>2</a:t>
            </a:r>
            <a:r>
              <a:rPr lang="zh-CN" altLang="en-US"/>
              <a:t>，</a:t>
            </a:r>
            <a:r>
              <a:rPr lang="en-US" altLang="zh-CN"/>
              <a:t>r</a:t>
            </a:r>
            <a:r>
              <a:rPr lang="en-US" altLang="zh-CN" baseline="-25000"/>
              <a:t>23</a:t>
            </a:r>
            <a:r>
              <a:rPr lang="en-US" altLang="zh-CN" baseline="-25000">
                <a:latin typeface="Arial Black" panose="020B0A04020102020204" pitchFamily="34" charset="0"/>
              </a:rPr>
              <a:t>·</a:t>
            </a:r>
            <a:r>
              <a:rPr lang="en-US" altLang="zh-CN" baseline="-25000"/>
              <a:t>1</a:t>
            </a:r>
            <a:r>
              <a:rPr lang="zh-CN" altLang="en-US"/>
              <a:t>（下标点后面的数字，代表在计算偏相关系数时，保持不变量，如</a:t>
            </a:r>
            <a:r>
              <a:rPr lang="en-US" altLang="zh-CN"/>
              <a:t>r</a:t>
            </a:r>
            <a:r>
              <a:rPr lang="en-US" altLang="zh-CN" baseline="-25000"/>
              <a:t>12</a:t>
            </a:r>
            <a:r>
              <a:rPr lang="en-US" altLang="zh-CN" baseline="-25000">
                <a:latin typeface="Arial Black" panose="020B0A04020102020204" pitchFamily="34" charset="0"/>
              </a:rPr>
              <a:t>·</a:t>
            </a:r>
            <a:r>
              <a:rPr lang="en-US" altLang="zh-CN" baseline="-25000"/>
              <a:t>3</a:t>
            </a:r>
            <a:r>
              <a:rPr lang="en-US" altLang="zh-CN"/>
              <a:t> </a:t>
            </a:r>
            <a:r>
              <a:rPr lang="zh-CN" altLang="en-US"/>
              <a:t>即表示</a:t>
            </a:r>
            <a:r>
              <a:rPr lang="en-US" altLang="zh-CN"/>
              <a:t>x</a:t>
            </a:r>
            <a:r>
              <a:rPr lang="en-US" altLang="zh-CN" baseline="-25000"/>
              <a:t>3</a:t>
            </a:r>
            <a:r>
              <a:rPr lang="en-US" altLang="zh-CN"/>
              <a:t> </a:t>
            </a:r>
            <a:r>
              <a:rPr lang="zh-CN" altLang="en-US"/>
              <a:t>保持不变</a:t>
            </a:r>
            <a:r>
              <a:rPr lang="en-US" altLang="zh-CN"/>
              <a:t>)</a:t>
            </a:r>
          </a:p>
        </p:txBody>
      </p:sp>
      <p:sp>
        <p:nvSpPr>
          <p:cNvPr id="4" name="Rectangle 2">
            <a:extLst>
              <a:ext uri="{FF2B5EF4-FFF2-40B4-BE49-F238E27FC236}">
                <a16:creationId xmlns:a16="http://schemas.microsoft.com/office/drawing/2014/main" id="{BE30734F-E4E8-4A05-8197-6C84D14CA7CB}"/>
              </a:ext>
            </a:extLst>
          </p:cNvPr>
          <p:cNvSpPr>
            <a:spLocks noGrp="1" noChangeArrowheads="1"/>
          </p:cNvSpPr>
          <p:nvPr>
            <p:ph type="title"/>
          </p:nvPr>
        </p:nvSpPr>
        <p:spPr>
          <a:xfrm>
            <a:off x="457200" y="274638"/>
            <a:ext cx="8229600" cy="1143000"/>
          </a:xfrm>
        </p:spPr>
        <p:txBody>
          <a:bodyPr/>
          <a:lstStyle/>
          <a:p>
            <a:pPr eaLnBrk="1" hangingPunct="1"/>
            <a:r>
              <a:rPr lang="zh-CN" altLang="en-US" sz="3600" dirty="0">
                <a:solidFill>
                  <a:schemeClr val="accent1"/>
                </a:solidFill>
              </a:rPr>
              <a:t>（一）偏相关系数的计算与检验</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4">
            <a:extLst>
              <a:ext uri="{FF2B5EF4-FFF2-40B4-BE49-F238E27FC236}">
                <a16:creationId xmlns:a16="http://schemas.microsoft.com/office/drawing/2014/main" id="{5E7E4518-EDC2-4A3B-940B-568D55225BB4}"/>
              </a:ext>
            </a:extLst>
          </p:cNvPr>
          <p:cNvSpPr>
            <a:spLocks noGrp="1" noChangeArrowheads="1"/>
          </p:cNvSpPr>
          <p:nvPr>
            <p:ph type="title"/>
          </p:nvPr>
        </p:nvSpPr>
        <p:spPr>
          <a:xfrm>
            <a:off x="179388" y="301625"/>
            <a:ext cx="7772400" cy="1039813"/>
          </a:xfrm>
        </p:spPr>
        <p:txBody>
          <a:bodyPr/>
          <a:lstStyle/>
          <a:p>
            <a:pPr eaLnBrk="1" hangingPunct="1"/>
            <a:r>
              <a:rPr lang="zh-CN" altLang="en-US">
                <a:solidFill>
                  <a:srgbClr val="0000FF"/>
                </a:solidFill>
              </a:rPr>
              <a:t>一级偏相关系数（</a:t>
            </a:r>
            <a:r>
              <a:rPr lang="zh-CN" altLang="en-US"/>
              <a:t>三个要素</a:t>
            </a:r>
            <a:r>
              <a:rPr lang="zh-CN" altLang="en-US">
                <a:solidFill>
                  <a:srgbClr val="0000FF"/>
                </a:solidFill>
              </a:rPr>
              <a:t>）</a:t>
            </a:r>
          </a:p>
        </p:txBody>
      </p:sp>
      <p:graphicFrame>
        <p:nvGraphicFramePr>
          <p:cNvPr id="37891" name="Object 7">
            <a:extLst>
              <a:ext uri="{FF2B5EF4-FFF2-40B4-BE49-F238E27FC236}">
                <a16:creationId xmlns:a16="http://schemas.microsoft.com/office/drawing/2014/main" id="{51CD5D08-A2B0-402D-83E2-FDB4336A0A84}"/>
              </a:ext>
            </a:extLst>
          </p:cNvPr>
          <p:cNvGraphicFramePr>
            <a:graphicFrameLocks noGrp="1" noChangeAspect="1"/>
          </p:cNvGraphicFramePr>
          <p:nvPr>
            <p:ph sz="half" idx="1"/>
          </p:nvPr>
        </p:nvGraphicFramePr>
        <p:xfrm>
          <a:off x="5072063" y="2643188"/>
          <a:ext cx="4071937" cy="2643187"/>
        </p:xfrm>
        <a:graphic>
          <a:graphicData uri="http://schemas.openxmlformats.org/presentationml/2006/ole">
            <mc:AlternateContent xmlns:mc="http://schemas.openxmlformats.org/markup-compatibility/2006">
              <mc:Choice xmlns:v="urn:schemas-microsoft-com:vml" Requires="v">
                <p:oleObj spid="_x0000_s37983" name="公式" r:id="rId3" imgW="1409088" imgH="710891" progId="Equation.3">
                  <p:embed/>
                </p:oleObj>
              </mc:Choice>
              <mc:Fallback>
                <p:oleObj name="公式" r:id="rId3" imgW="1409088" imgH="710891"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2063" y="2643188"/>
                        <a:ext cx="4071937" cy="2643187"/>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892" name="Object 3">
            <a:extLst>
              <a:ext uri="{FF2B5EF4-FFF2-40B4-BE49-F238E27FC236}">
                <a16:creationId xmlns:a16="http://schemas.microsoft.com/office/drawing/2014/main" id="{A9FE4DC8-1D3C-489B-A9A1-1C6E4CCEA776}"/>
              </a:ext>
            </a:extLst>
          </p:cNvPr>
          <p:cNvGraphicFramePr>
            <a:graphicFrameLocks noGrp="1" noChangeAspect="1"/>
          </p:cNvGraphicFramePr>
          <p:nvPr>
            <p:ph sz="half" idx="2"/>
          </p:nvPr>
        </p:nvGraphicFramePr>
        <p:xfrm>
          <a:off x="357188" y="1857375"/>
          <a:ext cx="4324350" cy="4400550"/>
        </p:xfrm>
        <a:graphic>
          <a:graphicData uri="http://schemas.openxmlformats.org/presentationml/2006/ole">
            <mc:AlternateContent xmlns:mc="http://schemas.openxmlformats.org/markup-compatibility/2006">
              <mc:Choice xmlns:v="urn:schemas-microsoft-com:vml" Requires="v">
                <p:oleObj spid="_x0000_s37984" name="公式" r:id="rId5" imgW="1435100" imgH="1460500" progId="Equation.3">
                  <p:embed/>
                </p:oleObj>
              </mc:Choice>
              <mc:Fallback>
                <p:oleObj name="公式" r:id="rId5" imgW="1435100" imgH="14605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7188" y="1857375"/>
                        <a:ext cx="4324350" cy="4400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C74C35FF-AFB0-4020-8C27-4C2CBAF4E252}"/>
              </a:ext>
            </a:extLst>
          </p:cNvPr>
          <p:cNvSpPr>
            <a:spLocks noGrp="1" noChangeArrowheads="1"/>
          </p:cNvSpPr>
          <p:nvPr>
            <p:ph type="title"/>
          </p:nvPr>
        </p:nvSpPr>
        <p:spPr/>
        <p:txBody>
          <a:bodyPr/>
          <a:lstStyle/>
          <a:p>
            <a:pPr eaLnBrk="1" hangingPunct="1"/>
            <a:r>
              <a:rPr lang="zh-CN" altLang="en-US">
                <a:solidFill>
                  <a:srgbClr val="0000FF"/>
                </a:solidFill>
              </a:rPr>
              <a:t>二级偏相关系数（</a:t>
            </a:r>
            <a:r>
              <a:rPr lang="zh-CN" altLang="en-US"/>
              <a:t>四个要素</a:t>
            </a:r>
            <a:r>
              <a:rPr lang="zh-CN" altLang="en-US">
                <a:solidFill>
                  <a:srgbClr val="0000FF"/>
                </a:solidFill>
              </a:rPr>
              <a:t>）</a:t>
            </a:r>
          </a:p>
        </p:txBody>
      </p:sp>
      <p:graphicFrame>
        <p:nvGraphicFramePr>
          <p:cNvPr id="38915" name="Object 0">
            <a:extLst>
              <a:ext uri="{FF2B5EF4-FFF2-40B4-BE49-F238E27FC236}">
                <a16:creationId xmlns:a16="http://schemas.microsoft.com/office/drawing/2014/main" id="{3245296F-FC43-48B9-A41B-7832B96CDDC6}"/>
              </a:ext>
            </a:extLst>
          </p:cNvPr>
          <p:cNvGraphicFramePr>
            <a:graphicFrameLocks noGrp="1" noChangeAspect="1"/>
          </p:cNvGraphicFramePr>
          <p:nvPr>
            <p:ph sz="half" idx="1"/>
          </p:nvPr>
        </p:nvGraphicFramePr>
        <p:xfrm>
          <a:off x="468313" y="2338388"/>
          <a:ext cx="3962400" cy="3478212"/>
        </p:xfrm>
        <a:graphic>
          <a:graphicData uri="http://schemas.openxmlformats.org/presentationml/2006/ole">
            <mc:AlternateContent xmlns:mc="http://schemas.openxmlformats.org/markup-compatibility/2006">
              <mc:Choice xmlns:v="urn:schemas-microsoft-com:vml" Requires="v">
                <p:oleObj spid="_x0000_s39007" name="公式" r:id="rId3" imgW="1663700" imgH="1460500" progId="Equation.3">
                  <p:embed/>
                </p:oleObj>
              </mc:Choice>
              <mc:Fallback>
                <p:oleObj name="公式" r:id="rId3" imgW="1663700" imgH="1460500"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2338388"/>
                        <a:ext cx="3962400" cy="3478212"/>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6" name="Object 2">
            <a:extLst>
              <a:ext uri="{FF2B5EF4-FFF2-40B4-BE49-F238E27FC236}">
                <a16:creationId xmlns:a16="http://schemas.microsoft.com/office/drawing/2014/main" id="{CC72750E-FCF2-4626-9B84-BFE50F8126EF}"/>
              </a:ext>
            </a:extLst>
          </p:cNvPr>
          <p:cNvGraphicFramePr>
            <a:graphicFrameLocks noGrp="1" noChangeAspect="1"/>
          </p:cNvGraphicFramePr>
          <p:nvPr>
            <p:ph sz="half" idx="2"/>
          </p:nvPr>
        </p:nvGraphicFramePr>
        <p:xfrm>
          <a:off x="5000625" y="2714625"/>
          <a:ext cx="3217863" cy="2868613"/>
        </p:xfrm>
        <a:graphic>
          <a:graphicData uri="http://schemas.openxmlformats.org/presentationml/2006/ole">
            <mc:AlternateContent xmlns:mc="http://schemas.openxmlformats.org/markup-compatibility/2006">
              <mc:Choice xmlns:v="urn:schemas-microsoft-com:vml" Requires="v">
                <p:oleObj spid="_x0000_s39008" name="公式" r:id="rId5" imgW="1638300" imgH="1460500" progId="Equation.3">
                  <p:embed/>
                </p:oleObj>
              </mc:Choice>
              <mc:Fallback>
                <p:oleObj name="公式" r:id="rId5" imgW="1638300" imgH="14605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00625" y="2714625"/>
                        <a:ext cx="3217863" cy="2868613"/>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a:extLst>
              <a:ext uri="{FF2B5EF4-FFF2-40B4-BE49-F238E27FC236}">
                <a16:creationId xmlns:a16="http://schemas.microsoft.com/office/drawing/2014/main" id="{ACF825D7-F608-4978-AF73-0A2C9DEE1046}"/>
              </a:ext>
            </a:extLst>
          </p:cNvPr>
          <p:cNvSpPr>
            <a:spLocks noGrp="1" noChangeArrowheads="1"/>
          </p:cNvSpPr>
          <p:nvPr>
            <p:ph type="title"/>
          </p:nvPr>
        </p:nvSpPr>
        <p:spPr>
          <a:xfrm>
            <a:off x="1447800" y="914400"/>
            <a:ext cx="7353300" cy="1600200"/>
          </a:xfrm>
        </p:spPr>
        <p:txBody>
          <a:bodyPr rtlCol="0">
            <a:normAutofit fontScale="90000"/>
          </a:bodyPr>
          <a:lstStyle/>
          <a:p>
            <a:pPr eaLnBrk="1" fontAlgn="auto" hangingPunct="1">
              <a:spcAft>
                <a:spcPts val="0"/>
              </a:spcAft>
              <a:buClr>
                <a:schemeClr val="accent2"/>
              </a:buClr>
              <a:buFont typeface="Wingdings" pitchFamily="2" charset="2"/>
              <a:buNone/>
              <a:defRPr/>
            </a:pPr>
            <a:r>
              <a:rPr lang="zh-CN" altLang="en-US" sz="2800">
                <a:latin typeface="宋体" pitchFamily="2" charset="-122"/>
              </a:rPr>
              <a:t>例如：对于某四个地理要素</a:t>
            </a:r>
            <a:r>
              <a:rPr lang="en-US" altLang="zh-CN" sz="2800" i="1">
                <a:latin typeface="Times New Roman" pitchFamily="18" charset="0"/>
              </a:rPr>
              <a:t>x</a:t>
            </a:r>
            <a:r>
              <a:rPr lang="en-US" altLang="zh-CN" sz="2800" baseline="-30000">
                <a:latin typeface="宋体" pitchFamily="2" charset="-122"/>
              </a:rPr>
              <a:t>1</a:t>
            </a:r>
            <a:r>
              <a:rPr lang="zh-CN" altLang="en-US" sz="2800">
                <a:latin typeface="宋体" pitchFamily="2" charset="-122"/>
              </a:rPr>
              <a:t>，</a:t>
            </a:r>
            <a:r>
              <a:rPr lang="en-US" altLang="zh-CN" sz="2800" i="1">
                <a:latin typeface="Times New Roman" pitchFamily="18" charset="0"/>
              </a:rPr>
              <a:t>x</a:t>
            </a:r>
            <a:r>
              <a:rPr lang="en-US" altLang="zh-CN" sz="2800" baseline="-30000">
                <a:latin typeface="宋体" pitchFamily="2" charset="-122"/>
              </a:rPr>
              <a:t>2</a:t>
            </a:r>
            <a:r>
              <a:rPr lang="zh-CN" altLang="en-US" sz="2800">
                <a:latin typeface="宋体" pitchFamily="2" charset="-122"/>
              </a:rPr>
              <a:t>，</a:t>
            </a:r>
            <a:r>
              <a:rPr lang="en-US" altLang="zh-CN" sz="2800" i="1">
                <a:latin typeface="Times New Roman" pitchFamily="18" charset="0"/>
              </a:rPr>
              <a:t>x</a:t>
            </a:r>
            <a:r>
              <a:rPr lang="en-US" altLang="zh-CN" sz="2800" baseline="-30000">
                <a:latin typeface="宋体" pitchFamily="2" charset="-122"/>
              </a:rPr>
              <a:t>3</a:t>
            </a:r>
            <a:r>
              <a:rPr lang="zh-CN" altLang="en-US" sz="2800">
                <a:latin typeface="宋体" pitchFamily="2" charset="-122"/>
              </a:rPr>
              <a:t>，</a:t>
            </a:r>
            <a:r>
              <a:rPr lang="en-US" altLang="zh-CN" sz="2800" i="1">
                <a:latin typeface="Times New Roman" pitchFamily="18" charset="0"/>
              </a:rPr>
              <a:t>x</a:t>
            </a:r>
            <a:r>
              <a:rPr lang="en-US" altLang="zh-CN" sz="2800" baseline="-30000">
                <a:latin typeface="宋体" pitchFamily="2" charset="-122"/>
              </a:rPr>
              <a:t>4</a:t>
            </a:r>
            <a:r>
              <a:rPr lang="zh-CN" altLang="en-US" sz="2800">
                <a:latin typeface="宋体" pitchFamily="2" charset="-122"/>
              </a:rPr>
              <a:t>的</a:t>
            </a:r>
            <a:r>
              <a:rPr lang="en-US" altLang="zh-CN" sz="2800">
                <a:latin typeface="宋体" pitchFamily="2" charset="-122"/>
              </a:rPr>
              <a:t>23</a:t>
            </a:r>
            <a:r>
              <a:rPr lang="zh-CN" altLang="en-US" sz="2800">
                <a:latin typeface="宋体" pitchFamily="2" charset="-122"/>
              </a:rPr>
              <a:t>个样本数据，经过计算得到了如下的单相关系数矩阵：</a:t>
            </a:r>
            <a:r>
              <a:rPr lang="zh-CN" altLang="en-US"/>
              <a:t> </a:t>
            </a:r>
          </a:p>
        </p:txBody>
      </p:sp>
      <p:graphicFrame>
        <p:nvGraphicFramePr>
          <p:cNvPr id="39939" name="Object 4">
            <a:extLst>
              <a:ext uri="{FF2B5EF4-FFF2-40B4-BE49-F238E27FC236}">
                <a16:creationId xmlns:a16="http://schemas.microsoft.com/office/drawing/2014/main" id="{36ACF726-FC08-48B0-A6A1-148B0D2FAE28}"/>
              </a:ext>
            </a:extLst>
          </p:cNvPr>
          <p:cNvGraphicFramePr>
            <a:graphicFrameLocks noChangeAspect="1"/>
          </p:cNvGraphicFramePr>
          <p:nvPr/>
        </p:nvGraphicFramePr>
        <p:xfrm>
          <a:off x="0" y="3000375"/>
          <a:ext cx="9144000" cy="2071688"/>
        </p:xfrm>
        <a:graphic>
          <a:graphicData uri="http://schemas.openxmlformats.org/presentationml/2006/ole">
            <mc:AlternateContent xmlns:mc="http://schemas.openxmlformats.org/markup-compatibility/2006">
              <mc:Choice xmlns:v="urn:schemas-microsoft-com:vml" Requires="v">
                <p:oleObj spid="_x0000_s39986" r:id="rId3" imgW="4051300" imgH="939800" progId="Equation.3">
                  <p:embed/>
                </p:oleObj>
              </mc:Choice>
              <mc:Fallback>
                <p:oleObj r:id="rId3" imgW="4051300" imgH="9398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000375"/>
                        <a:ext cx="9144000" cy="2071688"/>
                      </a:xfrm>
                      <a:prstGeom prst="rect">
                        <a:avLst/>
                      </a:prstGeom>
                      <a:noFill/>
                      <a:ln>
                        <a:noFill/>
                      </a:ln>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6DCC4062-DCDA-442B-AAEA-969162FA767D}"/>
              </a:ext>
            </a:extLst>
          </p:cNvPr>
          <p:cNvSpPr>
            <a:spLocks noGrp="1" noChangeArrowheads="1"/>
          </p:cNvSpPr>
          <p:nvPr>
            <p:ph/>
          </p:nvPr>
        </p:nvSpPr>
        <p:spPr>
          <a:xfrm>
            <a:off x="1219200" y="838200"/>
            <a:ext cx="7620000" cy="533400"/>
          </a:xfrm>
        </p:spPr>
        <p:txBody>
          <a:bodyPr/>
          <a:lstStyle/>
          <a:p>
            <a:pPr eaLnBrk="1" hangingPunct="1">
              <a:buFont typeface="Wingdings" panose="05000000000000000000" pitchFamily="2" charset="2"/>
              <a:buNone/>
            </a:pPr>
            <a:r>
              <a:rPr lang="zh-CN" altLang="en-US" sz="2800">
                <a:latin typeface="Times New Roman" panose="02020603050405020304" pitchFamily="18" charset="0"/>
              </a:rPr>
              <a:t>利用公式计算一级偏向关系数，如表所示：</a:t>
            </a:r>
          </a:p>
        </p:txBody>
      </p:sp>
      <p:graphicFrame>
        <p:nvGraphicFramePr>
          <p:cNvPr id="380931" name="Group 3">
            <a:extLst>
              <a:ext uri="{FF2B5EF4-FFF2-40B4-BE49-F238E27FC236}">
                <a16:creationId xmlns:a16="http://schemas.microsoft.com/office/drawing/2014/main" id="{5A13E487-52CF-4686-9B54-B30153426F8B}"/>
              </a:ext>
            </a:extLst>
          </p:cNvPr>
          <p:cNvGraphicFramePr>
            <a:graphicFrameLocks noGrp="1"/>
          </p:cNvGraphicFramePr>
          <p:nvPr/>
        </p:nvGraphicFramePr>
        <p:xfrm>
          <a:off x="609600" y="4648200"/>
          <a:ext cx="8305800" cy="793750"/>
        </p:xfrm>
        <a:graphic>
          <a:graphicData uri="http://schemas.openxmlformats.org/drawingml/2006/table">
            <a:tbl>
              <a:tblPr/>
              <a:tblGrid>
                <a:gridCol w="1384300">
                  <a:extLst>
                    <a:ext uri="{9D8B030D-6E8A-4147-A177-3AD203B41FA5}">
                      <a16:colId xmlns:a16="http://schemas.microsoft.com/office/drawing/2014/main" val="20000"/>
                    </a:ext>
                  </a:extLst>
                </a:gridCol>
                <a:gridCol w="1384300">
                  <a:extLst>
                    <a:ext uri="{9D8B030D-6E8A-4147-A177-3AD203B41FA5}">
                      <a16:colId xmlns:a16="http://schemas.microsoft.com/office/drawing/2014/main" val="20001"/>
                    </a:ext>
                  </a:extLst>
                </a:gridCol>
                <a:gridCol w="1384300">
                  <a:extLst>
                    <a:ext uri="{9D8B030D-6E8A-4147-A177-3AD203B41FA5}">
                      <a16:colId xmlns:a16="http://schemas.microsoft.com/office/drawing/2014/main" val="20002"/>
                    </a:ext>
                  </a:extLst>
                </a:gridCol>
                <a:gridCol w="1384300">
                  <a:extLst>
                    <a:ext uri="{9D8B030D-6E8A-4147-A177-3AD203B41FA5}">
                      <a16:colId xmlns:a16="http://schemas.microsoft.com/office/drawing/2014/main" val="20003"/>
                    </a:ext>
                  </a:extLst>
                </a:gridCol>
                <a:gridCol w="1384300">
                  <a:extLst>
                    <a:ext uri="{9D8B030D-6E8A-4147-A177-3AD203B41FA5}">
                      <a16:colId xmlns:a16="http://schemas.microsoft.com/office/drawing/2014/main" val="20004"/>
                    </a:ext>
                  </a:extLst>
                </a:gridCol>
                <a:gridCol w="1384300">
                  <a:extLst>
                    <a:ext uri="{9D8B030D-6E8A-4147-A177-3AD203B41FA5}">
                      <a16:colId xmlns:a16="http://schemas.microsoft.com/office/drawing/2014/main" val="20005"/>
                    </a:ext>
                  </a:extLst>
                </a:gridCol>
              </a:tblGrid>
              <a:tr h="396557">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r</a:t>
                      </a:r>
                      <a:r>
                        <a:rPr kumimoji="0" lang="en-US" altLang="zh-CN" sz="2000" b="0" i="0" u="none" strike="noStrike" cap="none" normalizeH="0" baseline="-30000" dirty="0">
                          <a:ln>
                            <a:noFill/>
                          </a:ln>
                          <a:solidFill>
                            <a:srgbClr val="000000"/>
                          </a:solidFill>
                          <a:effectLst>
                            <a:outerShdw blurRad="38100" dist="38100" dir="2700000" algn="tl">
                              <a:srgbClr val="FFFFFF"/>
                            </a:outerShdw>
                          </a:effectLst>
                          <a:latin typeface="Arial" pitchFamily="34" charset="0"/>
                          <a:ea typeface="宋体" pitchFamily="2" charset="-122"/>
                        </a:rPr>
                        <a:t>12</a:t>
                      </a:r>
                      <a:r>
                        <a:rPr kumimoji="0" lang="en-US" altLang="zh-CN" sz="2000" b="0" i="0" u="none" strike="noStrike" cap="none" normalizeH="0" baseline="-30000" dirty="0">
                          <a:ln>
                            <a:noFill/>
                          </a:ln>
                          <a:solidFill>
                            <a:srgbClr val="000000"/>
                          </a:solidFill>
                          <a:effectLst>
                            <a:outerShdw blurRad="38100" dist="38100" dir="2700000" algn="tl">
                              <a:srgbClr val="FFFFFF"/>
                            </a:outerShdw>
                          </a:effectLst>
                          <a:latin typeface="Arial"/>
                          <a:ea typeface="宋体" pitchFamily="2" charset="-122"/>
                        </a:rPr>
                        <a:t>·</a:t>
                      </a:r>
                      <a:r>
                        <a:rPr kumimoji="0" lang="en-US" altLang="zh-CN" sz="2000" b="0" i="0" u="none" strike="noStrike" cap="none" normalizeH="0" baseline="-30000" dirty="0">
                          <a:ln>
                            <a:noFill/>
                          </a:ln>
                          <a:solidFill>
                            <a:srgbClr val="000000"/>
                          </a:solidFill>
                          <a:effectLst>
                            <a:outerShdw blurRad="38100" dist="38100" dir="2700000" algn="tl">
                              <a:srgbClr val="FFFFFF"/>
                            </a:outerShdw>
                          </a:effectLst>
                          <a:latin typeface="Arial" pitchFamily="34" charset="0"/>
                          <a:ea typeface="宋体" pitchFamily="2" charset="-122"/>
                        </a:rPr>
                        <a:t>34</a:t>
                      </a:r>
                      <a:endParaRPr kumimoji="0" lang="en-US" altLang="zh-CN" sz="20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endParaRPr>
                    </a:p>
                  </a:txBody>
                  <a:tcPr marT="45757" marB="4575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r</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pitchFamily="34" charset="0"/>
                          <a:ea typeface="宋体" pitchFamily="2" charset="-122"/>
                        </a:rPr>
                        <a:t>13</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a:ea typeface="宋体" pitchFamily="2" charset="-122"/>
                        </a:rPr>
                        <a:t>·</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pitchFamily="34" charset="0"/>
                          <a:ea typeface="宋体" pitchFamily="2" charset="-122"/>
                        </a:rPr>
                        <a:t>24</a:t>
                      </a:r>
                      <a:endParaRPr kumimoji="0" lang="en-US" altLang="zh-CN" sz="20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endParaRPr>
                    </a:p>
                  </a:txBody>
                  <a:tcPr marT="45757" marB="4575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r</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pitchFamily="34" charset="0"/>
                          <a:ea typeface="宋体" pitchFamily="2" charset="-122"/>
                        </a:rPr>
                        <a:t>14</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a:ea typeface="宋体" pitchFamily="2" charset="-122"/>
                        </a:rPr>
                        <a:t>·</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pitchFamily="34" charset="0"/>
                          <a:ea typeface="宋体" pitchFamily="2" charset="-122"/>
                        </a:rPr>
                        <a:t>23</a:t>
                      </a:r>
                      <a:endParaRPr kumimoji="0" lang="en-US" altLang="zh-CN" sz="20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endParaRPr>
                    </a:p>
                  </a:txBody>
                  <a:tcPr marT="45757" marB="4575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r</a:t>
                      </a:r>
                      <a:r>
                        <a:rPr kumimoji="0" lang="en-US" altLang="zh-CN" sz="2000" b="0" i="0" u="none" strike="noStrike" cap="none" normalizeH="0" baseline="-30000" dirty="0">
                          <a:ln>
                            <a:noFill/>
                          </a:ln>
                          <a:solidFill>
                            <a:srgbClr val="000000"/>
                          </a:solidFill>
                          <a:effectLst>
                            <a:outerShdw blurRad="38100" dist="38100" dir="2700000" algn="tl">
                              <a:srgbClr val="FFFFFF"/>
                            </a:outerShdw>
                          </a:effectLst>
                          <a:latin typeface="Arial" pitchFamily="34" charset="0"/>
                          <a:ea typeface="宋体" pitchFamily="2" charset="-122"/>
                        </a:rPr>
                        <a:t>23</a:t>
                      </a:r>
                      <a:r>
                        <a:rPr kumimoji="0" lang="en-US" altLang="zh-CN" sz="2000" b="0" i="0" u="none" strike="noStrike" cap="none" normalizeH="0" baseline="-30000" dirty="0">
                          <a:ln>
                            <a:noFill/>
                          </a:ln>
                          <a:solidFill>
                            <a:srgbClr val="000000"/>
                          </a:solidFill>
                          <a:effectLst>
                            <a:outerShdw blurRad="38100" dist="38100" dir="2700000" algn="tl">
                              <a:srgbClr val="FFFFFF"/>
                            </a:outerShdw>
                          </a:effectLst>
                          <a:latin typeface="Arial"/>
                          <a:ea typeface="宋体" pitchFamily="2" charset="-122"/>
                        </a:rPr>
                        <a:t>·</a:t>
                      </a:r>
                      <a:r>
                        <a:rPr kumimoji="0" lang="en-US" altLang="zh-CN" sz="2000" b="0" i="0" u="none" strike="noStrike" cap="none" normalizeH="0" baseline="-30000" dirty="0">
                          <a:ln>
                            <a:noFill/>
                          </a:ln>
                          <a:solidFill>
                            <a:srgbClr val="000000"/>
                          </a:solidFill>
                          <a:effectLst>
                            <a:outerShdw blurRad="38100" dist="38100" dir="2700000" algn="tl">
                              <a:srgbClr val="FFFFFF"/>
                            </a:outerShdw>
                          </a:effectLst>
                          <a:latin typeface="Arial" pitchFamily="34" charset="0"/>
                          <a:ea typeface="宋体" pitchFamily="2" charset="-122"/>
                        </a:rPr>
                        <a:t>14</a:t>
                      </a:r>
                      <a:endParaRPr kumimoji="0" lang="en-US" altLang="zh-CN" sz="20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endParaRPr>
                    </a:p>
                  </a:txBody>
                  <a:tcPr marT="45757" marB="4575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r</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pitchFamily="34" charset="0"/>
                          <a:ea typeface="宋体" pitchFamily="2" charset="-122"/>
                        </a:rPr>
                        <a:t>24</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a:ea typeface="宋体" pitchFamily="2" charset="-122"/>
                        </a:rPr>
                        <a:t>·</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pitchFamily="34" charset="0"/>
                          <a:ea typeface="宋体" pitchFamily="2" charset="-122"/>
                        </a:rPr>
                        <a:t>13</a:t>
                      </a:r>
                      <a:endParaRPr kumimoji="0" lang="en-US" altLang="zh-CN" sz="20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endParaRPr>
                    </a:p>
                  </a:txBody>
                  <a:tcPr marT="45757" marB="4575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r</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pitchFamily="34" charset="0"/>
                          <a:ea typeface="宋体" pitchFamily="2" charset="-122"/>
                        </a:rPr>
                        <a:t>34</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a:ea typeface="宋体" pitchFamily="2" charset="-122"/>
                        </a:rPr>
                        <a:t>·</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pitchFamily="34" charset="0"/>
                          <a:ea typeface="宋体" pitchFamily="2" charset="-122"/>
                        </a:rPr>
                        <a:t>12</a:t>
                      </a:r>
                      <a:endParaRPr kumimoji="0" lang="en-US" altLang="zh-CN" sz="20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endParaRPr>
                    </a:p>
                  </a:txBody>
                  <a:tcPr marT="45757" marB="4575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719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-0.170</a:t>
                      </a:r>
                    </a:p>
                  </a:txBody>
                  <a:tcPr marT="45757" marB="4575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0.302</a:t>
                      </a:r>
                    </a:p>
                  </a:txBody>
                  <a:tcPr marT="45757" marB="4575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0.635</a:t>
                      </a:r>
                    </a:p>
                  </a:txBody>
                  <a:tcPr marT="45757" marB="4575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-0.137</a:t>
                      </a:r>
                    </a:p>
                  </a:txBody>
                  <a:tcPr marT="45757" marB="4575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0.321</a:t>
                      </a:r>
                    </a:p>
                  </a:txBody>
                  <a:tcPr marT="45757" marB="4575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 -0.337</a:t>
                      </a:r>
                    </a:p>
                  </a:txBody>
                  <a:tcPr marT="45757" marB="4575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380954" name="Group 26">
            <a:extLst>
              <a:ext uri="{FF2B5EF4-FFF2-40B4-BE49-F238E27FC236}">
                <a16:creationId xmlns:a16="http://schemas.microsoft.com/office/drawing/2014/main" id="{135063C7-6325-42FD-8995-099AA5EF22F5}"/>
              </a:ext>
            </a:extLst>
          </p:cNvPr>
          <p:cNvGraphicFramePr>
            <a:graphicFrameLocks noGrp="1"/>
          </p:cNvGraphicFramePr>
          <p:nvPr/>
        </p:nvGraphicFramePr>
        <p:xfrm>
          <a:off x="381000" y="2105025"/>
          <a:ext cx="8686800" cy="792308"/>
        </p:xfrm>
        <a:graphic>
          <a:graphicData uri="http://schemas.openxmlformats.org/drawingml/2006/table">
            <a:tbl>
              <a:tblPr/>
              <a:tblGrid>
                <a:gridCol w="965200">
                  <a:extLst>
                    <a:ext uri="{9D8B030D-6E8A-4147-A177-3AD203B41FA5}">
                      <a16:colId xmlns:a16="http://schemas.microsoft.com/office/drawing/2014/main" val="20000"/>
                    </a:ext>
                  </a:extLst>
                </a:gridCol>
                <a:gridCol w="965200">
                  <a:extLst>
                    <a:ext uri="{9D8B030D-6E8A-4147-A177-3AD203B41FA5}">
                      <a16:colId xmlns:a16="http://schemas.microsoft.com/office/drawing/2014/main" val="20001"/>
                    </a:ext>
                  </a:extLst>
                </a:gridCol>
                <a:gridCol w="965200">
                  <a:extLst>
                    <a:ext uri="{9D8B030D-6E8A-4147-A177-3AD203B41FA5}">
                      <a16:colId xmlns:a16="http://schemas.microsoft.com/office/drawing/2014/main" val="20002"/>
                    </a:ext>
                  </a:extLst>
                </a:gridCol>
                <a:gridCol w="9652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965200">
                  <a:extLst>
                    <a:ext uri="{9D8B030D-6E8A-4147-A177-3AD203B41FA5}">
                      <a16:colId xmlns:a16="http://schemas.microsoft.com/office/drawing/2014/main" val="20006"/>
                    </a:ext>
                  </a:extLst>
                </a:gridCol>
                <a:gridCol w="984250">
                  <a:extLst>
                    <a:ext uri="{9D8B030D-6E8A-4147-A177-3AD203B41FA5}">
                      <a16:colId xmlns:a16="http://schemas.microsoft.com/office/drawing/2014/main" val="20007"/>
                    </a:ext>
                  </a:extLst>
                </a:gridCol>
                <a:gridCol w="946150">
                  <a:extLst>
                    <a:ext uri="{9D8B030D-6E8A-4147-A177-3AD203B41FA5}">
                      <a16:colId xmlns:a16="http://schemas.microsoft.com/office/drawing/2014/main" val="20008"/>
                    </a:ext>
                  </a:extLst>
                </a:gridCol>
              </a:tblGrid>
              <a:tr h="396082">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r</a:t>
                      </a:r>
                      <a:r>
                        <a:rPr kumimoji="0" lang="en-US" altLang="zh-CN" sz="2000" b="0" i="0" u="none" strike="noStrike" cap="none" normalizeH="0" baseline="-30000" dirty="0">
                          <a:ln>
                            <a:noFill/>
                          </a:ln>
                          <a:solidFill>
                            <a:srgbClr val="000000"/>
                          </a:solidFill>
                          <a:effectLst>
                            <a:outerShdw blurRad="38100" dist="38100" dir="2700000" algn="tl">
                              <a:srgbClr val="FFFFFF"/>
                            </a:outerShdw>
                          </a:effectLst>
                          <a:latin typeface="Arial" pitchFamily="34" charset="0"/>
                          <a:ea typeface="宋体" pitchFamily="2" charset="-122"/>
                        </a:rPr>
                        <a:t>12</a:t>
                      </a:r>
                      <a:r>
                        <a:rPr kumimoji="0" lang="en-US" altLang="zh-CN" sz="2000" b="0" i="0" u="none" strike="noStrike" cap="none" normalizeH="0" baseline="-30000" dirty="0">
                          <a:ln>
                            <a:noFill/>
                          </a:ln>
                          <a:solidFill>
                            <a:srgbClr val="000000"/>
                          </a:solidFill>
                          <a:effectLst>
                            <a:outerShdw blurRad="38100" dist="38100" dir="2700000" algn="tl">
                              <a:srgbClr val="FFFFFF"/>
                            </a:outerShdw>
                          </a:effectLst>
                          <a:latin typeface="Arial"/>
                          <a:ea typeface="宋体" pitchFamily="2" charset="-122"/>
                        </a:rPr>
                        <a:t>·</a:t>
                      </a:r>
                      <a:r>
                        <a:rPr kumimoji="0" lang="en-US" altLang="zh-CN" sz="2000" b="0" i="0" u="none" strike="noStrike" cap="none" normalizeH="0" baseline="-30000" dirty="0">
                          <a:ln>
                            <a:noFill/>
                          </a:ln>
                          <a:solidFill>
                            <a:srgbClr val="000000"/>
                          </a:solidFill>
                          <a:effectLst>
                            <a:outerShdw blurRad="38100" dist="38100" dir="2700000" algn="tl">
                              <a:srgbClr val="FFFFFF"/>
                            </a:outerShdw>
                          </a:effectLst>
                          <a:latin typeface="Arial" pitchFamily="34" charset="0"/>
                          <a:ea typeface="宋体" pitchFamily="2" charset="-122"/>
                        </a:rPr>
                        <a:t>3</a:t>
                      </a:r>
                      <a:endParaRPr kumimoji="0" lang="en-US" altLang="zh-CN" sz="20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endParaRPr>
                    </a:p>
                  </a:txBody>
                  <a:tcPr marT="45677" marB="4567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r</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pitchFamily="34" charset="0"/>
                          <a:ea typeface="宋体" pitchFamily="2" charset="-122"/>
                        </a:rPr>
                        <a:t>13</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a:ea typeface="宋体" pitchFamily="2" charset="-122"/>
                        </a:rPr>
                        <a:t>·</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pitchFamily="34" charset="0"/>
                          <a:ea typeface="宋体" pitchFamily="2" charset="-122"/>
                        </a:rPr>
                        <a:t>2</a:t>
                      </a:r>
                    </a:p>
                  </a:txBody>
                  <a:tcPr marT="45677" marB="456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r</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pitchFamily="34" charset="0"/>
                          <a:ea typeface="宋体" pitchFamily="2" charset="-122"/>
                        </a:rPr>
                        <a:t>14</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a:ea typeface="宋体" pitchFamily="2" charset="-122"/>
                        </a:rPr>
                        <a:t>·</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pitchFamily="34" charset="0"/>
                          <a:ea typeface="宋体" pitchFamily="2" charset="-122"/>
                        </a:rPr>
                        <a:t>2</a:t>
                      </a:r>
                    </a:p>
                  </a:txBody>
                  <a:tcPr marT="45677" marB="456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r</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pitchFamily="34" charset="0"/>
                          <a:ea typeface="宋体" pitchFamily="2" charset="-122"/>
                        </a:rPr>
                        <a:t>14</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a:ea typeface="宋体" pitchFamily="2" charset="-122"/>
                        </a:rPr>
                        <a:t>·</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pitchFamily="34" charset="0"/>
                          <a:ea typeface="宋体" pitchFamily="2" charset="-122"/>
                        </a:rPr>
                        <a:t>3</a:t>
                      </a:r>
                      <a:endParaRPr kumimoji="0" lang="en-US" altLang="zh-CN" sz="20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endParaRPr>
                    </a:p>
                  </a:txBody>
                  <a:tcPr marT="45677" marB="456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r</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pitchFamily="34" charset="0"/>
                          <a:ea typeface="宋体" pitchFamily="2" charset="-122"/>
                        </a:rPr>
                        <a:t>23</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a:ea typeface="宋体" pitchFamily="2" charset="-122"/>
                        </a:rPr>
                        <a:t>·</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pitchFamily="34" charset="0"/>
                          <a:ea typeface="宋体" pitchFamily="2" charset="-122"/>
                        </a:rPr>
                        <a:t>1</a:t>
                      </a:r>
                      <a:endParaRPr kumimoji="0" lang="en-US" altLang="zh-CN" sz="20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endParaRPr>
                    </a:p>
                  </a:txBody>
                  <a:tcPr marT="45677" marB="456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r</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pitchFamily="34" charset="0"/>
                          <a:ea typeface="宋体" pitchFamily="2" charset="-122"/>
                        </a:rPr>
                        <a:t>24</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a:ea typeface="宋体" pitchFamily="2" charset="-122"/>
                        </a:rPr>
                        <a:t>·</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pitchFamily="34" charset="0"/>
                          <a:ea typeface="宋体" pitchFamily="2" charset="-122"/>
                        </a:rPr>
                        <a:t>1</a:t>
                      </a:r>
                      <a:endParaRPr kumimoji="0" lang="en-US" altLang="zh-CN" sz="20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endParaRPr>
                    </a:p>
                  </a:txBody>
                  <a:tcPr marT="45677" marB="456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r</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pitchFamily="34" charset="0"/>
                          <a:ea typeface="宋体" pitchFamily="2" charset="-122"/>
                        </a:rPr>
                        <a:t>24</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a:ea typeface="宋体" pitchFamily="2" charset="-122"/>
                        </a:rPr>
                        <a:t>·</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pitchFamily="34" charset="0"/>
                          <a:ea typeface="宋体" pitchFamily="2" charset="-122"/>
                        </a:rPr>
                        <a:t>3</a:t>
                      </a:r>
                      <a:endParaRPr kumimoji="0" lang="en-US" altLang="zh-CN" sz="20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endParaRPr>
                    </a:p>
                  </a:txBody>
                  <a:tcPr marT="45677" marB="456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r</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pitchFamily="34" charset="0"/>
                          <a:ea typeface="宋体" pitchFamily="2" charset="-122"/>
                        </a:rPr>
                        <a:t>24</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a:ea typeface="宋体" pitchFamily="2" charset="-122"/>
                        </a:rPr>
                        <a:t>·</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pitchFamily="34" charset="0"/>
                          <a:ea typeface="宋体" pitchFamily="2" charset="-122"/>
                        </a:rPr>
                        <a:t>1</a:t>
                      </a:r>
                    </a:p>
                  </a:txBody>
                  <a:tcPr marT="45677" marB="456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r</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pitchFamily="34" charset="0"/>
                          <a:ea typeface="宋体" pitchFamily="2" charset="-122"/>
                        </a:rPr>
                        <a:t>34</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Arial"/>
                          <a:ea typeface="宋体" pitchFamily="2" charset="-122"/>
                        </a:rPr>
                        <a:t>·</a:t>
                      </a:r>
                      <a:r>
                        <a:rPr kumimoji="0" lang="en-US" altLang="zh-CN" sz="2000" b="0" i="0" u="none" strike="noStrike" cap="none" normalizeH="0" baseline="-30000">
                          <a:ln>
                            <a:noFill/>
                          </a:ln>
                          <a:solidFill>
                            <a:srgbClr val="000000"/>
                          </a:solidFill>
                          <a:effectLst>
                            <a:outerShdw blurRad="38100" dist="38100" dir="2700000" algn="tl">
                              <a:srgbClr val="FFFFFF"/>
                            </a:outerShdw>
                          </a:effectLst>
                          <a:latin typeface="Times New Roman" pitchFamily="18" charset="0"/>
                          <a:ea typeface="宋体" pitchFamily="2" charset="-122"/>
                        </a:rPr>
                        <a:t>2</a:t>
                      </a:r>
                    </a:p>
                  </a:txBody>
                  <a:tcPr marT="45677" marB="4567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082">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0.321</a:t>
                      </a:r>
                    </a:p>
                  </a:txBody>
                  <a:tcPr marT="45677" marB="4567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0.303</a:t>
                      </a:r>
                    </a:p>
                  </a:txBody>
                  <a:tcPr marT="45677" marB="456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0.647</a:t>
                      </a:r>
                    </a:p>
                  </a:txBody>
                  <a:tcPr marT="45677" marB="456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0.395</a:t>
                      </a:r>
                    </a:p>
                  </a:txBody>
                  <a:tcPr marT="45677" marB="456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dirty="0">
                          <a:ln>
                            <a:noFill/>
                          </a:ln>
                          <a:solidFill>
                            <a:srgbClr val="000000"/>
                          </a:solidFill>
                          <a:effectLst>
                            <a:outerShdw blurRad="38100" dist="38100" dir="2700000" algn="tl">
                              <a:srgbClr val="FFFFFF"/>
                            </a:outerShdw>
                          </a:effectLst>
                          <a:latin typeface="宋体" pitchFamily="2" charset="-122"/>
                          <a:ea typeface="宋体" pitchFamily="2" charset="-122"/>
                        </a:rPr>
                        <a:t>-</a:t>
                      </a:r>
                      <a:r>
                        <a:rPr kumimoji="0" lang="en-US" altLang="zh-CN" sz="20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0.363</a:t>
                      </a:r>
                    </a:p>
                  </a:txBody>
                  <a:tcPr marT="45677" marB="456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0.956</a:t>
                      </a:r>
                    </a:p>
                  </a:txBody>
                  <a:tcPr marT="45677" marB="456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a:ln>
                            <a:noFill/>
                          </a:ln>
                          <a:solidFill>
                            <a:srgbClr val="000000"/>
                          </a:solidFill>
                          <a:effectLst>
                            <a:outerShdw blurRad="38100" dist="38100" dir="2700000" algn="tl">
                              <a:srgbClr val="FFFFFF"/>
                            </a:outerShdw>
                          </a:effectLst>
                          <a:latin typeface="Arial" pitchFamily="34" charset="0"/>
                          <a:ea typeface="宋体" pitchFamily="2" charset="-122"/>
                        </a:rPr>
                        <a:t>0.945</a:t>
                      </a:r>
                    </a:p>
                  </a:txBody>
                  <a:tcPr marT="45677" marB="456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dirty="0">
                          <a:ln>
                            <a:noFill/>
                          </a:ln>
                          <a:solidFill>
                            <a:srgbClr val="000000"/>
                          </a:solidFill>
                          <a:effectLst>
                            <a:outerShdw blurRad="38100" dist="38100" dir="2700000" algn="tl">
                              <a:srgbClr val="FFFFFF"/>
                            </a:outerShdw>
                          </a:effectLst>
                          <a:latin typeface="宋体" pitchFamily="2" charset="-122"/>
                          <a:ea typeface="宋体" pitchFamily="2" charset="-122"/>
                        </a:rPr>
                        <a:t>-</a:t>
                      </a:r>
                      <a:r>
                        <a:rPr kumimoji="0" lang="en-US" altLang="zh-CN" sz="20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0.375</a:t>
                      </a:r>
                    </a:p>
                  </a:txBody>
                  <a:tcPr marT="45677" marB="456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itchFamily="2" charset="2"/>
                        <a:buNone/>
                        <a:tabLst/>
                      </a:pPr>
                      <a:r>
                        <a:rPr kumimoji="0" lang="en-US" altLang="zh-CN" sz="2000" b="0" i="0" u="none" strike="noStrike" cap="none" normalizeH="0" baseline="0" dirty="0">
                          <a:ln>
                            <a:noFill/>
                          </a:ln>
                          <a:solidFill>
                            <a:srgbClr val="000000"/>
                          </a:solidFill>
                          <a:effectLst>
                            <a:outerShdw blurRad="38100" dist="38100" dir="2700000" algn="tl">
                              <a:srgbClr val="FFFFFF"/>
                            </a:outerShdw>
                          </a:effectLst>
                          <a:latin typeface="Arial" pitchFamily="34" charset="0"/>
                          <a:ea typeface="宋体" pitchFamily="2" charset="-122"/>
                        </a:rPr>
                        <a:t>0.371</a:t>
                      </a:r>
                    </a:p>
                  </a:txBody>
                  <a:tcPr marT="45677" marB="4567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41018" name="Rectangle 58">
            <a:extLst>
              <a:ext uri="{FF2B5EF4-FFF2-40B4-BE49-F238E27FC236}">
                <a16:creationId xmlns:a16="http://schemas.microsoft.com/office/drawing/2014/main" id="{E2E0B1DF-03A7-4F68-94D9-95FEC4470EE6}"/>
              </a:ext>
            </a:extLst>
          </p:cNvPr>
          <p:cNvSpPr>
            <a:spLocks noChangeArrowheads="1"/>
          </p:cNvSpPr>
          <p:nvPr/>
        </p:nvSpPr>
        <p:spPr bwMode="auto">
          <a:xfrm>
            <a:off x="1371600" y="3505200"/>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accent2"/>
              </a:buClr>
              <a:buFont typeface="Wingdings" panose="05000000000000000000" pitchFamily="2" charset="2"/>
              <a:buNone/>
            </a:pPr>
            <a:r>
              <a:rPr kumimoji="1" lang="zh-CN" altLang="en-US" sz="2800">
                <a:latin typeface="Times New Roman" panose="02020603050405020304" pitchFamily="18" charset="0"/>
              </a:rPr>
              <a:t>利用公式计算二级偏相关系数，如表所示：</a:t>
            </a:r>
          </a:p>
        </p:txBody>
      </p:sp>
      <p:sp>
        <p:nvSpPr>
          <p:cNvPr id="41019" name="Rectangle 59">
            <a:extLst>
              <a:ext uri="{FF2B5EF4-FFF2-40B4-BE49-F238E27FC236}">
                <a16:creationId xmlns:a16="http://schemas.microsoft.com/office/drawing/2014/main" id="{19D7B37F-E946-4023-88E1-718F07B34EB9}"/>
              </a:ext>
            </a:extLst>
          </p:cNvPr>
          <p:cNvSpPr>
            <a:spLocks noChangeArrowheads="1"/>
          </p:cNvSpPr>
          <p:nvPr/>
        </p:nvSpPr>
        <p:spPr bwMode="auto">
          <a:xfrm>
            <a:off x="914400" y="5638800"/>
            <a:ext cx="7962900" cy="838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accent2"/>
              </a:buClr>
              <a:buFont typeface="Wingdings" panose="05000000000000000000" pitchFamily="2" charset="2"/>
              <a:buNone/>
            </a:pPr>
            <a:r>
              <a:rPr kumimoji="1" lang="zh-CN" altLang="en-US" sz="2000">
                <a:latin typeface="宋体" panose="02010600030101010101" pitchFamily="2" charset="-122"/>
              </a:rPr>
              <a:t>说明：四个要素的一级偏相关系数有</a:t>
            </a:r>
            <a:r>
              <a:rPr kumimoji="1" lang="en-US" altLang="zh-CN" sz="2000">
                <a:latin typeface="宋体" panose="02010600030101010101" pitchFamily="2" charset="-122"/>
              </a:rPr>
              <a:t>12</a:t>
            </a:r>
            <a:r>
              <a:rPr kumimoji="1" lang="zh-CN" altLang="en-US" sz="2000">
                <a:latin typeface="宋体" panose="02010600030101010101" pitchFamily="2" charset="-122"/>
              </a:rPr>
              <a:t>个，这里给出了</a:t>
            </a:r>
            <a:r>
              <a:rPr kumimoji="1" lang="en-US" altLang="zh-CN" sz="2000">
                <a:latin typeface="宋体" panose="02010600030101010101" pitchFamily="2" charset="-122"/>
              </a:rPr>
              <a:t>9</a:t>
            </a:r>
            <a:r>
              <a:rPr kumimoji="1" lang="zh-CN" altLang="en-US" sz="2000">
                <a:latin typeface="宋体" panose="02010600030101010101" pitchFamily="2" charset="-122"/>
              </a:rPr>
              <a:t>个；二级偏相</a:t>
            </a:r>
          </a:p>
          <a:p>
            <a:pPr eaLnBrk="1" hangingPunct="1">
              <a:spcBef>
                <a:spcPct val="20000"/>
              </a:spcBef>
              <a:buClr>
                <a:schemeClr val="accent2"/>
              </a:buClr>
              <a:buFont typeface="Wingdings" panose="05000000000000000000" pitchFamily="2" charset="2"/>
              <a:buNone/>
            </a:pPr>
            <a:r>
              <a:rPr kumimoji="1" lang="zh-CN" altLang="en-US" sz="2000">
                <a:latin typeface="宋体" panose="02010600030101010101" pitchFamily="2" charset="-122"/>
              </a:rPr>
              <a:t>关系数有</a:t>
            </a:r>
            <a:r>
              <a:rPr kumimoji="1" lang="en-US" altLang="zh-CN" sz="2000">
                <a:latin typeface="宋体" panose="02010600030101010101" pitchFamily="2" charset="-122"/>
              </a:rPr>
              <a:t>6</a:t>
            </a:r>
            <a:r>
              <a:rPr kumimoji="1" lang="zh-CN" altLang="en-US" sz="2000">
                <a:latin typeface="宋体" panose="02010600030101010101" pitchFamily="2" charset="-122"/>
              </a:rPr>
              <a:t>个，这里全部给出来了。</a:t>
            </a:r>
            <a:endParaRPr kumimoji="1" lang="zh-CN" altLang="en-US" sz="2800">
              <a:latin typeface="Times New Roman" panose="02020603050405020304" pitchFamily="18" charset="0"/>
            </a:endParaRPr>
          </a:p>
        </p:txBody>
      </p:sp>
      <p:sp>
        <p:nvSpPr>
          <p:cNvPr id="41020" name="Rectangle 60">
            <a:extLst>
              <a:ext uri="{FF2B5EF4-FFF2-40B4-BE49-F238E27FC236}">
                <a16:creationId xmlns:a16="http://schemas.microsoft.com/office/drawing/2014/main" id="{E4BCA657-F565-4F4B-B19F-6399840977D7}"/>
              </a:ext>
            </a:extLst>
          </p:cNvPr>
          <p:cNvSpPr>
            <a:spLocks noChangeArrowheads="1"/>
          </p:cNvSpPr>
          <p:nvPr/>
        </p:nvSpPr>
        <p:spPr bwMode="auto">
          <a:xfrm>
            <a:off x="2895600" y="1524000"/>
            <a:ext cx="403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latin typeface="宋体" panose="02010600030101010101" pitchFamily="2" charset="-122"/>
              </a:rPr>
              <a:t>表 一级偏相关系数</a:t>
            </a:r>
            <a:r>
              <a:rPr kumimoji="1" lang="zh-CN" altLang="en-US" sz="1400">
                <a:latin typeface="Times New Roman" panose="02020603050405020304" pitchFamily="18" charset="0"/>
              </a:rPr>
              <a:t> </a:t>
            </a:r>
            <a:endParaRPr kumimoji="1" lang="zh-CN" altLang="en-US" sz="2400">
              <a:latin typeface="Times New Roman" panose="02020603050405020304" pitchFamily="18" charset="0"/>
            </a:endParaRPr>
          </a:p>
        </p:txBody>
      </p:sp>
      <p:sp>
        <p:nvSpPr>
          <p:cNvPr id="41021" name="Rectangle 61">
            <a:extLst>
              <a:ext uri="{FF2B5EF4-FFF2-40B4-BE49-F238E27FC236}">
                <a16:creationId xmlns:a16="http://schemas.microsoft.com/office/drawing/2014/main" id="{A46F6BB3-69F1-415F-A20C-715C88E56601}"/>
              </a:ext>
            </a:extLst>
          </p:cNvPr>
          <p:cNvSpPr>
            <a:spLocks noChangeArrowheads="1"/>
          </p:cNvSpPr>
          <p:nvPr/>
        </p:nvSpPr>
        <p:spPr bwMode="auto">
          <a:xfrm>
            <a:off x="2971800" y="4114800"/>
            <a:ext cx="403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latin typeface="宋体" panose="02010600030101010101" pitchFamily="2" charset="-122"/>
              </a:rPr>
              <a:t>表  二级偏相关系数</a:t>
            </a:r>
            <a:r>
              <a:rPr kumimoji="1" lang="zh-CN" altLang="en-US" sz="1400">
                <a:latin typeface="Times New Roman" panose="02020603050405020304" pitchFamily="18" charset="0"/>
              </a:rPr>
              <a:t> </a:t>
            </a:r>
            <a:endParaRPr kumimoji="1" lang="zh-CN" altLang="en-US" sz="2400">
              <a:latin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4">
            <a:extLst>
              <a:ext uri="{FF2B5EF4-FFF2-40B4-BE49-F238E27FC236}">
                <a16:creationId xmlns:a16="http://schemas.microsoft.com/office/drawing/2014/main" id="{96AB7360-59B4-4531-B32F-391A86376C73}"/>
              </a:ext>
            </a:extLst>
          </p:cNvPr>
          <p:cNvSpPr>
            <a:spLocks noGrp="1" noChangeArrowheads="1"/>
          </p:cNvSpPr>
          <p:nvPr>
            <p:ph type="title"/>
          </p:nvPr>
        </p:nvSpPr>
        <p:spPr>
          <a:xfrm>
            <a:off x="457200" y="277813"/>
            <a:ext cx="8229600" cy="755650"/>
          </a:xfrm>
        </p:spPr>
        <p:txBody>
          <a:bodyPr rtlCol="0">
            <a:normAutofit fontScale="90000"/>
          </a:bodyPr>
          <a:lstStyle/>
          <a:p>
            <a:pPr eaLnBrk="1" fontAlgn="auto" hangingPunct="1">
              <a:spcAft>
                <a:spcPts val="0"/>
              </a:spcAft>
              <a:defRPr/>
            </a:pPr>
            <a:r>
              <a:rPr lang="zh-CN" altLang="en-US" dirty="0">
                <a:solidFill>
                  <a:srgbClr val="0000FF"/>
                </a:solidFill>
              </a:rPr>
              <a:t>偏相关系数的性质</a:t>
            </a:r>
          </a:p>
        </p:txBody>
      </p:sp>
      <p:sp>
        <p:nvSpPr>
          <p:cNvPr id="41987" name="Rectangle 5">
            <a:extLst>
              <a:ext uri="{FF2B5EF4-FFF2-40B4-BE49-F238E27FC236}">
                <a16:creationId xmlns:a16="http://schemas.microsoft.com/office/drawing/2014/main" id="{C5404A69-B970-44D9-9AEF-DD2EEF2EB010}"/>
              </a:ext>
            </a:extLst>
          </p:cNvPr>
          <p:cNvSpPr>
            <a:spLocks noGrp="1" noChangeArrowheads="1"/>
          </p:cNvSpPr>
          <p:nvPr>
            <p:ph idx="1"/>
          </p:nvPr>
        </p:nvSpPr>
        <p:spPr>
          <a:xfrm>
            <a:off x="685800" y="1412875"/>
            <a:ext cx="7772400" cy="4683125"/>
          </a:xfrm>
        </p:spPr>
        <p:txBody>
          <a:bodyPr/>
          <a:lstStyle/>
          <a:p>
            <a:pPr eaLnBrk="1" hangingPunct="1">
              <a:lnSpc>
                <a:spcPct val="90000"/>
              </a:lnSpc>
            </a:pPr>
            <a:r>
              <a:rPr lang="zh-CN" altLang="en-US" sz="2800" dirty="0"/>
              <a:t>偏相关系数具有下述性质：</a:t>
            </a:r>
          </a:p>
          <a:p>
            <a:pPr lvl="1" eaLnBrk="1" hangingPunct="1">
              <a:lnSpc>
                <a:spcPct val="90000"/>
              </a:lnSpc>
            </a:pPr>
            <a:r>
              <a:rPr lang="zh-CN" altLang="en-US" sz="2400" dirty="0"/>
              <a:t>偏相关系数分布的范围在</a:t>
            </a:r>
            <a:r>
              <a:rPr lang="en-US" altLang="zh-CN" sz="2400" dirty="0"/>
              <a:t>-1 </a:t>
            </a:r>
            <a:r>
              <a:rPr lang="zh-CN" altLang="en-US" sz="2400" dirty="0"/>
              <a:t>到</a:t>
            </a:r>
            <a:r>
              <a:rPr lang="en-US" altLang="zh-CN" sz="2400" dirty="0"/>
              <a:t>1 </a:t>
            </a:r>
            <a:r>
              <a:rPr lang="zh-CN" altLang="en-US" sz="2400" dirty="0"/>
              <a:t>之间，如当</a:t>
            </a:r>
            <a:r>
              <a:rPr lang="en-US" altLang="zh-CN" sz="2400" dirty="0"/>
              <a:t>r</a:t>
            </a:r>
            <a:r>
              <a:rPr lang="en-US" altLang="zh-CN" sz="2400" baseline="-25000" dirty="0"/>
              <a:t>12</a:t>
            </a:r>
            <a:r>
              <a:rPr lang="en-US" altLang="zh-CN" sz="2400" baseline="-25000" dirty="0">
                <a:latin typeface="Arial Black" panose="020B0A04020102020204" pitchFamily="34" charset="0"/>
              </a:rPr>
              <a:t>·</a:t>
            </a:r>
            <a:r>
              <a:rPr lang="en-US" altLang="zh-CN" sz="2400" baseline="-25000" dirty="0"/>
              <a:t>3</a:t>
            </a:r>
            <a:r>
              <a:rPr lang="en-US" altLang="zh-CN" sz="2400" dirty="0"/>
              <a:t> </a:t>
            </a:r>
            <a:r>
              <a:rPr lang="zh-CN" altLang="en-US" sz="2400" dirty="0"/>
              <a:t>为正值时，表示在</a:t>
            </a:r>
            <a:r>
              <a:rPr lang="en-US" altLang="zh-CN" sz="2400" dirty="0"/>
              <a:t>X</a:t>
            </a:r>
            <a:r>
              <a:rPr lang="en-US" altLang="zh-CN" sz="2400" baseline="-25000" dirty="0"/>
              <a:t>3</a:t>
            </a:r>
            <a:r>
              <a:rPr lang="zh-CN" altLang="en-US" sz="2400" dirty="0"/>
              <a:t>固定时，</a:t>
            </a:r>
            <a:r>
              <a:rPr lang="en-US" altLang="zh-CN" sz="2400" dirty="0"/>
              <a:t>X</a:t>
            </a:r>
            <a:r>
              <a:rPr lang="en-US" altLang="zh-CN" sz="2400" baseline="-25000" dirty="0"/>
              <a:t>1</a:t>
            </a:r>
            <a:r>
              <a:rPr lang="en-US" altLang="zh-CN" sz="2400" dirty="0"/>
              <a:t> </a:t>
            </a:r>
            <a:r>
              <a:rPr lang="zh-CN" altLang="en-US" sz="2400" dirty="0"/>
              <a:t>与</a:t>
            </a:r>
            <a:r>
              <a:rPr lang="en-US" altLang="zh-CN" sz="2400" dirty="0"/>
              <a:t>X</a:t>
            </a:r>
            <a:r>
              <a:rPr lang="en-US" altLang="zh-CN" sz="2400" baseline="-25000" dirty="0"/>
              <a:t>2</a:t>
            </a:r>
            <a:r>
              <a:rPr lang="en-US" altLang="zh-CN" sz="2400" dirty="0"/>
              <a:t> </a:t>
            </a:r>
            <a:r>
              <a:rPr lang="zh-CN" altLang="en-US" sz="2400" dirty="0"/>
              <a:t>之间为正相关；当</a:t>
            </a:r>
            <a:r>
              <a:rPr lang="en-US" altLang="zh-CN" sz="2400" dirty="0"/>
              <a:t>r</a:t>
            </a:r>
            <a:r>
              <a:rPr lang="en-US" altLang="zh-CN" sz="2400" baseline="-25000" dirty="0"/>
              <a:t>12</a:t>
            </a:r>
            <a:r>
              <a:rPr lang="en-US" altLang="zh-CN" sz="2400" baseline="-25000" dirty="0">
                <a:latin typeface="Arial Black" panose="020B0A04020102020204" pitchFamily="34" charset="0"/>
              </a:rPr>
              <a:t>·</a:t>
            </a:r>
            <a:r>
              <a:rPr lang="en-US" altLang="zh-CN" sz="2400" baseline="-25000" dirty="0"/>
              <a:t>3</a:t>
            </a:r>
            <a:r>
              <a:rPr lang="en-US" altLang="zh-CN" sz="2400" dirty="0"/>
              <a:t> </a:t>
            </a:r>
            <a:r>
              <a:rPr lang="zh-CN" altLang="en-US" sz="2400" dirty="0"/>
              <a:t>为负值时，表示在</a:t>
            </a:r>
            <a:r>
              <a:rPr lang="en-US" altLang="zh-CN" sz="2400" dirty="0"/>
              <a:t>X</a:t>
            </a:r>
            <a:r>
              <a:rPr lang="en-US" altLang="zh-CN" sz="2400" baseline="-25000" dirty="0"/>
              <a:t>3</a:t>
            </a:r>
            <a:r>
              <a:rPr lang="en-US" altLang="zh-CN" sz="2400" dirty="0"/>
              <a:t> </a:t>
            </a:r>
            <a:r>
              <a:rPr lang="zh-CN" altLang="en-US" sz="2400" dirty="0"/>
              <a:t>固定时，</a:t>
            </a:r>
            <a:r>
              <a:rPr lang="en-US" altLang="zh-CN" sz="2400" dirty="0"/>
              <a:t>X</a:t>
            </a:r>
            <a:r>
              <a:rPr lang="en-US" altLang="zh-CN" sz="2400" baseline="-25000" dirty="0"/>
              <a:t>1</a:t>
            </a:r>
            <a:r>
              <a:rPr lang="en-US" altLang="zh-CN" sz="2400" dirty="0"/>
              <a:t> </a:t>
            </a:r>
            <a:r>
              <a:rPr lang="zh-CN" altLang="en-US" sz="2400" dirty="0"/>
              <a:t>与</a:t>
            </a:r>
            <a:r>
              <a:rPr lang="en-US" altLang="zh-CN" sz="2400" dirty="0"/>
              <a:t>X</a:t>
            </a:r>
            <a:r>
              <a:rPr lang="en-US" altLang="zh-CN" sz="2400" baseline="-25000" dirty="0"/>
              <a:t>2 </a:t>
            </a:r>
            <a:r>
              <a:rPr lang="zh-CN" altLang="en-US" sz="2400" dirty="0"/>
              <a:t>之间为负相关。</a:t>
            </a:r>
          </a:p>
          <a:p>
            <a:pPr lvl="1" eaLnBrk="1" hangingPunct="1">
              <a:lnSpc>
                <a:spcPct val="90000"/>
              </a:lnSpc>
            </a:pPr>
            <a:r>
              <a:rPr lang="zh-CN" altLang="en-US" sz="2400" dirty="0"/>
              <a:t>偏相关系数的绝对值越大，表示其偏相关程度越大。</a:t>
            </a:r>
            <a:r>
              <a:rPr lang="zh-CN" altLang="en-US" sz="2400" b="1" dirty="0">
                <a:solidFill>
                  <a:srgbClr val="0000FF"/>
                </a:solidFill>
              </a:rPr>
              <a:t>例如，｜</a:t>
            </a:r>
            <a:r>
              <a:rPr lang="en-US" altLang="zh-CN" sz="2400" b="1" dirty="0">
                <a:solidFill>
                  <a:srgbClr val="0000FF"/>
                </a:solidFill>
              </a:rPr>
              <a:t>r</a:t>
            </a:r>
            <a:r>
              <a:rPr lang="en-US" altLang="zh-CN" sz="2400" b="1" baseline="-25000" dirty="0">
                <a:solidFill>
                  <a:srgbClr val="0000FF"/>
                </a:solidFill>
              </a:rPr>
              <a:t>12</a:t>
            </a:r>
            <a:r>
              <a:rPr lang="en-US" altLang="zh-CN" sz="2400" b="1" baseline="-25000" dirty="0">
                <a:solidFill>
                  <a:srgbClr val="0000FF"/>
                </a:solidFill>
                <a:latin typeface="Arial Black" panose="020B0A04020102020204" pitchFamily="34" charset="0"/>
              </a:rPr>
              <a:t>·</a:t>
            </a:r>
            <a:r>
              <a:rPr lang="en-US" altLang="zh-CN" sz="2400" b="1" baseline="-25000" dirty="0">
                <a:solidFill>
                  <a:srgbClr val="0000FF"/>
                </a:solidFill>
              </a:rPr>
              <a:t>3</a:t>
            </a:r>
            <a:r>
              <a:rPr lang="zh-CN" altLang="en-US" sz="2400" b="1" dirty="0">
                <a:solidFill>
                  <a:srgbClr val="0000FF"/>
                </a:solidFill>
              </a:rPr>
              <a:t>｜</a:t>
            </a:r>
            <a:r>
              <a:rPr lang="en-US" altLang="zh-CN" sz="2400" b="1" dirty="0">
                <a:solidFill>
                  <a:srgbClr val="0000FF"/>
                </a:solidFill>
              </a:rPr>
              <a:t>=1</a:t>
            </a:r>
            <a:r>
              <a:rPr lang="zh-CN" altLang="en-US" sz="2400" b="1" dirty="0">
                <a:solidFill>
                  <a:srgbClr val="0000FF"/>
                </a:solidFill>
              </a:rPr>
              <a:t>，则表示当</a:t>
            </a:r>
            <a:r>
              <a:rPr lang="en-US" altLang="zh-CN" sz="2400" b="1" dirty="0">
                <a:solidFill>
                  <a:srgbClr val="0000FF"/>
                </a:solidFill>
              </a:rPr>
              <a:t>X</a:t>
            </a:r>
            <a:r>
              <a:rPr lang="en-US" altLang="zh-CN" sz="2400" b="1" baseline="-25000" dirty="0">
                <a:solidFill>
                  <a:srgbClr val="0000FF"/>
                </a:solidFill>
              </a:rPr>
              <a:t>3</a:t>
            </a:r>
            <a:r>
              <a:rPr lang="en-US" altLang="zh-CN" sz="2400" b="1" dirty="0">
                <a:solidFill>
                  <a:srgbClr val="0000FF"/>
                </a:solidFill>
              </a:rPr>
              <a:t> </a:t>
            </a:r>
            <a:r>
              <a:rPr lang="zh-CN" altLang="en-US" sz="2400" b="1" dirty="0">
                <a:solidFill>
                  <a:srgbClr val="0000FF"/>
                </a:solidFill>
              </a:rPr>
              <a:t>固定时，</a:t>
            </a:r>
            <a:r>
              <a:rPr lang="en-US" altLang="zh-CN" sz="2400" b="1" dirty="0">
                <a:solidFill>
                  <a:srgbClr val="0000FF"/>
                </a:solidFill>
              </a:rPr>
              <a:t>X</a:t>
            </a:r>
            <a:r>
              <a:rPr lang="en-US" altLang="zh-CN" sz="2400" b="1" baseline="-25000" dirty="0">
                <a:solidFill>
                  <a:srgbClr val="0000FF"/>
                </a:solidFill>
              </a:rPr>
              <a:t>1</a:t>
            </a:r>
            <a:r>
              <a:rPr lang="en-US" altLang="zh-CN" sz="2400" b="1" dirty="0">
                <a:solidFill>
                  <a:srgbClr val="0000FF"/>
                </a:solidFill>
              </a:rPr>
              <a:t> </a:t>
            </a:r>
            <a:r>
              <a:rPr lang="zh-CN" altLang="en-US" sz="2400" b="1" dirty="0">
                <a:solidFill>
                  <a:srgbClr val="0000FF"/>
                </a:solidFill>
              </a:rPr>
              <a:t>与</a:t>
            </a:r>
            <a:r>
              <a:rPr lang="en-US" altLang="zh-CN" sz="2400" b="1" dirty="0">
                <a:solidFill>
                  <a:srgbClr val="0000FF"/>
                </a:solidFill>
              </a:rPr>
              <a:t>X</a:t>
            </a:r>
            <a:r>
              <a:rPr lang="en-US" altLang="zh-CN" sz="2400" b="1" baseline="-25000" dirty="0">
                <a:solidFill>
                  <a:srgbClr val="0000FF"/>
                </a:solidFill>
              </a:rPr>
              <a:t>2 </a:t>
            </a:r>
            <a:r>
              <a:rPr lang="zh-CN" altLang="en-US" sz="2400" b="1" dirty="0">
                <a:solidFill>
                  <a:srgbClr val="0000FF"/>
                </a:solidFill>
              </a:rPr>
              <a:t>之间完全相关；当｜</a:t>
            </a:r>
            <a:r>
              <a:rPr lang="en-US" altLang="zh-CN" sz="2400" b="1" dirty="0">
                <a:solidFill>
                  <a:srgbClr val="0000FF"/>
                </a:solidFill>
              </a:rPr>
              <a:t>r</a:t>
            </a:r>
            <a:r>
              <a:rPr lang="en-US" altLang="zh-CN" sz="2400" b="1" baseline="-25000" dirty="0">
                <a:solidFill>
                  <a:srgbClr val="0000FF"/>
                </a:solidFill>
              </a:rPr>
              <a:t>12</a:t>
            </a:r>
            <a:r>
              <a:rPr lang="en-US" altLang="zh-CN" sz="2400" b="1" baseline="-25000" dirty="0">
                <a:solidFill>
                  <a:srgbClr val="0000FF"/>
                </a:solidFill>
                <a:latin typeface="Arial Black" panose="020B0A04020102020204" pitchFamily="34" charset="0"/>
              </a:rPr>
              <a:t>·</a:t>
            </a:r>
            <a:r>
              <a:rPr lang="en-US" altLang="zh-CN" sz="2400" b="1" baseline="-25000" dirty="0">
                <a:solidFill>
                  <a:srgbClr val="0000FF"/>
                </a:solidFill>
              </a:rPr>
              <a:t>3</a:t>
            </a:r>
            <a:r>
              <a:rPr lang="zh-CN" altLang="en-US" sz="2400" b="1" dirty="0">
                <a:solidFill>
                  <a:srgbClr val="0000FF"/>
                </a:solidFill>
              </a:rPr>
              <a:t>｜</a:t>
            </a:r>
            <a:r>
              <a:rPr lang="en-US" altLang="zh-CN" sz="2400" b="1" dirty="0">
                <a:solidFill>
                  <a:srgbClr val="0000FF"/>
                </a:solidFill>
              </a:rPr>
              <a:t>=0 </a:t>
            </a:r>
            <a:r>
              <a:rPr lang="zh-CN" altLang="en-US" sz="2400" b="1" dirty="0">
                <a:solidFill>
                  <a:srgbClr val="0000FF"/>
                </a:solidFill>
              </a:rPr>
              <a:t>时，表示当</a:t>
            </a:r>
            <a:r>
              <a:rPr lang="en-US" altLang="zh-CN" sz="2400" b="1" dirty="0">
                <a:solidFill>
                  <a:srgbClr val="0000FF"/>
                </a:solidFill>
              </a:rPr>
              <a:t>X</a:t>
            </a:r>
            <a:r>
              <a:rPr lang="en-US" altLang="zh-CN" sz="2400" b="1" baseline="-25000" dirty="0">
                <a:solidFill>
                  <a:srgbClr val="0000FF"/>
                </a:solidFill>
              </a:rPr>
              <a:t>3</a:t>
            </a:r>
            <a:r>
              <a:rPr lang="en-US" altLang="zh-CN" sz="2400" b="1" dirty="0">
                <a:solidFill>
                  <a:srgbClr val="0000FF"/>
                </a:solidFill>
              </a:rPr>
              <a:t> </a:t>
            </a:r>
            <a:r>
              <a:rPr lang="zh-CN" altLang="en-US" sz="2400" b="1" dirty="0">
                <a:solidFill>
                  <a:srgbClr val="0000FF"/>
                </a:solidFill>
              </a:rPr>
              <a:t>固定时，</a:t>
            </a:r>
            <a:r>
              <a:rPr lang="en-US" altLang="zh-CN" sz="2400" b="1" dirty="0">
                <a:solidFill>
                  <a:srgbClr val="0000FF"/>
                </a:solidFill>
              </a:rPr>
              <a:t>X</a:t>
            </a:r>
            <a:r>
              <a:rPr lang="en-US" altLang="zh-CN" sz="2400" b="1" baseline="-25000" dirty="0">
                <a:solidFill>
                  <a:srgbClr val="0000FF"/>
                </a:solidFill>
              </a:rPr>
              <a:t>1</a:t>
            </a:r>
            <a:r>
              <a:rPr lang="en-US" altLang="zh-CN" sz="2400" b="1" dirty="0">
                <a:solidFill>
                  <a:srgbClr val="0000FF"/>
                </a:solidFill>
              </a:rPr>
              <a:t> </a:t>
            </a:r>
            <a:r>
              <a:rPr lang="zh-CN" altLang="en-US" sz="2400" b="1" dirty="0">
                <a:solidFill>
                  <a:srgbClr val="0000FF"/>
                </a:solidFill>
              </a:rPr>
              <a:t>与</a:t>
            </a:r>
            <a:r>
              <a:rPr lang="en-US" altLang="zh-CN" sz="2400" b="1" dirty="0">
                <a:solidFill>
                  <a:srgbClr val="0000FF"/>
                </a:solidFill>
              </a:rPr>
              <a:t>X</a:t>
            </a:r>
            <a:r>
              <a:rPr lang="en-US" altLang="zh-CN" sz="2400" b="1" baseline="-25000" dirty="0">
                <a:solidFill>
                  <a:srgbClr val="0000FF"/>
                </a:solidFill>
              </a:rPr>
              <a:t>2</a:t>
            </a:r>
            <a:r>
              <a:rPr lang="en-US" altLang="zh-CN" sz="2400" b="1" dirty="0">
                <a:solidFill>
                  <a:srgbClr val="0000FF"/>
                </a:solidFill>
              </a:rPr>
              <a:t> </a:t>
            </a:r>
            <a:r>
              <a:rPr lang="zh-CN" altLang="en-US" sz="2400" b="1" dirty="0">
                <a:solidFill>
                  <a:srgbClr val="0000FF"/>
                </a:solidFill>
              </a:rPr>
              <a:t>之间完全无关</a:t>
            </a:r>
          </a:p>
          <a:p>
            <a:pPr lvl="1" eaLnBrk="1" hangingPunct="1">
              <a:lnSpc>
                <a:spcPct val="90000"/>
              </a:lnSpc>
            </a:pPr>
            <a:r>
              <a:rPr lang="zh-CN" altLang="en-US" sz="2400" dirty="0"/>
              <a:t>偏相关系数的绝对值必小于或最多等于由同一系列资料所求得的复相关系数，即</a:t>
            </a:r>
            <a:r>
              <a:rPr lang="en-US" altLang="zh-CN" sz="2400" dirty="0"/>
              <a:t>R</a:t>
            </a:r>
            <a:r>
              <a:rPr lang="en-US" altLang="zh-CN" sz="2400" baseline="-25000" dirty="0"/>
              <a:t>1</a:t>
            </a:r>
            <a:r>
              <a:rPr lang="en-US" altLang="zh-CN" sz="2400" baseline="-25000" dirty="0">
                <a:latin typeface="Arial Black" panose="020B0A04020102020204" pitchFamily="34" charset="0"/>
              </a:rPr>
              <a:t>·</a:t>
            </a:r>
            <a:r>
              <a:rPr lang="en-US" altLang="zh-CN" sz="2400" baseline="-25000" dirty="0"/>
              <a:t>23</a:t>
            </a:r>
            <a:r>
              <a:rPr lang="en-US" altLang="zh-CN" sz="2400" dirty="0"/>
              <a:t>≥</a:t>
            </a:r>
            <a:r>
              <a:rPr lang="zh-CN" altLang="en-US" sz="2400" dirty="0"/>
              <a:t>｜</a:t>
            </a:r>
            <a:r>
              <a:rPr lang="en-US" altLang="zh-CN" sz="2400" dirty="0"/>
              <a:t>r</a:t>
            </a:r>
            <a:r>
              <a:rPr lang="en-US" altLang="zh-CN" sz="2400" baseline="-25000" dirty="0"/>
              <a:t>12</a:t>
            </a:r>
            <a:r>
              <a:rPr lang="en-US" altLang="zh-CN" sz="2400" baseline="-25000" dirty="0">
                <a:latin typeface="Arial Black" panose="020B0A04020102020204" pitchFamily="34" charset="0"/>
              </a:rPr>
              <a:t>·</a:t>
            </a:r>
            <a:r>
              <a:rPr lang="en-US" altLang="zh-CN" sz="2400" baseline="-25000" dirty="0"/>
              <a:t>3</a:t>
            </a:r>
            <a:r>
              <a:rPr lang="zh-CN" altLang="en-US" sz="2400" dirty="0"/>
              <a:t>｜</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5">
            <a:extLst>
              <a:ext uri="{FF2B5EF4-FFF2-40B4-BE49-F238E27FC236}">
                <a16:creationId xmlns:a16="http://schemas.microsoft.com/office/drawing/2014/main" id="{737AF1DA-7A10-453F-A216-9BBFCA5A3AEB}"/>
              </a:ext>
            </a:extLst>
          </p:cNvPr>
          <p:cNvSpPr>
            <a:spLocks noGrp="1" noChangeArrowheads="1"/>
          </p:cNvSpPr>
          <p:nvPr>
            <p:ph type="title"/>
          </p:nvPr>
        </p:nvSpPr>
        <p:spPr/>
        <p:txBody>
          <a:bodyPr/>
          <a:lstStyle/>
          <a:p>
            <a:pPr eaLnBrk="1" hangingPunct="1"/>
            <a:endParaRPr lang="zh-CN" altLang="zh-CN"/>
          </a:p>
        </p:txBody>
      </p:sp>
      <p:sp>
        <p:nvSpPr>
          <p:cNvPr id="43011" name="Rectangle 3">
            <a:extLst>
              <a:ext uri="{FF2B5EF4-FFF2-40B4-BE49-F238E27FC236}">
                <a16:creationId xmlns:a16="http://schemas.microsoft.com/office/drawing/2014/main" id="{69CCD665-A4D7-4E4A-A5C9-0EBDC4841C7D}"/>
              </a:ext>
            </a:extLst>
          </p:cNvPr>
          <p:cNvSpPr>
            <a:spLocks noGrp="1" noChangeArrowheads="1"/>
          </p:cNvSpPr>
          <p:nvPr>
            <p:ph type="body" sz="half" idx="1"/>
          </p:nvPr>
        </p:nvSpPr>
        <p:spPr>
          <a:xfrm>
            <a:off x="685800" y="1196975"/>
            <a:ext cx="7702550" cy="4899025"/>
          </a:xfrm>
        </p:spPr>
        <p:txBody>
          <a:bodyPr/>
          <a:lstStyle/>
          <a:p>
            <a:pPr eaLnBrk="1" hangingPunct="1"/>
            <a:r>
              <a:rPr lang="en-US" altLang="zh-CN" sz="2800"/>
              <a:t>2.</a:t>
            </a:r>
            <a:r>
              <a:rPr lang="zh-CN" altLang="en-US" sz="2800"/>
              <a:t>偏相关系数的显著性检验</a:t>
            </a:r>
          </a:p>
          <a:p>
            <a:pPr lvl="1" eaLnBrk="1" hangingPunct="1"/>
            <a:r>
              <a:rPr lang="zh-CN" altLang="en-US" sz="2400"/>
              <a:t>偏相关系数的显著性检验，一般采用</a:t>
            </a:r>
            <a:r>
              <a:rPr lang="en-US" altLang="zh-CN" sz="2400"/>
              <a:t>t-</a:t>
            </a:r>
            <a:r>
              <a:rPr lang="zh-CN" altLang="en-US" sz="2400"/>
              <a:t>检验法。其统计量计算公式为</a:t>
            </a:r>
          </a:p>
          <a:p>
            <a:pPr lvl="1" eaLnBrk="1" hangingPunct="1"/>
            <a:endParaRPr lang="zh-CN" altLang="en-US" sz="2400"/>
          </a:p>
          <a:p>
            <a:pPr lvl="1" eaLnBrk="1" hangingPunct="1"/>
            <a:endParaRPr lang="zh-CN" altLang="en-US" sz="2400"/>
          </a:p>
          <a:p>
            <a:pPr lvl="1" eaLnBrk="1" hangingPunct="1"/>
            <a:endParaRPr lang="zh-CN" altLang="en-US" sz="2400"/>
          </a:p>
          <a:p>
            <a:pPr lvl="1" eaLnBrk="1" hangingPunct="1"/>
            <a:endParaRPr lang="zh-CN" altLang="en-US" sz="2400"/>
          </a:p>
          <a:p>
            <a:pPr lvl="1" eaLnBrk="1" hangingPunct="1"/>
            <a:endParaRPr lang="zh-CN" altLang="en-US" sz="2400"/>
          </a:p>
          <a:p>
            <a:pPr lvl="1" eaLnBrk="1" hangingPunct="1"/>
            <a:r>
              <a:rPr lang="en-US" altLang="zh-CN" sz="2400"/>
              <a:t>r</a:t>
            </a:r>
            <a:r>
              <a:rPr lang="en-US" altLang="zh-CN" sz="2400" baseline="-25000"/>
              <a:t>12</a:t>
            </a:r>
            <a:r>
              <a:rPr lang="en-US" altLang="zh-CN" sz="2400" baseline="-25000">
                <a:latin typeface="Arial Black" panose="020B0A04020102020204" pitchFamily="34" charset="0"/>
              </a:rPr>
              <a:t>·</a:t>
            </a:r>
            <a:r>
              <a:rPr lang="en-US" altLang="zh-CN" sz="2400" baseline="-25000"/>
              <a:t>34⋯m</a:t>
            </a:r>
            <a:r>
              <a:rPr lang="en-US" altLang="zh-CN" sz="2400"/>
              <a:t> </a:t>
            </a:r>
            <a:r>
              <a:rPr lang="zh-CN" altLang="en-US" sz="2400"/>
              <a:t>为偏相关系数，</a:t>
            </a:r>
            <a:r>
              <a:rPr lang="en-US" altLang="zh-CN" sz="2400"/>
              <a:t>n </a:t>
            </a:r>
            <a:r>
              <a:rPr lang="zh-CN" altLang="en-US" sz="2400"/>
              <a:t>为样本数，</a:t>
            </a:r>
            <a:r>
              <a:rPr lang="en-US" altLang="zh-CN" sz="2400"/>
              <a:t>m </a:t>
            </a:r>
            <a:r>
              <a:rPr lang="zh-CN" altLang="en-US" sz="2400"/>
              <a:t>为自变量个数</a:t>
            </a:r>
          </a:p>
        </p:txBody>
      </p:sp>
      <p:graphicFrame>
        <p:nvGraphicFramePr>
          <p:cNvPr id="43012" name="Object 4">
            <a:extLst>
              <a:ext uri="{FF2B5EF4-FFF2-40B4-BE49-F238E27FC236}">
                <a16:creationId xmlns:a16="http://schemas.microsoft.com/office/drawing/2014/main" id="{2AC8A121-A581-4E0A-B8FD-58D365685A6A}"/>
              </a:ext>
            </a:extLst>
          </p:cNvPr>
          <p:cNvGraphicFramePr>
            <a:graphicFrameLocks noGrp="1" noChangeAspect="1"/>
          </p:cNvGraphicFramePr>
          <p:nvPr>
            <p:ph sz="half" idx="2"/>
          </p:nvPr>
        </p:nvGraphicFramePr>
        <p:xfrm>
          <a:off x="1428750" y="2571750"/>
          <a:ext cx="6099175" cy="1749425"/>
        </p:xfrm>
        <a:graphic>
          <a:graphicData uri="http://schemas.openxmlformats.org/presentationml/2006/ole">
            <mc:AlternateContent xmlns:mc="http://schemas.openxmlformats.org/markup-compatibility/2006">
              <mc:Choice xmlns:v="urn:schemas-microsoft-com:vml" Requires="v">
                <p:oleObj spid="_x0000_s43059" name="公式" r:id="rId3" imgW="1638300" imgH="469900" progId="Equation.3">
                  <p:embed/>
                </p:oleObj>
              </mc:Choice>
              <mc:Fallback>
                <p:oleObj name="公式" r:id="rId3" imgW="1638300" imgH="4699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8750" y="2571750"/>
                        <a:ext cx="6099175" cy="17494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5">
            <a:extLst>
              <a:ext uri="{FF2B5EF4-FFF2-40B4-BE49-F238E27FC236}">
                <a16:creationId xmlns:a16="http://schemas.microsoft.com/office/drawing/2014/main" id="{9D777128-1301-455D-9562-71BAF2A09686}"/>
              </a:ext>
            </a:extLst>
          </p:cNvPr>
          <p:cNvSpPr>
            <a:spLocks noGrp="1" noChangeArrowheads="1"/>
          </p:cNvSpPr>
          <p:nvPr>
            <p:ph type="title"/>
          </p:nvPr>
        </p:nvSpPr>
        <p:spPr/>
        <p:txBody>
          <a:bodyPr/>
          <a:lstStyle/>
          <a:p>
            <a:pPr eaLnBrk="1" hangingPunct="1"/>
            <a:endParaRPr lang="zh-CN" altLang="zh-CN"/>
          </a:p>
        </p:txBody>
      </p:sp>
      <p:sp>
        <p:nvSpPr>
          <p:cNvPr id="44035" name="Rectangle 3">
            <a:extLst>
              <a:ext uri="{FF2B5EF4-FFF2-40B4-BE49-F238E27FC236}">
                <a16:creationId xmlns:a16="http://schemas.microsoft.com/office/drawing/2014/main" id="{5831AAA2-7BFE-44B4-8BC7-34C9D4245D8C}"/>
              </a:ext>
            </a:extLst>
          </p:cNvPr>
          <p:cNvSpPr>
            <a:spLocks noGrp="1" noChangeArrowheads="1"/>
          </p:cNvSpPr>
          <p:nvPr>
            <p:ph type="body" sz="half" idx="1"/>
          </p:nvPr>
        </p:nvSpPr>
        <p:spPr>
          <a:xfrm>
            <a:off x="179388" y="1196975"/>
            <a:ext cx="8496300" cy="5111750"/>
          </a:xfrm>
        </p:spPr>
        <p:txBody>
          <a:bodyPr/>
          <a:lstStyle/>
          <a:p>
            <a:pPr eaLnBrk="1" hangingPunct="1"/>
            <a:r>
              <a:rPr lang="zh-CN" altLang="en-US" sz="2800" dirty="0"/>
              <a:t>譬如，偏相关系数</a:t>
            </a:r>
            <a:r>
              <a:rPr lang="en-US" altLang="zh-CN" sz="2800" dirty="0"/>
              <a:t>r</a:t>
            </a:r>
            <a:r>
              <a:rPr lang="en-US" altLang="zh-CN" sz="2800" baseline="-25000" dirty="0"/>
              <a:t>24</a:t>
            </a:r>
            <a:r>
              <a:rPr lang="en-US" altLang="zh-CN" sz="2800" baseline="-25000" dirty="0">
                <a:latin typeface="Arial Black" panose="020B0A04020102020204" pitchFamily="34" charset="0"/>
              </a:rPr>
              <a:t>·</a:t>
            </a:r>
            <a:r>
              <a:rPr lang="en-US" altLang="zh-CN" sz="2800" baseline="-25000" dirty="0"/>
              <a:t>13</a:t>
            </a:r>
            <a:r>
              <a:rPr lang="en-US" altLang="zh-CN" sz="2800" dirty="0"/>
              <a:t>=0.321</a:t>
            </a:r>
            <a:r>
              <a:rPr lang="zh-CN" altLang="en-US" sz="2800" dirty="0"/>
              <a:t>，由于</a:t>
            </a:r>
            <a:r>
              <a:rPr lang="en-US" altLang="zh-CN" sz="2800" dirty="0"/>
              <a:t>n=23</a:t>
            </a:r>
            <a:r>
              <a:rPr lang="zh-CN" altLang="en-US" sz="2800" dirty="0"/>
              <a:t>，</a:t>
            </a:r>
            <a:r>
              <a:rPr lang="en-US" altLang="zh-CN" sz="2800" dirty="0"/>
              <a:t>m=3</a:t>
            </a:r>
          </a:p>
          <a:p>
            <a:pPr eaLnBrk="1" hangingPunct="1"/>
            <a:endParaRPr lang="en-US" altLang="zh-CN" sz="2800" dirty="0"/>
          </a:p>
          <a:p>
            <a:pPr eaLnBrk="1" hangingPunct="1"/>
            <a:endParaRPr lang="en-US" altLang="zh-CN" sz="2800" dirty="0"/>
          </a:p>
          <a:p>
            <a:pPr eaLnBrk="1" hangingPunct="1"/>
            <a:endParaRPr lang="en-US" altLang="zh-CN" sz="2800" dirty="0"/>
          </a:p>
          <a:p>
            <a:pPr eaLnBrk="1" hangingPunct="1"/>
            <a:r>
              <a:rPr lang="zh-CN" altLang="en-US" sz="2800" dirty="0"/>
              <a:t>查</a:t>
            </a:r>
            <a:r>
              <a:rPr lang="en-US" altLang="zh-CN" sz="2800" dirty="0"/>
              <a:t>t</a:t>
            </a:r>
            <a:r>
              <a:rPr lang="zh-CN" altLang="en-US" sz="2800" dirty="0"/>
              <a:t>分布表，可得出不同显著水平上的临界值</a:t>
            </a:r>
            <a:r>
              <a:rPr lang="en-US" altLang="zh-CN" sz="2800" dirty="0"/>
              <a:t>t</a:t>
            </a:r>
            <a:r>
              <a:rPr lang="en-US" altLang="zh-CN" sz="2800" baseline="-25000" dirty="0"/>
              <a:t>α</a:t>
            </a:r>
            <a:r>
              <a:rPr lang="zh-CN" altLang="en-US" sz="2800" dirty="0"/>
              <a:t>，若</a:t>
            </a:r>
            <a:r>
              <a:rPr lang="en-US" altLang="zh-CN" sz="2800" dirty="0"/>
              <a:t>t</a:t>
            </a:r>
            <a:r>
              <a:rPr lang="zh-CN" altLang="en-US" sz="2800" dirty="0"/>
              <a:t>＞</a:t>
            </a:r>
            <a:r>
              <a:rPr lang="en-US" altLang="zh-CN" sz="2800" dirty="0"/>
              <a:t>t</a:t>
            </a:r>
            <a:r>
              <a:rPr lang="en-US" altLang="zh-CN" sz="2800" baseline="-25000" dirty="0"/>
              <a:t>α</a:t>
            </a:r>
            <a:r>
              <a:rPr lang="zh-CN" altLang="en-US" sz="2800" dirty="0"/>
              <a:t>。则表示偏相关显著；反之，</a:t>
            </a:r>
            <a:r>
              <a:rPr lang="en-US" altLang="zh-CN" sz="2800" dirty="0"/>
              <a:t>t</a:t>
            </a:r>
            <a:r>
              <a:rPr lang="zh-CN" altLang="en-US" sz="2800" dirty="0"/>
              <a:t>＜</a:t>
            </a:r>
            <a:r>
              <a:rPr lang="en-US" altLang="zh-CN" sz="2800" dirty="0"/>
              <a:t>t</a:t>
            </a:r>
            <a:r>
              <a:rPr lang="en-US" altLang="zh-CN" sz="2800" baseline="-25000" dirty="0"/>
              <a:t>α</a:t>
            </a:r>
            <a:r>
              <a:rPr lang="zh-CN" altLang="en-US" sz="2800" dirty="0"/>
              <a:t>，则偏相关不显著。在自由度为</a:t>
            </a:r>
            <a:r>
              <a:rPr lang="en-US" altLang="zh-CN" sz="2800" dirty="0"/>
              <a:t>23-3-1=19 </a:t>
            </a:r>
            <a:r>
              <a:rPr lang="zh-CN" altLang="en-US" sz="2800" dirty="0"/>
              <a:t>时，查表得</a:t>
            </a:r>
            <a:r>
              <a:rPr lang="en-US" altLang="zh-CN" sz="2800" dirty="0"/>
              <a:t>t</a:t>
            </a:r>
            <a:r>
              <a:rPr lang="en-US" altLang="zh-CN" sz="2800" baseline="-25000" dirty="0"/>
              <a:t>0.001</a:t>
            </a:r>
            <a:r>
              <a:rPr lang="en-US" altLang="zh-CN" sz="2800" dirty="0"/>
              <a:t>=3.333</a:t>
            </a:r>
            <a:r>
              <a:rPr lang="zh-CN" altLang="en-US" sz="2800" dirty="0"/>
              <a:t>，所以</a:t>
            </a:r>
            <a:r>
              <a:rPr lang="en-US" altLang="zh-CN" sz="2800" dirty="0"/>
              <a:t>t</a:t>
            </a:r>
            <a:r>
              <a:rPr lang="zh-CN" altLang="en-US" sz="2800" dirty="0"/>
              <a:t>＞ </a:t>
            </a:r>
            <a:r>
              <a:rPr lang="en-US" altLang="zh-CN" sz="2800" dirty="0"/>
              <a:t>t</a:t>
            </a:r>
            <a:r>
              <a:rPr lang="en-US" altLang="zh-CN" sz="2800" baseline="-25000" dirty="0"/>
              <a:t>α</a:t>
            </a:r>
            <a:r>
              <a:rPr lang="en-US" altLang="zh-CN" sz="2800" dirty="0"/>
              <a:t> </a:t>
            </a:r>
            <a:r>
              <a:rPr lang="zh-CN" altLang="en-US" sz="2800" dirty="0"/>
              <a:t>，这表明在置信度水平</a:t>
            </a:r>
            <a:r>
              <a:rPr lang="en-US" altLang="zh-CN" sz="2800" dirty="0"/>
              <a:t>a=0.001 </a:t>
            </a:r>
            <a:r>
              <a:rPr lang="zh-CN" altLang="en-US" sz="2800" dirty="0"/>
              <a:t>上，偏相关系数</a:t>
            </a:r>
            <a:r>
              <a:rPr lang="en-US" altLang="zh-CN" sz="2800" dirty="0"/>
              <a:t>r</a:t>
            </a:r>
            <a:r>
              <a:rPr lang="en-US" altLang="zh-CN" sz="2800" baseline="-25000" dirty="0"/>
              <a:t>24</a:t>
            </a:r>
            <a:r>
              <a:rPr lang="en-US" altLang="zh-CN" sz="2800" baseline="-25000" dirty="0">
                <a:latin typeface="Arial Black" panose="020B0A04020102020204" pitchFamily="34" charset="0"/>
              </a:rPr>
              <a:t>·</a:t>
            </a:r>
            <a:r>
              <a:rPr lang="en-US" altLang="zh-CN" sz="2800" baseline="-25000" dirty="0"/>
              <a:t>13</a:t>
            </a:r>
            <a:r>
              <a:rPr lang="zh-CN" altLang="en-US" sz="2800" dirty="0"/>
              <a:t>是显著的</a:t>
            </a:r>
          </a:p>
        </p:txBody>
      </p:sp>
      <p:pic>
        <p:nvPicPr>
          <p:cNvPr id="44036" name="Picture 4">
            <a:extLst>
              <a:ext uri="{FF2B5EF4-FFF2-40B4-BE49-F238E27FC236}">
                <a16:creationId xmlns:a16="http://schemas.microsoft.com/office/drawing/2014/main" id="{D3CE0552-679E-4FC3-AD84-B134AED983F1}"/>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989013" y="1768475"/>
            <a:ext cx="5413375" cy="1473200"/>
          </a:xfrm>
          <a:noFill/>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0450EAED-ED99-439B-B4F3-82B78E13A18B}"/>
              </a:ext>
            </a:extLst>
          </p:cNvPr>
          <p:cNvSpPr>
            <a:spLocks noGrp="1" noChangeArrowheads="1"/>
          </p:cNvSpPr>
          <p:nvPr>
            <p:ph type="title"/>
          </p:nvPr>
        </p:nvSpPr>
        <p:spPr>
          <a:xfrm>
            <a:off x="107950" y="301625"/>
            <a:ext cx="7772400" cy="1039813"/>
          </a:xfrm>
        </p:spPr>
        <p:txBody>
          <a:bodyPr/>
          <a:lstStyle/>
          <a:p>
            <a:pPr eaLnBrk="1" hangingPunct="1"/>
            <a:r>
              <a:rPr lang="zh-CN" altLang="en-US">
                <a:solidFill>
                  <a:schemeClr val="accent1"/>
                </a:solidFill>
              </a:rPr>
              <a:t>（二</a:t>
            </a:r>
            <a:r>
              <a:rPr lang="en-US" altLang="zh-CN">
                <a:solidFill>
                  <a:schemeClr val="accent1"/>
                </a:solidFill>
              </a:rPr>
              <a:t>)</a:t>
            </a:r>
            <a:r>
              <a:rPr lang="zh-CN" altLang="en-US">
                <a:solidFill>
                  <a:schemeClr val="accent1"/>
                </a:solidFill>
              </a:rPr>
              <a:t>复相关系数的计算与检验</a:t>
            </a:r>
          </a:p>
        </p:txBody>
      </p:sp>
      <p:sp>
        <p:nvSpPr>
          <p:cNvPr id="45059" name="Rectangle 3">
            <a:extLst>
              <a:ext uri="{FF2B5EF4-FFF2-40B4-BE49-F238E27FC236}">
                <a16:creationId xmlns:a16="http://schemas.microsoft.com/office/drawing/2014/main" id="{D9F71F30-8079-4815-B831-D4A2232AA984}"/>
              </a:ext>
            </a:extLst>
          </p:cNvPr>
          <p:cNvSpPr>
            <a:spLocks noGrp="1" noChangeArrowheads="1"/>
          </p:cNvSpPr>
          <p:nvPr>
            <p:ph type="body" sz="half" idx="1"/>
          </p:nvPr>
        </p:nvSpPr>
        <p:spPr>
          <a:xfrm>
            <a:off x="685800" y="1773238"/>
            <a:ext cx="8458200" cy="4322762"/>
          </a:xfrm>
        </p:spPr>
        <p:txBody>
          <a:bodyPr/>
          <a:lstStyle/>
          <a:p>
            <a:pPr eaLnBrk="1" hangingPunct="1"/>
            <a:r>
              <a:rPr lang="en-US" altLang="zh-CN" sz="2800"/>
              <a:t>1.</a:t>
            </a:r>
            <a:r>
              <a:rPr lang="zh-CN" altLang="en-US" sz="2800"/>
              <a:t>复相关系数的计算</a:t>
            </a:r>
          </a:p>
          <a:p>
            <a:pPr lvl="1" eaLnBrk="1" hangingPunct="1"/>
            <a:r>
              <a:rPr lang="zh-CN" altLang="en-US" sz="2400">
                <a:latin typeface="宋体" panose="02010600030101010101" pitchFamily="2" charset="-122"/>
              </a:rPr>
              <a:t>复相关系数：反映几个要素与某一个要素之间  的复相关程度 。</a:t>
            </a:r>
          </a:p>
          <a:p>
            <a:pPr lvl="1" eaLnBrk="1" hangingPunct="1"/>
            <a:r>
              <a:rPr lang="zh-CN" altLang="en-US" sz="2400"/>
              <a:t>复相关系数，可以利用单相关系数和偏相关系数求得</a:t>
            </a:r>
          </a:p>
          <a:p>
            <a:pPr lvl="1" eaLnBrk="1" hangingPunct="1"/>
            <a:r>
              <a:rPr lang="zh-CN" altLang="en-US" sz="2400"/>
              <a:t>设</a:t>
            </a:r>
            <a:r>
              <a:rPr lang="en-US" altLang="zh-CN" sz="2400"/>
              <a:t>Y </a:t>
            </a:r>
            <a:r>
              <a:rPr lang="zh-CN" altLang="en-US" sz="2400"/>
              <a:t>为因变量，</a:t>
            </a:r>
            <a:r>
              <a:rPr lang="en-US" altLang="zh-CN" sz="2400"/>
              <a:t>X</a:t>
            </a:r>
            <a:r>
              <a:rPr lang="en-US" altLang="zh-CN" sz="2400" baseline="-25000"/>
              <a:t>1</a:t>
            </a:r>
            <a:r>
              <a:rPr lang="zh-CN" altLang="en-US" sz="2400"/>
              <a:t>，</a:t>
            </a:r>
            <a:r>
              <a:rPr lang="en-US" altLang="zh-CN" sz="2400"/>
              <a:t>X</a:t>
            </a:r>
            <a:r>
              <a:rPr lang="en-US" altLang="zh-CN" sz="2400" baseline="-25000"/>
              <a:t>2</a:t>
            </a:r>
            <a:r>
              <a:rPr lang="zh-CN" altLang="en-US" sz="2400"/>
              <a:t>，⋯，</a:t>
            </a:r>
            <a:r>
              <a:rPr lang="en-US" altLang="zh-CN" sz="2400"/>
              <a:t>X</a:t>
            </a:r>
            <a:r>
              <a:rPr lang="en-US" altLang="zh-CN" sz="2400" baseline="-25000"/>
              <a:t>k</a:t>
            </a:r>
            <a:r>
              <a:rPr lang="en-US" altLang="zh-CN" sz="2400"/>
              <a:t> </a:t>
            </a:r>
            <a:r>
              <a:rPr lang="zh-CN" altLang="en-US" sz="2400"/>
              <a:t>为自变量，则将</a:t>
            </a:r>
            <a:r>
              <a:rPr lang="en-US" altLang="zh-CN" sz="2400"/>
              <a:t>Y </a:t>
            </a:r>
            <a:r>
              <a:rPr lang="zh-CN" altLang="en-US" sz="2400"/>
              <a:t>与</a:t>
            </a:r>
            <a:r>
              <a:rPr lang="en-US" altLang="zh-CN" sz="2400"/>
              <a:t>X</a:t>
            </a:r>
            <a:r>
              <a:rPr lang="en-US" altLang="zh-CN" sz="2400" baseline="-25000"/>
              <a:t>1</a:t>
            </a:r>
            <a:r>
              <a:rPr lang="zh-CN" altLang="en-US" sz="2400"/>
              <a:t>，</a:t>
            </a:r>
            <a:r>
              <a:rPr lang="en-US" altLang="zh-CN" sz="2400"/>
              <a:t>X</a:t>
            </a:r>
            <a:r>
              <a:rPr lang="en-US" altLang="zh-CN" sz="2400" baseline="-25000"/>
              <a:t>2</a:t>
            </a:r>
            <a:r>
              <a:rPr lang="zh-CN" altLang="en-US" sz="2400"/>
              <a:t>，⋯，</a:t>
            </a:r>
            <a:r>
              <a:rPr lang="en-US" altLang="zh-CN" sz="2400"/>
              <a:t>X</a:t>
            </a:r>
            <a:r>
              <a:rPr lang="en-US" altLang="zh-CN" sz="2400" baseline="-25000"/>
              <a:t>k</a:t>
            </a:r>
            <a:r>
              <a:rPr lang="en-US" altLang="zh-CN" sz="2400"/>
              <a:t> </a:t>
            </a:r>
            <a:r>
              <a:rPr lang="zh-CN" altLang="en-US" sz="2400"/>
              <a:t>之间的复相关系数记为</a:t>
            </a:r>
            <a:r>
              <a:rPr lang="en-US" altLang="zh-CN" sz="2400"/>
              <a:t>R</a:t>
            </a:r>
            <a:r>
              <a:rPr lang="en-US" altLang="zh-CN" sz="2400" baseline="-25000"/>
              <a:t>y</a:t>
            </a:r>
            <a:r>
              <a:rPr lang="en-US" altLang="zh-CN" sz="2400" baseline="-25000">
                <a:latin typeface="Arial Black" panose="020B0A04020102020204" pitchFamily="34" charset="0"/>
              </a:rPr>
              <a:t>·</a:t>
            </a:r>
            <a:r>
              <a:rPr lang="en-US" altLang="zh-CN" sz="2400" baseline="-25000"/>
              <a:t>12⋯k</a:t>
            </a:r>
            <a:r>
              <a:rPr lang="zh-CN" altLang="en-US" sz="2400"/>
              <a:t>。其计算公式如下</a:t>
            </a:r>
          </a:p>
          <a:p>
            <a:pPr lvl="1" eaLnBrk="1" hangingPunct="1"/>
            <a:r>
              <a:rPr lang="zh-CN" altLang="en-US" sz="2400"/>
              <a:t>当有两个自变量时</a:t>
            </a:r>
          </a:p>
          <a:p>
            <a:pPr lvl="1" eaLnBrk="1" hangingPunct="1"/>
            <a:endParaRPr lang="en-US" altLang="zh-CN" sz="2400"/>
          </a:p>
        </p:txBody>
      </p:sp>
      <p:graphicFrame>
        <p:nvGraphicFramePr>
          <p:cNvPr id="45060" name="Object 7">
            <a:extLst>
              <a:ext uri="{FF2B5EF4-FFF2-40B4-BE49-F238E27FC236}">
                <a16:creationId xmlns:a16="http://schemas.microsoft.com/office/drawing/2014/main" id="{FF2CF77A-21F7-405E-8877-D6E57B4FF350}"/>
              </a:ext>
            </a:extLst>
          </p:cNvPr>
          <p:cNvGraphicFramePr>
            <a:graphicFrameLocks noGrp="1" noChangeAspect="1"/>
          </p:cNvGraphicFramePr>
          <p:nvPr>
            <p:ph sz="half" idx="2"/>
          </p:nvPr>
        </p:nvGraphicFramePr>
        <p:xfrm>
          <a:off x="971550" y="5549900"/>
          <a:ext cx="7319963" cy="1282700"/>
        </p:xfrm>
        <a:graphic>
          <a:graphicData uri="http://schemas.openxmlformats.org/presentationml/2006/ole">
            <mc:AlternateContent xmlns:mc="http://schemas.openxmlformats.org/markup-compatibility/2006">
              <mc:Choice xmlns:v="urn:schemas-microsoft-com:vml" Requires="v">
                <p:oleObj spid="_x0000_s45107" name="公式" r:id="rId3" imgW="1739900" imgH="304800" progId="Equation.3">
                  <p:embed/>
                </p:oleObj>
              </mc:Choice>
              <mc:Fallback>
                <p:oleObj name="公式" r:id="rId3" imgW="1739900" imgH="3048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5549900"/>
                        <a:ext cx="7319963" cy="12827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a:extLst>
              <a:ext uri="{FF2B5EF4-FFF2-40B4-BE49-F238E27FC236}">
                <a16:creationId xmlns:a16="http://schemas.microsoft.com/office/drawing/2014/main" id="{3FB0E907-FB5B-4CFD-9EA1-23BDD2FD7164}"/>
              </a:ext>
            </a:extLst>
          </p:cNvPr>
          <p:cNvSpPr>
            <a:spLocks noGrp="1" noChangeArrowheads="1"/>
          </p:cNvSpPr>
          <p:nvPr>
            <p:ph type="body" sz="half" idx="1"/>
          </p:nvPr>
        </p:nvSpPr>
        <p:spPr>
          <a:xfrm>
            <a:off x="457200" y="1600200"/>
            <a:ext cx="4033838" cy="4530725"/>
          </a:xfrm>
        </p:spPr>
        <p:txBody>
          <a:bodyPr/>
          <a:lstStyle/>
          <a:p>
            <a:pPr eaLnBrk="1" hangingPunct="1"/>
            <a:r>
              <a:rPr lang="zh-CN" altLang="en-US" sz="2800"/>
              <a:t>当有</a:t>
            </a:r>
            <a:r>
              <a:rPr lang="en-US" altLang="zh-CN" sz="2800"/>
              <a:t>3</a:t>
            </a:r>
            <a:r>
              <a:rPr lang="zh-CN" altLang="en-US" sz="2800"/>
              <a:t>个自变量时</a:t>
            </a:r>
          </a:p>
          <a:p>
            <a:pPr eaLnBrk="1" hangingPunct="1"/>
            <a:endParaRPr lang="zh-CN" altLang="en-US" sz="2800"/>
          </a:p>
          <a:p>
            <a:pPr eaLnBrk="1" hangingPunct="1"/>
            <a:endParaRPr lang="zh-CN" altLang="en-US" sz="2800"/>
          </a:p>
          <a:p>
            <a:pPr eaLnBrk="1" hangingPunct="1"/>
            <a:r>
              <a:rPr lang="zh-CN" altLang="en-US" sz="2800"/>
              <a:t>当有</a:t>
            </a:r>
            <a:r>
              <a:rPr lang="en-US" altLang="zh-CN" sz="2800"/>
              <a:t>k</a:t>
            </a:r>
            <a:r>
              <a:rPr lang="zh-CN" altLang="en-US" sz="2800"/>
              <a:t>个自变量时</a:t>
            </a:r>
          </a:p>
        </p:txBody>
      </p:sp>
      <p:graphicFrame>
        <p:nvGraphicFramePr>
          <p:cNvPr id="46084" name="Object 4">
            <a:extLst>
              <a:ext uri="{FF2B5EF4-FFF2-40B4-BE49-F238E27FC236}">
                <a16:creationId xmlns:a16="http://schemas.microsoft.com/office/drawing/2014/main" id="{C1034C40-E0A5-455A-9EE1-314B2FBBBB57}"/>
              </a:ext>
            </a:extLst>
          </p:cNvPr>
          <p:cNvGraphicFramePr>
            <a:graphicFrameLocks noGrp="1" noChangeAspect="1"/>
          </p:cNvGraphicFramePr>
          <p:nvPr>
            <p:ph sz="quarter" idx="2"/>
          </p:nvPr>
        </p:nvGraphicFramePr>
        <p:xfrm>
          <a:off x="533400" y="2416175"/>
          <a:ext cx="5942013" cy="766763"/>
        </p:xfrm>
        <a:graphic>
          <a:graphicData uri="http://schemas.openxmlformats.org/presentationml/2006/ole">
            <mc:AlternateContent xmlns:mc="http://schemas.openxmlformats.org/markup-compatibility/2006">
              <mc:Choice xmlns:v="urn:schemas-microsoft-com:vml" Requires="v">
                <p:oleObj spid="_x0000_s46176" name="公式" r:id="rId3" imgW="2362200" imgH="304800" progId="Equation.3">
                  <p:embed/>
                </p:oleObj>
              </mc:Choice>
              <mc:Fallback>
                <p:oleObj name="公式" r:id="rId3" imgW="2362200" imgH="3048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2416175"/>
                        <a:ext cx="5942013" cy="7667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085" name="Object 7">
            <a:extLst>
              <a:ext uri="{FF2B5EF4-FFF2-40B4-BE49-F238E27FC236}">
                <a16:creationId xmlns:a16="http://schemas.microsoft.com/office/drawing/2014/main" id="{A3BD5826-28B3-4534-A474-BD49DB85875F}"/>
              </a:ext>
            </a:extLst>
          </p:cNvPr>
          <p:cNvGraphicFramePr>
            <a:graphicFrameLocks noGrp="1" noChangeAspect="1"/>
          </p:cNvGraphicFramePr>
          <p:nvPr>
            <p:ph sz="quarter" idx="3"/>
          </p:nvPr>
        </p:nvGraphicFramePr>
        <p:xfrm>
          <a:off x="323850" y="4292600"/>
          <a:ext cx="8604250" cy="960438"/>
        </p:xfrm>
        <a:graphic>
          <a:graphicData uri="http://schemas.openxmlformats.org/presentationml/2006/ole">
            <mc:AlternateContent xmlns:mc="http://schemas.openxmlformats.org/markup-compatibility/2006">
              <mc:Choice xmlns:v="urn:schemas-microsoft-com:vml" Requires="v">
                <p:oleObj spid="_x0000_s46177" name="公式" r:id="rId5" imgW="2730500" imgH="304800" progId="Equation.3">
                  <p:embed/>
                </p:oleObj>
              </mc:Choice>
              <mc:Fallback>
                <p:oleObj name="公式" r:id="rId5" imgW="2730500" imgH="3048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850" y="4292600"/>
                        <a:ext cx="8604250" cy="9604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标题 1">
            <a:extLst>
              <a:ext uri="{FF2B5EF4-FFF2-40B4-BE49-F238E27FC236}">
                <a16:creationId xmlns:a16="http://schemas.microsoft.com/office/drawing/2014/main" id="{49A1F6FF-8A46-4659-83FD-929AD2EF1C34}"/>
              </a:ext>
            </a:extLst>
          </p:cNvPr>
          <p:cNvSpPr>
            <a:spLocks noGrp="1"/>
          </p:cNvSpPr>
          <p:nvPr>
            <p:ph type="title"/>
          </p:nvPr>
        </p:nvSpPr>
        <p:spPr/>
        <p:txBody>
          <a:bodyPr/>
          <a:lstStyle/>
          <a:p>
            <a:endParaRPr lang="zh-CN" altLang="en-US"/>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79005C4D-94EC-4229-864C-33E3EB8EA433}"/>
              </a:ext>
            </a:extLst>
          </p:cNvPr>
          <p:cNvSpPr>
            <a:spLocks noGrp="1" noChangeArrowheads="1"/>
          </p:cNvSpPr>
          <p:nvPr>
            <p:ph type="title"/>
          </p:nvPr>
        </p:nvSpPr>
        <p:spPr/>
        <p:txBody>
          <a:bodyPr/>
          <a:lstStyle/>
          <a:p>
            <a:pPr eaLnBrk="1" hangingPunct="1"/>
            <a:endParaRPr lang="zh-CN" altLang="zh-CN"/>
          </a:p>
        </p:txBody>
      </p:sp>
      <p:sp>
        <p:nvSpPr>
          <p:cNvPr id="47107" name="Rectangle 3">
            <a:extLst>
              <a:ext uri="{FF2B5EF4-FFF2-40B4-BE49-F238E27FC236}">
                <a16:creationId xmlns:a16="http://schemas.microsoft.com/office/drawing/2014/main" id="{27256FD0-E888-4A20-867D-50C82B23E329}"/>
              </a:ext>
            </a:extLst>
          </p:cNvPr>
          <p:cNvSpPr>
            <a:spLocks noGrp="1" noChangeArrowheads="1"/>
          </p:cNvSpPr>
          <p:nvPr>
            <p:ph idx="1"/>
          </p:nvPr>
        </p:nvSpPr>
        <p:spPr>
          <a:xfrm>
            <a:off x="685800" y="1412875"/>
            <a:ext cx="7772400" cy="4683125"/>
          </a:xfrm>
        </p:spPr>
        <p:txBody>
          <a:bodyPr/>
          <a:lstStyle/>
          <a:p>
            <a:pPr eaLnBrk="1" hangingPunct="1"/>
            <a:r>
              <a:rPr lang="zh-CN" altLang="en-US" dirty="0"/>
              <a:t>关于复相关系数的性质，可以概括为如下几点：</a:t>
            </a:r>
          </a:p>
          <a:p>
            <a:pPr lvl="1" eaLnBrk="1" hangingPunct="1"/>
            <a:r>
              <a:rPr lang="zh-CN" altLang="en-US" dirty="0"/>
              <a:t>复相关系数介于</a:t>
            </a:r>
            <a:r>
              <a:rPr lang="en-US" altLang="zh-CN" dirty="0"/>
              <a:t>0 </a:t>
            </a:r>
            <a:r>
              <a:rPr lang="zh-CN" altLang="en-US" dirty="0"/>
              <a:t>到</a:t>
            </a:r>
            <a:r>
              <a:rPr lang="en-US" altLang="zh-CN" dirty="0"/>
              <a:t>1 </a:t>
            </a:r>
            <a:r>
              <a:rPr lang="zh-CN" altLang="en-US" dirty="0"/>
              <a:t>之间，即</a:t>
            </a:r>
          </a:p>
          <a:p>
            <a:pPr lvl="1" algn="ctr" eaLnBrk="1" hangingPunct="1">
              <a:buFontTx/>
              <a:buNone/>
            </a:pPr>
            <a:r>
              <a:rPr lang="en-US" altLang="zh-CN" dirty="0"/>
              <a:t>0≤R</a:t>
            </a:r>
            <a:r>
              <a:rPr lang="en-US" altLang="zh-CN" baseline="-25000" dirty="0"/>
              <a:t>y</a:t>
            </a:r>
            <a:r>
              <a:rPr lang="en-US" altLang="zh-CN" baseline="-25000" dirty="0">
                <a:latin typeface="Arial Black" panose="020B0A04020102020204" pitchFamily="34" charset="0"/>
              </a:rPr>
              <a:t>·</a:t>
            </a:r>
            <a:r>
              <a:rPr lang="en-US" altLang="zh-CN" baseline="-25000" dirty="0"/>
              <a:t>12⋯k</a:t>
            </a:r>
            <a:r>
              <a:rPr lang="en-US" altLang="zh-CN" dirty="0"/>
              <a:t>≤1</a:t>
            </a:r>
          </a:p>
          <a:p>
            <a:pPr lvl="1" eaLnBrk="1" hangingPunct="1"/>
            <a:r>
              <a:rPr lang="zh-CN" altLang="en-US" dirty="0"/>
              <a:t>复相关系数越大，则表明要素（变量</a:t>
            </a:r>
            <a:r>
              <a:rPr lang="en-US" altLang="zh-CN" dirty="0"/>
              <a:t>)</a:t>
            </a:r>
            <a:r>
              <a:rPr lang="zh-CN" altLang="en-US" dirty="0"/>
              <a:t>之间的相关程度越密切。复相关系数为</a:t>
            </a:r>
            <a:r>
              <a:rPr lang="en-US" altLang="zh-CN" dirty="0"/>
              <a:t>1</a:t>
            </a:r>
            <a:r>
              <a:rPr lang="zh-CN" altLang="en-US" dirty="0"/>
              <a:t>，表示完全相关；复相关系数为</a:t>
            </a:r>
            <a:r>
              <a:rPr lang="en-US" altLang="zh-CN" dirty="0"/>
              <a:t>0</a:t>
            </a:r>
            <a:r>
              <a:rPr lang="zh-CN" altLang="en-US" dirty="0"/>
              <a:t>，表示完全无关</a:t>
            </a:r>
          </a:p>
          <a:p>
            <a:pPr lvl="1" eaLnBrk="1" hangingPunct="1"/>
            <a:r>
              <a:rPr lang="zh-CN" altLang="en-US" dirty="0"/>
              <a:t>复相关系数必大于或至少等于偏相关系数的绝对值</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5">
            <a:extLst>
              <a:ext uri="{FF2B5EF4-FFF2-40B4-BE49-F238E27FC236}">
                <a16:creationId xmlns:a16="http://schemas.microsoft.com/office/drawing/2014/main" id="{C26C3DDA-3DC7-4CC0-A7A9-25CE3ADCA8CB}"/>
              </a:ext>
            </a:extLst>
          </p:cNvPr>
          <p:cNvSpPr>
            <a:spLocks noGrp="1" noChangeArrowheads="1"/>
          </p:cNvSpPr>
          <p:nvPr>
            <p:ph type="title"/>
          </p:nvPr>
        </p:nvSpPr>
        <p:spPr/>
        <p:txBody>
          <a:bodyPr/>
          <a:lstStyle/>
          <a:p>
            <a:pPr eaLnBrk="1" hangingPunct="1"/>
            <a:endParaRPr lang="zh-CN" altLang="zh-CN"/>
          </a:p>
        </p:txBody>
      </p:sp>
      <p:sp>
        <p:nvSpPr>
          <p:cNvPr id="48131" name="Rectangle 3">
            <a:extLst>
              <a:ext uri="{FF2B5EF4-FFF2-40B4-BE49-F238E27FC236}">
                <a16:creationId xmlns:a16="http://schemas.microsoft.com/office/drawing/2014/main" id="{7AE51045-641F-4E37-AE0A-D1C33E9313B2}"/>
              </a:ext>
            </a:extLst>
          </p:cNvPr>
          <p:cNvSpPr>
            <a:spLocks noGrp="1" noChangeArrowheads="1"/>
          </p:cNvSpPr>
          <p:nvPr>
            <p:ph type="body" sz="half" idx="1"/>
          </p:nvPr>
        </p:nvSpPr>
        <p:spPr>
          <a:xfrm>
            <a:off x="685800" y="1981200"/>
            <a:ext cx="8062913" cy="4471988"/>
          </a:xfrm>
        </p:spPr>
        <p:txBody>
          <a:bodyPr/>
          <a:lstStyle/>
          <a:p>
            <a:pPr eaLnBrk="1" hangingPunct="1"/>
            <a:r>
              <a:rPr lang="en-US" altLang="zh-CN" sz="2800"/>
              <a:t>2.</a:t>
            </a:r>
            <a:r>
              <a:rPr lang="zh-CN" altLang="en-US" sz="2800"/>
              <a:t>复相关系数的显著性检验</a:t>
            </a:r>
            <a:r>
              <a:rPr lang="en-US" altLang="zh-CN" sz="2800">
                <a:solidFill>
                  <a:schemeClr val="tx2"/>
                </a:solidFill>
              </a:rPr>
              <a:t>(F</a:t>
            </a:r>
            <a:r>
              <a:rPr lang="zh-CN" altLang="en-US" sz="2800">
                <a:solidFill>
                  <a:schemeClr val="tx2"/>
                </a:solidFill>
              </a:rPr>
              <a:t>－检验法</a:t>
            </a:r>
            <a:r>
              <a:rPr lang="en-US" altLang="zh-CN" sz="2800">
                <a:solidFill>
                  <a:schemeClr val="tx2"/>
                </a:solidFill>
              </a:rPr>
              <a:t>)</a:t>
            </a:r>
          </a:p>
          <a:p>
            <a:pPr eaLnBrk="1" hangingPunct="1"/>
            <a:endParaRPr lang="en-US" altLang="zh-CN" sz="2800">
              <a:solidFill>
                <a:schemeClr val="tx2"/>
              </a:solidFill>
            </a:endParaRPr>
          </a:p>
          <a:p>
            <a:pPr eaLnBrk="1" hangingPunct="1"/>
            <a:endParaRPr lang="en-US" altLang="zh-CN" sz="2800">
              <a:solidFill>
                <a:schemeClr val="tx2"/>
              </a:solidFill>
            </a:endParaRPr>
          </a:p>
          <a:p>
            <a:pPr eaLnBrk="1" hangingPunct="1"/>
            <a:endParaRPr lang="en-US" altLang="zh-CN" sz="2800">
              <a:solidFill>
                <a:schemeClr val="tx2"/>
              </a:solidFill>
            </a:endParaRPr>
          </a:p>
          <a:p>
            <a:pPr eaLnBrk="1" hangingPunct="1"/>
            <a:endParaRPr lang="en-US" altLang="zh-CN" sz="2800">
              <a:solidFill>
                <a:schemeClr val="tx2"/>
              </a:solidFill>
            </a:endParaRPr>
          </a:p>
          <a:p>
            <a:pPr eaLnBrk="1" hangingPunct="1"/>
            <a:endParaRPr lang="en-US" altLang="zh-CN" sz="2800">
              <a:solidFill>
                <a:schemeClr val="tx2"/>
              </a:solidFill>
            </a:endParaRPr>
          </a:p>
          <a:p>
            <a:pPr eaLnBrk="1" hangingPunct="1"/>
            <a:endParaRPr lang="en-US" altLang="zh-CN" sz="2800">
              <a:solidFill>
                <a:schemeClr val="tx2"/>
              </a:solidFill>
            </a:endParaRPr>
          </a:p>
          <a:p>
            <a:pPr eaLnBrk="1" hangingPunct="1"/>
            <a:r>
              <a:rPr lang="en-US" altLang="zh-CN" sz="2800">
                <a:solidFill>
                  <a:schemeClr val="tx2"/>
                </a:solidFill>
              </a:rPr>
              <a:t>n</a:t>
            </a:r>
            <a:r>
              <a:rPr lang="zh-CN" altLang="en-US" sz="2800">
                <a:solidFill>
                  <a:schemeClr val="tx2"/>
                </a:solidFill>
              </a:rPr>
              <a:t>为样本数，</a:t>
            </a:r>
            <a:r>
              <a:rPr lang="en-US" altLang="zh-CN" sz="2800">
                <a:solidFill>
                  <a:schemeClr val="tx2"/>
                </a:solidFill>
              </a:rPr>
              <a:t>K</a:t>
            </a:r>
            <a:r>
              <a:rPr lang="zh-CN" altLang="en-US" sz="2800">
                <a:solidFill>
                  <a:schemeClr val="tx2"/>
                </a:solidFill>
              </a:rPr>
              <a:t>为自变量个数</a:t>
            </a:r>
          </a:p>
        </p:txBody>
      </p:sp>
      <p:graphicFrame>
        <p:nvGraphicFramePr>
          <p:cNvPr id="48132" name="Object 4">
            <a:extLst>
              <a:ext uri="{FF2B5EF4-FFF2-40B4-BE49-F238E27FC236}">
                <a16:creationId xmlns:a16="http://schemas.microsoft.com/office/drawing/2014/main" id="{D8973AB8-7554-4758-AC0C-A9E289D7B328}"/>
              </a:ext>
            </a:extLst>
          </p:cNvPr>
          <p:cNvGraphicFramePr>
            <a:graphicFrameLocks noGrp="1" noChangeAspect="1"/>
          </p:cNvGraphicFramePr>
          <p:nvPr>
            <p:ph sz="half" idx="2"/>
          </p:nvPr>
        </p:nvGraphicFramePr>
        <p:xfrm>
          <a:off x="1190625" y="2997200"/>
          <a:ext cx="7337425" cy="2266950"/>
        </p:xfrm>
        <a:graphic>
          <a:graphicData uri="http://schemas.openxmlformats.org/presentationml/2006/ole">
            <mc:AlternateContent xmlns:mc="http://schemas.openxmlformats.org/markup-compatibility/2006">
              <mc:Choice xmlns:v="urn:schemas-microsoft-com:vml" Requires="v">
                <p:oleObj spid="_x0000_s48179" name="公式" r:id="rId3" imgW="1562100" imgH="482600" progId="Equation.3">
                  <p:embed/>
                </p:oleObj>
              </mc:Choice>
              <mc:Fallback>
                <p:oleObj name="公式" r:id="rId3" imgW="1562100" imgH="482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0625" y="2997200"/>
                        <a:ext cx="7337425" cy="22669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a:extLst>
              <a:ext uri="{FF2B5EF4-FFF2-40B4-BE49-F238E27FC236}">
                <a16:creationId xmlns:a16="http://schemas.microsoft.com/office/drawing/2014/main" id="{2DC7EF53-8736-4B5A-A899-F03FB78D9B03}"/>
              </a:ext>
            </a:extLst>
          </p:cNvPr>
          <p:cNvSpPr>
            <a:spLocks noGrp="1" noChangeArrowheads="1"/>
          </p:cNvSpPr>
          <p:nvPr>
            <p:ph type="body" sz="half" idx="1"/>
          </p:nvPr>
        </p:nvSpPr>
        <p:spPr>
          <a:xfrm>
            <a:off x="685800" y="2276475"/>
            <a:ext cx="7631113" cy="3962400"/>
          </a:xfrm>
        </p:spPr>
        <p:txBody>
          <a:bodyPr/>
          <a:lstStyle/>
          <a:p>
            <a:pPr eaLnBrk="1" hangingPunct="1"/>
            <a:r>
              <a:rPr lang="zh-CN" altLang="en-US" sz="2800"/>
              <a:t>如</a:t>
            </a:r>
            <a:r>
              <a:rPr lang="en-US" altLang="zh-CN" sz="2800"/>
              <a:t>R</a:t>
            </a:r>
            <a:r>
              <a:rPr lang="en-US" altLang="zh-CN" sz="2800" baseline="-25000"/>
              <a:t>4</a:t>
            </a:r>
            <a:r>
              <a:rPr lang="en-US" altLang="zh-CN" sz="2800" baseline="-25000">
                <a:latin typeface="Arial Black" panose="020B0A04020102020204" pitchFamily="34" charset="0"/>
              </a:rPr>
              <a:t>·</a:t>
            </a:r>
            <a:r>
              <a:rPr lang="en-US" altLang="zh-CN" sz="2800" baseline="-25000"/>
              <a:t>123</a:t>
            </a:r>
            <a:r>
              <a:rPr lang="en-US" altLang="zh-CN" sz="2800"/>
              <a:t>=0.974</a:t>
            </a:r>
            <a:r>
              <a:rPr lang="zh-CN" altLang="en-US" sz="2800"/>
              <a:t>，</a:t>
            </a:r>
            <a:r>
              <a:rPr lang="en-US" altLang="zh-CN" sz="2800"/>
              <a:t>n=23</a:t>
            </a:r>
            <a:r>
              <a:rPr lang="zh-CN" altLang="en-US" sz="2800"/>
              <a:t>，</a:t>
            </a:r>
            <a:r>
              <a:rPr lang="en-US" altLang="zh-CN" sz="2800"/>
              <a:t>k=3</a:t>
            </a:r>
            <a:r>
              <a:rPr lang="zh-CN" altLang="en-US" sz="2800"/>
              <a:t>，故</a:t>
            </a:r>
          </a:p>
          <a:p>
            <a:pPr eaLnBrk="1" hangingPunct="1"/>
            <a:endParaRPr lang="zh-CN" altLang="en-US" sz="2800"/>
          </a:p>
          <a:p>
            <a:pPr eaLnBrk="1" hangingPunct="1"/>
            <a:endParaRPr lang="zh-CN" altLang="en-US" sz="2800"/>
          </a:p>
          <a:p>
            <a:pPr eaLnBrk="1" hangingPunct="1"/>
            <a:endParaRPr lang="zh-CN" altLang="en-US" sz="2800"/>
          </a:p>
          <a:p>
            <a:pPr eaLnBrk="1" hangingPunct="1"/>
            <a:endParaRPr lang="en-US" altLang="zh-CN" sz="2800"/>
          </a:p>
        </p:txBody>
      </p:sp>
      <p:pic>
        <p:nvPicPr>
          <p:cNvPr id="49155" name="Picture 4">
            <a:extLst>
              <a:ext uri="{FF2B5EF4-FFF2-40B4-BE49-F238E27FC236}">
                <a16:creationId xmlns:a16="http://schemas.microsoft.com/office/drawing/2014/main" id="{20CC7D43-D575-4504-B4E0-21D4987A9379}"/>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755650" y="4292600"/>
            <a:ext cx="6405563" cy="1130300"/>
          </a:xfrm>
          <a:noFill/>
        </p:spPr>
      </p:pic>
      <p:graphicFrame>
        <p:nvGraphicFramePr>
          <p:cNvPr id="49156" name="Object 3">
            <a:extLst>
              <a:ext uri="{FF2B5EF4-FFF2-40B4-BE49-F238E27FC236}">
                <a16:creationId xmlns:a16="http://schemas.microsoft.com/office/drawing/2014/main" id="{298316A0-622F-4A4E-A25C-A4BC49CF4C8D}"/>
              </a:ext>
            </a:extLst>
          </p:cNvPr>
          <p:cNvGraphicFramePr>
            <a:graphicFrameLocks noChangeAspect="1"/>
          </p:cNvGraphicFramePr>
          <p:nvPr/>
        </p:nvGraphicFramePr>
        <p:xfrm>
          <a:off x="755650" y="2852738"/>
          <a:ext cx="7551738" cy="1219200"/>
        </p:xfrm>
        <a:graphic>
          <a:graphicData uri="http://schemas.openxmlformats.org/presentationml/2006/ole">
            <mc:AlternateContent xmlns:mc="http://schemas.openxmlformats.org/markup-compatibility/2006">
              <mc:Choice xmlns:v="urn:schemas-microsoft-com:vml" Requires="v">
                <p:oleObj spid="_x0000_s49203" name="Equation" r:id="rId4" imgW="3048000" imgH="584200" progId="Equation.3">
                  <p:embed/>
                </p:oleObj>
              </mc:Choice>
              <mc:Fallback>
                <p:oleObj name="Equation" r:id="rId4" imgW="3048000" imgH="5842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650" y="2852738"/>
                        <a:ext cx="7551738" cy="1219200"/>
                      </a:xfrm>
                      <a:prstGeom prst="rect">
                        <a:avLst/>
                      </a:prstGeom>
                      <a:noFill/>
                      <a:ln w="9525">
                        <a:solidFill>
                          <a:srgbClr val="00FFFF"/>
                        </a:solidFill>
                        <a:miter lim="800000"/>
                        <a:headEnd/>
                        <a:tailEnd/>
                      </a:ln>
                      <a:extLst>
                        <a:ext uri="{909E8E84-426E-40DD-AFC4-6F175D3DCCD1}">
                          <a14:hiddenFill xmlns:a14="http://schemas.microsoft.com/office/drawing/2010/main">
                            <a:solidFill>
                              <a:schemeClr val="tx1"/>
                            </a:solidFill>
                          </a14:hiddenFill>
                        </a:ext>
                      </a:extLst>
                    </p:spPr>
                  </p:pic>
                </p:oleObj>
              </mc:Fallback>
            </mc:AlternateContent>
          </a:graphicData>
        </a:graphic>
      </p:graphicFrame>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a:extLst>
              <a:ext uri="{FF2B5EF4-FFF2-40B4-BE49-F238E27FC236}">
                <a16:creationId xmlns:a16="http://schemas.microsoft.com/office/drawing/2014/main" id="{8941FCF4-79B3-47C6-8B59-20A6E8D48242}"/>
              </a:ext>
            </a:extLst>
          </p:cNvPr>
          <p:cNvSpPr>
            <a:spLocks noGrp="1" noChangeArrowheads="1"/>
          </p:cNvSpPr>
          <p:nvPr>
            <p:ph idx="1"/>
          </p:nvPr>
        </p:nvSpPr>
        <p:spPr>
          <a:xfrm>
            <a:off x="467544" y="836613"/>
            <a:ext cx="7776344" cy="5400675"/>
          </a:xfrm>
        </p:spPr>
        <p:txBody>
          <a:bodyPr/>
          <a:lstStyle/>
          <a:p>
            <a:pPr eaLnBrk="1" hangingPunct="1"/>
            <a:r>
              <a:rPr lang="zh-CN" altLang="en-US" sz="2800" dirty="0"/>
              <a:t>查</a:t>
            </a:r>
            <a:r>
              <a:rPr lang="en-US" altLang="zh-CN" sz="2800" dirty="0"/>
              <a:t>F-</a:t>
            </a:r>
            <a:r>
              <a:rPr lang="zh-CN" altLang="en-US" sz="2800" dirty="0"/>
              <a:t>检验的临界值表（见本书附表六</a:t>
            </a:r>
            <a:r>
              <a:rPr lang="en-US" altLang="zh-CN" sz="2800" dirty="0"/>
              <a:t>)</a:t>
            </a:r>
            <a:r>
              <a:rPr lang="zh-CN" altLang="en-US" sz="2800" dirty="0"/>
              <a:t>，可以得出不同显著水平上的临界值</a:t>
            </a:r>
            <a:r>
              <a:rPr lang="en-US" altLang="zh-CN" sz="2800" dirty="0"/>
              <a:t>F</a:t>
            </a:r>
            <a:r>
              <a:rPr lang="en-US" altLang="zh-CN" sz="2800" baseline="-25000" dirty="0"/>
              <a:t>α</a:t>
            </a:r>
          </a:p>
          <a:p>
            <a:pPr lvl="1" eaLnBrk="1" hangingPunct="1"/>
            <a:r>
              <a:rPr lang="zh-CN" altLang="en-US" sz="2400" dirty="0"/>
              <a:t>若</a:t>
            </a:r>
            <a:r>
              <a:rPr lang="en-US" altLang="zh-CN" sz="2400" dirty="0"/>
              <a:t>F</a:t>
            </a:r>
            <a:r>
              <a:rPr lang="zh-CN" altLang="en-US" sz="2400" dirty="0"/>
              <a:t>＞</a:t>
            </a:r>
            <a:r>
              <a:rPr lang="en-US" altLang="zh-CN" sz="2400" dirty="0"/>
              <a:t>F</a:t>
            </a:r>
            <a:r>
              <a:rPr lang="en-US" altLang="zh-CN" sz="2400" baseline="-25000" dirty="0"/>
              <a:t>0.01</a:t>
            </a:r>
            <a:r>
              <a:rPr lang="zh-CN" altLang="en-US" sz="2400" dirty="0"/>
              <a:t>，则表示复相关在置信度水平</a:t>
            </a:r>
            <a:r>
              <a:rPr lang="en-US" altLang="zh-CN" sz="2400" dirty="0"/>
              <a:t>a=0.01 </a:t>
            </a:r>
            <a:r>
              <a:rPr lang="zh-CN" altLang="en-US" sz="2400" dirty="0"/>
              <a:t>上显著，称为极显著</a:t>
            </a:r>
          </a:p>
          <a:p>
            <a:pPr lvl="1" eaLnBrk="1" hangingPunct="1"/>
            <a:r>
              <a:rPr lang="zh-CN" altLang="en-US" sz="2400" dirty="0"/>
              <a:t>若</a:t>
            </a:r>
            <a:r>
              <a:rPr lang="en-US" altLang="zh-CN" sz="2400" dirty="0"/>
              <a:t>F</a:t>
            </a:r>
            <a:r>
              <a:rPr lang="en-US" altLang="zh-CN" sz="2400" baseline="-25000" dirty="0"/>
              <a:t>0.05</a:t>
            </a:r>
            <a:r>
              <a:rPr lang="zh-CN" altLang="en-US" sz="2400" dirty="0"/>
              <a:t>＜</a:t>
            </a:r>
            <a:r>
              <a:rPr lang="en-US" altLang="zh-CN" sz="2400" dirty="0"/>
              <a:t>F≤F</a:t>
            </a:r>
            <a:r>
              <a:rPr lang="en-US" altLang="zh-CN" sz="2400" baseline="-25000" dirty="0"/>
              <a:t>0.01</a:t>
            </a:r>
            <a:r>
              <a:rPr lang="zh-CN" altLang="en-US" sz="2400" dirty="0"/>
              <a:t>，则表示复相关在置信度水平</a:t>
            </a:r>
            <a:r>
              <a:rPr lang="en-US" altLang="zh-CN" sz="2400" dirty="0"/>
              <a:t>a=0.05 </a:t>
            </a:r>
            <a:r>
              <a:rPr lang="zh-CN" altLang="en-US" sz="2400" dirty="0"/>
              <a:t>上显著</a:t>
            </a:r>
          </a:p>
          <a:p>
            <a:pPr lvl="1" eaLnBrk="1" hangingPunct="1"/>
            <a:r>
              <a:rPr lang="zh-CN" altLang="en-US" sz="2400" dirty="0"/>
              <a:t>若</a:t>
            </a:r>
            <a:r>
              <a:rPr lang="en-US" altLang="zh-CN" sz="2400" dirty="0"/>
              <a:t>F</a:t>
            </a:r>
            <a:r>
              <a:rPr lang="en-US" altLang="zh-CN" sz="2400" baseline="-25000" dirty="0"/>
              <a:t>0.10</a:t>
            </a:r>
            <a:r>
              <a:rPr lang="en-US" altLang="zh-CN" sz="2400" dirty="0"/>
              <a:t>≤F≤F</a:t>
            </a:r>
            <a:r>
              <a:rPr lang="en-US" altLang="zh-CN" sz="2400" baseline="-25000" dirty="0"/>
              <a:t>0.05</a:t>
            </a:r>
            <a:r>
              <a:rPr lang="zh-CN" altLang="en-US" sz="2400" dirty="0"/>
              <a:t>，则表示复相关在置信度水平</a:t>
            </a:r>
            <a:r>
              <a:rPr lang="en-US" altLang="zh-CN" sz="2400" dirty="0"/>
              <a:t>a=0.10 </a:t>
            </a:r>
            <a:r>
              <a:rPr lang="zh-CN" altLang="en-US" sz="2400" dirty="0"/>
              <a:t>上显著</a:t>
            </a:r>
          </a:p>
          <a:p>
            <a:pPr lvl="1" eaLnBrk="1" hangingPunct="1"/>
            <a:r>
              <a:rPr lang="zh-CN" altLang="en-US" sz="2400" dirty="0"/>
              <a:t>若</a:t>
            </a:r>
            <a:r>
              <a:rPr lang="en-US" altLang="zh-CN" sz="2400" dirty="0"/>
              <a:t>F</a:t>
            </a:r>
            <a:r>
              <a:rPr lang="zh-CN" altLang="en-US" sz="2400" dirty="0"/>
              <a:t>＞</a:t>
            </a:r>
            <a:r>
              <a:rPr lang="en-US" altLang="zh-CN" sz="2400" dirty="0"/>
              <a:t>F</a:t>
            </a:r>
            <a:r>
              <a:rPr lang="en-US" altLang="zh-CN" sz="2400" baseline="-25000" dirty="0"/>
              <a:t>0.10</a:t>
            </a:r>
            <a:r>
              <a:rPr lang="zh-CN" altLang="en-US" sz="2400" dirty="0"/>
              <a:t>，则表示复相关不显著，即因变量</a:t>
            </a:r>
            <a:r>
              <a:rPr lang="en-US" altLang="zh-CN" sz="2400" dirty="0"/>
              <a:t>Y </a:t>
            </a:r>
            <a:r>
              <a:rPr lang="zh-CN" altLang="en-US" sz="2400" dirty="0"/>
              <a:t>与</a:t>
            </a:r>
            <a:r>
              <a:rPr lang="en-US" altLang="zh-CN" sz="2400" dirty="0"/>
              <a:t>K </a:t>
            </a:r>
            <a:r>
              <a:rPr lang="zh-CN" altLang="en-US" sz="2400" dirty="0"/>
              <a:t>个自变量之间的关系不密切。在上例中，</a:t>
            </a:r>
            <a:r>
              <a:rPr lang="en-US" altLang="zh-CN" sz="2400" dirty="0"/>
              <a:t>F=120.190 7</a:t>
            </a:r>
            <a:r>
              <a:rPr lang="zh-CN" altLang="en-US" sz="2400" dirty="0"/>
              <a:t>＞</a:t>
            </a:r>
            <a:r>
              <a:rPr lang="en-US" altLang="zh-CN" sz="2400" dirty="0"/>
              <a:t>F</a:t>
            </a:r>
            <a:r>
              <a:rPr lang="en-US" altLang="zh-CN" sz="2400" baseline="-25000" dirty="0"/>
              <a:t>0.01</a:t>
            </a:r>
            <a:r>
              <a:rPr lang="en-US" altLang="zh-CN" sz="2400" dirty="0"/>
              <a:t>=5.0103</a:t>
            </a:r>
            <a:r>
              <a:rPr lang="zh-CN" altLang="en-US" sz="2400" dirty="0"/>
              <a:t>，故复相关达到了极显著水平</a:t>
            </a:r>
          </a:p>
        </p:txBody>
      </p:sp>
      <p:sp>
        <p:nvSpPr>
          <p:cNvPr id="50179" name="AutoShape 4">
            <a:hlinkClick r:id="rId2" action="ppaction://hlinksldjump" highlightClick="1"/>
            <a:extLst>
              <a:ext uri="{FF2B5EF4-FFF2-40B4-BE49-F238E27FC236}">
                <a16:creationId xmlns:a16="http://schemas.microsoft.com/office/drawing/2014/main" id="{3DBADD12-A114-46DB-A513-C048FC762514}"/>
              </a:ext>
            </a:extLst>
          </p:cNvPr>
          <p:cNvSpPr>
            <a:spLocks noChangeArrowheads="1"/>
          </p:cNvSpPr>
          <p:nvPr/>
        </p:nvSpPr>
        <p:spPr bwMode="auto">
          <a:xfrm>
            <a:off x="7596188" y="6165850"/>
            <a:ext cx="1547812" cy="692150"/>
          </a:xfrm>
          <a:prstGeom prst="actionButtonReturn">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2E08B2B-6C80-46AC-A26A-720595727046}"/>
              </a:ext>
            </a:extLst>
          </p:cNvPr>
          <p:cNvSpPr/>
          <p:nvPr/>
        </p:nvSpPr>
        <p:spPr>
          <a:xfrm>
            <a:off x="2411760" y="1844824"/>
            <a:ext cx="3672800" cy="584775"/>
          </a:xfrm>
          <a:prstGeom prst="rect">
            <a:avLst/>
          </a:prstGeom>
        </p:spPr>
        <p:txBody>
          <a:bodyPr wrap="none">
            <a:spAutoFit/>
          </a:bodyPr>
          <a:lstStyle/>
          <a:p>
            <a:r>
              <a:rPr lang="en-US" altLang="zh-CN" sz="3200" dirty="0">
                <a:latin typeface="黑体" panose="02010609060101010101" pitchFamily="49" charset="-122"/>
                <a:ea typeface="黑体" panose="02010609060101010101" pitchFamily="49" charset="-122"/>
              </a:rPr>
              <a:t>3.4</a:t>
            </a:r>
            <a:r>
              <a:rPr lang="zh-CN" altLang="en-US" sz="3200" dirty="0">
                <a:latin typeface="黑体" panose="02010609060101010101" pitchFamily="49" charset="-122"/>
                <a:ea typeface="黑体" panose="02010609060101010101" pitchFamily="49" charset="-122"/>
              </a:rPr>
              <a:t>相关性分析小结</a:t>
            </a:r>
            <a:endParaRPr lang="zh-CN" altLang="en-US" sz="3200" dirty="0"/>
          </a:p>
        </p:txBody>
      </p:sp>
    </p:spTree>
    <p:extLst>
      <p:ext uri="{BB962C8B-B14F-4D97-AF65-F5344CB8AC3E}">
        <p14:creationId xmlns:p14="http://schemas.microsoft.com/office/powerpoint/2010/main" val="27318491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a:spLocks/>
          </p:cNvSpPr>
          <p:nvPr/>
        </p:nvSpPr>
        <p:spPr>
          <a:xfrm>
            <a:off x="321273" y="319216"/>
            <a:ext cx="3847468" cy="68261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800" dirty="0">
                <a:latin typeface="黑体" panose="02010609060101010101" pitchFamily="49" charset="-122"/>
                <a:ea typeface="黑体" panose="02010609060101010101" pitchFamily="49" charset="-122"/>
              </a:rPr>
              <a:t>3.4.1</a:t>
            </a:r>
            <a:r>
              <a:rPr lang="zh-CN" altLang="en-US" sz="2800" dirty="0">
                <a:latin typeface="黑体" panose="02010609060101010101" pitchFamily="49" charset="-122"/>
                <a:ea typeface="黑体" panose="02010609060101010101" pitchFamily="49" charset="-122"/>
              </a:rPr>
              <a:t>相关性分析原理</a:t>
            </a:r>
          </a:p>
        </p:txBody>
      </p:sp>
      <p:sp>
        <p:nvSpPr>
          <p:cNvPr id="7" name="Rectangle 9"/>
          <p:cNvSpPr>
            <a:spLocks noChangeArrowheads="1"/>
          </p:cNvSpPr>
          <p:nvPr/>
        </p:nvSpPr>
        <p:spPr bwMode="auto">
          <a:xfrm>
            <a:off x="308229" y="1673554"/>
            <a:ext cx="3868220" cy="1432592"/>
          </a:xfrm>
          <a:prstGeom prst="rect">
            <a:avLst/>
          </a:prstGeom>
          <a:solidFill>
            <a:schemeClr val="bg1">
              <a:lumMod val="95000"/>
            </a:schemeClr>
          </a:solidFill>
          <a:ln w="9">
            <a:noFill/>
            <a:miter lim="800000"/>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dirty="0"/>
          </a:p>
        </p:txBody>
      </p:sp>
      <p:sp>
        <p:nvSpPr>
          <p:cNvPr id="8" name="Rectangle 10"/>
          <p:cNvSpPr>
            <a:spLocks noChangeArrowheads="1"/>
          </p:cNvSpPr>
          <p:nvPr/>
        </p:nvSpPr>
        <p:spPr bwMode="auto">
          <a:xfrm>
            <a:off x="1263093" y="1340768"/>
            <a:ext cx="2260666" cy="491140"/>
          </a:xfrm>
          <a:prstGeom prst="rect">
            <a:avLst/>
          </a:prstGeom>
          <a:solidFill>
            <a:srgbClr val="685D5C"/>
          </a:solidFill>
          <a:ln>
            <a:noFill/>
            <a:headEnd/>
            <a:tailEnd/>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b="1">
              <a:ln w="22225">
                <a:solidFill>
                  <a:schemeClr val="accent2"/>
                </a:solidFill>
                <a:prstDash val="solid"/>
              </a:ln>
              <a:solidFill>
                <a:schemeClr val="accent2">
                  <a:lumMod val="40000"/>
                  <a:lumOff val="60000"/>
                </a:schemeClr>
              </a:solidFill>
            </a:endParaRPr>
          </a:p>
        </p:txBody>
      </p:sp>
      <p:sp>
        <p:nvSpPr>
          <p:cNvPr id="9" name="TextBox 15"/>
          <p:cNvSpPr txBox="1">
            <a:spLocks noChangeArrowheads="1"/>
          </p:cNvSpPr>
          <p:nvPr/>
        </p:nvSpPr>
        <p:spPr bwMode="auto">
          <a:xfrm>
            <a:off x="1750401" y="1407520"/>
            <a:ext cx="141821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500" b="1" dirty="0">
                <a:solidFill>
                  <a:schemeClr val="bg1"/>
                </a:solidFill>
                <a:latin typeface="微软雅黑" panose="020B0503020204020204" pitchFamily="34" charset="-122"/>
                <a:ea typeface="微软雅黑" panose="020B0503020204020204" pitchFamily="34" charset="-122"/>
              </a:rPr>
              <a:t>1.</a:t>
            </a:r>
            <a:r>
              <a:rPr lang="zh-CN" altLang="en-US" sz="1500" b="1" dirty="0">
                <a:solidFill>
                  <a:schemeClr val="bg1"/>
                </a:solidFill>
                <a:latin typeface="微软雅黑" panose="020B0503020204020204" pitchFamily="34" charset="-122"/>
                <a:ea typeface="微软雅黑" panose="020B0503020204020204" pitchFamily="34" charset="-122"/>
              </a:rPr>
              <a:t>相关关系</a:t>
            </a:r>
            <a:endParaRPr lang="en-US" sz="1500" b="1" dirty="0">
              <a:solidFill>
                <a:schemeClr val="bg1"/>
              </a:solidFill>
              <a:latin typeface="微软雅黑" panose="020B0503020204020204" pitchFamily="34" charset="-122"/>
              <a:ea typeface="微软雅黑" panose="020B0503020204020204" pitchFamily="34" charset="-122"/>
            </a:endParaRPr>
          </a:p>
        </p:txBody>
      </p:sp>
      <p:sp>
        <p:nvSpPr>
          <p:cNvPr id="10" name="TextBox 16"/>
          <p:cNvSpPr txBox="1">
            <a:spLocks noChangeArrowheads="1"/>
          </p:cNvSpPr>
          <p:nvPr/>
        </p:nvSpPr>
        <p:spPr bwMode="auto">
          <a:xfrm>
            <a:off x="415304" y="1936886"/>
            <a:ext cx="3753437"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dirty="0">
                <a:latin typeface="汉仪书宋一简" panose="02010609000101010101" pitchFamily="49" charset="-122"/>
                <a:ea typeface="汉仪书宋一简" panose="02010609000101010101" pitchFamily="49" charset="-122"/>
              </a:rPr>
              <a:t>    相关关系，又叫非确定性关系，</a:t>
            </a:r>
            <a:r>
              <a:rPr lang="zh-CN" altLang="zh-CN" dirty="0">
                <a:latin typeface="汉仪书宋一简" panose="02010609000101010101" pitchFamily="49" charset="-122"/>
                <a:ea typeface="汉仪书宋一简" panose="02010609000101010101" pitchFamily="49" charset="-122"/>
              </a:rPr>
              <a:t>它的特点是给定了一个变量值后，另一个变量值可以在一定的范围内变化，它必须借助于统计手段才能加以研究，故又称为统计相关。</a:t>
            </a:r>
            <a:endParaRPr lang="zh-CN" altLang="en-US" dirty="0">
              <a:solidFill>
                <a:schemeClr val="accent1"/>
              </a:solidFill>
              <a:latin typeface="汉仪书宋一简" panose="02010609000101010101" pitchFamily="49" charset="-122"/>
              <a:ea typeface="汉仪书宋一简" panose="02010609000101010101" pitchFamily="49" charset="-122"/>
            </a:endParaRPr>
          </a:p>
        </p:txBody>
      </p:sp>
      <p:sp>
        <p:nvSpPr>
          <p:cNvPr id="13" name="Rectangle 9"/>
          <p:cNvSpPr>
            <a:spLocks noChangeArrowheads="1"/>
          </p:cNvSpPr>
          <p:nvPr/>
        </p:nvSpPr>
        <p:spPr bwMode="auto">
          <a:xfrm>
            <a:off x="4486276" y="1673554"/>
            <a:ext cx="4390598" cy="1432592"/>
          </a:xfrm>
          <a:prstGeom prst="rect">
            <a:avLst/>
          </a:prstGeom>
          <a:solidFill>
            <a:schemeClr val="bg1">
              <a:lumMod val="95000"/>
            </a:schemeClr>
          </a:solidFill>
          <a:ln w="9">
            <a:noFill/>
            <a:miter lim="800000"/>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dirty="0"/>
          </a:p>
        </p:txBody>
      </p:sp>
      <p:sp>
        <p:nvSpPr>
          <p:cNvPr id="14" name="Rectangle 10"/>
          <p:cNvSpPr>
            <a:spLocks noChangeArrowheads="1"/>
          </p:cNvSpPr>
          <p:nvPr/>
        </p:nvSpPr>
        <p:spPr bwMode="auto">
          <a:xfrm>
            <a:off x="5796136" y="1242069"/>
            <a:ext cx="2118221" cy="589839"/>
          </a:xfrm>
          <a:prstGeom prst="rect">
            <a:avLst/>
          </a:prstGeom>
          <a:solidFill>
            <a:srgbClr val="685D5C"/>
          </a:solidFill>
          <a:ln>
            <a:noFill/>
            <a:headEnd/>
            <a:tailEnd/>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b="1">
              <a:ln w="22225">
                <a:solidFill>
                  <a:schemeClr val="accent2"/>
                </a:solidFill>
                <a:prstDash val="solid"/>
              </a:ln>
              <a:solidFill>
                <a:schemeClr val="accent2">
                  <a:lumMod val="40000"/>
                  <a:lumOff val="60000"/>
                </a:schemeClr>
              </a:solidFill>
            </a:endParaRPr>
          </a:p>
        </p:txBody>
      </p:sp>
      <p:sp>
        <p:nvSpPr>
          <p:cNvPr id="15" name="TextBox 15"/>
          <p:cNvSpPr txBox="1">
            <a:spLocks noChangeArrowheads="1"/>
          </p:cNvSpPr>
          <p:nvPr/>
        </p:nvSpPr>
        <p:spPr bwMode="auto">
          <a:xfrm>
            <a:off x="6084168" y="1304660"/>
            <a:ext cx="172819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500" b="1" dirty="0">
                <a:solidFill>
                  <a:schemeClr val="bg1"/>
                </a:solidFill>
                <a:latin typeface="微软雅黑" panose="020B0503020204020204" pitchFamily="34" charset="-122"/>
                <a:ea typeface="微软雅黑" panose="020B0503020204020204" pitchFamily="34" charset="-122"/>
              </a:rPr>
              <a:t>2.</a:t>
            </a:r>
            <a:r>
              <a:rPr lang="zh-CN" altLang="en-US" sz="1500" b="1" dirty="0">
                <a:solidFill>
                  <a:schemeClr val="bg1"/>
                </a:solidFill>
                <a:latin typeface="微软雅黑" panose="020B0503020204020204" pitchFamily="34" charset="-122"/>
                <a:ea typeface="微软雅黑" panose="020B0503020204020204" pitchFamily="34" charset="-122"/>
              </a:rPr>
              <a:t>相关分析</a:t>
            </a:r>
            <a:endParaRPr lang="en-US" sz="1500" b="1" dirty="0">
              <a:solidFill>
                <a:schemeClr val="bg1"/>
              </a:solidFill>
              <a:latin typeface="微软雅黑" panose="020B0503020204020204" pitchFamily="34" charset="-122"/>
              <a:ea typeface="微软雅黑" panose="020B0503020204020204" pitchFamily="34" charset="-122"/>
            </a:endParaRPr>
          </a:p>
        </p:txBody>
      </p:sp>
      <p:sp>
        <p:nvSpPr>
          <p:cNvPr id="17" name="TextBox 16"/>
          <p:cNvSpPr txBox="1">
            <a:spLocks noChangeArrowheads="1"/>
          </p:cNvSpPr>
          <p:nvPr/>
        </p:nvSpPr>
        <p:spPr bwMode="auto">
          <a:xfrm>
            <a:off x="4600576" y="1872507"/>
            <a:ext cx="4245473"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latin typeface="汉仪书宋一简" panose="02010609000101010101" pitchFamily="49" charset="-122"/>
                <a:ea typeface="汉仪书宋一简" panose="02010609000101010101" pitchFamily="49" charset="-122"/>
              </a:rPr>
              <a:t>    </a:t>
            </a:r>
            <a:r>
              <a:rPr lang="zh-CN" altLang="zh-CN" dirty="0">
                <a:latin typeface="汉仪书宋一简" panose="02010609000101010101" pitchFamily="49" charset="-122"/>
                <a:ea typeface="汉仪书宋一简" panose="02010609000101010101" pitchFamily="49" charset="-122"/>
              </a:rPr>
              <a:t>相关分析是研究变量之间相关关系的数理统计方法，它可以从影响某个变量的诸多变量中判断哪些是显著的，哪些是不显著的。而且，在得到相关分析的结果后，还可以用其他统计分析方法对其做更进一步的分析、预测或控制，比如回归分析、因子分析等。</a:t>
            </a:r>
            <a:endParaRPr lang="zh-CN" altLang="en-US" dirty="0">
              <a:solidFill>
                <a:schemeClr val="accent1"/>
              </a:solidFill>
              <a:latin typeface="汉仪书宋一简" panose="02010609000101010101" pitchFamily="49" charset="-122"/>
              <a:ea typeface="汉仪书宋一简" panose="02010609000101010101" pitchFamily="49" charset="-122"/>
            </a:endParaRPr>
          </a:p>
        </p:txBody>
      </p:sp>
      <p:graphicFrame>
        <p:nvGraphicFramePr>
          <p:cNvPr id="18" name="表格 17"/>
          <p:cNvGraphicFramePr>
            <a:graphicFrameLocks noGrp="1"/>
          </p:cNvGraphicFramePr>
          <p:nvPr>
            <p:extLst>
              <p:ext uri="{D42A27DB-BD31-4B8C-83A1-F6EECF244321}">
                <p14:modId xmlns:p14="http://schemas.microsoft.com/office/powerpoint/2010/main" val="1056727763"/>
              </p:ext>
            </p:extLst>
          </p:nvPr>
        </p:nvGraphicFramePr>
        <p:xfrm>
          <a:off x="408917" y="3861048"/>
          <a:ext cx="8568644" cy="2612205"/>
        </p:xfrm>
        <a:graphic>
          <a:graphicData uri="http://schemas.openxmlformats.org/drawingml/2006/table">
            <a:tbl>
              <a:tblPr>
                <a:tableStyleId>{9D7B26C5-4107-4FEC-AEDC-1716B250A1EF}</a:tableStyleId>
              </a:tblPr>
              <a:tblGrid>
                <a:gridCol w="8568644">
                  <a:extLst>
                    <a:ext uri="{9D8B030D-6E8A-4147-A177-3AD203B41FA5}">
                      <a16:colId xmlns:a16="http://schemas.microsoft.com/office/drawing/2014/main" val="20000"/>
                    </a:ext>
                  </a:extLst>
                </a:gridCol>
              </a:tblGrid>
              <a:tr h="2612205">
                <a:tc>
                  <a:txBody>
                    <a:bodyPr/>
                    <a:lstStyle/>
                    <a:p>
                      <a:pPr>
                        <a:lnSpc>
                          <a:spcPct val="200000"/>
                        </a:lnSpc>
                      </a:pPr>
                      <a:r>
                        <a:rPr lang="zh-CN" altLang="en-US" sz="1400" dirty="0"/>
                        <a:t>     相关关系类型                              变量</a:t>
                      </a:r>
                      <a:r>
                        <a:rPr lang="en-US" altLang="zh-CN" sz="1400" dirty="0"/>
                        <a:t>X                                  </a:t>
                      </a:r>
                      <a:r>
                        <a:rPr lang="zh-CN" altLang="en-US" sz="1400" dirty="0"/>
                        <a:t>变量</a:t>
                      </a:r>
                      <a:r>
                        <a:rPr lang="en-US" altLang="zh-CN" sz="1400" dirty="0"/>
                        <a:t>Y                                           </a:t>
                      </a:r>
                      <a:r>
                        <a:rPr lang="zh-CN" altLang="en-US" sz="1400" dirty="0"/>
                        <a:t>影响因素</a:t>
                      </a:r>
                      <a:endParaRPr lang="en-US" altLang="zh-CN" sz="1400" dirty="0"/>
                    </a:p>
                    <a:p>
                      <a:pPr>
                        <a:lnSpc>
                          <a:spcPct val="200000"/>
                        </a:lnSpc>
                      </a:pPr>
                      <a:r>
                        <a:rPr lang="zh-CN" altLang="en-US" sz="1100" dirty="0"/>
                        <a:t>   </a:t>
                      </a:r>
                      <a:r>
                        <a:rPr lang="zh-CN" altLang="en-US" sz="1100" baseline="0" dirty="0"/>
                        <a:t>   </a:t>
                      </a:r>
                      <a:r>
                        <a:rPr lang="zh-CN" altLang="en-US" sz="1100" dirty="0"/>
                        <a:t>强正相关关系                                            增加                                        </a:t>
                      </a:r>
                      <a:r>
                        <a:rPr lang="zh-CN" altLang="en-US" sz="1100" baseline="0" dirty="0"/>
                        <a:t>  </a:t>
                      </a:r>
                      <a:r>
                        <a:rPr lang="zh-CN" altLang="en-US" sz="1100" dirty="0"/>
                        <a:t>明显增加                                               </a:t>
                      </a:r>
                      <a:r>
                        <a:rPr lang="en-US" altLang="zh-CN" sz="1100" dirty="0"/>
                        <a:t>X</a:t>
                      </a:r>
                      <a:r>
                        <a:rPr lang="zh-CN" altLang="en-US" sz="1100" dirty="0"/>
                        <a:t>是影响</a:t>
                      </a:r>
                      <a:r>
                        <a:rPr lang="en-US" altLang="zh-CN" sz="1100" dirty="0"/>
                        <a:t>Y</a:t>
                      </a:r>
                      <a:r>
                        <a:rPr lang="zh-CN" altLang="en-US" sz="1100" dirty="0"/>
                        <a:t>的主要因素             </a:t>
                      </a:r>
                      <a:endParaRPr lang="en-US" altLang="zh-CN" sz="1100" dirty="0"/>
                    </a:p>
                    <a:p>
                      <a:pPr>
                        <a:lnSpc>
                          <a:spcPct val="200000"/>
                        </a:lnSpc>
                      </a:pPr>
                      <a:r>
                        <a:rPr lang="en-US" altLang="zh-CN" sz="1100" dirty="0"/>
                        <a:t>      </a:t>
                      </a:r>
                      <a:r>
                        <a:rPr lang="zh-CN" altLang="en-US" sz="1100" dirty="0"/>
                        <a:t>弱正相关关系                                            增加                                          增加，但增加幅度不明显                </a:t>
                      </a:r>
                      <a:r>
                        <a:rPr lang="en-US" altLang="zh-CN" sz="1100" dirty="0"/>
                        <a:t>X</a:t>
                      </a:r>
                      <a:r>
                        <a:rPr lang="zh-CN" altLang="en-US" sz="1100" dirty="0"/>
                        <a:t>不是唯一影响因素                         </a:t>
                      </a:r>
                      <a:endParaRPr lang="en-US" altLang="zh-CN" sz="1100" dirty="0"/>
                    </a:p>
                    <a:p>
                      <a:pPr>
                        <a:lnSpc>
                          <a:spcPct val="200000"/>
                        </a:lnSpc>
                      </a:pPr>
                      <a:r>
                        <a:rPr lang="en-US" altLang="zh-CN" sz="1100" dirty="0"/>
                        <a:t>      </a:t>
                      </a:r>
                      <a:r>
                        <a:rPr lang="zh-CN" altLang="en-US" sz="1100" dirty="0"/>
                        <a:t>强负相关关系                                            增加                      </a:t>
                      </a:r>
                      <a:r>
                        <a:rPr lang="zh-CN" altLang="en-US" sz="1100" baseline="0" dirty="0"/>
                        <a:t>                    </a:t>
                      </a:r>
                      <a:r>
                        <a:rPr lang="zh-CN" altLang="en-US" sz="1100" dirty="0"/>
                        <a:t>明显减少                                               </a:t>
                      </a:r>
                      <a:r>
                        <a:rPr lang="en-US" altLang="zh-CN" sz="1100" dirty="0"/>
                        <a:t>X</a:t>
                      </a:r>
                      <a:r>
                        <a:rPr lang="zh-CN" altLang="en-US" sz="1100" dirty="0"/>
                        <a:t>是影响</a:t>
                      </a:r>
                      <a:r>
                        <a:rPr lang="en-US" altLang="zh-CN" sz="1100" dirty="0"/>
                        <a:t>Y</a:t>
                      </a:r>
                      <a:r>
                        <a:rPr lang="zh-CN" altLang="en-US" sz="1100" dirty="0"/>
                        <a:t>的主要因素</a:t>
                      </a:r>
                      <a:endParaRPr lang="en-US" altLang="zh-CN" sz="1100" dirty="0"/>
                    </a:p>
                    <a:p>
                      <a:pPr>
                        <a:lnSpc>
                          <a:spcPct val="200000"/>
                        </a:lnSpc>
                      </a:pPr>
                      <a:r>
                        <a:rPr lang="en-US" altLang="zh-CN" sz="1100" baseline="0" dirty="0"/>
                        <a:t>      </a:t>
                      </a:r>
                      <a:r>
                        <a:rPr lang="zh-CN" altLang="en-US" sz="1100" baseline="0" dirty="0"/>
                        <a:t>弱负相关关系                                            增加                                          减少，但减少幅度不明显                </a:t>
                      </a:r>
                      <a:r>
                        <a:rPr lang="en-US" altLang="zh-CN" sz="1100" baseline="0" dirty="0"/>
                        <a:t>X</a:t>
                      </a:r>
                      <a:r>
                        <a:rPr lang="zh-CN" altLang="en-US" sz="1100" baseline="0" dirty="0"/>
                        <a:t>不是唯一的影响因素</a:t>
                      </a:r>
                      <a:endParaRPr lang="en-US" altLang="zh-CN" sz="1100" baseline="0" dirty="0"/>
                    </a:p>
                    <a:p>
                      <a:pPr>
                        <a:lnSpc>
                          <a:spcPct val="200000"/>
                        </a:lnSpc>
                      </a:pPr>
                      <a:r>
                        <a:rPr lang="en-US" altLang="zh-CN" sz="1100" baseline="0" dirty="0"/>
                        <a:t>       </a:t>
                      </a:r>
                      <a:r>
                        <a:rPr lang="zh-CN" altLang="en-US" sz="1100" baseline="0" dirty="0"/>
                        <a:t>非线性关系                                     </a:t>
                      </a:r>
                      <a:r>
                        <a:rPr lang="en-US" altLang="zh-CN" sz="1100" kern="1200" dirty="0">
                          <a:effectLst/>
                        </a:rPr>
                        <a:t>X</a:t>
                      </a:r>
                      <a:r>
                        <a:rPr lang="zh-CN" altLang="zh-CN" sz="1100" kern="1200" dirty="0">
                          <a:effectLst/>
                        </a:rPr>
                        <a:t>、</a:t>
                      </a:r>
                      <a:r>
                        <a:rPr lang="en-US" altLang="zh-CN" sz="1100" kern="1200" dirty="0">
                          <a:effectLst/>
                        </a:rPr>
                        <a:t>Y</a:t>
                      </a:r>
                      <a:r>
                        <a:rPr lang="zh-CN" altLang="zh-CN" sz="1100" kern="1200" dirty="0">
                          <a:effectLst/>
                        </a:rPr>
                        <a:t>之间没有明显的线性关系，却存在着某种非线性关系</a:t>
                      </a:r>
                      <a:r>
                        <a:rPr lang="en-US" altLang="zh-CN" sz="1100" kern="1200" dirty="0">
                          <a:effectLst/>
                        </a:rPr>
                        <a:t>               X</a:t>
                      </a:r>
                      <a:r>
                        <a:rPr lang="zh-CN" altLang="en-US" sz="1100" kern="1200" dirty="0">
                          <a:effectLst/>
                        </a:rPr>
                        <a:t>是影响</a:t>
                      </a:r>
                      <a:r>
                        <a:rPr lang="en-US" altLang="zh-CN" sz="1100" kern="1200" dirty="0">
                          <a:effectLst/>
                        </a:rPr>
                        <a:t>Y</a:t>
                      </a:r>
                      <a:r>
                        <a:rPr lang="zh-CN" altLang="en-US" sz="1100" kern="1200" dirty="0">
                          <a:effectLst/>
                        </a:rPr>
                        <a:t>的因素</a:t>
                      </a:r>
                      <a:endParaRPr lang="en-US" altLang="zh-CN" sz="1100" baseline="0" dirty="0"/>
                    </a:p>
                    <a:p>
                      <a:pPr marL="0" marR="0" indent="0" algn="l" defTabSz="914400" rtl="0" eaLnBrk="1" fontAlgn="auto" latinLnBrk="0" hangingPunct="1">
                        <a:lnSpc>
                          <a:spcPct val="200000"/>
                        </a:lnSpc>
                        <a:spcBef>
                          <a:spcPts val="0"/>
                        </a:spcBef>
                        <a:spcAft>
                          <a:spcPts val="0"/>
                        </a:spcAft>
                        <a:buClrTx/>
                        <a:buSzTx/>
                        <a:buFontTx/>
                        <a:buNone/>
                        <a:tabLst/>
                        <a:defRPr/>
                      </a:pPr>
                      <a:r>
                        <a:rPr lang="en-US" altLang="zh-CN" sz="1100" baseline="0" dirty="0"/>
                        <a:t>         </a:t>
                      </a:r>
                      <a:r>
                        <a:rPr lang="zh-CN" altLang="en-US" sz="1100" baseline="0" dirty="0"/>
                        <a:t>不相关                                                      </a:t>
                      </a:r>
                      <a:r>
                        <a:rPr lang="en-US" altLang="zh-CN" sz="1100" kern="1200" dirty="0">
                          <a:effectLst/>
                        </a:rPr>
                        <a:t>X</a:t>
                      </a:r>
                      <a:r>
                        <a:rPr lang="zh-CN" altLang="zh-CN" sz="1100" kern="1200" dirty="0">
                          <a:effectLst/>
                        </a:rPr>
                        <a:t>、</a:t>
                      </a:r>
                      <a:r>
                        <a:rPr lang="en-US" altLang="zh-CN" sz="1100" kern="1200" dirty="0">
                          <a:effectLst/>
                        </a:rPr>
                        <a:t>Y</a:t>
                      </a:r>
                      <a:r>
                        <a:rPr lang="zh-CN" altLang="zh-CN" sz="1100" kern="1200" dirty="0">
                          <a:effectLst/>
                        </a:rPr>
                        <a:t>之间</a:t>
                      </a:r>
                      <a:r>
                        <a:rPr lang="zh-CN" altLang="en-US" sz="1100" kern="1200" dirty="0">
                          <a:effectLst/>
                        </a:rPr>
                        <a:t>不存在相关关系                                                                  </a:t>
                      </a:r>
                      <a:r>
                        <a:rPr lang="en-US" altLang="zh-CN" sz="1100" kern="1200" dirty="0">
                          <a:effectLst/>
                        </a:rPr>
                        <a:t>X</a:t>
                      </a:r>
                      <a:r>
                        <a:rPr lang="zh-CN" altLang="en-US" sz="1100" kern="1200" dirty="0">
                          <a:effectLst/>
                        </a:rPr>
                        <a:t>不是影响</a:t>
                      </a:r>
                      <a:r>
                        <a:rPr lang="en-US" altLang="zh-CN" sz="1100" kern="1200" dirty="0">
                          <a:effectLst/>
                        </a:rPr>
                        <a:t>Y</a:t>
                      </a:r>
                      <a:r>
                        <a:rPr lang="zh-CN" altLang="en-US" sz="1100" kern="1200" dirty="0">
                          <a:effectLst/>
                        </a:rPr>
                        <a:t>的因素</a:t>
                      </a:r>
                      <a:endParaRPr lang="en-US" altLang="zh-CN" sz="1100" baseline="0" dirty="0">
                        <a:latin typeface="汉仪书宋一简" panose="02010609000101010101" pitchFamily="49" charset="-122"/>
                        <a:ea typeface="汉仪书宋一简" panose="02010609000101010101" pitchFamily="49" charset="-122"/>
                      </a:endParaRPr>
                    </a:p>
                  </a:txBody>
                  <a:tcPr marL="68580" marR="68580" marT="34290" marB="3429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6955775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bwMode="auto">
          <a:xfrm>
            <a:off x="1" y="857251"/>
            <a:ext cx="4320092" cy="51434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 name="文本框 2"/>
          <p:cNvSpPr txBox="1"/>
          <p:nvPr/>
        </p:nvSpPr>
        <p:spPr>
          <a:xfrm>
            <a:off x="217282" y="1284221"/>
            <a:ext cx="2410502" cy="369332"/>
          </a:xfrm>
          <a:prstGeom prst="rect">
            <a:avLst/>
          </a:prstGeom>
          <a:noFill/>
        </p:spPr>
        <p:txBody>
          <a:bodyPr wrap="square" rtlCol="0">
            <a:spAutoFit/>
          </a:bodyPr>
          <a:lstStyle/>
          <a:p>
            <a:pPr marL="0" lvl="3"/>
            <a:r>
              <a:rPr lang="en-US" altLang="zh-CN" b="1" dirty="0">
                <a:effectLst>
                  <a:glow>
                    <a:srgbClr val="000000"/>
                  </a:glow>
                  <a:reflection stA="0" endPos="0" fadeDir="0" sx="0" sy="0"/>
                </a:effectLst>
                <a:latin typeface="微软雅黑" panose="020B0503020204020204" pitchFamily="34" charset="-122"/>
                <a:ea typeface="微软雅黑" panose="020B0503020204020204" pitchFamily="34" charset="-122"/>
              </a:rPr>
              <a:t>Pearson</a:t>
            </a:r>
            <a:r>
              <a:rPr lang="zh-CN" altLang="zh-CN" b="1" dirty="0">
                <a:effectLst>
                  <a:glow>
                    <a:srgbClr val="000000"/>
                  </a:glow>
                  <a:reflection stA="0" endPos="0" fadeDir="0" sx="0" sy="0"/>
                </a:effectLst>
                <a:latin typeface="微软雅黑" panose="020B0503020204020204" pitchFamily="34" charset="-122"/>
                <a:ea typeface="微软雅黑" panose="020B0503020204020204" pitchFamily="34" charset="-122"/>
              </a:rPr>
              <a:t>相关系数</a:t>
            </a:r>
          </a:p>
        </p:txBody>
      </p:sp>
      <p:sp>
        <p:nvSpPr>
          <p:cNvPr id="8" name="矩形 7"/>
          <p:cNvSpPr/>
          <p:nvPr/>
        </p:nvSpPr>
        <p:spPr bwMode="auto">
          <a:xfrm>
            <a:off x="4447646" y="2371497"/>
            <a:ext cx="4427934" cy="391716"/>
          </a:xfrm>
          <a:prstGeom prst="rect">
            <a:avLst/>
          </a:prstGeom>
          <a:solidFill>
            <a:srgbClr val="685D5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dirty="0">
                <a:latin typeface="微软雅黑" panose="020B0503020204020204" pitchFamily="34" charset="-122"/>
                <a:ea typeface="微软雅黑" panose="020B0503020204020204" pitchFamily="34" charset="-122"/>
              </a:rPr>
              <a:t>公式</a:t>
            </a:r>
          </a:p>
        </p:txBody>
      </p:sp>
      <p:sp>
        <p:nvSpPr>
          <p:cNvPr id="33" name="文本框 32"/>
          <p:cNvSpPr txBox="1"/>
          <p:nvPr/>
        </p:nvSpPr>
        <p:spPr>
          <a:xfrm>
            <a:off x="290276" y="1906356"/>
            <a:ext cx="3846591" cy="1477328"/>
          </a:xfrm>
          <a:prstGeom prst="rect">
            <a:avLst/>
          </a:prstGeom>
          <a:solidFill>
            <a:srgbClr val="CECAC7"/>
          </a:solidFill>
        </p:spPr>
        <p:txBody>
          <a:bodyPr wrap="square" rtlCol="0">
            <a:spAutoFit/>
          </a:bodyPr>
          <a:lstStyle/>
          <a:p>
            <a:pPr algn="just"/>
            <a:r>
              <a:rPr lang="zh-CN" altLang="zh-CN" sz="1500" dirty="0">
                <a:latin typeface="微软雅黑" panose="020B0503020204020204" pitchFamily="34" charset="-122"/>
                <a:ea typeface="微软雅黑" panose="020B0503020204020204" pitchFamily="34" charset="-122"/>
              </a:rPr>
              <a:t>线性相关（</a:t>
            </a:r>
            <a:r>
              <a:rPr lang="en-US" altLang="zh-CN" sz="1500" dirty="0">
                <a:latin typeface="微软雅黑" panose="020B0503020204020204" pitchFamily="34" charset="-122"/>
                <a:ea typeface="微软雅黑" panose="020B0503020204020204" pitchFamily="34" charset="-122"/>
              </a:rPr>
              <a:t>Linear correlation</a:t>
            </a:r>
            <a:r>
              <a:rPr lang="zh-CN" altLang="zh-CN" sz="1500" dirty="0">
                <a:latin typeface="微软雅黑" panose="020B0503020204020204" pitchFamily="34" charset="-122"/>
                <a:ea typeface="微软雅黑" panose="020B0503020204020204" pitchFamily="34" charset="-122"/>
              </a:rPr>
              <a:t>）又称简单相关</a:t>
            </a:r>
            <a:r>
              <a:rPr lang="zh-CN" altLang="en-US" sz="1500" dirty="0">
                <a:latin typeface="微软雅黑" panose="020B0503020204020204" pitchFamily="34" charset="-122"/>
                <a:ea typeface="微软雅黑" panose="020B0503020204020204" pitchFamily="34" charset="-122"/>
              </a:rPr>
              <a:t>。</a:t>
            </a:r>
            <a:r>
              <a:rPr lang="zh-CN" altLang="zh-CN" sz="1500" dirty="0">
                <a:latin typeface="微软雅黑" panose="020B0503020204020204" pitchFamily="34" charset="-122"/>
                <a:ea typeface="微软雅黑" panose="020B0503020204020204" pitchFamily="34" charset="-122"/>
              </a:rPr>
              <a:t>用来度量具有线性关系的两个变量之间相关关系的密切程度及其相关方向，适用于双变量正态分布资料。</a:t>
            </a:r>
            <a:r>
              <a:rPr lang="zh-CN" altLang="en-US" sz="1500" dirty="0">
                <a:latin typeface="微软雅黑" panose="020B0503020204020204" pitchFamily="34" charset="-122"/>
                <a:ea typeface="微软雅黑" panose="020B0503020204020204" pitchFamily="34" charset="-122"/>
              </a:rPr>
              <a:t>线性相关系数又称为简单相关系数、</a:t>
            </a:r>
            <a:r>
              <a:rPr lang="en-US" altLang="zh-CN" sz="1500" dirty="0">
                <a:latin typeface="微软雅黑" panose="020B0503020204020204" pitchFamily="34" charset="-122"/>
                <a:ea typeface="微软雅黑" panose="020B0503020204020204" pitchFamily="34" charset="-122"/>
              </a:rPr>
              <a:t>Pearson</a:t>
            </a:r>
            <a:r>
              <a:rPr lang="zh-CN" altLang="en-US" sz="1500" dirty="0">
                <a:latin typeface="微软雅黑" panose="020B0503020204020204" pitchFamily="34" charset="-122"/>
                <a:ea typeface="微软雅黑" panose="020B0503020204020204" pitchFamily="34" charset="-122"/>
              </a:rPr>
              <a:t>相关系数或相关系数，有时也称为积差相关系数。</a:t>
            </a:r>
          </a:p>
        </p:txBody>
      </p:sp>
      <p:sp>
        <p:nvSpPr>
          <p:cNvPr id="49" name="Rectangle 32"/>
          <p:cNvSpPr>
            <a:spLocks noChangeArrowheads="1"/>
          </p:cNvSpPr>
          <p:nvPr/>
        </p:nvSpPr>
        <p:spPr bwMode="auto">
          <a:xfrm>
            <a:off x="0"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grpSp>
        <p:nvGrpSpPr>
          <p:cNvPr id="62" name="组合 61"/>
          <p:cNvGrpSpPr>
            <a:grpSpLocks/>
          </p:cNvGrpSpPr>
          <p:nvPr/>
        </p:nvGrpSpPr>
        <p:grpSpPr bwMode="auto">
          <a:xfrm>
            <a:off x="4447646" y="1920803"/>
            <a:ext cx="4427934" cy="391715"/>
            <a:chOff x="5982652" y="1305878"/>
            <a:chExt cx="3262773" cy="523220"/>
          </a:xfrm>
        </p:grpSpPr>
        <p:sp>
          <p:nvSpPr>
            <p:cNvPr id="63" name="矩形 62"/>
            <p:cNvSpPr/>
            <p:nvPr/>
          </p:nvSpPr>
          <p:spPr>
            <a:xfrm>
              <a:off x="5982652" y="1305878"/>
              <a:ext cx="3235645" cy="523220"/>
            </a:xfrm>
            <a:prstGeom prst="rect">
              <a:avLst/>
            </a:prstGeom>
            <a:solidFill>
              <a:srgbClr val="9B928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mc:AlternateContent xmlns:mc="http://schemas.openxmlformats.org/markup-compatibility/2006" xmlns:a14="http://schemas.microsoft.com/office/drawing/2010/main">
          <mc:Choice Requires="a14">
            <p:sp>
              <p:nvSpPr>
                <p:cNvPr id="64" name="文本框 63"/>
                <p:cNvSpPr txBox="1"/>
                <p:nvPr/>
              </p:nvSpPr>
              <p:spPr>
                <a:xfrm>
                  <a:off x="6009780" y="1326485"/>
                  <a:ext cx="3235645" cy="493323"/>
                </a:xfrm>
                <a:prstGeom prst="rect">
                  <a:avLst/>
                </a:prstGeom>
                <a:noFill/>
              </p:spPr>
              <p:txBody>
                <a:bodyPr>
                  <a:spAutoFit/>
                </a:bodyPr>
                <a:lstStyle/>
                <a:p>
                  <a:pPr fontAlgn="auto">
                    <a:spcBef>
                      <a:spcPts val="0"/>
                    </a:spcBef>
                    <a:spcAft>
                      <a:spcPts val="0"/>
                    </a:spcAft>
                    <a:defRPr/>
                  </a:pPr>
                  <a:r>
                    <a:rPr lang="en-US" altLang="zh-CN" i="1" dirty="0">
                      <a:solidFill>
                        <a:schemeClr val="bg1"/>
                      </a:solidFill>
                      <a:latin typeface="汉仪书宋一简" panose="02010609000101010101" pitchFamily="49" charset="-122"/>
                      <a:ea typeface="汉仪书宋一简" panose="02010609000101010101" pitchFamily="49" charset="-122"/>
                      <a:cs typeface="Arial" panose="020B0604020202020204" pitchFamily="34" charset="0"/>
                    </a:rPr>
                    <a:t>r</a:t>
                  </a:r>
                  <a:r>
                    <a:rPr lang="zh-CN" altLang="en-US" i="1" dirty="0">
                      <a:solidFill>
                        <a:schemeClr val="bg1"/>
                      </a:solidFill>
                      <a:latin typeface="汉仪书宋一简" panose="02010609000101010101" pitchFamily="49" charset="-122"/>
                      <a:ea typeface="汉仪书宋一简" panose="02010609000101010101" pitchFamily="49" charset="-122"/>
                      <a:cs typeface="Arial" panose="020B0604020202020204" pitchFamily="34" charset="0"/>
                    </a:rPr>
                    <a:t>：</a:t>
                  </a:r>
                  <a:r>
                    <a:rPr lang="zh-CN" altLang="en-US"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样本相关系数；</a:t>
                  </a:r>
                  <a14:m>
                    <m:oMath xmlns:m="http://schemas.openxmlformats.org/officeDocument/2006/math">
                      <m:r>
                        <a:rPr lang="zh-CN" altLang="en-US" sz="1500" i="1">
                          <a:solidFill>
                            <a:schemeClr val="bg1"/>
                          </a:solidFill>
                          <a:latin typeface="Cambria Math" panose="02040503050406030204" pitchFamily="18" charset="0"/>
                          <a:ea typeface="微软雅黑" panose="020B0503020204020204" pitchFamily="34" charset="-122"/>
                          <a:cs typeface="Arial" panose="020B0604020202020204" pitchFamily="34" charset="0"/>
                        </a:rPr>
                        <m:t>𝜌</m:t>
                      </m:r>
                    </m:oMath>
                  </a14:m>
                  <a:r>
                    <a:rPr lang="zh-CN" altLang="en-US" sz="1500" i="1" dirty="0">
                      <a:solidFill>
                        <a:schemeClr val="bg1"/>
                      </a:solidFill>
                      <a:latin typeface="汉仪书宋一简" panose="02010609000101010101" pitchFamily="49" charset="-122"/>
                      <a:ea typeface="汉仪书宋一简" panose="02010609000101010101" pitchFamily="49" charset="-122"/>
                      <a:cs typeface="Arial" panose="020B0604020202020204" pitchFamily="34" charset="0"/>
                    </a:rPr>
                    <a:t>：</a:t>
                  </a:r>
                  <a:r>
                    <a:rPr lang="zh-CN" altLang="en-US"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总体相关系数</a:t>
                  </a:r>
                  <a:endParaRPr lang="zh-CN" altLang="en-US" sz="1500" i="1" dirty="0">
                    <a:solidFill>
                      <a:schemeClr val="bg1"/>
                    </a:solidFill>
                    <a:latin typeface="汉仪书宋一简" panose="02010609000101010101" pitchFamily="49" charset="-122"/>
                    <a:ea typeface="汉仪书宋一简" panose="02010609000101010101" pitchFamily="49" charset="-122"/>
                    <a:cs typeface="Arial" panose="020B0604020202020204" pitchFamily="34" charset="0"/>
                  </a:endParaRPr>
                </a:p>
              </p:txBody>
            </p:sp>
          </mc:Choice>
          <mc:Fallback xmlns="">
            <p:sp>
              <p:nvSpPr>
                <p:cNvPr id="64" name="文本框 63"/>
                <p:cNvSpPr txBox="1">
                  <a:spLocks noRot="1" noChangeAspect="1" noMove="1" noResize="1" noEditPoints="1" noAdjustHandles="1" noChangeArrowheads="1" noChangeShapeType="1" noTextEdit="1"/>
                </p:cNvSpPr>
                <p:nvPr/>
              </p:nvSpPr>
              <p:spPr>
                <a:xfrm>
                  <a:off x="6009780" y="1326485"/>
                  <a:ext cx="3235645" cy="493323"/>
                </a:xfrm>
                <a:prstGeom prst="rect">
                  <a:avLst/>
                </a:prstGeom>
                <a:blipFill>
                  <a:blip r:embed="rId3"/>
                  <a:stretch>
                    <a:fillRect l="-1250" t="-10000" b="-26667"/>
                  </a:stretch>
                </a:blipFill>
              </p:spPr>
              <p:txBody>
                <a:bodyPr/>
                <a:lstStyle/>
                <a:p>
                  <a:r>
                    <a:rPr lang="zh-CN" altLang="en-US">
                      <a:noFill/>
                    </a:rPr>
                    <a:t> </a:t>
                  </a:r>
                </a:p>
              </p:txBody>
            </p:sp>
          </mc:Fallback>
        </mc:AlternateContent>
      </p:grpSp>
      <p:sp>
        <p:nvSpPr>
          <p:cNvPr id="65" name="文本框 64"/>
          <p:cNvSpPr txBox="1"/>
          <p:nvPr/>
        </p:nvSpPr>
        <p:spPr>
          <a:xfrm>
            <a:off x="4475155" y="2992021"/>
            <a:ext cx="4427934" cy="2432717"/>
          </a:xfrm>
          <a:prstGeom prst="rect">
            <a:avLst/>
          </a:prstGeom>
          <a:noFill/>
        </p:spPr>
        <p:txBody>
          <a:bodyPr>
            <a:spAutoFit/>
          </a:bodyPr>
          <a:lstStyle/>
          <a:p>
            <a:pPr marL="214313" indent="-214313" fontAlgn="auto">
              <a:lnSpc>
                <a:spcPts val="1500"/>
              </a:lnSpc>
              <a:spcBef>
                <a:spcPts val="0"/>
              </a:spcBef>
              <a:spcAft>
                <a:spcPts val="0"/>
              </a:spcAft>
              <a:buFont typeface="Wingdings" panose="05000000000000000000" pitchFamily="2" charset="2"/>
              <a:buChar char="Ø"/>
              <a:defRPr/>
            </a:pPr>
            <a:r>
              <a:rPr lang="zh-CN" altLang="en-US"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总体相关系数定义公式：</a:t>
            </a:r>
            <a:endParaRPr lang="en-US" altLang="zh-CN"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endParaRPr>
          </a:p>
          <a:p>
            <a:pPr fontAlgn="auto">
              <a:lnSpc>
                <a:spcPts val="1500"/>
              </a:lnSpc>
              <a:spcBef>
                <a:spcPts val="0"/>
              </a:spcBef>
              <a:spcAft>
                <a:spcPts val="0"/>
              </a:spcAft>
              <a:defRPr/>
            </a:pPr>
            <a:r>
              <a:rPr lang="en-US" altLang="zh-CN" dirty="0">
                <a:solidFill>
                  <a:schemeClr val="bg2">
                    <a:lumMod val="25000"/>
                  </a:schemeClr>
                </a:solidFill>
                <a:cs typeface="Arial" panose="020B0604020202020204" pitchFamily="34" charset="0"/>
              </a:rPr>
              <a:t>      </a:t>
            </a:r>
          </a:p>
          <a:p>
            <a:pPr fontAlgn="auto">
              <a:lnSpc>
                <a:spcPts val="1500"/>
              </a:lnSpc>
              <a:spcBef>
                <a:spcPts val="0"/>
              </a:spcBef>
              <a:spcAft>
                <a:spcPts val="0"/>
              </a:spcAft>
              <a:defRPr/>
            </a:pPr>
            <a:endParaRPr lang="en-US" altLang="zh-CN" dirty="0">
              <a:solidFill>
                <a:schemeClr val="bg2">
                  <a:lumMod val="25000"/>
                </a:schemeClr>
              </a:solidFill>
              <a:latin typeface="+mn-lt"/>
              <a:ea typeface="+mn-ea"/>
              <a:cs typeface="Arial" panose="020B0604020202020204" pitchFamily="34" charset="0"/>
            </a:endParaRPr>
          </a:p>
          <a:p>
            <a:pPr fontAlgn="auto">
              <a:lnSpc>
                <a:spcPts val="1500"/>
              </a:lnSpc>
              <a:spcBef>
                <a:spcPts val="0"/>
              </a:spcBef>
              <a:spcAft>
                <a:spcPts val="0"/>
              </a:spcAft>
              <a:defRPr/>
            </a:pPr>
            <a:endParaRPr lang="en-US" altLang="zh-CN" dirty="0">
              <a:solidFill>
                <a:schemeClr val="bg2">
                  <a:lumMod val="25000"/>
                </a:schemeClr>
              </a:solidFill>
              <a:cs typeface="Arial" panose="020B0604020202020204" pitchFamily="34" charset="0"/>
            </a:endParaRPr>
          </a:p>
          <a:p>
            <a:pPr fontAlgn="auto">
              <a:lnSpc>
                <a:spcPts val="1500"/>
              </a:lnSpc>
              <a:spcBef>
                <a:spcPts val="0"/>
              </a:spcBef>
              <a:spcAft>
                <a:spcPts val="0"/>
              </a:spcAft>
              <a:defRPr/>
            </a:pPr>
            <a:r>
              <a:rPr lang="en-US" altLang="zh-CN" dirty="0">
                <a:solidFill>
                  <a:schemeClr val="bg2">
                    <a:lumMod val="25000"/>
                  </a:schemeClr>
                </a:solidFill>
                <a:cs typeface="Arial" panose="020B0604020202020204" pitchFamily="34" charset="0"/>
              </a:rPr>
              <a:t> </a:t>
            </a:r>
          </a:p>
          <a:p>
            <a:pPr fontAlgn="auto">
              <a:lnSpc>
                <a:spcPts val="1500"/>
              </a:lnSpc>
              <a:spcBef>
                <a:spcPts val="0"/>
              </a:spcBef>
              <a:spcAft>
                <a:spcPts val="0"/>
              </a:spcAft>
              <a:defRPr/>
            </a:pPr>
            <a:endParaRPr lang="en-US" altLang="zh-CN" dirty="0">
              <a:solidFill>
                <a:schemeClr val="bg2">
                  <a:lumMod val="25000"/>
                </a:schemeClr>
              </a:solidFill>
              <a:cs typeface="Arial" panose="020B0604020202020204" pitchFamily="34" charset="0"/>
            </a:endParaRPr>
          </a:p>
          <a:p>
            <a:pPr fontAlgn="auto">
              <a:lnSpc>
                <a:spcPts val="1500"/>
              </a:lnSpc>
              <a:spcBef>
                <a:spcPts val="0"/>
              </a:spcBef>
              <a:spcAft>
                <a:spcPts val="0"/>
              </a:spcAft>
              <a:defRPr/>
            </a:pPr>
            <a:endParaRPr lang="en-US" altLang="zh-CN" sz="750" dirty="0">
              <a:solidFill>
                <a:schemeClr val="bg2">
                  <a:lumMod val="25000"/>
                </a:schemeClr>
              </a:solidFill>
              <a:latin typeface="+mn-lt"/>
              <a:ea typeface="+mn-ea"/>
              <a:cs typeface="Arial" panose="020B0604020202020204" pitchFamily="34" charset="0"/>
            </a:endParaRPr>
          </a:p>
          <a:p>
            <a:pPr marL="214313" indent="-214313">
              <a:lnSpc>
                <a:spcPts val="1500"/>
              </a:lnSpc>
              <a:buClr>
                <a:srgbClr val="044875"/>
              </a:buClr>
              <a:buFont typeface="Wingdings" panose="05000000000000000000" pitchFamily="2" charset="2"/>
              <a:buChar char="Ø"/>
              <a:defRPr/>
            </a:pPr>
            <a:r>
              <a:rPr lang="zh-CN" altLang="zh-CN" dirty="0">
                <a:latin typeface="微软雅黑" panose="020B0503020204020204" pitchFamily="34" charset="-122"/>
                <a:ea typeface="微软雅黑" panose="020B0503020204020204" pitchFamily="34" charset="-122"/>
              </a:rPr>
              <a:t>样本相关系数的定义公式</a:t>
            </a:r>
            <a:r>
              <a:rPr lang="en-US" altLang="zh-CN" dirty="0">
                <a:latin typeface="微软雅黑" panose="020B0503020204020204" pitchFamily="34" charset="-122"/>
                <a:ea typeface="微软雅黑" panose="020B0503020204020204" pitchFamily="34" charset="-122"/>
              </a:rPr>
              <a:t>:</a:t>
            </a:r>
          </a:p>
          <a:p>
            <a:pPr>
              <a:lnSpc>
                <a:spcPts val="1500"/>
              </a:lnSpc>
              <a:buClr>
                <a:srgbClr val="044875"/>
              </a:buClr>
              <a:defRPr/>
            </a:pPr>
            <a:endParaRPr lang="en-US" altLang="zh-CN"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endParaRPr>
          </a:p>
          <a:p>
            <a:pPr>
              <a:lnSpc>
                <a:spcPts val="1500"/>
              </a:lnSpc>
              <a:buClr>
                <a:srgbClr val="044875"/>
              </a:buClr>
              <a:defRPr/>
            </a:pPr>
            <a:endParaRPr lang="en-US" altLang="zh-CN"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endParaRPr>
          </a:p>
          <a:p>
            <a:pPr>
              <a:lnSpc>
                <a:spcPts val="1500"/>
              </a:lnSpc>
              <a:buClr>
                <a:srgbClr val="044875"/>
              </a:buClr>
              <a:defRPr/>
            </a:pPr>
            <a:r>
              <a:rPr lang="en-US" altLang="zh-CN"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rPr>
              <a:t> </a:t>
            </a:r>
          </a:p>
          <a:p>
            <a:pPr fontAlgn="auto">
              <a:lnSpc>
                <a:spcPts val="1650"/>
              </a:lnSpc>
              <a:spcBef>
                <a:spcPts val="0"/>
              </a:spcBef>
              <a:spcAft>
                <a:spcPts val="0"/>
              </a:spcAft>
              <a:defRPr/>
            </a:pPr>
            <a:endParaRPr lang="en-US" altLang="zh-CN" dirty="0">
              <a:solidFill>
                <a:schemeClr val="bg1"/>
              </a:solidFill>
              <a:latin typeface="+mn-lt"/>
              <a:ea typeface="+mn-ea"/>
              <a:cs typeface="Arial" panose="020B0604020202020204" pitchFamily="34" charset="0"/>
            </a:endParaRPr>
          </a:p>
        </p:txBody>
      </p:sp>
      <p:sp>
        <p:nvSpPr>
          <p:cNvPr id="66" name="Rectangle 44"/>
          <p:cNvSpPr>
            <a:spLocks noChangeArrowheads="1"/>
          </p:cNvSpPr>
          <p:nvPr/>
        </p:nvSpPr>
        <p:spPr bwMode="auto">
          <a:xfrm>
            <a:off x="0"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graphicFrame>
        <p:nvGraphicFramePr>
          <p:cNvPr id="67" name="对象 66"/>
          <p:cNvGraphicFramePr>
            <a:graphicFrameLocks noChangeAspect="1"/>
          </p:cNvGraphicFramePr>
          <p:nvPr/>
        </p:nvGraphicFramePr>
        <p:xfrm>
          <a:off x="5004188" y="3308555"/>
          <a:ext cx="2784423" cy="505460"/>
        </p:xfrm>
        <a:graphic>
          <a:graphicData uri="http://schemas.openxmlformats.org/presentationml/2006/ole">
            <mc:AlternateContent xmlns:mc="http://schemas.openxmlformats.org/markup-compatibility/2006">
              <mc:Choice xmlns:v="urn:schemas-microsoft-com:vml" Requires="v">
                <p:oleObj spid="_x0000_s90316" r:id="rId4" imgW="2032000" imgH="393700" progId="Equation.DSMT4">
                  <p:embed/>
                </p:oleObj>
              </mc:Choice>
              <mc:Fallback>
                <p:oleObj r:id="rId4" imgW="2032000" imgH="393700" progId="Equation.DSMT4">
                  <p:embed/>
                  <p:pic>
                    <p:nvPicPr>
                      <p:cNvPr id="67" name="对象 6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4188" y="3308555"/>
                        <a:ext cx="2784423" cy="505460"/>
                      </a:xfrm>
                      <a:prstGeom prst="rect">
                        <a:avLst/>
                      </a:prstGeom>
                      <a:noFill/>
                    </p:spPr>
                  </p:pic>
                </p:oleObj>
              </mc:Fallback>
            </mc:AlternateContent>
          </a:graphicData>
        </a:graphic>
      </p:graphicFrame>
      <p:sp>
        <p:nvSpPr>
          <p:cNvPr id="68" name="Rectangle 46"/>
          <p:cNvSpPr>
            <a:spLocks noChangeArrowheads="1"/>
          </p:cNvSpPr>
          <p:nvPr/>
        </p:nvSpPr>
        <p:spPr bwMode="auto">
          <a:xfrm>
            <a:off x="0"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graphicFrame>
        <p:nvGraphicFramePr>
          <p:cNvPr id="69" name="对象 68"/>
          <p:cNvGraphicFramePr>
            <a:graphicFrameLocks noChangeAspect="1"/>
          </p:cNvGraphicFramePr>
          <p:nvPr/>
        </p:nvGraphicFramePr>
        <p:xfrm>
          <a:off x="5001507" y="4664501"/>
          <a:ext cx="2528072" cy="690381"/>
        </p:xfrm>
        <a:graphic>
          <a:graphicData uri="http://schemas.openxmlformats.org/presentationml/2006/ole">
            <mc:AlternateContent xmlns:mc="http://schemas.openxmlformats.org/markup-compatibility/2006">
              <mc:Choice xmlns:v="urn:schemas-microsoft-com:vml" Requires="v">
                <p:oleObj spid="_x0000_s90317" r:id="rId6" imgW="2006600" imgH="508000" progId="Equation.DSMT4">
                  <p:embed/>
                </p:oleObj>
              </mc:Choice>
              <mc:Fallback>
                <p:oleObj r:id="rId6" imgW="2006600" imgH="508000" progId="Equation.DSMT4">
                  <p:embed/>
                  <p:pic>
                    <p:nvPicPr>
                      <p:cNvPr id="69" name="对象 6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01507" y="4664501"/>
                        <a:ext cx="2528072" cy="690381"/>
                      </a:xfrm>
                      <a:prstGeom prst="rect">
                        <a:avLst/>
                      </a:prstGeom>
                      <a:noFill/>
                    </p:spPr>
                  </p:pic>
                </p:oleObj>
              </mc:Fallback>
            </mc:AlternateContent>
          </a:graphicData>
        </a:graphic>
      </p:graphicFrame>
      <p:cxnSp>
        <p:nvCxnSpPr>
          <p:cNvPr id="70" name="直接连接符 69"/>
          <p:cNvCxnSpPr/>
          <p:nvPr/>
        </p:nvCxnSpPr>
        <p:spPr>
          <a:xfrm>
            <a:off x="4561114" y="4092317"/>
            <a:ext cx="4314466" cy="0"/>
          </a:xfrm>
          <a:prstGeom prst="line">
            <a:avLst/>
          </a:prstGeom>
          <a:ln w="12700">
            <a:solidFill>
              <a:srgbClr val="044875"/>
            </a:solidFill>
            <a:prstDash val="lgDashDotDot"/>
            <a:headEnd type="stealth"/>
            <a:tailEnd type="stealth"/>
          </a:ln>
        </p:spPr>
        <p:style>
          <a:lnRef idx="1">
            <a:schemeClr val="accent1"/>
          </a:lnRef>
          <a:fillRef idx="0">
            <a:schemeClr val="accent1"/>
          </a:fillRef>
          <a:effectRef idx="0">
            <a:schemeClr val="accent1"/>
          </a:effectRef>
          <a:fontRef idx="minor">
            <a:schemeClr val="tx1"/>
          </a:fontRef>
        </p:style>
      </p:cxnSp>
      <p:sp>
        <p:nvSpPr>
          <p:cNvPr id="86" name="Rectangle 61"/>
          <p:cNvSpPr>
            <a:spLocks noChangeArrowheads="1"/>
          </p:cNvSpPr>
          <p:nvPr/>
        </p:nvSpPr>
        <p:spPr bwMode="auto">
          <a:xfrm>
            <a:off x="103817" y="-286104"/>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sp>
        <p:nvSpPr>
          <p:cNvPr id="88" name="Rectangle 66"/>
          <p:cNvSpPr>
            <a:spLocks noChangeArrowheads="1"/>
          </p:cNvSpPr>
          <p:nvPr/>
        </p:nvSpPr>
        <p:spPr bwMode="auto">
          <a:xfrm>
            <a:off x="0"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sp>
        <p:nvSpPr>
          <p:cNvPr id="90" name="Rectangle 68"/>
          <p:cNvSpPr>
            <a:spLocks noChangeArrowheads="1"/>
          </p:cNvSpPr>
          <p:nvPr/>
        </p:nvSpPr>
        <p:spPr bwMode="auto">
          <a:xfrm>
            <a:off x="0"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grpSp>
        <p:nvGrpSpPr>
          <p:cNvPr id="93" name="组合 92"/>
          <p:cNvGrpSpPr/>
          <p:nvPr/>
        </p:nvGrpSpPr>
        <p:grpSpPr>
          <a:xfrm>
            <a:off x="290276" y="3486920"/>
            <a:ext cx="3846591" cy="1015663"/>
            <a:chOff x="410026" y="3115524"/>
            <a:chExt cx="5128788" cy="1354216"/>
          </a:xfrm>
          <a:solidFill>
            <a:srgbClr val="CECAC7"/>
          </a:solidFill>
        </p:grpSpPr>
        <p:sp>
          <p:nvSpPr>
            <p:cNvPr id="72" name="文本框 71"/>
            <p:cNvSpPr txBox="1"/>
            <p:nvPr/>
          </p:nvSpPr>
          <p:spPr>
            <a:xfrm>
              <a:off x="410026" y="3115524"/>
              <a:ext cx="5128788" cy="1354216"/>
            </a:xfrm>
            <a:prstGeom prst="rect">
              <a:avLst/>
            </a:prstGeom>
            <a:grpFill/>
          </p:spPr>
          <p:txBody>
            <a:bodyPr wrap="square" rtlCol="0">
              <a:spAutoFit/>
            </a:bodyPr>
            <a:lstStyle/>
            <a:p>
              <a:r>
                <a:rPr lang="zh-CN" altLang="zh-CN" sz="1500" dirty="0">
                  <a:latin typeface="微软雅黑" panose="020B0503020204020204" pitchFamily="34" charset="-122"/>
                  <a:ea typeface="微软雅黑" panose="020B0503020204020204" pitchFamily="34" charset="-122"/>
                </a:rPr>
                <a:t>其中</a:t>
              </a:r>
              <a:r>
                <a:rPr lang="en-US" altLang="zh-CN" sz="1500" dirty="0">
                  <a:latin typeface="微软雅黑" panose="020B0503020204020204" pitchFamily="34" charset="-122"/>
                  <a:ea typeface="微软雅黑" panose="020B0503020204020204" pitchFamily="34" charset="-122"/>
                </a:rPr>
                <a:t>            </a:t>
              </a:r>
              <a:r>
                <a:rPr lang="zh-CN" altLang="zh-CN" sz="1500" dirty="0">
                  <a:latin typeface="微软雅黑" panose="020B0503020204020204" pitchFamily="34" charset="-122"/>
                  <a:ea typeface="微软雅黑" panose="020B0503020204020204" pitchFamily="34" charset="-122"/>
                </a:rPr>
                <a:t>是随机变量</a:t>
              </a:r>
              <a:r>
                <a:rPr lang="en-US" altLang="zh-CN" sz="1500" dirty="0">
                  <a:latin typeface="微软雅黑" panose="020B0503020204020204" pitchFamily="34" charset="-122"/>
                  <a:ea typeface="微软雅黑" panose="020B0503020204020204" pitchFamily="34" charset="-122"/>
                </a:rPr>
                <a:t>X</a:t>
              </a:r>
              <a:r>
                <a:rPr lang="zh-CN" altLang="zh-CN" sz="1500" dirty="0">
                  <a:latin typeface="微软雅黑" panose="020B0503020204020204" pitchFamily="34" charset="-122"/>
                  <a:ea typeface="微软雅黑" panose="020B0503020204020204" pitchFamily="34" charset="-122"/>
                </a:rPr>
                <a:t>、</a:t>
              </a:r>
              <a:r>
                <a:rPr lang="en-US" altLang="zh-CN" sz="1500" dirty="0">
                  <a:latin typeface="微软雅黑" panose="020B0503020204020204" pitchFamily="34" charset="-122"/>
                  <a:ea typeface="微软雅黑" panose="020B0503020204020204" pitchFamily="34" charset="-122"/>
                </a:rPr>
                <a:t>Y</a:t>
              </a:r>
              <a:r>
                <a:rPr lang="zh-CN" altLang="zh-CN" sz="1500" dirty="0">
                  <a:latin typeface="微软雅黑" panose="020B0503020204020204" pitchFamily="34" charset="-122"/>
                  <a:ea typeface="微软雅黑" panose="020B0503020204020204" pitchFamily="34" charset="-122"/>
                </a:rPr>
                <a:t>的协方差</a:t>
              </a:r>
              <a:r>
                <a:rPr lang="zh-CN" altLang="zh-CN" sz="1500" dirty="0"/>
                <a:t>，</a:t>
              </a:r>
              <a:r>
                <a:rPr lang="en-US" altLang="zh-CN" sz="1500" dirty="0"/>
                <a:t>          </a:t>
              </a:r>
              <a:r>
                <a:rPr lang="zh-CN" altLang="en-US" sz="1500" dirty="0">
                  <a:latin typeface="微软雅黑" panose="020B0503020204020204" pitchFamily="34" charset="-122"/>
                  <a:ea typeface="微软雅黑" panose="020B0503020204020204" pitchFamily="34" charset="-122"/>
                </a:rPr>
                <a:t>和</a:t>
              </a:r>
              <a:r>
                <a:rPr lang="zh-CN" altLang="en-US" sz="1500" dirty="0"/>
                <a:t>          </a:t>
              </a:r>
              <a:r>
                <a:rPr lang="zh-CN" altLang="zh-CN" sz="1500" dirty="0">
                  <a:latin typeface="微软雅黑" panose="020B0503020204020204" pitchFamily="34" charset="-122"/>
                  <a:ea typeface="微软雅黑" panose="020B0503020204020204" pitchFamily="34" charset="-122"/>
                </a:rPr>
                <a:t>分别代表</a:t>
              </a:r>
              <a:r>
                <a:rPr lang="en-US" altLang="zh-CN" sz="1500" dirty="0">
                  <a:latin typeface="微软雅黑" panose="020B0503020204020204" pitchFamily="34" charset="-122"/>
                  <a:ea typeface="微软雅黑" panose="020B0503020204020204" pitchFamily="34" charset="-122"/>
                </a:rPr>
                <a:t>X</a:t>
              </a:r>
              <a:r>
                <a:rPr lang="zh-CN" altLang="zh-CN" sz="1500" dirty="0">
                  <a:latin typeface="微软雅黑" panose="020B0503020204020204" pitchFamily="34" charset="-122"/>
                  <a:ea typeface="微软雅黑" panose="020B0503020204020204" pitchFamily="34" charset="-122"/>
                </a:rPr>
                <a:t>和</a:t>
              </a:r>
              <a:r>
                <a:rPr lang="en-US" altLang="zh-CN" sz="1500" dirty="0">
                  <a:latin typeface="微软雅黑" panose="020B0503020204020204" pitchFamily="34" charset="-122"/>
                  <a:ea typeface="微软雅黑" panose="020B0503020204020204" pitchFamily="34" charset="-122"/>
                </a:rPr>
                <a:t>Y</a:t>
              </a:r>
              <a:r>
                <a:rPr lang="zh-CN" altLang="zh-CN" sz="1500" dirty="0">
                  <a:latin typeface="微软雅黑" panose="020B0503020204020204" pitchFamily="34" charset="-122"/>
                  <a:ea typeface="微软雅黑" panose="020B0503020204020204" pitchFamily="34" charset="-122"/>
                </a:rPr>
                <a:t>的方差。总体相关系数是反映两变量之间线性相关程度的一种特征值</a:t>
              </a:r>
              <a:r>
                <a:rPr lang="zh-CN" altLang="en-US" sz="1500" dirty="0">
                  <a:latin typeface="微软雅黑" panose="020B0503020204020204" pitchFamily="34" charset="-122"/>
                  <a:ea typeface="微软雅黑" panose="020B0503020204020204" pitchFamily="34" charset="-122"/>
                </a:rPr>
                <a:t>。</a:t>
              </a:r>
              <a:endParaRPr lang="en-US" altLang="zh-CN" sz="1500" dirty="0">
                <a:latin typeface="微软雅黑" panose="020B0503020204020204" pitchFamily="34" charset="-122"/>
                <a:ea typeface="微软雅黑" panose="020B0503020204020204" pitchFamily="34" charset="-122"/>
              </a:endParaRPr>
            </a:p>
          </p:txBody>
        </p:sp>
        <p:graphicFrame>
          <p:nvGraphicFramePr>
            <p:cNvPr id="87" name="对象 86"/>
            <p:cNvGraphicFramePr>
              <a:graphicFrameLocks noChangeAspect="1"/>
            </p:cNvGraphicFramePr>
            <p:nvPr/>
          </p:nvGraphicFramePr>
          <p:xfrm>
            <a:off x="1012541" y="3148269"/>
            <a:ext cx="935966" cy="311088"/>
          </p:xfrm>
          <a:graphic>
            <a:graphicData uri="http://schemas.openxmlformats.org/presentationml/2006/ole">
              <mc:AlternateContent xmlns:mc="http://schemas.openxmlformats.org/markup-compatibility/2006">
                <mc:Choice xmlns:v="urn:schemas-microsoft-com:vml" Requires="v">
                  <p:oleObj spid="_x0000_s90318" r:id="rId8" imgW="571252" imgH="190417" progId="Equation.DSMT4">
                    <p:embed/>
                  </p:oleObj>
                </mc:Choice>
                <mc:Fallback>
                  <p:oleObj r:id="rId8" imgW="571252" imgH="190417" progId="Equation.DSMT4">
                    <p:embed/>
                    <p:pic>
                      <p:nvPicPr>
                        <p:cNvPr id="87" name="对象 8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12541" y="3148269"/>
                          <a:ext cx="935966" cy="311088"/>
                        </a:xfrm>
                        <a:prstGeom prst="rect">
                          <a:avLst/>
                        </a:prstGeom>
                        <a:noFill/>
                      </p:spPr>
                    </p:pic>
                  </p:oleObj>
                </mc:Fallback>
              </mc:AlternateContent>
            </a:graphicData>
          </a:graphic>
        </p:graphicFrame>
        <p:graphicFrame>
          <p:nvGraphicFramePr>
            <p:cNvPr id="89" name="对象 88"/>
            <p:cNvGraphicFramePr>
              <a:graphicFrameLocks noChangeAspect="1"/>
            </p:cNvGraphicFramePr>
            <p:nvPr/>
          </p:nvGraphicFramePr>
          <p:xfrm>
            <a:off x="4773451" y="3162136"/>
            <a:ext cx="765363" cy="305615"/>
          </p:xfrm>
          <a:graphic>
            <a:graphicData uri="http://schemas.openxmlformats.org/presentationml/2006/ole">
              <mc:AlternateContent xmlns:mc="http://schemas.openxmlformats.org/markup-compatibility/2006">
                <mc:Choice xmlns:v="urn:schemas-microsoft-com:vml" Requires="v">
                  <p:oleObj spid="_x0000_s90319" r:id="rId10" imgW="431613" imgH="190417" progId="Equation.DSMT4">
                    <p:embed/>
                  </p:oleObj>
                </mc:Choice>
                <mc:Fallback>
                  <p:oleObj r:id="rId10" imgW="431613" imgH="190417" progId="Equation.DSMT4">
                    <p:embed/>
                    <p:pic>
                      <p:nvPicPr>
                        <p:cNvPr id="89" name="对象 8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73451" y="3162136"/>
                          <a:ext cx="765363" cy="305615"/>
                        </a:xfrm>
                        <a:prstGeom prst="rect">
                          <a:avLst/>
                        </a:prstGeom>
                        <a:noFill/>
                      </p:spPr>
                    </p:pic>
                  </p:oleObj>
                </mc:Fallback>
              </mc:AlternateContent>
            </a:graphicData>
          </a:graphic>
        </p:graphicFrame>
        <p:graphicFrame>
          <p:nvGraphicFramePr>
            <p:cNvPr id="91" name="对象 90"/>
            <p:cNvGraphicFramePr>
              <a:graphicFrameLocks noChangeAspect="1"/>
            </p:cNvGraphicFramePr>
            <p:nvPr/>
          </p:nvGraphicFramePr>
          <p:xfrm>
            <a:off x="754935" y="3492102"/>
            <a:ext cx="570280" cy="285141"/>
          </p:xfrm>
          <a:graphic>
            <a:graphicData uri="http://schemas.openxmlformats.org/presentationml/2006/ole">
              <mc:AlternateContent xmlns:mc="http://schemas.openxmlformats.org/markup-compatibility/2006">
                <mc:Choice xmlns:v="urn:schemas-microsoft-com:vml" Requires="v">
                  <p:oleObj spid="_x0000_s90320" r:id="rId12" imgW="406224" imgH="190417" progId="Equation.DSMT4">
                    <p:embed/>
                  </p:oleObj>
                </mc:Choice>
                <mc:Fallback>
                  <p:oleObj r:id="rId12" imgW="406224" imgH="190417" progId="Equation.DSMT4">
                    <p:embed/>
                    <p:pic>
                      <p:nvPicPr>
                        <p:cNvPr id="91" name="对象 9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54935" y="3492102"/>
                          <a:ext cx="570280" cy="285141"/>
                        </a:xfrm>
                        <a:prstGeom prst="rect">
                          <a:avLst/>
                        </a:prstGeom>
                        <a:noFill/>
                      </p:spPr>
                    </p:pic>
                  </p:oleObj>
                </mc:Fallback>
              </mc:AlternateContent>
            </a:graphicData>
          </a:graphic>
        </p:graphicFrame>
      </p:grpSp>
      <p:sp>
        <p:nvSpPr>
          <p:cNvPr id="92" name="文本框 91"/>
          <p:cNvSpPr txBox="1"/>
          <p:nvPr/>
        </p:nvSpPr>
        <p:spPr>
          <a:xfrm>
            <a:off x="290276" y="4598948"/>
            <a:ext cx="3846591" cy="1015663"/>
          </a:xfrm>
          <a:prstGeom prst="rect">
            <a:avLst/>
          </a:prstGeom>
          <a:solidFill>
            <a:srgbClr val="CECAC7"/>
          </a:solidFill>
        </p:spPr>
        <p:txBody>
          <a:bodyPr wrap="square" rtlCol="0">
            <a:spAutoFit/>
          </a:bodyPr>
          <a:lstStyle/>
          <a:p>
            <a:r>
              <a:rPr lang="zh-CN" altLang="en-US" sz="1500" dirty="0">
                <a:latin typeface="微软雅黑" panose="020B0503020204020204" pitchFamily="34" charset="-122"/>
                <a:ea typeface="微软雅黑" panose="020B0503020204020204" pitchFamily="34" charset="-122"/>
              </a:rPr>
              <a:t>样本相关系数</a:t>
            </a:r>
            <a:r>
              <a:rPr lang="zh-CN" altLang="zh-CN" sz="1500" dirty="0">
                <a:latin typeface="微软雅黑" panose="020B0503020204020204" pitchFamily="34" charset="-122"/>
                <a:ea typeface="微软雅黑" panose="020B0503020204020204" pitchFamily="34" charset="-122"/>
              </a:rPr>
              <a:t>是根据样本观测值计算的，抽取的样本不同，其具体的数值也会有所差异。可以证明，样本相关系数是总体相关系数的一致估计量。</a:t>
            </a:r>
          </a:p>
        </p:txBody>
      </p:sp>
      <p:sp>
        <p:nvSpPr>
          <p:cNvPr id="27" name="标题 1">
            <a:extLst>
              <a:ext uri="{FF2B5EF4-FFF2-40B4-BE49-F238E27FC236}">
                <a16:creationId xmlns:a16="http://schemas.microsoft.com/office/drawing/2014/main" id="{4359D486-3DB7-4C2E-8FB4-4CF301466E03}"/>
              </a:ext>
            </a:extLst>
          </p:cNvPr>
          <p:cNvSpPr txBox="1">
            <a:spLocks/>
          </p:cNvSpPr>
          <p:nvPr/>
        </p:nvSpPr>
        <p:spPr>
          <a:xfrm>
            <a:off x="321273" y="319216"/>
            <a:ext cx="3847468" cy="68261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800" dirty="0">
                <a:latin typeface="黑体" panose="02010609060101010101" pitchFamily="49" charset="-122"/>
                <a:ea typeface="黑体" panose="02010609060101010101" pitchFamily="49" charset="-122"/>
              </a:rPr>
              <a:t>3.4.1</a:t>
            </a:r>
            <a:r>
              <a:rPr lang="zh-CN" altLang="en-US" sz="2800" dirty="0">
                <a:latin typeface="黑体" panose="02010609060101010101" pitchFamily="49" charset="-122"/>
                <a:ea typeface="黑体" panose="02010609060101010101" pitchFamily="49" charset="-122"/>
              </a:rPr>
              <a:t>相关分析原理</a:t>
            </a:r>
          </a:p>
        </p:txBody>
      </p:sp>
    </p:spTree>
    <p:extLst>
      <p:ext uri="{BB962C8B-B14F-4D97-AF65-F5344CB8AC3E}">
        <p14:creationId xmlns:p14="http://schemas.microsoft.com/office/powerpoint/2010/main" val="5845897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248185"/>
            <a:ext cx="457200" cy="178594"/>
          </a:xfrm>
          <a:prstGeom prst="rect">
            <a:avLst/>
          </a:prstGeom>
          <a:solidFill>
            <a:srgbClr val="685D5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2634853" y="1258533"/>
            <a:ext cx="6509147" cy="178594"/>
          </a:xfrm>
          <a:prstGeom prst="rect">
            <a:avLst/>
          </a:prstGeom>
          <a:solidFill>
            <a:srgbClr val="685D5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nvGrpSpPr>
          <p:cNvPr id="8" name="组合 7"/>
          <p:cNvGrpSpPr>
            <a:grpSpLocks/>
          </p:cNvGrpSpPr>
          <p:nvPr/>
        </p:nvGrpSpPr>
        <p:grpSpPr bwMode="auto">
          <a:xfrm>
            <a:off x="178594" y="1800212"/>
            <a:ext cx="4285061" cy="1185213"/>
            <a:chOff x="238407" y="781231"/>
            <a:chExt cx="5712639" cy="1737591"/>
          </a:xfrm>
        </p:grpSpPr>
        <p:grpSp>
          <p:nvGrpSpPr>
            <p:cNvPr id="9" name="组合 3"/>
            <p:cNvGrpSpPr>
              <a:grpSpLocks/>
            </p:cNvGrpSpPr>
            <p:nvPr/>
          </p:nvGrpSpPr>
          <p:grpSpPr bwMode="auto">
            <a:xfrm>
              <a:off x="238407" y="781231"/>
              <a:ext cx="5712639" cy="1737591"/>
              <a:chOff x="238407" y="781231"/>
              <a:chExt cx="5712639" cy="1737591"/>
            </a:xfrm>
          </p:grpSpPr>
          <p:sp>
            <p:nvSpPr>
              <p:cNvPr id="11" name="矩形 10"/>
              <p:cNvSpPr/>
              <p:nvPr/>
            </p:nvSpPr>
            <p:spPr>
              <a:xfrm>
                <a:off x="238407" y="997041"/>
                <a:ext cx="5712639" cy="1521781"/>
              </a:xfrm>
              <a:prstGeom prst="rect">
                <a:avLst/>
              </a:prstGeom>
              <a:noFill/>
              <a:ln w="1905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矩形 12"/>
              <p:cNvSpPr/>
              <p:nvPr/>
            </p:nvSpPr>
            <p:spPr>
              <a:xfrm>
                <a:off x="382053" y="781231"/>
                <a:ext cx="375397" cy="414294"/>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10" name="文本框 79"/>
            <p:cNvSpPr txBox="1">
              <a:spLocks noChangeArrowheads="1"/>
            </p:cNvSpPr>
            <p:nvPr/>
          </p:nvSpPr>
          <p:spPr bwMode="auto">
            <a:xfrm>
              <a:off x="346859" y="783577"/>
              <a:ext cx="478324" cy="473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500" dirty="0">
                  <a:solidFill>
                    <a:schemeClr val="bg1"/>
                  </a:solidFill>
                  <a:latin typeface="Impact" panose="020B0806030902050204" pitchFamily="34" charset="0"/>
                </a:rPr>
                <a:t>01</a:t>
              </a:r>
              <a:endParaRPr lang="zh-CN" altLang="en-US" sz="1500" dirty="0">
                <a:solidFill>
                  <a:schemeClr val="bg1"/>
                </a:solidFill>
                <a:latin typeface="Impact" panose="020B0806030902050204" pitchFamily="34" charset="0"/>
              </a:endParaRPr>
            </a:p>
          </p:txBody>
        </p:sp>
      </p:grpSp>
      <p:grpSp>
        <p:nvGrpSpPr>
          <p:cNvPr id="18" name="组合 17"/>
          <p:cNvGrpSpPr>
            <a:grpSpLocks/>
          </p:cNvGrpSpPr>
          <p:nvPr/>
        </p:nvGrpSpPr>
        <p:grpSpPr bwMode="auto">
          <a:xfrm>
            <a:off x="178594" y="3066424"/>
            <a:ext cx="4285061" cy="1185213"/>
            <a:chOff x="238407" y="2614877"/>
            <a:chExt cx="5712639" cy="1737444"/>
          </a:xfrm>
        </p:grpSpPr>
        <p:grpSp>
          <p:nvGrpSpPr>
            <p:cNvPr id="19" name="组合 4"/>
            <p:cNvGrpSpPr>
              <a:grpSpLocks/>
            </p:cNvGrpSpPr>
            <p:nvPr/>
          </p:nvGrpSpPr>
          <p:grpSpPr bwMode="auto">
            <a:xfrm>
              <a:off x="238407" y="2614877"/>
              <a:ext cx="5712639" cy="1737444"/>
              <a:chOff x="238407" y="2614877"/>
              <a:chExt cx="5712639" cy="1737444"/>
            </a:xfrm>
          </p:grpSpPr>
          <p:sp>
            <p:nvSpPr>
              <p:cNvPr id="21" name="矩形 20"/>
              <p:cNvSpPr/>
              <p:nvPr/>
            </p:nvSpPr>
            <p:spPr>
              <a:xfrm>
                <a:off x="238407" y="2830669"/>
                <a:ext cx="5712639" cy="1521652"/>
              </a:xfrm>
              <a:prstGeom prst="rect">
                <a:avLst/>
              </a:prstGeom>
              <a:noFill/>
              <a:ln w="19050">
                <a:solidFill>
                  <a:srgbClr val="66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3" name="矩形 22"/>
              <p:cNvSpPr/>
              <p:nvPr/>
            </p:nvSpPr>
            <p:spPr>
              <a:xfrm>
                <a:off x="382053" y="2614877"/>
                <a:ext cx="375397" cy="425620"/>
              </a:xfrm>
              <a:prstGeom prst="rect">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20" name="文本框 83"/>
            <p:cNvSpPr txBox="1">
              <a:spLocks noChangeArrowheads="1"/>
            </p:cNvSpPr>
            <p:nvPr/>
          </p:nvSpPr>
          <p:spPr bwMode="auto">
            <a:xfrm>
              <a:off x="365844" y="2617299"/>
              <a:ext cx="478324" cy="812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500" dirty="0">
                  <a:solidFill>
                    <a:schemeClr val="bg1"/>
                  </a:solidFill>
                  <a:latin typeface="Impact" panose="020B0806030902050204" pitchFamily="34" charset="0"/>
                </a:rPr>
                <a:t>03</a:t>
              </a:r>
              <a:endParaRPr lang="zh-CN" altLang="en-US" sz="1500" dirty="0">
                <a:solidFill>
                  <a:schemeClr val="bg1"/>
                </a:solidFill>
                <a:latin typeface="Impact" panose="020B0806030902050204" pitchFamily="34" charset="0"/>
              </a:endParaRPr>
            </a:p>
          </p:txBody>
        </p:sp>
      </p:grpSp>
      <p:grpSp>
        <p:nvGrpSpPr>
          <p:cNvPr id="28" name="组合 27"/>
          <p:cNvGrpSpPr>
            <a:grpSpLocks/>
          </p:cNvGrpSpPr>
          <p:nvPr/>
        </p:nvGrpSpPr>
        <p:grpSpPr bwMode="auto">
          <a:xfrm>
            <a:off x="178594" y="4372877"/>
            <a:ext cx="4285061" cy="1275843"/>
            <a:chOff x="238407" y="4441223"/>
            <a:chExt cx="5712639" cy="1743481"/>
          </a:xfrm>
        </p:grpSpPr>
        <p:grpSp>
          <p:nvGrpSpPr>
            <p:cNvPr id="29" name="组合 5"/>
            <p:cNvGrpSpPr>
              <a:grpSpLocks/>
            </p:cNvGrpSpPr>
            <p:nvPr/>
          </p:nvGrpSpPr>
          <p:grpSpPr bwMode="auto">
            <a:xfrm>
              <a:off x="238407" y="4448365"/>
              <a:ext cx="5712639" cy="1736339"/>
              <a:chOff x="238407" y="4448365"/>
              <a:chExt cx="5712639" cy="1736339"/>
            </a:xfrm>
          </p:grpSpPr>
          <p:sp>
            <p:nvSpPr>
              <p:cNvPr id="31" name="矩形 30"/>
              <p:cNvSpPr/>
              <p:nvPr/>
            </p:nvSpPr>
            <p:spPr>
              <a:xfrm>
                <a:off x="238407" y="4664216"/>
                <a:ext cx="5712639" cy="1520488"/>
              </a:xfrm>
              <a:prstGeom prst="rect">
                <a:avLst/>
              </a:prstGeom>
              <a:noFill/>
              <a:ln w="1905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3" name="矩形 32"/>
              <p:cNvSpPr/>
              <p:nvPr/>
            </p:nvSpPr>
            <p:spPr>
              <a:xfrm>
                <a:off x="382053" y="4448365"/>
                <a:ext cx="375397" cy="425740"/>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0" name="文本框 88"/>
            <p:cNvSpPr txBox="1">
              <a:spLocks noChangeArrowheads="1"/>
            </p:cNvSpPr>
            <p:nvPr/>
          </p:nvSpPr>
          <p:spPr bwMode="auto">
            <a:xfrm>
              <a:off x="346858" y="4441223"/>
              <a:ext cx="478324" cy="757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500" dirty="0">
                  <a:solidFill>
                    <a:schemeClr val="bg1"/>
                  </a:solidFill>
                  <a:latin typeface="Impact" panose="020B0806030902050204" pitchFamily="34" charset="0"/>
                </a:rPr>
                <a:t>05</a:t>
              </a:r>
              <a:endParaRPr lang="zh-CN" altLang="en-US" sz="1500" dirty="0">
                <a:solidFill>
                  <a:schemeClr val="bg1"/>
                </a:solidFill>
                <a:latin typeface="Impact" panose="020B0806030902050204" pitchFamily="34" charset="0"/>
              </a:endParaRPr>
            </a:p>
          </p:txBody>
        </p:sp>
      </p:grpSp>
      <p:grpSp>
        <p:nvGrpSpPr>
          <p:cNvPr id="38" name="组合 37"/>
          <p:cNvGrpSpPr>
            <a:grpSpLocks/>
          </p:cNvGrpSpPr>
          <p:nvPr/>
        </p:nvGrpSpPr>
        <p:grpSpPr bwMode="auto">
          <a:xfrm>
            <a:off x="4668441" y="1796054"/>
            <a:ext cx="4283869" cy="1189372"/>
            <a:chOff x="6224731" y="775134"/>
            <a:chExt cx="5711329" cy="1743688"/>
          </a:xfrm>
        </p:grpSpPr>
        <p:sp>
          <p:nvSpPr>
            <p:cNvPr id="39" name="矩形 38"/>
            <p:cNvSpPr/>
            <p:nvPr/>
          </p:nvSpPr>
          <p:spPr>
            <a:xfrm>
              <a:off x="6224731" y="997041"/>
              <a:ext cx="5711329" cy="1521781"/>
            </a:xfrm>
            <a:prstGeom prst="rect">
              <a:avLst/>
            </a:prstGeom>
            <a:noFill/>
            <a:ln w="1905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1" name="矩形 40"/>
            <p:cNvSpPr/>
            <p:nvPr/>
          </p:nvSpPr>
          <p:spPr>
            <a:xfrm>
              <a:off x="6368379" y="781231"/>
              <a:ext cx="375419" cy="414294"/>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3" name="文本框 105"/>
            <p:cNvSpPr txBox="1">
              <a:spLocks noChangeArrowheads="1"/>
            </p:cNvSpPr>
            <p:nvPr/>
          </p:nvSpPr>
          <p:spPr bwMode="auto">
            <a:xfrm>
              <a:off x="6340308" y="775134"/>
              <a:ext cx="478324" cy="812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500" dirty="0">
                  <a:solidFill>
                    <a:schemeClr val="bg1"/>
                  </a:solidFill>
                  <a:latin typeface="Impact" panose="020B0806030902050204" pitchFamily="34" charset="0"/>
                </a:rPr>
                <a:t>02</a:t>
              </a:r>
              <a:endParaRPr lang="zh-CN" altLang="en-US" sz="1500" dirty="0">
                <a:solidFill>
                  <a:schemeClr val="bg1"/>
                </a:solidFill>
                <a:latin typeface="Impact" panose="020B0806030902050204" pitchFamily="34" charset="0"/>
              </a:endParaRPr>
            </a:p>
          </p:txBody>
        </p:sp>
      </p:grpSp>
      <p:grpSp>
        <p:nvGrpSpPr>
          <p:cNvPr id="47" name="组合 46"/>
          <p:cNvGrpSpPr>
            <a:grpSpLocks/>
          </p:cNvGrpSpPr>
          <p:nvPr/>
        </p:nvGrpSpPr>
        <p:grpSpPr bwMode="auto">
          <a:xfrm>
            <a:off x="4668441" y="3066423"/>
            <a:ext cx="4283869" cy="1185213"/>
            <a:chOff x="6224731" y="2614877"/>
            <a:chExt cx="5711329" cy="1737444"/>
          </a:xfrm>
        </p:grpSpPr>
        <p:sp>
          <p:nvSpPr>
            <p:cNvPr id="48" name="矩形 47"/>
            <p:cNvSpPr/>
            <p:nvPr/>
          </p:nvSpPr>
          <p:spPr>
            <a:xfrm>
              <a:off x="6224731" y="2830669"/>
              <a:ext cx="5711329" cy="1521652"/>
            </a:xfrm>
            <a:prstGeom prst="rect">
              <a:avLst/>
            </a:prstGeom>
            <a:noFill/>
            <a:ln w="19050">
              <a:solidFill>
                <a:srgbClr val="66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0" name="矩形 49"/>
            <p:cNvSpPr/>
            <p:nvPr/>
          </p:nvSpPr>
          <p:spPr>
            <a:xfrm>
              <a:off x="6368379" y="2614877"/>
              <a:ext cx="375419" cy="425462"/>
            </a:xfrm>
            <a:prstGeom prst="rect">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2" name="文本框 101"/>
            <p:cNvSpPr txBox="1">
              <a:spLocks noChangeArrowheads="1"/>
            </p:cNvSpPr>
            <p:nvPr/>
          </p:nvSpPr>
          <p:spPr bwMode="auto">
            <a:xfrm>
              <a:off x="6339434" y="2620398"/>
              <a:ext cx="478324" cy="812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500" dirty="0">
                  <a:solidFill>
                    <a:schemeClr val="bg1"/>
                  </a:solidFill>
                  <a:latin typeface="Impact" panose="020B0806030902050204" pitchFamily="34" charset="0"/>
                </a:rPr>
                <a:t>04</a:t>
              </a:r>
              <a:endParaRPr lang="zh-CN" altLang="en-US" sz="1500" dirty="0">
                <a:solidFill>
                  <a:schemeClr val="bg1"/>
                </a:solidFill>
                <a:latin typeface="Impact" panose="020B0806030902050204" pitchFamily="34" charset="0"/>
              </a:endParaRPr>
            </a:p>
          </p:txBody>
        </p:sp>
      </p:grpSp>
      <p:grpSp>
        <p:nvGrpSpPr>
          <p:cNvPr id="56" name="组合 55"/>
          <p:cNvGrpSpPr>
            <a:grpSpLocks/>
          </p:cNvGrpSpPr>
          <p:nvPr/>
        </p:nvGrpSpPr>
        <p:grpSpPr bwMode="auto">
          <a:xfrm>
            <a:off x="4668441" y="4378103"/>
            <a:ext cx="4283869" cy="1270616"/>
            <a:chOff x="6224731" y="4448365"/>
            <a:chExt cx="5711329" cy="1736339"/>
          </a:xfrm>
        </p:grpSpPr>
        <p:sp>
          <p:nvSpPr>
            <p:cNvPr id="57" name="矩形 56"/>
            <p:cNvSpPr/>
            <p:nvPr/>
          </p:nvSpPr>
          <p:spPr>
            <a:xfrm>
              <a:off x="6224731" y="4664216"/>
              <a:ext cx="5711329" cy="1520488"/>
            </a:xfrm>
            <a:prstGeom prst="rect">
              <a:avLst/>
            </a:prstGeom>
            <a:noFill/>
            <a:ln w="1905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9" name="矩形 58"/>
            <p:cNvSpPr/>
            <p:nvPr/>
          </p:nvSpPr>
          <p:spPr>
            <a:xfrm>
              <a:off x="6368379" y="4448365"/>
              <a:ext cx="375419" cy="425740"/>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66" name="Rectangle 2"/>
          <p:cNvSpPr>
            <a:spLocks noChangeArrowheads="1"/>
          </p:cNvSpPr>
          <p:nvPr/>
        </p:nvSpPr>
        <p:spPr bwMode="auto">
          <a:xfrm>
            <a:off x="0"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sp>
        <p:nvSpPr>
          <p:cNvPr id="81" name="Rectangle 14"/>
          <p:cNvSpPr>
            <a:spLocks noChangeArrowheads="1"/>
          </p:cNvSpPr>
          <p:nvPr/>
        </p:nvSpPr>
        <p:spPr bwMode="auto">
          <a:xfrm>
            <a:off x="-26193" y="-26011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sp>
        <p:nvSpPr>
          <p:cNvPr id="83" name="Rectangle 16"/>
          <p:cNvSpPr>
            <a:spLocks noChangeArrowheads="1"/>
          </p:cNvSpPr>
          <p:nvPr/>
        </p:nvSpPr>
        <p:spPr bwMode="auto">
          <a:xfrm>
            <a:off x="0"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sp>
        <p:nvSpPr>
          <p:cNvPr id="85" name="Rectangle 20"/>
          <p:cNvSpPr>
            <a:spLocks noChangeArrowheads="1"/>
          </p:cNvSpPr>
          <p:nvPr/>
        </p:nvSpPr>
        <p:spPr bwMode="auto">
          <a:xfrm>
            <a:off x="0"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sp>
        <p:nvSpPr>
          <p:cNvPr id="87" name="Rectangle 22"/>
          <p:cNvSpPr>
            <a:spLocks noChangeArrowheads="1"/>
          </p:cNvSpPr>
          <p:nvPr/>
        </p:nvSpPr>
        <p:spPr bwMode="auto">
          <a:xfrm>
            <a:off x="0"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sp>
        <p:nvSpPr>
          <p:cNvPr id="89" name="Rectangle 24"/>
          <p:cNvSpPr>
            <a:spLocks noChangeArrowheads="1"/>
          </p:cNvSpPr>
          <p:nvPr/>
        </p:nvSpPr>
        <p:spPr bwMode="auto">
          <a:xfrm>
            <a:off x="0"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grpSp>
        <p:nvGrpSpPr>
          <p:cNvPr id="2" name="组合 1"/>
          <p:cNvGrpSpPr/>
          <p:nvPr/>
        </p:nvGrpSpPr>
        <p:grpSpPr>
          <a:xfrm>
            <a:off x="160139" y="2110837"/>
            <a:ext cx="4321971" cy="796372"/>
            <a:chOff x="213518" y="1671449"/>
            <a:chExt cx="5762628" cy="1061830"/>
          </a:xfrm>
        </p:grpSpPr>
        <p:sp>
          <p:nvSpPr>
            <p:cNvPr id="76" name="文本框 75"/>
            <p:cNvSpPr txBox="1"/>
            <p:nvPr/>
          </p:nvSpPr>
          <p:spPr>
            <a:xfrm>
              <a:off x="213518" y="1671449"/>
              <a:ext cx="5762628" cy="1061830"/>
            </a:xfrm>
            <a:prstGeom prst="rect">
              <a:avLst/>
            </a:prstGeom>
            <a:noFill/>
          </p:spPr>
          <p:txBody>
            <a:bodyPr wrap="square" rtlCol="0">
              <a:spAutoFit/>
            </a:bodyPr>
            <a:lstStyle/>
            <a:p>
              <a:r>
                <a:rPr lang="zh-CN" altLang="en-US" sz="1125" dirty="0">
                  <a:latin typeface="微软雅黑" panose="020B0503020204020204" pitchFamily="34" charset="-122"/>
                  <a:ea typeface="微软雅黑" panose="020B0503020204020204" pitchFamily="34" charset="-122"/>
                </a:rPr>
                <a:t>若         ，</a:t>
              </a:r>
              <a:r>
                <a:rPr lang="zh-CN" altLang="zh-CN" sz="1125" dirty="0">
                  <a:latin typeface="微软雅黑" panose="020B0503020204020204" pitchFamily="34" charset="-122"/>
                  <a:ea typeface="微软雅黑" panose="020B0503020204020204" pitchFamily="34" charset="-122"/>
                </a:rPr>
                <a:t>表明</a:t>
              </a:r>
              <a:r>
                <a:rPr lang="en-US" altLang="zh-CN" sz="1125" dirty="0">
                  <a:latin typeface="微软雅黑" panose="020B0503020204020204" pitchFamily="34" charset="-122"/>
                  <a:ea typeface="微软雅黑" panose="020B0503020204020204" pitchFamily="34" charset="-122"/>
                </a:rPr>
                <a:t>x</a:t>
              </a:r>
              <a:r>
                <a:rPr lang="zh-CN" altLang="zh-CN" sz="1125" dirty="0">
                  <a:latin typeface="微软雅黑" panose="020B0503020204020204" pitchFamily="34" charset="-122"/>
                  <a:ea typeface="微软雅黑" panose="020B0503020204020204" pitchFamily="34" charset="-122"/>
                </a:rPr>
                <a:t>与</a:t>
              </a:r>
              <a:r>
                <a:rPr lang="en-US" altLang="zh-CN" sz="1125" dirty="0">
                  <a:latin typeface="微软雅黑" panose="020B0503020204020204" pitchFamily="34" charset="-122"/>
                  <a:ea typeface="微软雅黑" panose="020B0503020204020204" pitchFamily="34" charset="-122"/>
                </a:rPr>
                <a:t>y</a:t>
              </a:r>
              <a:r>
                <a:rPr lang="zh-CN" altLang="zh-CN" sz="1125" dirty="0">
                  <a:latin typeface="微软雅黑" panose="020B0503020204020204" pitchFamily="34" charset="-122"/>
                  <a:ea typeface="微软雅黑" panose="020B0503020204020204" pitchFamily="34" charset="-122"/>
                </a:rPr>
                <a:t>之间存在正线性相关关系；</a:t>
              </a:r>
              <a:r>
                <a:rPr lang="zh-CN" altLang="zh-CN" sz="1200" dirty="0">
                  <a:latin typeface="微软雅黑" panose="020B0503020204020204" pitchFamily="34" charset="-122"/>
                  <a:ea typeface="微软雅黑" panose="020B0503020204020204" pitchFamily="34" charset="-122"/>
                </a:rPr>
                <a:t>若</a:t>
              </a:r>
              <a:r>
                <a:rPr lang="en-US" altLang="zh-CN" sz="1200" dirty="0">
                  <a:latin typeface="微软雅黑" panose="020B0503020204020204" pitchFamily="34" charset="-122"/>
                  <a:ea typeface="微软雅黑" panose="020B0503020204020204" pitchFamily="34" charset="-122"/>
                </a:rPr>
                <a:t>              ,</a:t>
              </a:r>
              <a:r>
                <a:rPr lang="zh-CN" altLang="zh-CN" sz="1125" dirty="0">
                  <a:latin typeface="微软雅黑" panose="020B0503020204020204" pitchFamily="34" charset="-122"/>
                  <a:ea typeface="微软雅黑" panose="020B0503020204020204" pitchFamily="34" charset="-122"/>
                </a:rPr>
                <a:t>表明</a:t>
              </a:r>
              <a:r>
                <a:rPr lang="en-US" altLang="zh-CN" sz="1125" dirty="0">
                  <a:latin typeface="微软雅黑" panose="020B0503020204020204" pitchFamily="34" charset="-122"/>
                  <a:ea typeface="微软雅黑" panose="020B0503020204020204" pitchFamily="34" charset="-122"/>
                </a:rPr>
                <a:t>x</a:t>
              </a:r>
              <a:r>
                <a:rPr lang="zh-CN" altLang="zh-CN" sz="1125" dirty="0">
                  <a:latin typeface="微软雅黑" panose="020B0503020204020204" pitchFamily="34" charset="-122"/>
                  <a:ea typeface="微软雅黑" panose="020B0503020204020204" pitchFamily="34" charset="-122"/>
                </a:rPr>
                <a:t>与</a:t>
              </a:r>
              <a:r>
                <a:rPr lang="en-US" altLang="zh-CN" sz="1125" dirty="0">
                  <a:latin typeface="微软雅黑" panose="020B0503020204020204" pitchFamily="34" charset="-122"/>
                  <a:ea typeface="微软雅黑" panose="020B0503020204020204" pitchFamily="34" charset="-122"/>
                </a:rPr>
                <a:t>y</a:t>
              </a:r>
              <a:r>
                <a:rPr lang="zh-CN" altLang="zh-CN" sz="1125" dirty="0">
                  <a:latin typeface="微软雅黑" panose="020B0503020204020204" pitchFamily="34" charset="-122"/>
                  <a:ea typeface="微软雅黑" panose="020B0503020204020204" pitchFamily="34" charset="-122"/>
                </a:rPr>
                <a:t>之间存在负线性相关关系；</a:t>
              </a:r>
              <a:r>
                <a:rPr lang="zh-CN" altLang="en-US" sz="1125" dirty="0">
                  <a:latin typeface="微软雅黑" panose="020B0503020204020204" pitchFamily="34" charset="-122"/>
                  <a:ea typeface="微软雅黑" panose="020B0503020204020204" pitchFamily="34" charset="-122"/>
                </a:rPr>
                <a:t>若      ，</a:t>
              </a:r>
              <a:r>
                <a:rPr lang="zh-CN" altLang="zh-CN" sz="1125" dirty="0">
                  <a:latin typeface="微软雅黑" panose="020B0503020204020204" pitchFamily="34" charset="-122"/>
                  <a:ea typeface="微软雅黑" panose="020B0503020204020204" pitchFamily="34" charset="-122"/>
                </a:rPr>
                <a:t>表明</a:t>
              </a:r>
              <a:r>
                <a:rPr lang="en-US" altLang="zh-CN" sz="1125" dirty="0">
                  <a:latin typeface="微软雅黑" panose="020B0503020204020204" pitchFamily="34" charset="-122"/>
                  <a:ea typeface="微软雅黑" panose="020B0503020204020204" pitchFamily="34" charset="-122"/>
                </a:rPr>
                <a:t>x</a:t>
              </a:r>
              <a:r>
                <a:rPr lang="zh-CN" altLang="zh-CN" sz="1125" dirty="0">
                  <a:latin typeface="微软雅黑" panose="020B0503020204020204" pitchFamily="34" charset="-122"/>
                  <a:ea typeface="微软雅黑" panose="020B0503020204020204" pitchFamily="34" charset="-122"/>
                </a:rPr>
                <a:t>与</a:t>
              </a:r>
              <a:r>
                <a:rPr lang="en-US" altLang="zh-CN" sz="1125" dirty="0">
                  <a:latin typeface="微软雅黑" panose="020B0503020204020204" pitchFamily="34" charset="-122"/>
                  <a:ea typeface="微软雅黑" panose="020B0503020204020204" pitchFamily="34" charset="-122"/>
                </a:rPr>
                <a:t>y</a:t>
              </a:r>
              <a:r>
                <a:rPr lang="zh-CN" altLang="zh-CN" sz="1125" dirty="0">
                  <a:latin typeface="微软雅黑" panose="020B0503020204020204" pitchFamily="34" charset="-122"/>
                  <a:ea typeface="微软雅黑" panose="020B0503020204020204" pitchFamily="34" charset="-122"/>
                </a:rPr>
                <a:t>之间无线性关系；</a:t>
              </a:r>
              <a:r>
                <a:rPr lang="zh-CN" altLang="en-US" sz="1125" dirty="0">
                  <a:latin typeface="微软雅黑" panose="020B0503020204020204" pitchFamily="34" charset="-122"/>
                  <a:ea typeface="微软雅黑" panose="020B0503020204020204" pitchFamily="34" charset="-122"/>
                </a:rPr>
                <a:t>若        ，</a:t>
              </a:r>
              <a:r>
                <a:rPr lang="zh-CN" altLang="zh-CN" sz="1125" dirty="0">
                  <a:latin typeface="微软雅黑" panose="020B0503020204020204" pitchFamily="34" charset="-122"/>
                  <a:ea typeface="微软雅黑" panose="020B0503020204020204" pitchFamily="34" charset="-122"/>
                </a:rPr>
                <a:t>表明</a:t>
              </a:r>
              <a:r>
                <a:rPr lang="en-US" altLang="zh-CN" sz="1125" dirty="0">
                  <a:latin typeface="微软雅黑" panose="020B0503020204020204" pitchFamily="34" charset="-122"/>
                  <a:ea typeface="微软雅黑" panose="020B0503020204020204" pitchFamily="34" charset="-122"/>
                </a:rPr>
                <a:t>x</a:t>
              </a:r>
              <a:r>
                <a:rPr lang="zh-CN" altLang="zh-CN" sz="1125" dirty="0">
                  <a:latin typeface="微软雅黑" panose="020B0503020204020204" pitchFamily="34" charset="-122"/>
                  <a:ea typeface="微软雅黑" panose="020B0503020204020204" pitchFamily="34" charset="-122"/>
                </a:rPr>
                <a:t>与</a:t>
              </a:r>
              <a:r>
                <a:rPr lang="en-US" altLang="zh-CN" sz="1125" dirty="0">
                  <a:latin typeface="微软雅黑" panose="020B0503020204020204" pitchFamily="34" charset="-122"/>
                  <a:ea typeface="微软雅黑" panose="020B0503020204020204" pitchFamily="34" charset="-122"/>
                </a:rPr>
                <a:t>y</a:t>
              </a:r>
              <a:r>
                <a:rPr lang="zh-CN" altLang="zh-CN" sz="1125" dirty="0">
                  <a:latin typeface="微软雅黑" panose="020B0503020204020204" pitchFamily="34" charset="-122"/>
                  <a:ea typeface="微软雅黑" panose="020B0503020204020204" pitchFamily="34" charset="-122"/>
                </a:rPr>
                <a:t>之间为完全正线性相关关系；</a:t>
              </a:r>
              <a:r>
                <a:rPr lang="zh-CN" altLang="en-US" sz="1125" dirty="0">
                  <a:latin typeface="微软雅黑" panose="020B0503020204020204" pitchFamily="34" charset="-122"/>
                  <a:ea typeface="微软雅黑" panose="020B0503020204020204" pitchFamily="34" charset="-122"/>
                </a:rPr>
                <a:t>若        ，</a:t>
              </a:r>
              <a:r>
                <a:rPr lang="zh-CN" altLang="zh-CN" sz="1125" dirty="0">
                  <a:latin typeface="微软雅黑" panose="020B0503020204020204" pitchFamily="34" charset="-122"/>
                  <a:ea typeface="微软雅黑" panose="020B0503020204020204" pitchFamily="34" charset="-122"/>
                </a:rPr>
                <a:t>表明</a:t>
              </a:r>
              <a:r>
                <a:rPr lang="en-US" altLang="zh-CN" sz="1125" dirty="0">
                  <a:latin typeface="微软雅黑" panose="020B0503020204020204" pitchFamily="34" charset="-122"/>
                  <a:ea typeface="微软雅黑" panose="020B0503020204020204" pitchFamily="34" charset="-122"/>
                </a:rPr>
                <a:t>x</a:t>
              </a:r>
              <a:r>
                <a:rPr lang="zh-CN" altLang="zh-CN" sz="1125" dirty="0">
                  <a:latin typeface="微软雅黑" panose="020B0503020204020204" pitchFamily="34" charset="-122"/>
                  <a:ea typeface="微软雅黑" panose="020B0503020204020204" pitchFamily="34" charset="-122"/>
                </a:rPr>
                <a:t>与</a:t>
              </a:r>
              <a:r>
                <a:rPr lang="en-US" altLang="zh-CN" sz="1125" dirty="0">
                  <a:latin typeface="微软雅黑" panose="020B0503020204020204" pitchFamily="34" charset="-122"/>
                  <a:ea typeface="微软雅黑" panose="020B0503020204020204" pitchFamily="34" charset="-122"/>
                </a:rPr>
                <a:t>y</a:t>
              </a:r>
              <a:r>
                <a:rPr lang="zh-CN" altLang="zh-CN" sz="1125" dirty="0">
                  <a:latin typeface="微软雅黑" panose="020B0503020204020204" pitchFamily="34" charset="-122"/>
                  <a:ea typeface="微软雅黑" panose="020B0503020204020204" pitchFamily="34" charset="-122"/>
                </a:rPr>
                <a:t>之间为完全负线性相关关系。</a:t>
              </a:r>
              <a:endParaRPr lang="zh-CN" altLang="en-US" sz="1125" dirty="0">
                <a:latin typeface="微软雅黑" panose="020B0503020204020204" pitchFamily="34" charset="-122"/>
                <a:ea typeface="微软雅黑" panose="020B0503020204020204" pitchFamily="34" charset="-122"/>
              </a:endParaRPr>
            </a:p>
          </p:txBody>
        </p:sp>
        <p:graphicFrame>
          <p:nvGraphicFramePr>
            <p:cNvPr id="82" name="对象 81"/>
            <p:cNvGraphicFramePr>
              <a:graphicFrameLocks noChangeAspect="1"/>
            </p:cNvGraphicFramePr>
            <p:nvPr/>
          </p:nvGraphicFramePr>
          <p:xfrm>
            <a:off x="488949" y="1747819"/>
            <a:ext cx="537417" cy="214594"/>
          </p:xfrm>
          <a:graphic>
            <a:graphicData uri="http://schemas.openxmlformats.org/presentationml/2006/ole">
              <mc:AlternateContent xmlns:mc="http://schemas.openxmlformats.org/markup-compatibility/2006">
                <mc:Choice xmlns:v="urn:schemas-microsoft-com:vml" Requires="v">
                  <p:oleObj spid="_x0000_s92154" r:id="rId4" imgW="469696" imgH="152334" progId="Equation.DSMT4">
                    <p:embed/>
                  </p:oleObj>
                </mc:Choice>
                <mc:Fallback>
                  <p:oleObj r:id="rId4" imgW="469696" imgH="152334" progId="Equation.DSMT4">
                    <p:embed/>
                    <p:pic>
                      <p:nvPicPr>
                        <p:cNvPr id="82" name="对象 8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8949" y="1747819"/>
                          <a:ext cx="537417" cy="214594"/>
                        </a:xfrm>
                        <a:prstGeom prst="rect">
                          <a:avLst/>
                        </a:prstGeom>
                        <a:noFill/>
                      </p:spPr>
                    </p:pic>
                  </p:oleObj>
                </mc:Fallback>
              </mc:AlternateContent>
            </a:graphicData>
          </a:graphic>
        </p:graphicFrame>
        <p:graphicFrame>
          <p:nvGraphicFramePr>
            <p:cNvPr id="84" name="对象 83"/>
            <p:cNvGraphicFramePr>
              <a:graphicFrameLocks noChangeAspect="1"/>
            </p:cNvGraphicFramePr>
            <p:nvPr/>
          </p:nvGraphicFramePr>
          <p:xfrm>
            <a:off x="4528062" y="1756701"/>
            <a:ext cx="639798" cy="212650"/>
          </p:xfrm>
          <a:graphic>
            <a:graphicData uri="http://schemas.openxmlformats.org/presentationml/2006/ole">
              <mc:AlternateContent xmlns:mc="http://schemas.openxmlformats.org/markup-compatibility/2006">
                <mc:Choice xmlns:v="urn:schemas-microsoft-com:vml" Requires="v">
                  <p:oleObj spid="_x0000_s92155" r:id="rId6" imgW="545626" imgH="152268" progId="Equation.DSMT4">
                    <p:embed/>
                  </p:oleObj>
                </mc:Choice>
                <mc:Fallback>
                  <p:oleObj r:id="rId6" imgW="545626" imgH="152268" progId="Equation.DSMT4">
                    <p:embed/>
                    <p:pic>
                      <p:nvPicPr>
                        <p:cNvPr id="84" name="对象 8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28062" y="1756701"/>
                          <a:ext cx="639798" cy="212650"/>
                        </a:xfrm>
                        <a:prstGeom prst="rect">
                          <a:avLst/>
                        </a:prstGeom>
                        <a:noFill/>
                      </p:spPr>
                    </p:pic>
                  </p:oleObj>
                </mc:Fallback>
              </mc:AlternateContent>
            </a:graphicData>
          </a:graphic>
        </p:graphicFrame>
        <p:graphicFrame>
          <p:nvGraphicFramePr>
            <p:cNvPr id="86" name="对象 85"/>
            <p:cNvGraphicFramePr>
              <a:graphicFrameLocks noChangeAspect="1"/>
            </p:cNvGraphicFramePr>
            <p:nvPr/>
          </p:nvGraphicFramePr>
          <p:xfrm>
            <a:off x="3083590" y="1954559"/>
            <a:ext cx="363126" cy="241385"/>
          </p:xfrm>
          <a:graphic>
            <a:graphicData uri="http://schemas.openxmlformats.org/presentationml/2006/ole">
              <mc:AlternateContent xmlns:mc="http://schemas.openxmlformats.org/markup-compatibility/2006">
                <mc:Choice xmlns:v="urn:schemas-microsoft-com:vml" Requires="v">
                  <p:oleObj spid="_x0000_s92156" r:id="rId8" imgW="304536" imgH="152268" progId="Equation.DSMT4">
                    <p:embed/>
                  </p:oleObj>
                </mc:Choice>
                <mc:Fallback>
                  <p:oleObj r:id="rId8" imgW="304536" imgH="152268" progId="Equation.DSMT4">
                    <p:embed/>
                    <p:pic>
                      <p:nvPicPr>
                        <p:cNvPr id="86" name="对象 8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83590" y="1954559"/>
                          <a:ext cx="363126" cy="241385"/>
                        </a:xfrm>
                        <a:prstGeom prst="rect">
                          <a:avLst/>
                        </a:prstGeom>
                        <a:noFill/>
                      </p:spPr>
                    </p:pic>
                  </p:oleObj>
                </mc:Fallback>
              </mc:AlternateContent>
            </a:graphicData>
          </a:graphic>
        </p:graphicFrame>
        <p:graphicFrame>
          <p:nvGraphicFramePr>
            <p:cNvPr id="88" name="对象 87"/>
            <p:cNvGraphicFramePr>
              <a:graphicFrameLocks noChangeAspect="1"/>
            </p:cNvGraphicFramePr>
            <p:nvPr/>
          </p:nvGraphicFramePr>
          <p:xfrm>
            <a:off x="488950" y="2194829"/>
            <a:ext cx="434781" cy="217391"/>
          </p:xfrm>
          <a:graphic>
            <a:graphicData uri="http://schemas.openxmlformats.org/presentationml/2006/ole">
              <mc:AlternateContent xmlns:mc="http://schemas.openxmlformats.org/markup-compatibility/2006">
                <mc:Choice xmlns:v="urn:schemas-microsoft-com:vml" Requires="v">
                  <p:oleObj spid="_x0000_s92157" r:id="rId10" imgW="355446" imgH="139639" progId="Equation.DSMT4">
                    <p:embed/>
                  </p:oleObj>
                </mc:Choice>
                <mc:Fallback>
                  <p:oleObj r:id="rId10" imgW="355446" imgH="139639" progId="Equation.DSMT4">
                    <p:embed/>
                    <p:pic>
                      <p:nvPicPr>
                        <p:cNvPr id="88" name="对象 8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8950" y="2194829"/>
                          <a:ext cx="434781" cy="217391"/>
                        </a:xfrm>
                        <a:prstGeom prst="rect">
                          <a:avLst/>
                        </a:prstGeom>
                        <a:noFill/>
                      </p:spPr>
                    </p:pic>
                  </p:oleObj>
                </mc:Fallback>
              </mc:AlternateContent>
            </a:graphicData>
          </a:graphic>
        </p:graphicFrame>
        <p:graphicFrame>
          <p:nvGraphicFramePr>
            <p:cNvPr id="90" name="对象 89"/>
            <p:cNvGraphicFramePr>
              <a:graphicFrameLocks noChangeAspect="1"/>
            </p:cNvGraphicFramePr>
            <p:nvPr/>
          </p:nvGraphicFramePr>
          <p:xfrm>
            <a:off x="4561650" y="2194829"/>
            <a:ext cx="425657" cy="212829"/>
          </p:xfrm>
          <a:graphic>
            <a:graphicData uri="http://schemas.openxmlformats.org/presentationml/2006/ole">
              <mc:AlternateContent xmlns:mc="http://schemas.openxmlformats.org/markup-compatibility/2006">
                <mc:Choice xmlns:v="urn:schemas-microsoft-com:vml" Requires="v">
                  <p:oleObj spid="_x0000_s92158" r:id="rId12" imgW="355446" imgH="139639" progId="Equation.DSMT4">
                    <p:embed/>
                  </p:oleObj>
                </mc:Choice>
                <mc:Fallback>
                  <p:oleObj r:id="rId12" imgW="355446" imgH="139639" progId="Equation.DSMT4">
                    <p:embed/>
                    <p:pic>
                      <p:nvPicPr>
                        <p:cNvPr id="90" name="对象 8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61650" y="2194829"/>
                          <a:ext cx="425657" cy="212829"/>
                        </a:xfrm>
                        <a:prstGeom prst="rect">
                          <a:avLst/>
                        </a:prstGeom>
                        <a:noFill/>
                      </p:spPr>
                    </p:pic>
                  </p:oleObj>
                </mc:Fallback>
              </mc:AlternateContent>
            </a:graphicData>
          </a:graphic>
        </p:graphicFrame>
      </p:grpSp>
      <p:sp>
        <p:nvSpPr>
          <p:cNvPr id="96" name="Rectangle 42"/>
          <p:cNvSpPr>
            <a:spLocks noChangeArrowheads="1"/>
          </p:cNvSpPr>
          <p:nvPr/>
        </p:nvSpPr>
        <p:spPr bwMode="auto">
          <a:xfrm>
            <a:off x="0"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grpSp>
        <p:nvGrpSpPr>
          <p:cNvPr id="98" name="组合 97"/>
          <p:cNvGrpSpPr/>
          <p:nvPr/>
        </p:nvGrpSpPr>
        <p:grpSpPr>
          <a:xfrm>
            <a:off x="4755132" y="2200531"/>
            <a:ext cx="3905993" cy="553997"/>
            <a:chOff x="6361968" y="1855116"/>
            <a:chExt cx="5207991" cy="738663"/>
          </a:xfrm>
        </p:grpSpPr>
        <p:sp>
          <p:nvSpPr>
            <p:cNvPr id="91" name="文本框 90"/>
            <p:cNvSpPr txBox="1"/>
            <p:nvPr/>
          </p:nvSpPr>
          <p:spPr>
            <a:xfrm>
              <a:off x="6361968" y="1855116"/>
              <a:ext cx="5207991" cy="738663"/>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R</a:t>
              </a:r>
              <a:r>
                <a:rPr lang="zh-CN" altLang="en-US" sz="1200" dirty="0">
                  <a:latin typeface="微软雅黑" panose="020B0503020204020204" pitchFamily="34" charset="-122"/>
                  <a:ea typeface="微软雅黑" panose="020B0503020204020204" pitchFamily="34" charset="-122"/>
                </a:rPr>
                <a:t>具有对称性，</a:t>
              </a:r>
              <a:r>
                <a:rPr lang="en-US" altLang="zh-CN" sz="1200" dirty="0">
                  <a:latin typeface="微软雅黑" panose="020B0503020204020204" pitchFamily="34" charset="-122"/>
                  <a:ea typeface="微软雅黑" panose="020B0503020204020204" pitchFamily="34" charset="-122"/>
                </a:rPr>
                <a:t>x</a:t>
              </a:r>
              <a:r>
                <a:rPr lang="zh-CN" altLang="zh-CN" sz="1200" dirty="0">
                  <a:latin typeface="微软雅黑" panose="020B0503020204020204" pitchFamily="34" charset="-122"/>
                  <a:ea typeface="微软雅黑" panose="020B0503020204020204" pitchFamily="34" charset="-122"/>
                </a:rPr>
                <a:t>与</a:t>
              </a:r>
              <a:r>
                <a:rPr lang="en-US" altLang="zh-CN" sz="1200" dirty="0">
                  <a:latin typeface="微软雅黑" panose="020B0503020204020204" pitchFamily="34" charset="-122"/>
                  <a:ea typeface="微软雅黑" panose="020B0503020204020204" pitchFamily="34" charset="-122"/>
                </a:rPr>
                <a:t>y</a:t>
              </a:r>
              <a:r>
                <a:rPr lang="zh-CN" altLang="zh-CN" sz="1200" dirty="0">
                  <a:latin typeface="微软雅黑" panose="020B0503020204020204" pitchFamily="34" charset="-122"/>
                  <a:ea typeface="微软雅黑" panose="020B0503020204020204" pitchFamily="34" charset="-122"/>
                </a:rPr>
                <a:t>之间的相关系数</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a:t>
              </a:r>
              <a:r>
                <a:rPr lang="zh-CN" altLang="zh-CN" sz="1200" dirty="0">
                  <a:latin typeface="微软雅黑" panose="020B0503020204020204" pitchFamily="34" charset="-122"/>
                  <a:ea typeface="微软雅黑" panose="020B0503020204020204" pitchFamily="34" charset="-122"/>
                </a:rPr>
                <a:t>和</a:t>
              </a:r>
              <a:r>
                <a:rPr lang="en-US" altLang="zh-CN" sz="1200" dirty="0">
                  <a:latin typeface="微软雅黑" panose="020B0503020204020204" pitchFamily="34" charset="-122"/>
                  <a:ea typeface="微软雅黑" panose="020B0503020204020204" pitchFamily="34" charset="-122"/>
                </a:rPr>
                <a:t>y</a:t>
              </a:r>
              <a:r>
                <a:rPr lang="zh-CN" altLang="zh-CN" sz="1200" dirty="0">
                  <a:latin typeface="微软雅黑" panose="020B0503020204020204" pitchFamily="34" charset="-122"/>
                  <a:ea typeface="微软雅黑" panose="020B0503020204020204" pitchFamily="34" charset="-122"/>
                </a:rPr>
                <a:t>与</a:t>
              </a:r>
              <a:r>
                <a:rPr lang="en-US" altLang="zh-CN" sz="1200" dirty="0">
                  <a:latin typeface="微软雅黑" panose="020B0503020204020204" pitchFamily="34" charset="-122"/>
                  <a:ea typeface="微软雅黑" panose="020B0503020204020204" pitchFamily="34" charset="-122"/>
                </a:rPr>
                <a:t>x</a:t>
              </a:r>
              <a:r>
                <a:rPr lang="zh-CN" altLang="zh-CN" sz="1200" dirty="0">
                  <a:latin typeface="微软雅黑" panose="020B0503020204020204" pitchFamily="34" charset="-122"/>
                  <a:ea typeface="微软雅黑" panose="020B0503020204020204" pitchFamily="34" charset="-122"/>
                </a:rPr>
                <a:t>之间的相关系数</a:t>
              </a:r>
              <a:r>
                <a:rPr lang="en-US" altLang="zh-CN" sz="1200" dirty="0">
                  <a:latin typeface="微软雅黑" panose="020B0503020204020204" pitchFamily="34" charset="-122"/>
                  <a:ea typeface="微软雅黑" panose="020B0503020204020204" pitchFamily="34" charset="-122"/>
                </a:rPr>
                <a:t>     </a:t>
              </a:r>
              <a:r>
                <a:rPr lang="zh-CN" altLang="zh-CN" sz="1200" dirty="0">
                  <a:latin typeface="微软雅黑" panose="020B0503020204020204" pitchFamily="34" charset="-122"/>
                  <a:ea typeface="微软雅黑" panose="020B0503020204020204" pitchFamily="34" charset="-122"/>
                </a:rPr>
                <a:t>相等，即</a:t>
              </a:r>
              <a:r>
                <a:rPr lang="en-US" altLang="zh-CN" sz="1200" dirty="0">
                  <a:latin typeface="微软雅黑" panose="020B0503020204020204" pitchFamily="34" charset="-122"/>
                  <a:ea typeface="微软雅黑" panose="020B0503020204020204" pitchFamily="34" charset="-122"/>
                </a:rPr>
                <a:t>            </a:t>
              </a:r>
              <a:r>
                <a:rPr lang="zh-CN" altLang="en-US" dirty="0"/>
                <a:t>。</a:t>
              </a:r>
            </a:p>
          </p:txBody>
        </p:sp>
        <p:graphicFrame>
          <p:nvGraphicFramePr>
            <p:cNvPr id="93" name="对象 92"/>
            <p:cNvGraphicFramePr>
              <a:graphicFrameLocks noChangeAspect="1"/>
            </p:cNvGraphicFramePr>
            <p:nvPr/>
          </p:nvGraphicFramePr>
          <p:xfrm>
            <a:off x="9665446" y="1855116"/>
            <a:ext cx="364828" cy="364828"/>
          </p:xfrm>
          <a:graphic>
            <a:graphicData uri="http://schemas.openxmlformats.org/presentationml/2006/ole">
              <mc:AlternateContent xmlns:mc="http://schemas.openxmlformats.org/markup-compatibility/2006">
                <mc:Choice xmlns:v="urn:schemas-microsoft-com:vml" Requires="v">
                  <p:oleObj spid="_x0000_s92159" r:id="rId14" imgW="164957" imgH="203024" progId="Equation.DSMT4">
                    <p:embed/>
                  </p:oleObj>
                </mc:Choice>
                <mc:Fallback>
                  <p:oleObj r:id="rId14" imgW="164957" imgH="203024" progId="Equation.DSMT4">
                    <p:embed/>
                    <p:pic>
                      <p:nvPicPr>
                        <p:cNvPr id="93" name="对象 9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665446" y="1855116"/>
                          <a:ext cx="364828" cy="364828"/>
                        </a:xfrm>
                        <a:prstGeom prst="rect">
                          <a:avLst/>
                        </a:prstGeom>
                        <a:noFill/>
                      </p:spPr>
                    </p:pic>
                  </p:oleObj>
                </mc:Fallback>
              </mc:AlternateContent>
            </a:graphicData>
          </a:graphic>
        </p:graphicFrame>
        <p:graphicFrame>
          <p:nvGraphicFramePr>
            <p:cNvPr id="95" name="对象 94"/>
            <p:cNvGraphicFramePr>
              <a:graphicFrameLocks noChangeAspect="1"/>
            </p:cNvGraphicFramePr>
            <p:nvPr>
              <p:extLst>
                <p:ext uri="{D42A27DB-BD31-4B8C-83A1-F6EECF244321}">
                  <p14:modId xmlns:p14="http://schemas.microsoft.com/office/powerpoint/2010/main" val="3766268709"/>
                </p:ext>
              </p:extLst>
            </p:nvPr>
          </p:nvGraphicFramePr>
          <p:xfrm>
            <a:off x="7461941" y="2172480"/>
            <a:ext cx="360488" cy="360488"/>
          </p:xfrm>
          <a:graphic>
            <a:graphicData uri="http://schemas.openxmlformats.org/presentationml/2006/ole">
              <mc:AlternateContent xmlns:mc="http://schemas.openxmlformats.org/markup-compatibility/2006">
                <mc:Choice xmlns:v="urn:schemas-microsoft-com:vml" Requires="v">
                  <p:oleObj spid="_x0000_s94208" r:id="rId16" imgW="164957" imgH="203024" progId="Equation.DSMT4">
                    <p:embed/>
                  </p:oleObj>
                </mc:Choice>
                <mc:Fallback>
                  <p:oleObj r:id="rId16" imgW="164957" imgH="203024" progId="Equation.DSMT4">
                    <p:embed/>
                    <p:pic>
                      <p:nvPicPr>
                        <p:cNvPr id="95" name="对象 9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461941" y="2172480"/>
                          <a:ext cx="360488" cy="360488"/>
                        </a:xfrm>
                        <a:prstGeom prst="rect">
                          <a:avLst/>
                        </a:prstGeom>
                        <a:noFill/>
                      </p:spPr>
                    </p:pic>
                  </p:oleObj>
                </mc:Fallback>
              </mc:AlternateContent>
            </a:graphicData>
          </a:graphic>
        </p:graphicFrame>
        <p:graphicFrame>
          <p:nvGraphicFramePr>
            <p:cNvPr id="97" name="对象 96"/>
            <p:cNvGraphicFramePr>
              <a:graphicFrameLocks noChangeAspect="1"/>
            </p:cNvGraphicFramePr>
            <p:nvPr>
              <p:extLst>
                <p:ext uri="{D42A27DB-BD31-4B8C-83A1-F6EECF244321}">
                  <p14:modId xmlns:p14="http://schemas.microsoft.com/office/powerpoint/2010/main" val="4230717762"/>
                </p:ext>
              </p:extLst>
            </p:nvPr>
          </p:nvGraphicFramePr>
          <p:xfrm>
            <a:off x="8647789" y="2213791"/>
            <a:ext cx="638355" cy="319177"/>
          </p:xfrm>
          <a:graphic>
            <a:graphicData uri="http://schemas.openxmlformats.org/presentationml/2006/ole">
              <mc:AlternateContent xmlns:mc="http://schemas.openxmlformats.org/markup-compatibility/2006">
                <mc:Choice xmlns:v="urn:schemas-microsoft-com:vml" Requires="v">
                  <p:oleObj spid="_x0000_s94209" r:id="rId18" imgW="418918" imgH="203112" progId="Equation.DSMT4">
                    <p:embed/>
                  </p:oleObj>
                </mc:Choice>
                <mc:Fallback>
                  <p:oleObj r:id="rId18" imgW="418918" imgH="203112" progId="Equation.DSMT4">
                    <p:embed/>
                    <p:pic>
                      <p:nvPicPr>
                        <p:cNvPr id="97" name="对象 9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647789" y="2213791"/>
                          <a:ext cx="638355" cy="319177"/>
                        </a:xfrm>
                        <a:prstGeom prst="rect">
                          <a:avLst/>
                        </a:prstGeom>
                        <a:noFill/>
                      </p:spPr>
                    </p:pic>
                  </p:oleObj>
                </mc:Fallback>
              </mc:AlternateContent>
            </a:graphicData>
          </a:graphic>
        </p:graphicFrame>
      </p:grpSp>
      <p:sp>
        <p:nvSpPr>
          <p:cNvPr id="107" name="Rectangle 67"/>
          <p:cNvSpPr>
            <a:spLocks noChangeArrowheads="1"/>
          </p:cNvSpPr>
          <p:nvPr/>
        </p:nvSpPr>
        <p:spPr bwMode="auto">
          <a:xfrm>
            <a:off x="0"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sp>
        <p:nvSpPr>
          <p:cNvPr id="109" name="Rectangle 69"/>
          <p:cNvSpPr>
            <a:spLocks noChangeArrowheads="1"/>
          </p:cNvSpPr>
          <p:nvPr/>
        </p:nvSpPr>
        <p:spPr bwMode="auto">
          <a:xfrm>
            <a:off x="0"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sp>
        <p:nvSpPr>
          <p:cNvPr id="111" name="Rectangle 71"/>
          <p:cNvSpPr>
            <a:spLocks noChangeArrowheads="1"/>
          </p:cNvSpPr>
          <p:nvPr/>
        </p:nvSpPr>
        <p:spPr bwMode="auto">
          <a:xfrm>
            <a:off x="0"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sp>
        <p:nvSpPr>
          <p:cNvPr id="113" name="Rectangle 73"/>
          <p:cNvSpPr>
            <a:spLocks noChangeArrowheads="1"/>
          </p:cNvSpPr>
          <p:nvPr/>
        </p:nvSpPr>
        <p:spPr bwMode="auto">
          <a:xfrm>
            <a:off x="0"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grpSp>
        <p:nvGrpSpPr>
          <p:cNvPr id="7" name="组合 6"/>
          <p:cNvGrpSpPr/>
          <p:nvPr/>
        </p:nvGrpSpPr>
        <p:grpSpPr>
          <a:xfrm>
            <a:off x="4684998" y="3441698"/>
            <a:ext cx="4283869" cy="611706"/>
            <a:chOff x="6246664" y="3591214"/>
            <a:chExt cx="5711825" cy="815607"/>
          </a:xfrm>
        </p:grpSpPr>
        <p:sp>
          <p:nvSpPr>
            <p:cNvPr id="106" name="文本框 105"/>
            <p:cNvSpPr txBox="1"/>
            <p:nvPr/>
          </p:nvSpPr>
          <p:spPr>
            <a:xfrm>
              <a:off x="6246664" y="3591214"/>
              <a:ext cx="5711825" cy="815607"/>
            </a:xfrm>
            <a:prstGeom prst="rect">
              <a:avLst/>
            </a:prstGeom>
            <a:noFill/>
          </p:spPr>
          <p:txBody>
            <a:bodyPr wrap="square" rtlCol="0">
              <a:spAutoFit/>
            </a:bodyPr>
            <a:lstStyle/>
            <a:p>
              <a:pPr algn="just"/>
              <a:r>
                <a:rPr lang="en-US" altLang="zh-CN" sz="1125" dirty="0">
                  <a:latin typeface="微软雅黑" panose="020B0503020204020204" pitchFamily="34" charset="-122"/>
                  <a:ea typeface="微软雅黑" panose="020B0503020204020204" pitchFamily="34" charset="-122"/>
                </a:rPr>
                <a:t>    </a:t>
              </a:r>
              <a:r>
                <a:rPr lang="zh-CN" altLang="zh-CN" sz="1125" dirty="0">
                  <a:latin typeface="微软雅黑" panose="020B0503020204020204" pitchFamily="34" charset="-122"/>
                  <a:ea typeface="微软雅黑" panose="020B0503020204020204" pitchFamily="34" charset="-122"/>
                </a:rPr>
                <a:t>仅仅是</a:t>
              </a:r>
              <a:r>
                <a:rPr lang="en-US" altLang="zh-CN" sz="1125" dirty="0">
                  <a:latin typeface="微软雅黑" panose="020B0503020204020204" pitchFamily="34" charset="-122"/>
                  <a:ea typeface="微软雅黑" panose="020B0503020204020204" pitchFamily="34" charset="-122"/>
                </a:rPr>
                <a:t>x</a:t>
              </a:r>
              <a:r>
                <a:rPr lang="zh-CN" altLang="zh-CN" sz="1125" dirty="0">
                  <a:latin typeface="微软雅黑" panose="020B0503020204020204" pitchFamily="34" charset="-122"/>
                  <a:ea typeface="微软雅黑" panose="020B0503020204020204" pitchFamily="34" charset="-122"/>
                </a:rPr>
                <a:t>与</a:t>
              </a:r>
              <a:r>
                <a:rPr lang="en-US" altLang="zh-CN" sz="1125" dirty="0">
                  <a:latin typeface="微软雅黑" panose="020B0503020204020204" pitchFamily="34" charset="-122"/>
                  <a:ea typeface="微软雅黑" panose="020B0503020204020204" pitchFamily="34" charset="-122"/>
                </a:rPr>
                <a:t>y</a:t>
              </a:r>
              <a:r>
                <a:rPr lang="zh-CN" altLang="zh-CN" sz="1125" dirty="0">
                  <a:latin typeface="微软雅黑" panose="020B0503020204020204" pitchFamily="34" charset="-122"/>
                  <a:ea typeface="微软雅黑" panose="020B0503020204020204" pitchFamily="34" charset="-122"/>
                </a:rPr>
                <a:t>之间线性关系的一个度量</a:t>
              </a:r>
              <a:r>
                <a:rPr lang="en-US" altLang="zh-CN" sz="1125" dirty="0">
                  <a:latin typeface="微软雅黑" panose="020B0503020204020204" pitchFamily="34" charset="-122"/>
                  <a:ea typeface="微软雅黑" panose="020B0503020204020204" pitchFamily="34" charset="-122"/>
                </a:rPr>
                <a:t>,        </a:t>
              </a:r>
              <a:r>
                <a:rPr lang="zh-CN" altLang="zh-CN" sz="1125" dirty="0">
                  <a:latin typeface="微软雅黑" panose="020B0503020204020204" pitchFamily="34" charset="-122"/>
                  <a:ea typeface="微软雅黑" panose="020B0503020204020204" pitchFamily="34" charset="-122"/>
                </a:rPr>
                <a:t>只表示两个变量之间不存在线性相关关系，并不说明变量之间没有任何关系，它们之间可能存在非线性相关关系。</a:t>
              </a:r>
              <a:endParaRPr lang="zh-CN" altLang="en-US" sz="1125" dirty="0"/>
            </a:p>
          </p:txBody>
        </p:sp>
        <p:graphicFrame>
          <p:nvGraphicFramePr>
            <p:cNvPr id="108" name="对象 107"/>
            <p:cNvGraphicFramePr>
              <a:graphicFrameLocks noChangeAspect="1"/>
            </p:cNvGraphicFramePr>
            <p:nvPr/>
          </p:nvGraphicFramePr>
          <p:xfrm>
            <a:off x="6423807" y="3633457"/>
            <a:ext cx="201070" cy="201070"/>
          </p:xfrm>
          <a:graphic>
            <a:graphicData uri="http://schemas.openxmlformats.org/presentationml/2006/ole">
              <mc:AlternateContent xmlns:mc="http://schemas.openxmlformats.org/markup-compatibility/2006">
                <mc:Choice xmlns:v="urn:schemas-microsoft-com:vml" Requires="v">
                  <p:oleObj spid="_x0000_s94210" name="Equation" r:id="rId20" imgW="101468" imgH="114151" progId="Equation.DSMT4">
                    <p:embed/>
                  </p:oleObj>
                </mc:Choice>
                <mc:Fallback>
                  <p:oleObj name="Equation" r:id="rId20" imgW="101468" imgH="114151" progId="Equation.DSMT4">
                    <p:embed/>
                    <p:pic>
                      <p:nvPicPr>
                        <p:cNvPr id="108" name="对象 10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423807" y="3633457"/>
                          <a:ext cx="201070" cy="201070"/>
                        </a:xfrm>
                        <a:prstGeom prst="rect">
                          <a:avLst/>
                        </a:prstGeom>
                        <a:noFill/>
                      </p:spPr>
                    </p:pic>
                  </p:oleObj>
                </mc:Fallback>
              </mc:AlternateContent>
            </a:graphicData>
          </a:graphic>
        </p:graphicFrame>
        <p:graphicFrame>
          <p:nvGraphicFramePr>
            <p:cNvPr id="110" name="对象 109"/>
            <p:cNvGraphicFramePr>
              <a:graphicFrameLocks noChangeAspect="1"/>
            </p:cNvGraphicFramePr>
            <p:nvPr/>
          </p:nvGraphicFramePr>
          <p:xfrm>
            <a:off x="9695170" y="3596978"/>
            <a:ext cx="381790" cy="253791"/>
          </p:xfrm>
          <a:graphic>
            <a:graphicData uri="http://schemas.openxmlformats.org/presentationml/2006/ole">
              <mc:AlternateContent xmlns:mc="http://schemas.openxmlformats.org/markup-compatibility/2006">
                <mc:Choice xmlns:v="urn:schemas-microsoft-com:vml" Requires="v">
                  <p:oleObj spid="_x0000_s94211" r:id="rId22" imgW="304536" imgH="152268" progId="Equation.DSMT4">
                    <p:embed/>
                  </p:oleObj>
                </mc:Choice>
                <mc:Fallback>
                  <p:oleObj r:id="rId22" imgW="304536" imgH="152268" progId="Equation.DSMT4">
                    <p:embed/>
                    <p:pic>
                      <p:nvPicPr>
                        <p:cNvPr id="110" name="对象 109"/>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695170" y="3596978"/>
                          <a:ext cx="381790" cy="253791"/>
                        </a:xfrm>
                        <a:prstGeom prst="rect">
                          <a:avLst/>
                        </a:prstGeom>
                        <a:noFill/>
                      </p:spPr>
                    </p:pic>
                  </p:oleObj>
                </mc:Fallback>
              </mc:AlternateContent>
            </a:graphicData>
          </a:graphic>
        </p:graphicFrame>
      </p:grpSp>
      <p:sp>
        <p:nvSpPr>
          <p:cNvPr id="116" name="Rectangle 75"/>
          <p:cNvSpPr>
            <a:spLocks noChangeArrowheads="1"/>
          </p:cNvSpPr>
          <p:nvPr/>
        </p:nvSpPr>
        <p:spPr bwMode="auto">
          <a:xfrm>
            <a:off x="0" y="684126"/>
            <a:ext cx="9561350"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zh-CN" altLang="en-US"/>
          </a:p>
        </p:txBody>
      </p:sp>
      <p:sp>
        <p:nvSpPr>
          <p:cNvPr id="118" name="Rectangle 77"/>
          <p:cNvSpPr>
            <a:spLocks noChangeArrowheads="1"/>
          </p:cNvSpPr>
          <p:nvPr/>
        </p:nvSpPr>
        <p:spPr bwMode="auto">
          <a:xfrm>
            <a:off x="-1" y="684126"/>
            <a:ext cx="10429583"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zh-CN" altLang="en-US"/>
          </a:p>
        </p:txBody>
      </p:sp>
      <p:sp>
        <p:nvSpPr>
          <p:cNvPr id="120" name="Rectangle 109"/>
          <p:cNvSpPr>
            <a:spLocks noChangeArrowheads="1"/>
          </p:cNvSpPr>
          <p:nvPr/>
        </p:nvSpPr>
        <p:spPr bwMode="auto">
          <a:xfrm>
            <a:off x="0" y="684126"/>
            <a:ext cx="9144000"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zh-CN" altLang="en-US"/>
          </a:p>
        </p:txBody>
      </p:sp>
      <p:sp>
        <p:nvSpPr>
          <p:cNvPr id="122" name="Rectangle 111"/>
          <p:cNvSpPr>
            <a:spLocks noChangeArrowheads="1"/>
          </p:cNvSpPr>
          <p:nvPr/>
        </p:nvSpPr>
        <p:spPr bwMode="auto">
          <a:xfrm>
            <a:off x="0"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sp>
        <p:nvSpPr>
          <p:cNvPr id="124" name="Rectangle 113"/>
          <p:cNvSpPr>
            <a:spLocks noChangeArrowheads="1"/>
          </p:cNvSpPr>
          <p:nvPr/>
        </p:nvSpPr>
        <p:spPr bwMode="auto">
          <a:xfrm>
            <a:off x="1113830" y="5041035"/>
            <a:ext cx="8179398"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zh-CN" altLang="en-US"/>
          </a:p>
        </p:txBody>
      </p:sp>
      <p:sp>
        <p:nvSpPr>
          <p:cNvPr id="126" name="Rectangle 115"/>
          <p:cNvSpPr>
            <a:spLocks noChangeArrowheads="1"/>
          </p:cNvSpPr>
          <p:nvPr/>
        </p:nvSpPr>
        <p:spPr bwMode="auto">
          <a:xfrm>
            <a:off x="0"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grpSp>
        <p:nvGrpSpPr>
          <p:cNvPr id="128" name="组合 127"/>
          <p:cNvGrpSpPr/>
          <p:nvPr/>
        </p:nvGrpSpPr>
        <p:grpSpPr>
          <a:xfrm>
            <a:off x="138772" y="4681279"/>
            <a:ext cx="4364705" cy="981038"/>
            <a:chOff x="268456" y="5271497"/>
            <a:chExt cx="5819607" cy="1308050"/>
          </a:xfrm>
        </p:grpSpPr>
        <p:sp>
          <p:nvSpPr>
            <p:cNvPr id="115" name="文本框 114"/>
            <p:cNvSpPr txBox="1"/>
            <p:nvPr/>
          </p:nvSpPr>
          <p:spPr>
            <a:xfrm>
              <a:off x="268456" y="5271497"/>
              <a:ext cx="5819607" cy="1308050"/>
            </a:xfrm>
            <a:prstGeom prst="rect">
              <a:avLst/>
            </a:prstGeom>
            <a:noFill/>
          </p:spPr>
          <p:txBody>
            <a:bodyPr wrap="square" rtlCol="0">
              <a:spAutoFit/>
            </a:bodyPr>
            <a:lstStyle/>
            <a:p>
              <a:pPr algn="just"/>
              <a:r>
                <a:rPr lang="en-US" altLang="zh-CN" sz="1125" dirty="0">
                  <a:latin typeface="微软雅黑" panose="020B0503020204020204" pitchFamily="34" charset="-122"/>
                  <a:ea typeface="微软雅黑" panose="020B0503020204020204" pitchFamily="34" charset="-122"/>
                </a:rPr>
                <a:t>        </a:t>
              </a:r>
              <a:r>
                <a:rPr lang="zh-CN" altLang="zh-CN" sz="1125" dirty="0">
                  <a:latin typeface="微软雅黑" panose="020B0503020204020204" pitchFamily="34" charset="-122"/>
                  <a:ea typeface="微软雅黑" panose="020B0503020204020204" pitchFamily="34" charset="-122"/>
                </a:rPr>
                <a:t>说明两个变量之间的线性关系越强；</a:t>
              </a:r>
              <a:r>
                <a:rPr lang="en-US" altLang="zh-CN" sz="1125" dirty="0">
                  <a:latin typeface="微软雅黑" panose="020B0503020204020204" pitchFamily="34" charset="-122"/>
                  <a:ea typeface="微软雅黑" panose="020B0503020204020204" pitchFamily="34" charset="-122"/>
                </a:rPr>
                <a:t>      </a:t>
              </a:r>
              <a:r>
                <a:rPr lang="zh-CN" altLang="zh-CN" sz="1125" dirty="0">
                  <a:latin typeface="微软雅黑" panose="020B0503020204020204" pitchFamily="34" charset="-122"/>
                  <a:ea typeface="微软雅黑" panose="020B0503020204020204" pitchFamily="34" charset="-122"/>
                </a:rPr>
                <a:t>说明两个变量之间的线性关系越弱。</a:t>
              </a:r>
              <a:r>
                <a:rPr lang="zh-CN" altLang="en-US" sz="1125" dirty="0">
                  <a:latin typeface="微软雅黑" panose="020B0503020204020204" pitchFamily="34" charset="-122"/>
                  <a:ea typeface="微软雅黑" panose="020B0503020204020204" pitchFamily="34" charset="-122"/>
                </a:rPr>
                <a:t>当         </a:t>
              </a:r>
              <a:r>
                <a:rPr lang="zh-CN" altLang="zh-CN" sz="1125" dirty="0">
                  <a:latin typeface="微软雅黑" panose="020B0503020204020204" pitchFamily="34" charset="-122"/>
                  <a:ea typeface="微软雅黑" panose="020B0503020204020204" pitchFamily="34" charset="-122"/>
                </a:rPr>
                <a:t>时可视为高度相关；</a:t>
              </a:r>
              <a:r>
                <a:rPr lang="en-US" altLang="zh-CN" sz="1125" dirty="0">
                  <a:latin typeface="微软雅黑" panose="020B0503020204020204" pitchFamily="34" charset="-122"/>
                  <a:ea typeface="微软雅黑" panose="020B0503020204020204" pitchFamily="34" charset="-122"/>
                </a:rPr>
                <a:t>                </a:t>
              </a:r>
              <a:r>
                <a:rPr lang="zh-CN" altLang="zh-CN" sz="1125" dirty="0">
                  <a:latin typeface="微软雅黑" panose="020B0503020204020204" pitchFamily="34" charset="-122"/>
                  <a:ea typeface="微软雅黑" panose="020B0503020204020204" pitchFamily="34" charset="-122"/>
                </a:rPr>
                <a:t>时</a:t>
              </a:r>
              <a:r>
                <a:rPr lang="zh-CN" altLang="en-US" sz="1125" dirty="0">
                  <a:latin typeface="微软雅黑" panose="020B0503020204020204" pitchFamily="34" charset="-122"/>
                  <a:ea typeface="微软雅黑" panose="020B0503020204020204" pitchFamily="34" charset="-122"/>
                </a:rPr>
                <a:t>，</a:t>
              </a:r>
              <a:r>
                <a:rPr lang="zh-CN" altLang="zh-CN" sz="1125" dirty="0">
                  <a:latin typeface="微软雅黑" panose="020B0503020204020204" pitchFamily="34" charset="-122"/>
                  <a:ea typeface="微软雅黑" panose="020B0503020204020204" pitchFamily="34" charset="-122"/>
                </a:rPr>
                <a:t>可视为中度相关；</a:t>
              </a:r>
              <a:r>
                <a:rPr lang="zh-CN" altLang="en-US" sz="1125" dirty="0">
                  <a:latin typeface="微软雅黑" panose="020B0503020204020204" pitchFamily="34" charset="-122"/>
                  <a:ea typeface="微软雅黑" panose="020B0503020204020204" pitchFamily="34" charset="-122"/>
                </a:rPr>
                <a:t>当                 </a:t>
              </a:r>
              <a:r>
                <a:rPr lang="zh-CN" altLang="zh-CN" sz="1200" dirty="0"/>
                <a:t>时，视为低度相关；</a:t>
              </a:r>
              <a:r>
                <a:rPr lang="zh-CN" altLang="en-US" sz="1125" dirty="0">
                  <a:latin typeface="微软雅黑" panose="020B0503020204020204" pitchFamily="34" charset="-122"/>
                  <a:ea typeface="微软雅黑" panose="020B0503020204020204" pitchFamily="34" charset="-122"/>
                </a:rPr>
                <a:t>当          ，</a:t>
              </a:r>
              <a:r>
                <a:rPr lang="zh-CN" altLang="zh-CN" sz="1125" dirty="0">
                  <a:latin typeface="微软雅黑" panose="020B0503020204020204" pitchFamily="34" charset="-122"/>
                  <a:ea typeface="微软雅黑" panose="020B0503020204020204" pitchFamily="34" charset="-122"/>
                </a:rPr>
                <a:t>说明两个变量之间的相关程度极弱。但这种解释必须建立在对相关系数的显著性进行检验的基础之上</a:t>
              </a:r>
              <a:r>
                <a:rPr lang="zh-CN" altLang="zh-CN" sz="1200" dirty="0"/>
                <a:t>。</a:t>
              </a:r>
              <a:endParaRPr lang="zh-CN" altLang="en-US" sz="1125" dirty="0">
                <a:latin typeface="微软雅黑" panose="020B0503020204020204" pitchFamily="34" charset="-122"/>
                <a:ea typeface="微软雅黑" panose="020B0503020204020204" pitchFamily="34" charset="-122"/>
              </a:endParaRPr>
            </a:p>
          </p:txBody>
        </p:sp>
        <p:graphicFrame>
          <p:nvGraphicFramePr>
            <p:cNvPr id="117" name="对象 116"/>
            <p:cNvGraphicFramePr>
              <a:graphicFrameLocks noChangeAspect="1"/>
            </p:cNvGraphicFramePr>
            <p:nvPr/>
          </p:nvGraphicFramePr>
          <p:xfrm>
            <a:off x="339063" y="5314341"/>
            <a:ext cx="507083" cy="253542"/>
          </p:xfrm>
          <a:graphic>
            <a:graphicData uri="http://schemas.openxmlformats.org/presentationml/2006/ole">
              <mc:AlternateContent xmlns:mc="http://schemas.openxmlformats.org/markup-compatibility/2006">
                <mc:Choice xmlns:v="urn:schemas-microsoft-com:vml" Requires="v">
                  <p:oleObj spid="_x0000_s94212" r:id="rId24" imgW="368140" imgH="215806" progId="Equation.DSMT4">
                    <p:embed/>
                  </p:oleObj>
                </mc:Choice>
                <mc:Fallback>
                  <p:oleObj r:id="rId24" imgW="368140" imgH="215806" progId="Equation.DSMT4">
                    <p:embed/>
                    <p:pic>
                      <p:nvPicPr>
                        <p:cNvPr id="117" name="对象 116"/>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39063" y="5314341"/>
                          <a:ext cx="507083" cy="253542"/>
                        </a:xfrm>
                        <a:prstGeom prst="rect">
                          <a:avLst/>
                        </a:prstGeom>
                        <a:noFill/>
                      </p:spPr>
                    </p:pic>
                  </p:oleObj>
                </mc:Fallback>
              </mc:AlternateContent>
            </a:graphicData>
          </a:graphic>
        </p:graphicFrame>
        <p:graphicFrame>
          <p:nvGraphicFramePr>
            <p:cNvPr id="119" name="对象 118"/>
            <p:cNvGraphicFramePr>
              <a:graphicFrameLocks noChangeAspect="1"/>
            </p:cNvGraphicFramePr>
            <p:nvPr/>
          </p:nvGraphicFramePr>
          <p:xfrm>
            <a:off x="3856247" y="5325571"/>
            <a:ext cx="448317" cy="224159"/>
          </p:xfrm>
          <a:graphic>
            <a:graphicData uri="http://schemas.openxmlformats.org/presentationml/2006/ole">
              <mc:AlternateContent xmlns:mc="http://schemas.openxmlformats.org/markup-compatibility/2006">
                <mc:Choice xmlns:v="urn:schemas-microsoft-com:vml" Requires="v">
                  <p:oleObj spid="_x0000_s94213" r:id="rId26" imgW="393359" imgH="215713" progId="Equation.DSMT4">
                    <p:embed/>
                  </p:oleObj>
                </mc:Choice>
                <mc:Fallback>
                  <p:oleObj r:id="rId26" imgW="393359" imgH="215713" progId="Equation.DSMT4">
                    <p:embed/>
                    <p:pic>
                      <p:nvPicPr>
                        <p:cNvPr id="119" name="对象 118"/>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856247" y="5325571"/>
                          <a:ext cx="448317" cy="224159"/>
                        </a:xfrm>
                        <a:prstGeom prst="rect">
                          <a:avLst/>
                        </a:prstGeom>
                        <a:noFill/>
                      </p:spPr>
                    </p:pic>
                  </p:oleObj>
                </mc:Fallback>
              </mc:AlternateContent>
            </a:graphicData>
          </a:graphic>
        </p:graphicFrame>
        <p:graphicFrame>
          <p:nvGraphicFramePr>
            <p:cNvPr id="121" name="对象 120"/>
            <p:cNvGraphicFramePr>
              <a:graphicFrameLocks noChangeAspect="1"/>
            </p:cNvGraphicFramePr>
            <p:nvPr/>
          </p:nvGraphicFramePr>
          <p:xfrm>
            <a:off x="1895015" y="5578227"/>
            <a:ext cx="457200" cy="182563"/>
          </p:xfrm>
          <a:graphic>
            <a:graphicData uri="http://schemas.openxmlformats.org/presentationml/2006/ole">
              <mc:AlternateContent xmlns:mc="http://schemas.openxmlformats.org/markup-compatibility/2006">
                <mc:Choice xmlns:v="urn:schemas-microsoft-com:vml" Requires="v">
                  <p:oleObj spid="_x0000_s94214" r:id="rId28" imgW="457200" imgH="152400" progId="Equation.DSMT4">
                    <p:embed/>
                  </p:oleObj>
                </mc:Choice>
                <mc:Fallback>
                  <p:oleObj r:id="rId28" imgW="457200" imgH="152400" progId="Equation.DSMT4">
                    <p:embed/>
                    <p:pic>
                      <p:nvPicPr>
                        <p:cNvPr id="121" name="对象 120"/>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895015" y="5578227"/>
                          <a:ext cx="457200" cy="182563"/>
                        </a:xfrm>
                        <a:prstGeom prst="rect">
                          <a:avLst/>
                        </a:prstGeom>
                        <a:noFill/>
                      </p:spPr>
                    </p:pic>
                  </p:oleObj>
                </mc:Fallback>
              </mc:AlternateContent>
            </a:graphicData>
          </a:graphic>
        </p:graphicFrame>
        <p:graphicFrame>
          <p:nvGraphicFramePr>
            <p:cNvPr id="123" name="对象 122"/>
            <p:cNvGraphicFramePr>
              <a:graphicFrameLocks noChangeAspect="1"/>
            </p:cNvGraphicFramePr>
            <p:nvPr/>
          </p:nvGraphicFramePr>
          <p:xfrm>
            <a:off x="4039250" y="5558783"/>
            <a:ext cx="1028998" cy="228446"/>
          </p:xfrm>
          <a:graphic>
            <a:graphicData uri="http://schemas.openxmlformats.org/presentationml/2006/ole">
              <mc:AlternateContent xmlns:mc="http://schemas.openxmlformats.org/markup-compatibility/2006">
                <mc:Choice xmlns:v="urn:schemas-microsoft-com:vml" Requires="v">
                  <p:oleObj spid="_x0000_s94215" r:id="rId30" imgW="850531" imgH="215806" progId="Equation.DSMT4">
                    <p:embed/>
                  </p:oleObj>
                </mc:Choice>
                <mc:Fallback>
                  <p:oleObj r:id="rId30" imgW="850531" imgH="215806" progId="Equation.DSMT4">
                    <p:embed/>
                    <p:pic>
                      <p:nvPicPr>
                        <p:cNvPr id="123" name="对象 122"/>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039250" y="5558783"/>
                          <a:ext cx="1028998" cy="228446"/>
                        </a:xfrm>
                        <a:prstGeom prst="rect">
                          <a:avLst/>
                        </a:prstGeom>
                        <a:noFill/>
                      </p:spPr>
                    </p:pic>
                  </p:oleObj>
                </mc:Fallback>
              </mc:AlternateContent>
            </a:graphicData>
          </a:graphic>
        </p:graphicFrame>
        <p:graphicFrame>
          <p:nvGraphicFramePr>
            <p:cNvPr id="125" name="对象 124"/>
            <p:cNvGraphicFramePr>
              <a:graphicFrameLocks noChangeAspect="1"/>
            </p:cNvGraphicFramePr>
            <p:nvPr/>
          </p:nvGraphicFramePr>
          <p:xfrm>
            <a:off x="1525580" y="5795026"/>
            <a:ext cx="1002992" cy="222672"/>
          </p:xfrm>
          <a:graphic>
            <a:graphicData uri="http://schemas.openxmlformats.org/presentationml/2006/ole">
              <mc:AlternateContent xmlns:mc="http://schemas.openxmlformats.org/markup-compatibility/2006">
                <mc:Choice xmlns:v="urn:schemas-microsoft-com:vml" Requires="v">
                  <p:oleObj spid="_x0000_s94216" r:id="rId32" imgW="850531" imgH="215806" progId="Equation.DSMT4">
                    <p:embed/>
                  </p:oleObj>
                </mc:Choice>
                <mc:Fallback>
                  <p:oleObj r:id="rId32" imgW="850531" imgH="215806" progId="Equation.DSMT4">
                    <p:embed/>
                    <p:pic>
                      <p:nvPicPr>
                        <p:cNvPr id="125" name="对象 124"/>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1525580" y="5795026"/>
                          <a:ext cx="1002992" cy="222672"/>
                        </a:xfrm>
                        <a:prstGeom prst="rect">
                          <a:avLst/>
                        </a:prstGeom>
                        <a:noFill/>
                      </p:spPr>
                    </p:pic>
                  </p:oleObj>
                </mc:Fallback>
              </mc:AlternateContent>
            </a:graphicData>
          </a:graphic>
        </p:graphicFrame>
        <p:graphicFrame>
          <p:nvGraphicFramePr>
            <p:cNvPr id="127" name="对象 126"/>
            <p:cNvGraphicFramePr>
              <a:graphicFrameLocks noChangeAspect="1"/>
            </p:cNvGraphicFramePr>
            <p:nvPr/>
          </p:nvGraphicFramePr>
          <p:xfrm>
            <a:off x="4628606" y="5791755"/>
            <a:ext cx="577597" cy="230639"/>
          </p:xfrm>
          <a:graphic>
            <a:graphicData uri="http://schemas.openxmlformats.org/presentationml/2006/ole">
              <mc:AlternateContent xmlns:mc="http://schemas.openxmlformats.org/markup-compatibility/2006">
                <mc:Choice xmlns:v="urn:schemas-microsoft-com:vml" Requires="v">
                  <p:oleObj spid="_x0000_s94217" r:id="rId34" imgW="494870" imgH="215713" progId="Equation.DSMT4">
                    <p:embed/>
                  </p:oleObj>
                </mc:Choice>
                <mc:Fallback>
                  <p:oleObj r:id="rId34" imgW="494870" imgH="215713" progId="Equation.DSMT4">
                    <p:embed/>
                    <p:pic>
                      <p:nvPicPr>
                        <p:cNvPr id="127" name="对象 126"/>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4628606" y="5791755"/>
                          <a:ext cx="577597" cy="230639"/>
                        </a:xfrm>
                        <a:prstGeom prst="rect">
                          <a:avLst/>
                        </a:prstGeom>
                        <a:noFill/>
                      </p:spPr>
                    </p:pic>
                  </p:oleObj>
                </mc:Fallback>
              </mc:AlternateContent>
            </a:graphicData>
          </a:graphic>
        </p:graphicFrame>
      </p:grpSp>
      <p:grpSp>
        <p:nvGrpSpPr>
          <p:cNvPr id="130" name="组合 129"/>
          <p:cNvGrpSpPr/>
          <p:nvPr/>
        </p:nvGrpSpPr>
        <p:grpSpPr>
          <a:xfrm>
            <a:off x="259944" y="3491391"/>
            <a:ext cx="4214108" cy="438582"/>
            <a:chOff x="393671" y="3749343"/>
            <a:chExt cx="4815361" cy="584775"/>
          </a:xfrm>
        </p:grpSpPr>
        <p:grpSp>
          <p:nvGrpSpPr>
            <p:cNvPr id="105" name="组合 104"/>
            <p:cNvGrpSpPr/>
            <p:nvPr/>
          </p:nvGrpSpPr>
          <p:grpSpPr>
            <a:xfrm>
              <a:off x="393671" y="3749343"/>
              <a:ext cx="4815361" cy="584775"/>
              <a:chOff x="316681" y="3741037"/>
              <a:chExt cx="4815361" cy="584775"/>
            </a:xfrm>
          </p:grpSpPr>
          <p:sp>
            <p:nvSpPr>
              <p:cNvPr id="99" name="文本框 98"/>
              <p:cNvSpPr txBox="1"/>
              <p:nvPr/>
            </p:nvSpPr>
            <p:spPr>
              <a:xfrm>
                <a:off x="316681" y="3741037"/>
                <a:ext cx="4815361" cy="584775"/>
              </a:xfrm>
              <a:prstGeom prst="rect">
                <a:avLst/>
              </a:prstGeom>
              <a:noFill/>
            </p:spPr>
            <p:txBody>
              <a:bodyPr wrap="square" rtlCol="0">
                <a:spAutoFit/>
              </a:bodyPr>
              <a:lstStyle/>
              <a:p>
                <a:r>
                  <a:rPr lang="en-US" altLang="zh-CN" sz="1125" dirty="0">
                    <a:latin typeface="微软雅黑" panose="020B0503020204020204" pitchFamily="34" charset="-122"/>
                    <a:ea typeface="微软雅黑" panose="020B0503020204020204" pitchFamily="34" charset="-122"/>
                  </a:rPr>
                  <a:t>    </a:t>
                </a:r>
                <a:r>
                  <a:rPr lang="zh-CN" altLang="zh-CN" sz="1125" dirty="0">
                    <a:latin typeface="微软雅黑" panose="020B0503020204020204" pitchFamily="34" charset="-122"/>
                    <a:ea typeface="微软雅黑" panose="020B0503020204020204" pitchFamily="34" charset="-122"/>
                  </a:rPr>
                  <a:t>的数值大小与</a:t>
                </a:r>
                <a:r>
                  <a:rPr lang="en-US" altLang="zh-CN" sz="1125" dirty="0">
                    <a:latin typeface="微软雅黑" panose="020B0503020204020204" pitchFamily="34" charset="-122"/>
                    <a:ea typeface="微软雅黑" panose="020B0503020204020204" pitchFamily="34" charset="-122"/>
                  </a:rPr>
                  <a:t>x</a:t>
                </a:r>
                <a:r>
                  <a:rPr lang="zh-CN" altLang="zh-CN" sz="1125" dirty="0">
                    <a:latin typeface="微软雅黑" panose="020B0503020204020204" pitchFamily="34" charset="-122"/>
                    <a:ea typeface="微软雅黑" panose="020B0503020204020204" pitchFamily="34" charset="-122"/>
                  </a:rPr>
                  <a:t>和</a:t>
                </a:r>
                <a:r>
                  <a:rPr lang="en-US" altLang="zh-CN" sz="1125" dirty="0">
                    <a:latin typeface="微软雅黑" panose="020B0503020204020204" pitchFamily="34" charset="-122"/>
                    <a:ea typeface="微软雅黑" panose="020B0503020204020204" pitchFamily="34" charset="-122"/>
                  </a:rPr>
                  <a:t>y</a:t>
                </a:r>
                <a:r>
                  <a:rPr lang="zh-CN" altLang="zh-CN" sz="1125" dirty="0">
                    <a:latin typeface="微软雅黑" panose="020B0503020204020204" pitchFamily="34" charset="-122"/>
                    <a:ea typeface="微软雅黑" panose="020B0503020204020204" pitchFamily="34" charset="-122"/>
                  </a:rPr>
                  <a:t>的原点及尺度无关。改变</a:t>
                </a:r>
                <a:r>
                  <a:rPr lang="en-US" altLang="zh-CN" sz="1125" dirty="0">
                    <a:latin typeface="微软雅黑" panose="020B0503020204020204" pitchFamily="34" charset="-122"/>
                    <a:ea typeface="微软雅黑" panose="020B0503020204020204" pitchFamily="34" charset="-122"/>
                  </a:rPr>
                  <a:t>x</a:t>
                </a:r>
                <a:r>
                  <a:rPr lang="zh-CN" altLang="zh-CN" sz="1125" dirty="0">
                    <a:latin typeface="微软雅黑" panose="020B0503020204020204" pitchFamily="34" charset="-122"/>
                    <a:ea typeface="微软雅黑" panose="020B0503020204020204" pitchFamily="34" charset="-122"/>
                  </a:rPr>
                  <a:t>和</a:t>
                </a:r>
                <a:r>
                  <a:rPr lang="en-US" altLang="zh-CN" sz="1125" dirty="0">
                    <a:latin typeface="微软雅黑" panose="020B0503020204020204" pitchFamily="34" charset="-122"/>
                    <a:ea typeface="微软雅黑" panose="020B0503020204020204" pitchFamily="34" charset="-122"/>
                  </a:rPr>
                  <a:t>y</a:t>
                </a:r>
                <a:r>
                  <a:rPr lang="zh-CN" altLang="zh-CN" sz="1125" dirty="0">
                    <a:latin typeface="微软雅黑" panose="020B0503020204020204" pitchFamily="34" charset="-122"/>
                    <a:ea typeface="微软雅黑" panose="020B0503020204020204" pitchFamily="34" charset="-122"/>
                  </a:rPr>
                  <a:t>的数据原点并不改变</a:t>
                </a:r>
                <a:r>
                  <a:rPr lang="en-US" altLang="zh-CN" sz="1125" dirty="0">
                    <a:latin typeface="微软雅黑" panose="020B0503020204020204" pitchFamily="34" charset="-122"/>
                    <a:ea typeface="微软雅黑" panose="020B0503020204020204" pitchFamily="34" charset="-122"/>
                  </a:rPr>
                  <a:t>    </a:t>
                </a:r>
                <a:r>
                  <a:rPr lang="zh-CN" altLang="zh-CN" sz="1125" dirty="0">
                    <a:latin typeface="微软雅黑" panose="020B0503020204020204" pitchFamily="34" charset="-122"/>
                    <a:ea typeface="微软雅黑" panose="020B0503020204020204" pitchFamily="34" charset="-122"/>
                  </a:rPr>
                  <a:t>的数值大小。</a:t>
                </a:r>
                <a:r>
                  <a:rPr lang="en-US" altLang="zh-CN" sz="1125" dirty="0">
                    <a:latin typeface="微软雅黑" panose="020B0503020204020204" pitchFamily="34" charset="-122"/>
                    <a:ea typeface="微软雅黑" panose="020B0503020204020204" pitchFamily="34" charset="-122"/>
                  </a:rPr>
                  <a:t>  </a:t>
                </a:r>
                <a:endParaRPr lang="zh-CN" altLang="en-US" sz="1125" dirty="0">
                  <a:latin typeface="微软雅黑" panose="020B0503020204020204" pitchFamily="34" charset="-122"/>
                  <a:ea typeface="微软雅黑" panose="020B0503020204020204" pitchFamily="34" charset="-122"/>
                </a:endParaRPr>
              </a:p>
            </p:txBody>
          </p:sp>
          <p:graphicFrame>
            <p:nvGraphicFramePr>
              <p:cNvPr id="104" name="对象 103"/>
              <p:cNvGraphicFramePr>
                <a:graphicFrameLocks noChangeAspect="1"/>
              </p:cNvGraphicFramePr>
              <p:nvPr/>
            </p:nvGraphicFramePr>
            <p:xfrm>
              <a:off x="401858" y="3812524"/>
              <a:ext cx="213518" cy="213518"/>
            </p:xfrm>
            <a:graphic>
              <a:graphicData uri="http://schemas.openxmlformats.org/presentationml/2006/ole">
                <mc:AlternateContent xmlns:mc="http://schemas.openxmlformats.org/markup-compatibility/2006">
                  <mc:Choice xmlns:v="urn:schemas-microsoft-com:vml" Requires="v">
                    <p:oleObj spid="_x0000_s94218" r:id="rId36" imgW="101468" imgH="114151" progId="Equation.DSMT4">
                      <p:embed/>
                    </p:oleObj>
                  </mc:Choice>
                  <mc:Fallback>
                    <p:oleObj r:id="rId36" imgW="101468" imgH="114151" progId="Equation.DSMT4">
                      <p:embed/>
                      <p:pic>
                        <p:nvPicPr>
                          <p:cNvPr id="104" name="对象 103"/>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401858" y="3812524"/>
                            <a:ext cx="213518" cy="213518"/>
                          </a:xfrm>
                          <a:prstGeom prst="rect">
                            <a:avLst/>
                          </a:prstGeom>
                          <a:noFill/>
                        </p:spPr>
                      </p:pic>
                    </p:oleObj>
                  </mc:Fallback>
                </mc:AlternateContent>
              </a:graphicData>
            </a:graphic>
          </p:graphicFrame>
        </p:grpSp>
        <p:graphicFrame>
          <p:nvGraphicFramePr>
            <p:cNvPr id="129" name="对象 128"/>
            <p:cNvGraphicFramePr>
              <a:graphicFrameLocks noChangeAspect="1"/>
            </p:cNvGraphicFramePr>
            <p:nvPr/>
          </p:nvGraphicFramePr>
          <p:xfrm>
            <a:off x="976243" y="4019247"/>
            <a:ext cx="213518" cy="213518"/>
          </p:xfrm>
          <a:graphic>
            <a:graphicData uri="http://schemas.openxmlformats.org/presentationml/2006/ole">
              <mc:AlternateContent xmlns:mc="http://schemas.openxmlformats.org/markup-compatibility/2006">
                <mc:Choice xmlns:v="urn:schemas-microsoft-com:vml" Requires="v">
                  <p:oleObj spid="_x0000_s94219" r:id="rId38" imgW="101468" imgH="114151" progId="Equation.DSMT4">
                    <p:embed/>
                  </p:oleObj>
                </mc:Choice>
                <mc:Fallback>
                  <p:oleObj r:id="rId38" imgW="101468" imgH="114151" progId="Equation.DSMT4">
                    <p:embed/>
                    <p:pic>
                      <p:nvPicPr>
                        <p:cNvPr id="129" name="对象 128"/>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976243" y="4019247"/>
                          <a:ext cx="213518" cy="213518"/>
                        </a:xfrm>
                        <a:prstGeom prst="rect">
                          <a:avLst/>
                        </a:prstGeom>
                        <a:noFill/>
                      </p:spPr>
                    </p:pic>
                  </p:oleObj>
                </mc:Fallback>
              </mc:AlternateContent>
            </a:graphicData>
          </a:graphic>
        </p:graphicFrame>
      </p:grpSp>
      <p:sp>
        <p:nvSpPr>
          <p:cNvPr id="132" name="Rectangle 136"/>
          <p:cNvSpPr>
            <a:spLocks noChangeArrowheads="1"/>
          </p:cNvSpPr>
          <p:nvPr/>
        </p:nvSpPr>
        <p:spPr bwMode="auto">
          <a:xfrm>
            <a:off x="0"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sp>
        <p:nvSpPr>
          <p:cNvPr id="134" name="Rectangle 138"/>
          <p:cNvSpPr>
            <a:spLocks noChangeArrowheads="1"/>
          </p:cNvSpPr>
          <p:nvPr/>
        </p:nvSpPr>
        <p:spPr bwMode="auto">
          <a:xfrm>
            <a:off x="0"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sp>
        <p:nvSpPr>
          <p:cNvPr id="136" name="Rectangle 140"/>
          <p:cNvSpPr>
            <a:spLocks noChangeArrowheads="1"/>
          </p:cNvSpPr>
          <p:nvPr/>
        </p:nvSpPr>
        <p:spPr bwMode="auto">
          <a:xfrm>
            <a:off x="0"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sp>
        <p:nvSpPr>
          <p:cNvPr id="138" name="Rectangle 142"/>
          <p:cNvSpPr>
            <a:spLocks noChangeArrowheads="1"/>
          </p:cNvSpPr>
          <p:nvPr/>
        </p:nvSpPr>
        <p:spPr bwMode="auto">
          <a:xfrm>
            <a:off x="0"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sp>
        <p:nvSpPr>
          <p:cNvPr id="140" name="Rectangle 144"/>
          <p:cNvSpPr>
            <a:spLocks noChangeArrowheads="1"/>
          </p:cNvSpPr>
          <p:nvPr/>
        </p:nvSpPr>
        <p:spPr bwMode="auto">
          <a:xfrm>
            <a:off x="0"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sp>
        <p:nvSpPr>
          <p:cNvPr id="143" name="Rectangle 171"/>
          <p:cNvSpPr>
            <a:spLocks noChangeArrowheads="1"/>
          </p:cNvSpPr>
          <p:nvPr/>
        </p:nvSpPr>
        <p:spPr bwMode="auto">
          <a:xfrm>
            <a:off x="0"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sp>
        <p:nvSpPr>
          <p:cNvPr id="145" name="Rectangle 173"/>
          <p:cNvSpPr>
            <a:spLocks noChangeArrowheads="1"/>
          </p:cNvSpPr>
          <p:nvPr/>
        </p:nvSpPr>
        <p:spPr bwMode="auto">
          <a:xfrm>
            <a:off x="5672309" y="5374808"/>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grpSp>
        <p:nvGrpSpPr>
          <p:cNvPr id="147" name="组合 146"/>
          <p:cNvGrpSpPr/>
          <p:nvPr/>
        </p:nvGrpSpPr>
        <p:grpSpPr>
          <a:xfrm>
            <a:off x="4636272" y="4639953"/>
            <a:ext cx="4324517" cy="986789"/>
            <a:chOff x="6206266" y="5297596"/>
            <a:chExt cx="5766023" cy="1315720"/>
          </a:xfrm>
        </p:grpSpPr>
        <p:sp>
          <p:nvSpPr>
            <p:cNvPr id="131" name="文本框 130"/>
            <p:cNvSpPr txBox="1"/>
            <p:nvPr/>
          </p:nvSpPr>
          <p:spPr>
            <a:xfrm>
              <a:off x="6206266" y="5297596"/>
              <a:ext cx="5766023" cy="1292662"/>
            </a:xfrm>
            <a:prstGeom prst="rect">
              <a:avLst/>
            </a:prstGeom>
            <a:noFill/>
          </p:spPr>
          <p:txBody>
            <a:bodyPr wrap="square" rtlCol="0">
              <a:spAutoFit/>
            </a:bodyPr>
            <a:lstStyle/>
            <a:p>
              <a:pPr algn="just"/>
              <a:r>
                <a:rPr lang="zh-CN" altLang="zh-CN" sz="1125" dirty="0">
                  <a:latin typeface="微软雅黑" panose="020B0503020204020204" pitchFamily="34" charset="-122"/>
                  <a:ea typeface="微软雅黑" panose="020B0503020204020204" pitchFamily="34" charset="-122"/>
                </a:rPr>
                <a:t>判断样本相关系数</a:t>
              </a:r>
              <a:r>
                <a:rPr lang="en-US" altLang="zh-CN" sz="1125" dirty="0">
                  <a:latin typeface="微软雅黑" panose="020B0503020204020204" pitchFamily="34" charset="-122"/>
                  <a:ea typeface="微软雅黑" panose="020B0503020204020204" pitchFamily="34" charset="-122"/>
                </a:rPr>
                <a:t>   </a:t>
              </a:r>
              <a:r>
                <a:rPr lang="zh-CN" altLang="zh-CN" sz="1125" dirty="0">
                  <a:latin typeface="微软雅黑" panose="020B0503020204020204" pitchFamily="34" charset="-122"/>
                  <a:ea typeface="微软雅黑" panose="020B0503020204020204" pitchFamily="34" charset="-122"/>
                </a:rPr>
                <a:t>是否来自</a:t>
              </a:r>
              <a:r>
                <a:rPr lang="en-US" altLang="zh-CN" sz="1125" dirty="0">
                  <a:latin typeface="微软雅黑" panose="020B0503020204020204" pitchFamily="34" charset="-122"/>
                  <a:ea typeface="微软雅黑" panose="020B0503020204020204" pitchFamily="34" charset="-122"/>
                </a:rPr>
                <a:t>        </a:t>
              </a:r>
              <a:r>
                <a:rPr lang="zh-CN" altLang="zh-CN" sz="1125" dirty="0">
                  <a:latin typeface="微软雅黑" panose="020B0503020204020204" pitchFamily="34" charset="-122"/>
                  <a:ea typeface="微软雅黑" panose="020B0503020204020204" pitchFamily="34" charset="-122"/>
                </a:rPr>
                <a:t>的总体，需要对它进行显著性检验，此处可以采用</a:t>
              </a:r>
              <a:r>
                <a:rPr lang="en-US" altLang="zh-CN" sz="1125" dirty="0">
                  <a:latin typeface="微软雅黑" panose="020B0503020204020204" pitchFamily="34" charset="-122"/>
                  <a:ea typeface="微软雅黑" panose="020B0503020204020204" pitchFamily="34" charset="-122"/>
                </a:rPr>
                <a:t>   </a:t>
              </a:r>
              <a:r>
                <a:rPr lang="zh-CN" altLang="zh-CN" sz="1125" dirty="0">
                  <a:latin typeface="微软雅黑" panose="020B0503020204020204" pitchFamily="34" charset="-122"/>
                  <a:ea typeface="微软雅黑" panose="020B0503020204020204" pitchFamily="34" charset="-122"/>
                </a:rPr>
                <a:t>检验或</a:t>
              </a:r>
              <a:r>
                <a:rPr lang="en-US" altLang="zh-CN" sz="1125" dirty="0">
                  <a:latin typeface="微软雅黑" panose="020B0503020204020204" pitchFamily="34" charset="-122"/>
                  <a:ea typeface="微软雅黑" panose="020B0503020204020204" pitchFamily="34" charset="-122"/>
                </a:rPr>
                <a:t>   </a:t>
              </a:r>
              <a:r>
                <a:rPr lang="zh-CN" altLang="zh-CN" sz="1125" dirty="0">
                  <a:latin typeface="微软雅黑" panose="020B0503020204020204" pitchFamily="34" charset="-122"/>
                  <a:ea typeface="微软雅黑" panose="020B0503020204020204" pitchFamily="34" charset="-122"/>
                </a:rPr>
                <a:t>检验，此时的零假设和被择假设分别为</a:t>
              </a:r>
              <a:r>
                <a:rPr lang="en-US" altLang="zh-CN" sz="1125" dirty="0">
                  <a:latin typeface="微软雅黑" panose="020B0503020204020204" pitchFamily="34" charset="-122"/>
                  <a:ea typeface="微软雅黑" panose="020B0503020204020204" pitchFamily="34" charset="-122"/>
                </a:rPr>
                <a:t>                      </a:t>
              </a:r>
              <a:r>
                <a:rPr lang="zh-CN" altLang="en-US" sz="1125" dirty="0">
                  <a:latin typeface="微软雅黑" panose="020B0503020204020204" pitchFamily="34" charset="-122"/>
                  <a:ea typeface="微软雅黑" panose="020B0503020204020204" pitchFamily="34" charset="-122"/>
                </a:rPr>
                <a:t>。</a:t>
              </a:r>
              <a:endParaRPr lang="en-US" altLang="zh-CN" sz="1125" dirty="0">
                <a:latin typeface="微软雅黑" panose="020B0503020204020204" pitchFamily="34" charset="-122"/>
                <a:ea typeface="微软雅黑" panose="020B0503020204020204" pitchFamily="34" charset="-122"/>
              </a:endParaRPr>
            </a:p>
            <a:p>
              <a:pPr algn="just"/>
              <a:r>
                <a:rPr lang="en-US" altLang="zh-CN" sz="1200" dirty="0"/>
                <a:t>    </a:t>
              </a:r>
              <a:r>
                <a:rPr lang="zh-CN" altLang="zh-CN" sz="1125" dirty="0">
                  <a:latin typeface="微软雅黑" panose="020B0503020204020204" pitchFamily="34" charset="-122"/>
                  <a:ea typeface="微软雅黑" panose="020B0503020204020204" pitchFamily="34" charset="-122"/>
                </a:rPr>
                <a:t>检验统计量</a:t>
              </a:r>
              <a:r>
                <a:rPr lang="en-US" altLang="zh-CN" sz="1125" dirty="0">
                  <a:latin typeface="微软雅黑" panose="020B0503020204020204" pitchFamily="34" charset="-122"/>
                  <a:ea typeface="微软雅黑" panose="020B0503020204020204" pitchFamily="34" charset="-122"/>
                </a:rPr>
                <a:t>                                         </a:t>
              </a:r>
              <a:r>
                <a:rPr lang="zh-CN" altLang="zh-CN" sz="1125" dirty="0">
                  <a:latin typeface="微软雅黑" panose="020B0503020204020204" pitchFamily="34" charset="-122"/>
                  <a:ea typeface="微软雅黑" panose="020B0503020204020204" pitchFamily="34" charset="-122"/>
                </a:rPr>
                <a:t>称为相关系数的标准误差。</a:t>
              </a:r>
              <a:r>
                <a:rPr lang="en-US" altLang="zh-CN" sz="1125" dirty="0">
                  <a:latin typeface="微软雅黑" panose="020B0503020204020204" pitchFamily="34" charset="-122"/>
                  <a:ea typeface="微软雅黑" panose="020B0503020204020204" pitchFamily="34" charset="-122"/>
                </a:rPr>
                <a:t>                                                </a:t>
              </a:r>
              <a:r>
                <a:rPr lang="en-US" altLang="zh-CN" sz="1050" i="1" dirty="0">
                  <a:latin typeface="汉仪书宋一简" panose="02010609000101010101" pitchFamily="49" charset="-122"/>
                  <a:ea typeface="汉仪书宋一简" panose="02010609000101010101" pitchFamily="49" charset="-122"/>
                </a:rPr>
                <a:t>F</a:t>
              </a:r>
              <a:r>
                <a:rPr lang="en-US" altLang="zh-CN" sz="1125" i="1" dirty="0">
                  <a:latin typeface="汉仪书宋一简" panose="02010609000101010101" pitchFamily="49" charset="-122"/>
                  <a:ea typeface="汉仪书宋一简" panose="02010609000101010101" pitchFamily="49" charset="-122"/>
                </a:rPr>
                <a:t> </a:t>
              </a:r>
              <a:r>
                <a:rPr lang="zh-CN" altLang="zh-CN" sz="1125" dirty="0">
                  <a:latin typeface="微软雅黑" panose="020B0503020204020204" pitchFamily="34" charset="-122"/>
                  <a:ea typeface="微软雅黑" panose="020B0503020204020204" pitchFamily="34" charset="-122"/>
                </a:rPr>
                <a:t>检验统计量</a:t>
              </a:r>
              <a:r>
                <a:rPr lang="en-US" altLang="zh-CN" sz="1125" dirty="0">
                  <a:latin typeface="微软雅黑" panose="020B0503020204020204" pitchFamily="34" charset="-122"/>
                  <a:ea typeface="微软雅黑" panose="020B0503020204020204" pitchFamily="34" charset="-122"/>
                </a:rPr>
                <a:t> </a:t>
              </a:r>
              <a:endParaRPr lang="zh-CN" altLang="en-US" sz="1125" dirty="0">
                <a:latin typeface="微软雅黑" panose="020B0503020204020204" pitchFamily="34" charset="-122"/>
                <a:ea typeface="微软雅黑" panose="020B0503020204020204" pitchFamily="34" charset="-122"/>
              </a:endParaRPr>
            </a:p>
          </p:txBody>
        </p:sp>
        <p:graphicFrame>
          <p:nvGraphicFramePr>
            <p:cNvPr id="133" name="对象 132"/>
            <p:cNvGraphicFramePr>
              <a:graphicFrameLocks noChangeAspect="1"/>
            </p:cNvGraphicFramePr>
            <p:nvPr/>
          </p:nvGraphicFramePr>
          <p:xfrm>
            <a:off x="7832620" y="5368262"/>
            <a:ext cx="173786" cy="173786"/>
          </p:xfrm>
          <a:graphic>
            <a:graphicData uri="http://schemas.openxmlformats.org/presentationml/2006/ole">
              <mc:AlternateContent xmlns:mc="http://schemas.openxmlformats.org/markup-compatibility/2006">
                <mc:Choice xmlns:v="urn:schemas-microsoft-com:vml" Requires="v">
                  <p:oleObj spid="_x0000_s94220" r:id="rId39" imgW="101468" imgH="114151" progId="Equation.DSMT4">
                    <p:embed/>
                  </p:oleObj>
                </mc:Choice>
                <mc:Fallback>
                  <p:oleObj r:id="rId39" imgW="101468" imgH="114151" progId="Equation.DSMT4">
                    <p:embed/>
                    <p:pic>
                      <p:nvPicPr>
                        <p:cNvPr id="133" name="对象 132"/>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7832620" y="5368262"/>
                          <a:ext cx="173786" cy="173786"/>
                        </a:xfrm>
                        <a:prstGeom prst="rect">
                          <a:avLst/>
                        </a:prstGeom>
                        <a:noFill/>
                      </p:spPr>
                    </p:pic>
                  </p:oleObj>
                </mc:Fallback>
              </mc:AlternateContent>
            </a:graphicData>
          </a:graphic>
        </p:graphicFrame>
        <p:graphicFrame>
          <p:nvGraphicFramePr>
            <p:cNvPr id="135" name="对象 134"/>
            <p:cNvGraphicFramePr>
              <a:graphicFrameLocks noChangeAspect="1"/>
            </p:cNvGraphicFramePr>
            <p:nvPr/>
          </p:nvGraphicFramePr>
          <p:xfrm>
            <a:off x="8768890" y="5348788"/>
            <a:ext cx="435789" cy="217895"/>
          </p:xfrm>
          <a:graphic>
            <a:graphicData uri="http://schemas.openxmlformats.org/presentationml/2006/ole">
              <mc:AlternateContent xmlns:mc="http://schemas.openxmlformats.org/markup-compatibility/2006">
                <mc:Choice xmlns:v="urn:schemas-microsoft-com:vml" Requires="v">
                  <p:oleObj spid="_x0000_s94221" r:id="rId41" imgW="329914" imgH="177646" progId="Equation.DSMT4">
                    <p:embed/>
                  </p:oleObj>
                </mc:Choice>
                <mc:Fallback>
                  <p:oleObj r:id="rId41" imgW="329914" imgH="177646" progId="Equation.DSMT4">
                    <p:embed/>
                    <p:pic>
                      <p:nvPicPr>
                        <p:cNvPr id="135" name="对象 134"/>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8768890" y="5348788"/>
                          <a:ext cx="435789" cy="217895"/>
                        </a:xfrm>
                        <a:prstGeom prst="rect">
                          <a:avLst/>
                        </a:prstGeom>
                        <a:noFill/>
                      </p:spPr>
                    </p:pic>
                  </p:oleObj>
                </mc:Fallback>
              </mc:AlternateContent>
            </a:graphicData>
          </a:graphic>
        </p:graphicFrame>
        <p:graphicFrame>
          <p:nvGraphicFramePr>
            <p:cNvPr id="137" name="对象 136"/>
            <p:cNvGraphicFramePr>
              <a:graphicFrameLocks noChangeAspect="1"/>
            </p:cNvGraphicFramePr>
            <p:nvPr>
              <p:extLst>
                <p:ext uri="{D42A27DB-BD31-4B8C-83A1-F6EECF244321}">
                  <p14:modId xmlns:p14="http://schemas.microsoft.com/office/powerpoint/2010/main" val="1232831582"/>
                </p:ext>
              </p:extLst>
            </p:nvPr>
          </p:nvGraphicFramePr>
          <p:xfrm>
            <a:off x="8126023" y="5610843"/>
            <a:ext cx="126749" cy="251313"/>
          </p:xfrm>
          <a:graphic>
            <a:graphicData uri="http://schemas.openxmlformats.org/presentationml/2006/ole">
              <mc:AlternateContent xmlns:mc="http://schemas.openxmlformats.org/markup-compatibility/2006">
                <mc:Choice xmlns:v="urn:schemas-microsoft-com:vml" Requires="v">
                  <p:oleObj spid="_x0000_s94222" r:id="rId43" imgW="88746" imgH="139458" progId="Equation.DSMT4">
                    <p:embed/>
                  </p:oleObj>
                </mc:Choice>
                <mc:Fallback>
                  <p:oleObj r:id="rId43" imgW="88746" imgH="139458" progId="Equation.DSMT4">
                    <p:embed/>
                    <p:pic>
                      <p:nvPicPr>
                        <p:cNvPr id="137" name="对象 136"/>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8126023" y="5610843"/>
                          <a:ext cx="126749" cy="251313"/>
                        </a:xfrm>
                        <a:prstGeom prst="rect">
                          <a:avLst/>
                        </a:prstGeom>
                        <a:noFill/>
                      </p:spPr>
                    </p:pic>
                  </p:oleObj>
                </mc:Fallback>
              </mc:AlternateContent>
            </a:graphicData>
          </a:graphic>
        </p:graphicFrame>
        <p:graphicFrame>
          <p:nvGraphicFramePr>
            <p:cNvPr id="139" name="对象 138"/>
            <p:cNvGraphicFramePr>
              <a:graphicFrameLocks noChangeAspect="1"/>
            </p:cNvGraphicFramePr>
            <p:nvPr>
              <p:extLst>
                <p:ext uri="{D42A27DB-BD31-4B8C-83A1-F6EECF244321}">
                  <p14:modId xmlns:p14="http://schemas.microsoft.com/office/powerpoint/2010/main" val="1476461796"/>
                </p:ext>
              </p:extLst>
            </p:nvPr>
          </p:nvGraphicFramePr>
          <p:xfrm>
            <a:off x="8798098" y="5603695"/>
            <a:ext cx="182563" cy="182563"/>
          </p:xfrm>
          <a:graphic>
            <a:graphicData uri="http://schemas.openxmlformats.org/presentationml/2006/ole">
              <mc:AlternateContent xmlns:mc="http://schemas.openxmlformats.org/markup-compatibility/2006">
                <mc:Choice xmlns:v="urn:schemas-microsoft-com:vml" Requires="v">
                  <p:oleObj spid="_x0000_s94223" r:id="rId45" imgW="139700" imgH="139700" progId="Equation.DSMT4">
                    <p:embed/>
                  </p:oleObj>
                </mc:Choice>
                <mc:Fallback>
                  <p:oleObj r:id="rId45" imgW="139700" imgH="139700" progId="Equation.DSMT4">
                    <p:embed/>
                    <p:pic>
                      <p:nvPicPr>
                        <p:cNvPr id="139" name="对象 138"/>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8798098" y="5603695"/>
                          <a:ext cx="182563" cy="182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1" name="对象 140"/>
            <p:cNvGraphicFramePr>
              <a:graphicFrameLocks noChangeAspect="1"/>
            </p:cNvGraphicFramePr>
            <p:nvPr>
              <p:extLst>
                <p:ext uri="{D42A27DB-BD31-4B8C-83A1-F6EECF244321}">
                  <p14:modId xmlns:p14="http://schemas.microsoft.com/office/powerpoint/2010/main" val="2221476453"/>
                </p:ext>
              </p:extLst>
            </p:nvPr>
          </p:nvGraphicFramePr>
          <p:xfrm>
            <a:off x="6771821" y="5835224"/>
            <a:ext cx="1257383" cy="209261"/>
          </p:xfrm>
          <a:graphic>
            <a:graphicData uri="http://schemas.openxmlformats.org/presentationml/2006/ole">
              <mc:AlternateContent xmlns:mc="http://schemas.openxmlformats.org/markup-compatibility/2006">
                <mc:Choice xmlns:v="urn:schemas-microsoft-com:vml" Requires="v">
                  <p:oleObj spid="_x0000_s94224" r:id="rId47" imgW="1143000" imgH="190500" progId="Equation.DSMT4">
                    <p:embed/>
                  </p:oleObj>
                </mc:Choice>
                <mc:Fallback>
                  <p:oleObj r:id="rId47" imgW="1143000" imgH="190500" progId="Equation.DSMT4">
                    <p:embed/>
                    <p:pic>
                      <p:nvPicPr>
                        <p:cNvPr id="141" name="对象 140"/>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6771821" y="5835224"/>
                          <a:ext cx="1257383" cy="209261"/>
                        </a:xfrm>
                        <a:prstGeom prst="rect">
                          <a:avLst/>
                        </a:prstGeom>
                        <a:noFill/>
                      </p:spPr>
                    </p:pic>
                  </p:oleObj>
                </mc:Fallback>
              </mc:AlternateContent>
            </a:graphicData>
          </a:graphic>
        </p:graphicFrame>
        <p:graphicFrame>
          <p:nvGraphicFramePr>
            <p:cNvPr id="142" name="对象 141"/>
            <p:cNvGraphicFramePr>
              <a:graphicFrameLocks noChangeAspect="1"/>
            </p:cNvGraphicFramePr>
            <p:nvPr/>
          </p:nvGraphicFramePr>
          <p:xfrm>
            <a:off x="6310858" y="6028416"/>
            <a:ext cx="126749" cy="251313"/>
          </p:xfrm>
          <a:graphic>
            <a:graphicData uri="http://schemas.openxmlformats.org/presentationml/2006/ole">
              <mc:AlternateContent xmlns:mc="http://schemas.openxmlformats.org/markup-compatibility/2006">
                <mc:Choice xmlns:v="urn:schemas-microsoft-com:vml" Requires="v">
                  <p:oleObj spid="_x0000_s94225" r:id="rId49" imgW="88746" imgH="139458" progId="Equation.DSMT4">
                    <p:embed/>
                  </p:oleObj>
                </mc:Choice>
                <mc:Fallback>
                  <p:oleObj r:id="rId49" imgW="88746" imgH="139458" progId="Equation.DSMT4">
                    <p:embed/>
                    <p:pic>
                      <p:nvPicPr>
                        <p:cNvPr id="142" name="对象 141"/>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6310858" y="6028416"/>
                          <a:ext cx="126749" cy="251313"/>
                        </a:xfrm>
                        <a:prstGeom prst="rect">
                          <a:avLst/>
                        </a:prstGeom>
                        <a:noFill/>
                      </p:spPr>
                    </p:pic>
                  </p:oleObj>
                </mc:Fallback>
              </mc:AlternateContent>
            </a:graphicData>
          </a:graphic>
        </p:graphicFrame>
        <p:graphicFrame>
          <p:nvGraphicFramePr>
            <p:cNvPr id="144" name="对象 143"/>
            <p:cNvGraphicFramePr>
              <a:graphicFrameLocks noChangeAspect="1"/>
            </p:cNvGraphicFramePr>
            <p:nvPr/>
          </p:nvGraphicFramePr>
          <p:xfrm>
            <a:off x="7494427" y="5993362"/>
            <a:ext cx="2214543" cy="277219"/>
          </p:xfrm>
          <a:graphic>
            <a:graphicData uri="http://schemas.openxmlformats.org/presentationml/2006/ole">
              <mc:AlternateContent xmlns:mc="http://schemas.openxmlformats.org/markup-compatibility/2006">
                <mc:Choice xmlns:v="urn:schemas-microsoft-com:vml" Requires="v">
                  <p:oleObj spid="_x0000_s94226" r:id="rId50" imgW="2145369" imgH="253890" progId="Equation.DSMT4">
                    <p:embed/>
                  </p:oleObj>
                </mc:Choice>
                <mc:Fallback>
                  <p:oleObj r:id="rId50" imgW="2145369" imgH="253890" progId="Equation.DSMT4">
                    <p:embed/>
                    <p:pic>
                      <p:nvPicPr>
                        <p:cNvPr id="144" name="对象 143"/>
                        <p:cNvPicPr>
                          <a:picLocks noChangeAspect="1"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7494427" y="5993362"/>
                          <a:ext cx="2214543" cy="277219"/>
                        </a:xfrm>
                        <a:prstGeom prst="rect">
                          <a:avLst/>
                        </a:prstGeom>
                        <a:noFill/>
                      </p:spPr>
                    </p:pic>
                  </p:oleObj>
                </mc:Fallback>
              </mc:AlternateContent>
            </a:graphicData>
          </a:graphic>
        </p:graphicFrame>
        <p:graphicFrame>
          <p:nvGraphicFramePr>
            <p:cNvPr id="146" name="对象 145"/>
            <p:cNvGraphicFramePr>
              <a:graphicFrameLocks noChangeAspect="1"/>
            </p:cNvGraphicFramePr>
            <p:nvPr>
              <p:extLst>
                <p:ext uri="{D42A27DB-BD31-4B8C-83A1-F6EECF244321}">
                  <p14:modId xmlns:p14="http://schemas.microsoft.com/office/powerpoint/2010/main" val="2213697110"/>
                </p:ext>
              </p:extLst>
            </p:nvPr>
          </p:nvGraphicFramePr>
          <p:xfrm>
            <a:off x="7175255" y="6222110"/>
            <a:ext cx="2155035" cy="391206"/>
          </p:xfrm>
          <a:graphic>
            <a:graphicData uri="http://schemas.openxmlformats.org/presentationml/2006/ole">
              <mc:AlternateContent xmlns:mc="http://schemas.openxmlformats.org/markup-compatibility/2006">
                <mc:Choice xmlns:v="urn:schemas-microsoft-com:vml" Requires="v">
                  <p:oleObj spid="_x0000_s94227" r:id="rId52" imgW="1981200" imgH="393700" progId="Equation.DSMT4">
                    <p:embed/>
                  </p:oleObj>
                </mc:Choice>
                <mc:Fallback>
                  <p:oleObj r:id="rId52" imgW="1981200" imgH="393700" progId="Equation.DSMT4">
                    <p:embed/>
                    <p:pic>
                      <p:nvPicPr>
                        <p:cNvPr id="146" name="对象 145"/>
                        <p:cNvPicPr>
                          <a:picLocks noChangeAspect="1" noChangeArrowheads="1"/>
                        </p:cNvPicPr>
                        <p:nvPr/>
                      </p:nvPicPr>
                      <p:blipFill>
                        <a:blip r:embed="rId53">
                          <a:extLst>
                            <a:ext uri="{28A0092B-C50C-407E-A947-70E740481C1C}">
                              <a14:useLocalDpi xmlns:a14="http://schemas.microsoft.com/office/drawing/2010/main" val="0"/>
                            </a:ext>
                          </a:extLst>
                        </a:blip>
                        <a:srcRect/>
                        <a:stretch>
                          <a:fillRect/>
                        </a:stretch>
                      </p:blipFill>
                      <p:spPr bwMode="auto">
                        <a:xfrm>
                          <a:off x="7175255" y="6222110"/>
                          <a:ext cx="2155035" cy="391206"/>
                        </a:xfrm>
                        <a:prstGeom prst="rect">
                          <a:avLst/>
                        </a:prstGeom>
                        <a:noFill/>
                      </p:spPr>
                    </p:pic>
                  </p:oleObj>
                </mc:Fallback>
              </mc:AlternateContent>
            </a:graphicData>
          </a:graphic>
        </p:graphicFrame>
      </p:grpSp>
      <p:sp>
        <p:nvSpPr>
          <p:cNvPr id="101" name="文本框 100"/>
          <p:cNvSpPr txBox="1"/>
          <p:nvPr/>
        </p:nvSpPr>
        <p:spPr>
          <a:xfrm>
            <a:off x="520266" y="1055993"/>
            <a:ext cx="1984775" cy="738664"/>
          </a:xfrm>
          <a:prstGeom prst="rect">
            <a:avLst/>
          </a:prstGeom>
          <a:noFill/>
        </p:spPr>
        <p:txBody>
          <a:bodyPr wrap="square" rtlCol="0">
            <a:spAutoFit/>
          </a:bodyPr>
          <a:lstStyle/>
          <a:p>
            <a:pPr marL="0" lvl="3"/>
            <a:r>
              <a:rPr lang="en-US" altLang="zh-CN" sz="2100" b="1" dirty="0">
                <a:effectLst>
                  <a:glow>
                    <a:srgbClr val="000000"/>
                  </a:glow>
                  <a:reflection stA="0" endPos="0" fadeDir="0" sx="0" sy="0"/>
                </a:effectLst>
                <a:latin typeface="微软雅黑" panose="020B0503020204020204" pitchFamily="34" charset="-122"/>
                <a:ea typeface="微软雅黑" panose="020B0503020204020204" pitchFamily="34" charset="-122"/>
              </a:rPr>
              <a:t>Pearson</a:t>
            </a:r>
            <a:r>
              <a:rPr lang="zh-CN" altLang="zh-CN" sz="2100" b="1" dirty="0">
                <a:effectLst>
                  <a:glow>
                    <a:srgbClr val="000000"/>
                  </a:glow>
                  <a:reflection stA="0" endPos="0" fadeDir="0" sx="0" sy="0"/>
                </a:effectLst>
                <a:latin typeface="微软雅黑" panose="020B0503020204020204" pitchFamily="34" charset="-122"/>
                <a:ea typeface="微软雅黑" panose="020B0503020204020204" pitchFamily="34" charset="-122"/>
              </a:rPr>
              <a:t>相关系数</a:t>
            </a:r>
            <a:r>
              <a:rPr lang="zh-CN" altLang="en-US" sz="2100" b="1" dirty="0">
                <a:effectLst>
                  <a:glow>
                    <a:srgbClr val="000000"/>
                  </a:glow>
                  <a:reflection stA="0" endPos="0" fadeDir="0" sx="0" sy="0"/>
                </a:effectLst>
                <a:latin typeface="微软雅黑" panose="020B0503020204020204" pitchFamily="34" charset="-122"/>
                <a:ea typeface="微软雅黑" panose="020B0503020204020204" pitchFamily="34" charset="-122"/>
              </a:rPr>
              <a:t>性质</a:t>
            </a:r>
            <a:endParaRPr lang="zh-CN" altLang="zh-CN" sz="2100" b="1" dirty="0">
              <a:effectLst>
                <a:glow>
                  <a:srgbClr val="000000"/>
                </a:glow>
                <a:reflection stA="0" endPos="0" fadeDir="0" sx="0" sy="0"/>
              </a:effectLst>
              <a:latin typeface="微软雅黑" panose="020B0503020204020204" pitchFamily="34" charset="-122"/>
              <a:ea typeface="微软雅黑" panose="020B0503020204020204" pitchFamily="34" charset="-122"/>
            </a:endParaRPr>
          </a:p>
        </p:txBody>
      </p:sp>
      <p:sp>
        <p:nvSpPr>
          <p:cNvPr id="100" name="标题 1">
            <a:extLst>
              <a:ext uri="{FF2B5EF4-FFF2-40B4-BE49-F238E27FC236}">
                <a16:creationId xmlns:a16="http://schemas.microsoft.com/office/drawing/2014/main" id="{E9AFB5D9-7A49-4D5E-9DF7-8003AEC92A04}"/>
              </a:ext>
            </a:extLst>
          </p:cNvPr>
          <p:cNvSpPr txBox="1">
            <a:spLocks/>
          </p:cNvSpPr>
          <p:nvPr/>
        </p:nvSpPr>
        <p:spPr>
          <a:xfrm>
            <a:off x="321273" y="319216"/>
            <a:ext cx="3847468" cy="68261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800" dirty="0">
                <a:latin typeface="黑体" panose="02010609060101010101" pitchFamily="49" charset="-122"/>
                <a:ea typeface="黑体" panose="02010609060101010101" pitchFamily="49" charset="-122"/>
              </a:rPr>
              <a:t>3.4.1</a:t>
            </a:r>
            <a:r>
              <a:rPr lang="zh-CN" altLang="en-US" sz="2800" dirty="0">
                <a:latin typeface="黑体" panose="02010609060101010101" pitchFamily="49" charset="-122"/>
                <a:ea typeface="黑体" panose="02010609060101010101" pitchFamily="49" charset="-122"/>
              </a:rPr>
              <a:t>相关分析原理</a:t>
            </a:r>
          </a:p>
        </p:txBody>
      </p:sp>
    </p:spTree>
    <p:extLst>
      <p:ext uri="{BB962C8B-B14F-4D97-AF65-F5344CB8AC3E}">
        <p14:creationId xmlns:p14="http://schemas.microsoft.com/office/powerpoint/2010/main" val="4269315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5267" y="1128464"/>
            <a:ext cx="2714177" cy="369332"/>
          </a:xfrm>
          <a:prstGeom prst="rect">
            <a:avLst/>
          </a:prstGeom>
          <a:noFill/>
        </p:spPr>
        <p:txBody>
          <a:bodyPr wrap="square" rtlCol="0">
            <a:spAutoFit/>
          </a:bodyPr>
          <a:lstStyle/>
          <a:p>
            <a:pPr marL="0" lvl="3"/>
            <a:r>
              <a:rPr lang="en-US" altLang="zh-CN" dirty="0">
                <a:latin typeface="微软雅黑" panose="020B0503020204020204" pitchFamily="34" charset="-122"/>
                <a:ea typeface="微软雅黑" panose="020B0503020204020204" pitchFamily="34" charset="-122"/>
              </a:rPr>
              <a:t>Spearman</a:t>
            </a:r>
            <a:r>
              <a:rPr lang="zh-CN" altLang="en-US" dirty="0">
                <a:latin typeface="微软雅黑" panose="020B0503020204020204" pitchFamily="34" charset="-122"/>
                <a:ea typeface="微软雅黑" panose="020B0503020204020204" pitchFamily="34" charset="-122"/>
              </a:rPr>
              <a:t>等级</a:t>
            </a:r>
            <a:r>
              <a:rPr lang="zh-CN" altLang="zh-CN" dirty="0">
                <a:effectLst>
                  <a:glow>
                    <a:srgbClr val="000000"/>
                  </a:glow>
                  <a:reflection stA="0" endPos="0" fadeDir="0" sx="0" sy="0"/>
                </a:effectLst>
                <a:latin typeface="微软雅黑" panose="020B0503020204020204" pitchFamily="34" charset="-122"/>
                <a:ea typeface="微软雅黑" panose="020B0503020204020204" pitchFamily="34" charset="-122"/>
              </a:rPr>
              <a:t>相关系数</a:t>
            </a:r>
          </a:p>
        </p:txBody>
      </p:sp>
      <p:sp>
        <p:nvSpPr>
          <p:cNvPr id="5" name="Line 9"/>
          <p:cNvSpPr>
            <a:spLocks noChangeShapeType="1"/>
          </p:cNvSpPr>
          <p:nvPr/>
        </p:nvSpPr>
        <p:spPr bwMode="auto">
          <a:xfrm>
            <a:off x="2114202" y="2046417"/>
            <a:ext cx="6068335" cy="0"/>
          </a:xfrm>
          <a:prstGeom prst="line">
            <a:avLst/>
          </a:prstGeom>
          <a:noFill/>
          <a:ln w="13">
            <a:solidFill>
              <a:srgbClr val="2E2C2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 name="TextBox 4"/>
          <p:cNvSpPr txBox="1">
            <a:spLocks noChangeArrowheads="1"/>
          </p:cNvSpPr>
          <p:nvPr/>
        </p:nvSpPr>
        <p:spPr bwMode="auto">
          <a:xfrm>
            <a:off x="2140396" y="1701136"/>
            <a:ext cx="4320918"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zh-CN" sz="1650" dirty="0">
                <a:solidFill>
                  <a:srgbClr val="685D5C"/>
                </a:solidFill>
                <a:latin typeface="微软雅黑" panose="020B0503020204020204" pitchFamily="34" charset="-122"/>
                <a:ea typeface="微软雅黑" panose="020B0503020204020204" pitchFamily="34" charset="-122"/>
              </a:rPr>
              <a:t>取值范围</a:t>
            </a:r>
            <a:r>
              <a:rPr lang="zh-CN" altLang="en-US" sz="1650" dirty="0">
                <a:solidFill>
                  <a:srgbClr val="685D5C"/>
                </a:solidFill>
                <a:latin typeface="微软雅黑" panose="020B0503020204020204" pitchFamily="34" charset="-122"/>
                <a:ea typeface="微软雅黑" panose="020B0503020204020204" pitchFamily="34" charset="-122"/>
              </a:rPr>
              <a:t>为</a:t>
            </a:r>
            <a:r>
              <a:rPr lang="en-US" altLang="zh-CN" sz="1650" dirty="0">
                <a:solidFill>
                  <a:srgbClr val="685D5C"/>
                </a:solidFill>
                <a:latin typeface="微软雅黑" panose="020B0503020204020204" pitchFamily="34" charset="-122"/>
                <a:ea typeface="微软雅黑" panose="020B0503020204020204" pitchFamily="34" charset="-122"/>
              </a:rPr>
              <a:t>[-1</a:t>
            </a:r>
            <a:r>
              <a:rPr lang="zh-CN" altLang="en-US" sz="1650" dirty="0">
                <a:solidFill>
                  <a:srgbClr val="685D5C"/>
                </a:solidFill>
                <a:latin typeface="微软雅黑" panose="020B0503020204020204" pitchFamily="34" charset="-122"/>
                <a:ea typeface="微软雅黑" panose="020B0503020204020204" pitchFamily="34" charset="-122"/>
              </a:rPr>
              <a:t>，</a:t>
            </a:r>
            <a:r>
              <a:rPr lang="en-US" altLang="zh-CN" sz="1650" dirty="0">
                <a:solidFill>
                  <a:srgbClr val="685D5C"/>
                </a:solidFill>
                <a:latin typeface="微软雅黑" panose="020B0503020204020204" pitchFamily="34" charset="-122"/>
                <a:ea typeface="微软雅黑" panose="020B0503020204020204" pitchFamily="34" charset="-122"/>
              </a:rPr>
              <a:t>1]</a:t>
            </a:r>
            <a:endParaRPr lang="en-US" sz="1650" dirty="0">
              <a:solidFill>
                <a:srgbClr val="685D5C"/>
              </a:solidFill>
              <a:latin typeface="微软雅黑" panose="020B0503020204020204" pitchFamily="34" charset="-122"/>
              <a:ea typeface="微软雅黑" panose="020B0503020204020204" pitchFamily="34" charset="-122"/>
            </a:endParaRPr>
          </a:p>
        </p:txBody>
      </p:sp>
      <p:sp>
        <p:nvSpPr>
          <p:cNvPr id="7" name="TextBox 5"/>
          <p:cNvSpPr txBox="1">
            <a:spLocks noChangeArrowheads="1"/>
          </p:cNvSpPr>
          <p:nvPr/>
        </p:nvSpPr>
        <p:spPr bwMode="auto">
          <a:xfrm>
            <a:off x="2134443" y="2084518"/>
            <a:ext cx="60480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en-US" altLang="zh-CN" sz="1200" dirty="0">
                <a:latin typeface="微软雅黑" panose="020B0503020204020204" pitchFamily="34" charset="-122"/>
                <a:ea typeface="微软雅黑" panose="020B0503020204020204" pitchFamily="34" charset="-122"/>
              </a:rPr>
              <a:t>Spearman</a:t>
            </a:r>
            <a:r>
              <a:rPr lang="zh-CN" altLang="zh-CN" sz="1200" dirty="0">
                <a:latin typeface="微软雅黑" panose="020B0503020204020204" pitchFamily="34" charset="-122"/>
                <a:ea typeface="微软雅黑" panose="020B0503020204020204" pitchFamily="34" charset="-122"/>
              </a:rPr>
              <a:t>相关系数的取值范围在</a:t>
            </a:r>
            <a:r>
              <a:rPr lang="en-US" altLang="zh-CN" sz="1200" dirty="0">
                <a:latin typeface="微软雅黑" panose="020B0503020204020204" pitchFamily="34" charset="-122"/>
                <a:ea typeface="微软雅黑" panose="020B0503020204020204" pitchFamily="34" charset="-122"/>
              </a:rPr>
              <a:t>-1</a:t>
            </a:r>
            <a:r>
              <a:rPr lang="zh-CN" altLang="zh-CN" sz="1200" dirty="0">
                <a:latin typeface="微软雅黑" panose="020B0503020204020204" pitchFamily="34" charset="-122"/>
                <a:ea typeface="微软雅黑" panose="020B0503020204020204" pitchFamily="34" charset="-122"/>
              </a:rPr>
              <a:t>到</a:t>
            </a:r>
            <a:r>
              <a:rPr lang="en-US" altLang="zh-CN" sz="1200" dirty="0">
                <a:latin typeface="微软雅黑" panose="020B0503020204020204" pitchFamily="34" charset="-122"/>
                <a:ea typeface="微软雅黑" panose="020B0503020204020204" pitchFamily="34" charset="-122"/>
              </a:rPr>
              <a:t>1</a:t>
            </a:r>
            <a:r>
              <a:rPr lang="zh-CN" altLang="zh-CN" sz="1200" dirty="0">
                <a:latin typeface="微软雅黑" panose="020B0503020204020204" pitchFamily="34" charset="-122"/>
                <a:ea typeface="微软雅黑" panose="020B0503020204020204" pitchFamily="34" charset="-122"/>
              </a:rPr>
              <a:t>之间，绝对值越大相关性越强，取值符号也表示相关的方向。</a:t>
            </a:r>
          </a:p>
        </p:txBody>
      </p:sp>
      <p:sp>
        <p:nvSpPr>
          <p:cNvPr id="8" name="Freeform 8"/>
          <p:cNvSpPr>
            <a:spLocks noChangeArrowheads="1"/>
          </p:cNvSpPr>
          <p:nvPr/>
        </p:nvSpPr>
        <p:spPr bwMode="auto">
          <a:xfrm>
            <a:off x="1790353" y="1928546"/>
            <a:ext cx="202406" cy="234553"/>
          </a:xfrm>
          <a:custGeom>
            <a:avLst/>
            <a:gdLst>
              <a:gd name="T0" fmla="*/ 274 w 274"/>
              <a:gd name="T1" fmla="*/ 158 h 317"/>
              <a:gd name="T2" fmla="*/ 137 w 274"/>
              <a:gd name="T3" fmla="*/ 238 h 317"/>
              <a:gd name="T4" fmla="*/ 0 w 274"/>
              <a:gd name="T5" fmla="*/ 317 h 317"/>
              <a:gd name="T6" fmla="*/ 0 w 274"/>
              <a:gd name="T7" fmla="*/ 158 h 317"/>
              <a:gd name="T8" fmla="*/ 0 w 274"/>
              <a:gd name="T9" fmla="*/ 0 h 317"/>
              <a:gd name="T10" fmla="*/ 137 w 274"/>
              <a:gd name="T11" fmla="*/ 79 h 317"/>
              <a:gd name="T12" fmla="*/ 274 w 274"/>
              <a:gd name="T13" fmla="*/ 158 h 317"/>
            </a:gdLst>
            <a:ahLst/>
            <a:cxnLst>
              <a:cxn ang="0">
                <a:pos x="T0" y="T1"/>
              </a:cxn>
              <a:cxn ang="0">
                <a:pos x="T2" y="T3"/>
              </a:cxn>
              <a:cxn ang="0">
                <a:pos x="T4" y="T5"/>
              </a:cxn>
              <a:cxn ang="0">
                <a:pos x="T6" y="T7"/>
              </a:cxn>
              <a:cxn ang="0">
                <a:pos x="T8" y="T9"/>
              </a:cxn>
              <a:cxn ang="0">
                <a:pos x="T10" y="T11"/>
              </a:cxn>
              <a:cxn ang="0">
                <a:pos x="T12" y="T13"/>
              </a:cxn>
            </a:cxnLst>
            <a:rect l="0" t="0" r="r" b="b"/>
            <a:pathLst>
              <a:path w="274" h="317">
                <a:moveTo>
                  <a:pt x="274" y="158"/>
                </a:moveTo>
                <a:lnTo>
                  <a:pt x="137" y="238"/>
                </a:lnTo>
                <a:lnTo>
                  <a:pt x="0" y="317"/>
                </a:lnTo>
                <a:lnTo>
                  <a:pt x="0" y="158"/>
                </a:lnTo>
                <a:lnTo>
                  <a:pt x="0" y="0"/>
                </a:lnTo>
                <a:lnTo>
                  <a:pt x="137" y="79"/>
                </a:lnTo>
                <a:lnTo>
                  <a:pt x="274" y="158"/>
                </a:lnTo>
                <a:close/>
              </a:path>
            </a:pathLst>
          </a:custGeom>
          <a:solidFill>
            <a:srgbClr val="9B928C"/>
          </a:solidFill>
          <a:ln>
            <a:noFill/>
          </a:ln>
        </p:spPr>
        <p:txBody>
          <a:bodyPr/>
          <a:lstStyle/>
          <a:p>
            <a:endParaRPr lang="zh-CN" altLang="en-US"/>
          </a:p>
        </p:txBody>
      </p:sp>
      <p:sp>
        <p:nvSpPr>
          <p:cNvPr id="9" name="Line 9"/>
          <p:cNvSpPr>
            <a:spLocks noChangeShapeType="1"/>
          </p:cNvSpPr>
          <p:nvPr/>
        </p:nvSpPr>
        <p:spPr bwMode="auto">
          <a:xfrm>
            <a:off x="2114202" y="4706840"/>
            <a:ext cx="5967482" cy="0"/>
          </a:xfrm>
          <a:prstGeom prst="line">
            <a:avLst/>
          </a:prstGeom>
          <a:noFill/>
          <a:ln w="13">
            <a:solidFill>
              <a:srgbClr val="2E2C2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TextBox 8"/>
          <p:cNvSpPr txBox="1">
            <a:spLocks noChangeArrowheads="1"/>
          </p:cNvSpPr>
          <p:nvPr/>
        </p:nvSpPr>
        <p:spPr bwMode="auto">
          <a:xfrm>
            <a:off x="2140396" y="4362750"/>
            <a:ext cx="2672953"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50" dirty="0">
                <a:solidFill>
                  <a:srgbClr val="685D5C"/>
                </a:solidFill>
                <a:latin typeface="微软雅黑" panose="020B0503020204020204" pitchFamily="34" charset="-122"/>
                <a:ea typeface="微软雅黑" panose="020B0503020204020204" pitchFamily="34" charset="-122"/>
              </a:rPr>
              <a:t>P</a:t>
            </a:r>
            <a:r>
              <a:rPr lang="zh-CN" altLang="en-US" sz="1650" dirty="0">
                <a:solidFill>
                  <a:srgbClr val="685D5C"/>
                </a:solidFill>
                <a:latin typeface="微软雅黑" panose="020B0503020204020204" pitchFamily="34" charset="-122"/>
                <a:ea typeface="微软雅黑" panose="020B0503020204020204" pitchFamily="34" charset="-122"/>
              </a:rPr>
              <a:t>值</a:t>
            </a:r>
            <a:endParaRPr lang="en-US" sz="1650" dirty="0">
              <a:solidFill>
                <a:srgbClr val="685D5C"/>
              </a:solidFill>
              <a:latin typeface="微软雅黑" panose="020B0503020204020204" pitchFamily="34" charset="-122"/>
              <a:ea typeface="微软雅黑" panose="020B0503020204020204" pitchFamily="34" charset="-122"/>
            </a:endParaRPr>
          </a:p>
        </p:txBody>
      </p:sp>
      <p:sp>
        <p:nvSpPr>
          <p:cNvPr id="11" name="TextBox 9"/>
          <p:cNvSpPr txBox="1">
            <a:spLocks noChangeArrowheads="1"/>
          </p:cNvSpPr>
          <p:nvPr/>
        </p:nvSpPr>
        <p:spPr bwMode="auto">
          <a:xfrm>
            <a:off x="2134443" y="4746131"/>
            <a:ext cx="604809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en-US" altLang="zh-CN" sz="1200" dirty="0">
                <a:latin typeface="微软雅黑" panose="020B0503020204020204" pitchFamily="34" charset="-122"/>
                <a:ea typeface="微软雅黑" panose="020B0503020204020204" pitchFamily="34" charset="-122"/>
              </a:rPr>
              <a:t>Spearman</a:t>
            </a:r>
            <a:r>
              <a:rPr lang="zh-CN" altLang="zh-CN" sz="1200" dirty="0">
                <a:latin typeface="微软雅黑" panose="020B0503020204020204" pitchFamily="34" charset="-122"/>
                <a:ea typeface="微软雅黑" panose="020B0503020204020204" pitchFamily="34" charset="-122"/>
              </a:rPr>
              <a:t>相关系数</a:t>
            </a:r>
            <a:r>
              <a:rPr lang="en-US" altLang="zh-CN" sz="1200" dirty="0">
                <a:latin typeface="微软雅黑" panose="020B0503020204020204" pitchFamily="34" charset="-122"/>
                <a:ea typeface="微软雅黑" panose="020B0503020204020204" pitchFamily="34" charset="-122"/>
              </a:rPr>
              <a:t>     </a:t>
            </a:r>
            <a:r>
              <a:rPr lang="zh-CN" altLang="zh-CN" sz="1200" dirty="0">
                <a:latin typeface="微软雅黑" panose="020B0503020204020204" pitchFamily="34" charset="-122"/>
                <a:ea typeface="微软雅黑" panose="020B0503020204020204" pitchFamily="34" charset="-122"/>
              </a:rPr>
              <a:t>假设检验的零假设为</a:t>
            </a:r>
            <a:r>
              <a:rPr lang="en-US" altLang="zh-CN" sz="1200" dirty="0">
                <a:latin typeface="微软雅黑" panose="020B0503020204020204" pitchFamily="34" charset="-122"/>
                <a:ea typeface="微软雅黑" panose="020B0503020204020204" pitchFamily="34" charset="-122"/>
              </a:rPr>
              <a:t>    </a:t>
            </a:r>
            <a:r>
              <a:rPr lang="zh-CN" altLang="zh-CN" sz="1200" dirty="0">
                <a:latin typeface="微软雅黑" panose="020B0503020204020204" pitchFamily="34" charset="-122"/>
                <a:ea typeface="微软雅黑" panose="020B0503020204020204" pitchFamily="34" charset="-122"/>
              </a:rPr>
              <a:t>是来自</a:t>
            </a:r>
            <a:r>
              <a:rPr lang="en-US" altLang="zh-CN" sz="1200" dirty="0">
                <a:latin typeface="微软雅黑" panose="020B0503020204020204" pitchFamily="34" charset="-122"/>
                <a:ea typeface="微软雅黑" panose="020B0503020204020204" pitchFamily="34" charset="-122"/>
              </a:rPr>
              <a:t>          </a:t>
            </a:r>
            <a:r>
              <a:rPr lang="zh-CN" altLang="zh-CN" sz="1200" dirty="0">
                <a:latin typeface="微软雅黑" panose="020B0503020204020204" pitchFamily="34" charset="-122"/>
                <a:ea typeface="微软雅黑" panose="020B0503020204020204" pitchFamily="34" charset="-122"/>
              </a:rPr>
              <a:t>的总体（即</a:t>
            </a:r>
            <a:r>
              <a:rPr lang="en-US" altLang="zh-CN" sz="1200" dirty="0">
                <a:latin typeface="微软雅黑" panose="020B0503020204020204" pitchFamily="34" charset="-122"/>
                <a:ea typeface="微软雅黑" panose="020B0503020204020204" pitchFamily="34" charset="-122"/>
              </a:rPr>
              <a:t>X</a:t>
            </a:r>
            <a:r>
              <a:rPr lang="zh-CN" altLang="zh-CN" sz="1200" dirty="0">
                <a:latin typeface="微软雅黑" panose="020B0503020204020204" pitchFamily="34" charset="-122"/>
                <a:ea typeface="微软雅黑" panose="020B0503020204020204" pitchFamily="34" charset="-122"/>
              </a:rPr>
              <a:t>与</a:t>
            </a:r>
            <a:r>
              <a:rPr lang="en-US" altLang="zh-CN" sz="1200" dirty="0">
                <a:latin typeface="微软雅黑" panose="020B0503020204020204" pitchFamily="34" charset="-122"/>
                <a:ea typeface="微软雅黑" panose="020B0503020204020204" pitchFamily="34" charset="-122"/>
              </a:rPr>
              <a:t>Y</a:t>
            </a:r>
            <a:r>
              <a:rPr lang="zh-CN" altLang="zh-CN" sz="1200" dirty="0">
                <a:latin typeface="微软雅黑" panose="020B0503020204020204" pitchFamily="34" charset="-122"/>
                <a:ea typeface="微软雅黑" panose="020B0503020204020204" pitchFamily="34" charset="-122"/>
              </a:rPr>
              <a:t>独立）。以显著性水平</a:t>
            </a:r>
            <a:r>
              <a:rPr lang="en-US" altLang="zh-CN" sz="1200" dirty="0">
                <a:latin typeface="微软雅黑" panose="020B0503020204020204" pitchFamily="34" charset="-122"/>
                <a:ea typeface="微软雅黑" panose="020B0503020204020204" pitchFamily="34" charset="-122"/>
              </a:rPr>
              <a:t>          </a:t>
            </a:r>
            <a:r>
              <a:rPr lang="zh-CN" altLang="zh-CN" sz="1200" dirty="0">
                <a:latin typeface="微软雅黑" panose="020B0503020204020204" pitchFamily="34" charset="-122"/>
                <a:ea typeface="微软雅黑" panose="020B0503020204020204" pitchFamily="34" charset="-122"/>
              </a:rPr>
              <a:t>为例，当</a:t>
            </a:r>
            <a:r>
              <a:rPr lang="en-US" altLang="zh-CN" sz="1200" dirty="0">
                <a:latin typeface="微软雅黑" panose="020B0503020204020204" pitchFamily="34" charset="-122"/>
                <a:ea typeface="微软雅黑" panose="020B0503020204020204" pitchFamily="34" charset="-122"/>
              </a:rPr>
              <a:t>        </a:t>
            </a:r>
            <a:r>
              <a:rPr lang="zh-CN" altLang="zh-CN" sz="1200" dirty="0">
                <a:latin typeface="微软雅黑" panose="020B0503020204020204" pitchFamily="34" charset="-122"/>
                <a:ea typeface="微软雅黑" panose="020B0503020204020204" pitchFamily="34" charset="-122"/>
              </a:rPr>
              <a:t>或</a:t>
            </a:r>
            <a:r>
              <a:rPr lang="en-US" altLang="zh-CN" sz="1050" dirty="0">
                <a:latin typeface="汉仪书宋一简" panose="02010609000101010101" pitchFamily="49" charset="-122"/>
                <a:ea typeface="汉仪书宋一简" panose="02010609000101010101" pitchFamily="49" charset="-122"/>
              </a:rPr>
              <a:t>50</a:t>
            </a:r>
            <a:r>
              <a:rPr lang="zh-CN" altLang="zh-CN" sz="1200" dirty="0">
                <a:latin typeface="微软雅黑" panose="020B0503020204020204" pitchFamily="34" charset="-122"/>
                <a:ea typeface="微软雅黑" panose="020B0503020204020204" pitchFamily="34" charset="-122"/>
              </a:rPr>
              <a:t>时，可以查</a:t>
            </a:r>
            <a:r>
              <a:rPr lang="en-US" altLang="zh-CN" sz="1200" dirty="0">
                <a:latin typeface="微软雅黑" panose="020B0503020204020204" pitchFamily="34" charset="-122"/>
                <a:ea typeface="微软雅黑" panose="020B0503020204020204" pitchFamily="34" charset="-122"/>
              </a:rPr>
              <a:t>Spearman’s</a:t>
            </a:r>
            <a:r>
              <a:rPr lang="zh-CN" altLang="zh-CN" sz="1200" dirty="0">
                <a:latin typeface="微软雅黑" panose="020B0503020204020204" pitchFamily="34" charset="-122"/>
                <a:ea typeface="微软雅黑" panose="020B0503020204020204" pitchFamily="34" charset="-122"/>
              </a:rPr>
              <a:t>相关系数表来确定</a:t>
            </a:r>
            <a:r>
              <a:rPr lang="en-US" altLang="zh-CN" sz="1200" dirty="0">
                <a:latin typeface="微软雅黑" panose="020B0503020204020204" pitchFamily="34" charset="-122"/>
                <a:ea typeface="微软雅黑" panose="020B0503020204020204" pitchFamily="34" charset="-122"/>
              </a:rPr>
              <a:t>     </a:t>
            </a:r>
            <a:r>
              <a:rPr lang="zh-CN" altLang="zh-CN" sz="1200" dirty="0">
                <a:latin typeface="微软雅黑" panose="020B0503020204020204" pitchFamily="34" charset="-122"/>
                <a:ea typeface="微软雅黑" panose="020B0503020204020204" pitchFamily="34" charset="-122"/>
              </a:rPr>
              <a:t>值，此时有：当</a:t>
            </a:r>
            <a:r>
              <a:rPr lang="en-US" altLang="zh-CN" sz="1200" dirty="0">
                <a:latin typeface="微软雅黑" panose="020B0503020204020204" pitchFamily="34" charset="-122"/>
                <a:ea typeface="微软雅黑" panose="020B0503020204020204" pitchFamily="34" charset="-122"/>
              </a:rPr>
              <a:t>      </a:t>
            </a:r>
            <a:r>
              <a:rPr lang="zh-CN" altLang="zh-CN" sz="1200" dirty="0">
                <a:latin typeface="微软雅黑" panose="020B0503020204020204" pitchFamily="34" charset="-122"/>
                <a:ea typeface="微软雅黑" panose="020B0503020204020204" pitchFamily="34" charset="-122"/>
              </a:rPr>
              <a:t>时，拒绝零假设，说明</a:t>
            </a:r>
            <a:r>
              <a:rPr lang="en-US" altLang="zh-CN" sz="1200" dirty="0">
                <a:latin typeface="微软雅黑" panose="020B0503020204020204" pitchFamily="34" charset="-122"/>
                <a:ea typeface="微软雅黑" panose="020B0503020204020204" pitchFamily="34" charset="-122"/>
              </a:rPr>
              <a:t>X</a:t>
            </a:r>
            <a:r>
              <a:rPr lang="zh-CN" altLang="zh-CN" sz="1200" dirty="0">
                <a:latin typeface="微软雅黑" panose="020B0503020204020204" pitchFamily="34" charset="-122"/>
                <a:ea typeface="微软雅黑" panose="020B0503020204020204" pitchFamily="34" charset="-122"/>
              </a:rPr>
              <a:t>与</a:t>
            </a:r>
            <a:r>
              <a:rPr lang="en-US" altLang="zh-CN" sz="1200" dirty="0">
                <a:latin typeface="微软雅黑" panose="020B0503020204020204" pitchFamily="34" charset="-122"/>
                <a:ea typeface="微软雅黑" panose="020B0503020204020204" pitchFamily="34" charset="-122"/>
              </a:rPr>
              <a:t>Y</a:t>
            </a:r>
            <a:r>
              <a:rPr lang="zh-CN" altLang="zh-CN" sz="1200" dirty="0">
                <a:latin typeface="微软雅黑" panose="020B0503020204020204" pitchFamily="34" charset="-122"/>
                <a:ea typeface="微软雅黑" panose="020B0503020204020204" pitchFamily="34" charset="-122"/>
              </a:rPr>
              <a:t>之间存在着较为显著的相关关系；当</a:t>
            </a:r>
            <a:r>
              <a:rPr lang="en-US" altLang="zh-CN" sz="1200" dirty="0">
                <a:latin typeface="微软雅黑" panose="020B0503020204020204" pitchFamily="34" charset="-122"/>
                <a:ea typeface="微软雅黑" panose="020B0503020204020204" pitchFamily="34" charset="-122"/>
              </a:rPr>
              <a:t>          </a:t>
            </a:r>
            <a:r>
              <a:rPr lang="zh-CN" altLang="zh-CN" sz="1200" dirty="0">
                <a:latin typeface="微软雅黑" panose="020B0503020204020204" pitchFamily="34" charset="-122"/>
                <a:ea typeface="微软雅黑" panose="020B0503020204020204" pitchFamily="34" charset="-122"/>
              </a:rPr>
              <a:t>时</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a:t>
            </a:r>
            <a:r>
              <a:rPr lang="zh-CN" altLang="zh-CN" sz="1200" dirty="0">
                <a:latin typeface="微软雅黑" panose="020B0503020204020204" pitchFamily="34" charset="-122"/>
                <a:ea typeface="微软雅黑" panose="020B0503020204020204" pitchFamily="34" charset="-122"/>
              </a:rPr>
              <a:t>接受零假设</a:t>
            </a:r>
            <a:r>
              <a:rPr lang="zh-CN" altLang="en-US" sz="1200" dirty="0">
                <a:latin typeface="微软雅黑" panose="020B0503020204020204" pitchFamily="34" charset="-122"/>
                <a:ea typeface="微软雅黑" panose="020B0503020204020204" pitchFamily="34" charset="-122"/>
              </a:rPr>
              <a:t>。</a:t>
            </a:r>
          </a:p>
        </p:txBody>
      </p:sp>
      <p:sp>
        <p:nvSpPr>
          <p:cNvPr id="12" name="Freeform 8"/>
          <p:cNvSpPr>
            <a:spLocks noChangeArrowheads="1"/>
          </p:cNvSpPr>
          <p:nvPr/>
        </p:nvSpPr>
        <p:spPr bwMode="auto">
          <a:xfrm>
            <a:off x="1790353" y="4590159"/>
            <a:ext cx="202406" cy="234553"/>
          </a:xfrm>
          <a:custGeom>
            <a:avLst/>
            <a:gdLst>
              <a:gd name="T0" fmla="*/ 274 w 274"/>
              <a:gd name="T1" fmla="*/ 158 h 317"/>
              <a:gd name="T2" fmla="*/ 137 w 274"/>
              <a:gd name="T3" fmla="*/ 238 h 317"/>
              <a:gd name="T4" fmla="*/ 0 w 274"/>
              <a:gd name="T5" fmla="*/ 317 h 317"/>
              <a:gd name="T6" fmla="*/ 0 w 274"/>
              <a:gd name="T7" fmla="*/ 158 h 317"/>
              <a:gd name="T8" fmla="*/ 0 w 274"/>
              <a:gd name="T9" fmla="*/ 0 h 317"/>
              <a:gd name="T10" fmla="*/ 137 w 274"/>
              <a:gd name="T11" fmla="*/ 79 h 317"/>
              <a:gd name="T12" fmla="*/ 274 w 274"/>
              <a:gd name="T13" fmla="*/ 158 h 317"/>
            </a:gdLst>
            <a:ahLst/>
            <a:cxnLst>
              <a:cxn ang="0">
                <a:pos x="T0" y="T1"/>
              </a:cxn>
              <a:cxn ang="0">
                <a:pos x="T2" y="T3"/>
              </a:cxn>
              <a:cxn ang="0">
                <a:pos x="T4" y="T5"/>
              </a:cxn>
              <a:cxn ang="0">
                <a:pos x="T6" y="T7"/>
              </a:cxn>
              <a:cxn ang="0">
                <a:pos x="T8" y="T9"/>
              </a:cxn>
              <a:cxn ang="0">
                <a:pos x="T10" y="T11"/>
              </a:cxn>
              <a:cxn ang="0">
                <a:pos x="T12" y="T13"/>
              </a:cxn>
            </a:cxnLst>
            <a:rect l="0" t="0" r="r" b="b"/>
            <a:pathLst>
              <a:path w="274" h="317">
                <a:moveTo>
                  <a:pt x="274" y="158"/>
                </a:moveTo>
                <a:lnTo>
                  <a:pt x="137" y="238"/>
                </a:lnTo>
                <a:lnTo>
                  <a:pt x="0" y="317"/>
                </a:lnTo>
                <a:lnTo>
                  <a:pt x="0" y="158"/>
                </a:lnTo>
                <a:lnTo>
                  <a:pt x="0" y="0"/>
                </a:lnTo>
                <a:lnTo>
                  <a:pt x="137" y="79"/>
                </a:lnTo>
                <a:lnTo>
                  <a:pt x="274" y="158"/>
                </a:lnTo>
                <a:close/>
              </a:path>
            </a:pathLst>
          </a:custGeom>
          <a:solidFill>
            <a:srgbClr val="9B928C"/>
          </a:solidFill>
          <a:ln>
            <a:noFill/>
          </a:ln>
        </p:spPr>
        <p:txBody>
          <a:bodyPr/>
          <a:lstStyle/>
          <a:p>
            <a:endParaRPr lang="zh-CN" altLang="en-US"/>
          </a:p>
        </p:txBody>
      </p:sp>
      <p:sp>
        <p:nvSpPr>
          <p:cNvPr id="13" name="Line 9"/>
          <p:cNvSpPr>
            <a:spLocks noChangeShapeType="1"/>
          </p:cNvSpPr>
          <p:nvPr/>
        </p:nvSpPr>
        <p:spPr bwMode="auto">
          <a:xfrm>
            <a:off x="2130871" y="3425534"/>
            <a:ext cx="5997878" cy="0"/>
          </a:xfrm>
          <a:prstGeom prst="line">
            <a:avLst/>
          </a:prstGeom>
          <a:noFill/>
          <a:ln w="13">
            <a:solidFill>
              <a:srgbClr val="2E2C2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TextBox 12"/>
          <p:cNvSpPr txBox="1">
            <a:spLocks noChangeArrowheads="1"/>
          </p:cNvSpPr>
          <p:nvPr/>
        </p:nvSpPr>
        <p:spPr bwMode="auto">
          <a:xfrm>
            <a:off x="2118965" y="3081443"/>
            <a:ext cx="2761059"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50" dirty="0">
                <a:solidFill>
                  <a:srgbClr val="685D5C"/>
                </a:solidFill>
                <a:latin typeface="微软雅黑" panose="020B0503020204020204" pitchFamily="34" charset="-122"/>
                <a:ea typeface="微软雅黑" panose="020B0503020204020204" pitchFamily="34" charset="-122"/>
              </a:rPr>
              <a:t>计算公式</a:t>
            </a:r>
            <a:endParaRPr lang="en-US" sz="1650" dirty="0">
              <a:solidFill>
                <a:srgbClr val="685D5C"/>
              </a:solidFill>
              <a:latin typeface="微软雅黑" panose="020B0503020204020204" pitchFamily="34" charset="-122"/>
              <a:ea typeface="微软雅黑" panose="020B0503020204020204" pitchFamily="34" charset="-122"/>
            </a:endParaRPr>
          </a:p>
        </p:txBody>
      </p:sp>
      <p:sp>
        <p:nvSpPr>
          <p:cNvPr id="15" name="TextBox 13"/>
          <p:cNvSpPr txBox="1">
            <a:spLocks noChangeArrowheads="1"/>
          </p:cNvSpPr>
          <p:nvPr/>
        </p:nvSpPr>
        <p:spPr bwMode="auto">
          <a:xfrm>
            <a:off x="2126458" y="3510700"/>
            <a:ext cx="600229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200" dirty="0">
                <a:latin typeface="微软雅黑" panose="020B0503020204020204" pitchFamily="34" charset="-122"/>
                <a:ea typeface="微软雅黑" panose="020B0503020204020204" pitchFamily="34" charset="-122"/>
              </a:rPr>
              <a:t>随机变量</a:t>
            </a:r>
            <a:r>
              <a:rPr lang="en-US" altLang="zh-CN" sz="1200" dirty="0">
                <a:latin typeface="微软雅黑" panose="020B0503020204020204" pitchFamily="34" charset="-122"/>
                <a:ea typeface="微软雅黑" panose="020B0503020204020204" pitchFamily="34" charset="-122"/>
              </a:rPr>
              <a:t>X</a:t>
            </a:r>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Y</a:t>
            </a:r>
            <a:r>
              <a:rPr lang="zh-CN" altLang="en-US" sz="1200" dirty="0">
                <a:latin typeface="微软雅黑" panose="020B0503020204020204" pitchFamily="34" charset="-122"/>
                <a:ea typeface="微软雅黑" panose="020B0503020204020204" pitchFamily="34" charset="-122"/>
              </a:rPr>
              <a:t>之间的</a:t>
            </a:r>
            <a:r>
              <a:rPr lang="en-US" altLang="zh-CN" sz="1200" dirty="0">
                <a:latin typeface="微软雅黑" panose="020B0503020204020204" pitchFamily="34" charset="-122"/>
                <a:ea typeface="微软雅黑" panose="020B0503020204020204" pitchFamily="34" charset="-122"/>
              </a:rPr>
              <a:t>Spearman</a:t>
            </a:r>
            <a:r>
              <a:rPr lang="zh-CN" altLang="en-US" sz="1200" dirty="0">
                <a:latin typeface="微软雅黑" panose="020B0503020204020204" pitchFamily="34" charset="-122"/>
                <a:ea typeface="微软雅黑" panose="020B0503020204020204" pitchFamily="34" charset="-122"/>
              </a:rPr>
              <a:t>相关系数记为   </a:t>
            </a:r>
            <a:r>
              <a:rPr lang="en-US" altLang="zh-CN" sz="1200" dirty="0">
                <a:latin typeface="微软雅黑" panose="020B0503020204020204" pitchFamily="34" charset="-122"/>
                <a:ea typeface="微软雅黑" panose="020B0503020204020204" pitchFamily="34" charset="-122"/>
              </a:rPr>
              <a:t> </a:t>
            </a:r>
            <a:r>
              <a:rPr lang="zh-CN" altLang="zh-CN" sz="1200" dirty="0">
                <a:latin typeface="微软雅黑" panose="020B0503020204020204" pitchFamily="34" charset="-122"/>
                <a:ea typeface="微软雅黑" panose="020B0503020204020204" pitchFamily="34" charset="-122"/>
              </a:rPr>
              <a:t>，其计算公式为</a:t>
            </a:r>
            <a:r>
              <a:rPr lang="en-US" altLang="zh-CN" sz="1200" dirty="0">
                <a:latin typeface="微软雅黑" panose="020B0503020204020204" pitchFamily="34" charset="-122"/>
                <a:ea typeface="微软雅黑" panose="020B0503020204020204" pitchFamily="34" charset="-122"/>
              </a:rPr>
              <a:t>                    </a:t>
            </a:r>
            <a:r>
              <a:rPr lang="zh-CN" altLang="zh-CN" sz="1200" dirty="0">
                <a:latin typeface="微软雅黑" panose="020B0503020204020204" pitchFamily="34" charset="-122"/>
                <a:ea typeface="微软雅黑" panose="020B0503020204020204" pitchFamily="34" charset="-122"/>
              </a:rPr>
              <a:t>其中</a:t>
            </a:r>
            <a:r>
              <a:rPr lang="en-US" altLang="zh-CN" sz="1200" dirty="0">
                <a:latin typeface="微软雅黑" panose="020B0503020204020204" pitchFamily="34" charset="-122"/>
                <a:ea typeface="微软雅黑" panose="020B0503020204020204" pitchFamily="34" charset="-122"/>
              </a:rPr>
              <a:t>    </a:t>
            </a:r>
            <a:r>
              <a:rPr lang="zh-CN" altLang="zh-CN" sz="1200" dirty="0">
                <a:latin typeface="微软雅黑" panose="020B0503020204020204" pitchFamily="34" charset="-122"/>
                <a:ea typeface="微软雅黑" panose="020B0503020204020204" pitchFamily="34" charset="-122"/>
              </a:rPr>
              <a:t>为分别对</a:t>
            </a:r>
            <a:r>
              <a:rPr lang="en-US" altLang="zh-CN" sz="1200" dirty="0">
                <a:latin typeface="微软雅黑" panose="020B0503020204020204" pitchFamily="34" charset="-122"/>
                <a:ea typeface="微软雅黑" panose="020B0503020204020204" pitchFamily="34" charset="-122"/>
              </a:rPr>
              <a:t>X</a:t>
            </a:r>
            <a:r>
              <a:rPr lang="zh-CN" altLang="zh-CN"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Y</a:t>
            </a:r>
            <a:r>
              <a:rPr lang="zh-CN" altLang="zh-CN" sz="1200" dirty="0">
                <a:latin typeface="微软雅黑" panose="020B0503020204020204" pitchFamily="34" charset="-122"/>
                <a:ea typeface="微软雅黑" panose="020B0503020204020204" pitchFamily="34" charset="-122"/>
              </a:rPr>
              <a:t>去秩之后每对观察值</a:t>
            </a:r>
            <a:r>
              <a:rPr lang="en-US" altLang="zh-CN" sz="1200" dirty="0">
                <a:latin typeface="微软雅黑" panose="020B0503020204020204" pitchFamily="34" charset="-122"/>
                <a:ea typeface="微软雅黑" panose="020B0503020204020204" pitchFamily="34" charset="-122"/>
              </a:rPr>
              <a:t>        </a:t>
            </a:r>
            <a:r>
              <a:rPr lang="zh-CN" altLang="zh-CN" sz="1200" dirty="0">
                <a:latin typeface="微软雅黑" panose="020B0503020204020204" pitchFamily="34" charset="-122"/>
                <a:ea typeface="微软雅黑" panose="020B0503020204020204" pitchFamily="34" charset="-122"/>
              </a:rPr>
              <a:t>的秩之差，</a:t>
            </a:r>
            <a:r>
              <a:rPr lang="en-US" altLang="zh-CN" sz="1200" dirty="0">
                <a:latin typeface="微软雅黑" panose="020B0503020204020204" pitchFamily="34" charset="-122"/>
                <a:ea typeface="微软雅黑" panose="020B0503020204020204" pitchFamily="34" charset="-122"/>
              </a:rPr>
              <a:t>   </a:t>
            </a:r>
            <a:r>
              <a:rPr lang="zh-CN" altLang="zh-CN" sz="1200" dirty="0">
                <a:latin typeface="微软雅黑" panose="020B0503020204020204" pitchFamily="34" charset="-122"/>
                <a:ea typeface="微软雅黑" panose="020B0503020204020204" pitchFamily="34" charset="-122"/>
              </a:rPr>
              <a:t>为所有观察对的个数。</a:t>
            </a:r>
            <a:endParaRPr lang="zh-CN" altLang="en-US" sz="1200" dirty="0">
              <a:latin typeface="微软雅黑" panose="020B0503020204020204" pitchFamily="34" charset="-122"/>
              <a:ea typeface="微软雅黑" panose="020B0503020204020204" pitchFamily="34" charset="-122"/>
            </a:endParaRPr>
          </a:p>
        </p:txBody>
      </p:sp>
      <p:sp>
        <p:nvSpPr>
          <p:cNvPr id="16" name="Freeform 8"/>
          <p:cNvSpPr>
            <a:spLocks noChangeArrowheads="1"/>
          </p:cNvSpPr>
          <p:nvPr/>
        </p:nvSpPr>
        <p:spPr bwMode="auto">
          <a:xfrm>
            <a:off x="1764158" y="3307661"/>
            <a:ext cx="203597" cy="234554"/>
          </a:xfrm>
          <a:custGeom>
            <a:avLst/>
            <a:gdLst>
              <a:gd name="T0" fmla="*/ 274 w 274"/>
              <a:gd name="T1" fmla="*/ 158 h 317"/>
              <a:gd name="T2" fmla="*/ 137 w 274"/>
              <a:gd name="T3" fmla="*/ 238 h 317"/>
              <a:gd name="T4" fmla="*/ 0 w 274"/>
              <a:gd name="T5" fmla="*/ 317 h 317"/>
              <a:gd name="T6" fmla="*/ 0 w 274"/>
              <a:gd name="T7" fmla="*/ 158 h 317"/>
              <a:gd name="T8" fmla="*/ 0 w 274"/>
              <a:gd name="T9" fmla="*/ 0 h 317"/>
              <a:gd name="T10" fmla="*/ 137 w 274"/>
              <a:gd name="T11" fmla="*/ 79 h 317"/>
              <a:gd name="T12" fmla="*/ 274 w 274"/>
              <a:gd name="T13" fmla="*/ 158 h 317"/>
            </a:gdLst>
            <a:ahLst/>
            <a:cxnLst>
              <a:cxn ang="0">
                <a:pos x="T0" y="T1"/>
              </a:cxn>
              <a:cxn ang="0">
                <a:pos x="T2" y="T3"/>
              </a:cxn>
              <a:cxn ang="0">
                <a:pos x="T4" y="T5"/>
              </a:cxn>
              <a:cxn ang="0">
                <a:pos x="T6" y="T7"/>
              </a:cxn>
              <a:cxn ang="0">
                <a:pos x="T8" y="T9"/>
              </a:cxn>
              <a:cxn ang="0">
                <a:pos x="T10" y="T11"/>
              </a:cxn>
              <a:cxn ang="0">
                <a:pos x="T12" y="T13"/>
              </a:cxn>
            </a:cxnLst>
            <a:rect l="0" t="0" r="r" b="b"/>
            <a:pathLst>
              <a:path w="274" h="317">
                <a:moveTo>
                  <a:pt x="274" y="158"/>
                </a:moveTo>
                <a:lnTo>
                  <a:pt x="137" y="238"/>
                </a:lnTo>
                <a:lnTo>
                  <a:pt x="0" y="317"/>
                </a:lnTo>
                <a:lnTo>
                  <a:pt x="0" y="158"/>
                </a:lnTo>
                <a:lnTo>
                  <a:pt x="0" y="0"/>
                </a:lnTo>
                <a:lnTo>
                  <a:pt x="137" y="79"/>
                </a:lnTo>
                <a:lnTo>
                  <a:pt x="274" y="158"/>
                </a:lnTo>
                <a:close/>
              </a:path>
            </a:pathLst>
          </a:custGeom>
          <a:solidFill>
            <a:srgbClr val="9B928C"/>
          </a:solidFill>
          <a:ln>
            <a:noFill/>
          </a:ln>
        </p:spPr>
        <p:txBody>
          <a:bodyPr/>
          <a:lstStyle/>
          <a:p>
            <a:endParaRPr lang="zh-CN" altLang="en-US"/>
          </a:p>
        </p:txBody>
      </p:sp>
      <p:sp>
        <p:nvSpPr>
          <p:cNvPr id="17" name="Oval 6"/>
          <p:cNvSpPr>
            <a:spLocks noChangeArrowheads="1"/>
          </p:cNvSpPr>
          <p:nvPr/>
        </p:nvSpPr>
        <p:spPr bwMode="auto">
          <a:xfrm>
            <a:off x="872380" y="1642796"/>
            <a:ext cx="807244" cy="807244"/>
          </a:xfrm>
          <a:prstGeom prst="ellipse">
            <a:avLst/>
          </a:prstGeom>
          <a:solidFill>
            <a:schemeClr val="bg2"/>
          </a:solidFill>
          <a:ln>
            <a:noFill/>
          </a:ln>
        </p:spPr>
        <p:txBody>
          <a:bodyPr/>
          <a:lstStyle/>
          <a:p>
            <a:endParaRPr lang="zh-CN" altLang="en-US">
              <a:ea typeface="宋体" panose="02010600030101010101" pitchFamily="2" charset="-122"/>
            </a:endParaRPr>
          </a:p>
        </p:txBody>
      </p:sp>
      <p:sp>
        <p:nvSpPr>
          <p:cNvPr id="18" name="Oval 7"/>
          <p:cNvSpPr>
            <a:spLocks noChangeArrowheads="1"/>
          </p:cNvSpPr>
          <p:nvPr/>
        </p:nvSpPr>
        <p:spPr bwMode="auto">
          <a:xfrm>
            <a:off x="940246" y="1710661"/>
            <a:ext cx="672703" cy="671513"/>
          </a:xfrm>
          <a:prstGeom prst="ellipse">
            <a:avLst/>
          </a:prstGeom>
          <a:solidFill>
            <a:srgbClr val="685D5C"/>
          </a:solidFill>
          <a:ln>
            <a:noFill/>
          </a:ln>
        </p:spPr>
        <p:txBody>
          <a:bodyPr/>
          <a:lstStyle/>
          <a:p>
            <a:endParaRPr lang="zh-CN" altLang="en-US">
              <a:ea typeface="宋体" panose="02010600030101010101" pitchFamily="2" charset="-122"/>
            </a:endParaRPr>
          </a:p>
        </p:txBody>
      </p:sp>
      <p:sp>
        <p:nvSpPr>
          <p:cNvPr id="19" name="TextBox 18"/>
          <p:cNvSpPr txBox="1">
            <a:spLocks noChangeArrowheads="1"/>
          </p:cNvSpPr>
          <p:nvPr/>
        </p:nvSpPr>
        <p:spPr bwMode="auto">
          <a:xfrm>
            <a:off x="940246" y="1803530"/>
            <a:ext cx="676275"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2700" b="1" dirty="0">
                <a:solidFill>
                  <a:schemeClr val="bg1"/>
                </a:solidFill>
                <a:latin typeface="微软雅黑" panose="020B0503020204020204" pitchFamily="34" charset="-122"/>
              </a:rPr>
              <a:t>01</a:t>
            </a:r>
          </a:p>
        </p:txBody>
      </p:sp>
      <p:sp>
        <p:nvSpPr>
          <p:cNvPr id="20" name="Oval 6"/>
          <p:cNvSpPr>
            <a:spLocks noChangeArrowheads="1"/>
          </p:cNvSpPr>
          <p:nvPr/>
        </p:nvSpPr>
        <p:spPr bwMode="auto">
          <a:xfrm>
            <a:off x="872380" y="4283810"/>
            <a:ext cx="807244" cy="807244"/>
          </a:xfrm>
          <a:prstGeom prst="ellipse">
            <a:avLst/>
          </a:prstGeom>
          <a:solidFill>
            <a:schemeClr val="bg2"/>
          </a:solidFill>
          <a:ln>
            <a:noFill/>
          </a:ln>
        </p:spPr>
        <p:txBody>
          <a:bodyPr/>
          <a:lstStyle/>
          <a:p>
            <a:endParaRPr lang="zh-CN" altLang="en-US">
              <a:ea typeface="宋体" panose="02010600030101010101" pitchFamily="2" charset="-122"/>
            </a:endParaRPr>
          </a:p>
        </p:txBody>
      </p:sp>
      <p:sp>
        <p:nvSpPr>
          <p:cNvPr id="21" name="Oval 7"/>
          <p:cNvSpPr>
            <a:spLocks noChangeArrowheads="1"/>
          </p:cNvSpPr>
          <p:nvPr/>
        </p:nvSpPr>
        <p:spPr bwMode="auto">
          <a:xfrm>
            <a:off x="940246" y="4371084"/>
            <a:ext cx="672703" cy="671513"/>
          </a:xfrm>
          <a:prstGeom prst="ellipse">
            <a:avLst/>
          </a:prstGeom>
          <a:solidFill>
            <a:srgbClr val="685D5C"/>
          </a:solidFill>
          <a:ln>
            <a:noFill/>
          </a:ln>
        </p:spPr>
        <p:txBody>
          <a:bodyPr/>
          <a:lstStyle/>
          <a:p>
            <a:endParaRPr lang="zh-CN" altLang="en-US">
              <a:ea typeface="宋体" panose="02010600030101010101" pitchFamily="2" charset="-122"/>
            </a:endParaRPr>
          </a:p>
        </p:txBody>
      </p:sp>
      <p:sp>
        <p:nvSpPr>
          <p:cNvPr id="22" name="Oval 6"/>
          <p:cNvSpPr>
            <a:spLocks noChangeArrowheads="1"/>
          </p:cNvSpPr>
          <p:nvPr/>
        </p:nvSpPr>
        <p:spPr bwMode="auto">
          <a:xfrm>
            <a:off x="873571" y="3021912"/>
            <a:ext cx="807244" cy="807244"/>
          </a:xfrm>
          <a:prstGeom prst="ellipse">
            <a:avLst/>
          </a:prstGeom>
          <a:solidFill>
            <a:schemeClr val="bg2"/>
          </a:solidFill>
          <a:ln>
            <a:noFill/>
          </a:ln>
        </p:spPr>
        <p:txBody>
          <a:bodyPr/>
          <a:lstStyle/>
          <a:p>
            <a:endParaRPr lang="zh-CN" altLang="en-US">
              <a:ea typeface="宋体" panose="02010600030101010101" pitchFamily="2" charset="-122"/>
            </a:endParaRPr>
          </a:p>
        </p:txBody>
      </p:sp>
      <p:sp>
        <p:nvSpPr>
          <p:cNvPr id="23" name="Oval 7"/>
          <p:cNvSpPr>
            <a:spLocks noChangeArrowheads="1"/>
          </p:cNvSpPr>
          <p:nvPr/>
        </p:nvSpPr>
        <p:spPr bwMode="auto">
          <a:xfrm>
            <a:off x="941436" y="3089777"/>
            <a:ext cx="671513" cy="671513"/>
          </a:xfrm>
          <a:prstGeom prst="ellipse">
            <a:avLst/>
          </a:prstGeom>
          <a:solidFill>
            <a:srgbClr val="685D5C"/>
          </a:solidFill>
          <a:ln>
            <a:noFill/>
          </a:ln>
        </p:spPr>
        <p:txBody>
          <a:bodyPr/>
          <a:lstStyle/>
          <a:p>
            <a:endParaRPr lang="zh-CN" altLang="en-US">
              <a:ea typeface="宋体" panose="02010600030101010101" pitchFamily="2" charset="-122"/>
            </a:endParaRPr>
          </a:p>
        </p:txBody>
      </p:sp>
      <p:sp>
        <p:nvSpPr>
          <p:cNvPr id="24" name="TextBox 25"/>
          <p:cNvSpPr txBox="1">
            <a:spLocks noChangeArrowheads="1"/>
          </p:cNvSpPr>
          <p:nvPr/>
        </p:nvSpPr>
        <p:spPr bwMode="auto">
          <a:xfrm>
            <a:off x="936674" y="3182646"/>
            <a:ext cx="676275"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2700" b="1" dirty="0">
                <a:solidFill>
                  <a:schemeClr val="bg1"/>
                </a:solidFill>
                <a:latin typeface="微软雅黑" panose="020B0503020204020204" pitchFamily="34" charset="-122"/>
              </a:rPr>
              <a:t>02</a:t>
            </a:r>
          </a:p>
        </p:txBody>
      </p:sp>
      <p:sp>
        <p:nvSpPr>
          <p:cNvPr id="25" name="TextBox 26"/>
          <p:cNvSpPr txBox="1">
            <a:spLocks noChangeArrowheads="1"/>
          </p:cNvSpPr>
          <p:nvPr/>
        </p:nvSpPr>
        <p:spPr bwMode="auto">
          <a:xfrm>
            <a:off x="929216" y="4464547"/>
            <a:ext cx="676275"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2700" b="1" dirty="0">
                <a:solidFill>
                  <a:schemeClr val="bg1"/>
                </a:solidFill>
                <a:latin typeface="微软雅黑" panose="020B0503020204020204" pitchFamily="34" charset="-122"/>
              </a:rPr>
              <a:t>03</a:t>
            </a:r>
          </a:p>
        </p:txBody>
      </p:sp>
      <p:sp>
        <p:nvSpPr>
          <p:cNvPr id="2" name="Rectangle 2"/>
          <p:cNvSpPr>
            <a:spLocks noChangeArrowheads="1"/>
          </p:cNvSpPr>
          <p:nvPr/>
        </p:nvSpPr>
        <p:spPr bwMode="auto">
          <a:xfrm>
            <a:off x="5251076" y="3531167"/>
            <a:ext cx="13021371"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2220883541"/>
              </p:ext>
            </p:extLst>
          </p:nvPr>
        </p:nvGraphicFramePr>
        <p:xfrm>
          <a:off x="5292080" y="3515817"/>
          <a:ext cx="194982" cy="194982"/>
        </p:xfrm>
        <a:graphic>
          <a:graphicData uri="http://schemas.openxmlformats.org/presentationml/2006/ole">
            <mc:AlternateContent xmlns:mc="http://schemas.openxmlformats.org/markup-compatibility/2006">
              <mc:Choice xmlns:v="urn:schemas-microsoft-com:vml" Requires="v">
                <p:oleObj spid="_x0000_s92684" r:id="rId3" imgW="139639" imgH="190417" progId="Equation.DSMT4">
                  <p:embed/>
                </p:oleObj>
              </mc:Choice>
              <mc:Fallback>
                <p:oleObj r:id="rId3" imgW="139639" imgH="190417" progId="Equation.DSMT4">
                  <p:embed/>
                  <p:pic>
                    <p:nvPicPr>
                      <p:cNvPr id="3"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2080" y="3515817"/>
                        <a:ext cx="194982" cy="194982"/>
                      </a:xfrm>
                      <a:prstGeom prst="rect">
                        <a:avLst/>
                      </a:prstGeom>
                      <a:noFill/>
                    </p:spPr>
                  </p:pic>
                </p:oleObj>
              </mc:Fallback>
            </mc:AlternateContent>
          </a:graphicData>
        </a:graphic>
      </p:graphicFrame>
      <p:sp>
        <p:nvSpPr>
          <p:cNvPr id="27" name="Rectangle 4"/>
          <p:cNvSpPr>
            <a:spLocks noChangeArrowheads="1"/>
          </p:cNvSpPr>
          <p:nvPr/>
        </p:nvSpPr>
        <p:spPr bwMode="auto">
          <a:xfrm>
            <a:off x="0"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graphicFrame>
        <p:nvGraphicFramePr>
          <p:cNvPr id="28" name="对象 27"/>
          <p:cNvGraphicFramePr>
            <a:graphicFrameLocks noChangeAspect="1"/>
          </p:cNvGraphicFramePr>
          <p:nvPr/>
        </p:nvGraphicFramePr>
        <p:xfrm>
          <a:off x="6555441" y="3430360"/>
          <a:ext cx="745313" cy="330930"/>
        </p:xfrm>
        <a:graphic>
          <a:graphicData uri="http://schemas.openxmlformats.org/presentationml/2006/ole">
            <mc:AlternateContent xmlns:mc="http://schemas.openxmlformats.org/markup-compatibility/2006">
              <mc:Choice xmlns:v="urn:schemas-microsoft-com:vml" Requires="v">
                <p:oleObj spid="_x0000_s92685" r:id="rId5" imgW="875920" imgH="406224" progId="Equation.DSMT4">
                  <p:embed/>
                </p:oleObj>
              </mc:Choice>
              <mc:Fallback>
                <p:oleObj r:id="rId5" imgW="875920" imgH="406224" progId="Equation.DSMT4">
                  <p:embed/>
                  <p:pic>
                    <p:nvPicPr>
                      <p:cNvPr id="28" name="对象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55441" y="3430360"/>
                        <a:ext cx="745313" cy="330930"/>
                      </a:xfrm>
                      <a:prstGeom prst="rect">
                        <a:avLst/>
                      </a:prstGeom>
                      <a:noFill/>
                    </p:spPr>
                  </p:pic>
                </p:oleObj>
              </mc:Fallback>
            </mc:AlternateContent>
          </a:graphicData>
        </a:graphic>
      </p:graphicFrame>
      <p:sp>
        <p:nvSpPr>
          <p:cNvPr id="29" name="Rectangle 6"/>
          <p:cNvSpPr>
            <a:spLocks noChangeArrowheads="1"/>
          </p:cNvSpPr>
          <p:nvPr/>
        </p:nvSpPr>
        <p:spPr bwMode="auto">
          <a:xfrm>
            <a:off x="0" y="701270"/>
            <a:ext cx="14244579"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zh-CN" altLang="en-US"/>
          </a:p>
        </p:txBody>
      </p:sp>
      <p:graphicFrame>
        <p:nvGraphicFramePr>
          <p:cNvPr id="30" name="对象 29"/>
          <p:cNvGraphicFramePr>
            <a:graphicFrameLocks noChangeAspect="1"/>
          </p:cNvGraphicFramePr>
          <p:nvPr/>
        </p:nvGraphicFramePr>
        <p:xfrm>
          <a:off x="7739674" y="3523978"/>
          <a:ext cx="107576" cy="213299"/>
        </p:xfrm>
        <a:graphic>
          <a:graphicData uri="http://schemas.openxmlformats.org/presentationml/2006/ole">
            <mc:AlternateContent xmlns:mc="http://schemas.openxmlformats.org/markup-compatibility/2006">
              <mc:Choice xmlns:v="urn:schemas-microsoft-com:vml" Requires="v">
                <p:oleObj spid="_x0000_s92686" r:id="rId7" imgW="126780" imgH="164814" progId="Equation.DSMT4">
                  <p:embed/>
                </p:oleObj>
              </mc:Choice>
              <mc:Fallback>
                <p:oleObj r:id="rId7" imgW="126780" imgH="164814" progId="Equation.DSMT4">
                  <p:embed/>
                  <p:pic>
                    <p:nvPicPr>
                      <p:cNvPr id="30" name="对象 2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39674" y="3523978"/>
                        <a:ext cx="107576" cy="213299"/>
                      </a:xfrm>
                      <a:prstGeom prst="rect">
                        <a:avLst/>
                      </a:prstGeom>
                      <a:noFill/>
                    </p:spPr>
                  </p:pic>
                </p:oleObj>
              </mc:Fallback>
            </mc:AlternateContent>
          </a:graphicData>
        </a:graphic>
      </p:graphicFrame>
      <p:sp>
        <p:nvSpPr>
          <p:cNvPr id="31" name="Rectangle 8"/>
          <p:cNvSpPr>
            <a:spLocks noChangeArrowheads="1"/>
          </p:cNvSpPr>
          <p:nvPr/>
        </p:nvSpPr>
        <p:spPr bwMode="auto">
          <a:xfrm>
            <a:off x="0"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graphicFrame>
        <p:nvGraphicFramePr>
          <p:cNvPr id="32" name="对象 31"/>
          <p:cNvGraphicFramePr>
            <a:graphicFrameLocks noChangeAspect="1"/>
          </p:cNvGraphicFramePr>
          <p:nvPr>
            <p:extLst>
              <p:ext uri="{D42A27DB-BD31-4B8C-83A1-F6EECF244321}">
                <p14:modId xmlns:p14="http://schemas.microsoft.com/office/powerpoint/2010/main" val="44586832"/>
              </p:ext>
            </p:extLst>
          </p:nvPr>
        </p:nvGraphicFramePr>
        <p:xfrm>
          <a:off x="4570735" y="3748874"/>
          <a:ext cx="296933" cy="197384"/>
        </p:xfrm>
        <a:graphic>
          <a:graphicData uri="http://schemas.openxmlformats.org/presentationml/2006/ole">
            <mc:AlternateContent xmlns:mc="http://schemas.openxmlformats.org/markup-compatibility/2006">
              <mc:Choice xmlns:v="urn:schemas-microsoft-com:vml" Requires="v">
                <p:oleObj spid="_x0000_s92687" r:id="rId9" imgW="317225" imgH="190335" progId="Equation.DSMT4">
                  <p:embed/>
                </p:oleObj>
              </mc:Choice>
              <mc:Fallback>
                <p:oleObj r:id="rId9" imgW="317225" imgH="190335" progId="Equation.DSMT4">
                  <p:embed/>
                  <p:pic>
                    <p:nvPicPr>
                      <p:cNvPr id="32" name="对象 3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70735" y="3748874"/>
                        <a:ext cx="296933" cy="197384"/>
                      </a:xfrm>
                      <a:prstGeom prst="rect">
                        <a:avLst/>
                      </a:prstGeom>
                      <a:noFill/>
                    </p:spPr>
                  </p:pic>
                </p:oleObj>
              </mc:Fallback>
            </mc:AlternateContent>
          </a:graphicData>
        </a:graphic>
      </p:graphicFrame>
      <p:graphicFrame>
        <p:nvGraphicFramePr>
          <p:cNvPr id="34" name="对象 33"/>
          <p:cNvGraphicFramePr>
            <a:graphicFrameLocks noChangeAspect="1"/>
          </p:cNvGraphicFramePr>
          <p:nvPr>
            <p:extLst>
              <p:ext uri="{D42A27DB-BD31-4B8C-83A1-F6EECF244321}">
                <p14:modId xmlns:p14="http://schemas.microsoft.com/office/powerpoint/2010/main" val="500071177"/>
              </p:ext>
            </p:extLst>
          </p:nvPr>
        </p:nvGraphicFramePr>
        <p:xfrm>
          <a:off x="5603637" y="3746675"/>
          <a:ext cx="163494" cy="163494"/>
        </p:xfrm>
        <a:graphic>
          <a:graphicData uri="http://schemas.openxmlformats.org/presentationml/2006/ole">
            <mc:AlternateContent xmlns:mc="http://schemas.openxmlformats.org/markup-compatibility/2006">
              <mc:Choice xmlns:v="urn:schemas-microsoft-com:vml" Requires="v">
                <p:oleObj spid="_x0000_s92688" r:id="rId11" imgW="114102" imgH="126780" progId="Equation.DSMT4">
                  <p:embed/>
                </p:oleObj>
              </mc:Choice>
              <mc:Fallback>
                <p:oleObj r:id="rId11" imgW="114102" imgH="126780" progId="Equation.DSMT4">
                  <p:embed/>
                  <p:pic>
                    <p:nvPicPr>
                      <p:cNvPr id="34" name="对象 3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03637" y="3746675"/>
                        <a:ext cx="163494" cy="163494"/>
                      </a:xfrm>
                      <a:prstGeom prst="rect">
                        <a:avLst/>
                      </a:prstGeom>
                      <a:noFill/>
                    </p:spPr>
                  </p:pic>
                </p:oleObj>
              </mc:Fallback>
            </mc:AlternateContent>
          </a:graphicData>
        </a:graphic>
      </p:graphicFrame>
      <p:sp>
        <p:nvSpPr>
          <p:cNvPr id="35" name="Rectangle 12"/>
          <p:cNvSpPr>
            <a:spLocks noChangeArrowheads="1"/>
          </p:cNvSpPr>
          <p:nvPr/>
        </p:nvSpPr>
        <p:spPr bwMode="auto">
          <a:xfrm>
            <a:off x="0"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graphicFrame>
        <p:nvGraphicFramePr>
          <p:cNvPr id="36" name="对象 35"/>
          <p:cNvGraphicFramePr>
            <a:graphicFrameLocks noChangeAspect="1"/>
          </p:cNvGraphicFramePr>
          <p:nvPr/>
        </p:nvGraphicFramePr>
        <p:xfrm>
          <a:off x="3580859" y="4767596"/>
          <a:ext cx="209031" cy="209031"/>
        </p:xfrm>
        <a:graphic>
          <a:graphicData uri="http://schemas.openxmlformats.org/presentationml/2006/ole">
            <mc:AlternateContent xmlns:mc="http://schemas.openxmlformats.org/markup-compatibility/2006">
              <mc:Choice xmlns:v="urn:schemas-microsoft-com:vml" Requires="v">
                <p:oleObj spid="_x0000_s92689" r:id="rId13" imgW="139639" imgH="190417" progId="Equation.DSMT4">
                  <p:embed/>
                </p:oleObj>
              </mc:Choice>
              <mc:Fallback>
                <p:oleObj r:id="rId13" imgW="139639" imgH="190417" progId="Equation.DSMT4">
                  <p:embed/>
                  <p:pic>
                    <p:nvPicPr>
                      <p:cNvPr id="36" name="对象 3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80859" y="4767596"/>
                        <a:ext cx="209031" cy="209031"/>
                      </a:xfrm>
                      <a:prstGeom prst="rect">
                        <a:avLst/>
                      </a:prstGeom>
                      <a:noFill/>
                    </p:spPr>
                  </p:pic>
                </p:oleObj>
              </mc:Fallback>
            </mc:AlternateContent>
          </a:graphicData>
        </a:graphic>
      </p:graphicFrame>
      <p:sp>
        <p:nvSpPr>
          <p:cNvPr id="37" name="Rectangle 20"/>
          <p:cNvSpPr>
            <a:spLocks noChangeArrowheads="1"/>
          </p:cNvSpPr>
          <p:nvPr/>
        </p:nvSpPr>
        <p:spPr bwMode="auto">
          <a:xfrm>
            <a:off x="0"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graphicFrame>
        <p:nvGraphicFramePr>
          <p:cNvPr id="41" name="对象 40"/>
          <p:cNvGraphicFramePr>
            <a:graphicFrameLocks noChangeAspect="1"/>
          </p:cNvGraphicFramePr>
          <p:nvPr/>
        </p:nvGraphicFramePr>
        <p:xfrm>
          <a:off x="5151312" y="4770739"/>
          <a:ext cx="209031" cy="209031"/>
        </p:xfrm>
        <a:graphic>
          <a:graphicData uri="http://schemas.openxmlformats.org/presentationml/2006/ole">
            <mc:AlternateContent xmlns:mc="http://schemas.openxmlformats.org/markup-compatibility/2006">
              <mc:Choice xmlns:v="urn:schemas-microsoft-com:vml" Requires="v">
                <p:oleObj spid="_x0000_s92690" r:id="rId15" imgW="139639" imgH="190417" progId="Equation.DSMT4">
                  <p:embed/>
                </p:oleObj>
              </mc:Choice>
              <mc:Fallback>
                <p:oleObj r:id="rId15" imgW="139639" imgH="190417" progId="Equation.DSMT4">
                  <p:embed/>
                  <p:pic>
                    <p:nvPicPr>
                      <p:cNvPr id="41" name="对象 4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151312" y="4770739"/>
                        <a:ext cx="209031" cy="209031"/>
                      </a:xfrm>
                      <a:prstGeom prst="rect">
                        <a:avLst/>
                      </a:prstGeom>
                      <a:noFill/>
                    </p:spPr>
                  </p:pic>
                </p:oleObj>
              </mc:Fallback>
            </mc:AlternateContent>
          </a:graphicData>
        </a:graphic>
      </p:graphicFrame>
      <p:sp>
        <p:nvSpPr>
          <p:cNvPr id="39" name="Rectangle 22"/>
          <p:cNvSpPr>
            <a:spLocks noChangeArrowheads="1"/>
          </p:cNvSpPr>
          <p:nvPr/>
        </p:nvSpPr>
        <p:spPr bwMode="auto">
          <a:xfrm>
            <a:off x="5753062" y="4203430"/>
            <a:ext cx="11233853"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zh-CN" altLang="en-US"/>
          </a:p>
        </p:txBody>
      </p:sp>
      <p:graphicFrame>
        <p:nvGraphicFramePr>
          <p:cNvPr id="40" name="对象 39"/>
          <p:cNvGraphicFramePr>
            <a:graphicFrameLocks noChangeAspect="1"/>
          </p:cNvGraphicFramePr>
          <p:nvPr>
            <p:extLst>
              <p:ext uri="{D42A27DB-BD31-4B8C-83A1-F6EECF244321}">
                <p14:modId xmlns:p14="http://schemas.microsoft.com/office/powerpoint/2010/main" val="1783032209"/>
              </p:ext>
            </p:extLst>
          </p:nvPr>
        </p:nvGraphicFramePr>
        <p:xfrm>
          <a:off x="5907687" y="4783937"/>
          <a:ext cx="418061" cy="209031"/>
        </p:xfrm>
        <a:graphic>
          <a:graphicData uri="http://schemas.openxmlformats.org/presentationml/2006/ole">
            <mc:AlternateContent xmlns:mc="http://schemas.openxmlformats.org/markup-compatibility/2006">
              <mc:Choice xmlns:v="urn:schemas-microsoft-com:vml" Requires="v">
                <p:oleObj spid="_x0000_s92691" r:id="rId16" imgW="380835" imgH="190417" progId="Equation.DSMT4">
                  <p:embed/>
                </p:oleObj>
              </mc:Choice>
              <mc:Fallback>
                <p:oleObj r:id="rId16" imgW="380835" imgH="190417" progId="Equation.DSMT4">
                  <p:embed/>
                  <p:pic>
                    <p:nvPicPr>
                      <p:cNvPr id="40" name="对象 3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907687" y="4783937"/>
                        <a:ext cx="418061" cy="209031"/>
                      </a:xfrm>
                      <a:prstGeom prst="rect">
                        <a:avLst/>
                      </a:prstGeom>
                      <a:noFill/>
                    </p:spPr>
                  </p:pic>
                </p:oleObj>
              </mc:Fallback>
            </mc:AlternateContent>
          </a:graphicData>
        </a:graphic>
      </p:graphicFrame>
      <p:graphicFrame>
        <p:nvGraphicFramePr>
          <p:cNvPr id="43" name="对象 42"/>
          <p:cNvGraphicFramePr>
            <a:graphicFrameLocks noChangeAspect="1"/>
          </p:cNvGraphicFramePr>
          <p:nvPr>
            <p:extLst>
              <p:ext uri="{D42A27DB-BD31-4B8C-83A1-F6EECF244321}">
                <p14:modId xmlns:p14="http://schemas.microsoft.com/office/powerpoint/2010/main" val="3579593904"/>
              </p:ext>
            </p:extLst>
          </p:nvPr>
        </p:nvGraphicFramePr>
        <p:xfrm>
          <a:off x="3241121" y="4974866"/>
          <a:ext cx="409781" cy="163629"/>
        </p:xfrm>
        <a:graphic>
          <a:graphicData uri="http://schemas.openxmlformats.org/presentationml/2006/ole">
            <mc:AlternateContent xmlns:mc="http://schemas.openxmlformats.org/markup-compatibility/2006">
              <mc:Choice xmlns:v="urn:schemas-microsoft-com:vml" Requires="v">
                <p:oleObj spid="_x0000_s92692" r:id="rId18" imgW="482391" imgH="152334" progId="Equation.DSMT4">
                  <p:embed/>
                </p:oleObj>
              </mc:Choice>
              <mc:Fallback>
                <p:oleObj r:id="rId18" imgW="482391" imgH="152334" progId="Equation.DSMT4">
                  <p:embed/>
                  <p:pic>
                    <p:nvPicPr>
                      <p:cNvPr id="43" name="对象 4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241121" y="4974866"/>
                        <a:ext cx="409781" cy="163629"/>
                      </a:xfrm>
                      <a:prstGeom prst="rect">
                        <a:avLst/>
                      </a:prstGeom>
                      <a:noFill/>
                    </p:spPr>
                  </p:pic>
                </p:oleObj>
              </mc:Fallback>
            </mc:AlternateContent>
          </a:graphicData>
        </a:graphic>
      </p:graphicFrame>
      <p:sp>
        <p:nvSpPr>
          <p:cNvPr id="44" name="Rectangle 26"/>
          <p:cNvSpPr>
            <a:spLocks noChangeArrowheads="1"/>
          </p:cNvSpPr>
          <p:nvPr/>
        </p:nvSpPr>
        <p:spPr bwMode="auto">
          <a:xfrm>
            <a:off x="4244709" y="4971710"/>
            <a:ext cx="10801778"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zh-CN" altLang="en-US"/>
          </a:p>
        </p:txBody>
      </p:sp>
      <p:graphicFrame>
        <p:nvGraphicFramePr>
          <p:cNvPr id="45" name="对象 44"/>
          <p:cNvGraphicFramePr>
            <a:graphicFrameLocks noChangeAspect="1"/>
          </p:cNvGraphicFramePr>
          <p:nvPr>
            <p:extLst>
              <p:ext uri="{D42A27DB-BD31-4B8C-83A1-F6EECF244321}">
                <p14:modId xmlns:p14="http://schemas.microsoft.com/office/powerpoint/2010/main" val="4287255260"/>
              </p:ext>
            </p:extLst>
          </p:nvPr>
        </p:nvGraphicFramePr>
        <p:xfrm>
          <a:off x="4410275" y="4986458"/>
          <a:ext cx="323491" cy="161746"/>
        </p:xfrm>
        <a:graphic>
          <a:graphicData uri="http://schemas.openxmlformats.org/presentationml/2006/ole">
            <mc:AlternateContent xmlns:mc="http://schemas.openxmlformats.org/markup-compatibility/2006">
              <mc:Choice xmlns:v="urn:schemas-microsoft-com:vml" Requires="v">
                <p:oleObj spid="_x0000_s92693" r:id="rId20" imgW="368140" imgH="152334" progId="Equation.DSMT4">
                  <p:embed/>
                </p:oleObj>
              </mc:Choice>
              <mc:Fallback>
                <p:oleObj r:id="rId20" imgW="368140" imgH="152334" progId="Equation.DSMT4">
                  <p:embed/>
                  <p:pic>
                    <p:nvPicPr>
                      <p:cNvPr id="45" name="对象 4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410275" y="4986458"/>
                        <a:ext cx="323491" cy="161746"/>
                      </a:xfrm>
                      <a:prstGeom prst="rect">
                        <a:avLst/>
                      </a:prstGeom>
                      <a:noFill/>
                    </p:spPr>
                  </p:pic>
                </p:oleObj>
              </mc:Fallback>
            </mc:AlternateContent>
          </a:graphicData>
        </a:graphic>
      </p:graphicFrame>
      <p:sp>
        <p:nvSpPr>
          <p:cNvPr id="46" name="Rectangle 28"/>
          <p:cNvSpPr>
            <a:spLocks noChangeArrowheads="1"/>
          </p:cNvSpPr>
          <p:nvPr/>
        </p:nvSpPr>
        <p:spPr bwMode="auto">
          <a:xfrm>
            <a:off x="7778789" y="4979881"/>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graphicFrame>
        <p:nvGraphicFramePr>
          <p:cNvPr id="47" name="对象 46"/>
          <p:cNvGraphicFramePr>
            <a:graphicFrameLocks noChangeAspect="1"/>
          </p:cNvGraphicFramePr>
          <p:nvPr/>
        </p:nvGraphicFramePr>
        <p:xfrm>
          <a:off x="7766219" y="4992968"/>
          <a:ext cx="162063" cy="162063"/>
        </p:xfrm>
        <a:graphic>
          <a:graphicData uri="http://schemas.openxmlformats.org/presentationml/2006/ole">
            <mc:AlternateContent xmlns:mc="http://schemas.openxmlformats.org/markup-compatibility/2006">
              <mc:Choice xmlns:v="urn:schemas-microsoft-com:vml" Requires="v">
                <p:oleObj spid="_x0000_s92694" r:id="rId22" imgW="139700" imgH="139700" progId="Equation.DSMT4">
                  <p:embed/>
                </p:oleObj>
              </mc:Choice>
              <mc:Fallback>
                <p:oleObj r:id="rId22" imgW="139700" imgH="139700" progId="Equation.DSMT4">
                  <p:embed/>
                  <p:pic>
                    <p:nvPicPr>
                      <p:cNvPr id="47" name="对象 4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766219" y="4992968"/>
                        <a:ext cx="162063" cy="162063"/>
                      </a:xfrm>
                      <a:prstGeom prst="rect">
                        <a:avLst/>
                      </a:prstGeom>
                      <a:noFill/>
                    </p:spPr>
                  </p:pic>
                </p:oleObj>
              </mc:Fallback>
            </mc:AlternateContent>
          </a:graphicData>
        </a:graphic>
      </p:graphicFrame>
      <p:graphicFrame>
        <p:nvGraphicFramePr>
          <p:cNvPr id="49" name="对象 48"/>
          <p:cNvGraphicFramePr>
            <a:graphicFrameLocks noChangeAspect="1"/>
          </p:cNvGraphicFramePr>
          <p:nvPr>
            <p:extLst>
              <p:ext uri="{D42A27DB-BD31-4B8C-83A1-F6EECF244321}">
                <p14:modId xmlns:p14="http://schemas.microsoft.com/office/powerpoint/2010/main" val="464491095"/>
              </p:ext>
            </p:extLst>
          </p:nvPr>
        </p:nvGraphicFramePr>
        <p:xfrm>
          <a:off x="3293763" y="5163990"/>
          <a:ext cx="411462" cy="164300"/>
        </p:xfrm>
        <a:graphic>
          <a:graphicData uri="http://schemas.openxmlformats.org/presentationml/2006/ole">
            <mc:AlternateContent xmlns:mc="http://schemas.openxmlformats.org/markup-compatibility/2006">
              <mc:Choice xmlns:v="urn:schemas-microsoft-com:vml" Requires="v">
                <p:oleObj spid="_x0000_s92695" r:id="rId24" imgW="482391" imgH="152334" progId="Equation.DSMT4">
                  <p:embed/>
                </p:oleObj>
              </mc:Choice>
              <mc:Fallback>
                <p:oleObj r:id="rId24" imgW="482391" imgH="152334" progId="Equation.DSMT4">
                  <p:embed/>
                  <p:pic>
                    <p:nvPicPr>
                      <p:cNvPr id="49" name="对象 48"/>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293763" y="5163990"/>
                        <a:ext cx="411462" cy="164300"/>
                      </a:xfrm>
                      <a:prstGeom prst="rect">
                        <a:avLst/>
                      </a:prstGeom>
                      <a:noFill/>
                    </p:spPr>
                  </p:pic>
                </p:oleObj>
              </mc:Fallback>
            </mc:AlternateContent>
          </a:graphicData>
        </a:graphic>
      </p:graphicFrame>
      <p:sp>
        <p:nvSpPr>
          <p:cNvPr id="50" name="Rectangle 32"/>
          <p:cNvSpPr>
            <a:spLocks noChangeArrowheads="1"/>
          </p:cNvSpPr>
          <p:nvPr/>
        </p:nvSpPr>
        <p:spPr bwMode="auto">
          <a:xfrm>
            <a:off x="2375196" y="5347935"/>
            <a:ext cx="9295880"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zh-CN" altLang="en-US"/>
          </a:p>
        </p:txBody>
      </p:sp>
      <p:graphicFrame>
        <p:nvGraphicFramePr>
          <p:cNvPr id="51" name="对象 50"/>
          <p:cNvGraphicFramePr>
            <a:graphicFrameLocks noChangeAspect="1"/>
          </p:cNvGraphicFramePr>
          <p:nvPr/>
        </p:nvGraphicFramePr>
        <p:xfrm>
          <a:off x="2375196" y="5352852"/>
          <a:ext cx="396689" cy="158401"/>
        </p:xfrm>
        <a:graphic>
          <a:graphicData uri="http://schemas.openxmlformats.org/presentationml/2006/ole">
            <mc:AlternateContent xmlns:mc="http://schemas.openxmlformats.org/markup-compatibility/2006">
              <mc:Choice xmlns:v="urn:schemas-microsoft-com:vml" Requires="v">
                <p:oleObj spid="_x0000_s92696" r:id="rId26" imgW="482391" imgH="152334" progId="Equation.DSMT4">
                  <p:embed/>
                </p:oleObj>
              </mc:Choice>
              <mc:Fallback>
                <p:oleObj r:id="rId26" imgW="482391" imgH="152334" progId="Equation.DSMT4">
                  <p:embed/>
                  <p:pic>
                    <p:nvPicPr>
                      <p:cNvPr id="51" name="对象 50"/>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375196" y="5352852"/>
                        <a:ext cx="396689" cy="158401"/>
                      </a:xfrm>
                      <a:prstGeom prst="rect">
                        <a:avLst/>
                      </a:prstGeom>
                      <a:noFill/>
                    </p:spPr>
                  </p:pic>
                </p:oleObj>
              </mc:Fallback>
            </mc:AlternateContent>
          </a:graphicData>
        </a:graphic>
      </p:graphicFrame>
      <p:sp>
        <p:nvSpPr>
          <p:cNvPr id="52" name="标题 1">
            <a:extLst>
              <a:ext uri="{FF2B5EF4-FFF2-40B4-BE49-F238E27FC236}">
                <a16:creationId xmlns:a16="http://schemas.microsoft.com/office/drawing/2014/main" id="{8D01729E-DD3B-44C8-9534-64AB38114C41}"/>
              </a:ext>
            </a:extLst>
          </p:cNvPr>
          <p:cNvSpPr txBox="1">
            <a:spLocks/>
          </p:cNvSpPr>
          <p:nvPr/>
        </p:nvSpPr>
        <p:spPr>
          <a:xfrm>
            <a:off x="321273" y="319216"/>
            <a:ext cx="3847468" cy="68261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800" dirty="0">
                <a:latin typeface="黑体" panose="02010609060101010101" pitchFamily="49" charset="-122"/>
                <a:ea typeface="黑体" panose="02010609060101010101" pitchFamily="49" charset="-122"/>
              </a:rPr>
              <a:t>3.4.1</a:t>
            </a:r>
            <a:r>
              <a:rPr lang="zh-CN" altLang="en-US" sz="2800" dirty="0">
                <a:latin typeface="黑体" panose="02010609060101010101" pitchFamily="49" charset="-122"/>
                <a:ea typeface="黑体" panose="02010609060101010101" pitchFamily="49" charset="-122"/>
              </a:rPr>
              <a:t>相关分析原理</a:t>
            </a:r>
          </a:p>
        </p:txBody>
      </p:sp>
    </p:spTree>
    <p:extLst>
      <p:ext uri="{BB962C8B-B14F-4D97-AF65-F5344CB8AC3E}">
        <p14:creationId xmlns:p14="http://schemas.microsoft.com/office/powerpoint/2010/main" val="433644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98534" y="1164629"/>
            <a:ext cx="2391448" cy="369332"/>
          </a:xfrm>
          <a:prstGeom prst="rect">
            <a:avLst/>
          </a:prstGeom>
          <a:noFill/>
        </p:spPr>
        <p:txBody>
          <a:bodyPr wrap="square" rtlCol="0">
            <a:spAutoFit/>
          </a:bodyPr>
          <a:lstStyle/>
          <a:p>
            <a:pPr marL="0" lvl="3"/>
            <a:r>
              <a:rPr lang="en-US" altLang="zh-CN" dirty="0">
                <a:latin typeface="微软雅黑" panose="020B0503020204020204" pitchFamily="34" charset="-122"/>
                <a:ea typeface="微软雅黑" panose="020B0503020204020204" pitchFamily="34" charset="-122"/>
              </a:rPr>
              <a:t>Kendall</a:t>
            </a:r>
            <a:r>
              <a:rPr lang="zh-CN" altLang="en-US" dirty="0">
                <a:latin typeface="微软雅黑" panose="020B0503020204020204" pitchFamily="34" charset="-122"/>
                <a:ea typeface="微软雅黑" panose="020B0503020204020204" pitchFamily="34" charset="-122"/>
              </a:rPr>
              <a:t>等级</a:t>
            </a:r>
            <a:r>
              <a:rPr lang="zh-CN" altLang="zh-CN" dirty="0">
                <a:effectLst>
                  <a:glow>
                    <a:srgbClr val="000000"/>
                  </a:glow>
                  <a:reflection stA="0" endPos="0" fadeDir="0" sx="0" sy="0"/>
                </a:effectLst>
                <a:latin typeface="微软雅黑" panose="020B0503020204020204" pitchFamily="34" charset="-122"/>
                <a:ea typeface="微软雅黑" panose="020B0503020204020204" pitchFamily="34" charset="-122"/>
              </a:rPr>
              <a:t>相关系数</a:t>
            </a:r>
          </a:p>
        </p:txBody>
      </p:sp>
      <p:sp>
        <p:nvSpPr>
          <p:cNvPr id="79" name="矩形 78"/>
          <p:cNvSpPr/>
          <p:nvPr/>
        </p:nvSpPr>
        <p:spPr>
          <a:xfrm>
            <a:off x="439947" y="1740802"/>
            <a:ext cx="4468737" cy="425994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p:cNvSpPr/>
          <p:nvPr/>
        </p:nvSpPr>
        <p:spPr>
          <a:xfrm>
            <a:off x="4818613" y="1740802"/>
            <a:ext cx="3935042" cy="4259948"/>
          </a:xfrm>
          <a:prstGeom prst="rect">
            <a:avLst/>
          </a:prstGeom>
          <a:solidFill>
            <a:srgbClr val="685D5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文本框 81"/>
          <p:cNvSpPr txBox="1"/>
          <p:nvPr/>
        </p:nvSpPr>
        <p:spPr>
          <a:xfrm>
            <a:off x="514743" y="2270923"/>
            <a:ext cx="4099623" cy="553998"/>
          </a:xfrm>
          <a:prstGeom prst="rect">
            <a:avLst/>
          </a:prstGeom>
          <a:noFill/>
        </p:spPr>
        <p:txBody>
          <a:bodyPr wrap="square" rtlCol="0">
            <a:spAutoFit/>
          </a:bodyPr>
          <a:lstStyle/>
          <a:p>
            <a:pPr algn="just"/>
            <a:r>
              <a:rPr lang="en-US" altLang="zh-CN" sz="1500" dirty="0">
                <a:latin typeface="微软雅黑" panose="020B0503020204020204" pitchFamily="34" charset="-122"/>
                <a:ea typeface="微软雅黑" panose="020B0503020204020204" pitchFamily="34" charset="-122"/>
              </a:rPr>
              <a:t>Kendall</a:t>
            </a:r>
            <a:r>
              <a:rPr lang="zh-CN" altLang="zh-CN" sz="1500" dirty="0">
                <a:latin typeface="微软雅黑" panose="020B0503020204020204" pitchFamily="34" charset="-122"/>
                <a:ea typeface="微软雅黑" panose="020B0503020204020204" pitchFamily="34" charset="-122"/>
              </a:rPr>
              <a:t>相关系数是对两个有序变量或两个秩变量之间相关程度的度量统计量。</a:t>
            </a:r>
            <a:endParaRPr lang="en-US" altLang="zh-CN" sz="1500" dirty="0">
              <a:latin typeface="微软雅黑" panose="020B0503020204020204" pitchFamily="34" charset="-122"/>
              <a:ea typeface="微软雅黑" panose="020B0503020204020204" pitchFamily="34" charset="-122"/>
            </a:endParaRPr>
          </a:p>
        </p:txBody>
      </p:sp>
      <p:sp>
        <p:nvSpPr>
          <p:cNvPr id="83" name="文本框 82"/>
          <p:cNvSpPr txBox="1"/>
          <p:nvPr/>
        </p:nvSpPr>
        <p:spPr>
          <a:xfrm>
            <a:off x="487603" y="3137497"/>
            <a:ext cx="4421081" cy="461665"/>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Kendall’s tau(nonparametric correlations algorithms) </a:t>
            </a:r>
            <a:r>
              <a:rPr lang="zh-CN" altLang="zh-CN" sz="1200" dirty="0">
                <a:latin typeface="微软雅黑" panose="020B0503020204020204" pitchFamily="34" charset="-122"/>
                <a:ea typeface="微软雅黑" panose="020B0503020204020204" pitchFamily="34" charset="-122"/>
              </a:rPr>
              <a:t>算法</a:t>
            </a:r>
            <a:r>
              <a:rPr lang="en-US" altLang="zh-CN" sz="1200" dirty="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p:txBody>
      </p:sp>
      <p:sp>
        <p:nvSpPr>
          <p:cNvPr id="85" name="Rectangle 2"/>
          <p:cNvSpPr>
            <a:spLocks noChangeArrowheads="1"/>
          </p:cNvSpPr>
          <p:nvPr/>
        </p:nvSpPr>
        <p:spPr bwMode="auto">
          <a:xfrm>
            <a:off x="2396068" y="3232826"/>
            <a:ext cx="11142919"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zh-CN" altLang="en-US"/>
          </a:p>
        </p:txBody>
      </p:sp>
      <p:sp>
        <p:nvSpPr>
          <p:cNvPr id="87" name="Rectangle 4"/>
          <p:cNvSpPr>
            <a:spLocks noChangeArrowheads="1"/>
          </p:cNvSpPr>
          <p:nvPr/>
        </p:nvSpPr>
        <p:spPr bwMode="auto">
          <a:xfrm>
            <a:off x="3182418" y="3232826"/>
            <a:ext cx="10626947"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zh-CN" altLang="en-US"/>
          </a:p>
        </p:txBody>
      </p:sp>
      <p:sp>
        <p:nvSpPr>
          <p:cNvPr id="89" name="Rectangle 6"/>
          <p:cNvSpPr>
            <a:spLocks noChangeArrowheads="1"/>
          </p:cNvSpPr>
          <p:nvPr/>
        </p:nvSpPr>
        <p:spPr bwMode="auto">
          <a:xfrm>
            <a:off x="4005378" y="3244696"/>
            <a:ext cx="1033971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zh-CN" altLang="en-US"/>
          </a:p>
        </p:txBody>
      </p:sp>
      <p:sp>
        <p:nvSpPr>
          <p:cNvPr id="91" name="Rectangle 8"/>
          <p:cNvSpPr>
            <a:spLocks noChangeArrowheads="1"/>
          </p:cNvSpPr>
          <p:nvPr/>
        </p:nvSpPr>
        <p:spPr bwMode="auto">
          <a:xfrm>
            <a:off x="2018580" y="3452156"/>
            <a:ext cx="9765280"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zh-CN" altLang="en-US"/>
          </a:p>
        </p:txBody>
      </p:sp>
      <p:sp>
        <p:nvSpPr>
          <p:cNvPr id="93" name="Rectangle 10"/>
          <p:cNvSpPr>
            <a:spLocks noChangeArrowheads="1"/>
          </p:cNvSpPr>
          <p:nvPr/>
        </p:nvSpPr>
        <p:spPr bwMode="auto">
          <a:xfrm>
            <a:off x="55122" y="684126"/>
            <a:ext cx="9526982"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zh-CN" altLang="en-US"/>
          </a:p>
        </p:txBody>
      </p:sp>
      <p:sp>
        <p:nvSpPr>
          <p:cNvPr id="100" name="Rectangle 23"/>
          <p:cNvSpPr>
            <a:spLocks noChangeArrowheads="1"/>
          </p:cNvSpPr>
          <p:nvPr/>
        </p:nvSpPr>
        <p:spPr bwMode="auto">
          <a:xfrm>
            <a:off x="3054476" y="3653673"/>
            <a:ext cx="11233823"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zh-CN" altLang="en-US"/>
          </a:p>
        </p:txBody>
      </p:sp>
      <p:sp>
        <p:nvSpPr>
          <p:cNvPr id="102" name="Rectangle 25"/>
          <p:cNvSpPr>
            <a:spLocks noChangeArrowheads="1"/>
          </p:cNvSpPr>
          <p:nvPr/>
        </p:nvSpPr>
        <p:spPr bwMode="auto">
          <a:xfrm>
            <a:off x="852445" y="4263571"/>
            <a:ext cx="10037553"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zh-CN" altLang="en-US"/>
          </a:p>
        </p:txBody>
      </p:sp>
      <mc:AlternateContent xmlns:mc="http://schemas.openxmlformats.org/markup-compatibility/2006" xmlns:a14="http://schemas.microsoft.com/office/drawing/2010/main">
        <mc:Choice Requires="a14">
          <p:sp>
            <p:nvSpPr>
              <p:cNvPr id="106" name="文本框 105"/>
              <p:cNvSpPr txBox="1"/>
              <p:nvPr/>
            </p:nvSpPr>
            <p:spPr>
              <a:xfrm>
                <a:off x="4979785" y="2456973"/>
                <a:ext cx="3629699" cy="2025683"/>
              </a:xfrm>
              <a:prstGeom prst="rect">
                <a:avLst/>
              </a:prstGeom>
              <a:noFill/>
            </p:spPr>
            <p:txBody>
              <a:bodyPr wrap="square" rtlCol="0">
                <a:spAutoFit/>
              </a:bodyPr>
              <a:lstStyle/>
              <a:p>
                <a:r>
                  <a:rPr lang="en-US" altLang="zh-CN" sz="1200" dirty="0">
                    <a:solidFill>
                      <a:schemeClr val="bg1"/>
                    </a:solidFill>
                    <a:latin typeface="微软雅黑" panose="020B0503020204020204" pitchFamily="34" charset="-122"/>
                    <a:ea typeface="微软雅黑" panose="020B0503020204020204" pitchFamily="34" charset="-122"/>
                  </a:rPr>
                  <a:t>Kendall’s tau</a:t>
                </a:r>
                <a:r>
                  <a:rPr lang="zh-CN" altLang="zh-CN" sz="1200" dirty="0">
                    <a:solidFill>
                      <a:schemeClr val="bg1"/>
                    </a:solidFill>
                    <a:latin typeface="微软雅黑" panose="020B0503020204020204" pitchFamily="34" charset="-122"/>
                    <a:ea typeface="微软雅黑" panose="020B0503020204020204" pitchFamily="34" charset="-122"/>
                  </a:rPr>
                  <a:t>相关系数的显著性检验通过统计量</a:t>
                </a:r>
                <a:r>
                  <a:rPr lang="en-US" altLang="zh-CN" sz="1200" dirty="0">
                    <a:solidFill>
                      <a:schemeClr val="bg1"/>
                    </a:solidFill>
                    <a:latin typeface="微软雅黑" panose="020B0503020204020204" pitchFamily="34" charset="-122"/>
                    <a:ea typeface="微软雅黑" panose="020B0503020204020204" pitchFamily="34" charset="-122"/>
                  </a:rPr>
                  <a:t> </a:t>
                </a:r>
                <a14:m>
                  <m:oMath xmlns:m="http://schemas.openxmlformats.org/officeDocument/2006/math">
                    <m:r>
                      <a:rPr lang="en-US" altLang="zh-CN" sz="1200" i="1">
                        <a:solidFill>
                          <a:schemeClr val="bg1"/>
                        </a:solidFill>
                        <a:latin typeface="Cambria Math" panose="02040503050406030204" pitchFamily="18" charset="0"/>
                        <a:ea typeface="微软雅黑" panose="020B0503020204020204" pitchFamily="34" charset="-122"/>
                      </a:rPr>
                      <m:t>𝑍</m:t>
                    </m:r>
                    <m:r>
                      <a:rPr lang="en-US" altLang="zh-CN" sz="1200" i="1">
                        <a:solidFill>
                          <a:schemeClr val="bg1"/>
                        </a:solidFill>
                        <a:latin typeface="Cambria Math" panose="02040503050406030204" pitchFamily="18" charset="0"/>
                        <a:ea typeface="微软雅黑" panose="020B0503020204020204" pitchFamily="34" charset="-122"/>
                      </a:rPr>
                      <m:t>=</m:t>
                    </m:r>
                    <m:f>
                      <m:fPr>
                        <m:ctrlPr>
                          <a:rPr lang="en-US" altLang="zh-CN" sz="1200" i="1">
                            <a:solidFill>
                              <a:schemeClr val="bg1"/>
                            </a:solidFill>
                            <a:latin typeface="Cambria Math" panose="02040503050406030204" pitchFamily="18" charset="0"/>
                            <a:ea typeface="微软雅黑" panose="020B0503020204020204" pitchFamily="34" charset="-122"/>
                          </a:rPr>
                        </m:ctrlPr>
                      </m:fPr>
                      <m:num>
                        <m:r>
                          <a:rPr lang="en-US" altLang="zh-CN" sz="1200" i="1">
                            <a:solidFill>
                              <a:schemeClr val="bg1"/>
                            </a:solidFill>
                            <a:latin typeface="Cambria Math" panose="02040503050406030204" pitchFamily="18" charset="0"/>
                            <a:ea typeface="微软雅黑" panose="020B0503020204020204" pitchFamily="34" charset="-122"/>
                          </a:rPr>
                          <m:t>𝑆</m:t>
                        </m:r>
                      </m:num>
                      <m:den>
                        <m:rad>
                          <m:radPr>
                            <m:degHide m:val="on"/>
                            <m:ctrlPr>
                              <a:rPr lang="en-US" altLang="zh-CN" sz="1200" i="1">
                                <a:solidFill>
                                  <a:schemeClr val="bg1"/>
                                </a:solidFill>
                                <a:latin typeface="Cambria Math" panose="02040503050406030204" pitchFamily="18" charset="0"/>
                                <a:ea typeface="微软雅黑" panose="020B0503020204020204" pitchFamily="34" charset="-122"/>
                              </a:rPr>
                            </m:ctrlPr>
                          </m:radPr>
                          <m:deg/>
                          <m:e>
                            <m:r>
                              <m:rPr>
                                <m:sty m:val="p"/>
                              </m:rPr>
                              <a:rPr lang="en-US" altLang="zh-CN" sz="1200" i="1">
                                <a:solidFill>
                                  <a:schemeClr val="bg1"/>
                                </a:solidFill>
                                <a:latin typeface="Cambria Math" panose="02040503050406030204" pitchFamily="18" charset="0"/>
                                <a:ea typeface="微软雅黑" panose="020B0503020204020204" pitchFamily="34" charset="-122"/>
                              </a:rPr>
                              <m:t>d</m:t>
                            </m:r>
                          </m:e>
                        </m:rad>
                      </m:den>
                    </m:f>
                  </m:oMath>
                </a14:m>
                <a:r>
                  <a:rPr lang="en-US" altLang="zh-CN" sz="1200" dirty="0">
                    <a:solidFill>
                      <a:schemeClr val="bg1"/>
                    </a:solidFill>
                    <a:latin typeface="微软雅黑" panose="020B0503020204020204" pitchFamily="34" charset="-122"/>
                    <a:ea typeface="微软雅黑" panose="020B0503020204020204" pitchFamily="34" charset="-122"/>
                  </a:rPr>
                  <a:t>  </a:t>
                </a:r>
                <a:r>
                  <a:rPr lang="zh-CN" altLang="en-US" sz="1200" dirty="0">
                    <a:solidFill>
                      <a:schemeClr val="bg1"/>
                    </a:solidFill>
                    <a:latin typeface="微软雅黑" panose="020B0503020204020204" pitchFamily="34" charset="-122"/>
                    <a:ea typeface="微软雅黑" panose="020B0503020204020204" pitchFamily="34" charset="-122"/>
                  </a:rPr>
                  <a:t>进行，</a:t>
                </a:r>
                <a:r>
                  <a:rPr lang="zh-CN" altLang="zh-CN" sz="1200" dirty="0">
                    <a:solidFill>
                      <a:schemeClr val="bg1"/>
                    </a:solidFill>
                    <a:latin typeface="微软雅黑" panose="020B0503020204020204" pitchFamily="34" charset="-122"/>
                    <a:ea typeface="微软雅黑" panose="020B0503020204020204" pitchFamily="34" charset="-122"/>
                  </a:rPr>
                  <a:t>在零假设（</a:t>
                </a:r>
                <a:r>
                  <a:rPr lang="en-US" altLang="zh-CN" sz="1200" dirty="0">
                    <a:solidFill>
                      <a:schemeClr val="bg1"/>
                    </a:solidFill>
                    <a:latin typeface="微软雅黑" panose="020B0503020204020204" pitchFamily="34" charset="-122"/>
                    <a:ea typeface="微软雅黑" panose="020B0503020204020204" pitchFamily="34" charset="-122"/>
                  </a:rPr>
                  <a:t>X</a:t>
                </a:r>
                <a:r>
                  <a:rPr lang="zh-CN" altLang="zh-CN" sz="1200" dirty="0">
                    <a:solidFill>
                      <a:schemeClr val="bg1"/>
                    </a:solidFill>
                    <a:latin typeface="微软雅黑" panose="020B0503020204020204" pitchFamily="34" charset="-122"/>
                    <a:ea typeface="微软雅黑" panose="020B0503020204020204" pitchFamily="34" charset="-122"/>
                  </a:rPr>
                  <a:t>、</a:t>
                </a:r>
                <a:r>
                  <a:rPr lang="en-US" altLang="zh-CN" sz="1200" dirty="0">
                    <a:solidFill>
                      <a:schemeClr val="bg1"/>
                    </a:solidFill>
                    <a:latin typeface="微软雅黑" panose="020B0503020204020204" pitchFamily="34" charset="-122"/>
                    <a:ea typeface="微软雅黑" panose="020B0503020204020204" pitchFamily="34" charset="-122"/>
                  </a:rPr>
                  <a:t>Y</a:t>
                </a:r>
                <a:r>
                  <a:rPr lang="zh-CN" altLang="zh-CN" sz="1200" dirty="0">
                    <a:solidFill>
                      <a:schemeClr val="bg1"/>
                    </a:solidFill>
                    <a:latin typeface="微软雅黑" panose="020B0503020204020204" pitchFamily="34" charset="-122"/>
                    <a:ea typeface="微软雅黑" panose="020B0503020204020204" pitchFamily="34" charset="-122"/>
                  </a:rPr>
                  <a:t>不相关）成立的条件下，它近似服从正态分布。</a:t>
                </a:r>
                <a:endParaRPr lang="en-US" altLang="zh-CN" sz="1200" dirty="0">
                  <a:solidFill>
                    <a:schemeClr val="bg1"/>
                  </a:solidFill>
                  <a:latin typeface="微软雅黑" panose="020B0503020204020204" pitchFamily="34" charset="-122"/>
                  <a:ea typeface="微软雅黑" panose="020B0503020204020204" pitchFamily="34" charset="-122"/>
                </a:endParaRPr>
              </a:p>
              <a:p>
                <a:endParaRPr lang="en-US" altLang="zh-CN" sz="1200" dirty="0">
                  <a:solidFill>
                    <a:schemeClr val="bg1"/>
                  </a:solidFill>
                  <a:latin typeface="微软雅黑" panose="020B0503020204020204" pitchFamily="34" charset="-122"/>
                  <a:ea typeface="微软雅黑" panose="020B0503020204020204" pitchFamily="34" charset="-122"/>
                </a:endParaRPr>
              </a:p>
              <a:p>
                <a:r>
                  <a:rPr lang="en-US" altLang="zh-CN" sz="1200" dirty="0">
                    <a:solidFill>
                      <a:schemeClr val="bg1"/>
                    </a:solidFill>
                    <a:latin typeface="微软雅黑" panose="020B0503020204020204" pitchFamily="34" charset="-122"/>
                    <a:ea typeface="微软雅黑" panose="020B0503020204020204" pitchFamily="34" charset="-122"/>
                  </a:rPr>
                  <a:t>Kendall </a:t>
                </a:r>
                <a:r>
                  <a:rPr lang="zh-CN" altLang="zh-CN" sz="1200" dirty="0">
                    <a:solidFill>
                      <a:schemeClr val="bg1"/>
                    </a:solidFill>
                    <a:latin typeface="微软雅黑" panose="020B0503020204020204" pitchFamily="34" charset="-122"/>
                    <a:ea typeface="微软雅黑" panose="020B0503020204020204" pitchFamily="34" charset="-122"/>
                  </a:rPr>
                  <a:t>的</a:t>
                </a:r>
                <a:r>
                  <a:rPr lang="en-US" altLang="zh-CN" sz="1200" dirty="0">
                    <a:solidFill>
                      <a:schemeClr val="bg1"/>
                    </a:solidFill>
                    <a:latin typeface="微软雅黑" panose="020B0503020204020204" pitchFamily="34" charset="-122"/>
                    <a:ea typeface="微软雅黑" panose="020B0503020204020204" pitchFamily="34" charset="-122"/>
                  </a:rPr>
                  <a:t> tau-b (Kendall's tau-b)</a:t>
                </a:r>
                <a:r>
                  <a:rPr lang="zh-CN" altLang="zh-CN" sz="1200" dirty="0">
                    <a:solidFill>
                      <a:schemeClr val="bg1"/>
                    </a:solidFill>
                    <a:latin typeface="微软雅黑" panose="020B0503020204020204" pitchFamily="34" charset="-122"/>
                    <a:ea typeface="微软雅黑" panose="020B0503020204020204" pitchFamily="34" charset="-122"/>
                  </a:rPr>
                  <a:t>是将结果考虑在内的有序变量或排序变量的非参数相关性测量。系数的符号指示关系的方向，绝对值指示强度，绝对值越大则表示关系强度越高，可能的取值范围是从</a:t>
                </a:r>
                <a:r>
                  <a:rPr lang="en-US" altLang="zh-CN" sz="1200" dirty="0">
                    <a:solidFill>
                      <a:schemeClr val="bg1"/>
                    </a:solidFill>
                    <a:latin typeface="微软雅黑" panose="020B0503020204020204" pitchFamily="34" charset="-122"/>
                    <a:ea typeface="微软雅黑" panose="020B0503020204020204" pitchFamily="34" charset="-122"/>
                  </a:rPr>
                  <a:t>-1</a:t>
                </a:r>
                <a:r>
                  <a:rPr lang="zh-CN" altLang="zh-CN" sz="1200" dirty="0">
                    <a:solidFill>
                      <a:schemeClr val="bg1"/>
                    </a:solidFill>
                    <a:latin typeface="微软雅黑" panose="020B0503020204020204" pitchFamily="34" charset="-122"/>
                    <a:ea typeface="微软雅黑" panose="020B0503020204020204" pitchFamily="34" charset="-122"/>
                  </a:rPr>
                  <a:t>到</a:t>
                </a:r>
                <a:r>
                  <a:rPr lang="en-US" altLang="zh-CN" sz="1200" dirty="0">
                    <a:solidFill>
                      <a:schemeClr val="bg1"/>
                    </a:solidFill>
                    <a:latin typeface="微软雅黑" panose="020B0503020204020204" pitchFamily="34" charset="-122"/>
                    <a:ea typeface="微软雅黑" panose="020B0503020204020204" pitchFamily="34" charset="-122"/>
                  </a:rPr>
                  <a:t>1</a:t>
                </a:r>
                <a:r>
                  <a:rPr lang="zh-CN" altLang="zh-CN" sz="1200" dirty="0">
                    <a:solidFill>
                      <a:schemeClr val="bg1"/>
                    </a:solidFill>
                    <a:latin typeface="微软雅黑" panose="020B0503020204020204" pitchFamily="34" charset="-122"/>
                    <a:ea typeface="微软雅黑" panose="020B0503020204020204" pitchFamily="34" charset="-122"/>
                  </a:rPr>
                  <a:t>。</a:t>
                </a:r>
              </a:p>
              <a:p>
                <a:r>
                  <a:rPr lang="en-US" altLang="zh-CN" sz="1200" dirty="0"/>
                  <a:t>          </a:t>
                </a:r>
                <a:endParaRPr lang="zh-CN" altLang="en-US" sz="1200" dirty="0"/>
              </a:p>
            </p:txBody>
          </p:sp>
        </mc:Choice>
        <mc:Fallback xmlns="">
          <p:sp>
            <p:nvSpPr>
              <p:cNvPr id="106" name="文本框 105"/>
              <p:cNvSpPr txBox="1">
                <a:spLocks noRot="1" noChangeAspect="1" noMove="1" noResize="1" noEditPoints="1" noAdjustHandles="1" noChangeArrowheads="1" noChangeShapeType="1" noTextEdit="1"/>
              </p:cNvSpPr>
              <p:nvPr/>
            </p:nvSpPr>
            <p:spPr>
              <a:xfrm>
                <a:off x="4979785" y="2456973"/>
                <a:ext cx="3629699" cy="2025683"/>
              </a:xfrm>
              <a:prstGeom prst="rect">
                <a:avLst/>
              </a:prstGeom>
              <a:blipFill>
                <a:blip r:embed="rId3"/>
                <a:stretch>
                  <a:fillRect l="-168"/>
                </a:stretch>
              </a:blipFill>
            </p:spPr>
            <p:txBody>
              <a:bodyPr/>
              <a:lstStyle/>
              <a:p>
                <a:r>
                  <a:rPr lang="zh-CN" altLang="en-US">
                    <a:noFill/>
                  </a:rPr>
                  <a:t> </a:t>
                </a:r>
              </a:p>
            </p:txBody>
          </p:sp>
        </mc:Fallback>
      </mc:AlternateContent>
      <p:sp>
        <p:nvSpPr>
          <p:cNvPr id="107" name="Rectangle 27"/>
          <p:cNvSpPr>
            <a:spLocks noChangeArrowheads="1"/>
          </p:cNvSpPr>
          <p:nvPr/>
        </p:nvSpPr>
        <p:spPr bwMode="auto">
          <a:xfrm>
            <a:off x="0" y="684126"/>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zh-CN" altLang="en-US"/>
          </a:p>
        </p:txBody>
      </p:sp>
      <p:grpSp>
        <p:nvGrpSpPr>
          <p:cNvPr id="2" name="组合 1"/>
          <p:cNvGrpSpPr/>
          <p:nvPr/>
        </p:nvGrpSpPr>
        <p:grpSpPr>
          <a:xfrm>
            <a:off x="514743" y="3693488"/>
            <a:ext cx="4007459" cy="1505486"/>
            <a:chOff x="1018892" y="3669426"/>
            <a:chExt cx="5343278" cy="2007315"/>
          </a:xfrm>
        </p:grpSpPr>
        <p:sp>
          <p:nvSpPr>
            <p:cNvPr id="29" name="文本框 28"/>
            <p:cNvSpPr txBox="1"/>
            <p:nvPr/>
          </p:nvSpPr>
          <p:spPr>
            <a:xfrm>
              <a:off x="1018892" y="3669426"/>
              <a:ext cx="5213697" cy="1912063"/>
            </a:xfrm>
            <a:prstGeom prst="rect">
              <a:avLst/>
            </a:prstGeom>
            <a:noFill/>
          </p:spPr>
          <p:txBody>
            <a:bodyPr wrap="square" rtlCol="0">
              <a:spAutoFit/>
            </a:bodyPr>
            <a:lstStyle/>
            <a:p>
              <a:pPr>
                <a:lnSpc>
                  <a:spcPct val="150000"/>
                </a:lnSpc>
              </a:pPr>
              <a:r>
                <a:rPr lang="zh-CN" altLang="zh-CN" sz="1200" dirty="0">
                  <a:latin typeface="微软雅黑" panose="020B0503020204020204" pitchFamily="34" charset="-122"/>
                  <a:ea typeface="微软雅黑" panose="020B0503020204020204" pitchFamily="34" charset="-122"/>
                </a:rPr>
                <a:t>两个随机变量</a:t>
              </a:r>
              <a:r>
                <a:rPr lang="en-US" altLang="zh-CN" sz="1200" dirty="0">
                  <a:latin typeface="微软雅黑" panose="020B0503020204020204" pitchFamily="34" charset="-122"/>
                  <a:ea typeface="微软雅黑" panose="020B0503020204020204" pitchFamily="34" charset="-122"/>
                </a:rPr>
                <a:t>X</a:t>
              </a:r>
              <a:r>
                <a:rPr lang="zh-CN" altLang="zh-CN"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Y</a:t>
              </a:r>
              <a:r>
                <a:rPr lang="zh-CN" altLang="zh-CN" sz="1200" dirty="0">
                  <a:latin typeface="微软雅黑" panose="020B0503020204020204" pitchFamily="34" charset="-122"/>
                  <a:ea typeface="微软雅黑" panose="020B0503020204020204" pitchFamily="34" charset="-122"/>
                </a:rPr>
                <a:t>共有</a:t>
              </a:r>
              <a:r>
                <a:rPr lang="en-US" altLang="zh-CN" sz="1200" dirty="0">
                  <a:latin typeface="微软雅黑" panose="020B0503020204020204" pitchFamily="34" charset="-122"/>
                  <a:ea typeface="微软雅黑" panose="020B0503020204020204" pitchFamily="34" charset="-122"/>
                </a:rPr>
                <a:t> </a:t>
              </a:r>
              <a:r>
                <a:rPr lang="zh-CN" altLang="zh-CN" sz="1200" dirty="0">
                  <a:latin typeface="微软雅黑" panose="020B0503020204020204" pitchFamily="34" charset="-122"/>
                  <a:ea typeface="微软雅黑" panose="020B0503020204020204" pitchFamily="34" charset="-122"/>
                </a:rPr>
                <a:t>组观测对</a:t>
              </a:r>
              <a:r>
                <a:rPr lang="en-US" altLang="zh-CN" sz="1200" dirty="0">
                  <a:latin typeface="微软雅黑" panose="020B0503020204020204" pitchFamily="34" charset="-122"/>
                  <a:ea typeface="微软雅黑" panose="020B0503020204020204" pitchFamily="34" charset="-122"/>
                </a:rPr>
                <a:t>       </a:t>
              </a:r>
              <a:r>
                <a:rPr lang="zh-CN" altLang="zh-CN" sz="1200" dirty="0">
                  <a:latin typeface="微软雅黑" panose="020B0503020204020204" pitchFamily="34" charset="-122"/>
                  <a:ea typeface="微软雅黑" panose="020B0503020204020204" pitchFamily="34" charset="-122"/>
                </a:rPr>
                <a:t>对任意第</a:t>
              </a:r>
              <a:r>
                <a:rPr lang="en-US" altLang="zh-CN" sz="1200" dirty="0">
                  <a:latin typeface="微软雅黑" panose="020B0503020204020204" pitchFamily="34" charset="-122"/>
                  <a:ea typeface="微软雅黑" panose="020B0503020204020204" pitchFamily="34" charset="-122"/>
                </a:rPr>
                <a:t>       </a:t>
              </a:r>
              <a:r>
                <a:rPr lang="zh-CN" altLang="zh-CN" sz="1200" dirty="0">
                  <a:latin typeface="微软雅黑" panose="020B0503020204020204" pitchFamily="34" charset="-122"/>
                  <a:ea typeface="微软雅黑" panose="020B0503020204020204" pitchFamily="34" charset="-122"/>
                </a:rPr>
                <a:t>个观测数据，若满足</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a:t>
              </a:r>
              <a:r>
                <a:rPr lang="zh-CN" altLang="zh-CN" sz="1200" dirty="0">
                  <a:latin typeface="微软雅黑" panose="020B0503020204020204" pitchFamily="34" charset="-122"/>
                  <a:ea typeface="微软雅黑" panose="020B0503020204020204" pitchFamily="34" charset="-122"/>
                </a:rPr>
                <a:t>就计</a:t>
              </a:r>
              <a:r>
                <a:rPr lang="zh-CN" altLang="en-US" sz="1200" dirty="0">
                  <a:latin typeface="微软雅黑" panose="020B0503020204020204" pitchFamily="34" charset="-122"/>
                  <a:ea typeface="微软雅黑" panose="020B0503020204020204" pitchFamily="34" charset="-122"/>
                </a:rPr>
                <a:t>算                                          </a:t>
              </a:r>
              <a:r>
                <a:rPr lang="zh-CN" altLang="zh-CN" sz="1200" dirty="0">
                  <a:latin typeface="微软雅黑" panose="020B0503020204020204" pitchFamily="34" charset="-122"/>
                  <a:ea typeface="微软雅黑" panose="020B0503020204020204" pitchFamily="34" charset="-122"/>
                </a:rPr>
                <a:t>令</a:t>
              </a:r>
              <a:r>
                <a:rPr lang="en-US" altLang="zh-CN" sz="1200" dirty="0">
                  <a:latin typeface="微软雅黑" panose="020B0503020204020204" pitchFamily="34" charset="-122"/>
                  <a:ea typeface="微软雅黑" panose="020B0503020204020204" pitchFamily="34" charset="-122"/>
                </a:rPr>
                <a:t>                       , </a:t>
              </a:r>
              <a:r>
                <a:rPr lang="zh-CN" altLang="zh-CN" sz="1200" dirty="0">
                  <a:latin typeface="微软雅黑" panose="020B0503020204020204" pitchFamily="34" charset="-122"/>
                  <a:ea typeface="微软雅黑" panose="020B0503020204020204" pitchFamily="34" charset="-122"/>
                </a:rPr>
                <a:t>则</a:t>
              </a:r>
              <a:r>
                <a:rPr lang="en-US" altLang="zh-CN" sz="1200" dirty="0">
                  <a:latin typeface="微软雅黑" panose="020B0503020204020204" pitchFamily="34" charset="-122"/>
                  <a:ea typeface="微软雅黑" panose="020B0503020204020204" pitchFamily="34" charset="-122"/>
                </a:rPr>
                <a:t>Kendall’s tau    </a:t>
              </a:r>
              <a:r>
                <a:rPr lang="zh-CN" altLang="zh-CN" sz="1200" dirty="0">
                  <a:latin typeface="微软雅黑" panose="020B0503020204020204" pitchFamily="34" charset="-122"/>
                  <a:ea typeface="微软雅黑" panose="020B0503020204020204" pitchFamily="34" charset="-122"/>
                </a:rPr>
                <a:t>按如下公式计算</a:t>
              </a:r>
              <a:r>
                <a:rPr lang="en-US" altLang="zh-CN" sz="1200" dirty="0">
                  <a:latin typeface="微软雅黑" panose="020B0503020204020204" pitchFamily="34" charset="-122"/>
                  <a:ea typeface="微软雅黑" panose="020B0503020204020204" pitchFamily="34" charset="-122"/>
                </a:rPr>
                <a:t>:</a:t>
              </a:r>
            </a:p>
            <a:p>
              <a:pPr>
                <a:lnSpc>
                  <a:spcPct val="150000"/>
                </a:lnSpc>
              </a:pPr>
              <a:endParaRPr lang="en-US" altLang="zh-CN" sz="1200" dirty="0">
                <a:latin typeface="微软雅黑" panose="020B0503020204020204" pitchFamily="34" charset="-122"/>
                <a:ea typeface="微软雅黑" panose="020B0503020204020204" pitchFamily="34" charset="-122"/>
              </a:endParaRPr>
            </a:p>
            <a:p>
              <a:pPr>
                <a:lnSpc>
                  <a:spcPct val="150000"/>
                </a:lnSpc>
              </a:pPr>
              <a:endParaRPr lang="en-US" altLang="zh-CN" sz="1200" dirty="0">
                <a:latin typeface="+mn-ea"/>
              </a:endParaRPr>
            </a:p>
          </p:txBody>
        </p:sp>
        <p:graphicFrame>
          <p:nvGraphicFramePr>
            <p:cNvPr id="30" name="对象 29"/>
            <p:cNvGraphicFramePr>
              <a:graphicFrameLocks noChangeAspect="1"/>
            </p:cNvGraphicFramePr>
            <p:nvPr/>
          </p:nvGraphicFramePr>
          <p:xfrm>
            <a:off x="3172627" y="3812226"/>
            <a:ext cx="112203" cy="222472"/>
          </p:xfrm>
          <a:graphic>
            <a:graphicData uri="http://schemas.openxmlformats.org/presentationml/2006/ole">
              <mc:AlternateContent xmlns:mc="http://schemas.openxmlformats.org/markup-compatibility/2006">
                <mc:Choice xmlns:v="urn:schemas-microsoft-com:vml" Requires="v">
                  <p:oleObj spid="_x0000_s93508" r:id="rId4" imgW="88746" imgH="139458" progId="Equation.DSMT4">
                    <p:embed/>
                  </p:oleObj>
                </mc:Choice>
                <mc:Fallback>
                  <p:oleObj r:id="rId4" imgW="88746" imgH="139458" progId="Equation.DSMT4">
                    <p:embed/>
                    <p:pic>
                      <p:nvPicPr>
                        <p:cNvPr id="30" name="对象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72627" y="3812226"/>
                          <a:ext cx="112203" cy="222472"/>
                        </a:xfrm>
                        <a:prstGeom prst="rect">
                          <a:avLst/>
                        </a:prstGeom>
                        <a:noFill/>
                      </p:spPr>
                    </p:pic>
                  </p:oleObj>
                </mc:Fallback>
              </mc:AlternateContent>
            </a:graphicData>
          </a:graphic>
        </p:graphicFrame>
        <p:grpSp>
          <p:nvGrpSpPr>
            <p:cNvPr id="31" name="组合 30"/>
            <p:cNvGrpSpPr/>
            <p:nvPr/>
          </p:nvGrpSpPr>
          <p:grpSpPr>
            <a:xfrm>
              <a:off x="1289090" y="3792653"/>
              <a:ext cx="5073080" cy="1884088"/>
              <a:chOff x="1300073" y="3494455"/>
              <a:chExt cx="5073080" cy="1884088"/>
            </a:xfrm>
          </p:grpSpPr>
          <p:grpSp>
            <p:nvGrpSpPr>
              <p:cNvPr id="32" name="组合 31"/>
              <p:cNvGrpSpPr/>
              <p:nvPr/>
            </p:nvGrpSpPr>
            <p:grpSpPr>
              <a:xfrm>
                <a:off x="1300073" y="3494455"/>
                <a:ext cx="5073080" cy="1156985"/>
                <a:chOff x="1300073" y="3494455"/>
                <a:chExt cx="5073080" cy="1156985"/>
              </a:xfrm>
            </p:grpSpPr>
            <p:graphicFrame>
              <p:nvGraphicFramePr>
                <p:cNvPr id="34" name="对象 33"/>
                <p:cNvGraphicFramePr>
                  <a:graphicFrameLocks noChangeAspect="1"/>
                </p:cNvGraphicFramePr>
                <p:nvPr/>
              </p:nvGraphicFramePr>
              <p:xfrm>
                <a:off x="4092081" y="3500263"/>
                <a:ext cx="397788" cy="264426"/>
              </p:xfrm>
              <a:graphic>
                <a:graphicData uri="http://schemas.openxmlformats.org/presentationml/2006/ole">
                  <mc:AlternateContent xmlns:mc="http://schemas.openxmlformats.org/markup-compatibility/2006">
                    <mc:Choice xmlns:v="urn:schemas-microsoft-com:vml" Requires="v">
                      <p:oleObj spid="_x0000_s93509" r:id="rId6" imgW="317225" imgH="190335" progId="Equation.DSMT4">
                        <p:embed/>
                      </p:oleObj>
                    </mc:Choice>
                    <mc:Fallback>
                      <p:oleObj r:id="rId6" imgW="317225" imgH="190335" progId="Equation.DSMT4">
                        <p:embed/>
                        <p:pic>
                          <p:nvPicPr>
                            <p:cNvPr id="34" name="对象 3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92081" y="3500263"/>
                              <a:ext cx="397788" cy="264426"/>
                            </a:xfrm>
                            <a:prstGeom prst="rect">
                              <a:avLst/>
                            </a:prstGeom>
                            <a:noFill/>
                          </p:spPr>
                        </p:pic>
                      </p:oleObj>
                    </mc:Fallback>
                  </mc:AlternateContent>
                </a:graphicData>
              </a:graphic>
            </p:graphicFrame>
            <p:graphicFrame>
              <p:nvGraphicFramePr>
                <p:cNvPr id="35" name="对象 34"/>
                <p:cNvGraphicFramePr>
                  <a:graphicFrameLocks noChangeAspect="1"/>
                </p:cNvGraphicFramePr>
                <p:nvPr/>
              </p:nvGraphicFramePr>
              <p:xfrm>
                <a:off x="5349671" y="3494455"/>
                <a:ext cx="388426" cy="258203"/>
              </p:xfrm>
              <a:graphic>
                <a:graphicData uri="http://schemas.openxmlformats.org/presentationml/2006/ole">
                  <mc:AlternateContent xmlns:mc="http://schemas.openxmlformats.org/markup-compatibility/2006">
                    <mc:Choice xmlns:v="urn:schemas-microsoft-com:vml" Requires="v">
                      <p:oleObj spid="_x0000_s93510" r:id="rId8" imgW="279400" imgH="190500" progId="Equation.DSMT4">
                        <p:embed/>
                      </p:oleObj>
                    </mc:Choice>
                    <mc:Fallback>
                      <p:oleObj r:id="rId8" imgW="279400" imgH="190500" progId="Equation.DSMT4">
                        <p:embed/>
                        <p:pic>
                          <p:nvPicPr>
                            <p:cNvPr id="35" name="对象 3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49671" y="3494455"/>
                              <a:ext cx="388426" cy="258203"/>
                            </a:xfrm>
                            <a:prstGeom prst="rect">
                              <a:avLst/>
                            </a:prstGeom>
                            <a:noFill/>
                          </p:spPr>
                        </p:pic>
                      </p:oleObj>
                    </mc:Fallback>
                  </mc:AlternateContent>
                </a:graphicData>
              </a:graphic>
            </p:graphicFrame>
            <p:graphicFrame>
              <p:nvGraphicFramePr>
                <p:cNvPr id="36" name="对象 35"/>
                <p:cNvGraphicFramePr>
                  <a:graphicFrameLocks noChangeAspect="1"/>
                </p:cNvGraphicFramePr>
                <p:nvPr>
                  <p:extLst>
                    <p:ext uri="{D42A27DB-BD31-4B8C-83A1-F6EECF244321}">
                      <p14:modId xmlns:p14="http://schemas.microsoft.com/office/powerpoint/2010/main" val="641290757"/>
                    </p:ext>
                  </p:extLst>
                </p:nvPr>
              </p:nvGraphicFramePr>
              <p:xfrm>
                <a:off x="2849024" y="3894364"/>
                <a:ext cx="334585" cy="222412"/>
              </p:xfrm>
              <a:graphic>
                <a:graphicData uri="http://schemas.openxmlformats.org/presentationml/2006/ole">
                  <mc:AlternateContent xmlns:mc="http://schemas.openxmlformats.org/markup-compatibility/2006">
                    <mc:Choice xmlns:v="urn:schemas-microsoft-com:vml" Requires="v">
                      <p:oleObj spid="_x0000_s93511" r:id="rId10" imgW="279158" imgH="177646" progId="Equation.DSMT4">
                        <p:embed/>
                      </p:oleObj>
                    </mc:Choice>
                    <mc:Fallback>
                      <p:oleObj r:id="rId10" imgW="279158" imgH="177646" progId="Equation.DSMT4">
                        <p:embed/>
                        <p:pic>
                          <p:nvPicPr>
                            <p:cNvPr id="36" name="对象 3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49024" y="3894364"/>
                              <a:ext cx="334585" cy="222412"/>
                            </a:xfrm>
                            <a:prstGeom prst="rect">
                              <a:avLst/>
                            </a:prstGeom>
                            <a:noFill/>
                          </p:spPr>
                        </p:pic>
                      </p:oleObj>
                    </mc:Fallback>
                  </mc:AlternateContent>
                </a:graphicData>
              </a:graphic>
            </p:graphicFrame>
            <p:graphicFrame>
              <p:nvGraphicFramePr>
                <p:cNvPr id="37" name="对象 36"/>
                <p:cNvGraphicFramePr>
                  <a:graphicFrameLocks noChangeAspect="1"/>
                </p:cNvGraphicFramePr>
                <p:nvPr>
                  <p:extLst>
                    <p:ext uri="{D42A27DB-BD31-4B8C-83A1-F6EECF244321}">
                      <p14:modId xmlns:p14="http://schemas.microsoft.com/office/powerpoint/2010/main" val="2828500737"/>
                    </p:ext>
                  </p:extLst>
                </p:nvPr>
              </p:nvGraphicFramePr>
              <p:xfrm>
                <a:off x="3933522" y="3905522"/>
                <a:ext cx="2439631" cy="231867"/>
              </p:xfrm>
              <a:graphic>
                <a:graphicData uri="http://schemas.openxmlformats.org/presentationml/2006/ole">
                  <mc:AlternateContent xmlns:mc="http://schemas.openxmlformats.org/markup-compatibility/2006">
                    <mc:Choice xmlns:v="urn:schemas-microsoft-com:vml" Requires="v">
                      <p:oleObj spid="_x0000_s93512" r:id="rId12" imgW="1892300" imgH="203200" progId="Equation.DSMT4">
                        <p:embed/>
                      </p:oleObj>
                    </mc:Choice>
                    <mc:Fallback>
                      <p:oleObj r:id="rId12" imgW="1892300" imgH="203200" progId="Equation.DSMT4">
                        <p:embed/>
                        <p:pic>
                          <p:nvPicPr>
                            <p:cNvPr id="37" name="对象 3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33522" y="3905522"/>
                              <a:ext cx="2439631" cy="231867"/>
                            </a:xfrm>
                            <a:prstGeom prst="rect">
                              <a:avLst/>
                            </a:prstGeom>
                            <a:noFill/>
                          </p:spPr>
                        </p:pic>
                      </p:oleObj>
                    </mc:Fallback>
                  </mc:AlternateContent>
                </a:graphicData>
              </a:graphic>
            </p:graphicFrame>
            <p:graphicFrame>
              <p:nvGraphicFramePr>
                <p:cNvPr id="38" name="对象 37"/>
                <p:cNvGraphicFramePr>
                  <a:graphicFrameLocks noChangeAspect="1"/>
                </p:cNvGraphicFramePr>
                <p:nvPr/>
              </p:nvGraphicFramePr>
              <p:xfrm>
                <a:off x="1300073" y="4182375"/>
                <a:ext cx="1409232" cy="469065"/>
              </p:xfrm>
              <a:graphic>
                <a:graphicData uri="http://schemas.openxmlformats.org/presentationml/2006/ole">
                  <mc:AlternateContent xmlns:mc="http://schemas.openxmlformats.org/markup-compatibility/2006">
                    <mc:Choice xmlns:v="urn:schemas-microsoft-com:vml" Requires="v">
                      <p:oleObj spid="_x0000_s93513" r:id="rId14" imgW="1054100" imgH="381000" progId="Equation.DSMT4">
                        <p:embed/>
                      </p:oleObj>
                    </mc:Choice>
                    <mc:Fallback>
                      <p:oleObj r:id="rId14" imgW="1054100" imgH="381000" progId="Equation.DSMT4">
                        <p:embed/>
                        <p:pic>
                          <p:nvPicPr>
                            <p:cNvPr id="38" name="对象 3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00073" y="4182375"/>
                              <a:ext cx="1409232" cy="469065"/>
                            </a:xfrm>
                            <a:prstGeom prst="rect">
                              <a:avLst/>
                            </a:prstGeom>
                            <a:noFill/>
                          </p:spPr>
                        </p:pic>
                      </p:oleObj>
                    </mc:Fallback>
                  </mc:AlternateContent>
                </a:graphicData>
              </a:graphic>
            </p:graphicFrame>
            <p:graphicFrame>
              <p:nvGraphicFramePr>
                <p:cNvPr id="39" name="对象 38"/>
                <p:cNvGraphicFramePr>
                  <a:graphicFrameLocks noChangeAspect="1"/>
                </p:cNvGraphicFramePr>
                <p:nvPr/>
              </p:nvGraphicFramePr>
              <p:xfrm>
                <a:off x="4382676" y="4247185"/>
                <a:ext cx="240578" cy="240578"/>
              </p:xfrm>
              <a:graphic>
                <a:graphicData uri="http://schemas.openxmlformats.org/presentationml/2006/ole">
                  <mc:AlternateContent xmlns:mc="http://schemas.openxmlformats.org/markup-compatibility/2006">
                    <mc:Choice xmlns:v="urn:schemas-microsoft-com:vml" Requires="v">
                      <p:oleObj spid="_x0000_s93514" r:id="rId16" imgW="203112" imgH="190417" progId="Equation.DSMT4">
                        <p:embed/>
                      </p:oleObj>
                    </mc:Choice>
                    <mc:Fallback>
                      <p:oleObj r:id="rId16" imgW="203112" imgH="190417" progId="Equation.DSMT4">
                        <p:embed/>
                        <p:pic>
                          <p:nvPicPr>
                            <p:cNvPr id="39" name="对象 3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382676" y="4247185"/>
                              <a:ext cx="240578" cy="240578"/>
                            </a:xfrm>
                            <a:prstGeom prst="rect">
                              <a:avLst/>
                            </a:prstGeom>
                            <a:noFill/>
                          </p:spPr>
                        </p:pic>
                      </p:oleObj>
                    </mc:Fallback>
                  </mc:AlternateContent>
                </a:graphicData>
              </a:graphic>
            </p:graphicFrame>
          </p:grpSp>
          <p:graphicFrame>
            <p:nvGraphicFramePr>
              <p:cNvPr id="33" name="对象 32"/>
              <p:cNvGraphicFramePr>
                <a:graphicFrameLocks noChangeAspect="1"/>
              </p:cNvGraphicFramePr>
              <p:nvPr/>
            </p:nvGraphicFramePr>
            <p:xfrm>
              <a:off x="2136608" y="4645298"/>
              <a:ext cx="2318410" cy="733245"/>
            </p:xfrm>
            <a:graphic>
              <a:graphicData uri="http://schemas.openxmlformats.org/presentationml/2006/ole">
                <mc:AlternateContent xmlns:mc="http://schemas.openxmlformats.org/markup-compatibility/2006">
                  <mc:Choice xmlns:v="urn:schemas-microsoft-com:vml" Requires="v">
                    <p:oleObj spid="_x0000_s93515" r:id="rId18" imgW="1701800" imgH="584200" progId="Equation.DSMT4">
                      <p:embed/>
                    </p:oleObj>
                  </mc:Choice>
                  <mc:Fallback>
                    <p:oleObj r:id="rId18" imgW="1701800" imgH="584200" progId="Equation.DSMT4">
                      <p:embed/>
                      <p:pic>
                        <p:nvPicPr>
                          <p:cNvPr id="33" name="对象 3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136608" y="4645298"/>
                            <a:ext cx="2318410" cy="733245"/>
                          </a:xfrm>
                          <a:prstGeom prst="rect">
                            <a:avLst/>
                          </a:prstGeom>
                          <a:noFill/>
                        </p:spPr>
                      </p:pic>
                    </p:oleObj>
                  </mc:Fallback>
                </mc:AlternateContent>
              </a:graphicData>
            </a:graphic>
          </p:graphicFrame>
        </p:grpSp>
      </p:grpSp>
      <p:sp>
        <p:nvSpPr>
          <p:cNvPr id="40" name="标题 1">
            <a:extLst>
              <a:ext uri="{FF2B5EF4-FFF2-40B4-BE49-F238E27FC236}">
                <a16:creationId xmlns:a16="http://schemas.microsoft.com/office/drawing/2014/main" id="{2A8E97DE-334F-4AAF-97E0-167C9856AF77}"/>
              </a:ext>
            </a:extLst>
          </p:cNvPr>
          <p:cNvSpPr txBox="1">
            <a:spLocks/>
          </p:cNvSpPr>
          <p:nvPr/>
        </p:nvSpPr>
        <p:spPr>
          <a:xfrm>
            <a:off x="321273" y="319216"/>
            <a:ext cx="3847468" cy="68261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800" dirty="0">
                <a:latin typeface="黑体" panose="02010609060101010101" pitchFamily="49" charset="-122"/>
                <a:ea typeface="黑体" panose="02010609060101010101" pitchFamily="49" charset="-122"/>
              </a:rPr>
              <a:t>3.4.1</a:t>
            </a:r>
            <a:r>
              <a:rPr lang="zh-CN" altLang="en-US" sz="2800" dirty="0">
                <a:latin typeface="黑体" panose="02010609060101010101" pitchFamily="49" charset="-122"/>
                <a:ea typeface="黑体" panose="02010609060101010101" pitchFamily="49" charset="-122"/>
              </a:rPr>
              <a:t>相关分析原理</a:t>
            </a:r>
          </a:p>
        </p:txBody>
      </p:sp>
    </p:spTree>
    <p:extLst>
      <p:ext uri="{BB962C8B-B14F-4D97-AF65-F5344CB8AC3E}">
        <p14:creationId xmlns:p14="http://schemas.microsoft.com/office/powerpoint/2010/main" val="37882521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文本框 28"/>
          <p:cNvSpPr txBox="1"/>
          <p:nvPr/>
        </p:nvSpPr>
        <p:spPr>
          <a:xfrm>
            <a:off x="441692" y="1173383"/>
            <a:ext cx="1466012" cy="369332"/>
          </a:xfrm>
          <a:prstGeom prst="rect">
            <a:avLst/>
          </a:prstGeom>
          <a:noFill/>
        </p:spPr>
        <p:txBody>
          <a:bodyPr wrap="square" rtlCol="0">
            <a:spAutoFit/>
          </a:bodyPr>
          <a:lstStyle/>
          <a:p>
            <a:pPr marL="0" lvl="3"/>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数学模型</a:t>
            </a:r>
            <a:endParaRPr lang="zh-CN" altLang="zh-CN" dirty="0">
              <a:effectLst>
                <a:glow>
                  <a:srgbClr val="000000"/>
                </a:glow>
                <a:reflection stA="0" endPos="0" fadeDir="0" sx="0" sy="0"/>
              </a:effectLst>
              <a:latin typeface="微软雅黑" panose="020B0503020204020204" pitchFamily="34" charset="-122"/>
              <a:ea typeface="微软雅黑" panose="020B0503020204020204" pitchFamily="34" charset="-122"/>
            </a:endParaRPr>
          </a:p>
        </p:txBody>
      </p:sp>
      <p:sp>
        <p:nvSpPr>
          <p:cNvPr id="31" name="标题 1"/>
          <p:cNvSpPr txBox="1">
            <a:spLocks/>
          </p:cNvSpPr>
          <p:nvPr/>
        </p:nvSpPr>
        <p:spPr>
          <a:xfrm>
            <a:off x="71683" y="304623"/>
            <a:ext cx="5757071" cy="68261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200" dirty="0">
                <a:latin typeface="黑体" panose="02010609060101010101" pitchFamily="49" charset="-122"/>
                <a:ea typeface="黑体" panose="02010609060101010101" pitchFamily="49" charset="-122"/>
              </a:rPr>
              <a:t>3.4.2</a:t>
            </a:r>
            <a:r>
              <a:rPr lang="zh-CN" altLang="en-US" sz="3200" dirty="0">
                <a:latin typeface="黑体" panose="02010609060101010101" pitchFamily="49" charset="-122"/>
                <a:ea typeface="黑体" panose="02010609060101010101" pitchFamily="49" charset="-122"/>
              </a:rPr>
              <a:t>相关分析偏相关分析</a:t>
            </a:r>
            <a:endParaRPr lang="en-US" altLang="zh-CN" sz="3200" dirty="0">
              <a:latin typeface="黑体" panose="02010609060101010101" pitchFamily="49" charset="-122"/>
              <a:ea typeface="黑体" panose="02010609060101010101" pitchFamily="49" charset="-122"/>
            </a:endParaRPr>
          </a:p>
        </p:txBody>
      </p:sp>
      <p:sp>
        <p:nvSpPr>
          <p:cNvPr id="53" name="矩形 52"/>
          <p:cNvSpPr/>
          <p:nvPr/>
        </p:nvSpPr>
        <p:spPr bwMode="auto">
          <a:xfrm>
            <a:off x="512197" y="1787712"/>
            <a:ext cx="2670179" cy="567495"/>
          </a:xfrm>
          <a:prstGeom prst="rect">
            <a:avLst/>
          </a:prstGeom>
          <a:solidFill>
            <a:srgbClr val="685D5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4" name="矩形 53"/>
          <p:cNvSpPr/>
          <p:nvPr/>
        </p:nvSpPr>
        <p:spPr bwMode="auto">
          <a:xfrm>
            <a:off x="512197" y="2355208"/>
            <a:ext cx="2670179" cy="33282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2" name="矩形 51"/>
          <p:cNvSpPr/>
          <p:nvPr/>
        </p:nvSpPr>
        <p:spPr bwMode="auto">
          <a:xfrm>
            <a:off x="512197" y="5499436"/>
            <a:ext cx="2670179" cy="184052"/>
          </a:xfrm>
          <a:prstGeom prst="rect">
            <a:avLst/>
          </a:prstGeom>
          <a:solidFill>
            <a:srgbClr val="685D5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0" name="文本框 2"/>
          <p:cNvSpPr txBox="1">
            <a:spLocks noChangeArrowheads="1"/>
          </p:cNvSpPr>
          <p:nvPr/>
        </p:nvSpPr>
        <p:spPr bwMode="auto">
          <a:xfrm>
            <a:off x="625748" y="1904838"/>
            <a:ext cx="2443076"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zh-CN" sz="1650" dirty="0">
                <a:solidFill>
                  <a:schemeClr val="bg1"/>
                </a:solidFill>
                <a:latin typeface="微软雅黑" panose="020B0503020204020204" pitchFamily="34" charset="-122"/>
                <a:ea typeface="微软雅黑" panose="020B0503020204020204" pitchFamily="34" charset="-122"/>
              </a:rPr>
              <a:t>变量之间的相关关系</a:t>
            </a:r>
            <a:endParaRPr lang="zh-CN" altLang="en-US" sz="1650" dirty="0">
              <a:solidFill>
                <a:schemeClr val="bg1"/>
              </a:solidFill>
            </a:endParaRPr>
          </a:p>
        </p:txBody>
      </p:sp>
      <p:sp>
        <p:nvSpPr>
          <p:cNvPr id="55" name="矩形 54"/>
          <p:cNvSpPr/>
          <p:nvPr/>
        </p:nvSpPr>
        <p:spPr>
          <a:xfrm>
            <a:off x="485921" y="2676511"/>
            <a:ext cx="2658713" cy="1454950"/>
          </a:xfrm>
          <a:prstGeom prst="rect">
            <a:avLst/>
          </a:prstGeom>
        </p:spPr>
        <p:txBody>
          <a:bodyPr wrap="square">
            <a:spAutoFit/>
          </a:bodyPr>
          <a:lstStyle/>
          <a:p>
            <a:pPr marL="214313" indent="-214313">
              <a:lnSpc>
                <a:spcPct val="150000"/>
              </a:lnSpc>
              <a:buFont typeface="Wingdings" panose="05000000000000000000" pitchFamily="2" charset="2"/>
              <a:buChar char="Ø"/>
              <a:defRPr/>
            </a:pPr>
            <a:r>
              <a:rPr lang="zh-CN" altLang="zh-CN" sz="1050" dirty="0">
                <a:latin typeface="微软雅黑" panose="020B0503020204020204" pitchFamily="34" charset="-122"/>
                <a:ea typeface="微软雅黑" panose="020B0503020204020204" pitchFamily="34" charset="-122"/>
              </a:rPr>
              <a:t>线性相关分析计算的是两个变量间的相关系数。</a:t>
            </a:r>
            <a:endParaRPr lang="en-US" altLang="zh-CN" sz="1050" dirty="0">
              <a:latin typeface="微软雅黑" panose="020B0503020204020204" pitchFamily="34" charset="-122"/>
              <a:ea typeface="微软雅黑" panose="020B0503020204020204" pitchFamily="34" charset="-122"/>
            </a:endParaRPr>
          </a:p>
          <a:p>
            <a:pPr>
              <a:lnSpc>
                <a:spcPts val="1350"/>
              </a:lnSpc>
              <a:defRPr/>
            </a:pPr>
            <a:endParaRPr lang="en-US" altLang="zh-CN" sz="120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endParaRPr>
          </a:p>
          <a:p>
            <a:pPr marL="214313" indent="-214313">
              <a:lnSpc>
                <a:spcPct val="150000"/>
              </a:lnSpc>
              <a:buFont typeface="Wingdings" panose="05000000000000000000" pitchFamily="2" charset="2"/>
              <a:buChar char="Ø"/>
              <a:defRPr/>
            </a:pPr>
            <a:r>
              <a:rPr lang="zh-CN" altLang="zh-CN" sz="1050" dirty="0">
                <a:latin typeface="微软雅黑" panose="020B0503020204020204" pitchFamily="34" charset="-122"/>
                <a:ea typeface="微软雅黑" panose="020B0503020204020204" pitchFamily="34" charset="-122"/>
              </a:rPr>
              <a:t>在多变量的情况下，只有除去其他变量影响后再计算相关系数，才能真正反映它们之间的相关关系</a:t>
            </a:r>
            <a:endParaRPr lang="en-US" altLang="zh-CN" sz="1050" dirty="0">
              <a:solidFill>
                <a:schemeClr val="bg2">
                  <a:lumMod val="25000"/>
                </a:schemeClr>
              </a:solidFill>
              <a:cs typeface="Arial" panose="020B0604020202020204" pitchFamily="34" charset="0"/>
            </a:endParaRPr>
          </a:p>
        </p:txBody>
      </p:sp>
      <p:grpSp>
        <p:nvGrpSpPr>
          <p:cNvPr id="33" name="组合 8"/>
          <p:cNvGrpSpPr>
            <a:grpSpLocks/>
          </p:cNvGrpSpPr>
          <p:nvPr/>
        </p:nvGrpSpPr>
        <p:grpSpPr bwMode="auto">
          <a:xfrm>
            <a:off x="3272128" y="1787713"/>
            <a:ext cx="2670179" cy="3895775"/>
            <a:chOff x="146663" y="1194708"/>
            <a:chExt cx="2956560" cy="4838700"/>
          </a:xfrm>
        </p:grpSpPr>
        <p:grpSp>
          <p:nvGrpSpPr>
            <p:cNvPr id="35" name="组合 3"/>
            <p:cNvGrpSpPr>
              <a:grpSpLocks/>
            </p:cNvGrpSpPr>
            <p:nvPr/>
          </p:nvGrpSpPr>
          <p:grpSpPr bwMode="auto">
            <a:xfrm>
              <a:off x="146663" y="1194708"/>
              <a:ext cx="2956560" cy="4838700"/>
              <a:chOff x="304800" y="1466850"/>
              <a:chExt cx="2705100" cy="4838700"/>
            </a:xfrm>
          </p:grpSpPr>
          <p:sp>
            <p:nvSpPr>
              <p:cNvPr id="37" name="矩形 36"/>
              <p:cNvSpPr/>
              <p:nvPr/>
            </p:nvSpPr>
            <p:spPr>
              <a:xfrm>
                <a:off x="304800" y="1466850"/>
                <a:ext cx="2705100" cy="704850"/>
              </a:xfrm>
              <a:prstGeom prst="rect">
                <a:avLst/>
              </a:prstGeom>
              <a:solidFill>
                <a:srgbClr val="685D5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8" name="矩形 37"/>
              <p:cNvSpPr/>
              <p:nvPr/>
            </p:nvSpPr>
            <p:spPr>
              <a:xfrm>
                <a:off x="304800" y="2171700"/>
                <a:ext cx="2705100" cy="41338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矩形 35"/>
            <p:cNvSpPr/>
            <p:nvPr/>
          </p:nvSpPr>
          <p:spPr>
            <a:xfrm>
              <a:off x="146663" y="5804808"/>
              <a:ext cx="2956560" cy="228600"/>
            </a:xfrm>
            <a:prstGeom prst="rect">
              <a:avLst/>
            </a:prstGeom>
            <a:solidFill>
              <a:srgbClr val="685D5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4" name="文本框 2"/>
          <p:cNvSpPr txBox="1">
            <a:spLocks noChangeArrowheads="1"/>
          </p:cNvSpPr>
          <p:nvPr/>
        </p:nvSpPr>
        <p:spPr bwMode="auto">
          <a:xfrm>
            <a:off x="3385679" y="1904838"/>
            <a:ext cx="2443076"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zh-CN" sz="1650" dirty="0">
                <a:solidFill>
                  <a:schemeClr val="bg1"/>
                </a:solidFill>
                <a:latin typeface="微软雅黑" panose="020B0503020204020204" pitchFamily="34" charset="-122"/>
                <a:ea typeface="微软雅黑" panose="020B0503020204020204" pitchFamily="34" charset="-122"/>
              </a:rPr>
              <a:t>简单相关</a:t>
            </a:r>
            <a:endParaRPr lang="zh-CN" altLang="en-US" sz="1650" dirty="0">
              <a:solidFill>
                <a:schemeClr val="bg1"/>
              </a:solidFill>
            </a:endParaRPr>
          </a:p>
        </p:txBody>
      </p:sp>
      <p:sp>
        <p:nvSpPr>
          <p:cNvPr id="39" name="矩形 38"/>
          <p:cNvSpPr/>
          <p:nvPr/>
        </p:nvSpPr>
        <p:spPr>
          <a:xfrm>
            <a:off x="3245852" y="2695735"/>
            <a:ext cx="2658713" cy="2390398"/>
          </a:xfrm>
          <a:prstGeom prst="rect">
            <a:avLst/>
          </a:prstGeom>
        </p:spPr>
        <p:txBody>
          <a:bodyPr wrap="square">
            <a:spAutoFit/>
          </a:bodyPr>
          <a:lstStyle/>
          <a:p>
            <a:pPr marL="214313" indent="-214313">
              <a:lnSpc>
                <a:spcPct val="150000"/>
              </a:lnSpc>
              <a:buFont typeface="Wingdings" panose="05000000000000000000" pitchFamily="2" charset="2"/>
              <a:buChar char="Ø"/>
              <a:defRPr/>
            </a:pPr>
            <a:r>
              <a:rPr lang="zh-CN" altLang="zh-CN" sz="1050" dirty="0">
                <a:latin typeface="微软雅黑" panose="020B0503020204020204" pitchFamily="34" charset="-122"/>
                <a:ea typeface="微软雅黑" panose="020B0503020204020204" pitchFamily="34" charset="-122"/>
              </a:rPr>
              <a:t>在其他变量固定不变的情况下，计算两个指定变量之间的相关系数，这样的相关分析就是偏相关分析，经此得出的相关系数叫做偏相关系数。</a:t>
            </a:r>
            <a:r>
              <a:rPr lang="en-US" altLang="zh-CN" sz="1050" dirty="0">
                <a:latin typeface="微软雅黑" panose="020B0503020204020204" pitchFamily="34" charset="-122"/>
                <a:ea typeface="微软雅黑" panose="020B0503020204020204" pitchFamily="34" charset="-122"/>
              </a:rPr>
              <a:t>         </a:t>
            </a:r>
          </a:p>
          <a:p>
            <a:pPr fontAlgn="auto">
              <a:lnSpc>
                <a:spcPts val="1350"/>
              </a:lnSpc>
              <a:spcBef>
                <a:spcPts val="0"/>
              </a:spcBef>
              <a:spcAft>
                <a:spcPts val="0"/>
              </a:spcAft>
              <a:defRPr/>
            </a:pPr>
            <a:endParaRPr lang="en-US" altLang="zh-CN" sz="1200" dirty="0">
              <a:solidFill>
                <a:schemeClr val="bg2">
                  <a:lumMod val="25000"/>
                </a:schemeClr>
              </a:solidFill>
              <a:latin typeface="+mn-lt"/>
              <a:ea typeface="+mn-ea"/>
              <a:cs typeface="Arial" panose="020B0604020202020204" pitchFamily="34" charset="0"/>
            </a:endParaRPr>
          </a:p>
          <a:p>
            <a:pPr marL="214313" indent="-214313">
              <a:lnSpc>
                <a:spcPct val="150000"/>
              </a:lnSpc>
              <a:buFont typeface="Wingdings" panose="05000000000000000000" pitchFamily="2" charset="2"/>
              <a:buChar char="Ø"/>
              <a:defRPr/>
            </a:pPr>
            <a:r>
              <a:rPr lang="zh-CN" altLang="zh-CN" sz="1050" dirty="0">
                <a:latin typeface="微软雅黑" panose="020B0503020204020204" pitchFamily="34" charset="-122"/>
                <a:ea typeface="微软雅黑" panose="020B0503020204020204" pitchFamily="34" charset="-122"/>
              </a:rPr>
              <a:t>根据固定变量个数的多少，偏相关分析可分为零阶偏相关、一阶偏相关和</a:t>
            </a:r>
            <a:r>
              <a:rPr lang="en-US" altLang="zh-CN" sz="1050" dirty="0">
                <a:latin typeface="微软雅黑" panose="020B0503020204020204" pitchFamily="34" charset="-122"/>
                <a:ea typeface="微软雅黑" panose="020B0503020204020204" pitchFamily="34" charset="-122"/>
              </a:rPr>
              <a:t>(p-1)</a:t>
            </a:r>
            <a:r>
              <a:rPr lang="zh-CN" altLang="zh-CN" sz="1050" dirty="0">
                <a:latin typeface="微软雅黑" panose="020B0503020204020204" pitchFamily="34" charset="-122"/>
                <a:ea typeface="微软雅黑" panose="020B0503020204020204" pitchFamily="34" charset="-122"/>
              </a:rPr>
              <a:t>阶偏相关，其中零阶偏相关就是简单相关。</a:t>
            </a:r>
            <a:endParaRPr lang="en-US" altLang="zh-CN" sz="1050" dirty="0">
              <a:latin typeface="微软雅黑" panose="020B0503020204020204" pitchFamily="34" charset="-122"/>
              <a:ea typeface="微软雅黑" panose="020B0503020204020204" pitchFamily="34" charset="-122"/>
            </a:endParaRPr>
          </a:p>
          <a:p>
            <a:pPr fontAlgn="auto">
              <a:lnSpc>
                <a:spcPts val="1350"/>
              </a:lnSpc>
              <a:spcBef>
                <a:spcPts val="0"/>
              </a:spcBef>
              <a:spcAft>
                <a:spcPts val="0"/>
              </a:spcAft>
              <a:defRPr/>
            </a:pPr>
            <a:endParaRPr lang="en-US" altLang="zh-CN" sz="1200" dirty="0">
              <a:solidFill>
                <a:schemeClr val="bg2">
                  <a:lumMod val="25000"/>
                </a:schemeClr>
              </a:solidFill>
              <a:latin typeface="+mn-lt"/>
              <a:ea typeface="+mn-ea"/>
              <a:cs typeface="Arial" panose="020B0604020202020204" pitchFamily="34" charset="0"/>
            </a:endParaRPr>
          </a:p>
        </p:txBody>
      </p:sp>
      <p:grpSp>
        <p:nvGrpSpPr>
          <p:cNvPr id="41" name="组合 8"/>
          <p:cNvGrpSpPr>
            <a:grpSpLocks/>
          </p:cNvGrpSpPr>
          <p:nvPr/>
        </p:nvGrpSpPr>
        <p:grpSpPr bwMode="auto">
          <a:xfrm>
            <a:off x="6042035" y="1787713"/>
            <a:ext cx="2670179" cy="3895775"/>
            <a:chOff x="146663" y="1194708"/>
            <a:chExt cx="2956560" cy="4838700"/>
          </a:xfrm>
        </p:grpSpPr>
        <p:grpSp>
          <p:nvGrpSpPr>
            <p:cNvPr id="43" name="组合 3"/>
            <p:cNvGrpSpPr>
              <a:grpSpLocks/>
            </p:cNvGrpSpPr>
            <p:nvPr/>
          </p:nvGrpSpPr>
          <p:grpSpPr bwMode="auto">
            <a:xfrm>
              <a:off x="146663" y="1194708"/>
              <a:ext cx="2956560" cy="4838700"/>
              <a:chOff x="304800" y="1466850"/>
              <a:chExt cx="2705100" cy="4838700"/>
            </a:xfrm>
          </p:grpSpPr>
          <p:sp>
            <p:nvSpPr>
              <p:cNvPr id="45" name="矩形 44"/>
              <p:cNvSpPr/>
              <p:nvPr/>
            </p:nvSpPr>
            <p:spPr>
              <a:xfrm>
                <a:off x="304800" y="1466850"/>
                <a:ext cx="2705100" cy="704850"/>
              </a:xfrm>
              <a:prstGeom prst="rect">
                <a:avLst/>
              </a:prstGeom>
              <a:solidFill>
                <a:srgbClr val="685D5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6" name="矩形 45"/>
              <p:cNvSpPr/>
              <p:nvPr/>
            </p:nvSpPr>
            <p:spPr>
              <a:xfrm>
                <a:off x="304800" y="2171700"/>
                <a:ext cx="2705100" cy="41338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44" name="矩形 43"/>
            <p:cNvSpPr/>
            <p:nvPr/>
          </p:nvSpPr>
          <p:spPr>
            <a:xfrm>
              <a:off x="146663" y="5804808"/>
              <a:ext cx="2956560" cy="228600"/>
            </a:xfrm>
            <a:prstGeom prst="rect">
              <a:avLst/>
            </a:prstGeom>
            <a:solidFill>
              <a:srgbClr val="685D5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42" name="文本框 2"/>
          <p:cNvSpPr txBox="1">
            <a:spLocks noChangeArrowheads="1"/>
          </p:cNvSpPr>
          <p:nvPr/>
        </p:nvSpPr>
        <p:spPr bwMode="auto">
          <a:xfrm>
            <a:off x="6155587" y="1904838"/>
            <a:ext cx="2443076"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zh-CN" sz="1650" dirty="0">
                <a:solidFill>
                  <a:schemeClr val="bg1"/>
                </a:solidFill>
                <a:latin typeface="微软雅黑" panose="020B0503020204020204" pitchFamily="34" charset="-122"/>
                <a:ea typeface="微软雅黑" panose="020B0503020204020204" pitchFamily="34" charset="-122"/>
              </a:rPr>
              <a:t>偏相关系数</a:t>
            </a:r>
            <a:endParaRPr lang="zh-CN" altLang="en-US" sz="1650" dirty="0">
              <a:solidFill>
                <a:schemeClr val="bg1"/>
              </a:solidFill>
            </a:endParaRPr>
          </a:p>
        </p:txBody>
      </p:sp>
      <mc:AlternateContent xmlns:mc="http://schemas.openxmlformats.org/markup-compatibility/2006" xmlns:a14="http://schemas.microsoft.com/office/drawing/2010/main">
        <mc:Choice Requires="a14">
          <p:sp>
            <p:nvSpPr>
              <p:cNvPr id="47" name="矩形 46"/>
              <p:cNvSpPr/>
              <p:nvPr/>
            </p:nvSpPr>
            <p:spPr>
              <a:xfrm>
                <a:off x="6015760" y="2676512"/>
                <a:ext cx="2658713" cy="2233112"/>
              </a:xfrm>
              <a:prstGeom prst="rect">
                <a:avLst/>
              </a:prstGeom>
            </p:spPr>
            <p:txBody>
              <a:bodyPr wrap="square">
                <a:spAutoFit/>
              </a:bodyPr>
              <a:lstStyle/>
              <a:p>
                <a:pPr marL="214313" indent="-214313">
                  <a:lnSpc>
                    <a:spcPct val="150000"/>
                  </a:lnSpc>
                  <a:buFont typeface="Wingdings" panose="05000000000000000000" pitchFamily="2" charset="2"/>
                  <a:buChar char="Ø"/>
                  <a:defRPr/>
                </a:pPr>
                <a:r>
                  <a:rPr lang="zh-CN" altLang="zh-CN" sz="1050" dirty="0">
                    <a:latin typeface="微软雅黑" panose="020B0503020204020204" pitchFamily="34" charset="-122"/>
                    <a:ea typeface="微软雅黑" panose="020B0503020204020204" pitchFamily="34" charset="-122"/>
                  </a:rPr>
                  <a:t>设随机变量</a:t>
                </a:r>
                <a:r>
                  <a:rPr lang="en-US" altLang="zh-CN" sz="1050" dirty="0">
                    <a:latin typeface="微软雅黑" panose="020B0503020204020204" pitchFamily="34" charset="-122"/>
                    <a:ea typeface="微软雅黑" panose="020B0503020204020204" pitchFamily="34" charset="-122"/>
                  </a:rPr>
                  <a:t>X,Y,Z</a:t>
                </a:r>
                <a:r>
                  <a:rPr lang="zh-CN" altLang="en-US" sz="1050" dirty="0">
                    <a:latin typeface="微软雅黑" panose="020B0503020204020204" pitchFamily="34" charset="-122"/>
                    <a:ea typeface="微软雅黑" panose="020B0503020204020204" pitchFamily="34" charset="-122"/>
                  </a:rPr>
                  <a:t>之间彼此存在着相关关系，为了研究</a:t>
                </a:r>
                <a:r>
                  <a:rPr lang="en-US" altLang="zh-CN" sz="1050" dirty="0">
                    <a:latin typeface="微软雅黑" panose="020B0503020204020204" pitchFamily="34" charset="-122"/>
                    <a:ea typeface="微软雅黑" panose="020B0503020204020204" pitchFamily="34" charset="-122"/>
                  </a:rPr>
                  <a:t>Z</a:t>
                </a:r>
                <a:r>
                  <a:rPr lang="zh-CN" altLang="en-US" sz="1050" dirty="0">
                    <a:latin typeface="微软雅黑" panose="020B0503020204020204" pitchFamily="34" charset="-122"/>
                    <a:ea typeface="微软雅黑" panose="020B0503020204020204" pitchFamily="34" charset="-122"/>
                  </a:rPr>
                  <a:t>和</a:t>
                </a:r>
                <a:r>
                  <a:rPr lang="en-US" altLang="zh-CN" sz="1050" dirty="0">
                    <a:latin typeface="微软雅黑" panose="020B0503020204020204" pitchFamily="34" charset="-122"/>
                    <a:ea typeface="微软雅黑" panose="020B0503020204020204" pitchFamily="34" charset="-122"/>
                  </a:rPr>
                  <a:t>Y</a:t>
                </a:r>
                <a:r>
                  <a:rPr lang="zh-CN" altLang="en-US" sz="1050" dirty="0">
                    <a:latin typeface="微软雅黑" panose="020B0503020204020204" pitchFamily="34" charset="-122"/>
                    <a:ea typeface="微软雅黑" panose="020B0503020204020204" pitchFamily="34" charset="-122"/>
                  </a:rPr>
                  <a:t>之间的关系，就必须在假定</a:t>
                </a:r>
                <a:r>
                  <a:rPr lang="en-US" altLang="zh-CN" sz="1050" dirty="0">
                    <a:latin typeface="微软雅黑" panose="020B0503020204020204" pitchFamily="34" charset="-122"/>
                    <a:ea typeface="微软雅黑" panose="020B0503020204020204" pitchFamily="34" charset="-122"/>
                  </a:rPr>
                  <a:t>Z</a:t>
                </a:r>
                <a:r>
                  <a:rPr lang="zh-CN" altLang="en-US" sz="1050" dirty="0">
                    <a:latin typeface="微软雅黑" panose="020B0503020204020204" pitchFamily="34" charset="-122"/>
                    <a:ea typeface="微软雅黑" panose="020B0503020204020204" pitchFamily="34" charset="-122"/>
                  </a:rPr>
                  <a:t>不变的条件下，计算</a:t>
                </a:r>
                <a:r>
                  <a:rPr lang="en-US" altLang="zh-CN" sz="1050" dirty="0">
                    <a:latin typeface="微软雅黑" panose="020B0503020204020204" pitchFamily="34" charset="-122"/>
                    <a:ea typeface="微软雅黑" panose="020B0503020204020204" pitchFamily="34" charset="-122"/>
                  </a:rPr>
                  <a:t>X</a:t>
                </a:r>
                <a:r>
                  <a:rPr lang="zh-CN" altLang="en-US" sz="1050" dirty="0">
                    <a:latin typeface="微软雅黑" panose="020B0503020204020204" pitchFamily="34" charset="-122"/>
                    <a:ea typeface="微软雅黑" panose="020B0503020204020204" pitchFamily="34" charset="-122"/>
                  </a:rPr>
                  <a:t>和</a:t>
                </a:r>
                <a:r>
                  <a:rPr lang="en-US" altLang="zh-CN" sz="1050" dirty="0">
                    <a:latin typeface="微软雅黑" panose="020B0503020204020204" pitchFamily="34" charset="-122"/>
                    <a:ea typeface="微软雅黑" panose="020B0503020204020204" pitchFamily="34" charset="-122"/>
                  </a:rPr>
                  <a:t>Y </a:t>
                </a:r>
                <a:r>
                  <a:rPr lang="zh-CN" altLang="en-US" sz="1050" dirty="0">
                    <a:latin typeface="微软雅黑" panose="020B0503020204020204" pitchFamily="34" charset="-122"/>
                    <a:ea typeface="微软雅黑" panose="020B0503020204020204" pitchFamily="34" charset="-122"/>
                  </a:rPr>
                  <a:t>的偏相关系数，记为</a:t>
                </a:r>
                <a14:m>
                  <m:oMath xmlns:m="http://schemas.openxmlformats.org/officeDocument/2006/math">
                    <m:sSub>
                      <m:sSubPr>
                        <m:ctrlPr>
                          <a:rPr lang="en-US" altLang="zh-CN" sz="1050" i="1">
                            <a:latin typeface="Cambria Math" panose="02040503050406030204" pitchFamily="18" charset="0"/>
                          </a:rPr>
                        </m:ctrlPr>
                      </m:sSubPr>
                      <m:e>
                        <m:r>
                          <m:rPr>
                            <m:sty m:val="p"/>
                          </m:rPr>
                          <a:rPr lang="en-US" altLang="zh-CN" sz="1050" i="1">
                            <a:latin typeface="Cambria Math" panose="02040503050406030204" pitchFamily="18" charset="0"/>
                          </a:rPr>
                          <m:t>r</m:t>
                        </m:r>
                      </m:e>
                      <m:sub>
                        <m:r>
                          <m:rPr>
                            <m:sty m:val="p"/>
                          </m:rPr>
                          <a:rPr lang="en-US" altLang="zh-CN" sz="1050" i="1">
                            <a:latin typeface="Cambria Math" panose="02040503050406030204" pitchFamily="18" charset="0"/>
                          </a:rPr>
                          <m:t>xyz</m:t>
                        </m:r>
                      </m:sub>
                    </m:sSub>
                  </m:oMath>
                </a14:m>
                <a:endParaRPr lang="en-US" altLang="zh-CN" sz="105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endParaRPr>
              </a:p>
              <a:p>
                <a:pPr>
                  <a:lnSpc>
                    <a:spcPct val="150000"/>
                  </a:lnSpc>
                  <a:defRPr/>
                </a:pPr>
                <a:endParaRPr lang="en-US" altLang="zh-CN" sz="1050" dirty="0">
                  <a:solidFill>
                    <a:schemeClr val="bg2">
                      <a:lumMod val="25000"/>
                    </a:schemeClr>
                  </a:solidFill>
                  <a:latin typeface="微软雅黑" panose="020B0503020204020204" pitchFamily="34" charset="-122"/>
                  <a:ea typeface="微软雅黑" panose="020B0503020204020204" pitchFamily="34" charset="-122"/>
                  <a:cs typeface="Arial" panose="020B0604020202020204" pitchFamily="34" charset="0"/>
                </a:endParaRPr>
              </a:p>
              <a:p>
                <a:pPr marL="214313" indent="-214313">
                  <a:lnSpc>
                    <a:spcPct val="150000"/>
                  </a:lnSpc>
                  <a:buFont typeface="Wingdings" panose="05000000000000000000" pitchFamily="2" charset="2"/>
                  <a:buChar char="Ø"/>
                  <a:defRPr/>
                </a:pPr>
                <a:r>
                  <a:rPr lang="zh-CN" altLang="zh-CN" sz="1050" dirty="0">
                    <a:latin typeface="微软雅黑" panose="020B0503020204020204" pitchFamily="34" charset="-122"/>
                    <a:ea typeface="微软雅黑" panose="020B0503020204020204" pitchFamily="34" charset="-122"/>
                  </a:rPr>
                  <a:t>偏相关系数是由简单相关系数决定的，但是在计算偏相关系数时要考虑其他自变量对指定变量的影响。</a:t>
                </a:r>
              </a:p>
              <a:p>
                <a:pPr marL="214313" indent="-214313" fontAlgn="auto">
                  <a:lnSpc>
                    <a:spcPts val="1350"/>
                  </a:lnSpc>
                  <a:spcBef>
                    <a:spcPts val="0"/>
                  </a:spcBef>
                  <a:spcAft>
                    <a:spcPts val="0"/>
                  </a:spcAft>
                  <a:buFont typeface="Wingdings" panose="05000000000000000000" pitchFamily="2" charset="2"/>
                  <a:buChar char="Ø"/>
                  <a:defRPr/>
                </a:pPr>
                <a:endParaRPr lang="en-US" altLang="zh-CN" sz="1200" dirty="0">
                  <a:solidFill>
                    <a:schemeClr val="bg2">
                      <a:lumMod val="25000"/>
                    </a:schemeClr>
                  </a:solidFill>
                  <a:latin typeface="+mn-lt"/>
                  <a:ea typeface="+mn-ea"/>
                  <a:cs typeface="Arial" panose="020B0604020202020204" pitchFamily="34" charset="0"/>
                </a:endParaRPr>
              </a:p>
            </p:txBody>
          </p:sp>
        </mc:Choice>
        <mc:Fallback xmlns="">
          <p:sp>
            <p:nvSpPr>
              <p:cNvPr id="47" name="矩形 46"/>
              <p:cNvSpPr>
                <a:spLocks noRot="1" noChangeAspect="1" noMove="1" noResize="1" noEditPoints="1" noAdjustHandles="1" noChangeArrowheads="1" noChangeShapeType="1" noTextEdit="1"/>
              </p:cNvSpPr>
              <p:nvPr/>
            </p:nvSpPr>
            <p:spPr>
              <a:xfrm>
                <a:off x="6015760" y="2676512"/>
                <a:ext cx="2658713" cy="2233112"/>
              </a:xfrm>
              <a:prstGeom prst="rect">
                <a:avLst/>
              </a:prstGeom>
              <a:blipFill>
                <a:blip r:embed="rId2"/>
                <a:stretch>
                  <a:fillRect r="-68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235111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A708F340-13A0-4E51-9894-78F56534B768}"/>
              </a:ext>
            </a:extLst>
          </p:cNvPr>
          <p:cNvSpPr>
            <a:spLocks noGrp="1" noChangeArrowheads="1"/>
          </p:cNvSpPr>
          <p:nvPr>
            <p:ph type="title"/>
          </p:nvPr>
        </p:nvSpPr>
        <p:spPr>
          <a:xfrm>
            <a:off x="171956" y="53975"/>
            <a:ext cx="8229600" cy="1143000"/>
          </a:xfrm>
        </p:spPr>
        <p:txBody>
          <a:bodyPr/>
          <a:lstStyle/>
          <a:p>
            <a:pPr eaLnBrk="1" hangingPunct="1"/>
            <a:r>
              <a:rPr lang="en-US" altLang="zh-CN" dirty="0">
                <a:latin typeface="黑体" panose="02010609060101010101" pitchFamily="49" charset="-122"/>
                <a:ea typeface="黑体" panose="02010609060101010101" pitchFamily="49" charset="-122"/>
              </a:rPr>
              <a:t>3.5</a:t>
            </a:r>
            <a:r>
              <a:rPr lang="zh-CN" altLang="en-US" dirty="0">
                <a:latin typeface="黑体" panose="02010609060101010101" pitchFamily="49" charset="-122"/>
                <a:ea typeface="黑体" panose="02010609060101010101" pitchFamily="49" charset="-122"/>
              </a:rPr>
              <a:t>空间统计分析的概念</a:t>
            </a:r>
          </a:p>
        </p:txBody>
      </p:sp>
      <p:sp>
        <p:nvSpPr>
          <p:cNvPr id="232451" name="Rectangle 3">
            <a:extLst>
              <a:ext uri="{FF2B5EF4-FFF2-40B4-BE49-F238E27FC236}">
                <a16:creationId xmlns:a16="http://schemas.microsoft.com/office/drawing/2014/main" id="{7618ABF7-5BAA-42B0-8C0F-95B8DC90C222}"/>
              </a:ext>
            </a:extLst>
          </p:cNvPr>
          <p:cNvSpPr>
            <a:spLocks noGrp="1" noChangeArrowheads="1"/>
          </p:cNvSpPr>
          <p:nvPr>
            <p:ph idx="1"/>
          </p:nvPr>
        </p:nvSpPr>
        <p:spPr>
          <a:xfrm>
            <a:off x="457200" y="1196975"/>
            <a:ext cx="8507413" cy="5184775"/>
          </a:xfrm>
        </p:spPr>
        <p:txBody>
          <a:bodyPr rtlCol="0">
            <a:normAutofit lnSpcReduction="10000"/>
          </a:bodyPr>
          <a:lstStyle/>
          <a:p>
            <a:pPr eaLnBrk="1" fontAlgn="auto" hangingPunct="1">
              <a:lnSpc>
                <a:spcPct val="90000"/>
              </a:lnSpc>
              <a:spcAft>
                <a:spcPts val="0"/>
              </a:spcAft>
              <a:defRPr/>
            </a:pPr>
            <a:r>
              <a:rPr lang="zh-CN" altLang="en-US" dirty="0">
                <a:latin typeface="黑体" panose="02010609060101010101" pitchFamily="49" charset="-122"/>
                <a:ea typeface="黑体" panose="02010609060101010101" pitchFamily="49" charset="-122"/>
              </a:rPr>
              <a:t>空间统计学是</a:t>
            </a:r>
            <a:r>
              <a:rPr lang="en-US" altLang="zh-CN" dirty="0">
                <a:latin typeface="黑体" panose="02010609060101010101" pitchFamily="49" charset="-122"/>
                <a:ea typeface="黑体" panose="02010609060101010101" pitchFamily="49" charset="-122"/>
              </a:rPr>
              <a:t>20</a:t>
            </a:r>
            <a:r>
              <a:rPr lang="zh-CN" altLang="en-US" dirty="0">
                <a:latin typeface="黑体" panose="02010609060101010101" pitchFamily="49" charset="-122"/>
                <a:ea typeface="黑体" panose="02010609060101010101" pitchFamily="49" charset="-122"/>
              </a:rPr>
              <a:t>世纪</a:t>
            </a:r>
            <a:r>
              <a:rPr lang="en-US" altLang="zh-CN" dirty="0">
                <a:latin typeface="黑体" panose="02010609060101010101" pitchFamily="49" charset="-122"/>
                <a:ea typeface="黑体" panose="02010609060101010101" pitchFamily="49" charset="-122"/>
              </a:rPr>
              <a:t>60</a:t>
            </a:r>
            <a:r>
              <a:rPr lang="zh-CN" altLang="en-US" dirty="0">
                <a:latin typeface="黑体" panose="02010609060101010101" pitchFamily="49" charset="-122"/>
                <a:ea typeface="黑体" panose="02010609060101010101" pitchFamily="49" charset="-122"/>
              </a:rPr>
              <a:t>年代法国统计学家</a:t>
            </a:r>
            <a:r>
              <a:rPr lang="en-US" altLang="zh-CN" sz="2000" dirty="0" err="1">
                <a:latin typeface="黑体" panose="02010609060101010101" pitchFamily="49" charset="-122"/>
                <a:ea typeface="黑体" panose="02010609060101010101" pitchFamily="49" charset="-122"/>
              </a:rPr>
              <a:t>Matheron</a:t>
            </a:r>
            <a:r>
              <a:rPr lang="en-US" altLang="zh-CN" sz="2000" dirty="0">
                <a:latin typeface="黑体" panose="02010609060101010101" pitchFamily="49" charset="-122"/>
                <a:ea typeface="黑体" panose="02010609060101010101" pitchFamily="49" charset="-122"/>
              </a:rPr>
              <a:t> G</a:t>
            </a:r>
            <a:r>
              <a:rPr lang="zh-CN" altLang="en-US" dirty="0">
                <a:latin typeface="黑体" panose="02010609060101010101" pitchFamily="49" charset="-122"/>
                <a:ea typeface="黑体" panose="02010609060101010101" pitchFamily="49" charset="-122"/>
              </a:rPr>
              <a:t>在大量理论研究基础上，形成了一门新的统计学分支，即空间统计学。</a:t>
            </a:r>
          </a:p>
          <a:p>
            <a:pPr eaLnBrk="1" fontAlgn="auto" hangingPunct="1">
              <a:lnSpc>
                <a:spcPct val="90000"/>
              </a:lnSpc>
              <a:spcAft>
                <a:spcPts val="0"/>
              </a:spcAft>
              <a:defRPr/>
            </a:pPr>
            <a:r>
              <a:rPr lang="zh-CN" altLang="en-US" dirty="0">
                <a:latin typeface="黑体" panose="02010609060101010101" pitchFamily="49" charset="-122"/>
                <a:ea typeface="黑体" panose="02010609060101010101" pitchFamily="49" charset="-122"/>
              </a:rPr>
              <a:t>空间统计分析是以</a:t>
            </a:r>
            <a:r>
              <a:rPr lang="zh-CN" altLang="en-US" dirty="0">
                <a:solidFill>
                  <a:srgbClr val="FF0000"/>
                </a:solidFill>
                <a:latin typeface="黑体" panose="02010609060101010101" pitchFamily="49" charset="-122"/>
                <a:ea typeface="黑体" panose="02010609060101010101" pitchFamily="49" charset="-122"/>
              </a:rPr>
              <a:t>区域化变量理论</a:t>
            </a:r>
            <a:r>
              <a:rPr lang="zh-CN" altLang="en-US" dirty="0">
                <a:latin typeface="黑体" panose="02010609060101010101" pitchFamily="49" charset="-122"/>
                <a:ea typeface="黑体" panose="02010609060101010101" pitchFamily="49" charset="-122"/>
              </a:rPr>
              <a:t>为基础，以</a:t>
            </a:r>
            <a:r>
              <a:rPr lang="zh-CN" altLang="en-US" dirty="0">
                <a:solidFill>
                  <a:srgbClr val="FF0000"/>
                </a:solidFill>
                <a:latin typeface="黑体" panose="02010609060101010101" pitchFamily="49" charset="-122"/>
                <a:ea typeface="黑体" panose="02010609060101010101" pitchFamily="49" charset="-122"/>
              </a:rPr>
              <a:t>变异函数</a:t>
            </a:r>
            <a:r>
              <a:rPr lang="zh-CN" altLang="en-US" dirty="0">
                <a:latin typeface="黑体" panose="02010609060101010101" pitchFamily="49" charset="-122"/>
                <a:ea typeface="黑体" panose="02010609060101010101" pitchFamily="49" charset="-122"/>
              </a:rPr>
              <a:t>为主要工具，研究具有</a:t>
            </a:r>
            <a:r>
              <a:rPr lang="zh-CN" altLang="en-US" dirty="0">
                <a:solidFill>
                  <a:srgbClr val="FF0000"/>
                </a:solidFill>
                <a:latin typeface="黑体" panose="02010609060101010101" pitchFamily="49" charset="-122"/>
                <a:ea typeface="黑体" panose="02010609060101010101" pitchFamily="49" charset="-122"/>
              </a:rPr>
              <a:t>地理空间信息特性的事物或现象的空间相互作用及变化规律的</a:t>
            </a:r>
            <a:r>
              <a:rPr lang="zh-CN" altLang="en-US" dirty="0">
                <a:latin typeface="黑体" panose="02010609060101010101" pitchFamily="49" charset="-122"/>
                <a:ea typeface="黑体" panose="02010609060101010101" pitchFamily="49" charset="-122"/>
              </a:rPr>
              <a:t>学科。</a:t>
            </a:r>
          </a:p>
          <a:p>
            <a:pPr eaLnBrk="1" fontAlgn="auto" hangingPunct="1">
              <a:lnSpc>
                <a:spcPct val="90000"/>
              </a:lnSpc>
              <a:spcAft>
                <a:spcPts val="0"/>
              </a:spcAft>
              <a:defRPr/>
            </a:pPr>
            <a:r>
              <a:rPr lang="zh-CN" altLang="en-US" dirty="0">
                <a:latin typeface="黑体" panose="02010609060101010101" pitchFamily="49" charset="-122"/>
                <a:ea typeface="黑体" panose="02010609060101010101" pitchFamily="49" charset="-122"/>
              </a:rPr>
              <a:t>空间统计分析方法假设研究区中所有的值都是</a:t>
            </a:r>
            <a:r>
              <a:rPr lang="zh-CN" altLang="en-US" dirty="0">
                <a:solidFill>
                  <a:srgbClr val="FF0000"/>
                </a:solidFill>
                <a:latin typeface="黑体" panose="02010609060101010101" pitchFamily="49" charset="-122"/>
                <a:ea typeface="黑体" panose="02010609060101010101" pitchFamily="49" charset="-122"/>
              </a:rPr>
              <a:t>非独立的，相互之间存在相关性。</a:t>
            </a:r>
          </a:p>
          <a:p>
            <a:pPr eaLnBrk="1" fontAlgn="auto" hangingPunct="1">
              <a:lnSpc>
                <a:spcPct val="90000"/>
              </a:lnSpc>
              <a:spcAft>
                <a:spcPts val="0"/>
              </a:spcAft>
              <a:defRPr/>
            </a:pPr>
            <a:r>
              <a:rPr lang="zh-CN" altLang="en-US" dirty="0">
                <a:latin typeface="黑体" panose="02010609060101010101" pitchFamily="49" charset="-122"/>
                <a:ea typeface="黑体" panose="02010609060101010101" pitchFamily="49" charset="-122"/>
              </a:rPr>
              <a:t>空间统计分析的任务</a:t>
            </a:r>
          </a:p>
          <a:p>
            <a:pPr lvl="1" eaLnBrk="1" fontAlgn="auto" hangingPunct="1">
              <a:lnSpc>
                <a:spcPct val="90000"/>
              </a:lnSpc>
              <a:spcAft>
                <a:spcPts val="0"/>
              </a:spcAft>
              <a:defRPr/>
            </a:pPr>
            <a:r>
              <a:rPr lang="zh-CN" altLang="en-US" dirty="0">
                <a:latin typeface="黑体" panose="02010609060101010101" pitchFamily="49" charset="-122"/>
                <a:ea typeface="黑体" panose="02010609060101010101" pitchFamily="49" charset="-122"/>
                <a:sym typeface="Wingdings 2" pitchFamily="18" charset="2"/>
              </a:rPr>
              <a:t>揭示空间相关性</a:t>
            </a:r>
          </a:p>
          <a:p>
            <a:pPr lvl="1" eaLnBrk="1" fontAlgn="auto" hangingPunct="1">
              <a:lnSpc>
                <a:spcPct val="90000"/>
              </a:lnSpc>
              <a:spcAft>
                <a:spcPts val="0"/>
              </a:spcAft>
              <a:defRPr/>
            </a:pPr>
            <a:r>
              <a:rPr lang="zh-CN" altLang="en-US" dirty="0">
                <a:latin typeface="黑体" panose="02010609060101010101" pitchFamily="49" charset="-122"/>
                <a:ea typeface="黑体" panose="02010609060101010101" pitchFamily="49" charset="-122"/>
                <a:sym typeface="Wingdings 2" pitchFamily="18" charset="2"/>
              </a:rPr>
              <a:t>利用相关规律进行未知点预测</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4C724F32-CF81-48E9-B090-31FDB030EFB1}"/>
              </a:ext>
            </a:extLst>
          </p:cNvPr>
          <p:cNvSpPr>
            <a:spLocks noGrp="1" noChangeArrowheads="1"/>
          </p:cNvSpPr>
          <p:nvPr>
            <p:ph type="title"/>
          </p:nvPr>
        </p:nvSpPr>
        <p:spPr/>
        <p:txBody>
          <a:bodyPr/>
          <a:lstStyle/>
          <a:p>
            <a:pPr eaLnBrk="1" hangingPunct="1"/>
            <a:r>
              <a:rPr lang="en-US" altLang="zh-CN" dirty="0">
                <a:latin typeface="黑体" panose="02010609060101010101" pitchFamily="49" charset="-122"/>
                <a:ea typeface="黑体" panose="02010609060101010101" pitchFamily="49" charset="-122"/>
              </a:rPr>
              <a:t>3.5</a:t>
            </a:r>
            <a:r>
              <a:rPr lang="zh-CN" altLang="en-US" dirty="0">
                <a:latin typeface="黑体" panose="02010609060101010101" pitchFamily="49" charset="-122"/>
                <a:ea typeface="黑体" panose="02010609060101010101" pitchFamily="49" charset="-122"/>
              </a:rPr>
              <a:t>空间统计分析的概念</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续</a:t>
            </a:r>
            <a:r>
              <a:rPr lang="en-US" altLang="zh-CN" dirty="0">
                <a:latin typeface="黑体" panose="02010609060101010101" pitchFamily="49" charset="-122"/>
                <a:ea typeface="黑体" panose="02010609060101010101" pitchFamily="49" charset="-122"/>
              </a:rPr>
              <a:t>)</a:t>
            </a:r>
          </a:p>
        </p:txBody>
      </p:sp>
      <p:sp>
        <p:nvSpPr>
          <p:cNvPr id="233475" name="Rectangle 3">
            <a:extLst>
              <a:ext uri="{FF2B5EF4-FFF2-40B4-BE49-F238E27FC236}">
                <a16:creationId xmlns:a16="http://schemas.microsoft.com/office/drawing/2014/main" id="{0DF43B90-7FDD-410E-BECC-FD8669B37A9C}"/>
              </a:ext>
            </a:extLst>
          </p:cNvPr>
          <p:cNvSpPr>
            <a:spLocks noGrp="1" noChangeArrowheads="1"/>
          </p:cNvSpPr>
          <p:nvPr>
            <p:ph idx="1"/>
          </p:nvPr>
        </p:nvSpPr>
        <p:spPr/>
        <p:txBody>
          <a:bodyPr rtlCol="0">
            <a:normAutofit lnSpcReduction="10000"/>
          </a:bodyPr>
          <a:lstStyle/>
          <a:p>
            <a:pPr eaLnBrk="1" fontAlgn="auto" hangingPunct="1">
              <a:spcAft>
                <a:spcPts val="0"/>
              </a:spcAft>
              <a:defRPr/>
            </a:pPr>
            <a:r>
              <a:rPr lang="zh-CN" altLang="en-US" sz="2400" dirty="0"/>
              <a:t>区域化：</a:t>
            </a:r>
            <a:r>
              <a:rPr lang="zh-CN" altLang="en-US" sz="2400" dirty="0">
                <a:solidFill>
                  <a:srgbClr val="FF0000"/>
                </a:solidFill>
              </a:rPr>
              <a:t>当一个变量呈空间分布时，称为区域化</a:t>
            </a:r>
          </a:p>
          <a:p>
            <a:pPr eaLnBrk="1" fontAlgn="auto" hangingPunct="1">
              <a:spcAft>
                <a:spcPts val="0"/>
              </a:spcAft>
              <a:defRPr/>
            </a:pPr>
            <a:r>
              <a:rPr lang="zh-CN" altLang="en-US" sz="2400" dirty="0"/>
              <a:t>区域化变量：是指以空是点</a:t>
            </a:r>
            <a:r>
              <a:rPr lang="en-US" altLang="zh-CN" sz="2400" dirty="0"/>
              <a:t>x</a:t>
            </a:r>
            <a:r>
              <a:rPr lang="zh-CN" altLang="en-US" sz="2400" dirty="0"/>
              <a:t>的三个直角</a:t>
            </a:r>
            <a:r>
              <a:rPr lang="en-US" altLang="zh-CN" sz="2400" dirty="0"/>
              <a:t>(</a:t>
            </a:r>
            <a:r>
              <a:rPr lang="en-US" altLang="zh-CN" sz="2400" dirty="0" err="1"/>
              <a:t>x</a:t>
            </a:r>
            <a:r>
              <a:rPr lang="en-US" altLang="zh-CN" sz="2400" baseline="-25000" dirty="0" err="1"/>
              <a:t>u</a:t>
            </a:r>
            <a:r>
              <a:rPr lang="en-US" altLang="zh-CN" sz="2400" dirty="0" err="1"/>
              <a:t>,x</a:t>
            </a:r>
            <a:r>
              <a:rPr lang="en-US" altLang="zh-CN" sz="2400" baseline="-25000" dirty="0" err="1"/>
              <a:t>v</a:t>
            </a:r>
            <a:r>
              <a:rPr lang="en-US" altLang="zh-CN" sz="2400" dirty="0" err="1"/>
              <a:t>,x</a:t>
            </a:r>
            <a:r>
              <a:rPr lang="en-US" altLang="zh-CN" sz="2400" baseline="-25000" dirty="0" err="1"/>
              <a:t>w</a:t>
            </a:r>
            <a:r>
              <a:rPr lang="en-US" altLang="zh-CN" sz="2400" dirty="0"/>
              <a:t>)</a:t>
            </a:r>
            <a:r>
              <a:rPr lang="zh-CN" altLang="en-US" sz="2400" dirty="0"/>
              <a:t>为自变量的随机场</a:t>
            </a:r>
            <a:r>
              <a:rPr lang="en-US" altLang="zh-CN" sz="2400" dirty="0"/>
              <a:t>z(</a:t>
            </a:r>
            <a:r>
              <a:rPr lang="en-US" altLang="zh-CN" sz="2400" dirty="0" err="1"/>
              <a:t>x</a:t>
            </a:r>
            <a:r>
              <a:rPr lang="en-US" altLang="zh-CN" sz="2400" baseline="-25000" dirty="0" err="1"/>
              <a:t>u</a:t>
            </a:r>
            <a:r>
              <a:rPr lang="en-US" altLang="zh-CN" sz="2400" dirty="0" err="1"/>
              <a:t>,x</a:t>
            </a:r>
            <a:r>
              <a:rPr lang="en-US" altLang="zh-CN" sz="2400" baseline="-25000" dirty="0" err="1"/>
              <a:t>v</a:t>
            </a:r>
            <a:r>
              <a:rPr lang="en-US" altLang="zh-CN" sz="2400" dirty="0" err="1"/>
              <a:t>,x</a:t>
            </a:r>
            <a:r>
              <a:rPr lang="en-US" altLang="zh-CN" sz="2400" baseline="-25000" dirty="0" err="1"/>
              <a:t>w</a:t>
            </a:r>
            <a:r>
              <a:rPr lang="en-US" altLang="zh-CN" sz="2400" dirty="0"/>
              <a:t>)=z(x)</a:t>
            </a:r>
            <a:r>
              <a:rPr lang="zh-CN" altLang="en-US" sz="2400" dirty="0"/>
              <a:t>，常常反映某种空间现象的特征。</a:t>
            </a:r>
          </a:p>
          <a:p>
            <a:pPr eaLnBrk="1" fontAlgn="auto" hangingPunct="1">
              <a:spcAft>
                <a:spcPts val="0"/>
              </a:spcAft>
              <a:defRPr/>
            </a:pPr>
            <a:r>
              <a:rPr lang="zh-CN" altLang="en-US" sz="2400" dirty="0"/>
              <a:t>区域变量具二重性：</a:t>
            </a:r>
            <a:r>
              <a:rPr lang="zh-CN" altLang="en-US" sz="2400" dirty="0">
                <a:solidFill>
                  <a:srgbClr val="FF0000"/>
                </a:solidFill>
              </a:rPr>
              <a:t>测量前是随机的，测量后是具体的。</a:t>
            </a:r>
          </a:p>
          <a:p>
            <a:pPr eaLnBrk="1" fontAlgn="auto" hangingPunct="1">
              <a:spcAft>
                <a:spcPts val="0"/>
              </a:spcAft>
              <a:defRPr/>
            </a:pPr>
            <a:r>
              <a:rPr lang="zh-CN" altLang="en-US" sz="2400" dirty="0"/>
              <a:t>区域化变量具有</a:t>
            </a:r>
          </a:p>
          <a:p>
            <a:pPr lvl="1" eaLnBrk="1" fontAlgn="auto" hangingPunct="1">
              <a:spcAft>
                <a:spcPts val="0"/>
              </a:spcAft>
              <a:defRPr/>
            </a:pPr>
            <a:r>
              <a:rPr lang="zh-CN" altLang="en-US" sz="2400" dirty="0">
                <a:solidFill>
                  <a:srgbClr val="FF0000"/>
                </a:solidFill>
              </a:rPr>
              <a:t>空间的局限性</a:t>
            </a:r>
          </a:p>
          <a:p>
            <a:pPr lvl="1" eaLnBrk="1" fontAlgn="auto" hangingPunct="1">
              <a:spcAft>
                <a:spcPts val="0"/>
              </a:spcAft>
              <a:defRPr/>
            </a:pPr>
            <a:r>
              <a:rPr lang="zh-CN" altLang="en-US" sz="2400" dirty="0">
                <a:solidFill>
                  <a:srgbClr val="FF0000"/>
                </a:solidFill>
              </a:rPr>
              <a:t>不同程度的连续性</a:t>
            </a:r>
          </a:p>
          <a:p>
            <a:pPr lvl="1" eaLnBrk="1" fontAlgn="auto" hangingPunct="1">
              <a:spcAft>
                <a:spcPts val="0"/>
              </a:spcAft>
              <a:defRPr/>
            </a:pPr>
            <a:r>
              <a:rPr lang="zh-CN" altLang="en-US" sz="2400" dirty="0">
                <a:solidFill>
                  <a:srgbClr val="FF0000"/>
                </a:solidFill>
              </a:rPr>
              <a:t>不同类型的各向异性</a:t>
            </a:r>
          </a:p>
          <a:p>
            <a:pPr lvl="1" eaLnBrk="1" fontAlgn="auto" hangingPunct="1">
              <a:spcAft>
                <a:spcPts val="0"/>
              </a:spcAft>
              <a:defRPr/>
            </a:pPr>
            <a:r>
              <a:rPr lang="zh-CN" altLang="en-US" sz="2400" dirty="0">
                <a:solidFill>
                  <a:srgbClr val="FF0000"/>
                </a:solidFill>
              </a:rPr>
              <a:t>一定范围内呈一定程度的空间相关性</a:t>
            </a:r>
          </a:p>
          <a:p>
            <a:pPr lvl="1" eaLnBrk="1" fontAlgn="auto" hangingPunct="1">
              <a:spcAft>
                <a:spcPts val="0"/>
              </a:spcAft>
              <a:defRPr/>
            </a:pPr>
            <a:r>
              <a:rPr lang="zh-CN" altLang="en-US" sz="2400" dirty="0">
                <a:solidFill>
                  <a:srgbClr val="FF0000"/>
                </a:solidFill>
              </a:rPr>
              <a:t>对任一区域化变量而言，特殊的变异性可以叠加在一般的规律之上。</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a:extLst>
              <a:ext uri="{FF2B5EF4-FFF2-40B4-BE49-F238E27FC236}">
                <a16:creationId xmlns:a16="http://schemas.microsoft.com/office/drawing/2014/main" id="{88FBA140-4CDF-436B-BC41-22F5CEA43610}"/>
              </a:ext>
            </a:extLst>
          </p:cNvPr>
          <p:cNvSpPr>
            <a:spLocks noGrp="1" noChangeArrowheads="1"/>
          </p:cNvSpPr>
          <p:nvPr>
            <p:ph type="title"/>
          </p:nvPr>
        </p:nvSpPr>
        <p:spPr>
          <a:xfrm>
            <a:off x="395288" y="333375"/>
            <a:ext cx="7772400" cy="720725"/>
          </a:xfrm>
        </p:spPr>
        <p:txBody>
          <a:bodyPr rtlCol="0">
            <a:normAutofit fontScale="90000"/>
          </a:bodyPr>
          <a:lstStyle/>
          <a:p>
            <a:pPr eaLnBrk="1" fontAlgn="auto" hangingPunct="1">
              <a:spcAft>
                <a:spcPts val="0"/>
              </a:spcAft>
              <a:defRPr/>
            </a:pPr>
            <a:r>
              <a:rPr lang="en-US" altLang="zh-CN" dirty="0"/>
              <a:t>3.5 </a:t>
            </a:r>
            <a:r>
              <a:rPr lang="zh-CN" altLang="en-US" dirty="0"/>
              <a:t>空间统计分析的概念</a:t>
            </a:r>
            <a:endParaRPr lang="en-US" altLang="zh-CN" dirty="0"/>
          </a:p>
        </p:txBody>
      </p:sp>
      <p:sp>
        <p:nvSpPr>
          <p:cNvPr id="53251" name="Rectangle 2">
            <a:extLst>
              <a:ext uri="{FF2B5EF4-FFF2-40B4-BE49-F238E27FC236}">
                <a16:creationId xmlns:a16="http://schemas.microsoft.com/office/drawing/2014/main" id="{66A70636-3EB1-43B4-A510-1C98228012B8}"/>
              </a:ext>
            </a:extLst>
          </p:cNvPr>
          <p:cNvSpPr>
            <a:spLocks noGrp="1" noChangeArrowheads="1"/>
          </p:cNvSpPr>
          <p:nvPr>
            <p:ph idx="1"/>
          </p:nvPr>
        </p:nvSpPr>
        <p:spPr/>
        <p:txBody>
          <a:bodyPr/>
          <a:lstStyle/>
          <a:p>
            <a:pPr eaLnBrk="1" hangingPunct="1">
              <a:buFont typeface="Wingdings" panose="05000000000000000000" pitchFamily="2" charset="2"/>
              <a:buChar char="p"/>
            </a:pPr>
            <a:r>
              <a:rPr lang="zh-CN" altLang="en-US">
                <a:solidFill>
                  <a:srgbClr val="000000"/>
                </a:solidFill>
                <a:latin typeface="宋体" panose="02010600030101010101" pitchFamily="2" charset="-122"/>
              </a:rPr>
              <a:t>空间统计分析</a:t>
            </a:r>
            <a:r>
              <a:rPr lang="en-US" altLang="zh-CN">
                <a:solidFill>
                  <a:srgbClr val="000000"/>
                </a:solidFill>
                <a:latin typeface="宋体" panose="02010600030101010101" pitchFamily="2" charset="-122"/>
              </a:rPr>
              <a:t>,</a:t>
            </a:r>
            <a:r>
              <a:rPr lang="zh-CN" altLang="en-US">
                <a:solidFill>
                  <a:srgbClr val="000000"/>
                </a:solidFill>
                <a:latin typeface="宋体" panose="02010600030101010101" pitchFamily="2" charset="-122"/>
              </a:rPr>
              <a:t>即空间数据（</a:t>
            </a:r>
            <a:r>
              <a:rPr lang="en-US" altLang="zh-CN">
                <a:solidFill>
                  <a:srgbClr val="000000"/>
                </a:solidFill>
              </a:rPr>
              <a:t>Spatial Data</a:t>
            </a:r>
            <a:r>
              <a:rPr lang="zh-CN" altLang="en-US">
                <a:solidFill>
                  <a:srgbClr val="000000"/>
                </a:solidFill>
                <a:latin typeface="宋体" panose="02010600030101010101" pitchFamily="2" charset="-122"/>
              </a:rPr>
              <a:t>）的统计分析，是现代计量地理学中一个快速发展的方向领域。</a:t>
            </a:r>
          </a:p>
          <a:p>
            <a:pPr eaLnBrk="1" hangingPunct="1">
              <a:buFont typeface="Wingdings" panose="05000000000000000000" pitchFamily="2" charset="2"/>
              <a:buChar char="p"/>
            </a:pPr>
            <a:endParaRPr lang="zh-CN" altLang="en-US">
              <a:solidFill>
                <a:srgbClr val="000000"/>
              </a:solidFill>
              <a:latin typeface="宋体" panose="02010600030101010101" pitchFamily="2" charset="-122"/>
            </a:endParaRPr>
          </a:p>
          <a:p>
            <a:pPr eaLnBrk="1" hangingPunct="1">
              <a:buFont typeface="Wingdings" panose="05000000000000000000" pitchFamily="2" charset="2"/>
              <a:buChar char="p"/>
            </a:pPr>
            <a:r>
              <a:rPr lang="zh-CN" altLang="en-US">
                <a:solidFill>
                  <a:srgbClr val="000000"/>
                </a:solidFill>
                <a:latin typeface="宋体" panose="02010600030101010101" pitchFamily="2" charset="-122"/>
              </a:rPr>
              <a:t>空间统计分析，其核心就是</a:t>
            </a:r>
            <a:r>
              <a:rPr lang="zh-CN" altLang="en-US">
                <a:solidFill>
                  <a:srgbClr val="FF0000"/>
                </a:solidFill>
                <a:latin typeface="宋体" panose="02010600030101010101" pitchFamily="2" charset="-122"/>
              </a:rPr>
              <a:t>认识与地理位置相关的数据间的空间依赖、空间关联或空间自相关，通过空间位置建立数据间的统计关系</a:t>
            </a:r>
            <a:r>
              <a:rPr lang="zh-CN" altLang="en-US">
                <a:solidFill>
                  <a:srgbClr val="000000"/>
                </a:solidFill>
                <a:latin typeface="宋体" panose="02010600030101010101" pitchFamily="2" charset="-122"/>
              </a:rPr>
              <a:t>。</a:t>
            </a:r>
            <a:r>
              <a:rPr lang="zh-CN" altLang="en-US"/>
              <a:t> </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4C5B1C44-DF34-479C-829C-0B3CF0E617E0}"/>
              </a:ext>
            </a:extLst>
          </p:cNvPr>
          <p:cNvSpPr>
            <a:spLocks noGrp="1" noChangeArrowheads="1"/>
          </p:cNvSpPr>
          <p:nvPr>
            <p:ph type="title"/>
          </p:nvPr>
        </p:nvSpPr>
        <p:spPr>
          <a:xfrm>
            <a:off x="323528" y="6540"/>
            <a:ext cx="8229600" cy="1143000"/>
          </a:xfrm>
        </p:spPr>
        <p:txBody>
          <a:bodyPr/>
          <a:lstStyle/>
          <a:p>
            <a:pPr eaLnBrk="1" hangingPunct="1"/>
            <a:r>
              <a:rPr lang="en-US" altLang="zh-CN" dirty="0"/>
              <a:t>3.5.1 </a:t>
            </a:r>
            <a:r>
              <a:rPr lang="zh-CN" altLang="en-US" dirty="0"/>
              <a:t>空间自相关性</a:t>
            </a:r>
          </a:p>
        </p:txBody>
      </p:sp>
      <p:sp>
        <p:nvSpPr>
          <p:cNvPr id="237571" name="Rectangle 3">
            <a:extLst>
              <a:ext uri="{FF2B5EF4-FFF2-40B4-BE49-F238E27FC236}">
                <a16:creationId xmlns:a16="http://schemas.microsoft.com/office/drawing/2014/main" id="{C71B88B2-6B06-4A13-9302-A954F6721A88}"/>
              </a:ext>
            </a:extLst>
          </p:cNvPr>
          <p:cNvSpPr>
            <a:spLocks noGrp="1" noChangeArrowheads="1"/>
          </p:cNvSpPr>
          <p:nvPr>
            <p:ph idx="1"/>
          </p:nvPr>
        </p:nvSpPr>
        <p:spPr>
          <a:xfrm>
            <a:off x="457200" y="1052736"/>
            <a:ext cx="8229600" cy="5073427"/>
          </a:xfrm>
        </p:spPr>
        <p:txBody>
          <a:bodyPr rtlCol="0">
            <a:normAutofit/>
          </a:bodyPr>
          <a:lstStyle/>
          <a:p>
            <a:pPr eaLnBrk="1" fontAlgn="auto" hangingPunct="1">
              <a:lnSpc>
                <a:spcPct val="90000"/>
              </a:lnSpc>
              <a:spcAft>
                <a:spcPts val="0"/>
              </a:spcAft>
              <a:defRPr/>
            </a:pPr>
            <a:endParaRPr lang="en-US" altLang="zh-CN" sz="2400" dirty="0">
              <a:latin typeface="黑体" panose="02010609060101010101" pitchFamily="49" charset="-122"/>
              <a:ea typeface="黑体" panose="02010609060101010101" pitchFamily="49" charset="-122"/>
            </a:endParaRPr>
          </a:p>
          <a:p>
            <a:pPr eaLnBrk="1" fontAlgn="auto" hangingPunct="1">
              <a:lnSpc>
                <a:spcPct val="90000"/>
              </a:lnSpc>
              <a:spcAft>
                <a:spcPts val="0"/>
              </a:spcAft>
              <a:defRPr/>
            </a:pPr>
            <a:r>
              <a:rPr lang="zh-CN" altLang="en-US" sz="2400" dirty="0">
                <a:latin typeface="黑体" panose="02010609060101010101" pitchFamily="49" charset="-122"/>
                <a:ea typeface="黑体" panose="02010609060101010101" pitchFamily="49" charset="-122"/>
              </a:rPr>
              <a:t>空间自相关：通过相关分析可以检测两种现象</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统计量</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的变化是否存在相关性，</a:t>
            </a:r>
            <a:r>
              <a:rPr lang="zh-CN" altLang="en-US" sz="2400" dirty="0">
                <a:solidFill>
                  <a:srgbClr val="FF0000"/>
                </a:solidFill>
                <a:latin typeface="黑体" panose="02010609060101010101" pitchFamily="49" charset="-122"/>
                <a:ea typeface="黑体" panose="02010609060101010101" pitchFamily="49" charset="-122"/>
              </a:rPr>
              <a:t>若所分析的统计量为不同观察对象的同一属性变量，则称之为自相关。</a:t>
            </a:r>
          </a:p>
          <a:p>
            <a:pPr eaLnBrk="1" fontAlgn="auto" hangingPunct="1">
              <a:lnSpc>
                <a:spcPct val="90000"/>
              </a:lnSpc>
              <a:spcAft>
                <a:spcPts val="0"/>
              </a:spcAft>
              <a:defRPr/>
            </a:pPr>
            <a:r>
              <a:rPr lang="zh-CN" altLang="en-US" sz="2400" dirty="0">
                <a:latin typeface="黑体" panose="02010609060101010101" pitchFamily="49" charset="-122"/>
                <a:ea typeface="黑体" panose="02010609060101010101" pitchFamily="49" charset="-122"/>
              </a:rPr>
              <a:t>空间自相关反映的是</a:t>
            </a:r>
            <a:r>
              <a:rPr lang="zh-CN" altLang="en-US" sz="2400" dirty="0">
                <a:solidFill>
                  <a:srgbClr val="FF0000"/>
                </a:solidFill>
                <a:latin typeface="黑体" panose="02010609060101010101" pitchFamily="49" charset="-122"/>
                <a:ea typeface="黑体" panose="02010609060101010101" pitchFamily="49" charset="-122"/>
              </a:rPr>
              <a:t>一个区域单元上的某种地理现象或某一属性值</a:t>
            </a:r>
            <a:r>
              <a:rPr lang="zh-CN" altLang="en-US" sz="2400" dirty="0">
                <a:latin typeface="黑体" panose="02010609060101010101" pitchFamily="49" charset="-122"/>
                <a:ea typeface="黑体" panose="02010609060101010101" pitchFamily="49" charset="-122"/>
              </a:rPr>
              <a:t>与</a:t>
            </a:r>
            <a:r>
              <a:rPr lang="zh-CN" altLang="en-US" sz="2400" dirty="0">
                <a:solidFill>
                  <a:schemeClr val="accent2"/>
                </a:solidFill>
                <a:latin typeface="黑体" panose="02010609060101010101" pitchFamily="49" charset="-122"/>
                <a:ea typeface="黑体" panose="02010609060101010101" pitchFamily="49" charset="-122"/>
              </a:rPr>
              <a:t>邻近区域单元上同一现象或属性值的相关程度，</a:t>
            </a:r>
            <a:r>
              <a:rPr lang="zh-CN" altLang="en-US" sz="2400" dirty="0">
                <a:latin typeface="黑体" panose="02010609060101010101" pitchFamily="49" charset="-122"/>
                <a:ea typeface="黑体" panose="02010609060101010101" pitchFamily="49" charset="-122"/>
              </a:rPr>
              <a:t>是一种检测与量化从多个区域单元取样值变异的空间依赖性的空间统计方法。</a:t>
            </a:r>
            <a:endParaRPr lang="en-US" altLang="zh-CN" sz="2400" dirty="0">
              <a:latin typeface="黑体" panose="02010609060101010101" pitchFamily="49" charset="-122"/>
              <a:ea typeface="黑体" panose="02010609060101010101" pitchFamily="49" charset="-122"/>
            </a:endParaRPr>
          </a:p>
          <a:p>
            <a:pPr eaLnBrk="1" fontAlgn="auto" hangingPunct="1">
              <a:lnSpc>
                <a:spcPct val="90000"/>
              </a:lnSpc>
              <a:spcAft>
                <a:spcPts val="0"/>
              </a:spcAft>
              <a:defRPr/>
            </a:pPr>
            <a:endParaRPr lang="zh-CN" altLang="en-US" sz="2400" dirty="0">
              <a:latin typeface="黑体" panose="02010609060101010101" pitchFamily="49" charset="-122"/>
              <a:ea typeface="黑体" panose="02010609060101010101" pitchFamily="49" charset="-122"/>
            </a:endParaRPr>
          </a:p>
          <a:p>
            <a:pPr eaLnBrk="1" fontAlgn="auto" hangingPunct="1">
              <a:lnSpc>
                <a:spcPct val="90000"/>
              </a:lnSpc>
              <a:spcAft>
                <a:spcPts val="0"/>
              </a:spcAft>
              <a:defRPr/>
            </a:pPr>
            <a:r>
              <a:rPr lang="zh-CN" altLang="en-US" sz="2400" dirty="0">
                <a:latin typeface="黑体" panose="02010609060101010101" pitchFamily="49" charset="-122"/>
                <a:ea typeface="黑体" panose="02010609060101010101" pitchFamily="49" charset="-122"/>
              </a:rPr>
              <a:t>根据变异性质可以分为三种类型</a:t>
            </a:r>
          </a:p>
          <a:p>
            <a:pPr lvl="1" eaLnBrk="1" fontAlgn="auto" hangingPunct="1">
              <a:lnSpc>
                <a:spcPct val="90000"/>
              </a:lnSpc>
              <a:spcAft>
                <a:spcPts val="0"/>
              </a:spcAft>
              <a:defRPr/>
            </a:pPr>
            <a:r>
              <a:rPr lang="zh-CN" altLang="en-US" sz="2400" dirty="0">
                <a:latin typeface="黑体" panose="02010609060101010101" pitchFamily="49" charset="-122"/>
                <a:ea typeface="黑体" panose="02010609060101010101" pitchFamily="49" charset="-122"/>
              </a:rPr>
              <a:t>绝对型变异，如花形态，红色或白色</a:t>
            </a:r>
          </a:p>
          <a:p>
            <a:pPr lvl="1" eaLnBrk="1" fontAlgn="auto" hangingPunct="1">
              <a:lnSpc>
                <a:spcPct val="90000"/>
              </a:lnSpc>
              <a:spcAft>
                <a:spcPts val="0"/>
              </a:spcAft>
              <a:defRPr/>
            </a:pPr>
            <a:r>
              <a:rPr lang="zh-CN" altLang="en-US" sz="2400" dirty="0">
                <a:latin typeface="黑体" panose="02010609060101010101" pitchFamily="49" charset="-122"/>
                <a:ea typeface="黑体" panose="02010609060101010101" pitchFamily="49" charset="-122"/>
              </a:rPr>
              <a:t>等级型变异，如植被密度等</a:t>
            </a:r>
          </a:p>
          <a:p>
            <a:pPr lvl="1" eaLnBrk="1" fontAlgn="auto" hangingPunct="1">
              <a:lnSpc>
                <a:spcPct val="90000"/>
              </a:lnSpc>
              <a:spcAft>
                <a:spcPts val="0"/>
              </a:spcAft>
              <a:defRPr/>
            </a:pPr>
            <a:r>
              <a:rPr lang="zh-CN" altLang="en-US" sz="2400" dirty="0">
                <a:latin typeface="黑体" panose="02010609060101010101" pitchFamily="49" charset="-122"/>
                <a:ea typeface="黑体" panose="02010609060101010101" pitchFamily="49" charset="-122"/>
              </a:rPr>
              <a:t>连续型变异，如形态测量</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DA6A6B86-E87A-4B09-A863-194C5B59B37F}"/>
              </a:ext>
            </a:extLst>
          </p:cNvPr>
          <p:cNvSpPr>
            <a:spLocks noGrp="1" noChangeArrowheads="1"/>
          </p:cNvSpPr>
          <p:nvPr>
            <p:ph type="title"/>
          </p:nvPr>
        </p:nvSpPr>
        <p:spPr>
          <a:xfrm>
            <a:off x="395536" y="-35024"/>
            <a:ext cx="8229600" cy="1143000"/>
          </a:xfrm>
        </p:spPr>
        <p:txBody>
          <a:bodyPr/>
          <a:lstStyle/>
          <a:p>
            <a:pPr eaLnBrk="1" hangingPunct="1"/>
            <a:r>
              <a:rPr lang="en-US" altLang="zh-CN" dirty="0"/>
              <a:t>3.5.1 </a:t>
            </a:r>
            <a:r>
              <a:rPr lang="zh-CN" altLang="en-US" dirty="0"/>
              <a:t>空间自相关性</a:t>
            </a:r>
            <a:r>
              <a:rPr lang="en-US" altLang="zh-CN" dirty="0"/>
              <a:t>(</a:t>
            </a:r>
            <a:r>
              <a:rPr lang="zh-CN" altLang="en-US" dirty="0"/>
              <a:t>续</a:t>
            </a:r>
            <a:r>
              <a:rPr lang="en-US" altLang="zh-CN" dirty="0"/>
              <a:t>)</a:t>
            </a:r>
          </a:p>
        </p:txBody>
      </p:sp>
      <p:sp>
        <p:nvSpPr>
          <p:cNvPr id="238595" name="Rectangle 3">
            <a:extLst>
              <a:ext uri="{FF2B5EF4-FFF2-40B4-BE49-F238E27FC236}">
                <a16:creationId xmlns:a16="http://schemas.microsoft.com/office/drawing/2014/main" id="{46A7F7CE-6E03-4FFC-8950-A84BB36C1B52}"/>
              </a:ext>
            </a:extLst>
          </p:cNvPr>
          <p:cNvSpPr>
            <a:spLocks noGrp="1" noChangeArrowheads="1"/>
          </p:cNvSpPr>
          <p:nvPr>
            <p:ph idx="1"/>
          </p:nvPr>
        </p:nvSpPr>
        <p:spPr>
          <a:xfrm>
            <a:off x="395536" y="1340768"/>
            <a:ext cx="8229600" cy="4525963"/>
          </a:xfrm>
        </p:spPr>
        <p:txBody>
          <a:bodyPr rtlCol="0">
            <a:normAutofit fontScale="92500" lnSpcReduction="20000"/>
          </a:bodyPr>
          <a:lstStyle/>
          <a:p>
            <a:pPr eaLnBrk="1" fontAlgn="auto" hangingPunct="1">
              <a:spcAft>
                <a:spcPts val="0"/>
              </a:spcAft>
              <a:defRPr/>
            </a:pPr>
            <a:r>
              <a:rPr lang="zh-CN" altLang="en-US" dirty="0">
                <a:latin typeface="黑体" panose="02010609060101010101" pitchFamily="49" charset="-122"/>
                <a:ea typeface="黑体" panose="02010609060101010101" pitchFamily="49" charset="-122"/>
              </a:rPr>
              <a:t>当变量在空间上表现出一定的规律性，</a:t>
            </a:r>
            <a:r>
              <a:rPr lang="zh-CN" altLang="en-US" dirty="0">
                <a:solidFill>
                  <a:srgbClr val="FF0000"/>
                </a:solidFill>
                <a:latin typeface="黑体" panose="02010609060101010101" pitchFamily="49" charset="-122"/>
                <a:ea typeface="黑体" panose="02010609060101010101" pitchFamily="49" charset="-122"/>
              </a:rPr>
              <a:t>即不是随机分布</a:t>
            </a:r>
            <a:r>
              <a:rPr lang="zh-CN" altLang="en-US" dirty="0">
                <a:latin typeface="黑体" panose="02010609060101010101" pitchFamily="49" charset="-122"/>
                <a:ea typeface="黑体" panose="02010609060101010101" pitchFamily="49" charset="-122"/>
              </a:rPr>
              <a:t>则存在着空间自相关。</a:t>
            </a:r>
          </a:p>
          <a:p>
            <a:pPr eaLnBrk="1" fontAlgn="auto" hangingPunct="1">
              <a:spcAft>
                <a:spcPts val="0"/>
              </a:spcAft>
              <a:defRPr/>
            </a:pPr>
            <a:r>
              <a:rPr lang="zh-CN" altLang="en-US" dirty="0">
                <a:solidFill>
                  <a:srgbClr val="FF0000"/>
                </a:solidFill>
                <a:latin typeface="黑体" panose="02010609060101010101" pitchFamily="49" charset="-122"/>
                <a:ea typeface="黑体" panose="02010609060101010101" pitchFamily="49" charset="-122"/>
              </a:rPr>
              <a:t>空间自相关理论</a:t>
            </a:r>
            <a:r>
              <a:rPr lang="zh-CN" altLang="en-US" dirty="0">
                <a:latin typeface="黑体" panose="02010609060101010101" pitchFamily="49" charset="-122"/>
                <a:ea typeface="黑体" panose="02010609060101010101" pitchFamily="49" charset="-122"/>
              </a:rPr>
              <a:t>认为彼此之间距离越近的事物越相像。当某一测样点的属性值高，而其相邻点同一属性值也高，称为正相关；反之称为负相关。</a:t>
            </a:r>
          </a:p>
          <a:p>
            <a:pPr eaLnBrk="1" fontAlgn="auto" hangingPunct="1">
              <a:spcAft>
                <a:spcPts val="0"/>
              </a:spcAft>
              <a:defRPr/>
            </a:pPr>
            <a:r>
              <a:rPr lang="zh-CN" altLang="en-US" dirty="0">
                <a:solidFill>
                  <a:srgbClr val="FF0000"/>
                </a:solidFill>
                <a:latin typeface="黑体" panose="02010609060101010101" pitchFamily="49" charset="-122"/>
                <a:ea typeface="黑体" panose="02010609060101010101" pitchFamily="49" charset="-122"/>
              </a:rPr>
              <a:t>半变异函</a:t>
            </a:r>
            <a:r>
              <a:rPr lang="en-US" altLang="zh-CN" dirty="0">
                <a:solidFill>
                  <a:srgbClr val="FF0000"/>
                </a:solidFill>
                <a:latin typeface="黑体" panose="02010609060101010101" pitchFamily="49" charset="-122"/>
                <a:ea typeface="黑体" panose="02010609060101010101" pitchFamily="49" charset="-122"/>
              </a:rPr>
              <a:t>/</a:t>
            </a:r>
            <a:r>
              <a:rPr lang="zh-CN" altLang="en-US" dirty="0">
                <a:solidFill>
                  <a:srgbClr val="FF0000"/>
                </a:solidFill>
                <a:latin typeface="黑体" panose="02010609060101010101" pitchFamily="49" charset="-122"/>
                <a:ea typeface="黑体" panose="02010609060101010101" pitchFamily="49" charset="-122"/>
              </a:rPr>
              <a:t>协方差函数云图</a:t>
            </a:r>
            <a:r>
              <a:rPr lang="zh-CN" altLang="en-US" dirty="0">
                <a:latin typeface="黑体" panose="02010609060101010101" pitchFamily="49" charset="-122"/>
                <a:ea typeface="黑体" panose="02010609060101010101" pitchFamily="49" charset="-122"/>
              </a:rPr>
              <a:t>能够检测已测样点间的空间自相关。</a:t>
            </a:r>
          </a:p>
          <a:p>
            <a:pPr eaLnBrk="1" fontAlgn="auto" hangingPunct="1">
              <a:spcAft>
                <a:spcPts val="0"/>
              </a:spcAft>
              <a:defRPr/>
            </a:pPr>
            <a:r>
              <a:rPr lang="zh-CN" altLang="en-US" dirty="0">
                <a:latin typeface="黑体" panose="02010609060101010101" pitchFamily="49" charset="-122"/>
                <a:ea typeface="黑体" panose="02010609060101010101" pitchFamily="49" charset="-122"/>
              </a:rPr>
              <a:t>当</a:t>
            </a:r>
            <a:r>
              <a:rPr lang="zh-CN" altLang="en-US" dirty="0">
                <a:solidFill>
                  <a:srgbClr val="FF0000"/>
                </a:solidFill>
                <a:latin typeface="黑体" panose="02010609060101010101" pitchFamily="49" charset="-122"/>
                <a:ea typeface="黑体" panose="02010609060101010101" pitchFamily="49" charset="-122"/>
              </a:rPr>
              <a:t>空间自相关仅与两点间距离有关，称为各向同性</a:t>
            </a:r>
            <a:r>
              <a:rPr lang="zh-CN" altLang="en-US" dirty="0">
                <a:latin typeface="黑体" panose="02010609060101010101" pitchFamily="49" charset="-122"/>
                <a:ea typeface="黑体" panose="02010609060101010101" pitchFamily="49" charset="-122"/>
              </a:rPr>
              <a:t>；当</a:t>
            </a:r>
            <a:r>
              <a:rPr lang="zh-CN" altLang="en-US" dirty="0">
                <a:solidFill>
                  <a:schemeClr val="accent2"/>
                </a:solidFill>
                <a:latin typeface="黑体" panose="02010609060101010101" pitchFamily="49" charset="-122"/>
                <a:ea typeface="黑体" panose="02010609060101010101" pitchFamily="49" charset="-122"/>
              </a:rPr>
              <a:t>考虑方向的影响时，可能在不同方向上属性值与距离的关系不同时，称为各向异性</a:t>
            </a:r>
            <a:r>
              <a:rPr lang="zh-CN" altLang="en-US" dirty="0">
                <a:latin typeface="黑体" panose="02010609060101010101" pitchFamily="49" charset="-122"/>
                <a:ea typeface="黑体" panose="02010609060101010101" pitchFamily="49" charset="-122"/>
              </a:rPr>
              <a:t>。</a:t>
            </a:r>
          </a:p>
          <a:p>
            <a:pPr eaLnBrk="1" fontAlgn="auto" hangingPunct="1">
              <a:spcAft>
                <a:spcPts val="0"/>
              </a:spcAft>
              <a:defRPr/>
            </a:pPr>
            <a:endParaRPr lang="en-US" altLang="zh-CN" dirty="0"/>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7089346D-E54C-4AAB-AE5E-3F852B0D0D71}"/>
              </a:ext>
            </a:extLst>
          </p:cNvPr>
          <p:cNvSpPr>
            <a:spLocks noGrp="1" noChangeArrowheads="1"/>
          </p:cNvSpPr>
          <p:nvPr>
            <p:ph type="title"/>
          </p:nvPr>
        </p:nvSpPr>
        <p:spPr>
          <a:xfrm>
            <a:off x="395288" y="260350"/>
            <a:ext cx="7772400" cy="792163"/>
          </a:xfrm>
        </p:spPr>
        <p:txBody>
          <a:bodyPr/>
          <a:lstStyle/>
          <a:p>
            <a:pPr eaLnBrk="1" hangingPunct="1"/>
            <a:r>
              <a:rPr lang="en-US" altLang="zh-CN" dirty="0"/>
              <a:t>3.5.1 </a:t>
            </a:r>
            <a:r>
              <a:rPr lang="zh-CN" altLang="en-US" dirty="0"/>
              <a:t>空间自相关性</a:t>
            </a:r>
            <a:r>
              <a:rPr lang="en-US" altLang="zh-CN" dirty="0"/>
              <a:t>(</a:t>
            </a:r>
            <a:r>
              <a:rPr lang="zh-CN" altLang="en-US" dirty="0"/>
              <a:t>续</a:t>
            </a:r>
            <a:r>
              <a:rPr lang="en-US" altLang="zh-CN" dirty="0"/>
              <a:t>)</a:t>
            </a:r>
          </a:p>
        </p:txBody>
      </p:sp>
      <p:sp>
        <p:nvSpPr>
          <p:cNvPr id="56323" name="Rectangle 3">
            <a:extLst>
              <a:ext uri="{FF2B5EF4-FFF2-40B4-BE49-F238E27FC236}">
                <a16:creationId xmlns:a16="http://schemas.microsoft.com/office/drawing/2014/main" id="{F9C71D81-B68C-47D4-B84D-94856EEFA233}"/>
              </a:ext>
            </a:extLst>
          </p:cNvPr>
          <p:cNvSpPr>
            <a:spLocks noGrp="1" noChangeArrowheads="1"/>
          </p:cNvSpPr>
          <p:nvPr>
            <p:ph idx="1"/>
          </p:nvPr>
        </p:nvSpPr>
        <p:spPr>
          <a:xfrm>
            <a:off x="1143000" y="1752600"/>
            <a:ext cx="7389813" cy="4419600"/>
          </a:xfrm>
        </p:spPr>
        <p:txBody>
          <a:bodyPr/>
          <a:lstStyle/>
          <a:p>
            <a:pPr eaLnBrk="1" hangingPunct="1"/>
            <a:r>
              <a:rPr lang="en-US" altLang="zh-CN" dirty="0">
                <a:solidFill>
                  <a:srgbClr val="000000"/>
                </a:solidFill>
                <a:latin typeface="宋体" panose="02010600030101010101" pitchFamily="2" charset="-122"/>
              </a:rPr>
              <a:t>1.</a:t>
            </a:r>
            <a:r>
              <a:rPr lang="zh-CN" altLang="en-US" dirty="0">
                <a:solidFill>
                  <a:srgbClr val="000000"/>
                </a:solidFill>
                <a:latin typeface="宋体" panose="02010600030101010101" pitchFamily="2" charset="-122"/>
              </a:rPr>
              <a:t>基本原理与方法</a:t>
            </a:r>
            <a:r>
              <a:rPr lang="zh-CN" altLang="en-US" dirty="0">
                <a:latin typeface="宋体" panose="02010600030101010101" pitchFamily="2" charset="-122"/>
              </a:rPr>
              <a:t> </a:t>
            </a:r>
          </a:p>
          <a:p>
            <a:pPr lvl="1" eaLnBrk="1" hangingPunct="1">
              <a:buFont typeface="Wingdings 2" panose="05020102010507070707" pitchFamily="18" charset="2"/>
              <a:buChar char="¡"/>
            </a:pPr>
            <a:r>
              <a:rPr lang="zh-CN" altLang="en-US" dirty="0">
                <a:solidFill>
                  <a:srgbClr val="000000"/>
                </a:solidFill>
                <a:latin typeface="宋体" panose="02010600030101010101" pitchFamily="2" charset="-122"/>
              </a:rPr>
              <a:t>（</a:t>
            </a:r>
            <a:r>
              <a:rPr lang="en-US" altLang="zh-CN" dirty="0">
                <a:solidFill>
                  <a:srgbClr val="000000"/>
                </a:solidFill>
                <a:latin typeface="宋体" panose="02010600030101010101" pitchFamily="2" charset="-122"/>
              </a:rPr>
              <a:t>1</a:t>
            </a:r>
            <a:r>
              <a:rPr lang="zh-CN" altLang="en-US" dirty="0">
                <a:solidFill>
                  <a:srgbClr val="000000"/>
                </a:solidFill>
                <a:latin typeface="宋体" panose="02010600030101010101" pitchFamily="2" charset="-122"/>
              </a:rPr>
              <a:t>）空间权重矩阵</a:t>
            </a:r>
            <a:r>
              <a:rPr lang="zh-CN" altLang="en-US" dirty="0">
                <a:latin typeface="宋体" panose="02010600030101010101" pitchFamily="2" charset="-122"/>
              </a:rPr>
              <a:t> </a:t>
            </a:r>
          </a:p>
          <a:p>
            <a:pPr lvl="1" eaLnBrk="1" hangingPunct="1">
              <a:buFont typeface="Wingdings 2" panose="05020102010507070707" pitchFamily="18" charset="2"/>
              <a:buChar char="¡"/>
            </a:pPr>
            <a:r>
              <a:rPr lang="zh-CN" altLang="en-US" dirty="0">
                <a:solidFill>
                  <a:srgbClr val="000000"/>
                </a:solidFill>
                <a:latin typeface="宋体" panose="02010600030101010101" pitchFamily="2" charset="-122"/>
              </a:rPr>
              <a:t>（</a:t>
            </a:r>
            <a:r>
              <a:rPr lang="en-US" altLang="zh-CN" dirty="0">
                <a:solidFill>
                  <a:srgbClr val="000000"/>
                </a:solidFill>
                <a:latin typeface="宋体" panose="02010600030101010101" pitchFamily="2" charset="-122"/>
              </a:rPr>
              <a:t>2</a:t>
            </a:r>
            <a:r>
              <a:rPr lang="zh-CN" altLang="en-US" dirty="0">
                <a:solidFill>
                  <a:srgbClr val="000000"/>
                </a:solidFill>
                <a:latin typeface="宋体" panose="02010600030101010101" pitchFamily="2" charset="-122"/>
              </a:rPr>
              <a:t>）全局空间自相关</a:t>
            </a:r>
            <a:r>
              <a:rPr lang="zh-CN" altLang="en-US" dirty="0">
                <a:latin typeface="宋体" panose="02010600030101010101" pitchFamily="2" charset="-122"/>
              </a:rPr>
              <a:t> </a:t>
            </a:r>
          </a:p>
          <a:p>
            <a:pPr lvl="1" eaLnBrk="1" hangingPunct="1">
              <a:buFont typeface="Wingdings 2" panose="05020102010507070707" pitchFamily="18" charset="2"/>
              <a:buChar char="¡"/>
            </a:pPr>
            <a:r>
              <a:rPr lang="zh-CN" altLang="en-US" dirty="0">
                <a:solidFill>
                  <a:srgbClr val="000000"/>
                </a:solidFill>
                <a:latin typeface="宋体" panose="02010600030101010101" pitchFamily="2" charset="-122"/>
              </a:rPr>
              <a:t>（</a:t>
            </a:r>
            <a:r>
              <a:rPr lang="en-US" altLang="zh-CN" dirty="0">
                <a:solidFill>
                  <a:srgbClr val="000000"/>
                </a:solidFill>
                <a:latin typeface="宋体" panose="02010600030101010101" pitchFamily="2" charset="-122"/>
              </a:rPr>
              <a:t>3</a:t>
            </a:r>
            <a:r>
              <a:rPr lang="zh-CN" altLang="en-US" dirty="0">
                <a:solidFill>
                  <a:srgbClr val="000000"/>
                </a:solidFill>
                <a:latin typeface="宋体" panose="02010600030101010101" pitchFamily="2" charset="-122"/>
              </a:rPr>
              <a:t>）局部空间自相关</a:t>
            </a:r>
            <a:endParaRPr lang="zh-CN" altLang="en-US" dirty="0">
              <a:latin typeface="宋体" panose="02010600030101010101" pitchFamily="2" charset="-122"/>
            </a:endParaRPr>
          </a:p>
          <a:p>
            <a:pPr eaLnBrk="1" hangingPunct="1"/>
            <a:r>
              <a:rPr lang="zh-CN" altLang="en-US" dirty="0">
                <a:solidFill>
                  <a:srgbClr val="000000"/>
                </a:solidFill>
                <a:latin typeface="宋体" panose="02010600030101010101" pitchFamily="2" charset="-122"/>
              </a:rPr>
              <a:t>二、应用实例 </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6">
            <a:extLst>
              <a:ext uri="{FF2B5EF4-FFF2-40B4-BE49-F238E27FC236}">
                <a16:creationId xmlns:a16="http://schemas.microsoft.com/office/drawing/2014/main" id="{B039CDD8-2604-42F9-B0E1-6664B78949FA}"/>
              </a:ext>
            </a:extLst>
          </p:cNvPr>
          <p:cNvSpPr>
            <a:spLocks noGrp="1" noChangeArrowheads="1"/>
          </p:cNvSpPr>
          <p:nvPr>
            <p:ph type="title"/>
          </p:nvPr>
        </p:nvSpPr>
        <p:spPr/>
        <p:txBody>
          <a:bodyPr/>
          <a:lstStyle/>
          <a:p>
            <a:pPr eaLnBrk="1" hangingPunct="1"/>
            <a:r>
              <a:rPr kumimoji="1" lang="zh-CN" altLang="en-US"/>
              <a:t>（</a:t>
            </a:r>
            <a:r>
              <a:rPr kumimoji="1" lang="en-US" altLang="zh-CN"/>
              <a:t>1</a:t>
            </a:r>
            <a:r>
              <a:rPr kumimoji="1" lang="zh-CN" altLang="en-US"/>
              <a:t>）空间权重矩阵</a:t>
            </a:r>
          </a:p>
        </p:txBody>
      </p:sp>
      <p:sp>
        <p:nvSpPr>
          <p:cNvPr id="49154" name="Rectangle 2">
            <a:extLst>
              <a:ext uri="{FF2B5EF4-FFF2-40B4-BE49-F238E27FC236}">
                <a16:creationId xmlns:a16="http://schemas.microsoft.com/office/drawing/2014/main" id="{DAA350A9-0BB2-41FD-943C-D74C8C9FE424}"/>
              </a:ext>
            </a:extLst>
          </p:cNvPr>
          <p:cNvSpPr>
            <a:spLocks noGrp="1" noChangeArrowheads="1"/>
          </p:cNvSpPr>
          <p:nvPr>
            <p:ph idx="1"/>
          </p:nvPr>
        </p:nvSpPr>
        <p:spPr>
          <a:xfrm>
            <a:off x="395288" y="1268413"/>
            <a:ext cx="8280400" cy="4897437"/>
          </a:xfrm>
        </p:spPr>
        <p:txBody>
          <a:bodyPr rtlCol="0">
            <a:normAutofit fontScale="92500"/>
          </a:bodyPr>
          <a:lstStyle/>
          <a:p>
            <a:pPr marL="0" indent="0" eaLnBrk="1" fontAlgn="auto" hangingPunct="1">
              <a:spcAft>
                <a:spcPts val="0"/>
              </a:spcAft>
              <a:buSzPct val="150000"/>
              <a:defRPr/>
            </a:pPr>
            <a:r>
              <a:rPr lang="zh-CN" altLang="en-US">
                <a:solidFill>
                  <a:srgbClr val="000000"/>
                </a:solidFill>
                <a:latin typeface="宋体" pitchFamily="2" charset="-122"/>
              </a:rPr>
              <a:t>通常定义一个</a:t>
            </a:r>
            <a:r>
              <a:rPr lang="zh-CN" altLang="en-US">
                <a:solidFill>
                  <a:srgbClr val="FF0000"/>
                </a:solidFill>
                <a:latin typeface="宋体" pitchFamily="2" charset="-122"/>
              </a:rPr>
              <a:t>二元对称空间权重矩阵</a:t>
            </a:r>
            <a:r>
              <a:rPr lang="zh-CN" altLang="en-US">
                <a:solidFill>
                  <a:srgbClr val="000000"/>
                </a:solidFill>
                <a:latin typeface="宋体" pitchFamily="2" charset="-122"/>
              </a:rPr>
              <a:t>Ｗ，来表达ｎ个位置的空间区域的邻近关系，其形式如下：</a:t>
            </a:r>
          </a:p>
          <a:p>
            <a:pPr marL="0" indent="0" eaLnBrk="1" fontAlgn="auto" hangingPunct="1">
              <a:spcAft>
                <a:spcPts val="0"/>
              </a:spcAft>
              <a:buSzPct val="150000"/>
              <a:buFont typeface="Wingdings" pitchFamily="2" charset="2"/>
              <a:buChar char="§"/>
              <a:defRPr/>
            </a:pPr>
            <a:endParaRPr lang="zh-CN" altLang="en-US">
              <a:solidFill>
                <a:srgbClr val="000000"/>
              </a:solidFill>
              <a:latin typeface="宋体" pitchFamily="2" charset="-122"/>
            </a:endParaRPr>
          </a:p>
          <a:p>
            <a:pPr marL="0" indent="0" eaLnBrk="1" fontAlgn="auto" hangingPunct="1">
              <a:spcAft>
                <a:spcPts val="0"/>
              </a:spcAft>
              <a:buSzPct val="150000"/>
              <a:buFont typeface="Wingdings" pitchFamily="2" charset="2"/>
              <a:buChar char="§"/>
              <a:defRPr/>
            </a:pPr>
            <a:endParaRPr lang="zh-CN" altLang="en-US">
              <a:solidFill>
                <a:srgbClr val="000000"/>
              </a:solidFill>
              <a:latin typeface="宋体" pitchFamily="2" charset="-122"/>
            </a:endParaRPr>
          </a:p>
          <a:p>
            <a:pPr marL="0" indent="0" eaLnBrk="1" fontAlgn="auto" hangingPunct="1">
              <a:spcAft>
                <a:spcPts val="0"/>
              </a:spcAft>
              <a:buSzPct val="150000"/>
              <a:buFont typeface="Wingdings" pitchFamily="2" charset="2"/>
              <a:buChar char="§"/>
              <a:defRPr/>
            </a:pPr>
            <a:endParaRPr lang="zh-CN" altLang="en-US">
              <a:solidFill>
                <a:srgbClr val="000000"/>
              </a:solidFill>
              <a:latin typeface="宋体" pitchFamily="2" charset="-122"/>
            </a:endParaRPr>
          </a:p>
          <a:p>
            <a:pPr marL="0" indent="0" eaLnBrk="1" fontAlgn="auto" hangingPunct="1">
              <a:spcAft>
                <a:spcPts val="0"/>
              </a:spcAft>
              <a:buSzPct val="150000"/>
              <a:buFont typeface="Wingdings" pitchFamily="2" charset="2"/>
              <a:buChar char="§"/>
              <a:defRPr/>
            </a:pPr>
            <a:endParaRPr lang="zh-CN" altLang="en-US">
              <a:solidFill>
                <a:srgbClr val="000000"/>
              </a:solidFill>
              <a:latin typeface="宋体" pitchFamily="2" charset="-122"/>
            </a:endParaRPr>
          </a:p>
          <a:p>
            <a:pPr marL="0" indent="0" eaLnBrk="1" fontAlgn="auto" hangingPunct="1">
              <a:lnSpc>
                <a:spcPct val="150000"/>
              </a:lnSpc>
              <a:spcAft>
                <a:spcPts val="0"/>
              </a:spcAft>
              <a:buSzPct val="150000"/>
              <a:buFont typeface="Wingdings 2" pitchFamily="18" charset="2"/>
              <a:buNone/>
              <a:defRPr/>
            </a:pPr>
            <a:r>
              <a:rPr lang="zh-CN" altLang="en-US">
                <a:solidFill>
                  <a:srgbClr val="000000"/>
                </a:solidFill>
                <a:latin typeface="宋体" pitchFamily="2" charset="-122"/>
              </a:rPr>
              <a:t>式中：</a:t>
            </a:r>
            <a:r>
              <a:rPr lang="en-US" altLang="zh-CN">
                <a:solidFill>
                  <a:srgbClr val="000000"/>
                </a:solidFill>
                <a:latin typeface="宋体" pitchFamily="2" charset="-122"/>
              </a:rPr>
              <a:t>W</a:t>
            </a:r>
            <a:r>
              <a:rPr lang="en-US" altLang="zh-CN" baseline="-25000">
                <a:solidFill>
                  <a:srgbClr val="000000"/>
                </a:solidFill>
                <a:latin typeface="宋体" pitchFamily="2" charset="-122"/>
              </a:rPr>
              <a:t>ij</a:t>
            </a:r>
            <a:r>
              <a:rPr lang="zh-CN" altLang="en-US">
                <a:solidFill>
                  <a:srgbClr val="000000"/>
                </a:solidFill>
                <a:latin typeface="宋体" pitchFamily="2" charset="-122"/>
              </a:rPr>
              <a:t>表示区域</a:t>
            </a:r>
            <a:r>
              <a:rPr lang="en-US" altLang="zh-CN">
                <a:solidFill>
                  <a:srgbClr val="000000"/>
                </a:solidFill>
                <a:latin typeface="宋体" pitchFamily="2" charset="-122"/>
              </a:rPr>
              <a:t>i</a:t>
            </a:r>
            <a:r>
              <a:rPr lang="zh-CN" altLang="en-US">
                <a:solidFill>
                  <a:srgbClr val="000000"/>
                </a:solidFill>
                <a:latin typeface="宋体" pitchFamily="2" charset="-122"/>
              </a:rPr>
              <a:t>与</a:t>
            </a:r>
            <a:r>
              <a:rPr lang="en-US" altLang="zh-CN">
                <a:solidFill>
                  <a:srgbClr val="000000"/>
                </a:solidFill>
                <a:latin typeface="宋体" pitchFamily="2" charset="-122"/>
              </a:rPr>
              <a:t>j</a:t>
            </a:r>
            <a:r>
              <a:rPr lang="zh-CN" altLang="en-US">
                <a:solidFill>
                  <a:srgbClr val="000000"/>
                </a:solidFill>
                <a:latin typeface="宋体" pitchFamily="2" charset="-122"/>
              </a:rPr>
              <a:t>的临近关系，</a:t>
            </a:r>
            <a:r>
              <a:rPr lang="zh-CN" altLang="en-US">
                <a:solidFill>
                  <a:srgbClr val="FF0000"/>
                </a:solidFill>
                <a:latin typeface="宋体" pitchFamily="2" charset="-122"/>
              </a:rPr>
              <a:t>它可以根据邻接标准或距离标准来度量</a:t>
            </a:r>
            <a:r>
              <a:rPr lang="zh-CN" altLang="en-US">
                <a:solidFill>
                  <a:srgbClr val="000000"/>
                </a:solidFill>
                <a:latin typeface="宋体" pitchFamily="2" charset="-122"/>
              </a:rPr>
              <a:t>。 </a:t>
            </a:r>
            <a:r>
              <a:rPr lang="zh-CN" altLang="en-US" b="1"/>
              <a:t> </a:t>
            </a:r>
          </a:p>
        </p:txBody>
      </p:sp>
      <p:graphicFrame>
        <p:nvGraphicFramePr>
          <p:cNvPr id="57348" name="Object 2">
            <a:extLst>
              <a:ext uri="{FF2B5EF4-FFF2-40B4-BE49-F238E27FC236}">
                <a16:creationId xmlns:a16="http://schemas.microsoft.com/office/drawing/2014/main" id="{E3B2A9C9-EEFE-4548-998D-9F4703B47FA3}"/>
              </a:ext>
            </a:extLst>
          </p:cNvPr>
          <p:cNvGraphicFramePr>
            <a:graphicFrameLocks noChangeAspect="1"/>
          </p:cNvGraphicFramePr>
          <p:nvPr/>
        </p:nvGraphicFramePr>
        <p:xfrm>
          <a:off x="2411413" y="2349500"/>
          <a:ext cx="3529012" cy="1974850"/>
        </p:xfrm>
        <a:graphic>
          <a:graphicData uri="http://schemas.openxmlformats.org/presentationml/2006/ole">
            <mc:AlternateContent xmlns:mc="http://schemas.openxmlformats.org/markup-compatibility/2006">
              <mc:Choice xmlns:v="urn:schemas-microsoft-com:vml" Requires="v">
                <p:oleObj spid="_x0000_s57395" r:id="rId3" imgW="1689100" imgH="939800" progId="Equation.3">
                  <p:embed/>
                </p:oleObj>
              </mc:Choice>
              <mc:Fallback>
                <p:oleObj r:id="rId3" imgW="1689100" imgH="9398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413" y="2349500"/>
                        <a:ext cx="3529012" cy="197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3">
            <a:extLst>
              <a:ext uri="{FF2B5EF4-FFF2-40B4-BE49-F238E27FC236}">
                <a16:creationId xmlns:a16="http://schemas.microsoft.com/office/drawing/2014/main" id="{70061058-B982-4B72-9DE0-E458854C120B}"/>
              </a:ext>
            </a:extLst>
          </p:cNvPr>
          <p:cNvSpPr>
            <a:spLocks noGrp="1" noChangeArrowheads="1"/>
          </p:cNvSpPr>
          <p:nvPr>
            <p:ph type="title"/>
          </p:nvPr>
        </p:nvSpPr>
        <p:spPr/>
        <p:txBody>
          <a:bodyPr/>
          <a:lstStyle/>
          <a:p>
            <a:pPr eaLnBrk="1" hangingPunct="1">
              <a:buClr>
                <a:schemeClr val="accent2"/>
              </a:buClr>
              <a:buSzPct val="150000"/>
              <a:buFont typeface="Wingdings" panose="05000000000000000000" pitchFamily="2" charset="2"/>
              <a:buNone/>
            </a:pPr>
            <a:r>
              <a:rPr kumimoji="1" lang="zh-CN" altLang="en-US"/>
              <a:t>（</a:t>
            </a:r>
            <a:r>
              <a:rPr kumimoji="1" lang="en-US" altLang="zh-CN"/>
              <a:t>1</a:t>
            </a:r>
            <a:r>
              <a:rPr kumimoji="1" lang="zh-CN" altLang="en-US"/>
              <a:t>）空间权重矩阵</a:t>
            </a:r>
            <a:r>
              <a:rPr kumimoji="1" lang="en-US" altLang="zh-CN"/>
              <a:t>(</a:t>
            </a:r>
            <a:r>
              <a:rPr kumimoji="1" lang="zh-CN" altLang="en-US"/>
              <a:t>续</a:t>
            </a:r>
            <a:r>
              <a:rPr kumimoji="1" lang="en-US" altLang="zh-CN"/>
              <a:t>)</a:t>
            </a:r>
            <a:endParaRPr lang="en-US" altLang="zh-CN" sz="3600"/>
          </a:p>
        </p:txBody>
      </p:sp>
      <p:sp>
        <p:nvSpPr>
          <p:cNvPr id="58371" name="Rectangle 2">
            <a:extLst>
              <a:ext uri="{FF2B5EF4-FFF2-40B4-BE49-F238E27FC236}">
                <a16:creationId xmlns:a16="http://schemas.microsoft.com/office/drawing/2014/main" id="{1A09505A-67AD-4266-9427-C171CB42B06E}"/>
              </a:ext>
            </a:extLst>
          </p:cNvPr>
          <p:cNvSpPr>
            <a:spLocks noGrp="1" noChangeArrowheads="1"/>
          </p:cNvSpPr>
          <p:nvPr>
            <p:ph idx="1"/>
          </p:nvPr>
        </p:nvSpPr>
        <p:spPr>
          <a:xfrm>
            <a:off x="395288" y="1268413"/>
            <a:ext cx="8064500" cy="5208587"/>
          </a:xfrm>
        </p:spPr>
        <p:txBody>
          <a:bodyPr/>
          <a:lstStyle/>
          <a:p>
            <a:pPr marL="0" indent="0" eaLnBrk="1" hangingPunct="1">
              <a:lnSpc>
                <a:spcPct val="120000"/>
              </a:lnSpc>
            </a:pPr>
            <a:r>
              <a:rPr lang="zh-CN" altLang="en-US" sz="2400">
                <a:latin typeface="黑体" panose="02010609060101010101" pitchFamily="49" charset="-122"/>
              </a:rPr>
              <a:t>两种最常用的确定空间权重矩阵的规则：</a:t>
            </a:r>
          </a:p>
          <a:p>
            <a:pPr marL="0" indent="0" eaLnBrk="1" hangingPunct="1">
              <a:lnSpc>
                <a:spcPct val="120000"/>
              </a:lnSpc>
              <a:buFont typeface="Wingdings 2" panose="05020102010507070707" pitchFamily="18" charset="2"/>
              <a:buChar char="¡"/>
            </a:pPr>
            <a:r>
              <a:rPr lang="zh-CN" altLang="en-US" b="1"/>
              <a:t> </a:t>
            </a:r>
            <a:r>
              <a:rPr lang="zh-CN" altLang="en-US" sz="2400">
                <a:solidFill>
                  <a:srgbClr val="000000"/>
                </a:solidFill>
                <a:latin typeface="宋体" panose="02010600030101010101" pitchFamily="2" charset="-122"/>
              </a:rPr>
              <a:t>（</a:t>
            </a:r>
            <a:r>
              <a:rPr lang="en-US" altLang="zh-CN" sz="2400">
                <a:solidFill>
                  <a:srgbClr val="000000"/>
                </a:solidFill>
                <a:latin typeface="宋体" panose="02010600030101010101" pitchFamily="2" charset="-122"/>
              </a:rPr>
              <a:t>1</a:t>
            </a:r>
            <a:r>
              <a:rPr lang="zh-CN" altLang="en-US" sz="2400">
                <a:solidFill>
                  <a:srgbClr val="000000"/>
                </a:solidFill>
                <a:latin typeface="宋体" panose="02010600030101010101" pitchFamily="2" charset="-122"/>
              </a:rPr>
              <a:t>）</a:t>
            </a:r>
            <a:r>
              <a:rPr lang="zh-CN" altLang="en-US" sz="2400">
                <a:solidFill>
                  <a:srgbClr val="FF0000"/>
                </a:solidFill>
                <a:latin typeface="宋体" panose="02010600030101010101" pitchFamily="2" charset="-122"/>
              </a:rPr>
              <a:t>简单的二进制邻接矩阵</a:t>
            </a:r>
          </a:p>
          <a:p>
            <a:pPr marL="0" indent="0" eaLnBrk="1" hangingPunct="1">
              <a:lnSpc>
                <a:spcPct val="120000"/>
              </a:lnSpc>
              <a:buFont typeface="Wingdings 2" panose="05020102010507070707" pitchFamily="18" charset="2"/>
              <a:buChar char="¡"/>
            </a:pPr>
            <a:endParaRPr lang="zh-CN" altLang="en-US" sz="2400">
              <a:solidFill>
                <a:srgbClr val="000000"/>
              </a:solidFill>
              <a:latin typeface="宋体" panose="02010600030101010101" pitchFamily="2" charset="-122"/>
            </a:endParaRPr>
          </a:p>
          <a:p>
            <a:pPr marL="0" indent="0" eaLnBrk="1" hangingPunct="1">
              <a:lnSpc>
                <a:spcPct val="120000"/>
              </a:lnSpc>
              <a:buFont typeface="Wingdings 2" panose="05020102010507070707" pitchFamily="18" charset="2"/>
              <a:buChar char="¡"/>
            </a:pPr>
            <a:endParaRPr lang="zh-CN" altLang="en-US" sz="2400">
              <a:solidFill>
                <a:srgbClr val="000000"/>
              </a:solidFill>
              <a:latin typeface="宋体" panose="02010600030101010101" pitchFamily="2" charset="-122"/>
            </a:endParaRPr>
          </a:p>
          <a:p>
            <a:pPr marL="0" indent="0" eaLnBrk="1" hangingPunct="1">
              <a:lnSpc>
                <a:spcPct val="120000"/>
              </a:lnSpc>
              <a:buFont typeface="Wingdings 2" panose="05020102010507070707" pitchFamily="18" charset="2"/>
              <a:buChar char="¡"/>
            </a:pPr>
            <a:endParaRPr lang="zh-CN" altLang="en-US" sz="2400">
              <a:solidFill>
                <a:srgbClr val="000000"/>
              </a:solidFill>
              <a:latin typeface="宋体" panose="02010600030101010101" pitchFamily="2" charset="-122"/>
            </a:endParaRPr>
          </a:p>
          <a:p>
            <a:pPr marL="0" indent="0" eaLnBrk="1" hangingPunct="1">
              <a:lnSpc>
                <a:spcPct val="120000"/>
              </a:lnSpc>
              <a:buFont typeface="Wingdings 2" panose="05020102010507070707" pitchFamily="18" charset="2"/>
              <a:buChar char="¡"/>
            </a:pPr>
            <a:r>
              <a:rPr lang="zh-CN" altLang="en-US" sz="2400">
                <a:solidFill>
                  <a:srgbClr val="000000"/>
                </a:solidFill>
                <a:latin typeface="宋体" panose="02010600030101010101" pitchFamily="2" charset="-122"/>
              </a:rPr>
              <a:t>（</a:t>
            </a:r>
            <a:r>
              <a:rPr lang="en-US" altLang="zh-CN" sz="2400">
                <a:solidFill>
                  <a:srgbClr val="000000"/>
                </a:solidFill>
                <a:latin typeface="宋体" panose="02010600030101010101" pitchFamily="2" charset="-122"/>
              </a:rPr>
              <a:t>2</a:t>
            </a:r>
            <a:r>
              <a:rPr lang="zh-CN" altLang="en-US" sz="2400">
                <a:solidFill>
                  <a:srgbClr val="000000"/>
                </a:solidFill>
                <a:latin typeface="宋体" panose="02010600030101010101" pitchFamily="2" charset="-122"/>
              </a:rPr>
              <a:t>）</a:t>
            </a:r>
            <a:r>
              <a:rPr lang="zh-CN" altLang="en-US" sz="2400">
                <a:solidFill>
                  <a:srgbClr val="FF0000"/>
                </a:solidFill>
                <a:latin typeface="宋体" panose="02010600030101010101" pitchFamily="2" charset="-122"/>
              </a:rPr>
              <a:t>基于距离的二进制空间权重矩阵</a:t>
            </a:r>
            <a:r>
              <a:rPr lang="zh-CN" altLang="en-US" b="1">
                <a:solidFill>
                  <a:srgbClr val="000000"/>
                </a:solidFill>
                <a:latin typeface="宋体" panose="02010600030101010101" pitchFamily="2" charset="-122"/>
              </a:rPr>
              <a:t> </a:t>
            </a:r>
          </a:p>
        </p:txBody>
      </p:sp>
      <p:graphicFrame>
        <p:nvGraphicFramePr>
          <p:cNvPr id="58372" name="Object 2">
            <a:extLst>
              <a:ext uri="{FF2B5EF4-FFF2-40B4-BE49-F238E27FC236}">
                <a16:creationId xmlns:a16="http://schemas.microsoft.com/office/drawing/2014/main" id="{6DBA4758-DA9C-4CED-8EA2-F1B9EDE74B58}"/>
              </a:ext>
            </a:extLst>
          </p:cNvPr>
          <p:cNvGraphicFramePr>
            <a:graphicFrameLocks noChangeAspect="1"/>
          </p:cNvGraphicFramePr>
          <p:nvPr/>
        </p:nvGraphicFramePr>
        <p:xfrm>
          <a:off x="2195513" y="2492375"/>
          <a:ext cx="4679950" cy="1250950"/>
        </p:xfrm>
        <a:graphic>
          <a:graphicData uri="http://schemas.openxmlformats.org/presentationml/2006/ole">
            <mc:AlternateContent xmlns:mc="http://schemas.openxmlformats.org/markup-compatibility/2006">
              <mc:Choice xmlns:v="urn:schemas-microsoft-com:vml" Requires="v">
                <p:oleObj spid="_x0000_s58464" r:id="rId3" imgW="1816100" imgH="482600" progId="Equation.3">
                  <p:embed/>
                </p:oleObj>
              </mc:Choice>
              <mc:Fallback>
                <p:oleObj r:id="rId3" imgW="1816100" imgH="482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2492375"/>
                        <a:ext cx="4679950" cy="125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73" name="Object 3">
            <a:extLst>
              <a:ext uri="{FF2B5EF4-FFF2-40B4-BE49-F238E27FC236}">
                <a16:creationId xmlns:a16="http://schemas.microsoft.com/office/drawing/2014/main" id="{343611B4-1738-420E-96BA-E9B3A7813CB1}"/>
              </a:ext>
            </a:extLst>
          </p:cNvPr>
          <p:cNvGraphicFramePr>
            <a:graphicFrameLocks noChangeAspect="1"/>
          </p:cNvGraphicFramePr>
          <p:nvPr/>
        </p:nvGraphicFramePr>
        <p:xfrm>
          <a:off x="2339975" y="4724400"/>
          <a:ext cx="5400675" cy="1116013"/>
        </p:xfrm>
        <a:graphic>
          <a:graphicData uri="http://schemas.openxmlformats.org/presentationml/2006/ole">
            <mc:AlternateContent xmlns:mc="http://schemas.openxmlformats.org/markup-compatibility/2006">
              <mc:Choice xmlns:v="urn:schemas-microsoft-com:vml" Requires="v">
                <p:oleObj spid="_x0000_s58465" r:id="rId5" imgW="2349500" imgH="482600" progId="Equation.3">
                  <p:embed/>
                </p:oleObj>
              </mc:Choice>
              <mc:Fallback>
                <p:oleObj r:id="rId5" imgW="2349500" imgH="4826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39975" y="4724400"/>
                        <a:ext cx="5400675"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55910805-379B-4359-8DEB-F89F7F9F8D5B}"/>
              </a:ext>
            </a:extLst>
          </p:cNvPr>
          <p:cNvSpPr>
            <a:spLocks noGrp="1" noChangeArrowheads="1"/>
          </p:cNvSpPr>
          <p:nvPr>
            <p:ph type="title"/>
          </p:nvPr>
        </p:nvSpPr>
        <p:spPr/>
        <p:txBody>
          <a:bodyPr/>
          <a:lstStyle/>
          <a:p>
            <a:pPr eaLnBrk="1" hangingPunct="1"/>
            <a:r>
              <a:rPr lang="zh-CN" altLang="en-US"/>
              <a:t>（</a:t>
            </a:r>
            <a:r>
              <a:rPr lang="en-US" altLang="zh-CN"/>
              <a:t>2</a:t>
            </a:r>
            <a:r>
              <a:rPr lang="zh-CN" altLang="en-US"/>
              <a:t>）全局空间自相关 </a:t>
            </a:r>
          </a:p>
        </p:txBody>
      </p:sp>
      <p:sp>
        <p:nvSpPr>
          <p:cNvPr id="59395" name="Rectangle 3">
            <a:extLst>
              <a:ext uri="{FF2B5EF4-FFF2-40B4-BE49-F238E27FC236}">
                <a16:creationId xmlns:a16="http://schemas.microsoft.com/office/drawing/2014/main" id="{48C5FD50-73AE-40AE-90DB-F63C1F9EAC9C}"/>
              </a:ext>
            </a:extLst>
          </p:cNvPr>
          <p:cNvSpPr>
            <a:spLocks noGrp="1" noChangeArrowheads="1"/>
          </p:cNvSpPr>
          <p:nvPr>
            <p:ph idx="1"/>
          </p:nvPr>
        </p:nvSpPr>
        <p:spPr/>
        <p:txBody>
          <a:bodyPr/>
          <a:lstStyle/>
          <a:p>
            <a:pPr eaLnBrk="1" hangingPunct="1"/>
            <a:r>
              <a:rPr lang="en-US" altLang="zh-CN">
                <a:solidFill>
                  <a:srgbClr val="FF0000"/>
                </a:solidFill>
              </a:rPr>
              <a:t>Moran</a:t>
            </a:r>
            <a:r>
              <a:rPr lang="zh-CN" altLang="en-US">
                <a:solidFill>
                  <a:srgbClr val="FF0000"/>
                </a:solidFill>
                <a:latin typeface="宋体" panose="02010600030101010101" pitchFamily="2" charset="-122"/>
              </a:rPr>
              <a:t>指数</a:t>
            </a:r>
            <a:r>
              <a:rPr lang="zh-CN" altLang="en-US">
                <a:solidFill>
                  <a:srgbClr val="000000"/>
                </a:solidFill>
                <a:latin typeface="宋体" panose="02010600030101010101" pitchFamily="2" charset="-122"/>
              </a:rPr>
              <a:t>和</a:t>
            </a:r>
            <a:r>
              <a:rPr lang="en-US" altLang="zh-CN">
                <a:solidFill>
                  <a:srgbClr val="FF0000"/>
                </a:solidFill>
              </a:rPr>
              <a:t>Geary</a:t>
            </a:r>
            <a:r>
              <a:rPr lang="zh-CN" altLang="en-US">
                <a:solidFill>
                  <a:srgbClr val="FF0000"/>
                </a:solidFill>
                <a:latin typeface="宋体" panose="02010600030101010101" pitchFamily="2" charset="-122"/>
              </a:rPr>
              <a:t>系数</a:t>
            </a:r>
            <a:r>
              <a:rPr lang="zh-CN" altLang="en-US">
                <a:solidFill>
                  <a:srgbClr val="000000"/>
                </a:solidFill>
                <a:latin typeface="宋体" panose="02010600030101010101" pitchFamily="2" charset="-122"/>
              </a:rPr>
              <a:t>是两个用来度量空间自相关的</a:t>
            </a:r>
            <a:r>
              <a:rPr lang="zh-CN" altLang="en-US">
                <a:solidFill>
                  <a:srgbClr val="FF0000"/>
                </a:solidFill>
                <a:latin typeface="宋体" panose="02010600030101010101" pitchFamily="2" charset="-122"/>
              </a:rPr>
              <a:t>全局指标</a:t>
            </a:r>
            <a:r>
              <a:rPr lang="zh-CN" altLang="en-US">
                <a:solidFill>
                  <a:srgbClr val="000000"/>
                </a:solidFill>
                <a:latin typeface="宋体" panose="02010600030101010101" pitchFamily="2" charset="-122"/>
              </a:rPr>
              <a:t>。</a:t>
            </a:r>
          </a:p>
          <a:p>
            <a:pPr eaLnBrk="1" hangingPunct="1"/>
            <a:endParaRPr lang="zh-CN" altLang="en-US">
              <a:solidFill>
                <a:srgbClr val="000000"/>
              </a:solidFill>
              <a:latin typeface="宋体" panose="02010600030101010101" pitchFamily="2" charset="-122"/>
            </a:endParaRPr>
          </a:p>
          <a:p>
            <a:pPr eaLnBrk="1" hangingPunct="1"/>
            <a:r>
              <a:rPr lang="en-US" altLang="zh-CN">
                <a:solidFill>
                  <a:srgbClr val="FF0000"/>
                </a:solidFill>
              </a:rPr>
              <a:t>Moran</a:t>
            </a:r>
            <a:r>
              <a:rPr lang="zh-CN" altLang="en-US">
                <a:solidFill>
                  <a:srgbClr val="FF0000"/>
                </a:solidFill>
                <a:latin typeface="宋体" panose="02010600030101010101" pitchFamily="2" charset="-122"/>
              </a:rPr>
              <a:t>指数反映的是空间邻接或空间邻近的区域单元属性值的相似程度；</a:t>
            </a:r>
          </a:p>
          <a:p>
            <a:pPr eaLnBrk="1" hangingPunct="1"/>
            <a:endParaRPr lang="zh-CN" altLang="en-US">
              <a:solidFill>
                <a:srgbClr val="FF0000"/>
              </a:solidFill>
              <a:latin typeface="宋体" panose="02010600030101010101" pitchFamily="2" charset="-122"/>
            </a:endParaRPr>
          </a:p>
          <a:p>
            <a:pPr eaLnBrk="1" hangingPunct="1"/>
            <a:r>
              <a:rPr lang="en-US" altLang="zh-CN">
                <a:solidFill>
                  <a:schemeClr val="accent2"/>
                </a:solidFill>
              </a:rPr>
              <a:t>Geary </a:t>
            </a:r>
            <a:r>
              <a:rPr lang="zh-CN" altLang="en-US">
                <a:solidFill>
                  <a:schemeClr val="accent2"/>
                </a:solidFill>
                <a:latin typeface="宋体" panose="02010600030101010101" pitchFamily="2" charset="-122"/>
              </a:rPr>
              <a:t>系数与</a:t>
            </a:r>
            <a:r>
              <a:rPr lang="en-US" altLang="zh-CN">
                <a:solidFill>
                  <a:schemeClr val="accent2"/>
                </a:solidFill>
              </a:rPr>
              <a:t>Moran</a:t>
            </a:r>
            <a:r>
              <a:rPr lang="zh-CN" altLang="en-US">
                <a:solidFill>
                  <a:schemeClr val="accent2"/>
                </a:solidFill>
                <a:latin typeface="宋体" panose="02010600030101010101" pitchFamily="2" charset="-122"/>
              </a:rPr>
              <a:t>指数存在负相关关系。</a:t>
            </a:r>
            <a:r>
              <a:rPr lang="zh-CN" altLang="en-US">
                <a:solidFill>
                  <a:schemeClr val="accent2"/>
                </a:solidFill>
              </a:rPr>
              <a:t> </a:t>
            </a: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3">
            <a:extLst>
              <a:ext uri="{FF2B5EF4-FFF2-40B4-BE49-F238E27FC236}">
                <a16:creationId xmlns:a16="http://schemas.microsoft.com/office/drawing/2014/main" id="{A922E99A-E10D-487D-B2EC-56FBFD641792}"/>
              </a:ext>
            </a:extLst>
          </p:cNvPr>
          <p:cNvSpPr>
            <a:spLocks noGrp="1" noChangeArrowheads="1"/>
          </p:cNvSpPr>
          <p:nvPr>
            <p:ph type="title"/>
          </p:nvPr>
        </p:nvSpPr>
        <p:spPr>
          <a:noFill/>
        </p:spPr>
        <p:txBody>
          <a:bodyPr/>
          <a:lstStyle/>
          <a:p>
            <a:pPr eaLnBrk="1" hangingPunct="1"/>
            <a:r>
              <a:rPr lang="zh-CN" altLang="en-US"/>
              <a:t>（</a:t>
            </a:r>
            <a:r>
              <a:rPr lang="en-US" altLang="zh-CN"/>
              <a:t>2</a:t>
            </a:r>
            <a:r>
              <a:rPr lang="zh-CN" altLang="en-US"/>
              <a:t>）全局空间自相关</a:t>
            </a:r>
            <a:r>
              <a:rPr lang="en-US" altLang="zh-CN"/>
              <a:t>(</a:t>
            </a:r>
            <a:r>
              <a:rPr lang="zh-CN" altLang="en-US"/>
              <a:t>续</a:t>
            </a:r>
            <a:r>
              <a:rPr lang="en-US" altLang="zh-CN"/>
              <a:t>) </a:t>
            </a:r>
          </a:p>
        </p:txBody>
      </p:sp>
      <p:sp>
        <p:nvSpPr>
          <p:cNvPr id="60419" name="Rectangle 4">
            <a:extLst>
              <a:ext uri="{FF2B5EF4-FFF2-40B4-BE49-F238E27FC236}">
                <a16:creationId xmlns:a16="http://schemas.microsoft.com/office/drawing/2014/main" id="{C07254C2-FA0D-472A-98D6-A059ED9C1B8B}"/>
              </a:ext>
            </a:extLst>
          </p:cNvPr>
          <p:cNvSpPr>
            <a:spLocks noGrp="1" noChangeArrowheads="1"/>
          </p:cNvSpPr>
          <p:nvPr>
            <p:ph idx="1"/>
          </p:nvPr>
        </p:nvSpPr>
        <p:spPr>
          <a:xfrm>
            <a:off x="395288" y="1196975"/>
            <a:ext cx="8634412" cy="4899025"/>
          </a:xfrm>
        </p:spPr>
        <p:txBody>
          <a:bodyPr/>
          <a:lstStyle/>
          <a:p>
            <a:pPr eaLnBrk="1" hangingPunct="1"/>
            <a:r>
              <a:rPr lang="zh-CN" altLang="en-US" sz="2400">
                <a:solidFill>
                  <a:srgbClr val="000000"/>
                </a:solidFill>
                <a:latin typeface="宋体" panose="02010600030101010101" pitchFamily="2" charset="-122"/>
              </a:rPr>
              <a:t>如果是位置（区域）的观测值，则该变量的全局</a:t>
            </a:r>
            <a:r>
              <a:rPr lang="en-US" altLang="zh-CN" sz="2400">
                <a:solidFill>
                  <a:srgbClr val="000000"/>
                </a:solidFill>
                <a:latin typeface="宋体" panose="02010600030101010101" pitchFamily="2" charset="-122"/>
              </a:rPr>
              <a:t>Moran</a:t>
            </a:r>
            <a:r>
              <a:rPr lang="zh-CN" altLang="en-US" sz="2400">
                <a:solidFill>
                  <a:srgbClr val="000000"/>
                </a:solidFill>
                <a:latin typeface="宋体" panose="02010600030101010101" pitchFamily="2" charset="-122"/>
              </a:rPr>
              <a:t>指数</a:t>
            </a:r>
            <a:r>
              <a:rPr lang="en-US" altLang="zh-CN" sz="2400">
                <a:solidFill>
                  <a:srgbClr val="000000"/>
                </a:solidFill>
                <a:latin typeface="宋体" panose="02010600030101010101" pitchFamily="2" charset="-122"/>
              </a:rPr>
              <a:t>I</a:t>
            </a:r>
            <a:r>
              <a:rPr lang="zh-CN" altLang="en-US" sz="2400">
                <a:solidFill>
                  <a:srgbClr val="000000"/>
                </a:solidFill>
                <a:latin typeface="宋体" panose="02010600030101010101" pitchFamily="2" charset="-122"/>
              </a:rPr>
              <a:t>，用如下公式计算：</a:t>
            </a:r>
          </a:p>
          <a:p>
            <a:pPr eaLnBrk="1" hangingPunct="1"/>
            <a:endParaRPr lang="zh-CN" altLang="en-US" sz="2400">
              <a:solidFill>
                <a:srgbClr val="000000"/>
              </a:solidFill>
              <a:latin typeface="宋体" panose="02010600030101010101" pitchFamily="2" charset="-122"/>
            </a:endParaRPr>
          </a:p>
          <a:p>
            <a:pPr eaLnBrk="1" hangingPunct="1"/>
            <a:endParaRPr lang="zh-CN" altLang="en-US" sz="2400">
              <a:solidFill>
                <a:srgbClr val="000000"/>
              </a:solidFill>
              <a:latin typeface="宋体" panose="02010600030101010101" pitchFamily="2" charset="-122"/>
            </a:endParaRPr>
          </a:p>
          <a:p>
            <a:pPr eaLnBrk="1" hangingPunct="1"/>
            <a:endParaRPr lang="zh-CN" altLang="en-US" sz="2400">
              <a:solidFill>
                <a:srgbClr val="000000"/>
              </a:solidFill>
              <a:latin typeface="宋体" panose="02010600030101010101" pitchFamily="2" charset="-122"/>
            </a:endParaRPr>
          </a:p>
          <a:p>
            <a:pPr eaLnBrk="1" hangingPunct="1"/>
            <a:endParaRPr lang="zh-CN" altLang="en-US" sz="2400">
              <a:solidFill>
                <a:srgbClr val="000000"/>
              </a:solidFill>
              <a:latin typeface="宋体" panose="02010600030101010101" pitchFamily="2" charset="-122"/>
            </a:endParaRPr>
          </a:p>
          <a:p>
            <a:pPr eaLnBrk="1" hangingPunct="1">
              <a:buFont typeface="Wingdings 2" panose="05020102010507070707" pitchFamily="18" charset="2"/>
              <a:buNone/>
            </a:pPr>
            <a:r>
              <a:rPr lang="zh-CN" altLang="en-US" sz="2400">
                <a:solidFill>
                  <a:srgbClr val="000000"/>
                </a:solidFill>
                <a:latin typeface="宋体" panose="02010600030101010101" pitchFamily="2" charset="-122"/>
              </a:rPr>
              <a:t>式中： </a:t>
            </a:r>
            <a:r>
              <a:rPr lang="en-US" altLang="zh-CN" sz="2400">
                <a:solidFill>
                  <a:srgbClr val="000000"/>
                </a:solidFill>
                <a:latin typeface="宋体" panose="02010600030101010101" pitchFamily="2" charset="-122"/>
              </a:rPr>
              <a:t>I</a:t>
            </a:r>
            <a:r>
              <a:rPr lang="zh-CN" altLang="en-US" sz="2400">
                <a:solidFill>
                  <a:srgbClr val="000000"/>
                </a:solidFill>
                <a:latin typeface="宋体" panose="02010600030101010101" pitchFamily="2" charset="-122"/>
              </a:rPr>
              <a:t>为</a:t>
            </a:r>
            <a:r>
              <a:rPr lang="en-US" altLang="zh-CN" sz="2400">
                <a:solidFill>
                  <a:srgbClr val="000000"/>
                </a:solidFill>
                <a:latin typeface="Times New Roman" panose="02020603050405020304" pitchFamily="18" charset="0"/>
                <a:cs typeface="Times New Roman" panose="02020603050405020304" pitchFamily="18" charset="0"/>
              </a:rPr>
              <a:t>Moran</a:t>
            </a:r>
            <a:r>
              <a:rPr lang="zh-CN" altLang="en-US" sz="2400">
                <a:solidFill>
                  <a:srgbClr val="000000"/>
                </a:solidFill>
                <a:latin typeface="宋体" panose="02010600030101010101" pitchFamily="2" charset="-122"/>
              </a:rPr>
              <a:t>指数</a:t>
            </a:r>
          </a:p>
          <a:p>
            <a:pPr eaLnBrk="1" hangingPunct="1">
              <a:buFont typeface="Wingdings 2" panose="05020102010507070707" pitchFamily="18" charset="2"/>
              <a:buNone/>
            </a:pPr>
            <a:r>
              <a:rPr lang="zh-CN" altLang="en-US" sz="2400">
                <a:solidFill>
                  <a:srgbClr val="000000"/>
                </a:solidFill>
                <a:latin typeface="宋体" panose="02010600030101010101" pitchFamily="2" charset="-122"/>
              </a:rPr>
              <a:t>                    </a:t>
            </a:r>
            <a:r>
              <a:rPr lang="zh-CN" altLang="en-US"/>
              <a:t> </a:t>
            </a:r>
          </a:p>
        </p:txBody>
      </p:sp>
      <p:graphicFrame>
        <p:nvGraphicFramePr>
          <p:cNvPr id="60420" name="Object 2">
            <a:extLst>
              <a:ext uri="{FF2B5EF4-FFF2-40B4-BE49-F238E27FC236}">
                <a16:creationId xmlns:a16="http://schemas.microsoft.com/office/drawing/2014/main" id="{4B002A64-86BD-46DC-A882-CFC0CB336BBD}"/>
              </a:ext>
            </a:extLst>
          </p:cNvPr>
          <p:cNvGraphicFramePr>
            <a:graphicFrameLocks noChangeAspect="1"/>
          </p:cNvGraphicFramePr>
          <p:nvPr/>
        </p:nvGraphicFramePr>
        <p:xfrm>
          <a:off x="1835150" y="1989138"/>
          <a:ext cx="3276600" cy="1600200"/>
        </p:xfrm>
        <a:graphic>
          <a:graphicData uri="http://schemas.openxmlformats.org/presentationml/2006/ole">
            <mc:AlternateContent xmlns:mc="http://schemas.openxmlformats.org/markup-compatibility/2006">
              <mc:Choice xmlns:v="urn:schemas-microsoft-com:vml" Requires="v">
                <p:oleObj spid="_x0000_s60602" r:id="rId3" imgW="1841500" imgH="889000" progId="Equation.3">
                  <p:embed/>
                </p:oleObj>
              </mc:Choice>
              <mc:Fallback>
                <p:oleObj r:id="rId3" imgW="1841500" imgH="8890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150" y="1989138"/>
                        <a:ext cx="32766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421" name="Object 3">
            <a:extLst>
              <a:ext uri="{FF2B5EF4-FFF2-40B4-BE49-F238E27FC236}">
                <a16:creationId xmlns:a16="http://schemas.microsoft.com/office/drawing/2014/main" id="{FA6E2004-3515-4ECB-B09A-3BAA9239AE82}"/>
              </a:ext>
            </a:extLst>
          </p:cNvPr>
          <p:cNvGraphicFramePr>
            <a:graphicFrameLocks noChangeAspect="1"/>
          </p:cNvGraphicFramePr>
          <p:nvPr/>
        </p:nvGraphicFramePr>
        <p:xfrm>
          <a:off x="5292725" y="1916113"/>
          <a:ext cx="2819400" cy="1752600"/>
        </p:xfrm>
        <a:graphic>
          <a:graphicData uri="http://schemas.openxmlformats.org/presentationml/2006/ole">
            <mc:AlternateContent xmlns:mc="http://schemas.openxmlformats.org/markup-compatibility/2006">
              <mc:Choice xmlns:v="urn:schemas-microsoft-com:vml" Requires="v">
                <p:oleObj spid="_x0000_s60603" r:id="rId5" imgW="1663700" imgH="889000" progId="Equation.3">
                  <p:embed/>
                </p:oleObj>
              </mc:Choice>
              <mc:Fallback>
                <p:oleObj r:id="rId5" imgW="1663700" imgH="8890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92725" y="1916113"/>
                        <a:ext cx="28194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422" name="Object 4">
            <a:extLst>
              <a:ext uri="{FF2B5EF4-FFF2-40B4-BE49-F238E27FC236}">
                <a16:creationId xmlns:a16="http://schemas.microsoft.com/office/drawing/2014/main" id="{CEE28C7B-398E-45B2-90F5-C5BC55C06713}"/>
              </a:ext>
            </a:extLst>
          </p:cNvPr>
          <p:cNvGraphicFramePr>
            <a:graphicFrameLocks noChangeAspect="1"/>
          </p:cNvGraphicFramePr>
          <p:nvPr/>
        </p:nvGraphicFramePr>
        <p:xfrm>
          <a:off x="2590800" y="4495800"/>
          <a:ext cx="2286000" cy="792163"/>
        </p:xfrm>
        <a:graphic>
          <a:graphicData uri="http://schemas.openxmlformats.org/presentationml/2006/ole">
            <mc:AlternateContent xmlns:mc="http://schemas.openxmlformats.org/markup-compatibility/2006">
              <mc:Choice xmlns:v="urn:schemas-microsoft-com:vml" Requires="v">
                <p:oleObj spid="_x0000_s60604" r:id="rId7" imgW="1206500" imgH="419100" progId="Equation.3">
                  <p:embed/>
                </p:oleObj>
              </mc:Choice>
              <mc:Fallback>
                <p:oleObj r:id="rId7" imgW="1206500" imgH="4191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90800" y="4495800"/>
                        <a:ext cx="22860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423" name="Object 5">
            <a:extLst>
              <a:ext uri="{FF2B5EF4-FFF2-40B4-BE49-F238E27FC236}">
                <a16:creationId xmlns:a16="http://schemas.microsoft.com/office/drawing/2014/main" id="{8FE9C660-FCE0-4249-B93A-87DCEB692032}"/>
              </a:ext>
            </a:extLst>
          </p:cNvPr>
          <p:cNvGraphicFramePr>
            <a:graphicFrameLocks noChangeAspect="1"/>
          </p:cNvGraphicFramePr>
          <p:nvPr/>
        </p:nvGraphicFramePr>
        <p:xfrm>
          <a:off x="2590800" y="5257800"/>
          <a:ext cx="1981200" cy="838200"/>
        </p:xfrm>
        <a:graphic>
          <a:graphicData uri="http://schemas.openxmlformats.org/presentationml/2006/ole">
            <mc:AlternateContent xmlns:mc="http://schemas.openxmlformats.org/markup-compatibility/2006">
              <mc:Choice xmlns:v="urn:schemas-microsoft-com:vml" Requires="v">
                <p:oleObj spid="_x0000_s60605" r:id="rId9" imgW="723586" imgH="431613" progId="Equation.3">
                  <p:embed/>
                </p:oleObj>
              </mc:Choice>
              <mc:Fallback>
                <p:oleObj r:id="rId9" imgW="723586" imgH="431613"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90800" y="5257800"/>
                        <a:ext cx="19812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5">
            <a:extLst>
              <a:ext uri="{FF2B5EF4-FFF2-40B4-BE49-F238E27FC236}">
                <a16:creationId xmlns:a16="http://schemas.microsoft.com/office/drawing/2014/main" id="{1B778906-176B-4530-85A3-3023D96DDB9C}"/>
              </a:ext>
            </a:extLst>
          </p:cNvPr>
          <p:cNvSpPr>
            <a:spLocks noGrp="1" noChangeArrowheads="1"/>
          </p:cNvSpPr>
          <p:nvPr>
            <p:ph type="title"/>
          </p:nvPr>
        </p:nvSpPr>
        <p:spPr>
          <a:noFill/>
        </p:spPr>
        <p:txBody>
          <a:bodyPr/>
          <a:lstStyle/>
          <a:p>
            <a:pPr eaLnBrk="1" hangingPunct="1"/>
            <a:r>
              <a:rPr lang="zh-CN" altLang="en-US"/>
              <a:t>（</a:t>
            </a:r>
            <a:r>
              <a:rPr lang="en-US" altLang="zh-CN"/>
              <a:t>2</a:t>
            </a:r>
            <a:r>
              <a:rPr lang="zh-CN" altLang="en-US"/>
              <a:t>）全局空间自相关</a:t>
            </a:r>
            <a:r>
              <a:rPr lang="en-US" altLang="zh-CN"/>
              <a:t>(</a:t>
            </a:r>
            <a:r>
              <a:rPr lang="zh-CN" altLang="en-US"/>
              <a:t>续</a:t>
            </a:r>
            <a:r>
              <a:rPr lang="en-US" altLang="zh-CN"/>
              <a:t>) </a:t>
            </a:r>
          </a:p>
        </p:txBody>
      </p:sp>
      <p:sp>
        <p:nvSpPr>
          <p:cNvPr id="61443" name="Rectangle 2">
            <a:extLst>
              <a:ext uri="{FF2B5EF4-FFF2-40B4-BE49-F238E27FC236}">
                <a16:creationId xmlns:a16="http://schemas.microsoft.com/office/drawing/2014/main" id="{62D5FCC5-F352-4CF9-B726-EAB3CD8A5118}"/>
              </a:ext>
            </a:extLst>
          </p:cNvPr>
          <p:cNvSpPr>
            <a:spLocks noGrp="1" noChangeArrowheads="1"/>
          </p:cNvSpPr>
          <p:nvPr>
            <p:ph idx="1"/>
          </p:nvPr>
        </p:nvSpPr>
        <p:spPr>
          <a:xfrm>
            <a:off x="323850" y="1268413"/>
            <a:ext cx="8424863" cy="5791200"/>
          </a:xfrm>
        </p:spPr>
        <p:txBody>
          <a:bodyPr/>
          <a:lstStyle/>
          <a:p>
            <a:pPr marL="100013" indent="-100013" eaLnBrk="1" hangingPunct="1">
              <a:lnSpc>
                <a:spcPct val="120000"/>
              </a:lnSpc>
            </a:pPr>
            <a:r>
              <a:rPr lang="zh-CN" altLang="en-US" sz="2400">
                <a:solidFill>
                  <a:srgbClr val="000000"/>
                </a:solidFill>
                <a:latin typeface="宋体" panose="02010600030101010101" pitchFamily="2" charset="-122"/>
              </a:rPr>
              <a:t>对于</a:t>
            </a:r>
            <a:r>
              <a:rPr lang="en-US" altLang="zh-CN" sz="2400">
                <a:solidFill>
                  <a:srgbClr val="000000"/>
                </a:solidFill>
                <a:latin typeface="宋体" panose="02010600030101010101" pitchFamily="2" charset="-122"/>
              </a:rPr>
              <a:t>Moran</a:t>
            </a:r>
            <a:r>
              <a:rPr lang="zh-CN" altLang="en-US" sz="2400">
                <a:solidFill>
                  <a:srgbClr val="000000"/>
                </a:solidFill>
                <a:latin typeface="宋体" panose="02010600030101010101" pitchFamily="2" charset="-122"/>
              </a:rPr>
              <a:t>指数，可以用标准化统计量</a:t>
            </a:r>
            <a:r>
              <a:rPr lang="en-US" altLang="zh-CN" sz="2400">
                <a:solidFill>
                  <a:srgbClr val="000000"/>
                </a:solidFill>
                <a:latin typeface="宋体" panose="02010600030101010101" pitchFamily="2" charset="-122"/>
              </a:rPr>
              <a:t>Z</a:t>
            </a:r>
            <a:r>
              <a:rPr lang="zh-CN" altLang="en-US" sz="2400">
                <a:solidFill>
                  <a:srgbClr val="000000"/>
                </a:solidFill>
                <a:latin typeface="宋体" panose="02010600030101010101" pitchFamily="2" charset="-122"/>
              </a:rPr>
              <a:t>来检验</a:t>
            </a:r>
            <a:r>
              <a:rPr lang="en-US" altLang="zh-CN" sz="2400">
                <a:solidFill>
                  <a:srgbClr val="000000"/>
                </a:solidFill>
                <a:latin typeface="宋体" panose="02010600030101010101" pitchFamily="2" charset="-122"/>
              </a:rPr>
              <a:t>n</a:t>
            </a:r>
            <a:r>
              <a:rPr lang="zh-CN" altLang="en-US" sz="2400">
                <a:solidFill>
                  <a:srgbClr val="000000"/>
                </a:solidFill>
                <a:latin typeface="宋体" panose="02010600030101010101" pitchFamily="2" charset="-122"/>
              </a:rPr>
              <a:t>个区域是否存在空间自相关关系，</a:t>
            </a:r>
            <a:r>
              <a:rPr lang="en-US" altLang="zh-CN" sz="2400">
                <a:solidFill>
                  <a:srgbClr val="000000"/>
                </a:solidFill>
                <a:latin typeface="宋体" panose="02010600030101010101" pitchFamily="2" charset="-122"/>
              </a:rPr>
              <a:t>Z</a:t>
            </a:r>
            <a:r>
              <a:rPr lang="zh-CN" altLang="en-US" sz="2400">
                <a:solidFill>
                  <a:srgbClr val="000000"/>
                </a:solidFill>
                <a:latin typeface="宋体" panose="02010600030101010101" pitchFamily="2" charset="-122"/>
              </a:rPr>
              <a:t>的计算公式为：</a:t>
            </a:r>
            <a:r>
              <a:rPr lang="zh-CN" altLang="en-US" sz="2400">
                <a:latin typeface="宋体" panose="02010600030101010101" pitchFamily="2" charset="-122"/>
              </a:rPr>
              <a:t> </a:t>
            </a:r>
          </a:p>
          <a:p>
            <a:pPr marL="100013" indent="-100013" eaLnBrk="1" hangingPunct="1">
              <a:lnSpc>
                <a:spcPct val="120000"/>
              </a:lnSpc>
            </a:pPr>
            <a:endParaRPr lang="zh-CN" altLang="en-US" sz="2400">
              <a:latin typeface="宋体" panose="02010600030101010101" pitchFamily="2" charset="-122"/>
            </a:endParaRPr>
          </a:p>
          <a:p>
            <a:pPr marL="100013" indent="-100013" eaLnBrk="1" hangingPunct="1">
              <a:lnSpc>
                <a:spcPct val="120000"/>
              </a:lnSpc>
            </a:pPr>
            <a:endParaRPr lang="zh-CN" altLang="en-US" sz="2400">
              <a:latin typeface="宋体" panose="02010600030101010101" pitchFamily="2" charset="-122"/>
            </a:endParaRPr>
          </a:p>
          <a:p>
            <a:pPr marL="100013" indent="-100013" eaLnBrk="1" hangingPunct="1">
              <a:lnSpc>
                <a:spcPct val="120000"/>
              </a:lnSpc>
            </a:pPr>
            <a:r>
              <a:rPr lang="zh-CN" altLang="en-US" sz="2400">
                <a:solidFill>
                  <a:srgbClr val="FF0000"/>
                </a:solidFill>
                <a:latin typeface="宋体" panose="02010600030101010101" pitchFamily="2" charset="-122"/>
              </a:rPr>
              <a:t>当</a:t>
            </a:r>
            <a:r>
              <a:rPr lang="en-US" altLang="zh-CN" sz="2400">
                <a:solidFill>
                  <a:srgbClr val="FF0000"/>
                </a:solidFill>
                <a:latin typeface="Times New Roman" panose="02020603050405020304" pitchFamily="18" charset="0"/>
                <a:cs typeface="Times New Roman" panose="02020603050405020304" pitchFamily="18" charset="0"/>
              </a:rPr>
              <a:t>Z</a:t>
            </a:r>
            <a:r>
              <a:rPr lang="zh-CN" altLang="en-US" sz="2400">
                <a:solidFill>
                  <a:srgbClr val="FF0000"/>
                </a:solidFill>
                <a:latin typeface="宋体" panose="02010600030101010101" pitchFamily="2" charset="-122"/>
              </a:rPr>
              <a:t>值为正且显著时，表明存在正的空间自相关，也就是说相似的观测值</a:t>
            </a:r>
            <a:r>
              <a:rPr lang="en-US" altLang="zh-CN" sz="2400">
                <a:solidFill>
                  <a:srgbClr val="FF0000"/>
                </a:solidFill>
                <a:cs typeface="Arial" panose="020B0604020202020204" pitchFamily="34" charset="0"/>
              </a:rPr>
              <a:t>(</a:t>
            </a:r>
            <a:r>
              <a:rPr lang="zh-CN" altLang="en-US" sz="2400">
                <a:solidFill>
                  <a:srgbClr val="FF0000"/>
                </a:solidFill>
                <a:latin typeface="宋体" panose="02010600030101010101" pitchFamily="2" charset="-122"/>
              </a:rPr>
              <a:t>高值或低值</a:t>
            </a:r>
            <a:r>
              <a:rPr lang="en-US" altLang="zh-CN" sz="2400">
                <a:solidFill>
                  <a:srgbClr val="FF0000"/>
                </a:solidFill>
                <a:cs typeface="Arial" panose="020B0604020202020204" pitchFamily="34" charset="0"/>
              </a:rPr>
              <a:t>)</a:t>
            </a:r>
            <a:r>
              <a:rPr lang="zh-CN" altLang="en-US" sz="2400">
                <a:solidFill>
                  <a:srgbClr val="FF0000"/>
                </a:solidFill>
                <a:latin typeface="宋体" panose="02010600030101010101" pitchFamily="2" charset="-122"/>
              </a:rPr>
              <a:t>趋于空间集聚；</a:t>
            </a:r>
          </a:p>
          <a:p>
            <a:pPr marL="100013" indent="-100013" eaLnBrk="1" hangingPunct="1">
              <a:lnSpc>
                <a:spcPct val="120000"/>
              </a:lnSpc>
            </a:pPr>
            <a:r>
              <a:rPr lang="zh-CN" altLang="en-US" sz="2400">
                <a:solidFill>
                  <a:srgbClr val="FF0000"/>
                </a:solidFill>
                <a:latin typeface="宋体" panose="02010600030101010101" pitchFamily="2" charset="-122"/>
              </a:rPr>
              <a:t>当</a:t>
            </a:r>
            <a:r>
              <a:rPr lang="en-US" altLang="zh-CN" sz="2400">
                <a:solidFill>
                  <a:srgbClr val="FF0000"/>
                </a:solidFill>
                <a:latin typeface="Times New Roman" panose="02020603050405020304" pitchFamily="18" charset="0"/>
                <a:cs typeface="Times New Roman" panose="02020603050405020304" pitchFamily="18" charset="0"/>
              </a:rPr>
              <a:t>Z</a:t>
            </a:r>
            <a:r>
              <a:rPr lang="zh-CN" altLang="en-US" sz="2400">
                <a:solidFill>
                  <a:srgbClr val="FF0000"/>
                </a:solidFill>
                <a:latin typeface="宋体" panose="02010600030101010101" pitchFamily="2" charset="-122"/>
              </a:rPr>
              <a:t>值为负且显著时，表明存在负的空间自相关，相似的观测值趋于分散分布；</a:t>
            </a:r>
          </a:p>
          <a:p>
            <a:pPr marL="100013" indent="-100013" eaLnBrk="1" hangingPunct="1">
              <a:lnSpc>
                <a:spcPct val="120000"/>
              </a:lnSpc>
            </a:pPr>
            <a:r>
              <a:rPr lang="zh-CN" altLang="en-US" sz="2400">
                <a:solidFill>
                  <a:srgbClr val="000000"/>
                </a:solidFill>
                <a:latin typeface="宋体" panose="02010600030101010101" pitchFamily="2" charset="-122"/>
              </a:rPr>
              <a:t>当</a:t>
            </a:r>
            <a:r>
              <a:rPr lang="en-US" altLang="zh-CN" sz="2400">
                <a:solidFill>
                  <a:srgbClr val="000000"/>
                </a:solidFill>
                <a:latin typeface="Times New Roman" panose="02020603050405020304" pitchFamily="18" charset="0"/>
                <a:cs typeface="Times New Roman" panose="02020603050405020304" pitchFamily="18" charset="0"/>
              </a:rPr>
              <a:t>Z</a:t>
            </a:r>
            <a:r>
              <a:rPr lang="zh-CN" altLang="en-US" sz="2400">
                <a:solidFill>
                  <a:srgbClr val="000000"/>
                </a:solidFill>
                <a:latin typeface="宋体" panose="02010600030101010101" pitchFamily="2" charset="-122"/>
              </a:rPr>
              <a:t>值为零时，观测值呈独立随机分布。</a:t>
            </a:r>
            <a:r>
              <a:rPr lang="zh-CN" altLang="en-US" sz="2400">
                <a:latin typeface="宋体" panose="02010600030101010101" pitchFamily="2" charset="-122"/>
              </a:rPr>
              <a:t> </a:t>
            </a:r>
          </a:p>
        </p:txBody>
      </p:sp>
      <p:graphicFrame>
        <p:nvGraphicFramePr>
          <p:cNvPr id="61444" name="Object 2">
            <a:extLst>
              <a:ext uri="{FF2B5EF4-FFF2-40B4-BE49-F238E27FC236}">
                <a16:creationId xmlns:a16="http://schemas.microsoft.com/office/drawing/2014/main" id="{859DD88D-76F2-4954-8CC5-32D906E6454D}"/>
              </a:ext>
            </a:extLst>
          </p:cNvPr>
          <p:cNvGraphicFramePr>
            <a:graphicFrameLocks noChangeAspect="1"/>
          </p:cNvGraphicFramePr>
          <p:nvPr/>
        </p:nvGraphicFramePr>
        <p:xfrm>
          <a:off x="3203575" y="2276475"/>
          <a:ext cx="1981200" cy="1001713"/>
        </p:xfrm>
        <a:graphic>
          <a:graphicData uri="http://schemas.openxmlformats.org/presentationml/2006/ole">
            <mc:AlternateContent xmlns:mc="http://schemas.openxmlformats.org/markup-compatibility/2006">
              <mc:Choice xmlns:v="urn:schemas-microsoft-com:vml" Requires="v">
                <p:oleObj spid="_x0000_s61491" r:id="rId3" imgW="901700" imgH="457200" progId="Equation.3">
                  <p:embed/>
                </p:oleObj>
              </mc:Choice>
              <mc:Fallback>
                <p:oleObj r:id="rId3" imgW="901700" imgH="4572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3575" y="2276475"/>
                        <a:ext cx="1981200" cy="100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4">
            <a:extLst>
              <a:ext uri="{FF2B5EF4-FFF2-40B4-BE49-F238E27FC236}">
                <a16:creationId xmlns:a16="http://schemas.microsoft.com/office/drawing/2014/main" id="{69377A5A-3EF2-4F8D-90D5-70B250EA0755}"/>
              </a:ext>
            </a:extLst>
          </p:cNvPr>
          <p:cNvSpPr>
            <a:spLocks noGrp="1" noChangeArrowheads="1"/>
          </p:cNvSpPr>
          <p:nvPr>
            <p:ph type="title"/>
          </p:nvPr>
        </p:nvSpPr>
        <p:spPr/>
        <p:txBody>
          <a:bodyPr/>
          <a:lstStyle/>
          <a:p>
            <a:pPr eaLnBrk="1" hangingPunct="1"/>
            <a:r>
              <a:rPr lang="en-US" altLang="zh-CN"/>
              <a:t>(3)</a:t>
            </a:r>
            <a:r>
              <a:rPr lang="zh-CN" altLang="en-US">
                <a:latin typeface="宋体" panose="02010600030101010101" pitchFamily="2" charset="-122"/>
              </a:rPr>
              <a:t>局部空间自相关分析</a:t>
            </a:r>
          </a:p>
        </p:txBody>
      </p:sp>
      <p:sp>
        <p:nvSpPr>
          <p:cNvPr id="62467" name="Rectangle 5">
            <a:extLst>
              <a:ext uri="{FF2B5EF4-FFF2-40B4-BE49-F238E27FC236}">
                <a16:creationId xmlns:a16="http://schemas.microsoft.com/office/drawing/2014/main" id="{503A9D49-6F7E-448B-8B7A-45EBD18C80F7}"/>
              </a:ext>
            </a:extLst>
          </p:cNvPr>
          <p:cNvSpPr>
            <a:spLocks noGrp="1" noChangeArrowheads="1"/>
          </p:cNvSpPr>
          <p:nvPr>
            <p:ph idx="1"/>
          </p:nvPr>
        </p:nvSpPr>
        <p:spPr>
          <a:xfrm>
            <a:off x="755650" y="1557338"/>
            <a:ext cx="7772400" cy="4114800"/>
          </a:xfrm>
        </p:spPr>
        <p:txBody>
          <a:bodyPr/>
          <a:lstStyle/>
          <a:p>
            <a:pPr eaLnBrk="1" hangingPunct="1"/>
            <a:r>
              <a:rPr lang="zh-CN" altLang="en-US">
                <a:solidFill>
                  <a:srgbClr val="000000"/>
                </a:solidFill>
                <a:latin typeface="宋体" panose="02010600030101010101" pitchFamily="2" charset="-122"/>
              </a:rPr>
              <a:t>局部空间自相关分析方法包括三种分析方法：</a:t>
            </a:r>
            <a:r>
              <a:rPr lang="zh-CN" altLang="en-US"/>
              <a:t> </a:t>
            </a:r>
          </a:p>
          <a:p>
            <a:pPr eaLnBrk="1" hangingPunct="1">
              <a:buFont typeface="Wingdings 2" panose="05020102010507070707" pitchFamily="18" charset="2"/>
              <a:buChar char="¡"/>
            </a:pPr>
            <a:r>
              <a:rPr lang="zh-CN" altLang="en-US">
                <a:solidFill>
                  <a:srgbClr val="FF0000"/>
                </a:solidFill>
                <a:latin typeface="宋体" panose="02010600030101010101" pitchFamily="2" charset="-122"/>
              </a:rPr>
              <a:t>    </a:t>
            </a:r>
            <a:r>
              <a:rPr lang="en-US" altLang="zh-CN">
                <a:solidFill>
                  <a:srgbClr val="FF0000"/>
                </a:solidFill>
                <a:latin typeface="宋体" panose="02010600030101010101" pitchFamily="2" charset="-122"/>
              </a:rPr>
              <a:t>1.</a:t>
            </a:r>
            <a:r>
              <a:rPr lang="zh-CN" altLang="en-US">
                <a:solidFill>
                  <a:srgbClr val="FF0000"/>
                </a:solidFill>
                <a:latin typeface="宋体" panose="02010600030101010101" pitchFamily="2" charset="-122"/>
              </a:rPr>
              <a:t>空间关联的局部指标</a:t>
            </a:r>
            <a:r>
              <a:rPr lang="en-US" altLang="zh-CN">
                <a:solidFill>
                  <a:srgbClr val="FF0000"/>
                </a:solidFill>
                <a:latin typeface="宋体" panose="02010600030101010101" pitchFamily="2" charset="-122"/>
              </a:rPr>
              <a:t>(LISA) </a:t>
            </a:r>
          </a:p>
          <a:p>
            <a:pPr eaLnBrk="1" hangingPunct="1">
              <a:buFont typeface="Wingdings 2" panose="05020102010507070707" pitchFamily="18" charset="2"/>
              <a:buChar char="¡"/>
            </a:pPr>
            <a:r>
              <a:rPr lang="en-US" altLang="zh-CN">
                <a:solidFill>
                  <a:srgbClr val="FF0000"/>
                </a:solidFill>
                <a:latin typeface="宋体" panose="02010600030101010101" pitchFamily="2" charset="-122"/>
              </a:rPr>
              <a:t>    2.G</a:t>
            </a:r>
            <a:r>
              <a:rPr lang="zh-CN" altLang="en-US">
                <a:solidFill>
                  <a:srgbClr val="FF0000"/>
                </a:solidFill>
                <a:latin typeface="宋体" panose="02010600030101010101" pitchFamily="2" charset="-122"/>
              </a:rPr>
              <a:t>统计量 </a:t>
            </a:r>
          </a:p>
          <a:p>
            <a:pPr eaLnBrk="1" hangingPunct="1">
              <a:buFont typeface="Wingdings 2" panose="05020102010507070707" pitchFamily="18" charset="2"/>
              <a:buChar char="¡"/>
            </a:pPr>
            <a:r>
              <a:rPr lang="zh-CN" altLang="en-US">
                <a:solidFill>
                  <a:srgbClr val="FF0000"/>
                </a:solidFill>
                <a:latin typeface="宋体" panose="02010600030101010101" pitchFamily="2" charset="-122"/>
              </a:rPr>
              <a:t>    </a:t>
            </a:r>
            <a:r>
              <a:rPr lang="en-US" altLang="zh-CN">
                <a:solidFill>
                  <a:srgbClr val="FF0000"/>
                </a:solidFill>
                <a:latin typeface="宋体" panose="02010600030101010101" pitchFamily="2" charset="-122"/>
              </a:rPr>
              <a:t>3.Moran</a:t>
            </a:r>
            <a:r>
              <a:rPr lang="zh-CN" altLang="en-US">
                <a:solidFill>
                  <a:srgbClr val="FF0000"/>
                </a:solidFill>
                <a:latin typeface="宋体" panose="02010600030101010101" pitchFamily="2" charset="-122"/>
              </a:rPr>
              <a:t>散点图 </a:t>
            </a: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2DCE705A-13EA-4C92-9C9F-08A5C8D6196A}"/>
              </a:ext>
            </a:extLst>
          </p:cNvPr>
          <p:cNvSpPr>
            <a:spLocks noGrp="1" noChangeArrowheads="1"/>
          </p:cNvSpPr>
          <p:nvPr>
            <p:ph type="title"/>
          </p:nvPr>
        </p:nvSpPr>
        <p:spPr>
          <a:xfrm>
            <a:off x="468313" y="333375"/>
            <a:ext cx="8447087" cy="838200"/>
          </a:xfrm>
        </p:spPr>
        <p:txBody>
          <a:bodyPr/>
          <a:lstStyle/>
          <a:p>
            <a:pPr eaLnBrk="1" hangingPunct="1"/>
            <a:r>
              <a:rPr lang="en-US" altLang="zh-CN" sz="2800">
                <a:latin typeface="黑体" panose="02010609060101010101" pitchFamily="49" charset="-122"/>
              </a:rPr>
              <a:t>1.</a:t>
            </a:r>
            <a:r>
              <a:rPr lang="zh-CN" altLang="en-US" sz="2800">
                <a:latin typeface="黑体" panose="02010609060101010101" pitchFamily="49" charset="-122"/>
              </a:rPr>
              <a:t>空间联系的局部指标</a:t>
            </a:r>
            <a:r>
              <a:rPr lang="en-US" altLang="zh-CN" sz="2800">
                <a:latin typeface="黑体" panose="02010609060101010101" pitchFamily="49" charset="-122"/>
              </a:rPr>
              <a:t>(LISA)</a:t>
            </a:r>
            <a:r>
              <a:rPr lang="en-US" altLang="zh-CN" sz="2800"/>
              <a:t> </a:t>
            </a:r>
          </a:p>
        </p:txBody>
      </p:sp>
      <p:sp>
        <p:nvSpPr>
          <p:cNvPr id="63491" name="Rectangle 3">
            <a:extLst>
              <a:ext uri="{FF2B5EF4-FFF2-40B4-BE49-F238E27FC236}">
                <a16:creationId xmlns:a16="http://schemas.microsoft.com/office/drawing/2014/main" id="{53B112BD-59D0-40A7-B848-CE55C9AEB05B}"/>
              </a:ext>
            </a:extLst>
          </p:cNvPr>
          <p:cNvSpPr>
            <a:spLocks noGrp="1" noChangeArrowheads="1"/>
          </p:cNvSpPr>
          <p:nvPr>
            <p:ph idx="1"/>
          </p:nvPr>
        </p:nvSpPr>
        <p:spPr>
          <a:xfrm>
            <a:off x="323850" y="1196975"/>
            <a:ext cx="8640763" cy="5257800"/>
          </a:xfrm>
        </p:spPr>
        <p:txBody>
          <a:bodyPr/>
          <a:lstStyle/>
          <a:p>
            <a:pPr marL="0" indent="0" algn="just" eaLnBrk="1" hangingPunct="1">
              <a:lnSpc>
                <a:spcPct val="120000"/>
              </a:lnSpc>
            </a:pPr>
            <a:endParaRPr lang="en-US" altLang="zh-CN" sz="2400" dirty="0">
              <a:solidFill>
                <a:srgbClr val="000000"/>
              </a:solidFill>
            </a:endParaRPr>
          </a:p>
          <a:p>
            <a:pPr marL="0" indent="0" algn="just" eaLnBrk="1" hangingPunct="1">
              <a:lnSpc>
                <a:spcPct val="120000"/>
              </a:lnSpc>
            </a:pPr>
            <a:r>
              <a:rPr lang="zh-CN" altLang="en-US" sz="2400" dirty="0">
                <a:solidFill>
                  <a:srgbClr val="000000"/>
                </a:solidFill>
              </a:rPr>
              <a:t>空间关联的局部指标（</a:t>
            </a:r>
            <a:r>
              <a:rPr lang="en-US" altLang="zh-CN" sz="2400" dirty="0">
                <a:solidFill>
                  <a:srgbClr val="000000"/>
                </a:solidFill>
                <a:latin typeface="Times New Roman" panose="02020603050405020304" pitchFamily="18" charset="0"/>
                <a:cs typeface="Times New Roman" panose="02020603050405020304" pitchFamily="18" charset="0"/>
              </a:rPr>
              <a:t>Local indicators of spatial association</a:t>
            </a:r>
            <a:r>
              <a:rPr lang="zh-CN" altLang="en-US" sz="2400" dirty="0">
                <a:solidFill>
                  <a:srgbClr val="000000"/>
                </a:solidFill>
                <a:latin typeface="宋体" panose="02010600030101010101" pitchFamily="2" charset="-122"/>
              </a:rPr>
              <a:t>，缩写为</a:t>
            </a:r>
            <a:r>
              <a:rPr lang="en-US" altLang="zh-CN" sz="2400" dirty="0">
                <a:solidFill>
                  <a:srgbClr val="000000"/>
                </a:solidFill>
                <a:latin typeface="Times New Roman" panose="02020603050405020304" pitchFamily="18" charset="0"/>
                <a:cs typeface="Times New Roman" panose="02020603050405020304" pitchFamily="18" charset="0"/>
              </a:rPr>
              <a:t>LISA</a:t>
            </a:r>
            <a:r>
              <a:rPr lang="zh-CN" altLang="en-US" sz="2400" dirty="0">
                <a:solidFill>
                  <a:srgbClr val="000000"/>
                </a:solidFill>
              </a:rPr>
              <a:t>）满足下列两个条件：</a:t>
            </a:r>
            <a:endParaRPr lang="en-US" altLang="zh-CN" sz="2400" dirty="0">
              <a:solidFill>
                <a:srgbClr val="000000"/>
              </a:solidFill>
            </a:endParaRPr>
          </a:p>
          <a:p>
            <a:pPr marL="0" indent="0" algn="just" eaLnBrk="1" hangingPunct="1">
              <a:lnSpc>
                <a:spcPct val="120000"/>
              </a:lnSpc>
            </a:pPr>
            <a:endParaRPr lang="zh-CN" altLang="en-US" sz="2400" dirty="0">
              <a:solidFill>
                <a:srgbClr val="000000"/>
              </a:solidFill>
            </a:endParaRPr>
          </a:p>
          <a:p>
            <a:pPr marL="0" indent="0" algn="just" eaLnBrk="1" hangingPunct="1">
              <a:lnSpc>
                <a:spcPct val="120000"/>
              </a:lnSpc>
              <a:buNone/>
            </a:pPr>
            <a:r>
              <a:rPr lang="zh-CN" altLang="en-US" sz="2400" dirty="0">
                <a:solidFill>
                  <a:srgbClr val="000000"/>
                </a:solidFill>
              </a:rPr>
              <a:t>（</a:t>
            </a:r>
            <a:r>
              <a:rPr lang="en-US" altLang="zh-CN" sz="2400" dirty="0">
                <a:solidFill>
                  <a:srgbClr val="000000"/>
                </a:solidFill>
              </a:rPr>
              <a:t>1</a:t>
            </a:r>
            <a:r>
              <a:rPr lang="zh-CN" altLang="en-US" sz="2400" dirty="0">
                <a:solidFill>
                  <a:srgbClr val="000000"/>
                </a:solidFill>
              </a:rPr>
              <a:t>）每个区域单元的</a:t>
            </a:r>
            <a:r>
              <a:rPr lang="en-US" altLang="zh-CN" sz="2400" dirty="0">
                <a:solidFill>
                  <a:srgbClr val="000000"/>
                </a:solidFill>
                <a:latin typeface="Times New Roman" panose="02020603050405020304" pitchFamily="18" charset="0"/>
                <a:cs typeface="Times New Roman" panose="02020603050405020304" pitchFamily="18" charset="0"/>
              </a:rPr>
              <a:t>LISA</a:t>
            </a:r>
            <a:r>
              <a:rPr lang="zh-CN" altLang="en-US" sz="2400" dirty="0">
                <a:solidFill>
                  <a:srgbClr val="000000"/>
                </a:solidFill>
                <a:latin typeface="宋体" panose="02010600030101010101" pitchFamily="2" charset="-122"/>
              </a:rPr>
              <a:t>，</a:t>
            </a:r>
            <a:r>
              <a:rPr lang="zh-CN" altLang="en-US" sz="2400" dirty="0">
                <a:solidFill>
                  <a:srgbClr val="000000"/>
                </a:solidFill>
              </a:rPr>
              <a:t>是描述该区域单元周围显著的相似值区域单元之间</a:t>
            </a:r>
            <a:r>
              <a:rPr lang="zh-CN" altLang="en-US" sz="2400" dirty="0">
                <a:solidFill>
                  <a:srgbClr val="FF0000"/>
                </a:solidFill>
              </a:rPr>
              <a:t>空间集聚程度的指标</a:t>
            </a:r>
            <a:r>
              <a:rPr lang="zh-CN" altLang="en-US" sz="2400" dirty="0">
                <a:solidFill>
                  <a:srgbClr val="000000"/>
                </a:solidFill>
              </a:rPr>
              <a:t>；</a:t>
            </a:r>
          </a:p>
          <a:p>
            <a:pPr marL="0" indent="0" algn="just" eaLnBrk="1" hangingPunct="1">
              <a:lnSpc>
                <a:spcPct val="120000"/>
              </a:lnSpc>
              <a:buNone/>
            </a:pPr>
            <a:r>
              <a:rPr lang="zh-CN" altLang="en-US" sz="2400" dirty="0">
                <a:solidFill>
                  <a:srgbClr val="000000"/>
                </a:solidFill>
              </a:rPr>
              <a:t>（</a:t>
            </a:r>
            <a:r>
              <a:rPr lang="en-US" altLang="zh-CN" sz="2400" dirty="0">
                <a:solidFill>
                  <a:srgbClr val="000000"/>
                </a:solidFill>
              </a:rPr>
              <a:t>2</a:t>
            </a:r>
            <a:r>
              <a:rPr lang="zh-CN" altLang="en-US" sz="2400" dirty="0">
                <a:solidFill>
                  <a:srgbClr val="000000"/>
                </a:solidFill>
              </a:rPr>
              <a:t>）</a:t>
            </a:r>
            <a:r>
              <a:rPr lang="zh-CN" altLang="en-US" sz="2400" dirty="0">
                <a:solidFill>
                  <a:srgbClr val="FF0000"/>
                </a:solidFill>
              </a:rPr>
              <a:t>所有区域单元</a:t>
            </a:r>
            <a:r>
              <a:rPr lang="en-US" altLang="zh-CN" sz="2400" dirty="0">
                <a:solidFill>
                  <a:srgbClr val="FF0000"/>
                </a:solidFill>
                <a:latin typeface="Times New Roman" panose="02020603050405020304" pitchFamily="18" charset="0"/>
                <a:cs typeface="Times New Roman" panose="02020603050405020304" pitchFamily="18" charset="0"/>
              </a:rPr>
              <a:t>LISA</a:t>
            </a:r>
            <a:r>
              <a:rPr lang="zh-CN" altLang="en-US" sz="2400" dirty="0">
                <a:solidFill>
                  <a:srgbClr val="FF0000"/>
                </a:solidFill>
              </a:rPr>
              <a:t>的总和与全局的空间关联指标成比例</a:t>
            </a:r>
            <a:r>
              <a:rPr lang="zh-CN" altLang="en-US" sz="2400" dirty="0">
                <a:solidFill>
                  <a:srgbClr val="000000"/>
                </a:solidFill>
              </a:rPr>
              <a:t>。</a:t>
            </a:r>
          </a:p>
          <a:p>
            <a:pPr marL="0" indent="0" algn="just" eaLnBrk="1" hangingPunct="1">
              <a:lnSpc>
                <a:spcPct val="120000"/>
              </a:lnSpc>
              <a:buNone/>
            </a:pPr>
            <a:r>
              <a:rPr lang="en-US" altLang="zh-CN" sz="2400" dirty="0">
                <a:solidFill>
                  <a:srgbClr val="000000"/>
                </a:solidFill>
                <a:latin typeface="Times New Roman" panose="02020603050405020304" pitchFamily="18" charset="0"/>
                <a:cs typeface="Times New Roman" panose="02020603050405020304" pitchFamily="18" charset="0"/>
              </a:rPr>
              <a:t>LISA</a:t>
            </a:r>
            <a:r>
              <a:rPr lang="zh-CN" altLang="en-US" sz="2400" dirty="0">
                <a:solidFill>
                  <a:srgbClr val="000000"/>
                </a:solidFill>
                <a:latin typeface="宋体" panose="02010600030101010101" pitchFamily="2" charset="-122"/>
              </a:rPr>
              <a:t>包括局部</a:t>
            </a:r>
            <a:r>
              <a:rPr lang="en-US" altLang="zh-CN" sz="2400" dirty="0">
                <a:solidFill>
                  <a:srgbClr val="000000"/>
                </a:solidFill>
                <a:latin typeface="Times New Roman" panose="02020603050405020304" pitchFamily="18" charset="0"/>
                <a:cs typeface="Times New Roman" panose="02020603050405020304" pitchFamily="18" charset="0"/>
              </a:rPr>
              <a:t>Moran</a:t>
            </a:r>
            <a:r>
              <a:rPr lang="zh-CN" altLang="en-US" sz="2400" dirty="0">
                <a:solidFill>
                  <a:srgbClr val="000000"/>
                </a:solidFill>
                <a:latin typeface="宋体" panose="02010600030101010101" pitchFamily="2" charset="-122"/>
              </a:rPr>
              <a:t>指数（</a:t>
            </a:r>
            <a:r>
              <a:rPr lang="en-US" altLang="zh-CN" sz="2400" dirty="0">
                <a:solidFill>
                  <a:srgbClr val="000000"/>
                </a:solidFill>
                <a:latin typeface="Times New Roman" panose="02020603050405020304" pitchFamily="18" charset="0"/>
                <a:cs typeface="Times New Roman" panose="02020603050405020304" pitchFamily="18" charset="0"/>
              </a:rPr>
              <a:t>Local Moran</a:t>
            </a:r>
            <a:r>
              <a:rPr lang="zh-CN" altLang="en-US" sz="2400" dirty="0">
                <a:solidFill>
                  <a:srgbClr val="000000"/>
                </a:solidFill>
                <a:latin typeface="宋体" panose="02010600030101010101" pitchFamily="2" charset="-122"/>
              </a:rPr>
              <a:t>）和局部</a:t>
            </a:r>
            <a:r>
              <a:rPr lang="en-US" altLang="zh-CN" sz="2400" dirty="0">
                <a:solidFill>
                  <a:srgbClr val="000000"/>
                </a:solidFill>
                <a:latin typeface="Times New Roman" panose="02020603050405020304" pitchFamily="18" charset="0"/>
                <a:cs typeface="Times New Roman" panose="02020603050405020304" pitchFamily="18" charset="0"/>
              </a:rPr>
              <a:t>Geary</a:t>
            </a:r>
            <a:r>
              <a:rPr lang="zh-CN" altLang="en-US" sz="2400" dirty="0">
                <a:solidFill>
                  <a:srgbClr val="000000"/>
                </a:solidFill>
                <a:latin typeface="宋体" panose="02010600030101010101" pitchFamily="2" charset="-122"/>
              </a:rPr>
              <a:t>指数（</a:t>
            </a:r>
            <a:r>
              <a:rPr lang="en-US" altLang="zh-CN" sz="2400" dirty="0">
                <a:solidFill>
                  <a:srgbClr val="000000"/>
                </a:solidFill>
                <a:latin typeface="Times New Roman" panose="02020603050405020304" pitchFamily="18" charset="0"/>
                <a:cs typeface="Times New Roman" panose="02020603050405020304" pitchFamily="18" charset="0"/>
              </a:rPr>
              <a:t>Local Geary</a:t>
            </a:r>
            <a:r>
              <a:rPr lang="zh-CN" altLang="en-US" sz="2400" dirty="0">
                <a:solidFill>
                  <a:srgbClr val="000000"/>
                </a:solidFill>
                <a:latin typeface="宋体" panose="02010600030101010101" pitchFamily="2" charset="-122"/>
              </a:rPr>
              <a:t>）</a:t>
            </a:r>
            <a:r>
              <a:rPr lang="zh-CN" altLang="en-US" sz="2400" dirty="0">
                <a:solidFill>
                  <a:srgbClr val="000000"/>
                </a:solidFill>
              </a:rPr>
              <a:t>，下面重点介绍和讨论局部</a:t>
            </a:r>
            <a:r>
              <a:rPr lang="en-US" altLang="zh-CN" sz="2400" dirty="0">
                <a:solidFill>
                  <a:srgbClr val="000000"/>
                </a:solidFill>
                <a:latin typeface="Times New Roman" panose="02020603050405020304" pitchFamily="18" charset="0"/>
                <a:cs typeface="Times New Roman" panose="02020603050405020304" pitchFamily="18" charset="0"/>
              </a:rPr>
              <a:t>Moran</a:t>
            </a:r>
            <a:r>
              <a:rPr lang="zh-CN" altLang="en-US" sz="2400" dirty="0">
                <a:solidFill>
                  <a:srgbClr val="000000"/>
                </a:solidFill>
              </a:rPr>
              <a:t>指数。</a:t>
            </a:r>
            <a:endParaRPr lang="zh-CN" altLang="en-US" dirty="0">
              <a:solidFill>
                <a:srgbClr val="000000"/>
              </a:solidFill>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2">
            <a:extLst>
              <a:ext uri="{FF2B5EF4-FFF2-40B4-BE49-F238E27FC236}">
                <a16:creationId xmlns:a16="http://schemas.microsoft.com/office/drawing/2014/main" id="{06B5C28B-88FB-47E9-B787-7AE7FD995BB7}"/>
              </a:ext>
            </a:extLst>
          </p:cNvPr>
          <p:cNvSpPr txBox="1">
            <a:spLocks noChangeArrowheads="1"/>
          </p:cNvSpPr>
          <p:nvPr/>
        </p:nvSpPr>
        <p:spPr bwMode="auto">
          <a:xfrm>
            <a:off x="2422525" y="1163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kumimoji="1" lang="zh-CN" altLang="zh-CN" sz="2400">
              <a:latin typeface="Times New Roman" panose="02020603050405020304" pitchFamily="18" charset="0"/>
            </a:endParaRPr>
          </a:p>
        </p:txBody>
      </p:sp>
      <p:sp>
        <p:nvSpPr>
          <p:cNvPr id="64515" name="Rectangle 16">
            <a:extLst>
              <a:ext uri="{FF2B5EF4-FFF2-40B4-BE49-F238E27FC236}">
                <a16:creationId xmlns:a16="http://schemas.microsoft.com/office/drawing/2014/main" id="{C3418E46-C926-4C09-A634-FF664D4A510F}"/>
              </a:ext>
            </a:extLst>
          </p:cNvPr>
          <p:cNvSpPr>
            <a:spLocks noGrp="1" noChangeArrowheads="1"/>
          </p:cNvSpPr>
          <p:nvPr>
            <p:ph type="title"/>
          </p:nvPr>
        </p:nvSpPr>
        <p:spPr>
          <a:xfrm>
            <a:off x="468313" y="304800"/>
            <a:ext cx="8447087" cy="838200"/>
          </a:xfrm>
          <a:noFill/>
        </p:spPr>
        <p:txBody>
          <a:bodyPr/>
          <a:lstStyle/>
          <a:p>
            <a:pPr eaLnBrk="1" hangingPunct="1"/>
            <a:r>
              <a:rPr lang="en-US" altLang="zh-CN" dirty="0"/>
              <a:t>3.5.2. </a:t>
            </a:r>
            <a:r>
              <a:rPr lang="zh-CN" altLang="en-US" dirty="0"/>
              <a:t>空间关联的局部指标</a:t>
            </a:r>
            <a:r>
              <a:rPr lang="en-US" altLang="zh-CN" dirty="0"/>
              <a:t>(LISA) </a:t>
            </a:r>
          </a:p>
        </p:txBody>
      </p:sp>
      <p:sp>
        <p:nvSpPr>
          <p:cNvPr id="64516" name="Rectangle 4">
            <a:extLst>
              <a:ext uri="{FF2B5EF4-FFF2-40B4-BE49-F238E27FC236}">
                <a16:creationId xmlns:a16="http://schemas.microsoft.com/office/drawing/2014/main" id="{E1D74C03-AA5B-49AD-89E7-A9893C4EC101}"/>
              </a:ext>
            </a:extLst>
          </p:cNvPr>
          <p:cNvSpPr>
            <a:spLocks noGrp="1" noChangeArrowheads="1"/>
          </p:cNvSpPr>
          <p:nvPr>
            <p:ph idx="1"/>
          </p:nvPr>
        </p:nvSpPr>
        <p:spPr>
          <a:xfrm>
            <a:off x="365552" y="979487"/>
            <a:ext cx="8748712" cy="4899025"/>
          </a:xfrm>
        </p:spPr>
        <p:txBody>
          <a:bodyPr/>
          <a:lstStyle/>
          <a:p>
            <a:pPr eaLnBrk="1" hangingPunct="1"/>
            <a:r>
              <a:rPr lang="zh-CN" altLang="en-US" sz="2400" dirty="0">
                <a:solidFill>
                  <a:srgbClr val="000000"/>
                </a:solidFill>
                <a:latin typeface="宋体" panose="02010600030101010101" pitchFamily="2" charset="-122"/>
              </a:rPr>
              <a:t>局部</a:t>
            </a:r>
            <a:r>
              <a:rPr lang="en-US" altLang="zh-CN" sz="2400" dirty="0">
                <a:solidFill>
                  <a:srgbClr val="000000"/>
                </a:solidFill>
              </a:rPr>
              <a:t>Moran</a:t>
            </a:r>
            <a:r>
              <a:rPr lang="zh-CN" altLang="en-US" sz="2400" dirty="0">
                <a:solidFill>
                  <a:srgbClr val="000000"/>
                </a:solidFill>
                <a:latin typeface="宋体" panose="02010600030101010101" pitchFamily="2" charset="-122"/>
              </a:rPr>
              <a:t>指数被定义为：</a:t>
            </a:r>
          </a:p>
          <a:p>
            <a:pPr eaLnBrk="1" hangingPunct="1"/>
            <a:endParaRPr lang="zh-CN" altLang="en-US" dirty="0">
              <a:solidFill>
                <a:srgbClr val="000000"/>
              </a:solidFill>
              <a:latin typeface="宋体" panose="02010600030101010101" pitchFamily="2" charset="-122"/>
            </a:endParaRPr>
          </a:p>
          <a:p>
            <a:pPr eaLnBrk="1" hangingPunct="1"/>
            <a:endParaRPr lang="zh-CN" altLang="en-US" dirty="0">
              <a:solidFill>
                <a:srgbClr val="000000"/>
              </a:solidFill>
              <a:latin typeface="宋体" panose="02010600030101010101" pitchFamily="2" charset="-122"/>
            </a:endParaRPr>
          </a:p>
          <a:p>
            <a:pPr eaLnBrk="1" hangingPunct="1"/>
            <a:endParaRPr lang="zh-CN" altLang="en-US" dirty="0">
              <a:solidFill>
                <a:srgbClr val="000000"/>
              </a:solidFill>
              <a:latin typeface="宋体" panose="02010600030101010101" pitchFamily="2" charset="-122"/>
            </a:endParaRPr>
          </a:p>
          <a:p>
            <a:pPr eaLnBrk="1" hangingPunct="1"/>
            <a:r>
              <a:rPr lang="zh-CN" altLang="en-US" dirty="0">
                <a:solidFill>
                  <a:srgbClr val="000000"/>
                </a:solidFill>
                <a:latin typeface="宋体" panose="02010600030101010101" pitchFamily="2" charset="-122"/>
              </a:rPr>
              <a:t>＝</a:t>
            </a:r>
            <a:r>
              <a:rPr lang="en-US" altLang="zh-CN" dirty="0">
                <a:solidFill>
                  <a:srgbClr val="000000"/>
                </a:solidFill>
                <a:latin typeface="宋体" panose="02010600030101010101" pitchFamily="2" charset="-122"/>
              </a:rPr>
              <a:t>》</a:t>
            </a:r>
            <a:r>
              <a:rPr lang="en-US" altLang="zh-CN" dirty="0"/>
              <a:t> </a:t>
            </a:r>
          </a:p>
          <a:p>
            <a:pPr eaLnBrk="1" hangingPunct="1"/>
            <a:endParaRPr lang="en-US" altLang="zh-CN" dirty="0"/>
          </a:p>
          <a:p>
            <a:pPr eaLnBrk="1" hangingPunct="1"/>
            <a:endParaRPr lang="en-US" altLang="zh-CN" sz="2400" dirty="0">
              <a:solidFill>
                <a:srgbClr val="000000"/>
              </a:solidFill>
              <a:latin typeface="宋体" panose="02010600030101010101" pitchFamily="2" charset="-122"/>
            </a:endParaRPr>
          </a:p>
          <a:p>
            <a:pPr eaLnBrk="1" hangingPunct="1">
              <a:buFont typeface="Wingdings 2" panose="05020102010507070707" pitchFamily="18" charset="2"/>
              <a:buNone/>
            </a:pPr>
            <a:r>
              <a:rPr lang="zh-CN" altLang="en-US" sz="2400" dirty="0">
                <a:solidFill>
                  <a:srgbClr val="000000"/>
                </a:solidFill>
                <a:latin typeface="宋体" panose="02010600030101010101" pitchFamily="2" charset="-122"/>
              </a:rPr>
              <a:t>式中：其中  和  是经过标准差标准化的观测值。</a:t>
            </a:r>
          </a:p>
          <a:p>
            <a:pPr eaLnBrk="1" hangingPunct="1"/>
            <a:r>
              <a:rPr lang="zh-CN" altLang="en-US" sz="2400" dirty="0">
                <a:solidFill>
                  <a:srgbClr val="000000"/>
                </a:solidFill>
                <a:latin typeface="宋体" panose="02010600030101010101" pitchFamily="2" charset="-122"/>
              </a:rPr>
              <a:t>局部</a:t>
            </a:r>
            <a:r>
              <a:rPr lang="en-US" altLang="zh-CN" sz="2400" dirty="0">
                <a:solidFill>
                  <a:srgbClr val="000000"/>
                </a:solidFill>
                <a:latin typeface="宋体" panose="02010600030101010101" pitchFamily="2" charset="-122"/>
              </a:rPr>
              <a:t>Moran</a:t>
            </a:r>
            <a:r>
              <a:rPr lang="zh-CN" altLang="en-US" sz="2400" dirty="0">
                <a:solidFill>
                  <a:srgbClr val="000000"/>
                </a:solidFill>
                <a:latin typeface="宋体" panose="02010600030101010101" pitchFamily="2" charset="-122"/>
              </a:rPr>
              <a:t>指数检验的标准化统计量为： </a:t>
            </a:r>
            <a:r>
              <a:rPr lang="zh-CN" altLang="en-US" dirty="0"/>
              <a:t> </a:t>
            </a:r>
          </a:p>
        </p:txBody>
      </p:sp>
      <p:graphicFrame>
        <p:nvGraphicFramePr>
          <p:cNvPr id="64517" name="Object 2">
            <a:extLst>
              <a:ext uri="{FF2B5EF4-FFF2-40B4-BE49-F238E27FC236}">
                <a16:creationId xmlns:a16="http://schemas.microsoft.com/office/drawing/2014/main" id="{C3AA3CAC-B24D-4029-91F7-6B227F78BCA2}"/>
              </a:ext>
            </a:extLst>
          </p:cNvPr>
          <p:cNvGraphicFramePr>
            <a:graphicFrameLocks noChangeAspect="1"/>
          </p:cNvGraphicFramePr>
          <p:nvPr/>
        </p:nvGraphicFramePr>
        <p:xfrm>
          <a:off x="3048000" y="1608138"/>
          <a:ext cx="2971800" cy="812800"/>
        </p:xfrm>
        <a:graphic>
          <a:graphicData uri="http://schemas.openxmlformats.org/presentationml/2006/ole">
            <mc:AlternateContent xmlns:mc="http://schemas.openxmlformats.org/markup-compatibility/2006">
              <mc:Choice xmlns:v="urn:schemas-microsoft-com:vml" Requires="v">
                <p:oleObj spid="_x0000_s64789" r:id="rId3" imgW="1637589" imgH="444307" progId="Equation.3">
                  <p:embed/>
                </p:oleObj>
              </mc:Choice>
              <mc:Fallback>
                <p:oleObj r:id="rId3" imgW="1637589" imgH="444307"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1608138"/>
                        <a:ext cx="297180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518" name="Object 3">
            <a:extLst>
              <a:ext uri="{FF2B5EF4-FFF2-40B4-BE49-F238E27FC236}">
                <a16:creationId xmlns:a16="http://schemas.microsoft.com/office/drawing/2014/main" id="{F6831E17-59B6-4B34-BD2E-F48C92851ED0}"/>
              </a:ext>
            </a:extLst>
          </p:cNvPr>
          <p:cNvGraphicFramePr>
            <a:graphicFrameLocks noChangeAspect="1"/>
          </p:cNvGraphicFramePr>
          <p:nvPr/>
        </p:nvGraphicFramePr>
        <p:xfrm>
          <a:off x="3124200" y="2417763"/>
          <a:ext cx="2833688" cy="1155700"/>
        </p:xfrm>
        <a:graphic>
          <a:graphicData uri="http://schemas.openxmlformats.org/presentationml/2006/ole">
            <mc:AlternateContent xmlns:mc="http://schemas.openxmlformats.org/markup-compatibility/2006">
              <mc:Choice xmlns:v="urn:schemas-microsoft-com:vml" Requires="v">
                <p:oleObj spid="_x0000_s64790" r:id="rId5" imgW="1701800" imgH="698500" progId="Equation.3">
                  <p:embed/>
                </p:oleObj>
              </mc:Choice>
              <mc:Fallback>
                <p:oleObj r:id="rId5" imgW="1701800" imgH="6985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24200" y="2417763"/>
                        <a:ext cx="2833688"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519" name="Object 4">
            <a:extLst>
              <a:ext uri="{FF2B5EF4-FFF2-40B4-BE49-F238E27FC236}">
                <a16:creationId xmlns:a16="http://schemas.microsoft.com/office/drawing/2014/main" id="{3948F9F9-2E63-4D3A-8857-AD1185BDA2F3}"/>
              </a:ext>
            </a:extLst>
          </p:cNvPr>
          <p:cNvGraphicFramePr>
            <a:graphicFrameLocks noChangeAspect="1"/>
          </p:cNvGraphicFramePr>
          <p:nvPr/>
        </p:nvGraphicFramePr>
        <p:xfrm>
          <a:off x="3276600" y="3644900"/>
          <a:ext cx="2971800" cy="1035050"/>
        </p:xfrm>
        <a:graphic>
          <a:graphicData uri="http://schemas.openxmlformats.org/presentationml/2006/ole">
            <mc:AlternateContent xmlns:mc="http://schemas.openxmlformats.org/markup-compatibility/2006">
              <mc:Choice xmlns:v="urn:schemas-microsoft-com:vml" Requires="v">
                <p:oleObj spid="_x0000_s64791" r:id="rId7" imgW="1663700" imgH="584200" progId="Equation.3">
                  <p:embed/>
                </p:oleObj>
              </mc:Choice>
              <mc:Fallback>
                <p:oleObj r:id="rId7" imgW="1663700" imgH="5842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6600" y="3644900"/>
                        <a:ext cx="2971800"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520" name="Object 5">
            <a:extLst>
              <a:ext uri="{FF2B5EF4-FFF2-40B4-BE49-F238E27FC236}">
                <a16:creationId xmlns:a16="http://schemas.microsoft.com/office/drawing/2014/main" id="{8BC388DF-1AA0-4DA8-93AA-25F8BE7B6EFE}"/>
              </a:ext>
            </a:extLst>
          </p:cNvPr>
          <p:cNvGraphicFramePr>
            <a:graphicFrameLocks noChangeAspect="1"/>
          </p:cNvGraphicFramePr>
          <p:nvPr/>
        </p:nvGraphicFramePr>
        <p:xfrm>
          <a:off x="1979613" y="4724400"/>
          <a:ext cx="377825" cy="533400"/>
        </p:xfrm>
        <a:graphic>
          <a:graphicData uri="http://schemas.openxmlformats.org/presentationml/2006/ole">
            <mc:AlternateContent xmlns:mc="http://schemas.openxmlformats.org/markup-compatibility/2006">
              <mc:Choice xmlns:v="urn:schemas-microsoft-com:vml" Requires="v">
                <p:oleObj spid="_x0000_s64792" r:id="rId9" imgW="165028" imgH="228501" progId="Equation.3">
                  <p:embed/>
                </p:oleObj>
              </mc:Choice>
              <mc:Fallback>
                <p:oleObj r:id="rId9" imgW="165028" imgH="228501"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79613" y="4724400"/>
                        <a:ext cx="3778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521" name="Object 6">
            <a:extLst>
              <a:ext uri="{FF2B5EF4-FFF2-40B4-BE49-F238E27FC236}">
                <a16:creationId xmlns:a16="http://schemas.microsoft.com/office/drawing/2014/main" id="{C0A9FDDA-7570-4DCC-9427-7F56500BA1C8}"/>
              </a:ext>
            </a:extLst>
          </p:cNvPr>
          <p:cNvGraphicFramePr>
            <a:graphicFrameLocks noChangeAspect="1"/>
          </p:cNvGraphicFramePr>
          <p:nvPr/>
        </p:nvGraphicFramePr>
        <p:xfrm>
          <a:off x="2582863" y="4724400"/>
          <a:ext cx="404812" cy="533400"/>
        </p:xfrm>
        <a:graphic>
          <a:graphicData uri="http://schemas.openxmlformats.org/presentationml/2006/ole">
            <mc:AlternateContent xmlns:mc="http://schemas.openxmlformats.org/markup-compatibility/2006">
              <mc:Choice xmlns:v="urn:schemas-microsoft-com:vml" Requires="v">
                <p:oleObj spid="_x0000_s64793" r:id="rId11" imgW="177646" imgH="241091" progId="Equation.3">
                  <p:embed/>
                </p:oleObj>
              </mc:Choice>
              <mc:Fallback>
                <p:oleObj r:id="rId11" imgW="177646" imgH="241091"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82863" y="4724400"/>
                        <a:ext cx="40481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522" name="Object 7">
            <a:extLst>
              <a:ext uri="{FF2B5EF4-FFF2-40B4-BE49-F238E27FC236}">
                <a16:creationId xmlns:a16="http://schemas.microsoft.com/office/drawing/2014/main" id="{3F1AAE2F-A728-4F44-8036-829B815FE167}"/>
              </a:ext>
            </a:extLst>
          </p:cNvPr>
          <p:cNvGraphicFramePr>
            <a:graphicFrameLocks noChangeAspect="1"/>
          </p:cNvGraphicFramePr>
          <p:nvPr/>
        </p:nvGraphicFramePr>
        <p:xfrm>
          <a:off x="3352800" y="5724525"/>
          <a:ext cx="2209800" cy="873125"/>
        </p:xfrm>
        <a:graphic>
          <a:graphicData uri="http://schemas.openxmlformats.org/presentationml/2006/ole">
            <mc:AlternateContent xmlns:mc="http://schemas.openxmlformats.org/markup-compatibility/2006">
              <mc:Choice xmlns:v="urn:schemas-microsoft-com:vml" Requires="v">
                <p:oleObj spid="_x0000_s64794" r:id="rId13" imgW="1180588" imgH="469696" progId="Equation.3">
                  <p:embed/>
                </p:oleObj>
              </mc:Choice>
              <mc:Fallback>
                <p:oleObj r:id="rId13" imgW="1180588" imgH="469696"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352800" y="5724525"/>
                        <a:ext cx="2209800"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a:extLst>
              <a:ext uri="{FF2B5EF4-FFF2-40B4-BE49-F238E27FC236}">
                <a16:creationId xmlns:a16="http://schemas.microsoft.com/office/drawing/2014/main" id="{13201ADF-C53E-46C9-9509-E723706D5B9D}"/>
              </a:ext>
            </a:extLst>
          </p:cNvPr>
          <p:cNvSpPr>
            <a:spLocks noGrp="1" noChangeArrowheads="1"/>
          </p:cNvSpPr>
          <p:nvPr>
            <p:ph type="title"/>
          </p:nvPr>
        </p:nvSpPr>
        <p:spPr>
          <a:xfrm>
            <a:off x="457200" y="381000"/>
            <a:ext cx="8075613" cy="671513"/>
          </a:xfrm>
        </p:spPr>
        <p:txBody>
          <a:bodyPr rtlCol="0">
            <a:normAutofit fontScale="90000"/>
          </a:bodyPr>
          <a:lstStyle/>
          <a:p>
            <a:pPr eaLnBrk="1" fontAlgn="auto" hangingPunct="1">
              <a:spcAft>
                <a:spcPts val="0"/>
              </a:spcAft>
              <a:defRPr/>
            </a:pPr>
            <a:r>
              <a:rPr lang="en-US" altLang="zh-CN" sz="2800">
                <a:latin typeface="黑体" pitchFamily="49" charset="-122"/>
              </a:rPr>
              <a:t>2.</a:t>
            </a:r>
            <a:r>
              <a:rPr lang="en-US" altLang="zh-CN" sz="2800">
                <a:latin typeface="Times New Roman" pitchFamily="18" charset="0"/>
              </a:rPr>
              <a:t>G</a:t>
            </a:r>
            <a:r>
              <a:rPr lang="zh-CN" altLang="en-US" sz="2800">
                <a:latin typeface="黑体" pitchFamily="49" charset="-122"/>
              </a:rPr>
              <a:t>统计量</a:t>
            </a:r>
            <a:r>
              <a:rPr lang="zh-CN" altLang="en-US"/>
              <a:t> </a:t>
            </a:r>
          </a:p>
        </p:txBody>
      </p:sp>
      <p:sp>
        <p:nvSpPr>
          <p:cNvPr id="65539" name="Rectangle 5">
            <a:extLst>
              <a:ext uri="{FF2B5EF4-FFF2-40B4-BE49-F238E27FC236}">
                <a16:creationId xmlns:a16="http://schemas.microsoft.com/office/drawing/2014/main" id="{F0D842FA-E04E-4D0D-8DDF-C81AE6F1E2D3}"/>
              </a:ext>
            </a:extLst>
          </p:cNvPr>
          <p:cNvSpPr>
            <a:spLocks noGrp="1" noChangeArrowheads="1"/>
          </p:cNvSpPr>
          <p:nvPr>
            <p:ph idx="1"/>
          </p:nvPr>
        </p:nvSpPr>
        <p:spPr>
          <a:xfrm>
            <a:off x="1371600" y="1676400"/>
            <a:ext cx="7772400" cy="4114800"/>
          </a:xfrm>
        </p:spPr>
        <p:txBody>
          <a:bodyPr/>
          <a:lstStyle/>
          <a:p>
            <a:pPr eaLnBrk="1" hangingPunct="1"/>
            <a:r>
              <a:rPr lang="zh-CN" altLang="en-US" sz="2400">
                <a:solidFill>
                  <a:srgbClr val="000000"/>
                </a:solidFill>
                <a:latin typeface="宋体" panose="02010600030101010101" pitchFamily="2" charset="-122"/>
              </a:rPr>
              <a:t>全局</a:t>
            </a:r>
            <a:r>
              <a:rPr lang="en-US" altLang="zh-CN" sz="2400">
                <a:solidFill>
                  <a:srgbClr val="000000"/>
                </a:solidFill>
              </a:rPr>
              <a:t>G</a:t>
            </a:r>
            <a:r>
              <a:rPr lang="zh-CN" altLang="en-US" sz="2400">
                <a:solidFill>
                  <a:srgbClr val="000000"/>
                </a:solidFill>
                <a:latin typeface="宋体" panose="02010600030101010101" pitchFamily="2" charset="-122"/>
              </a:rPr>
              <a:t>统计量的计算公式为：</a:t>
            </a:r>
          </a:p>
          <a:p>
            <a:pPr eaLnBrk="1" hangingPunct="1"/>
            <a:endParaRPr lang="zh-CN" altLang="en-US" sz="2400">
              <a:solidFill>
                <a:srgbClr val="000000"/>
              </a:solidFill>
              <a:latin typeface="宋体" panose="02010600030101010101" pitchFamily="2" charset="-122"/>
            </a:endParaRPr>
          </a:p>
          <a:p>
            <a:pPr eaLnBrk="1" hangingPunct="1"/>
            <a:endParaRPr lang="zh-CN" altLang="en-US" sz="2400">
              <a:solidFill>
                <a:srgbClr val="000000"/>
              </a:solidFill>
              <a:latin typeface="宋体" panose="02010600030101010101" pitchFamily="2" charset="-122"/>
            </a:endParaRPr>
          </a:p>
          <a:p>
            <a:pPr eaLnBrk="1" hangingPunct="1"/>
            <a:r>
              <a:rPr lang="zh-CN" altLang="en-US" sz="2400">
                <a:solidFill>
                  <a:srgbClr val="000000"/>
                </a:solidFill>
                <a:latin typeface="宋体" panose="02010600030101010101" pitchFamily="2" charset="-122"/>
              </a:rPr>
              <a:t>对每一个区域单元的统计量为：</a:t>
            </a:r>
            <a:r>
              <a:rPr lang="zh-CN" altLang="en-US">
                <a:solidFill>
                  <a:srgbClr val="000000"/>
                </a:solidFill>
                <a:latin typeface="宋体" panose="02010600030101010101" pitchFamily="2" charset="-122"/>
              </a:rPr>
              <a:t> </a:t>
            </a:r>
            <a:r>
              <a:rPr lang="zh-CN" altLang="en-US"/>
              <a:t> </a:t>
            </a:r>
          </a:p>
        </p:txBody>
      </p:sp>
      <p:graphicFrame>
        <p:nvGraphicFramePr>
          <p:cNvPr id="65540" name="Object 2">
            <a:extLst>
              <a:ext uri="{FF2B5EF4-FFF2-40B4-BE49-F238E27FC236}">
                <a16:creationId xmlns:a16="http://schemas.microsoft.com/office/drawing/2014/main" id="{E74310F3-5DA7-4B11-A478-5E3053DFB55C}"/>
              </a:ext>
            </a:extLst>
          </p:cNvPr>
          <p:cNvGraphicFramePr>
            <a:graphicFrameLocks noChangeAspect="1"/>
          </p:cNvGraphicFramePr>
          <p:nvPr/>
        </p:nvGraphicFramePr>
        <p:xfrm>
          <a:off x="3048000" y="2438400"/>
          <a:ext cx="3581400" cy="687388"/>
        </p:xfrm>
        <a:graphic>
          <a:graphicData uri="http://schemas.openxmlformats.org/presentationml/2006/ole">
            <mc:AlternateContent xmlns:mc="http://schemas.openxmlformats.org/markup-compatibility/2006">
              <mc:Choice xmlns:v="urn:schemas-microsoft-com:vml" Requires="v">
                <p:oleObj spid="_x0000_s65632" r:id="rId3" imgW="1841500" imgH="355600" progId="Equation.3">
                  <p:embed/>
                </p:oleObj>
              </mc:Choice>
              <mc:Fallback>
                <p:oleObj r:id="rId3" imgW="1841500" imgH="355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2438400"/>
                        <a:ext cx="3581400" cy="68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5541" name="Object 3">
            <a:extLst>
              <a:ext uri="{FF2B5EF4-FFF2-40B4-BE49-F238E27FC236}">
                <a16:creationId xmlns:a16="http://schemas.microsoft.com/office/drawing/2014/main" id="{4F86395D-59CA-43F1-BD87-7B108EB98452}"/>
              </a:ext>
            </a:extLst>
          </p:cNvPr>
          <p:cNvGraphicFramePr>
            <a:graphicFrameLocks noChangeAspect="1"/>
          </p:cNvGraphicFramePr>
          <p:nvPr/>
        </p:nvGraphicFramePr>
        <p:xfrm>
          <a:off x="3429000" y="4038600"/>
          <a:ext cx="2438400" cy="668338"/>
        </p:xfrm>
        <a:graphic>
          <a:graphicData uri="http://schemas.openxmlformats.org/presentationml/2006/ole">
            <mc:AlternateContent xmlns:mc="http://schemas.openxmlformats.org/markup-compatibility/2006">
              <mc:Choice xmlns:v="urn:schemas-microsoft-com:vml" Requires="v">
                <p:oleObj spid="_x0000_s65633" r:id="rId5" imgW="1282700" imgH="355600" progId="Equation.3">
                  <p:embed/>
                </p:oleObj>
              </mc:Choice>
              <mc:Fallback>
                <p:oleObj r:id="rId5" imgW="1282700" imgH="3556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4038600"/>
                        <a:ext cx="243840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1" name="Rectangle 5">
            <a:extLst>
              <a:ext uri="{FF2B5EF4-FFF2-40B4-BE49-F238E27FC236}">
                <a16:creationId xmlns:a16="http://schemas.microsoft.com/office/drawing/2014/main" id="{5622F256-3906-4526-A2DE-390DE1F87AC0}"/>
              </a:ext>
            </a:extLst>
          </p:cNvPr>
          <p:cNvSpPr>
            <a:spLocks noGrp="1" noChangeArrowheads="1"/>
          </p:cNvSpPr>
          <p:nvPr>
            <p:ph type="title"/>
          </p:nvPr>
        </p:nvSpPr>
        <p:spPr>
          <a:xfrm>
            <a:off x="457200" y="381000"/>
            <a:ext cx="8075613" cy="406400"/>
          </a:xfrm>
        </p:spPr>
        <p:txBody>
          <a:bodyPr rtlCol="0">
            <a:normAutofit fontScale="90000"/>
          </a:bodyPr>
          <a:lstStyle/>
          <a:p>
            <a:pPr eaLnBrk="1" fontAlgn="auto" hangingPunct="1">
              <a:spcAft>
                <a:spcPts val="0"/>
              </a:spcAft>
              <a:defRPr/>
            </a:pPr>
            <a:r>
              <a:rPr lang="en-US" altLang="zh-CN"/>
              <a:t>2. G</a:t>
            </a:r>
            <a:r>
              <a:rPr lang="zh-CN" altLang="en-US"/>
              <a:t>统计量 </a:t>
            </a:r>
          </a:p>
        </p:txBody>
      </p:sp>
      <p:sp>
        <p:nvSpPr>
          <p:cNvPr id="66563" name="Rectangle 2">
            <a:extLst>
              <a:ext uri="{FF2B5EF4-FFF2-40B4-BE49-F238E27FC236}">
                <a16:creationId xmlns:a16="http://schemas.microsoft.com/office/drawing/2014/main" id="{038702AA-11CB-496B-956D-C46565B8C063}"/>
              </a:ext>
            </a:extLst>
          </p:cNvPr>
          <p:cNvSpPr>
            <a:spLocks noGrp="1" noChangeArrowheads="1"/>
          </p:cNvSpPr>
          <p:nvPr>
            <p:ph idx="1"/>
          </p:nvPr>
        </p:nvSpPr>
        <p:spPr>
          <a:xfrm>
            <a:off x="395288" y="1125538"/>
            <a:ext cx="8497887" cy="5199062"/>
          </a:xfrm>
        </p:spPr>
        <p:txBody>
          <a:bodyPr/>
          <a:lstStyle/>
          <a:p>
            <a:pPr marL="0" indent="0" eaLnBrk="1" hangingPunct="1">
              <a:lnSpc>
                <a:spcPct val="120000"/>
              </a:lnSpc>
            </a:pPr>
            <a:r>
              <a:rPr lang="zh-CN" altLang="en-US" sz="2400">
                <a:solidFill>
                  <a:srgbClr val="000000"/>
                </a:solidFill>
                <a:latin typeface="宋体" panose="02010600030101010101" pitchFamily="2" charset="-122"/>
              </a:rPr>
              <a:t>对</a:t>
            </a:r>
            <a:r>
              <a:rPr lang="en-US" altLang="zh-CN" sz="2400">
                <a:solidFill>
                  <a:srgbClr val="000000"/>
                </a:solidFill>
                <a:latin typeface="Times New Roman" panose="02020603050405020304" pitchFamily="18" charset="0"/>
              </a:rPr>
              <a:t>G</a:t>
            </a:r>
            <a:r>
              <a:rPr lang="zh-CN" altLang="en-US" sz="2400">
                <a:solidFill>
                  <a:srgbClr val="000000"/>
                </a:solidFill>
                <a:latin typeface="宋体" panose="02010600030101010101" pitchFamily="2" charset="-122"/>
              </a:rPr>
              <a:t>统计量的检验与局部</a:t>
            </a:r>
            <a:r>
              <a:rPr lang="en-US" altLang="zh-CN" sz="2400">
                <a:solidFill>
                  <a:srgbClr val="000000"/>
                </a:solidFill>
                <a:latin typeface="Times New Roman" panose="02020603050405020304" pitchFamily="18" charset="0"/>
              </a:rPr>
              <a:t>Moran</a:t>
            </a:r>
            <a:r>
              <a:rPr lang="zh-CN" altLang="en-US" sz="2400">
                <a:solidFill>
                  <a:srgbClr val="000000"/>
                </a:solidFill>
                <a:latin typeface="宋体" panose="02010600030101010101" pitchFamily="2" charset="-122"/>
              </a:rPr>
              <a:t>指数相似，其检验值为：</a:t>
            </a:r>
            <a:r>
              <a:rPr lang="zh-CN" altLang="en-US" sz="2400">
                <a:solidFill>
                  <a:srgbClr val="0066FF"/>
                </a:solidFill>
                <a:latin typeface="Times New Roman" panose="02020603050405020304" pitchFamily="18" charset="0"/>
              </a:rPr>
              <a:t> </a:t>
            </a:r>
          </a:p>
          <a:p>
            <a:pPr marL="0" indent="0" eaLnBrk="1" hangingPunct="1">
              <a:lnSpc>
                <a:spcPct val="120000"/>
              </a:lnSpc>
            </a:pPr>
            <a:endParaRPr lang="zh-CN" altLang="en-US" sz="2400">
              <a:solidFill>
                <a:srgbClr val="0066FF"/>
              </a:solidFill>
              <a:latin typeface="Times New Roman" panose="02020603050405020304" pitchFamily="18" charset="0"/>
            </a:endParaRPr>
          </a:p>
          <a:p>
            <a:pPr marL="0" indent="0" eaLnBrk="1" hangingPunct="1">
              <a:lnSpc>
                <a:spcPct val="120000"/>
              </a:lnSpc>
            </a:pPr>
            <a:endParaRPr lang="zh-CN" altLang="en-US" sz="2400">
              <a:solidFill>
                <a:srgbClr val="000000"/>
              </a:solidFill>
              <a:latin typeface="宋体" panose="02010600030101010101" pitchFamily="2" charset="-122"/>
            </a:endParaRPr>
          </a:p>
          <a:p>
            <a:pPr marL="0" indent="0" eaLnBrk="1" hangingPunct="1">
              <a:lnSpc>
                <a:spcPct val="120000"/>
              </a:lnSpc>
            </a:pPr>
            <a:r>
              <a:rPr lang="zh-CN" altLang="en-US" sz="2400">
                <a:solidFill>
                  <a:srgbClr val="FF0000"/>
                </a:solidFill>
                <a:latin typeface="宋体" panose="02010600030101010101" pitchFamily="2" charset="-122"/>
              </a:rPr>
              <a:t>显著的正值表示在该区域单元周围，高观测值的区域单元趋于空间集聚</a:t>
            </a:r>
            <a:r>
              <a:rPr lang="zh-CN" altLang="en-US" sz="2400">
                <a:solidFill>
                  <a:srgbClr val="000000"/>
                </a:solidFill>
                <a:latin typeface="宋体" panose="02010600030101010101" pitchFamily="2" charset="-122"/>
              </a:rPr>
              <a:t>；而显著的负值表示低观测值的区域单元趋于空间集聚。</a:t>
            </a:r>
          </a:p>
          <a:p>
            <a:pPr marL="0" indent="0" algn="just" eaLnBrk="1" hangingPunct="1">
              <a:lnSpc>
                <a:spcPct val="120000"/>
              </a:lnSpc>
            </a:pPr>
            <a:r>
              <a:rPr lang="zh-CN" altLang="en-US" sz="2400">
                <a:solidFill>
                  <a:srgbClr val="FF0000"/>
                </a:solidFill>
              </a:rPr>
              <a:t>与</a:t>
            </a:r>
            <a:r>
              <a:rPr lang="en-US" altLang="zh-CN" sz="2400">
                <a:solidFill>
                  <a:srgbClr val="FF0000"/>
                </a:solidFill>
                <a:latin typeface="Times New Roman" panose="02020603050405020304" pitchFamily="18" charset="0"/>
                <a:cs typeface="Times New Roman" panose="02020603050405020304" pitchFamily="18" charset="0"/>
              </a:rPr>
              <a:t>Moran</a:t>
            </a:r>
            <a:r>
              <a:rPr lang="zh-CN" altLang="en-US" sz="2400">
                <a:solidFill>
                  <a:srgbClr val="FF0000"/>
                </a:solidFill>
              </a:rPr>
              <a:t>指数只能发现相似值</a:t>
            </a:r>
            <a:r>
              <a:rPr lang="en-US" altLang="zh-CN" sz="2400">
                <a:solidFill>
                  <a:srgbClr val="FF0000"/>
                </a:solidFill>
                <a:latin typeface="宋体" panose="02010600030101010101" pitchFamily="2" charset="-122"/>
              </a:rPr>
              <a:t>(</a:t>
            </a:r>
            <a:r>
              <a:rPr lang="zh-CN" altLang="en-US" sz="2400">
                <a:solidFill>
                  <a:srgbClr val="FF0000"/>
                </a:solidFill>
              </a:rPr>
              <a:t>正关联</a:t>
            </a:r>
            <a:r>
              <a:rPr lang="en-US" altLang="zh-CN" sz="2400">
                <a:solidFill>
                  <a:srgbClr val="FF0000"/>
                </a:solidFill>
                <a:latin typeface="宋体" panose="02010600030101010101" pitchFamily="2" charset="-122"/>
              </a:rPr>
              <a:t>)</a:t>
            </a:r>
            <a:r>
              <a:rPr lang="zh-CN" altLang="en-US" sz="2400">
                <a:solidFill>
                  <a:srgbClr val="FF0000"/>
                </a:solidFill>
              </a:rPr>
              <a:t>或非相似性观测值</a:t>
            </a:r>
            <a:r>
              <a:rPr lang="en-US" altLang="zh-CN" sz="2400">
                <a:solidFill>
                  <a:srgbClr val="FF0000"/>
                </a:solidFill>
                <a:latin typeface="宋体" panose="02010600030101010101" pitchFamily="2" charset="-122"/>
              </a:rPr>
              <a:t>(</a:t>
            </a:r>
            <a:r>
              <a:rPr lang="zh-CN" altLang="en-US" sz="2400">
                <a:solidFill>
                  <a:srgbClr val="FF0000"/>
                </a:solidFill>
              </a:rPr>
              <a:t>负关联</a:t>
            </a:r>
            <a:r>
              <a:rPr lang="en-US" altLang="zh-CN" sz="2400">
                <a:solidFill>
                  <a:srgbClr val="FF0000"/>
                </a:solidFill>
                <a:latin typeface="宋体" panose="02010600030101010101" pitchFamily="2" charset="-122"/>
              </a:rPr>
              <a:t>)</a:t>
            </a:r>
            <a:r>
              <a:rPr lang="zh-CN" altLang="en-US" sz="2400">
                <a:solidFill>
                  <a:srgbClr val="FF0000"/>
                </a:solidFill>
              </a:rPr>
              <a:t>的空间集聚模式相比</a:t>
            </a:r>
            <a:r>
              <a:rPr lang="zh-CN" altLang="en-US" sz="2400">
                <a:solidFill>
                  <a:srgbClr val="000000"/>
                </a:solidFill>
              </a:rPr>
              <a:t>，</a:t>
            </a:r>
            <a:r>
              <a:rPr lang="en-US" altLang="zh-CN" sz="2400">
                <a:solidFill>
                  <a:srgbClr val="000000"/>
                </a:solidFill>
              </a:rPr>
              <a:t>G</a:t>
            </a:r>
            <a:r>
              <a:rPr lang="zh-CN" altLang="en-US" sz="2400">
                <a:solidFill>
                  <a:srgbClr val="000000"/>
                </a:solidFill>
              </a:rPr>
              <a:t>统计量能够探测出区域单元属于高值集聚还是低值集聚的空间分布模式。</a:t>
            </a:r>
            <a:endParaRPr lang="zh-CN" altLang="en-US" sz="2400">
              <a:latin typeface="Times New Roman" panose="02020603050405020304" pitchFamily="18" charset="0"/>
            </a:endParaRPr>
          </a:p>
        </p:txBody>
      </p:sp>
      <p:graphicFrame>
        <p:nvGraphicFramePr>
          <p:cNvPr id="66564" name="Object 2">
            <a:extLst>
              <a:ext uri="{FF2B5EF4-FFF2-40B4-BE49-F238E27FC236}">
                <a16:creationId xmlns:a16="http://schemas.microsoft.com/office/drawing/2014/main" id="{5F97103C-72DF-4E3F-AA69-D968D6FBF076}"/>
              </a:ext>
            </a:extLst>
          </p:cNvPr>
          <p:cNvGraphicFramePr>
            <a:graphicFrameLocks noChangeAspect="1"/>
          </p:cNvGraphicFramePr>
          <p:nvPr/>
        </p:nvGraphicFramePr>
        <p:xfrm>
          <a:off x="3276600" y="1700213"/>
          <a:ext cx="2590800" cy="954087"/>
        </p:xfrm>
        <a:graphic>
          <a:graphicData uri="http://schemas.openxmlformats.org/presentationml/2006/ole">
            <mc:AlternateContent xmlns:mc="http://schemas.openxmlformats.org/markup-compatibility/2006">
              <mc:Choice xmlns:v="urn:schemas-microsoft-com:vml" Requires="v">
                <p:oleObj spid="_x0000_s66611" r:id="rId3" imgW="1269449" imgH="469696" progId="Equation.3">
                  <p:embed/>
                </p:oleObj>
              </mc:Choice>
              <mc:Fallback>
                <p:oleObj r:id="rId3" imgW="1269449" imgH="469696"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1700213"/>
                        <a:ext cx="25908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a:extLst>
              <a:ext uri="{FF2B5EF4-FFF2-40B4-BE49-F238E27FC236}">
                <a16:creationId xmlns:a16="http://schemas.microsoft.com/office/drawing/2014/main" id="{E2A4B225-C552-41AC-BA78-5914A77BBB7E}"/>
              </a:ext>
            </a:extLst>
          </p:cNvPr>
          <p:cNvSpPr txBox="1">
            <a:spLocks noChangeArrowheads="1"/>
          </p:cNvSpPr>
          <p:nvPr/>
        </p:nvSpPr>
        <p:spPr bwMode="auto">
          <a:xfrm>
            <a:off x="2193925" y="8588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kumimoji="1" lang="zh-CN" altLang="zh-CN" sz="2400"/>
          </a:p>
        </p:txBody>
      </p:sp>
      <p:sp>
        <p:nvSpPr>
          <p:cNvPr id="67587" name="Text Box 3">
            <a:extLst>
              <a:ext uri="{FF2B5EF4-FFF2-40B4-BE49-F238E27FC236}">
                <a16:creationId xmlns:a16="http://schemas.microsoft.com/office/drawing/2014/main" id="{D996EF0B-B6A5-45D6-AAC4-4432DE9F6AEF}"/>
              </a:ext>
            </a:extLst>
          </p:cNvPr>
          <p:cNvSpPr txBox="1">
            <a:spLocks noChangeArrowheads="1"/>
          </p:cNvSpPr>
          <p:nvPr/>
        </p:nvSpPr>
        <p:spPr bwMode="auto">
          <a:xfrm>
            <a:off x="2193925" y="782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kumimoji="1" lang="zh-CN" altLang="zh-CN" sz="2400"/>
          </a:p>
        </p:txBody>
      </p:sp>
      <p:sp>
        <p:nvSpPr>
          <p:cNvPr id="67588" name="Text Box 4">
            <a:extLst>
              <a:ext uri="{FF2B5EF4-FFF2-40B4-BE49-F238E27FC236}">
                <a16:creationId xmlns:a16="http://schemas.microsoft.com/office/drawing/2014/main" id="{3CCD98A5-6EBE-45F5-A920-3333E2CDEED8}"/>
              </a:ext>
            </a:extLst>
          </p:cNvPr>
          <p:cNvSpPr txBox="1">
            <a:spLocks noChangeArrowheads="1"/>
          </p:cNvSpPr>
          <p:nvPr/>
        </p:nvSpPr>
        <p:spPr bwMode="auto">
          <a:xfrm>
            <a:off x="2346325" y="935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kumimoji="1" lang="zh-CN" altLang="zh-CN" sz="2400"/>
          </a:p>
        </p:txBody>
      </p:sp>
      <p:sp>
        <p:nvSpPr>
          <p:cNvPr id="61448" name="Rectangle 8">
            <a:extLst>
              <a:ext uri="{FF2B5EF4-FFF2-40B4-BE49-F238E27FC236}">
                <a16:creationId xmlns:a16="http://schemas.microsoft.com/office/drawing/2014/main" id="{0755CA20-80C1-4BC9-9452-B8E77EF0137A}"/>
              </a:ext>
            </a:extLst>
          </p:cNvPr>
          <p:cNvSpPr>
            <a:spLocks noGrp="1" noChangeArrowheads="1"/>
          </p:cNvSpPr>
          <p:nvPr>
            <p:ph type="title"/>
          </p:nvPr>
        </p:nvSpPr>
        <p:spPr>
          <a:xfrm>
            <a:off x="251520" y="80962"/>
            <a:ext cx="8075613" cy="600075"/>
          </a:xfrm>
        </p:spPr>
        <p:txBody>
          <a:bodyPr rtlCol="0">
            <a:noAutofit/>
          </a:bodyPr>
          <a:lstStyle/>
          <a:p>
            <a:pPr eaLnBrk="1" fontAlgn="auto" hangingPunct="1">
              <a:spcAft>
                <a:spcPts val="0"/>
              </a:spcAft>
              <a:defRPr/>
            </a:pPr>
            <a:r>
              <a:rPr lang="en-US" altLang="zh-CN" sz="3600" dirty="0">
                <a:latin typeface="黑体" panose="02010609060101010101" pitchFamily="49" charset="-122"/>
                <a:ea typeface="黑体" panose="02010609060101010101" pitchFamily="49" charset="-122"/>
              </a:rPr>
              <a:t>3.Moran</a:t>
            </a:r>
            <a:r>
              <a:rPr lang="zh-CN" altLang="en-US" sz="3600" dirty="0">
                <a:latin typeface="黑体" panose="02010609060101010101" pitchFamily="49" charset="-122"/>
                <a:ea typeface="黑体" panose="02010609060101010101" pitchFamily="49" charset="-122"/>
              </a:rPr>
              <a:t>散点图 </a:t>
            </a:r>
          </a:p>
        </p:txBody>
      </p:sp>
      <p:sp>
        <p:nvSpPr>
          <p:cNvPr id="67590" name="Rectangle 9">
            <a:extLst>
              <a:ext uri="{FF2B5EF4-FFF2-40B4-BE49-F238E27FC236}">
                <a16:creationId xmlns:a16="http://schemas.microsoft.com/office/drawing/2014/main" id="{3F32FAB5-6C0A-43F9-8E28-348FA504152C}"/>
              </a:ext>
            </a:extLst>
          </p:cNvPr>
          <p:cNvSpPr>
            <a:spLocks noGrp="1" noChangeArrowheads="1"/>
          </p:cNvSpPr>
          <p:nvPr>
            <p:ph idx="1"/>
          </p:nvPr>
        </p:nvSpPr>
        <p:spPr>
          <a:xfrm>
            <a:off x="35496" y="1419803"/>
            <a:ext cx="9144694" cy="5057197"/>
          </a:xfrm>
        </p:spPr>
        <p:txBody>
          <a:bodyPr/>
          <a:lstStyle/>
          <a:p>
            <a:pPr algn="just" eaLnBrk="1" hangingPunct="1">
              <a:lnSpc>
                <a:spcPct val="90000"/>
              </a:lnSpc>
            </a:pPr>
            <a:r>
              <a:rPr lang="zh-CN" altLang="en-US" dirty="0">
                <a:solidFill>
                  <a:srgbClr val="000000"/>
                </a:solidFill>
                <a:latin typeface="黑体" panose="02010609060101010101" pitchFamily="49" charset="-122"/>
                <a:ea typeface="黑体" panose="02010609060101010101" pitchFamily="49" charset="-122"/>
              </a:rPr>
              <a:t>以（</a:t>
            </a:r>
            <a:r>
              <a:rPr lang="en-US" altLang="zh-CN" dirty="0" err="1">
                <a:latin typeface="黑体" panose="02010609060101010101" pitchFamily="49" charset="-122"/>
                <a:ea typeface="黑体" panose="02010609060101010101" pitchFamily="49" charset="-122"/>
                <a:cs typeface="Times New Roman" panose="02020603050405020304" pitchFamily="18" charset="0"/>
              </a:rPr>
              <a:t>Wz</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cs typeface="Times New Roman" panose="02020603050405020304" pitchFamily="18" charset="0"/>
              </a:rPr>
              <a:t>z</a:t>
            </a:r>
            <a:r>
              <a:rPr lang="zh-CN" altLang="en-US" dirty="0">
                <a:latin typeface="黑体" panose="02010609060101010101" pitchFamily="49" charset="-122"/>
                <a:ea typeface="黑体" panose="02010609060101010101" pitchFamily="49" charset="-122"/>
              </a:rPr>
              <a:t>）</a:t>
            </a:r>
            <a:r>
              <a:rPr lang="zh-CN" altLang="en-US" dirty="0">
                <a:solidFill>
                  <a:srgbClr val="000000"/>
                </a:solidFill>
                <a:latin typeface="黑体" panose="02010609060101010101" pitchFamily="49" charset="-122"/>
                <a:ea typeface="黑体" panose="02010609060101010101" pitchFamily="49" charset="-122"/>
              </a:rPr>
              <a:t>为坐标点的</a:t>
            </a:r>
            <a:r>
              <a:rPr lang="en-US" altLang="zh-CN" dirty="0">
                <a:solidFill>
                  <a:srgbClr val="000000"/>
                </a:solidFill>
                <a:latin typeface="黑体" panose="02010609060101010101" pitchFamily="49" charset="-122"/>
                <a:ea typeface="黑体" panose="02010609060101010101" pitchFamily="49" charset="-122"/>
                <a:cs typeface="Times New Roman" panose="02020603050405020304" pitchFamily="18" charset="0"/>
              </a:rPr>
              <a:t>Moran</a:t>
            </a:r>
            <a:r>
              <a:rPr lang="zh-CN" altLang="en-US" dirty="0">
                <a:solidFill>
                  <a:srgbClr val="000000"/>
                </a:solidFill>
                <a:latin typeface="黑体" panose="02010609060101010101" pitchFamily="49" charset="-122"/>
                <a:ea typeface="黑体" panose="02010609060101010101" pitchFamily="49" charset="-122"/>
              </a:rPr>
              <a:t>散点图，常来研究</a:t>
            </a:r>
            <a:r>
              <a:rPr lang="zh-CN" altLang="en-US" dirty="0">
                <a:solidFill>
                  <a:srgbClr val="FF0000"/>
                </a:solidFill>
                <a:latin typeface="黑体" panose="02010609060101010101" pitchFamily="49" charset="-122"/>
                <a:ea typeface="黑体" panose="02010609060101010101" pitchFamily="49" charset="-122"/>
              </a:rPr>
              <a:t>局部的空间不稳定性</a:t>
            </a:r>
            <a:r>
              <a:rPr lang="zh-CN" altLang="en-US" dirty="0">
                <a:solidFill>
                  <a:srgbClr val="000000"/>
                </a:solidFill>
                <a:latin typeface="黑体" panose="02010609060101010101" pitchFamily="49" charset="-122"/>
                <a:ea typeface="黑体" panose="02010609060101010101" pitchFamily="49" charset="-122"/>
              </a:rPr>
              <a:t>，它对空间滞后因子</a:t>
            </a:r>
            <a:r>
              <a:rPr lang="en-US" altLang="zh-CN" dirty="0" err="1">
                <a:solidFill>
                  <a:srgbClr val="000000"/>
                </a:solidFill>
                <a:latin typeface="黑体" panose="02010609060101010101" pitchFamily="49" charset="-122"/>
                <a:ea typeface="黑体" panose="02010609060101010101" pitchFamily="49" charset="-122"/>
                <a:cs typeface="Times New Roman" panose="02020603050405020304" pitchFamily="18" charset="0"/>
              </a:rPr>
              <a:t>Wz</a:t>
            </a:r>
            <a:r>
              <a:rPr lang="zh-CN" altLang="en-US" dirty="0">
                <a:solidFill>
                  <a:srgbClr val="000000"/>
                </a:solidFill>
                <a:latin typeface="黑体" panose="02010609060101010101" pitchFamily="49" charset="-122"/>
                <a:ea typeface="黑体" panose="02010609060101010101" pitchFamily="49" charset="-122"/>
              </a:rPr>
              <a:t>和</a:t>
            </a:r>
            <a:r>
              <a:rPr lang="en-US" altLang="zh-CN" dirty="0">
                <a:latin typeface="黑体" panose="02010609060101010101" pitchFamily="49" charset="-122"/>
                <a:ea typeface="黑体" panose="02010609060101010101" pitchFamily="49" charset="-122"/>
                <a:cs typeface="Times New Roman" panose="02020603050405020304" pitchFamily="18" charset="0"/>
              </a:rPr>
              <a:t>z</a:t>
            </a:r>
            <a:r>
              <a:rPr lang="zh-CN" altLang="en-US" dirty="0">
                <a:solidFill>
                  <a:srgbClr val="000000"/>
                </a:solidFill>
                <a:latin typeface="黑体" panose="02010609060101010101" pitchFamily="49" charset="-122"/>
                <a:ea typeface="黑体" panose="02010609060101010101" pitchFamily="49" charset="-122"/>
              </a:rPr>
              <a:t>数据对进行了可视化的二维图示。</a:t>
            </a:r>
            <a:endParaRPr lang="en-US" altLang="zh-CN" dirty="0">
              <a:solidFill>
                <a:srgbClr val="000000"/>
              </a:solidFill>
              <a:latin typeface="黑体" panose="02010609060101010101" pitchFamily="49" charset="-122"/>
              <a:ea typeface="黑体" panose="02010609060101010101" pitchFamily="49" charset="-122"/>
            </a:endParaRPr>
          </a:p>
          <a:p>
            <a:pPr algn="just" eaLnBrk="1" hangingPunct="1">
              <a:lnSpc>
                <a:spcPct val="90000"/>
              </a:lnSpc>
            </a:pPr>
            <a:endParaRPr lang="zh-CN" altLang="en-US" dirty="0">
              <a:solidFill>
                <a:srgbClr val="000000"/>
              </a:solidFill>
              <a:latin typeface="黑体" panose="02010609060101010101" pitchFamily="49" charset="-122"/>
              <a:ea typeface="黑体" panose="02010609060101010101" pitchFamily="49" charset="-122"/>
            </a:endParaRPr>
          </a:p>
          <a:p>
            <a:pPr algn="just" eaLnBrk="1" hangingPunct="1">
              <a:lnSpc>
                <a:spcPct val="90000"/>
              </a:lnSpc>
            </a:pPr>
            <a:r>
              <a:rPr lang="zh-CN" altLang="en-US" dirty="0">
                <a:solidFill>
                  <a:srgbClr val="000000"/>
                </a:solidFill>
                <a:latin typeface="黑体" panose="02010609060101010101" pitchFamily="49" charset="-122"/>
                <a:ea typeface="黑体" panose="02010609060101010101" pitchFamily="49" charset="-122"/>
              </a:rPr>
              <a:t>全局</a:t>
            </a:r>
            <a:r>
              <a:rPr lang="en-US" altLang="zh-CN" dirty="0">
                <a:solidFill>
                  <a:srgbClr val="000000"/>
                </a:solidFill>
                <a:latin typeface="黑体" panose="02010609060101010101" pitchFamily="49" charset="-122"/>
                <a:ea typeface="黑体" panose="02010609060101010101" pitchFamily="49" charset="-122"/>
                <a:cs typeface="Times New Roman" panose="02020603050405020304" pitchFamily="18" charset="0"/>
              </a:rPr>
              <a:t>Moran</a:t>
            </a:r>
            <a:r>
              <a:rPr lang="zh-CN" altLang="en-US" dirty="0">
                <a:solidFill>
                  <a:srgbClr val="000000"/>
                </a:solidFill>
                <a:latin typeface="黑体" panose="02010609060101010101" pitchFamily="49" charset="-122"/>
                <a:ea typeface="黑体" panose="02010609060101010101" pitchFamily="49" charset="-122"/>
              </a:rPr>
              <a:t>指数，可以看作是</a:t>
            </a:r>
            <a:r>
              <a:rPr lang="en-US" altLang="zh-CN" dirty="0" err="1">
                <a:solidFill>
                  <a:srgbClr val="000000"/>
                </a:solidFill>
                <a:latin typeface="黑体" panose="02010609060101010101" pitchFamily="49" charset="-122"/>
                <a:ea typeface="黑体" panose="02010609060101010101" pitchFamily="49" charset="-122"/>
                <a:cs typeface="Times New Roman" panose="02020603050405020304" pitchFamily="18" charset="0"/>
              </a:rPr>
              <a:t>Wz</a:t>
            </a:r>
            <a:r>
              <a:rPr lang="zh-CN" altLang="en-US" dirty="0">
                <a:solidFill>
                  <a:srgbClr val="000000"/>
                </a:solidFill>
                <a:latin typeface="黑体" panose="02010609060101010101" pitchFamily="49" charset="-122"/>
                <a:ea typeface="黑体" panose="02010609060101010101" pitchFamily="49" charset="-122"/>
              </a:rPr>
              <a:t>对于</a:t>
            </a:r>
            <a:r>
              <a:rPr lang="en-US" altLang="zh-CN" dirty="0">
                <a:solidFill>
                  <a:srgbClr val="FF0000"/>
                </a:solidFill>
                <a:latin typeface="黑体" panose="02010609060101010101" pitchFamily="49" charset="-122"/>
                <a:ea typeface="黑体" panose="02010609060101010101" pitchFamily="49" charset="-122"/>
                <a:cs typeface="Times New Roman" panose="02020603050405020304" pitchFamily="18" charset="0"/>
              </a:rPr>
              <a:t>z</a:t>
            </a:r>
            <a:r>
              <a:rPr lang="zh-CN" altLang="en-US" dirty="0">
                <a:solidFill>
                  <a:srgbClr val="000000"/>
                </a:solidFill>
                <a:latin typeface="黑体" panose="02010609060101010101" pitchFamily="49" charset="-122"/>
                <a:ea typeface="黑体" panose="02010609060101010101" pitchFamily="49" charset="-122"/>
              </a:rPr>
              <a:t>的线性回归系数，对界外值以及对</a:t>
            </a:r>
            <a:r>
              <a:rPr lang="en-US" altLang="zh-CN" dirty="0">
                <a:solidFill>
                  <a:srgbClr val="000000"/>
                </a:solidFill>
                <a:latin typeface="黑体" panose="02010609060101010101" pitchFamily="49" charset="-122"/>
                <a:ea typeface="黑体" panose="02010609060101010101" pitchFamily="49" charset="-122"/>
                <a:cs typeface="Times New Roman" panose="02020603050405020304" pitchFamily="18" charset="0"/>
              </a:rPr>
              <a:t>Moran</a:t>
            </a:r>
            <a:r>
              <a:rPr lang="zh-CN" altLang="en-US" dirty="0">
                <a:solidFill>
                  <a:srgbClr val="000000"/>
                </a:solidFill>
                <a:latin typeface="黑体" panose="02010609060101010101" pitchFamily="49" charset="-122"/>
                <a:ea typeface="黑体" panose="02010609060101010101" pitchFamily="49" charset="-122"/>
              </a:rPr>
              <a:t>指数具有强烈影响的区域单元，可通过标准回归来诊断出。</a:t>
            </a:r>
            <a:endParaRPr lang="en-US" altLang="zh-CN" dirty="0">
              <a:solidFill>
                <a:srgbClr val="000000"/>
              </a:solidFill>
              <a:latin typeface="黑体" panose="02010609060101010101" pitchFamily="49" charset="-122"/>
              <a:ea typeface="黑体" panose="02010609060101010101" pitchFamily="49" charset="-122"/>
            </a:endParaRPr>
          </a:p>
          <a:p>
            <a:pPr algn="just" eaLnBrk="1" hangingPunct="1">
              <a:lnSpc>
                <a:spcPct val="90000"/>
              </a:lnSpc>
            </a:pPr>
            <a:endParaRPr lang="zh-CN" altLang="en-US" dirty="0">
              <a:solidFill>
                <a:srgbClr val="000000"/>
              </a:solidFill>
              <a:latin typeface="黑体" panose="02010609060101010101" pitchFamily="49" charset="-122"/>
              <a:ea typeface="黑体" panose="02010609060101010101" pitchFamily="49" charset="-122"/>
            </a:endParaRPr>
          </a:p>
          <a:p>
            <a:pPr algn="just" eaLnBrk="1" hangingPunct="1">
              <a:lnSpc>
                <a:spcPct val="90000"/>
              </a:lnSpc>
            </a:pPr>
            <a:r>
              <a:rPr lang="zh-CN" altLang="en-US" dirty="0">
                <a:solidFill>
                  <a:srgbClr val="000000"/>
                </a:solidFill>
                <a:latin typeface="黑体" panose="02010609060101010101" pitchFamily="49" charset="-122"/>
                <a:ea typeface="黑体" panose="02010609060101010101" pitchFamily="49" charset="-122"/>
              </a:rPr>
              <a:t>由于数据对（</a:t>
            </a:r>
            <a:r>
              <a:rPr lang="en-US" altLang="zh-CN" dirty="0" err="1">
                <a:solidFill>
                  <a:srgbClr val="000000"/>
                </a:solidFill>
                <a:latin typeface="黑体" panose="02010609060101010101" pitchFamily="49" charset="-122"/>
                <a:ea typeface="黑体" panose="02010609060101010101" pitchFamily="49" charset="-122"/>
                <a:cs typeface="Times New Roman" panose="02020603050405020304" pitchFamily="18" charset="0"/>
              </a:rPr>
              <a:t>Wz</a:t>
            </a:r>
            <a:r>
              <a:rPr lang="zh-CN" altLang="en-US" dirty="0">
                <a:solidFill>
                  <a:srgbClr val="000000"/>
                </a:solidFill>
                <a:latin typeface="黑体" panose="02010609060101010101" pitchFamily="49" charset="-122"/>
                <a:ea typeface="黑体" panose="02010609060101010101" pitchFamily="49" charset="-122"/>
              </a:rPr>
              <a:t>，</a:t>
            </a:r>
            <a:r>
              <a:rPr lang="en-US" altLang="zh-CN" dirty="0">
                <a:solidFill>
                  <a:srgbClr val="FF0000"/>
                </a:solidFill>
                <a:latin typeface="黑体" panose="02010609060101010101" pitchFamily="49" charset="-122"/>
                <a:ea typeface="黑体" panose="02010609060101010101" pitchFamily="49" charset="-122"/>
                <a:cs typeface="Times New Roman" panose="02020603050405020304" pitchFamily="18" charset="0"/>
              </a:rPr>
              <a:t>z</a:t>
            </a:r>
            <a:r>
              <a:rPr lang="zh-CN" altLang="en-US" dirty="0">
                <a:solidFill>
                  <a:srgbClr val="000000"/>
                </a:solidFill>
                <a:latin typeface="黑体" panose="02010609060101010101" pitchFamily="49" charset="-122"/>
                <a:ea typeface="黑体" panose="02010609060101010101" pitchFamily="49" charset="-122"/>
              </a:rPr>
              <a:t>）经过了标准化，因此界外值可由</a:t>
            </a:r>
            <a:r>
              <a:rPr lang="en-US" altLang="zh-CN" dirty="0">
                <a:solidFill>
                  <a:srgbClr val="000000"/>
                </a:solidFill>
                <a:latin typeface="黑体" panose="02010609060101010101" pitchFamily="49" charset="-122"/>
                <a:ea typeface="黑体" panose="02010609060101010101" pitchFamily="49" charset="-122"/>
                <a:cs typeface="Times New Roman" panose="02020603050405020304" pitchFamily="18" charset="0"/>
              </a:rPr>
              <a:t>2</a:t>
            </a:r>
            <a:r>
              <a:rPr lang="zh-CN" altLang="en-US" dirty="0">
                <a:solidFill>
                  <a:srgbClr val="000000"/>
                </a:solidFill>
                <a:latin typeface="黑体" panose="02010609060101010101" pitchFamily="49" charset="-122"/>
                <a:ea typeface="黑体" panose="02010609060101010101" pitchFamily="49" charset="-122"/>
              </a:rPr>
              <a:t>－</a:t>
            </a:r>
            <a:r>
              <a:rPr lang="en-US" altLang="zh-CN" dirty="0">
                <a:solidFill>
                  <a:srgbClr val="000000"/>
                </a:solidFill>
                <a:latin typeface="黑体" panose="02010609060101010101" pitchFamily="49" charset="-122"/>
                <a:ea typeface="黑体" panose="02010609060101010101" pitchFamily="49" charset="-122"/>
                <a:cs typeface="Times New Roman" panose="02020603050405020304" pitchFamily="18" charset="0"/>
              </a:rPr>
              <a:t>sigma</a:t>
            </a:r>
            <a:r>
              <a:rPr lang="zh-CN" altLang="en-US" dirty="0">
                <a:solidFill>
                  <a:srgbClr val="000000"/>
                </a:solidFill>
                <a:latin typeface="黑体" panose="02010609060101010101" pitchFamily="49" charset="-122"/>
                <a:ea typeface="黑体" panose="02010609060101010101" pitchFamily="49" charset="-122"/>
              </a:rPr>
              <a:t>规则可视化地识别出来。</a:t>
            </a:r>
            <a:endParaRPr lang="zh-CN" altLang="en-US" dirty="0">
              <a:latin typeface="黑体" panose="02010609060101010101" pitchFamily="49" charset="-122"/>
              <a:ea typeface="黑体" panose="02010609060101010101" pitchFamily="49" charset="-122"/>
            </a:endParaRP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72" name="Rectangle 8">
            <a:extLst>
              <a:ext uri="{FF2B5EF4-FFF2-40B4-BE49-F238E27FC236}">
                <a16:creationId xmlns:a16="http://schemas.microsoft.com/office/drawing/2014/main" id="{62779C54-CEDB-49CC-B1AD-0FDACE34E353}"/>
              </a:ext>
            </a:extLst>
          </p:cNvPr>
          <p:cNvSpPr>
            <a:spLocks noGrp="1" noChangeArrowheads="1"/>
          </p:cNvSpPr>
          <p:nvPr>
            <p:ph type="title"/>
          </p:nvPr>
        </p:nvSpPr>
        <p:spPr>
          <a:xfrm>
            <a:off x="457200" y="381000"/>
            <a:ext cx="8075613" cy="600075"/>
          </a:xfrm>
        </p:spPr>
        <p:txBody>
          <a:bodyPr rtlCol="0">
            <a:normAutofit fontScale="90000"/>
          </a:bodyPr>
          <a:lstStyle/>
          <a:p>
            <a:pPr eaLnBrk="1" fontAlgn="auto" hangingPunct="1">
              <a:spcAft>
                <a:spcPts val="0"/>
              </a:spcAft>
              <a:defRPr/>
            </a:pPr>
            <a:r>
              <a:rPr lang="en-US" altLang="zh-CN"/>
              <a:t>3.Moran</a:t>
            </a:r>
            <a:r>
              <a:rPr lang="zh-CN" altLang="en-US"/>
              <a:t>散点图 </a:t>
            </a:r>
          </a:p>
        </p:txBody>
      </p:sp>
      <p:sp>
        <p:nvSpPr>
          <p:cNvPr id="68611" name="Rectangle 2">
            <a:extLst>
              <a:ext uri="{FF2B5EF4-FFF2-40B4-BE49-F238E27FC236}">
                <a16:creationId xmlns:a16="http://schemas.microsoft.com/office/drawing/2014/main" id="{0B389C59-9AB5-480A-A74E-166BCBD183ED}"/>
              </a:ext>
            </a:extLst>
          </p:cNvPr>
          <p:cNvSpPr>
            <a:spLocks noGrp="1" noChangeArrowheads="1"/>
          </p:cNvSpPr>
          <p:nvPr>
            <p:ph idx="1"/>
          </p:nvPr>
        </p:nvSpPr>
        <p:spPr>
          <a:xfrm>
            <a:off x="395288" y="1268413"/>
            <a:ext cx="8353425" cy="5132387"/>
          </a:xfrm>
        </p:spPr>
        <p:txBody>
          <a:bodyPr/>
          <a:lstStyle/>
          <a:p>
            <a:pPr marL="100013" indent="-100013" eaLnBrk="1" hangingPunct="1">
              <a:lnSpc>
                <a:spcPct val="120000"/>
              </a:lnSpc>
            </a:pPr>
            <a:r>
              <a:rPr lang="en-US" altLang="zh-CN" sz="2400" dirty="0">
                <a:solidFill>
                  <a:srgbClr val="FF0000"/>
                </a:solidFill>
                <a:latin typeface="Times New Roman" panose="02020603050405020304" pitchFamily="18" charset="0"/>
              </a:rPr>
              <a:t>Moran</a:t>
            </a:r>
            <a:r>
              <a:rPr lang="zh-CN" altLang="en-US" sz="2400" dirty="0">
                <a:solidFill>
                  <a:srgbClr val="FF0000"/>
                </a:solidFill>
                <a:latin typeface="宋体" panose="02010600030101010101" pitchFamily="2" charset="-122"/>
              </a:rPr>
              <a:t>散点图的四个象限，分别对应于区域单元与其邻居之间四种类型的局部空间关联形式</a:t>
            </a:r>
            <a:r>
              <a:rPr lang="zh-CN" altLang="en-US" sz="2400" dirty="0">
                <a:solidFill>
                  <a:srgbClr val="000000"/>
                </a:solidFill>
                <a:latin typeface="宋体" panose="02010600030101010101" pitchFamily="2" charset="-122"/>
              </a:rPr>
              <a:t>：</a:t>
            </a:r>
          </a:p>
          <a:p>
            <a:pPr marL="100013" indent="-100013" eaLnBrk="1" hangingPunct="1">
              <a:lnSpc>
                <a:spcPct val="120000"/>
              </a:lnSpc>
              <a:buFont typeface="Wingdings 2" panose="05020102010507070707" pitchFamily="18" charset="2"/>
              <a:buChar char="¡"/>
            </a:pPr>
            <a:r>
              <a:rPr lang="zh-CN" altLang="en-US" sz="2400" dirty="0">
                <a:solidFill>
                  <a:srgbClr val="000000"/>
                </a:solidFill>
                <a:latin typeface="宋体" panose="02010600030101010101" pitchFamily="2" charset="-122"/>
              </a:rPr>
              <a:t>    第一象限代表了高观测值的区域单元被同是高值的区域所包围的空间关联形式；</a:t>
            </a:r>
          </a:p>
          <a:p>
            <a:pPr marL="100013" indent="-100013" eaLnBrk="1" hangingPunct="1">
              <a:lnSpc>
                <a:spcPct val="120000"/>
              </a:lnSpc>
              <a:buFont typeface="Wingdings 2" panose="05020102010507070707" pitchFamily="18" charset="2"/>
              <a:buChar char="¡"/>
            </a:pPr>
            <a:r>
              <a:rPr lang="zh-CN" altLang="en-US" sz="2400" dirty="0">
                <a:solidFill>
                  <a:srgbClr val="000000"/>
                </a:solidFill>
                <a:latin typeface="宋体" panose="02010600030101010101" pitchFamily="2" charset="-122"/>
              </a:rPr>
              <a:t>    第二象限代表了低观测值的区域单元被高值的区域所包围的空间关联形式；</a:t>
            </a:r>
          </a:p>
          <a:p>
            <a:pPr marL="100013" indent="-100013" eaLnBrk="1" hangingPunct="1">
              <a:lnSpc>
                <a:spcPct val="120000"/>
              </a:lnSpc>
              <a:buFont typeface="Wingdings 2" panose="05020102010507070707" pitchFamily="18" charset="2"/>
              <a:buChar char="¡"/>
            </a:pPr>
            <a:r>
              <a:rPr lang="zh-CN" altLang="en-US" sz="2400" dirty="0">
                <a:solidFill>
                  <a:srgbClr val="000000"/>
                </a:solidFill>
                <a:latin typeface="宋体" panose="02010600030101010101" pitchFamily="2" charset="-122"/>
              </a:rPr>
              <a:t>    第三象限代表了低观测值的区域单元被同是低值的区域所包围的空间关联形式；</a:t>
            </a:r>
          </a:p>
          <a:p>
            <a:pPr marL="100013" indent="-100013" eaLnBrk="1" hangingPunct="1">
              <a:lnSpc>
                <a:spcPct val="120000"/>
              </a:lnSpc>
              <a:buFont typeface="Wingdings 2" panose="05020102010507070707" pitchFamily="18" charset="2"/>
              <a:buChar char="¡"/>
            </a:pPr>
            <a:r>
              <a:rPr lang="zh-CN" altLang="en-US" sz="2400" dirty="0">
                <a:solidFill>
                  <a:srgbClr val="000000"/>
                </a:solidFill>
                <a:latin typeface="宋体" panose="02010600030101010101" pitchFamily="2" charset="-122"/>
              </a:rPr>
              <a:t>    第四象限代表了高观测值的区域单元被低值的区域所包围的空间关联形式。 </a:t>
            </a:r>
            <a:r>
              <a:rPr lang="zh-CN" altLang="en-US" dirty="0">
                <a:latin typeface="Times New Roman" panose="02020603050405020304" pitchFamily="18" charset="0"/>
              </a:rPr>
              <a:t> </a:t>
            </a:r>
          </a:p>
        </p:txBody>
      </p:sp>
      <p:sp>
        <p:nvSpPr>
          <p:cNvPr id="68612" name="Text Box 4">
            <a:extLst>
              <a:ext uri="{FF2B5EF4-FFF2-40B4-BE49-F238E27FC236}">
                <a16:creationId xmlns:a16="http://schemas.microsoft.com/office/drawing/2014/main" id="{31A5FB3E-92D1-4229-9D85-4CE9DB58CE6A}"/>
              </a:ext>
            </a:extLst>
          </p:cNvPr>
          <p:cNvSpPr txBox="1">
            <a:spLocks noChangeArrowheads="1"/>
          </p:cNvSpPr>
          <p:nvPr/>
        </p:nvSpPr>
        <p:spPr bwMode="auto">
          <a:xfrm>
            <a:off x="1295400" y="4876800"/>
            <a:ext cx="6477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kumimoji="1" lang="zh-CN" altLang="zh-CN" sz="2000">
              <a:latin typeface="Times New Roman" panose="02020603050405020304" pitchFamily="18" charset="0"/>
            </a:endParaRPr>
          </a:p>
        </p:txBody>
      </p:sp>
      <p:sp>
        <p:nvSpPr>
          <p:cNvPr id="68613" name="Text Box 7">
            <a:extLst>
              <a:ext uri="{FF2B5EF4-FFF2-40B4-BE49-F238E27FC236}">
                <a16:creationId xmlns:a16="http://schemas.microsoft.com/office/drawing/2014/main" id="{4CD18CE5-626E-40E1-A1E0-87B892A9F710}"/>
              </a:ext>
            </a:extLst>
          </p:cNvPr>
          <p:cNvSpPr txBox="1">
            <a:spLocks noChangeArrowheads="1"/>
          </p:cNvSpPr>
          <p:nvPr/>
        </p:nvSpPr>
        <p:spPr bwMode="auto">
          <a:xfrm>
            <a:off x="1219200" y="57912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b" hangingPunct="1"/>
            <a:endParaRPr kumimoji="1" lang="zh-CN" altLang="zh-CN" sz="2400">
              <a:latin typeface="Times New Roman" panose="02020603050405020304" pitchFamily="18" charset="0"/>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2">
            <a:extLst>
              <a:ext uri="{FF2B5EF4-FFF2-40B4-BE49-F238E27FC236}">
                <a16:creationId xmlns:a16="http://schemas.microsoft.com/office/drawing/2014/main" id="{7F6ACC9A-DE49-485D-A0E6-E34D3F07FA9A}"/>
              </a:ext>
            </a:extLst>
          </p:cNvPr>
          <p:cNvSpPr txBox="1">
            <a:spLocks noChangeArrowheads="1"/>
          </p:cNvSpPr>
          <p:nvPr/>
        </p:nvSpPr>
        <p:spPr bwMode="auto">
          <a:xfrm>
            <a:off x="2422525" y="1163638"/>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a:latin typeface="Times New Roman" panose="02020603050405020304" pitchFamily="18" charset="0"/>
            </a:endParaRPr>
          </a:p>
        </p:txBody>
      </p:sp>
      <p:sp>
        <p:nvSpPr>
          <p:cNvPr id="69635" name="Rectangle 9">
            <a:extLst>
              <a:ext uri="{FF2B5EF4-FFF2-40B4-BE49-F238E27FC236}">
                <a16:creationId xmlns:a16="http://schemas.microsoft.com/office/drawing/2014/main" id="{FE34DBD3-9C0D-4FE3-BD5C-AD3011669DF0}"/>
              </a:ext>
            </a:extLst>
          </p:cNvPr>
          <p:cNvSpPr>
            <a:spLocks noChangeArrowheads="1"/>
          </p:cNvSpPr>
          <p:nvPr/>
        </p:nvSpPr>
        <p:spPr bwMode="auto">
          <a:xfrm>
            <a:off x="3771900" y="3205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9636" name="Rectangle 12">
            <a:extLst>
              <a:ext uri="{FF2B5EF4-FFF2-40B4-BE49-F238E27FC236}">
                <a16:creationId xmlns:a16="http://schemas.microsoft.com/office/drawing/2014/main" id="{1621AFF4-2CEA-4CD4-AFBF-622F5E3B090E}"/>
              </a:ext>
            </a:extLst>
          </p:cNvPr>
          <p:cNvSpPr>
            <a:spLocks noGrp="1" noChangeArrowheads="1"/>
          </p:cNvSpPr>
          <p:nvPr>
            <p:ph type="body" idx="1"/>
          </p:nvPr>
        </p:nvSpPr>
        <p:spPr>
          <a:xfrm>
            <a:off x="546100" y="250825"/>
            <a:ext cx="8388350" cy="5334000"/>
          </a:xfrm>
        </p:spPr>
        <p:txBody>
          <a:bodyPr/>
          <a:lstStyle/>
          <a:p>
            <a:r>
              <a:rPr lang="en-US" altLang="zh-CN" sz="2800" dirty="0">
                <a:solidFill>
                  <a:srgbClr val="000000"/>
                </a:solidFill>
                <a:latin typeface="宋体" panose="02010600030101010101" pitchFamily="2" charset="-122"/>
              </a:rPr>
              <a:t>       </a:t>
            </a:r>
            <a:r>
              <a:rPr lang="zh-CN" altLang="en-US" sz="2800" dirty="0">
                <a:solidFill>
                  <a:srgbClr val="000000"/>
                </a:solidFill>
                <a:latin typeface="宋体" panose="02010600030101010101" pitchFamily="2" charset="-122"/>
              </a:rPr>
              <a:t>局部</a:t>
            </a:r>
            <a:r>
              <a:rPr lang="en-US" altLang="zh-CN" sz="2800" dirty="0">
                <a:solidFill>
                  <a:srgbClr val="000000"/>
                </a:solidFill>
              </a:rPr>
              <a:t>Moran</a:t>
            </a:r>
            <a:r>
              <a:rPr lang="zh-CN" altLang="en-US" sz="2800" dirty="0">
                <a:solidFill>
                  <a:srgbClr val="000000"/>
                </a:solidFill>
                <a:latin typeface="宋体" panose="02010600030101010101" pitchFamily="2" charset="-122"/>
              </a:rPr>
              <a:t>指数被定义为</a:t>
            </a:r>
          </a:p>
          <a:p>
            <a:endParaRPr lang="zh-CN" altLang="en-US" dirty="0">
              <a:solidFill>
                <a:srgbClr val="000000"/>
              </a:solidFill>
              <a:latin typeface="宋体" panose="02010600030101010101" pitchFamily="2" charset="-122"/>
            </a:endParaRPr>
          </a:p>
          <a:p>
            <a:endParaRPr lang="zh-CN" altLang="en-US" dirty="0">
              <a:solidFill>
                <a:srgbClr val="000000"/>
              </a:solidFill>
              <a:latin typeface="宋体" panose="02010600030101010101" pitchFamily="2" charset="-122"/>
            </a:endParaRPr>
          </a:p>
          <a:p>
            <a:pPr>
              <a:lnSpc>
                <a:spcPct val="50000"/>
              </a:lnSpc>
            </a:pPr>
            <a:r>
              <a:rPr lang="zh-CN" altLang="en-US" sz="2800" dirty="0">
                <a:solidFill>
                  <a:srgbClr val="000000"/>
                </a:solidFill>
                <a:latin typeface="宋体" panose="02010600030101010101" pitchFamily="2" charset="-122"/>
              </a:rPr>
              <a:t>       可进一步写成</a:t>
            </a:r>
            <a:endParaRPr lang="zh-CN" altLang="en-US" sz="2800" dirty="0"/>
          </a:p>
          <a:p>
            <a:endParaRPr lang="zh-CN" altLang="en-US" sz="3600" dirty="0"/>
          </a:p>
          <a:p>
            <a:endParaRPr lang="zh-CN" altLang="en-US" sz="2800" dirty="0">
              <a:solidFill>
                <a:srgbClr val="000000"/>
              </a:solidFill>
              <a:latin typeface="宋体" panose="02010600030101010101" pitchFamily="2" charset="-122"/>
            </a:endParaRPr>
          </a:p>
          <a:p>
            <a:pPr>
              <a:lnSpc>
                <a:spcPct val="50000"/>
              </a:lnSpc>
            </a:pPr>
            <a:endParaRPr lang="zh-CN" altLang="en-US" sz="2800" dirty="0">
              <a:solidFill>
                <a:srgbClr val="000000"/>
              </a:solidFill>
              <a:latin typeface="宋体" panose="02010600030101010101" pitchFamily="2" charset="-122"/>
            </a:endParaRPr>
          </a:p>
          <a:p>
            <a:r>
              <a:rPr lang="zh-CN" altLang="en-US" sz="2800" dirty="0">
                <a:solidFill>
                  <a:srgbClr val="000000"/>
                </a:solidFill>
                <a:latin typeface="宋体" panose="02010600030101010101" pitchFamily="2" charset="-122"/>
              </a:rPr>
              <a:t>   </a:t>
            </a:r>
          </a:p>
          <a:p>
            <a:r>
              <a:rPr lang="zh-CN" altLang="en-US" sz="2800" dirty="0">
                <a:solidFill>
                  <a:srgbClr val="000000"/>
                </a:solidFill>
                <a:latin typeface="宋体" panose="02010600030101010101" pitchFamily="2" charset="-122"/>
              </a:rPr>
              <a:t>        式中：  和  是经过标准差标准化的观测值。</a:t>
            </a:r>
          </a:p>
          <a:p>
            <a:r>
              <a:rPr lang="zh-CN" altLang="en-US" sz="2800" dirty="0">
                <a:solidFill>
                  <a:srgbClr val="000000"/>
                </a:solidFill>
                <a:latin typeface="宋体" panose="02010600030101010101" pitchFamily="2" charset="-122"/>
              </a:rPr>
              <a:t>       局部</a:t>
            </a:r>
            <a:r>
              <a:rPr lang="en-US" altLang="zh-CN" sz="2800" dirty="0">
                <a:solidFill>
                  <a:srgbClr val="000000"/>
                </a:solidFill>
                <a:latin typeface="宋体" panose="02010600030101010101" pitchFamily="2" charset="-122"/>
              </a:rPr>
              <a:t>Moran</a:t>
            </a:r>
            <a:r>
              <a:rPr lang="zh-CN" altLang="en-US" sz="2800" dirty="0">
                <a:solidFill>
                  <a:srgbClr val="000000"/>
                </a:solidFill>
                <a:latin typeface="宋体" panose="02010600030101010101" pitchFamily="2" charset="-122"/>
              </a:rPr>
              <a:t>指数检验的标准化统计量为 </a:t>
            </a:r>
            <a:r>
              <a:rPr lang="zh-CN" altLang="en-US" dirty="0"/>
              <a:t> </a:t>
            </a:r>
          </a:p>
        </p:txBody>
      </p:sp>
      <p:sp>
        <p:nvSpPr>
          <p:cNvPr id="69637" name="Rectangle 14">
            <a:extLst>
              <a:ext uri="{FF2B5EF4-FFF2-40B4-BE49-F238E27FC236}">
                <a16:creationId xmlns:a16="http://schemas.microsoft.com/office/drawing/2014/main" id="{B0C3B857-CA44-4FDA-8FE0-624FAE76B588}"/>
              </a:ext>
            </a:extLst>
          </p:cNvPr>
          <p:cNvSpPr>
            <a:spLocks noChangeArrowheads="1"/>
          </p:cNvSpPr>
          <p:nvPr/>
        </p:nvSpPr>
        <p:spPr bwMode="auto">
          <a:xfrm>
            <a:off x="3752850" y="3205163"/>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69638" name="Object 13">
            <a:extLst>
              <a:ext uri="{FF2B5EF4-FFF2-40B4-BE49-F238E27FC236}">
                <a16:creationId xmlns:a16="http://schemas.microsoft.com/office/drawing/2014/main" id="{5EAAC7B9-5519-4CD5-835A-1E70E73A21E1}"/>
              </a:ext>
            </a:extLst>
          </p:cNvPr>
          <p:cNvGraphicFramePr>
            <a:graphicFrameLocks noChangeAspect="1"/>
          </p:cNvGraphicFramePr>
          <p:nvPr/>
        </p:nvGraphicFramePr>
        <p:xfrm>
          <a:off x="3419475" y="836613"/>
          <a:ext cx="2971800" cy="812800"/>
        </p:xfrm>
        <a:graphic>
          <a:graphicData uri="http://schemas.openxmlformats.org/presentationml/2006/ole">
            <mc:AlternateContent xmlns:mc="http://schemas.openxmlformats.org/markup-compatibility/2006">
              <mc:Choice xmlns:v="urn:schemas-microsoft-com:vml" Requires="v">
                <p:oleObj spid="_x0000_s69914" r:id="rId3" imgW="1637589" imgH="444307" progId="Equation.3">
                  <p:embed/>
                </p:oleObj>
              </mc:Choice>
              <mc:Fallback>
                <p:oleObj r:id="rId3" imgW="1637589" imgH="444307"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9475" y="836613"/>
                        <a:ext cx="297180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39" name="Rectangle 16">
            <a:extLst>
              <a:ext uri="{FF2B5EF4-FFF2-40B4-BE49-F238E27FC236}">
                <a16:creationId xmlns:a16="http://schemas.microsoft.com/office/drawing/2014/main" id="{CC904DCC-1623-483B-B432-07D1C514A010}"/>
              </a:ext>
            </a:extLst>
          </p:cNvPr>
          <p:cNvSpPr>
            <a:spLocks noChangeArrowheads="1"/>
          </p:cNvSpPr>
          <p:nvPr/>
        </p:nvSpPr>
        <p:spPr bwMode="auto">
          <a:xfrm>
            <a:off x="3719513" y="3081338"/>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69640" name="Object 15">
            <a:extLst>
              <a:ext uri="{FF2B5EF4-FFF2-40B4-BE49-F238E27FC236}">
                <a16:creationId xmlns:a16="http://schemas.microsoft.com/office/drawing/2014/main" id="{478E2031-722F-4CEE-87B1-65BB8115F990}"/>
              </a:ext>
            </a:extLst>
          </p:cNvPr>
          <p:cNvGraphicFramePr>
            <a:graphicFrameLocks noChangeAspect="1"/>
          </p:cNvGraphicFramePr>
          <p:nvPr/>
        </p:nvGraphicFramePr>
        <p:xfrm>
          <a:off x="3419475" y="2205038"/>
          <a:ext cx="2833688" cy="1155700"/>
        </p:xfrm>
        <a:graphic>
          <a:graphicData uri="http://schemas.openxmlformats.org/presentationml/2006/ole">
            <mc:AlternateContent xmlns:mc="http://schemas.openxmlformats.org/markup-compatibility/2006">
              <mc:Choice xmlns:v="urn:schemas-microsoft-com:vml" Requires="v">
                <p:oleObj spid="_x0000_s69915" r:id="rId5" imgW="1701800" imgH="698500" progId="Equation.3">
                  <p:embed/>
                </p:oleObj>
              </mc:Choice>
              <mc:Fallback>
                <p:oleObj r:id="rId5" imgW="1701800" imgH="698500" progId="Equation.3">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19475" y="2205038"/>
                        <a:ext cx="2833688"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641" name="Object 17">
            <a:extLst>
              <a:ext uri="{FF2B5EF4-FFF2-40B4-BE49-F238E27FC236}">
                <a16:creationId xmlns:a16="http://schemas.microsoft.com/office/drawing/2014/main" id="{83BC8FE7-7187-4FD8-A4DC-D214BF1CD071}"/>
              </a:ext>
            </a:extLst>
          </p:cNvPr>
          <p:cNvGraphicFramePr>
            <a:graphicFrameLocks noChangeAspect="1"/>
          </p:cNvGraphicFramePr>
          <p:nvPr/>
        </p:nvGraphicFramePr>
        <p:xfrm>
          <a:off x="3708400" y="3284538"/>
          <a:ext cx="2971800" cy="1035050"/>
        </p:xfrm>
        <a:graphic>
          <a:graphicData uri="http://schemas.openxmlformats.org/presentationml/2006/ole">
            <mc:AlternateContent xmlns:mc="http://schemas.openxmlformats.org/markup-compatibility/2006">
              <mc:Choice xmlns:v="urn:schemas-microsoft-com:vml" Requires="v">
                <p:oleObj spid="_x0000_s69916" r:id="rId7" imgW="1663700" imgH="584200" progId="Equation.3">
                  <p:embed/>
                </p:oleObj>
              </mc:Choice>
              <mc:Fallback>
                <p:oleObj r:id="rId7" imgW="1663700" imgH="584200" progId="Equation.3">
                  <p:embed/>
                  <p:pic>
                    <p:nvPicPr>
                      <p:cNvPr id="0"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08400" y="3284538"/>
                        <a:ext cx="2971800"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42" name="Rectangle 20">
            <a:extLst>
              <a:ext uri="{FF2B5EF4-FFF2-40B4-BE49-F238E27FC236}">
                <a16:creationId xmlns:a16="http://schemas.microsoft.com/office/drawing/2014/main" id="{CEE34833-3D75-4EA9-B080-9B3AFACE7D89}"/>
              </a:ext>
            </a:extLst>
          </p:cNvPr>
          <p:cNvSpPr>
            <a:spLocks noChangeArrowheads="1"/>
          </p:cNvSpPr>
          <p:nvPr/>
        </p:nvSpPr>
        <p:spPr bwMode="auto">
          <a:xfrm>
            <a:off x="4491038" y="3314700"/>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69643" name="Object 19">
            <a:extLst>
              <a:ext uri="{FF2B5EF4-FFF2-40B4-BE49-F238E27FC236}">
                <a16:creationId xmlns:a16="http://schemas.microsoft.com/office/drawing/2014/main" id="{945E1B3E-9FBB-455A-8361-2B5709674151}"/>
              </a:ext>
            </a:extLst>
          </p:cNvPr>
          <p:cNvGraphicFramePr>
            <a:graphicFrameLocks noChangeAspect="1"/>
          </p:cNvGraphicFramePr>
          <p:nvPr/>
        </p:nvGraphicFramePr>
        <p:xfrm>
          <a:off x="3203575" y="4221163"/>
          <a:ext cx="377825" cy="533400"/>
        </p:xfrm>
        <a:graphic>
          <a:graphicData uri="http://schemas.openxmlformats.org/presentationml/2006/ole">
            <mc:AlternateContent xmlns:mc="http://schemas.openxmlformats.org/markup-compatibility/2006">
              <mc:Choice xmlns:v="urn:schemas-microsoft-com:vml" Requires="v">
                <p:oleObj spid="_x0000_s69917" r:id="rId9" imgW="165028" imgH="228501" progId="Equation.3">
                  <p:embed/>
                </p:oleObj>
              </mc:Choice>
              <mc:Fallback>
                <p:oleObj r:id="rId9" imgW="165028" imgH="228501" progId="Equation.3">
                  <p:embed/>
                  <p:pic>
                    <p:nvPicPr>
                      <p:cNvPr id="0"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03575" y="4221163"/>
                        <a:ext cx="3778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44" name="Rectangle 22">
            <a:extLst>
              <a:ext uri="{FF2B5EF4-FFF2-40B4-BE49-F238E27FC236}">
                <a16:creationId xmlns:a16="http://schemas.microsoft.com/office/drawing/2014/main" id="{2795F2A9-A83E-4A3C-A910-59C12168576F}"/>
              </a:ext>
            </a:extLst>
          </p:cNvPr>
          <p:cNvSpPr>
            <a:spLocks noChangeArrowheads="1"/>
          </p:cNvSpPr>
          <p:nvPr/>
        </p:nvSpPr>
        <p:spPr bwMode="auto">
          <a:xfrm>
            <a:off x="4481513" y="3309938"/>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69645" name="Object 21">
            <a:extLst>
              <a:ext uri="{FF2B5EF4-FFF2-40B4-BE49-F238E27FC236}">
                <a16:creationId xmlns:a16="http://schemas.microsoft.com/office/drawing/2014/main" id="{5EAE977D-0C7D-490F-B1C2-CB16744BF934}"/>
              </a:ext>
            </a:extLst>
          </p:cNvPr>
          <p:cNvGraphicFramePr>
            <a:graphicFrameLocks noChangeAspect="1"/>
          </p:cNvGraphicFramePr>
          <p:nvPr/>
        </p:nvGraphicFramePr>
        <p:xfrm>
          <a:off x="4067175" y="4221163"/>
          <a:ext cx="404813" cy="533400"/>
        </p:xfrm>
        <a:graphic>
          <a:graphicData uri="http://schemas.openxmlformats.org/presentationml/2006/ole">
            <mc:AlternateContent xmlns:mc="http://schemas.openxmlformats.org/markup-compatibility/2006">
              <mc:Choice xmlns:v="urn:schemas-microsoft-com:vml" Requires="v">
                <p:oleObj spid="_x0000_s69918" r:id="rId11" imgW="177646" imgH="241091" progId="Equation.3">
                  <p:embed/>
                </p:oleObj>
              </mc:Choice>
              <mc:Fallback>
                <p:oleObj r:id="rId11" imgW="177646" imgH="241091" progId="Equation.3">
                  <p:embed/>
                  <p:pic>
                    <p:nvPicPr>
                      <p:cNvPr id="0" name="Object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67175" y="4221163"/>
                        <a:ext cx="40481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46" name="Rectangle 24">
            <a:extLst>
              <a:ext uri="{FF2B5EF4-FFF2-40B4-BE49-F238E27FC236}">
                <a16:creationId xmlns:a16="http://schemas.microsoft.com/office/drawing/2014/main" id="{333F66E1-A4FB-4DFE-AAC6-193BD6F00778}"/>
              </a:ext>
            </a:extLst>
          </p:cNvPr>
          <p:cNvSpPr>
            <a:spLocks noChangeArrowheads="1"/>
          </p:cNvSpPr>
          <p:nvPr/>
        </p:nvSpPr>
        <p:spPr bwMode="auto">
          <a:xfrm>
            <a:off x="3708400" y="2997200"/>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69647" name="Object 23">
            <a:extLst>
              <a:ext uri="{FF2B5EF4-FFF2-40B4-BE49-F238E27FC236}">
                <a16:creationId xmlns:a16="http://schemas.microsoft.com/office/drawing/2014/main" id="{2DEE34C6-6C28-4F1E-9DB8-3BB88A51498C}"/>
              </a:ext>
            </a:extLst>
          </p:cNvPr>
          <p:cNvGraphicFramePr>
            <a:graphicFrameLocks noChangeAspect="1"/>
          </p:cNvGraphicFramePr>
          <p:nvPr/>
        </p:nvGraphicFramePr>
        <p:xfrm>
          <a:off x="3635375" y="5734050"/>
          <a:ext cx="2209800" cy="873125"/>
        </p:xfrm>
        <a:graphic>
          <a:graphicData uri="http://schemas.openxmlformats.org/presentationml/2006/ole">
            <mc:AlternateContent xmlns:mc="http://schemas.openxmlformats.org/markup-compatibility/2006">
              <mc:Choice xmlns:v="urn:schemas-microsoft-com:vml" Requires="v">
                <p:oleObj spid="_x0000_s69919" r:id="rId13" imgW="1180588" imgH="469696" progId="Equation.3">
                  <p:embed/>
                </p:oleObj>
              </mc:Choice>
              <mc:Fallback>
                <p:oleObj r:id="rId13" imgW="1180588" imgH="469696" progId="Equation.3">
                  <p:embed/>
                  <p:pic>
                    <p:nvPicPr>
                      <p:cNvPr id="0" name="Object 2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35375" y="5734050"/>
                        <a:ext cx="2209800"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8">
            <a:extLst>
              <a:ext uri="{FF2B5EF4-FFF2-40B4-BE49-F238E27FC236}">
                <a16:creationId xmlns:a16="http://schemas.microsoft.com/office/drawing/2014/main" id="{B2EB28EF-D8E4-4BDE-8E9E-188CABD25501}"/>
              </a:ext>
            </a:extLst>
          </p:cNvPr>
          <p:cNvSpPr>
            <a:spLocks noGrp="1" noChangeArrowheads="1"/>
          </p:cNvSpPr>
          <p:nvPr>
            <p:ph type="title"/>
          </p:nvPr>
        </p:nvSpPr>
        <p:spPr>
          <a:xfrm>
            <a:off x="323528" y="280392"/>
            <a:ext cx="7772400" cy="762000"/>
          </a:xfrm>
        </p:spPr>
        <p:txBody>
          <a:bodyPr/>
          <a:lstStyle/>
          <a:p>
            <a:pPr>
              <a:buClr>
                <a:schemeClr val="accent2"/>
              </a:buClr>
              <a:buSzPct val="80000"/>
            </a:pPr>
            <a:r>
              <a:rPr lang="en-US" altLang="zh-CN" sz="3200" i="1" dirty="0">
                <a:solidFill>
                  <a:srgbClr val="000000"/>
                </a:solidFill>
                <a:latin typeface="黑体" panose="02010609060101010101" pitchFamily="49" charset="-122"/>
                <a:ea typeface="黑体" panose="02010609060101010101" pitchFamily="49" charset="-122"/>
              </a:rPr>
              <a:t>G</a:t>
            </a:r>
            <a:r>
              <a:rPr lang="zh-CN" altLang="en-US" sz="3200" dirty="0">
                <a:solidFill>
                  <a:srgbClr val="000000"/>
                </a:solidFill>
                <a:latin typeface="黑体" panose="02010609060101010101" pitchFamily="49" charset="-122"/>
                <a:ea typeface="黑体" panose="02010609060101010101" pitchFamily="49" charset="-122"/>
              </a:rPr>
              <a:t>统计量</a:t>
            </a:r>
            <a:r>
              <a:rPr lang="zh-CN" altLang="en-US" dirty="0"/>
              <a:t> </a:t>
            </a:r>
          </a:p>
        </p:txBody>
      </p:sp>
      <p:sp>
        <p:nvSpPr>
          <p:cNvPr id="70659" name="Rectangle 9">
            <a:extLst>
              <a:ext uri="{FF2B5EF4-FFF2-40B4-BE49-F238E27FC236}">
                <a16:creationId xmlns:a16="http://schemas.microsoft.com/office/drawing/2014/main" id="{690FBDFD-E629-45AB-8301-FD9BDD18B71C}"/>
              </a:ext>
            </a:extLst>
          </p:cNvPr>
          <p:cNvSpPr>
            <a:spLocks noGrp="1" noChangeArrowheads="1"/>
          </p:cNvSpPr>
          <p:nvPr>
            <p:ph type="body" idx="1"/>
          </p:nvPr>
        </p:nvSpPr>
        <p:spPr>
          <a:xfrm>
            <a:off x="1277937" y="1700808"/>
            <a:ext cx="7121525" cy="4114800"/>
          </a:xfrm>
        </p:spPr>
        <p:txBody>
          <a:bodyPr/>
          <a:lstStyle/>
          <a:p>
            <a:r>
              <a:rPr lang="zh-CN" altLang="en-US" sz="2800" dirty="0">
                <a:solidFill>
                  <a:srgbClr val="000000"/>
                </a:solidFill>
                <a:latin typeface="宋体" panose="02010600030101010101" pitchFamily="2" charset="-122"/>
              </a:rPr>
              <a:t>全局</a:t>
            </a:r>
            <a:r>
              <a:rPr lang="en-US" altLang="zh-CN" sz="2800" i="1" dirty="0">
                <a:solidFill>
                  <a:srgbClr val="000000"/>
                </a:solidFill>
              </a:rPr>
              <a:t>G</a:t>
            </a:r>
            <a:r>
              <a:rPr lang="zh-CN" altLang="en-US" sz="2800" dirty="0">
                <a:solidFill>
                  <a:srgbClr val="000000"/>
                </a:solidFill>
                <a:latin typeface="宋体" panose="02010600030101010101" pitchFamily="2" charset="-122"/>
              </a:rPr>
              <a:t>统计量的计算公式为</a:t>
            </a:r>
          </a:p>
          <a:p>
            <a:endParaRPr lang="zh-CN" altLang="en-US" sz="2800" dirty="0">
              <a:solidFill>
                <a:srgbClr val="000000"/>
              </a:solidFill>
              <a:latin typeface="宋体" panose="02010600030101010101" pitchFamily="2" charset="-122"/>
            </a:endParaRPr>
          </a:p>
          <a:p>
            <a:endParaRPr lang="zh-CN" altLang="en-US" sz="2800" dirty="0">
              <a:solidFill>
                <a:srgbClr val="000000"/>
              </a:solidFill>
              <a:latin typeface="宋体" panose="02010600030101010101" pitchFamily="2" charset="-122"/>
            </a:endParaRPr>
          </a:p>
          <a:p>
            <a:r>
              <a:rPr lang="zh-CN" altLang="en-US" sz="2800" dirty="0">
                <a:solidFill>
                  <a:srgbClr val="000000"/>
                </a:solidFill>
                <a:latin typeface="宋体" panose="02010600030101010101" pitchFamily="2" charset="-122"/>
              </a:rPr>
              <a:t>对每一个区域单元的统计量为</a:t>
            </a:r>
            <a:r>
              <a:rPr lang="zh-CN" altLang="en-US" dirty="0">
                <a:solidFill>
                  <a:srgbClr val="000000"/>
                </a:solidFill>
                <a:latin typeface="宋体" panose="02010600030101010101" pitchFamily="2" charset="-122"/>
              </a:rPr>
              <a:t> </a:t>
            </a:r>
            <a:r>
              <a:rPr lang="zh-CN" altLang="en-US" dirty="0"/>
              <a:t> </a:t>
            </a:r>
          </a:p>
        </p:txBody>
      </p:sp>
      <p:graphicFrame>
        <p:nvGraphicFramePr>
          <p:cNvPr id="70660" name="Object 10">
            <a:extLst>
              <a:ext uri="{FF2B5EF4-FFF2-40B4-BE49-F238E27FC236}">
                <a16:creationId xmlns:a16="http://schemas.microsoft.com/office/drawing/2014/main" id="{D060C37F-CEBB-47E0-9596-37D626FDC977}"/>
              </a:ext>
            </a:extLst>
          </p:cNvPr>
          <p:cNvGraphicFramePr>
            <a:graphicFrameLocks noChangeAspect="1"/>
          </p:cNvGraphicFramePr>
          <p:nvPr/>
        </p:nvGraphicFramePr>
        <p:xfrm>
          <a:off x="3048000" y="2438400"/>
          <a:ext cx="3581400" cy="687388"/>
        </p:xfrm>
        <a:graphic>
          <a:graphicData uri="http://schemas.openxmlformats.org/presentationml/2006/ole">
            <mc:AlternateContent xmlns:mc="http://schemas.openxmlformats.org/markup-compatibility/2006">
              <mc:Choice xmlns:v="urn:schemas-microsoft-com:vml" Requires="v">
                <p:oleObj spid="_x0000_s70752" r:id="rId3" imgW="1841500" imgH="355600" progId="Equation.3">
                  <p:embed/>
                </p:oleObj>
              </mc:Choice>
              <mc:Fallback>
                <p:oleObj r:id="rId3" imgW="1841500" imgH="355600"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2438400"/>
                        <a:ext cx="3581400" cy="68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661" name="Object 12">
            <a:extLst>
              <a:ext uri="{FF2B5EF4-FFF2-40B4-BE49-F238E27FC236}">
                <a16:creationId xmlns:a16="http://schemas.microsoft.com/office/drawing/2014/main" id="{9678B0C2-6AB8-450E-92AB-C08253F84674}"/>
              </a:ext>
            </a:extLst>
          </p:cNvPr>
          <p:cNvGraphicFramePr>
            <a:graphicFrameLocks noChangeAspect="1"/>
          </p:cNvGraphicFramePr>
          <p:nvPr/>
        </p:nvGraphicFramePr>
        <p:xfrm>
          <a:off x="3429000" y="4038600"/>
          <a:ext cx="2438400" cy="668338"/>
        </p:xfrm>
        <a:graphic>
          <a:graphicData uri="http://schemas.openxmlformats.org/presentationml/2006/ole">
            <mc:AlternateContent xmlns:mc="http://schemas.openxmlformats.org/markup-compatibility/2006">
              <mc:Choice xmlns:v="urn:schemas-microsoft-com:vml" Requires="v">
                <p:oleObj spid="_x0000_s70753" r:id="rId5" imgW="1282700" imgH="355600" progId="Equation.3">
                  <p:embed/>
                </p:oleObj>
              </mc:Choice>
              <mc:Fallback>
                <p:oleObj r:id="rId5" imgW="1282700" imgH="355600" progId="Equation.3">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4038600"/>
                        <a:ext cx="243840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3">
            <a:extLst>
              <a:ext uri="{FF2B5EF4-FFF2-40B4-BE49-F238E27FC236}">
                <a16:creationId xmlns:a16="http://schemas.microsoft.com/office/drawing/2014/main" id="{EAC35F3A-1AAE-4CB8-ADB9-34ECBD328FC8}"/>
              </a:ext>
            </a:extLst>
          </p:cNvPr>
          <p:cNvSpPr>
            <a:spLocks noGrp="1" noChangeArrowheads="1"/>
          </p:cNvSpPr>
          <p:nvPr>
            <p:ph type="body" idx="1"/>
          </p:nvPr>
        </p:nvSpPr>
        <p:spPr>
          <a:xfrm>
            <a:off x="1331913" y="762000"/>
            <a:ext cx="7812087" cy="5562600"/>
          </a:xfrm>
        </p:spPr>
        <p:txBody>
          <a:bodyPr/>
          <a:lstStyle/>
          <a:p>
            <a:pPr marL="0" indent="0">
              <a:lnSpc>
                <a:spcPct val="120000"/>
              </a:lnSpc>
            </a:pPr>
            <a:r>
              <a:rPr lang="en-US" altLang="zh-CN" sz="2800">
                <a:solidFill>
                  <a:srgbClr val="000000"/>
                </a:solidFill>
                <a:latin typeface="宋体" panose="02010600030101010101" pitchFamily="2" charset="-122"/>
              </a:rPr>
              <a:t>    </a:t>
            </a:r>
            <a:r>
              <a:rPr lang="zh-CN" altLang="en-US" sz="2800">
                <a:solidFill>
                  <a:srgbClr val="000000"/>
                </a:solidFill>
                <a:latin typeface="宋体" panose="02010600030101010101" pitchFamily="2" charset="-122"/>
              </a:rPr>
              <a:t>对统计量的检验与局部</a:t>
            </a:r>
            <a:r>
              <a:rPr lang="en-US" altLang="zh-CN" sz="2800">
                <a:solidFill>
                  <a:srgbClr val="000000"/>
                </a:solidFill>
                <a:latin typeface="Times New Roman" panose="02020603050405020304" pitchFamily="18" charset="0"/>
              </a:rPr>
              <a:t>Moran</a:t>
            </a:r>
            <a:r>
              <a:rPr lang="zh-CN" altLang="en-US" sz="2800">
                <a:solidFill>
                  <a:srgbClr val="000000"/>
                </a:solidFill>
                <a:latin typeface="宋体" panose="02010600030101010101" pitchFamily="2" charset="-122"/>
              </a:rPr>
              <a:t>指数相似，其检验值为</a:t>
            </a:r>
            <a:r>
              <a:rPr lang="zh-CN" altLang="en-US" sz="2800">
                <a:solidFill>
                  <a:srgbClr val="0066FF"/>
                </a:solidFill>
                <a:latin typeface="Times New Roman" panose="02020603050405020304" pitchFamily="18" charset="0"/>
              </a:rPr>
              <a:t> </a:t>
            </a:r>
          </a:p>
          <a:p>
            <a:pPr marL="0" indent="0">
              <a:lnSpc>
                <a:spcPct val="120000"/>
              </a:lnSpc>
              <a:buFont typeface="Wingdings" panose="05000000000000000000" pitchFamily="2" charset="2"/>
              <a:buChar char="Ø"/>
            </a:pPr>
            <a:endParaRPr lang="zh-CN" altLang="en-US" sz="2800">
              <a:solidFill>
                <a:srgbClr val="0066FF"/>
              </a:solidFill>
              <a:latin typeface="Times New Roman" panose="02020603050405020304" pitchFamily="18" charset="0"/>
            </a:endParaRPr>
          </a:p>
          <a:p>
            <a:pPr marL="0" indent="0">
              <a:lnSpc>
                <a:spcPct val="120000"/>
              </a:lnSpc>
            </a:pPr>
            <a:r>
              <a:rPr lang="zh-CN" altLang="en-US" sz="2800">
                <a:solidFill>
                  <a:srgbClr val="000000"/>
                </a:solidFill>
                <a:latin typeface="宋体" panose="02010600030101010101" pitchFamily="2" charset="-122"/>
              </a:rPr>
              <a:t>    显著的正值表示在该区域单元周围，高观测值的区域单元趋于空间集聚，而显著的负值表示低观测值的区域单元趋于空间集聚</a:t>
            </a:r>
            <a:r>
              <a:rPr lang="en-US" altLang="zh-CN" sz="2800">
                <a:solidFill>
                  <a:srgbClr val="000000"/>
                </a:solidFill>
                <a:latin typeface="宋体" panose="02010600030101010101" pitchFamily="2" charset="-122"/>
              </a:rPr>
              <a:t>,</a:t>
            </a:r>
            <a:r>
              <a:rPr lang="zh-CN" altLang="en-US" sz="2800">
                <a:solidFill>
                  <a:srgbClr val="000000"/>
                </a:solidFill>
              </a:rPr>
              <a:t>与</a:t>
            </a:r>
            <a:r>
              <a:rPr lang="en-US" altLang="zh-CN" sz="2800">
                <a:solidFill>
                  <a:srgbClr val="000000"/>
                </a:solidFill>
                <a:latin typeface="Times New Roman" panose="02020603050405020304" pitchFamily="18" charset="0"/>
                <a:cs typeface="Times New Roman" panose="02020603050405020304" pitchFamily="18" charset="0"/>
              </a:rPr>
              <a:t>Moran</a:t>
            </a:r>
            <a:r>
              <a:rPr lang="zh-CN" altLang="en-US" sz="2800">
                <a:solidFill>
                  <a:srgbClr val="000000"/>
                </a:solidFill>
              </a:rPr>
              <a:t>指数只能发现相似值</a:t>
            </a:r>
            <a:r>
              <a:rPr lang="en-US" altLang="zh-CN" sz="2800">
                <a:solidFill>
                  <a:srgbClr val="000000"/>
                </a:solidFill>
                <a:latin typeface="宋体" panose="02010600030101010101" pitchFamily="2" charset="-122"/>
              </a:rPr>
              <a:t>(</a:t>
            </a:r>
            <a:r>
              <a:rPr lang="zh-CN" altLang="en-US" sz="2800">
                <a:solidFill>
                  <a:srgbClr val="000000"/>
                </a:solidFill>
              </a:rPr>
              <a:t>正关联</a:t>
            </a:r>
            <a:r>
              <a:rPr lang="en-US" altLang="zh-CN" sz="2800">
                <a:solidFill>
                  <a:srgbClr val="000000"/>
                </a:solidFill>
                <a:latin typeface="宋体" panose="02010600030101010101" pitchFamily="2" charset="-122"/>
              </a:rPr>
              <a:t>)</a:t>
            </a:r>
            <a:r>
              <a:rPr lang="zh-CN" altLang="en-US" sz="2800">
                <a:solidFill>
                  <a:srgbClr val="000000"/>
                </a:solidFill>
              </a:rPr>
              <a:t>或非相似性观测值</a:t>
            </a:r>
            <a:r>
              <a:rPr lang="en-US" altLang="zh-CN" sz="2800">
                <a:solidFill>
                  <a:srgbClr val="000000"/>
                </a:solidFill>
                <a:latin typeface="宋体" panose="02010600030101010101" pitchFamily="2" charset="-122"/>
              </a:rPr>
              <a:t>(</a:t>
            </a:r>
            <a:r>
              <a:rPr lang="zh-CN" altLang="en-US" sz="2800">
                <a:solidFill>
                  <a:srgbClr val="000000"/>
                </a:solidFill>
              </a:rPr>
              <a:t>负关联</a:t>
            </a:r>
            <a:r>
              <a:rPr lang="en-US" altLang="zh-CN" sz="2800">
                <a:solidFill>
                  <a:srgbClr val="000000"/>
                </a:solidFill>
                <a:latin typeface="宋体" panose="02010600030101010101" pitchFamily="2" charset="-122"/>
              </a:rPr>
              <a:t>)</a:t>
            </a:r>
            <a:r>
              <a:rPr lang="zh-CN" altLang="en-US" sz="2800">
                <a:solidFill>
                  <a:srgbClr val="000000"/>
                </a:solidFill>
              </a:rPr>
              <a:t>的空间集聚模式相比，具有能够探测出区域单元属于高值集聚还是低值集聚的空间分布模式。</a:t>
            </a:r>
          </a:p>
        </p:txBody>
      </p:sp>
      <p:sp>
        <p:nvSpPr>
          <p:cNvPr id="71683" name="Rectangle 13">
            <a:extLst>
              <a:ext uri="{FF2B5EF4-FFF2-40B4-BE49-F238E27FC236}">
                <a16:creationId xmlns:a16="http://schemas.microsoft.com/office/drawing/2014/main" id="{EE0B20B6-DBF3-48F0-B550-09DD976E528F}"/>
              </a:ext>
            </a:extLst>
          </p:cNvPr>
          <p:cNvSpPr>
            <a:spLocks noChangeArrowheads="1"/>
          </p:cNvSpPr>
          <p:nvPr/>
        </p:nvSpPr>
        <p:spPr bwMode="auto">
          <a:xfrm>
            <a:off x="3938588" y="3195638"/>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71684" name="Object 12">
            <a:extLst>
              <a:ext uri="{FF2B5EF4-FFF2-40B4-BE49-F238E27FC236}">
                <a16:creationId xmlns:a16="http://schemas.microsoft.com/office/drawing/2014/main" id="{C3D4E76B-31B6-479F-B51F-69E288B40525}"/>
              </a:ext>
            </a:extLst>
          </p:cNvPr>
          <p:cNvGraphicFramePr>
            <a:graphicFrameLocks noChangeAspect="1"/>
          </p:cNvGraphicFramePr>
          <p:nvPr/>
        </p:nvGraphicFramePr>
        <p:xfrm>
          <a:off x="3203575" y="1700213"/>
          <a:ext cx="2590800" cy="954087"/>
        </p:xfrm>
        <a:graphic>
          <a:graphicData uri="http://schemas.openxmlformats.org/presentationml/2006/ole">
            <mc:AlternateContent xmlns:mc="http://schemas.openxmlformats.org/markup-compatibility/2006">
              <mc:Choice xmlns:v="urn:schemas-microsoft-com:vml" Requires="v">
                <p:oleObj spid="_x0000_s71731" r:id="rId3" imgW="1269449" imgH="469696" progId="Equation.3">
                  <p:embed/>
                </p:oleObj>
              </mc:Choice>
              <mc:Fallback>
                <p:oleObj r:id="rId3" imgW="1269449" imgH="469696" progId="Equation.3">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3575" y="1700213"/>
                        <a:ext cx="25908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00521FAC-6CD6-4C25-8CDC-663B1E02527A}"/>
              </a:ext>
            </a:extLst>
          </p:cNvPr>
          <p:cNvSpPr>
            <a:spLocks noGrp="1" noChangeArrowheads="1"/>
          </p:cNvSpPr>
          <p:nvPr>
            <p:ph type="title"/>
          </p:nvPr>
        </p:nvSpPr>
        <p:spPr>
          <a:xfrm>
            <a:off x="2268538" y="-19917"/>
            <a:ext cx="3416300" cy="838200"/>
          </a:xfrm>
        </p:spPr>
        <p:txBody>
          <a:bodyPr/>
          <a:lstStyle/>
          <a:p>
            <a:pPr>
              <a:buClr>
                <a:schemeClr val="accent2"/>
              </a:buClr>
              <a:buSzPct val="150000"/>
              <a:buFont typeface="Wingdings" panose="05000000000000000000" pitchFamily="2" charset="2"/>
              <a:buNone/>
            </a:pPr>
            <a:r>
              <a:rPr lang="zh-CN" altLang="en-US" sz="3200" b="1" dirty="0">
                <a:solidFill>
                  <a:srgbClr val="000000"/>
                </a:solidFill>
                <a:ea typeface="黑体" panose="02010609060101010101" pitchFamily="49" charset="-122"/>
              </a:rPr>
              <a:t>二、应用实例</a:t>
            </a:r>
            <a:r>
              <a:rPr lang="zh-CN" altLang="en-US" sz="3200" b="1" dirty="0">
                <a:latin typeface="宋体" panose="02010600030101010101" pitchFamily="2" charset="-122"/>
              </a:rPr>
              <a:t> </a:t>
            </a:r>
          </a:p>
        </p:txBody>
      </p:sp>
      <p:sp>
        <p:nvSpPr>
          <p:cNvPr id="72707" name="Rectangle 3">
            <a:extLst>
              <a:ext uri="{FF2B5EF4-FFF2-40B4-BE49-F238E27FC236}">
                <a16:creationId xmlns:a16="http://schemas.microsoft.com/office/drawing/2014/main" id="{2642EC35-291F-4539-9001-DC3DAE9EC8CC}"/>
              </a:ext>
            </a:extLst>
          </p:cNvPr>
          <p:cNvSpPr>
            <a:spLocks noGrp="1" noChangeArrowheads="1"/>
          </p:cNvSpPr>
          <p:nvPr>
            <p:ph type="body" idx="1"/>
          </p:nvPr>
        </p:nvSpPr>
        <p:spPr>
          <a:xfrm>
            <a:off x="467544" y="990600"/>
            <a:ext cx="8447856" cy="2895600"/>
          </a:xfrm>
        </p:spPr>
        <p:txBody>
          <a:bodyPr/>
          <a:lstStyle/>
          <a:p>
            <a:pPr marL="0" indent="0">
              <a:lnSpc>
                <a:spcPct val="120000"/>
              </a:lnSpc>
              <a:buNone/>
            </a:pPr>
            <a:r>
              <a:rPr lang="zh-CN" altLang="en-US" sz="2400" dirty="0">
                <a:solidFill>
                  <a:srgbClr val="000000"/>
                </a:solidFill>
                <a:latin typeface="宋体" panose="02010600030101010101" pitchFamily="2" charset="-122"/>
              </a:rPr>
              <a:t>中国大陆</a:t>
            </a:r>
            <a:r>
              <a:rPr lang="en-US" altLang="zh-CN" sz="2400" dirty="0">
                <a:solidFill>
                  <a:srgbClr val="000000"/>
                </a:solidFill>
                <a:latin typeface="宋体" panose="02010600030101010101" pitchFamily="2" charset="-122"/>
              </a:rPr>
              <a:t>30</a:t>
            </a:r>
            <a:r>
              <a:rPr lang="zh-CN" altLang="en-US" sz="2400" dirty="0">
                <a:solidFill>
                  <a:srgbClr val="000000"/>
                </a:solidFill>
                <a:latin typeface="宋体" panose="02010600030101010101" pitchFamily="2" charset="-122"/>
              </a:rPr>
              <a:t>个省级行政区人均</a:t>
            </a:r>
            <a:r>
              <a:rPr lang="en-US" altLang="zh-CN" sz="2400" dirty="0">
                <a:solidFill>
                  <a:srgbClr val="000000"/>
                </a:solidFill>
                <a:latin typeface="宋体" panose="02010600030101010101" pitchFamily="2" charset="-122"/>
              </a:rPr>
              <a:t>GDP</a:t>
            </a:r>
            <a:r>
              <a:rPr lang="zh-CN" altLang="en-US" sz="2400" dirty="0">
                <a:solidFill>
                  <a:srgbClr val="000000"/>
                </a:solidFill>
                <a:latin typeface="宋体" panose="02010600030101010101" pitchFamily="2" charset="-122"/>
              </a:rPr>
              <a:t>的空间关联分析</a:t>
            </a:r>
            <a:r>
              <a:rPr lang="zh-CN" altLang="en-US" sz="2800" dirty="0"/>
              <a:t>。</a:t>
            </a:r>
            <a:r>
              <a:rPr lang="zh-CN" altLang="en-US" sz="2400" dirty="0">
                <a:solidFill>
                  <a:srgbClr val="000000"/>
                </a:solidFill>
                <a:latin typeface="宋体" panose="02010600030101010101" pitchFamily="2" charset="-122"/>
              </a:rPr>
              <a:t>根据各省（直辖市、自治区）之间的邻接关系，采用二进制邻接权重矩阵，选取各省（直辖市、自治区）</a:t>
            </a:r>
            <a:r>
              <a:rPr lang="en-US" altLang="zh-CN" sz="2400" dirty="0">
                <a:solidFill>
                  <a:srgbClr val="000000"/>
                </a:solidFill>
                <a:latin typeface="宋体" panose="02010600030101010101" pitchFamily="2" charset="-122"/>
              </a:rPr>
              <a:t>1993</a:t>
            </a:r>
            <a:r>
              <a:rPr lang="en-US" altLang="zh-CN" sz="2400" dirty="0">
                <a:solidFill>
                  <a:srgbClr val="000000"/>
                </a:solidFill>
                <a:latin typeface="Times New Roman" panose="02020603050405020304" pitchFamily="18" charset="0"/>
              </a:rPr>
              <a:t>—</a:t>
            </a:r>
            <a:r>
              <a:rPr lang="en-US" altLang="zh-CN" sz="2400" dirty="0">
                <a:solidFill>
                  <a:srgbClr val="000000"/>
                </a:solidFill>
                <a:latin typeface="宋体" panose="02010600030101010101" pitchFamily="2" charset="-122"/>
              </a:rPr>
              <a:t>2002</a:t>
            </a:r>
            <a:r>
              <a:rPr lang="zh-CN" altLang="en-US" sz="2400" dirty="0">
                <a:solidFill>
                  <a:srgbClr val="000000"/>
                </a:solidFill>
                <a:latin typeface="宋体" panose="02010600030101010101" pitchFamily="2" charset="-122"/>
              </a:rPr>
              <a:t>年人均</a:t>
            </a:r>
            <a:r>
              <a:rPr lang="en-US" altLang="zh-CN" sz="2400" dirty="0">
                <a:solidFill>
                  <a:srgbClr val="000000"/>
                </a:solidFill>
                <a:latin typeface="宋体" panose="02010600030101010101" pitchFamily="2" charset="-122"/>
              </a:rPr>
              <a:t>GDP</a:t>
            </a:r>
            <a:r>
              <a:rPr lang="zh-CN" altLang="en-US" sz="2400" dirty="0">
                <a:solidFill>
                  <a:srgbClr val="000000"/>
                </a:solidFill>
                <a:latin typeface="宋体" panose="02010600030101010101" pitchFamily="2" charset="-122"/>
              </a:rPr>
              <a:t>的自然对数，依照公式计算全局</a:t>
            </a:r>
            <a:r>
              <a:rPr lang="en-US" altLang="zh-CN" sz="2400" dirty="0">
                <a:solidFill>
                  <a:srgbClr val="000000"/>
                </a:solidFill>
                <a:latin typeface="宋体" panose="02010600030101010101" pitchFamily="2" charset="-122"/>
              </a:rPr>
              <a:t>Moran</a:t>
            </a:r>
            <a:r>
              <a:rPr lang="zh-CN" altLang="en-US" sz="2400" dirty="0">
                <a:solidFill>
                  <a:srgbClr val="000000"/>
                </a:solidFill>
                <a:latin typeface="宋体" panose="02010600030101010101" pitchFamily="2" charset="-122"/>
              </a:rPr>
              <a:t>指数</a:t>
            </a:r>
            <a:r>
              <a:rPr lang="en-US" altLang="zh-CN" sz="2400" i="1" dirty="0">
                <a:solidFill>
                  <a:srgbClr val="000000"/>
                </a:solidFill>
                <a:latin typeface="Times New Roman" panose="02020603050405020304" pitchFamily="18" charset="0"/>
              </a:rPr>
              <a:t>I</a:t>
            </a:r>
            <a:r>
              <a:rPr lang="zh-CN" altLang="en-US" sz="2400" dirty="0">
                <a:solidFill>
                  <a:srgbClr val="000000"/>
                </a:solidFill>
                <a:latin typeface="宋体" panose="02010600030101010101" pitchFamily="2" charset="-122"/>
              </a:rPr>
              <a:t>，计算其检验的标准化统计量</a:t>
            </a:r>
            <a:r>
              <a:rPr lang="en-US" altLang="zh-CN" sz="2400" i="1" dirty="0">
                <a:solidFill>
                  <a:srgbClr val="000000"/>
                </a:solidFill>
                <a:latin typeface="Times New Roman" panose="02020603050405020304" pitchFamily="18" charset="0"/>
              </a:rPr>
              <a:t>Z</a:t>
            </a:r>
            <a:r>
              <a:rPr lang="zh-CN" altLang="en-US" sz="2400" dirty="0">
                <a:solidFill>
                  <a:srgbClr val="000000"/>
                </a:solidFill>
                <a:latin typeface="宋体" panose="02010600030101010101" pitchFamily="2" charset="-122"/>
              </a:rPr>
              <a:t>（</a:t>
            </a:r>
            <a:r>
              <a:rPr lang="en-US" altLang="zh-CN" sz="2400" i="1" dirty="0">
                <a:solidFill>
                  <a:srgbClr val="000000"/>
                </a:solidFill>
                <a:latin typeface="Times New Roman" panose="02020603050405020304" pitchFamily="18" charset="0"/>
              </a:rPr>
              <a:t>I</a:t>
            </a:r>
            <a:r>
              <a:rPr lang="zh-CN" altLang="en-US" sz="2400" dirty="0">
                <a:solidFill>
                  <a:srgbClr val="000000"/>
                </a:solidFill>
                <a:latin typeface="宋体" panose="02010600030101010101" pitchFamily="2" charset="-122"/>
              </a:rPr>
              <a:t>），结果如下表所示。</a:t>
            </a:r>
          </a:p>
        </p:txBody>
      </p:sp>
      <p:sp>
        <p:nvSpPr>
          <p:cNvPr id="72708" name="Rectangle 5">
            <a:extLst>
              <a:ext uri="{FF2B5EF4-FFF2-40B4-BE49-F238E27FC236}">
                <a16:creationId xmlns:a16="http://schemas.microsoft.com/office/drawing/2014/main" id="{5AFB05AA-9C5D-4044-A5E8-9F287C6164C1}"/>
              </a:ext>
            </a:extLst>
          </p:cNvPr>
          <p:cNvSpPr>
            <a:spLocks noChangeArrowheads="1"/>
          </p:cNvSpPr>
          <p:nvPr/>
        </p:nvSpPr>
        <p:spPr bwMode="auto">
          <a:xfrm>
            <a:off x="3976688"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72709" name="Group 82">
            <a:extLst>
              <a:ext uri="{FF2B5EF4-FFF2-40B4-BE49-F238E27FC236}">
                <a16:creationId xmlns:a16="http://schemas.microsoft.com/office/drawing/2014/main" id="{53F906A8-2BF0-427C-B6AA-558CCFF48D79}"/>
              </a:ext>
            </a:extLst>
          </p:cNvPr>
          <p:cNvGrpSpPr>
            <a:grpSpLocks/>
          </p:cNvGrpSpPr>
          <p:nvPr/>
        </p:nvGrpSpPr>
        <p:grpSpPr bwMode="auto">
          <a:xfrm>
            <a:off x="1979712" y="3629891"/>
            <a:ext cx="5867400" cy="2209800"/>
            <a:chOff x="-3" y="-3"/>
            <a:chExt cx="3228" cy="2340"/>
          </a:xfrm>
        </p:grpSpPr>
        <p:grpSp>
          <p:nvGrpSpPr>
            <p:cNvPr id="72710" name="Group 80">
              <a:extLst>
                <a:ext uri="{FF2B5EF4-FFF2-40B4-BE49-F238E27FC236}">
                  <a16:creationId xmlns:a16="http://schemas.microsoft.com/office/drawing/2014/main" id="{73F4D3F4-4480-4BC3-A249-1EDB3D41AE05}"/>
                </a:ext>
              </a:extLst>
            </p:cNvPr>
            <p:cNvGrpSpPr>
              <a:grpSpLocks/>
            </p:cNvGrpSpPr>
            <p:nvPr/>
          </p:nvGrpSpPr>
          <p:grpSpPr bwMode="auto">
            <a:xfrm>
              <a:off x="0" y="0"/>
              <a:ext cx="3222" cy="2334"/>
              <a:chOff x="0" y="0"/>
              <a:chExt cx="3222" cy="2334"/>
            </a:xfrm>
          </p:grpSpPr>
          <p:grpSp>
            <p:nvGrpSpPr>
              <p:cNvPr id="72712" name="Group 33">
                <a:extLst>
                  <a:ext uri="{FF2B5EF4-FFF2-40B4-BE49-F238E27FC236}">
                    <a16:creationId xmlns:a16="http://schemas.microsoft.com/office/drawing/2014/main" id="{2F2EC168-B2AE-43DB-8EE7-B6C2B85DBB02}"/>
                  </a:ext>
                </a:extLst>
              </p:cNvPr>
              <p:cNvGrpSpPr>
                <a:grpSpLocks/>
              </p:cNvGrpSpPr>
              <p:nvPr/>
            </p:nvGrpSpPr>
            <p:grpSpPr bwMode="auto">
              <a:xfrm>
                <a:off x="0" y="0"/>
                <a:ext cx="738" cy="384"/>
                <a:chOff x="0" y="0"/>
                <a:chExt cx="738" cy="384"/>
              </a:xfrm>
            </p:grpSpPr>
            <p:sp>
              <p:nvSpPr>
                <p:cNvPr id="72782" name="Rectangle 8">
                  <a:extLst>
                    <a:ext uri="{FF2B5EF4-FFF2-40B4-BE49-F238E27FC236}">
                      <a16:creationId xmlns:a16="http://schemas.microsoft.com/office/drawing/2014/main" id="{7662D859-D12E-45F9-A182-29EF2992CDCD}"/>
                    </a:ext>
                  </a:extLst>
                </p:cNvPr>
                <p:cNvSpPr>
                  <a:spLocks noChangeArrowheads="1"/>
                </p:cNvSpPr>
                <p:nvPr/>
              </p:nvSpPr>
              <p:spPr bwMode="auto">
                <a:xfrm>
                  <a:off x="6" y="6"/>
                  <a:ext cx="726" cy="378"/>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a:solidFill>
                        <a:srgbClr val="000000"/>
                      </a:solidFill>
                    </a:rPr>
                    <a:t>年份</a:t>
                  </a:r>
                  <a:endParaRPr lang="zh-CN" altLang="en-US" sz="1400">
                    <a:latin typeface="Times New Roman" panose="02020603050405020304" pitchFamily="18" charset="0"/>
                  </a:endParaRPr>
                </a:p>
              </p:txBody>
            </p:sp>
            <p:sp>
              <p:nvSpPr>
                <p:cNvPr id="72783" name="Rectangle 32">
                  <a:extLst>
                    <a:ext uri="{FF2B5EF4-FFF2-40B4-BE49-F238E27FC236}">
                      <a16:creationId xmlns:a16="http://schemas.microsoft.com/office/drawing/2014/main" id="{33D93DEE-745C-4456-BB1D-DB5DD734B50A}"/>
                    </a:ext>
                  </a:extLst>
                </p:cNvPr>
                <p:cNvSpPr>
                  <a:spLocks noChangeArrowheads="1"/>
                </p:cNvSpPr>
                <p:nvPr/>
              </p:nvSpPr>
              <p:spPr bwMode="auto">
                <a:xfrm>
                  <a:off x="0" y="0"/>
                  <a:ext cx="7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72713" name="Group 35">
                <a:extLst>
                  <a:ext uri="{FF2B5EF4-FFF2-40B4-BE49-F238E27FC236}">
                    <a16:creationId xmlns:a16="http://schemas.microsoft.com/office/drawing/2014/main" id="{62218226-41AE-4F1E-9818-7C5140FCFDFB}"/>
                  </a:ext>
                </a:extLst>
              </p:cNvPr>
              <p:cNvGrpSpPr>
                <a:grpSpLocks/>
              </p:cNvGrpSpPr>
              <p:nvPr/>
            </p:nvGrpSpPr>
            <p:grpSpPr bwMode="auto">
              <a:xfrm>
                <a:off x="738" y="0"/>
                <a:ext cx="738" cy="384"/>
                <a:chOff x="738" y="0"/>
                <a:chExt cx="738" cy="384"/>
              </a:xfrm>
            </p:grpSpPr>
            <p:sp>
              <p:nvSpPr>
                <p:cNvPr id="72780" name="Rectangle 9">
                  <a:extLst>
                    <a:ext uri="{FF2B5EF4-FFF2-40B4-BE49-F238E27FC236}">
                      <a16:creationId xmlns:a16="http://schemas.microsoft.com/office/drawing/2014/main" id="{12CF651F-92AE-4C8E-A764-F4AF5DE42EB9}"/>
                    </a:ext>
                  </a:extLst>
                </p:cNvPr>
                <p:cNvSpPr>
                  <a:spLocks noChangeArrowheads="1"/>
                </p:cNvSpPr>
                <p:nvPr/>
              </p:nvSpPr>
              <p:spPr bwMode="auto">
                <a:xfrm>
                  <a:off x="744" y="6"/>
                  <a:ext cx="726" cy="378"/>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i="1">
                      <a:solidFill>
                        <a:srgbClr val="000000"/>
                      </a:solidFill>
                      <a:latin typeface="Times New Roman" panose="02020603050405020304" pitchFamily="18" charset="0"/>
                      <a:cs typeface="Times New Roman" panose="02020603050405020304" pitchFamily="18" charset="0"/>
                    </a:rPr>
                    <a:t>I</a:t>
                  </a:r>
                  <a:endParaRPr lang="en-US" altLang="zh-CN" sz="1400" i="1">
                    <a:latin typeface="Times New Roman" panose="02020603050405020304" pitchFamily="18" charset="0"/>
                  </a:endParaRPr>
                </a:p>
              </p:txBody>
            </p:sp>
            <p:sp>
              <p:nvSpPr>
                <p:cNvPr id="72781" name="Rectangle 34">
                  <a:extLst>
                    <a:ext uri="{FF2B5EF4-FFF2-40B4-BE49-F238E27FC236}">
                      <a16:creationId xmlns:a16="http://schemas.microsoft.com/office/drawing/2014/main" id="{1B1B1415-4965-4FA0-B560-C08B1991513B}"/>
                    </a:ext>
                  </a:extLst>
                </p:cNvPr>
                <p:cNvSpPr>
                  <a:spLocks noChangeArrowheads="1"/>
                </p:cNvSpPr>
                <p:nvPr/>
              </p:nvSpPr>
              <p:spPr bwMode="auto">
                <a:xfrm>
                  <a:off x="738" y="0"/>
                  <a:ext cx="7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72714" name="Group 37">
                <a:extLst>
                  <a:ext uri="{FF2B5EF4-FFF2-40B4-BE49-F238E27FC236}">
                    <a16:creationId xmlns:a16="http://schemas.microsoft.com/office/drawing/2014/main" id="{C2C25C5B-D6CD-4671-B4F6-9556E98D87AF}"/>
                  </a:ext>
                </a:extLst>
              </p:cNvPr>
              <p:cNvGrpSpPr>
                <a:grpSpLocks/>
              </p:cNvGrpSpPr>
              <p:nvPr/>
            </p:nvGrpSpPr>
            <p:grpSpPr bwMode="auto">
              <a:xfrm>
                <a:off x="1476" y="0"/>
                <a:ext cx="738" cy="384"/>
                <a:chOff x="1476" y="0"/>
                <a:chExt cx="738" cy="384"/>
              </a:xfrm>
            </p:grpSpPr>
            <p:sp>
              <p:nvSpPr>
                <p:cNvPr id="72778" name="Rectangle 10">
                  <a:extLst>
                    <a:ext uri="{FF2B5EF4-FFF2-40B4-BE49-F238E27FC236}">
                      <a16:creationId xmlns:a16="http://schemas.microsoft.com/office/drawing/2014/main" id="{E65D1820-BEF0-4879-AF0B-30C3E07853B2}"/>
                    </a:ext>
                  </a:extLst>
                </p:cNvPr>
                <p:cNvSpPr>
                  <a:spLocks noChangeArrowheads="1"/>
                </p:cNvSpPr>
                <p:nvPr/>
              </p:nvSpPr>
              <p:spPr bwMode="auto">
                <a:xfrm>
                  <a:off x="1482" y="6"/>
                  <a:ext cx="726" cy="378"/>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i="1">
                      <a:solidFill>
                        <a:srgbClr val="000000"/>
                      </a:solidFill>
                      <a:latin typeface="Times New Roman" panose="02020603050405020304" pitchFamily="18" charset="0"/>
                      <a:cs typeface="Times New Roman" panose="02020603050405020304" pitchFamily="18" charset="0"/>
                    </a:rPr>
                    <a:t>Z</a:t>
                  </a:r>
                  <a:endParaRPr lang="en-US" altLang="zh-CN" sz="1400" i="1">
                    <a:latin typeface="Times New Roman" panose="02020603050405020304" pitchFamily="18" charset="0"/>
                  </a:endParaRPr>
                </a:p>
              </p:txBody>
            </p:sp>
            <p:sp>
              <p:nvSpPr>
                <p:cNvPr id="72779" name="Rectangle 36">
                  <a:extLst>
                    <a:ext uri="{FF2B5EF4-FFF2-40B4-BE49-F238E27FC236}">
                      <a16:creationId xmlns:a16="http://schemas.microsoft.com/office/drawing/2014/main" id="{7317C17B-A830-4978-A829-2CA9B7A2CEB0}"/>
                    </a:ext>
                  </a:extLst>
                </p:cNvPr>
                <p:cNvSpPr>
                  <a:spLocks noChangeArrowheads="1"/>
                </p:cNvSpPr>
                <p:nvPr/>
              </p:nvSpPr>
              <p:spPr bwMode="auto">
                <a:xfrm>
                  <a:off x="1476" y="0"/>
                  <a:ext cx="7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72715" name="Group 39">
                <a:extLst>
                  <a:ext uri="{FF2B5EF4-FFF2-40B4-BE49-F238E27FC236}">
                    <a16:creationId xmlns:a16="http://schemas.microsoft.com/office/drawing/2014/main" id="{E0379489-D252-4B59-85E3-1241D4E98E33}"/>
                  </a:ext>
                </a:extLst>
              </p:cNvPr>
              <p:cNvGrpSpPr>
                <a:grpSpLocks/>
              </p:cNvGrpSpPr>
              <p:nvPr/>
            </p:nvGrpSpPr>
            <p:grpSpPr bwMode="auto">
              <a:xfrm>
                <a:off x="2214" y="0"/>
                <a:ext cx="1008" cy="384"/>
                <a:chOff x="2214" y="0"/>
                <a:chExt cx="1008" cy="384"/>
              </a:xfrm>
            </p:grpSpPr>
            <p:sp>
              <p:nvSpPr>
                <p:cNvPr id="72776" name="Rectangle 11">
                  <a:extLst>
                    <a:ext uri="{FF2B5EF4-FFF2-40B4-BE49-F238E27FC236}">
                      <a16:creationId xmlns:a16="http://schemas.microsoft.com/office/drawing/2014/main" id="{7DB471AB-5ADA-4591-B6CF-57035F976B9A}"/>
                    </a:ext>
                  </a:extLst>
                </p:cNvPr>
                <p:cNvSpPr>
                  <a:spLocks noChangeArrowheads="1"/>
                </p:cNvSpPr>
                <p:nvPr/>
              </p:nvSpPr>
              <p:spPr bwMode="auto">
                <a:xfrm>
                  <a:off x="2220" y="6"/>
                  <a:ext cx="996" cy="378"/>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i="1">
                      <a:solidFill>
                        <a:srgbClr val="000000"/>
                      </a:solidFill>
                      <a:latin typeface="Times New Roman" panose="02020603050405020304" pitchFamily="18" charset="0"/>
                      <a:cs typeface="Times New Roman" panose="02020603050405020304" pitchFamily="18" charset="0"/>
                    </a:rPr>
                    <a:t>P</a:t>
                  </a:r>
                  <a:endParaRPr lang="en-US" altLang="zh-CN" sz="1400" i="1">
                    <a:latin typeface="Times New Roman" panose="02020603050405020304" pitchFamily="18" charset="0"/>
                  </a:endParaRPr>
                </a:p>
              </p:txBody>
            </p:sp>
            <p:sp>
              <p:nvSpPr>
                <p:cNvPr id="72777" name="Rectangle 38">
                  <a:extLst>
                    <a:ext uri="{FF2B5EF4-FFF2-40B4-BE49-F238E27FC236}">
                      <a16:creationId xmlns:a16="http://schemas.microsoft.com/office/drawing/2014/main" id="{BA23B50A-1D30-4D66-920C-C5F90607CA15}"/>
                    </a:ext>
                  </a:extLst>
                </p:cNvPr>
                <p:cNvSpPr>
                  <a:spLocks noChangeArrowheads="1"/>
                </p:cNvSpPr>
                <p:nvPr/>
              </p:nvSpPr>
              <p:spPr bwMode="auto">
                <a:xfrm>
                  <a:off x="2214" y="0"/>
                  <a:ext cx="100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72716" name="Group 41">
                <a:extLst>
                  <a:ext uri="{FF2B5EF4-FFF2-40B4-BE49-F238E27FC236}">
                    <a16:creationId xmlns:a16="http://schemas.microsoft.com/office/drawing/2014/main" id="{DB4C299B-EB65-4A58-BC91-1F9AA5908959}"/>
                  </a:ext>
                </a:extLst>
              </p:cNvPr>
              <p:cNvGrpSpPr>
                <a:grpSpLocks/>
              </p:cNvGrpSpPr>
              <p:nvPr/>
            </p:nvGrpSpPr>
            <p:grpSpPr bwMode="auto">
              <a:xfrm>
                <a:off x="0" y="390"/>
                <a:ext cx="738" cy="384"/>
                <a:chOff x="0" y="390"/>
                <a:chExt cx="738" cy="384"/>
              </a:xfrm>
            </p:grpSpPr>
            <p:sp>
              <p:nvSpPr>
                <p:cNvPr id="72774" name="Rectangle 12">
                  <a:extLst>
                    <a:ext uri="{FF2B5EF4-FFF2-40B4-BE49-F238E27FC236}">
                      <a16:creationId xmlns:a16="http://schemas.microsoft.com/office/drawing/2014/main" id="{8392F264-7777-4B8E-953D-D1BADCB33D48}"/>
                    </a:ext>
                  </a:extLst>
                </p:cNvPr>
                <p:cNvSpPr>
                  <a:spLocks noChangeArrowheads="1"/>
                </p:cNvSpPr>
                <p:nvPr/>
              </p:nvSpPr>
              <p:spPr bwMode="auto">
                <a:xfrm>
                  <a:off x="6" y="396"/>
                  <a:ext cx="726" cy="378"/>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dirty="0">
                      <a:solidFill>
                        <a:srgbClr val="000000"/>
                      </a:solidFill>
                      <a:latin typeface="Times New Roman" panose="02020603050405020304" pitchFamily="18" charset="0"/>
                      <a:cs typeface="Times New Roman" panose="02020603050405020304" pitchFamily="18" charset="0"/>
                    </a:rPr>
                    <a:t>1993</a:t>
                  </a:r>
                  <a:endParaRPr lang="en-US" altLang="zh-CN" sz="1400" dirty="0">
                    <a:latin typeface="Times New Roman" panose="02020603050405020304" pitchFamily="18" charset="0"/>
                  </a:endParaRPr>
                </a:p>
              </p:txBody>
            </p:sp>
            <p:sp>
              <p:nvSpPr>
                <p:cNvPr id="72775" name="Rectangle 40">
                  <a:extLst>
                    <a:ext uri="{FF2B5EF4-FFF2-40B4-BE49-F238E27FC236}">
                      <a16:creationId xmlns:a16="http://schemas.microsoft.com/office/drawing/2014/main" id="{DD045D1E-4BFB-409F-A446-A9D66E045805}"/>
                    </a:ext>
                  </a:extLst>
                </p:cNvPr>
                <p:cNvSpPr>
                  <a:spLocks noChangeArrowheads="1"/>
                </p:cNvSpPr>
                <p:nvPr/>
              </p:nvSpPr>
              <p:spPr bwMode="auto">
                <a:xfrm>
                  <a:off x="0" y="390"/>
                  <a:ext cx="7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72717" name="Group 43">
                <a:extLst>
                  <a:ext uri="{FF2B5EF4-FFF2-40B4-BE49-F238E27FC236}">
                    <a16:creationId xmlns:a16="http://schemas.microsoft.com/office/drawing/2014/main" id="{782BEC57-5AB4-4538-BE62-F590122E8176}"/>
                  </a:ext>
                </a:extLst>
              </p:cNvPr>
              <p:cNvGrpSpPr>
                <a:grpSpLocks/>
              </p:cNvGrpSpPr>
              <p:nvPr/>
            </p:nvGrpSpPr>
            <p:grpSpPr bwMode="auto">
              <a:xfrm>
                <a:off x="738" y="390"/>
                <a:ext cx="738" cy="384"/>
                <a:chOff x="738" y="390"/>
                <a:chExt cx="738" cy="384"/>
              </a:xfrm>
            </p:grpSpPr>
            <p:sp>
              <p:nvSpPr>
                <p:cNvPr id="72772" name="Rectangle 13">
                  <a:extLst>
                    <a:ext uri="{FF2B5EF4-FFF2-40B4-BE49-F238E27FC236}">
                      <a16:creationId xmlns:a16="http://schemas.microsoft.com/office/drawing/2014/main" id="{2CCE98C2-447C-42D6-A30F-E76B743D4F43}"/>
                    </a:ext>
                  </a:extLst>
                </p:cNvPr>
                <p:cNvSpPr>
                  <a:spLocks noChangeArrowheads="1"/>
                </p:cNvSpPr>
                <p:nvPr/>
              </p:nvSpPr>
              <p:spPr bwMode="auto">
                <a:xfrm>
                  <a:off x="744" y="396"/>
                  <a:ext cx="726" cy="378"/>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000">
                      <a:solidFill>
                        <a:srgbClr val="000000"/>
                      </a:solidFill>
                      <a:latin typeface="Times New Roman" panose="02020603050405020304" pitchFamily="18" charset="0"/>
                      <a:cs typeface="Times New Roman" panose="02020603050405020304" pitchFamily="18" charset="0"/>
                    </a:rPr>
                    <a:t>0.5001</a:t>
                  </a:r>
                  <a:endParaRPr lang="en-US" altLang="zh-CN">
                    <a:latin typeface="Times New Roman" panose="02020603050405020304" pitchFamily="18" charset="0"/>
                  </a:endParaRPr>
                </a:p>
              </p:txBody>
            </p:sp>
            <p:sp>
              <p:nvSpPr>
                <p:cNvPr id="72773" name="Rectangle 42">
                  <a:extLst>
                    <a:ext uri="{FF2B5EF4-FFF2-40B4-BE49-F238E27FC236}">
                      <a16:creationId xmlns:a16="http://schemas.microsoft.com/office/drawing/2014/main" id="{302071FC-1BD2-4544-8B1D-2F4332BA1B34}"/>
                    </a:ext>
                  </a:extLst>
                </p:cNvPr>
                <p:cNvSpPr>
                  <a:spLocks noChangeArrowheads="1"/>
                </p:cNvSpPr>
                <p:nvPr/>
              </p:nvSpPr>
              <p:spPr bwMode="auto">
                <a:xfrm>
                  <a:off x="738" y="390"/>
                  <a:ext cx="738" cy="384"/>
                </a:xfrm>
                <a:prstGeom prst="rect">
                  <a:avLst/>
                </a:prstGeom>
                <a:solidFill>
                  <a:schemeClr val="accent1"/>
                </a:solidFill>
                <a:ln w="7">
                  <a:solidFill>
                    <a:srgbClr val="A0A0A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72718" name="Group 45">
                <a:extLst>
                  <a:ext uri="{FF2B5EF4-FFF2-40B4-BE49-F238E27FC236}">
                    <a16:creationId xmlns:a16="http://schemas.microsoft.com/office/drawing/2014/main" id="{BA019218-EBDD-4408-B0A3-F6A00BC585B4}"/>
                  </a:ext>
                </a:extLst>
              </p:cNvPr>
              <p:cNvGrpSpPr>
                <a:grpSpLocks/>
              </p:cNvGrpSpPr>
              <p:nvPr/>
            </p:nvGrpSpPr>
            <p:grpSpPr bwMode="auto">
              <a:xfrm>
                <a:off x="1476" y="390"/>
                <a:ext cx="738" cy="384"/>
                <a:chOff x="1476" y="390"/>
                <a:chExt cx="738" cy="384"/>
              </a:xfrm>
            </p:grpSpPr>
            <p:sp>
              <p:nvSpPr>
                <p:cNvPr id="72770" name="Rectangle 14">
                  <a:extLst>
                    <a:ext uri="{FF2B5EF4-FFF2-40B4-BE49-F238E27FC236}">
                      <a16:creationId xmlns:a16="http://schemas.microsoft.com/office/drawing/2014/main" id="{46A0BEC0-F4B6-4A1E-97C6-34F8470A595E}"/>
                    </a:ext>
                  </a:extLst>
                </p:cNvPr>
                <p:cNvSpPr>
                  <a:spLocks noChangeArrowheads="1"/>
                </p:cNvSpPr>
                <p:nvPr/>
              </p:nvSpPr>
              <p:spPr bwMode="auto">
                <a:xfrm>
                  <a:off x="1482" y="396"/>
                  <a:ext cx="726" cy="378"/>
                </a:xfrm>
                <a:prstGeom prst="rect">
                  <a:avLst/>
                </a:prstGeom>
                <a:solidFill>
                  <a:schemeClr val="accent1"/>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Times New Roman" panose="02020603050405020304" pitchFamily="18" charset="0"/>
                    </a:rPr>
                    <a:t>4.503 5</a:t>
                  </a:r>
                </a:p>
              </p:txBody>
            </p:sp>
            <p:sp>
              <p:nvSpPr>
                <p:cNvPr id="72771" name="Rectangle 44">
                  <a:extLst>
                    <a:ext uri="{FF2B5EF4-FFF2-40B4-BE49-F238E27FC236}">
                      <a16:creationId xmlns:a16="http://schemas.microsoft.com/office/drawing/2014/main" id="{1E212211-BFB1-41C3-B889-408A8A448326}"/>
                    </a:ext>
                  </a:extLst>
                </p:cNvPr>
                <p:cNvSpPr>
                  <a:spLocks noChangeArrowheads="1"/>
                </p:cNvSpPr>
                <p:nvPr/>
              </p:nvSpPr>
              <p:spPr bwMode="auto">
                <a:xfrm>
                  <a:off x="1476" y="390"/>
                  <a:ext cx="7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72719" name="Group 47">
                <a:extLst>
                  <a:ext uri="{FF2B5EF4-FFF2-40B4-BE49-F238E27FC236}">
                    <a16:creationId xmlns:a16="http://schemas.microsoft.com/office/drawing/2014/main" id="{50F9C278-6A42-4A7E-B52D-BC9520181D64}"/>
                  </a:ext>
                </a:extLst>
              </p:cNvPr>
              <p:cNvGrpSpPr>
                <a:grpSpLocks/>
              </p:cNvGrpSpPr>
              <p:nvPr/>
            </p:nvGrpSpPr>
            <p:grpSpPr bwMode="auto">
              <a:xfrm>
                <a:off x="2214" y="390"/>
                <a:ext cx="1008" cy="384"/>
                <a:chOff x="2214" y="390"/>
                <a:chExt cx="1008" cy="384"/>
              </a:xfrm>
            </p:grpSpPr>
            <p:sp>
              <p:nvSpPr>
                <p:cNvPr id="72768" name="Rectangle 15">
                  <a:extLst>
                    <a:ext uri="{FF2B5EF4-FFF2-40B4-BE49-F238E27FC236}">
                      <a16:creationId xmlns:a16="http://schemas.microsoft.com/office/drawing/2014/main" id="{75D61135-29BF-4CC4-ABFD-DFEEAF124745}"/>
                    </a:ext>
                  </a:extLst>
                </p:cNvPr>
                <p:cNvSpPr>
                  <a:spLocks noChangeArrowheads="1"/>
                </p:cNvSpPr>
                <p:nvPr/>
              </p:nvSpPr>
              <p:spPr bwMode="auto">
                <a:xfrm>
                  <a:off x="2220" y="396"/>
                  <a:ext cx="996" cy="378"/>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Times New Roman" panose="02020603050405020304" pitchFamily="18" charset="0"/>
                    </a:rPr>
                    <a:t>0.000 0</a:t>
                  </a:r>
                  <a:endParaRPr lang="en-US" altLang="zh-CN" sz="1400">
                    <a:latin typeface="Times New Roman" panose="02020603050405020304" pitchFamily="18" charset="0"/>
                  </a:endParaRPr>
                </a:p>
              </p:txBody>
            </p:sp>
            <p:sp>
              <p:nvSpPr>
                <p:cNvPr id="72769" name="Rectangle 46">
                  <a:extLst>
                    <a:ext uri="{FF2B5EF4-FFF2-40B4-BE49-F238E27FC236}">
                      <a16:creationId xmlns:a16="http://schemas.microsoft.com/office/drawing/2014/main" id="{A894DD5F-A1CC-41BD-AED9-985675976020}"/>
                    </a:ext>
                  </a:extLst>
                </p:cNvPr>
                <p:cNvSpPr>
                  <a:spLocks noChangeArrowheads="1"/>
                </p:cNvSpPr>
                <p:nvPr/>
              </p:nvSpPr>
              <p:spPr bwMode="auto">
                <a:xfrm>
                  <a:off x="2214" y="390"/>
                  <a:ext cx="100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72720" name="Group 49">
                <a:extLst>
                  <a:ext uri="{FF2B5EF4-FFF2-40B4-BE49-F238E27FC236}">
                    <a16:creationId xmlns:a16="http://schemas.microsoft.com/office/drawing/2014/main" id="{99DE85F3-BFF1-4A81-A3CB-8275E07ECDD9}"/>
                  </a:ext>
                </a:extLst>
              </p:cNvPr>
              <p:cNvGrpSpPr>
                <a:grpSpLocks/>
              </p:cNvGrpSpPr>
              <p:nvPr/>
            </p:nvGrpSpPr>
            <p:grpSpPr bwMode="auto">
              <a:xfrm>
                <a:off x="0" y="780"/>
                <a:ext cx="738" cy="384"/>
                <a:chOff x="0" y="780"/>
                <a:chExt cx="738" cy="384"/>
              </a:xfrm>
            </p:grpSpPr>
            <p:sp>
              <p:nvSpPr>
                <p:cNvPr id="72766" name="Rectangle 16">
                  <a:extLst>
                    <a:ext uri="{FF2B5EF4-FFF2-40B4-BE49-F238E27FC236}">
                      <a16:creationId xmlns:a16="http://schemas.microsoft.com/office/drawing/2014/main" id="{6B059555-0EA4-48C5-8E1F-BE74A017FE7F}"/>
                    </a:ext>
                  </a:extLst>
                </p:cNvPr>
                <p:cNvSpPr>
                  <a:spLocks noChangeArrowheads="1"/>
                </p:cNvSpPr>
                <p:nvPr/>
              </p:nvSpPr>
              <p:spPr bwMode="auto">
                <a:xfrm>
                  <a:off x="6" y="786"/>
                  <a:ext cx="726" cy="378"/>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Times New Roman" panose="02020603050405020304" pitchFamily="18" charset="0"/>
                    </a:rPr>
                    <a:t>1999</a:t>
                  </a:r>
                  <a:endParaRPr lang="en-US" altLang="zh-CN" sz="1400">
                    <a:latin typeface="Times New Roman" panose="02020603050405020304" pitchFamily="18" charset="0"/>
                  </a:endParaRPr>
                </a:p>
              </p:txBody>
            </p:sp>
            <p:sp>
              <p:nvSpPr>
                <p:cNvPr id="72767" name="Rectangle 48">
                  <a:extLst>
                    <a:ext uri="{FF2B5EF4-FFF2-40B4-BE49-F238E27FC236}">
                      <a16:creationId xmlns:a16="http://schemas.microsoft.com/office/drawing/2014/main" id="{6A670DB6-C9BC-4F24-85E9-7CFC02BF9D26}"/>
                    </a:ext>
                  </a:extLst>
                </p:cNvPr>
                <p:cNvSpPr>
                  <a:spLocks noChangeArrowheads="1"/>
                </p:cNvSpPr>
                <p:nvPr/>
              </p:nvSpPr>
              <p:spPr bwMode="auto">
                <a:xfrm>
                  <a:off x="0" y="780"/>
                  <a:ext cx="7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72721" name="Group 51">
                <a:extLst>
                  <a:ext uri="{FF2B5EF4-FFF2-40B4-BE49-F238E27FC236}">
                    <a16:creationId xmlns:a16="http://schemas.microsoft.com/office/drawing/2014/main" id="{33BD81DB-3BB3-4F52-8FBA-24F7EAF40B6D}"/>
                  </a:ext>
                </a:extLst>
              </p:cNvPr>
              <p:cNvGrpSpPr>
                <a:grpSpLocks/>
              </p:cNvGrpSpPr>
              <p:nvPr/>
            </p:nvGrpSpPr>
            <p:grpSpPr bwMode="auto">
              <a:xfrm>
                <a:off x="738" y="780"/>
                <a:ext cx="738" cy="384"/>
                <a:chOff x="738" y="780"/>
                <a:chExt cx="738" cy="384"/>
              </a:xfrm>
            </p:grpSpPr>
            <p:sp>
              <p:nvSpPr>
                <p:cNvPr id="72764" name="Rectangle 17">
                  <a:extLst>
                    <a:ext uri="{FF2B5EF4-FFF2-40B4-BE49-F238E27FC236}">
                      <a16:creationId xmlns:a16="http://schemas.microsoft.com/office/drawing/2014/main" id="{E5CF2851-1DDB-4B34-89C8-6D0D911206BA}"/>
                    </a:ext>
                  </a:extLst>
                </p:cNvPr>
                <p:cNvSpPr>
                  <a:spLocks noChangeArrowheads="1"/>
                </p:cNvSpPr>
                <p:nvPr/>
              </p:nvSpPr>
              <p:spPr bwMode="auto">
                <a:xfrm>
                  <a:off x="744" y="786"/>
                  <a:ext cx="726" cy="378"/>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Times New Roman" panose="02020603050405020304" pitchFamily="18" charset="0"/>
                    </a:rPr>
                    <a:t>0.506 9</a:t>
                  </a:r>
                  <a:endParaRPr lang="en-US" altLang="zh-CN" sz="1400">
                    <a:latin typeface="Times New Roman" panose="02020603050405020304" pitchFamily="18" charset="0"/>
                  </a:endParaRPr>
                </a:p>
              </p:txBody>
            </p:sp>
            <p:sp>
              <p:nvSpPr>
                <p:cNvPr id="72765" name="Rectangle 50">
                  <a:extLst>
                    <a:ext uri="{FF2B5EF4-FFF2-40B4-BE49-F238E27FC236}">
                      <a16:creationId xmlns:a16="http://schemas.microsoft.com/office/drawing/2014/main" id="{0FFB1BCD-3C9D-4DC9-9202-50A270AEDEE1}"/>
                    </a:ext>
                  </a:extLst>
                </p:cNvPr>
                <p:cNvSpPr>
                  <a:spLocks noChangeArrowheads="1"/>
                </p:cNvSpPr>
                <p:nvPr/>
              </p:nvSpPr>
              <p:spPr bwMode="auto">
                <a:xfrm>
                  <a:off x="738" y="780"/>
                  <a:ext cx="7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72722" name="Group 53">
                <a:extLst>
                  <a:ext uri="{FF2B5EF4-FFF2-40B4-BE49-F238E27FC236}">
                    <a16:creationId xmlns:a16="http://schemas.microsoft.com/office/drawing/2014/main" id="{69932BC0-35E8-4CEA-83F5-4D61F62D722C}"/>
                  </a:ext>
                </a:extLst>
              </p:cNvPr>
              <p:cNvGrpSpPr>
                <a:grpSpLocks/>
              </p:cNvGrpSpPr>
              <p:nvPr/>
            </p:nvGrpSpPr>
            <p:grpSpPr bwMode="auto">
              <a:xfrm>
                <a:off x="1476" y="780"/>
                <a:ext cx="738" cy="384"/>
                <a:chOff x="1476" y="780"/>
                <a:chExt cx="738" cy="384"/>
              </a:xfrm>
            </p:grpSpPr>
            <p:sp>
              <p:nvSpPr>
                <p:cNvPr id="72762" name="Rectangle 18">
                  <a:extLst>
                    <a:ext uri="{FF2B5EF4-FFF2-40B4-BE49-F238E27FC236}">
                      <a16:creationId xmlns:a16="http://schemas.microsoft.com/office/drawing/2014/main" id="{7731BD1A-9D81-4DF9-8D7E-128F3D43FBAF}"/>
                    </a:ext>
                  </a:extLst>
                </p:cNvPr>
                <p:cNvSpPr>
                  <a:spLocks noChangeArrowheads="1"/>
                </p:cNvSpPr>
                <p:nvPr/>
              </p:nvSpPr>
              <p:spPr bwMode="auto">
                <a:xfrm>
                  <a:off x="1482" y="786"/>
                  <a:ext cx="726" cy="378"/>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Times New Roman" panose="02020603050405020304" pitchFamily="18" charset="0"/>
                    </a:rPr>
                    <a:t>4.555 1</a:t>
                  </a:r>
                </a:p>
              </p:txBody>
            </p:sp>
            <p:sp>
              <p:nvSpPr>
                <p:cNvPr id="72763" name="Rectangle 52">
                  <a:extLst>
                    <a:ext uri="{FF2B5EF4-FFF2-40B4-BE49-F238E27FC236}">
                      <a16:creationId xmlns:a16="http://schemas.microsoft.com/office/drawing/2014/main" id="{03CB15D6-20B6-4D2D-8865-39550799B7FD}"/>
                    </a:ext>
                  </a:extLst>
                </p:cNvPr>
                <p:cNvSpPr>
                  <a:spLocks noChangeArrowheads="1"/>
                </p:cNvSpPr>
                <p:nvPr/>
              </p:nvSpPr>
              <p:spPr bwMode="auto">
                <a:xfrm>
                  <a:off x="1476" y="780"/>
                  <a:ext cx="7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72723" name="Group 55">
                <a:extLst>
                  <a:ext uri="{FF2B5EF4-FFF2-40B4-BE49-F238E27FC236}">
                    <a16:creationId xmlns:a16="http://schemas.microsoft.com/office/drawing/2014/main" id="{C9D9B9CB-3F41-4C12-AE8A-F2FC6E7DA99D}"/>
                  </a:ext>
                </a:extLst>
              </p:cNvPr>
              <p:cNvGrpSpPr>
                <a:grpSpLocks/>
              </p:cNvGrpSpPr>
              <p:nvPr/>
            </p:nvGrpSpPr>
            <p:grpSpPr bwMode="auto">
              <a:xfrm>
                <a:off x="2214" y="780"/>
                <a:ext cx="1008" cy="384"/>
                <a:chOff x="2214" y="780"/>
                <a:chExt cx="1008" cy="384"/>
              </a:xfrm>
            </p:grpSpPr>
            <p:sp>
              <p:nvSpPr>
                <p:cNvPr id="72760" name="Rectangle 19">
                  <a:extLst>
                    <a:ext uri="{FF2B5EF4-FFF2-40B4-BE49-F238E27FC236}">
                      <a16:creationId xmlns:a16="http://schemas.microsoft.com/office/drawing/2014/main" id="{0E25D2F6-B17C-4405-8A5B-BFE79006DE8D}"/>
                    </a:ext>
                  </a:extLst>
                </p:cNvPr>
                <p:cNvSpPr>
                  <a:spLocks noChangeArrowheads="1"/>
                </p:cNvSpPr>
                <p:nvPr/>
              </p:nvSpPr>
              <p:spPr bwMode="auto">
                <a:xfrm>
                  <a:off x="2220" y="786"/>
                  <a:ext cx="996" cy="378"/>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Times New Roman" panose="02020603050405020304" pitchFamily="18" charset="0"/>
                    </a:rPr>
                    <a:t>0.000 0</a:t>
                  </a:r>
                  <a:endParaRPr lang="en-US" altLang="zh-CN" sz="1400">
                    <a:latin typeface="Times New Roman" panose="02020603050405020304" pitchFamily="18" charset="0"/>
                  </a:endParaRPr>
                </a:p>
              </p:txBody>
            </p:sp>
            <p:sp>
              <p:nvSpPr>
                <p:cNvPr id="72761" name="Rectangle 54">
                  <a:extLst>
                    <a:ext uri="{FF2B5EF4-FFF2-40B4-BE49-F238E27FC236}">
                      <a16:creationId xmlns:a16="http://schemas.microsoft.com/office/drawing/2014/main" id="{4162752E-D97D-4EEC-A691-D7925B469FA6}"/>
                    </a:ext>
                  </a:extLst>
                </p:cNvPr>
                <p:cNvSpPr>
                  <a:spLocks noChangeArrowheads="1"/>
                </p:cNvSpPr>
                <p:nvPr/>
              </p:nvSpPr>
              <p:spPr bwMode="auto">
                <a:xfrm>
                  <a:off x="2214" y="780"/>
                  <a:ext cx="100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72724" name="Group 57">
                <a:extLst>
                  <a:ext uri="{FF2B5EF4-FFF2-40B4-BE49-F238E27FC236}">
                    <a16:creationId xmlns:a16="http://schemas.microsoft.com/office/drawing/2014/main" id="{1300314B-5C5B-4762-8322-B28CA9ED718D}"/>
                  </a:ext>
                </a:extLst>
              </p:cNvPr>
              <p:cNvGrpSpPr>
                <a:grpSpLocks/>
              </p:cNvGrpSpPr>
              <p:nvPr/>
            </p:nvGrpSpPr>
            <p:grpSpPr bwMode="auto">
              <a:xfrm>
                <a:off x="0" y="1170"/>
                <a:ext cx="738" cy="384"/>
                <a:chOff x="0" y="1170"/>
                <a:chExt cx="738" cy="384"/>
              </a:xfrm>
            </p:grpSpPr>
            <p:sp>
              <p:nvSpPr>
                <p:cNvPr id="72758" name="Rectangle 20">
                  <a:extLst>
                    <a:ext uri="{FF2B5EF4-FFF2-40B4-BE49-F238E27FC236}">
                      <a16:creationId xmlns:a16="http://schemas.microsoft.com/office/drawing/2014/main" id="{959F7CD1-3FE8-4E38-B941-196BE5981FC9}"/>
                    </a:ext>
                  </a:extLst>
                </p:cNvPr>
                <p:cNvSpPr>
                  <a:spLocks noChangeArrowheads="1"/>
                </p:cNvSpPr>
                <p:nvPr/>
              </p:nvSpPr>
              <p:spPr bwMode="auto">
                <a:xfrm>
                  <a:off x="6" y="1176"/>
                  <a:ext cx="726" cy="378"/>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Times New Roman" panose="02020603050405020304" pitchFamily="18" charset="0"/>
                    </a:rPr>
                    <a:t>2000</a:t>
                  </a:r>
                  <a:endParaRPr lang="en-US" altLang="zh-CN" sz="1400">
                    <a:latin typeface="Times New Roman" panose="02020603050405020304" pitchFamily="18" charset="0"/>
                  </a:endParaRPr>
                </a:p>
              </p:txBody>
            </p:sp>
            <p:sp>
              <p:nvSpPr>
                <p:cNvPr id="72759" name="Rectangle 56">
                  <a:extLst>
                    <a:ext uri="{FF2B5EF4-FFF2-40B4-BE49-F238E27FC236}">
                      <a16:creationId xmlns:a16="http://schemas.microsoft.com/office/drawing/2014/main" id="{D1040180-1D78-429D-9DFF-91ADE66D44FD}"/>
                    </a:ext>
                  </a:extLst>
                </p:cNvPr>
                <p:cNvSpPr>
                  <a:spLocks noChangeArrowheads="1"/>
                </p:cNvSpPr>
                <p:nvPr/>
              </p:nvSpPr>
              <p:spPr bwMode="auto">
                <a:xfrm>
                  <a:off x="0" y="1170"/>
                  <a:ext cx="7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72725" name="Group 59">
                <a:extLst>
                  <a:ext uri="{FF2B5EF4-FFF2-40B4-BE49-F238E27FC236}">
                    <a16:creationId xmlns:a16="http://schemas.microsoft.com/office/drawing/2014/main" id="{9F14938B-759F-452D-8DF0-A3B9CB5B59B9}"/>
                  </a:ext>
                </a:extLst>
              </p:cNvPr>
              <p:cNvGrpSpPr>
                <a:grpSpLocks/>
              </p:cNvGrpSpPr>
              <p:nvPr/>
            </p:nvGrpSpPr>
            <p:grpSpPr bwMode="auto">
              <a:xfrm>
                <a:off x="738" y="1170"/>
                <a:ext cx="738" cy="384"/>
                <a:chOff x="738" y="1170"/>
                <a:chExt cx="738" cy="384"/>
              </a:xfrm>
            </p:grpSpPr>
            <p:sp>
              <p:nvSpPr>
                <p:cNvPr id="72756" name="Rectangle 21">
                  <a:extLst>
                    <a:ext uri="{FF2B5EF4-FFF2-40B4-BE49-F238E27FC236}">
                      <a16:creationId xmlns:a16="http://schemas.microsoft.com/office/drawing/2014/main" id="{973A0B59-E9B1-4FDC-B131-CEB6C20D50A3}"/>
                    </a:ext>
                  </a:extLst>
                </p:cNvPr>
                <p:cNvSpPr>
                  <a:spLocks noChangeArrowheads="1"/>
                </p:cNvSpPr>
                <p:nvPr/>
              </p:nvSpPr>
              <p:spPr bwMode="auto">
                <a:xfrm>
                  <a:off x="744" y="1176"/>
                  <a:ext cx="726" cy="378"/>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Times New Roman" panose="02020603050405020304" pitchFamily="18" charset="0"/>
                    </a:rPr>
                    <a:t>0.511 2</a:t>
                  </a:r>
                  <a:endParaRPr lang="en-US" altLang="zh-CN" sz="1400">
                    <a:latin typeface="Times New Roman" panose="02020603050405020304" pitchFamily="18" charset="0"/>
                  </a:endParaRPr>
                </a:p>
              </p:txBody>
            </p:sp>
            <p:sp>
              <p:nvSpPr>
                <p:cNvPr id="72757" name="Rectangle 58">
                  <a:extLst>
                    <a:ext uri="{FF2B5EF4-FFF2-40B4-BE49-F238E27FC236}">
                      <a16:creationId xmlns:a16="http://schemas.microsoft.com/office/drawing/2014/main" id="{1385967A-F9E5-49E1-B6A9-88CF43AB9E51}"/>
                    </a:ext>
                  </a:extLst>
                </p:cNvPr>
                <p:cNvSpPr>
                  <a:spLocks noChangeArrowheads="1"/>
                </p:cNvSpPr>
                <p:nvPr/>
              </p:nvSpPr>
              <p:spPr bwMode="auto">
                <a:xfrm>
                  <a:off x="738" y="1170"/>
                  <a:ext cx="7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72726" name="Group 61">
                <a:extLst>
                  <a:ext uri="{FF2B5EF4-FFF2-40B4-BE49-F238E27FC236}">
                    <a16:creationId xmlns:a16="http://schemas.microsoft.com/office/drawing/2014/main" id="{9B8470CC-EB73-49C6-B8A2-0910037D9E91}"/>
                  </a:ext>
                </a:extLst>
              </p:cNvPr>
              <p:cNvGrpSpPr>
                <a:grpSpLocks/>
              </p:cNvGrpSpPr>
              <p:nvPr/>
            </p:nvGrpSpPr>
            <p:grpSpPr bwMode="auto">
              <a:xfrm>
                <a:off x="1476" y="1170"/>
                <a:ext cx="738" cy="384"/>
                <a:chOff x="1476" y="1170"/>
                <a:chExt cx="738" cy="384"/>
              </a:xfrm>
            </p:grpSpPr>
            <p:sp>
              <p:nvSpPr>
                <p:cNvPr id="72754" name="Rectangle 22">
                  <a:extLst>
                    <a:ext uri="{FF2B5EF4-FFF2-40B4-BE49-F238E27FC236}">
                      <a16:creationId xmlns:a16="http://schemas.microsoft.com/office/drawing/2014/main" id="{3C974444-7952-43E4-BFD2-666B8682CE3F}"/>
                    </a:ext>
                  </a:extLst>
                </p:cNvPr>
                <p:cNvSpPr>
                  <a:spLocks noChangeArrowheads="1"/>
                </p:cNvSpPr>
                <p:nvPr/>
              </p:nvSpPr>
              <p:spPr bwMode="auto">
                <a:xfrm>
                  <a:off x="1482" y="1176"/>
                  <a:ext cx="726" cy="378"/>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dirty="0">
                      <a:solidFill>
                        <a:srgbClr val="000000"/>
                      </a:solidFill>
                      <a:latin typeface="Times New Roman" panose="02020603050405020304" pitchFamily="18" charset="0"/>
                      <a:cs typeface="Times New Roman" panose="02020603050405020304" pitchFamily="18" charset="0"/>
                    </a:rPr>
                    <a:t>4.597 3</a:t>
                  </a:r>
                  <a:endParaRPr lang="en-US" altLang="zh-CN" sz="1400" dirty="0">
                    <a:latin typeface="Times New Roman" panose="02020603050405020304" pitchFamily="18" charset="0"/>
                  </a:endParaRPr>
                </a:p>
              </p:txBody>
            </p:sp>
            <p:sp>
              <p:nvSpPr>
                <p:cNvPr id="72755" name="Rectangle 60">
                  <a:extLst>
                    <a:ext uri="{FF2B5EF4-FFF2-40B4-BE49-F238E27FC236}">
                      <a16:creationId xmlns:a16="http://schemas.microsoft.com/office/drawing/2014/main" id="{6878EDED-0035-430A-825F-D482E951FE9E}"/>
                    </a:ext>
                  </a:extLst>
                </p:cNvPr>
                <p:cNvSpPr>
                  <a:spLocks noChangeArrowheads="1"/>
                </p:cNvSpPr>
                <p:nvPr/>
              </p:nvSpPr>
              <p:spPr bwMode="auto">
                <a:xfrm>
                  <a:off x="1476" y="1170"/>
                  <a:ext cx="7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72727" name="Group 63">
                <a:extLst>
                  <a:ext uri="{FF2B5EF4-FFF2-40B4-BE49-F238E27FC236}">
                    <a16:creationId xmlns:a16="http://schemas.microsoft.com/office/drawing/2014/main" id="{D006E753-985D-40D2-B199-3D7A1D572082}"/>
                  </a:ext>
                </a:extLst>
              </p:cNvPr>
              <p:cNvGrpSpPr>
                <a:grpSpLocks/>
              </p:cNvGrpSpPr>
              <p:nvPr/>
            </p:nvGrpSpPr>
            <p:grpSpPr bwMode="auto">
              <a:xfrm>
                <a:off x="2214" y="1170"/>
                <a:ext cx="1008" cy="384"/>
                <a:chOff x="2214" y="1170"/>
                <a:chExt cx="1008" cy="384"/>
              </a:xfrm>
            </p:grpSpPr>
            <p:sp>
              <p:nvSpPr>
                <p:cNvPr id="72752" name="Rectangle 23">
                  <a:extLst>
                    <a:ext uri="{FF2B5EF4-FFF2-40B4-BE49-F238E27FC236}">
                      <a16:creationId xmlns:a16="http://schemas.microsoft.com/office/drawing/2014/main" id="{D7359B10-11CD-4D0C-9725-5A827FF7595B}"/>
                    </a:ext>
                  </a:extLst>
                </p:cNvPr>
                <p:cNvSpPr>
                  <a:spLocks noChangeArrowheads="1"/>
                </p:cNvSpPr>
                <p:nvPr/>
              </p:nvSpPr>
              <p:spPr bwMode="auto">
                <a:xfrm>
                  <a:off x="2220" y="1176"/>
                  <a:ext cx="996" cy="378"/>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Times New Roman" panose="02020603050405020304" pitchFamily="18" charset="0"/>
                    </a:rPr>
                    <a:t>0.000 0</a:t>
                  </a:r>
                  <a:endParaRPr lang="en-US" altLang="zh-CN" sz="1400">
                    <a:latin typeface="Times New Roman" panose="02020603050405020304" pitchFamily="18" charset="0"/>
                  </a:endParaRPr>
                </a:p>
              </p:txBody>
            </p:sp>
            <p:sp>
              <p:nvSpPr>
                <p:cNvPr id="72753" name="Rectangle 62">
                  <a:extLst>
                    <a:ext uri="{FF2B5EF4-FFF2-40B4-BE49-F238E27FC236}">
                      <a16:creationId xmlns:a16="http://schemas.microsoft.com/office/drawing/2014/main" id="{0FEBBEC0-8D68-4284-8E2B-33BFC9A08AEE}"/>
                    </a:ext>
                  </a:extLst>
                </p:cNvPr>
                <p:cNvSpPr>
                  <a:spLocks noChangeArrowheads="1"/>
                </p:cNvSpPr>
                <p:nvPr/>
              </p:nvSpPr>
              <p:spPr bwMode="auto">
                <a:xfrm>
                  <a:off x="2214" y="1170"/>
                  <a:ext cx="100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72728" name="Group 65">
                <a:extLst>
                  <a:ext uri="{FF2B5EF4-FFF2-40B4-BE49-F238E27FC236}">
                    <a16:creationId xmlns:a16="http://schemas.microsoft.com/office/drawing/2014/main" id="{CDAFB33A-0F2F-4AE3-8292-F87A97066A11}"/>
                  </a:ext>
                </a:extLst>
              </p:cNvPr>
              <p:cNvGrpSpPr>
                <a:grpSpLocks/>
              </p:cNvGrpSpPr>
              <p:nvPr/>
            </p:nvGrpSpPr>
            <p:grpSpPr bwMode="auto">
              <a:xfrm>
                <a:off x="0" y="1560"/>
                <a:ext cx="738" cy="384"/>
                <a:chOff x="0" y="1560"/>
                <a:chExt cx="738" cy="384"/>
              </a:xfrm>
            </p:grpSpPr>
            <p:sp>
              <p:nvSpPr>
                <p:cNvPr id="72750" name="Rectangle 24">
                  <a:extLst>
                    <a:ext uri="{FF2B5EF4-FFF2-40B4-BE49-F238E27FC236}">
                      <a16:creationId xmlns:a16="http://schemas.microsoft.com/office/drawing/2014/main" id="{4DF5D4CF-8157-4D74-8003-5155B46CA124}"/>
                    </a:ext>
                  </a:extLst>
                </p:cNvPr>
                <p:cNvSpPr>
                  <a:spLocks noChangeArrowheads="1"/>
                </p:cNvSpPr>
                <p:nvPr/>
              </p:nvSpPr>
              <p:spPr bwMode="auto">
                <a:xfrm>
                  <a:off x="6" y="1566"/>
                  <a:ext cx="726" cy="378"/>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Times New Roman" panose="02020603050405020304" pitchFamily="18" charset="0"/>
                    </a:rPr>
                    <a:t>2001</a:t>
                  </a:r>
                  <a:endParaRPr lang="en-US" altLang="zh-CN" sz="1400">
                    <a:latin typeface="Times New Roman" panose="02020603050405020304" pitchFamily="18" charset="0"/>
                  </a:endParaRPr>
                </a:p>
              </p:txBody>
            </p:sp>
            <p:sp>
              <p:nvSpPr>
                <p:cNvPr id="72751" name="Rectangle 64">
                  <a:extLst>
                    <a:ext uri="{FF2B5EF4-FFF2-40B4-BE49-F238E27FC236}">
                      <a16:creationId xmlns:a16="http://schemas.microsoft.com/office/drawing/2014/main" id="{6A232B5D-0B1A-4B0A-A03F-B1313A65CAB8}"/>
                    </a:ext>
                  </a:extLst>
                </p:cNvPr>
                <p:cNvSpPr>
                  <a:spLocks noChangeArrowheads="1"/>
                </p:cNvSpPr>
                <p:nvPr/>
              </p:nvSpPr>
              <p:spPr bwMode="auto">
                <a:xfrm>
                  <a:off x="0" y="1560"/>
                  <a:ext cx="7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72729" name="Group 67">
                <a:extLst>
                  <a:ext uri="{FF2B5EF4-FFF2-40B4-BE49-F238E27FC236}">
                    <a16:creationId xmlns:a16="http://schemas.microsoft.com/office/drawing/2014/main" id="{51AEACDD-9780-4D48-93A2-3A65A7847072}"/>
                  </a:ext>
                </a:extLst>
              </p:cNvPr>
              <p:cNvGrpSpPr>
                <a:grpSpLocks/>
              </p:cNvGrpSpPr>
              <p:nvPr/>
            </p:nvGrpSpPr>
            <p:grpSpPr bwMode="auto">
              <a:xfrm>
                <a:off x="738" y="1560"/>
                <a:ext cx="738" cy="384"/>
                <a:chOff x="738" y="1560"/>
                <a:chExt cx="738" cy="384"/>
              </a:xfrm>
            </p:grpSpPr>
            <p:sp>
              <p:nvSpPr>
                <p:cNvPr id="72748" name="Rectangle 25">
                  <a:extLst>
                    <a:ext uri="{FF2B5EF4-FFF2-40B4-BE49-F238E27FC236}">
                      <a16:creationId xmlns:a16="http://schemas.microsoft.com/office/drawing/2014/main" id="{16986CF0-45D1-4320-962C-627F9922C576}"/>
                    </a:ext>
                  </a:extLst>
                </p:cNvPr>
                <p:cNvSpPr>
                  <a:spLocks noChangeArrowheads="1"/>
                </p:cNvSpPr>
                <p:nvPr/>
              </p:nvSpPr>
              <p:spPr bwMode="auto">
                <a:xfrm>
                  <a:off x="744" y="1566"/>
                  <a:ext cx="726" cy="378"/>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Times New Roman" panose="02020603050405020304" pitchFamily="18" charset="0"/>
                    </a:rPr>
                    <a:t>0.505 9</a:t>
                  </a:r>
                  <a:endParaRPr lang="en-US" altLang="zh-CN" sz="1400">
                    <a:latin typeface="Times New Roman" panose="02020603050405020304" pitchFamily="18" charset="0"/>
                  </a:endParaRPr>
                </a:p>
              </p:txBody>
            </p:sp>
            <p:sp>
              <p:nvSpPr>
                <p:cNvPr id="72749" name="Rectangle 66">
                  <a:extLst>
                    <a:ext uri="{FF2B5EF4-FFF2-40B4-BE49-F238E27FC236}">
                      <a16:creationId xmlns:a16="http://schemas.microsoft.com/office/drawing/2014/main" id="{85922BEB-D539-4DF7-BCD8-B890D9F64501}"/>
                    </a:ext>
                  </a:extLst>
                </p:cNvPr>
                <p:cNvSpPr>
                  <a:spLocks noChangeArrowheads="1"/>
                </p:cNvSpPr>
                <p:nvPr/>
              </p:nvSpPr>
              <p:spPr bwMode="auto">
                <a:xfrm>
                  <a:off x="738" y="1560"/>
                  <a:ext cx="7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72730" name="Group 69">
                <a:extLst>
                  <a:ext uri="{FF2B5EF4-FFF2-40B4-BE49-F238E27FC236}">
                    <a16:creationId xmlns:a16="http://schemas.microsoft.com/office/drawing/2014/main" id="{0565A205-5C2F-49A7-BB13-7D83589E9BFB}"/>
                  </a:ext>
                </a:extLst>
              </p:cNvPr>
              <p:cNvGrpSpPr>
                <a:grpSpLocks/>
              </p:cNvGrpSpPr>
              <p:nvPr/>
            </p:nvGrpSpPr>
            <p:grpSpPr bwMode="auto">
              <a:xfrm>
                <a:off x="1476" y="1560"/>
                <a:ext cx="738" cy="384"/>
                <a:chOff x="1476" y="1560"/>
                <a:chExt cx="738" cy="384"/>
              </a:xfrm>
            </p:grpSpPr>
            <p:sp>
              <p:nvSpPr>
                <p:cNvPr id="72746" name="Rectangle 26">
                  <a:extLst>
                    <a:ext uri="{FF2B5EF4-FFF2-40B4-BE49-F238E27FC236}">
                      <a16:creationId xmlns:a16="http://schemas.microsoft.com/office/drawing/2014/main" id="{4DB24E66-8EF7-4DCE-8544-7D4D67C77C12}"/>
                    </a:ext>
                  </a:extLst>
                </p:cNvPr>
                <p:cNvSpPr>
                  <a:spLocks noChangeArrowheads="1"/>
                </p:cNvSpPr>
                <p:nvPr/>
              </p:nvSpPr>
              <p:spPr bwMode="auto">
                <a:xfrm>
                  <a:off x="1482" y="1566"/>
                  <a:ext cx="726" cy="378"/>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Times New Roman" panose="02020603050405020304" pitchFamily="18" charset="0"/>
                    </a:rPr>
                    <a:t>4.553 2</a:t>
                  </a:r>
                  <a:endParaRPr lang="en-US" altLang="zh-CN" sz="1400">
                    <a:latin typeface="Times New Roman" panose="02020603050405020304" pitchFamily="18" charset="0"/>
                  </a:endParaRPr>
                </a:p>
              </p:txBody>
            </p:sp>
            <p:sp>
              <p:nvSpPr>
                <p:cNvPr id="72747" name="Rectangle 68">
                  <a:extLst>
                    <a:ext uri="{FF2B5EF4-FFF2-40B4-BE49-F238E27FC236}">
                      <a16:creationId xmlns:a16="http://schemas.microsoft.com/office/drawing/2014/main" id="{AA44ECB8-659A-4C2C-8D5E-989BD90A308B}"/>
                    </a:ext>
                  </a:extLst>
                </p:cNvPr>
                <p:cNvSpPr>
                  <a:spLocks noChangeArrowheads="1"/>
                </p:cNvSpPr>
                <p:nvPr/>
              </p:nvSpPr>
              <p:spPr bwMode="auto">
                <a:xfrm>
                  <a:off x="1476" y="1560"/>
                  <a:ext cx="7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72731" name="Group 71">
                <a:extLst>
                  <a:ext uri="{FF2B5EF4-FFF2-40B4-BE49-F238E27FC236}">
                    <a16:creationId xmlns:a16="http://schemas.microsoft.com/office/drawing/2014/main" id="{C4E2329D-1BCF-4870-9871-A6C3205B0C31}"/>
                  </a:ext>
                </a:extLst>
              </p:cNvPr>
              <p:cNvGrpSpPr>
                <a:grpSpLocks/>
              </p:cNvGrpSpPr>
              <p:nvPr/>
            </p:nvGrpSpPr>
            <p:grpSpPr bwMode="auto">
              <a:xfrm>
                <a:off x="2214" y="1560"/>
                <a:ext cx="1008" cy="384"/>
                <a:chOff x="2214" y="1560"/>
                <a:chExt cx="1008" cy="384"/>
              </a:xfrm>
            </p:grpSpPr>
            <p:sp>
              <p:nvSpPr>
                <p:cNvPr id="72744" name="Rectangle 27">
                  <a:extLst>
                    <a:ext uri="{FF2B5EF4-FFF2-40B4-BE49-F238E27FC236}">
                      <a16:creationId xmlns:a16="http://schemas.microsoft.com/office/drawing/2014/main" id="{6A7C2EA6-E9E0-45DC-85CD-1533D47128F9}"/>
                    </a:ext>
                  </a:extLst>
                </p:cNvPr>
                <p:cNvSpPr>
                  <a:spLocks noChangeArrowheads="1"/>
                </p:cNvSpPr>
                <p:nvPr/>
              </p:nvSpPr>
              <p:spPr bwMode="auto">
                <a:xfrm>
                  <a:off x="2220" y="1566"/>
                  <a:ext cx="996" cy="378"/>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Times New Roman" panose="02020603050405020304" pitchFamily="18" charset="0"/>
                    </a:rPr>
                    <a:t>0.000 0</a:t>
                  </a:r>
                  <a:endParaRPr lang="en-US" altLang="zh-CN" sz="1400">
                    <a:latin typeface="Times New Roman" panose="02020603050405020304" pitchFamily="18" charset="0"/>
                  </a:endParaRPr>
                </a:p>
              </p:txBody>
            </p:sp>
            <p:sp>
              <p:nvSpPr>
                <p:cNvPr id="72745" name="Rectangle 70">
                  <a:extLst>
                    <a:ext uri="{FF2B5EF4-FFF2-40B4-BE49-F238E27FC236}">
                      <a16:creationId xmlns:a16="http://schemas.microsoft.com/office/drawing/2014/main" id="{D4095CE7-CF36-4B3B-81EC-4D7845C5304C}"/>
                    </a:ext>
                  </a:extLst>
                </p:cNvPr>
                <p:cNvSpPr>
                  <a:spLocks noChangeArrowheads="1"/>
                </p:cNvSpPr>
                <p:nvPr/>
              </p:nvSpPr>
              <p:spPr bwMode="auto">
                <a:xfrm>
                  <a:off x="2214" y="1560"/>
                  <a:ext cx="100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72732" name="Group 73">
                <a:extLst>
                  <a:ext uri="{FF2B5EF4-FFF2-40B4-BE49-F238E27FC236}">
                    <a16:creationId xmlns:a16="http://schemas.microsoft.com/office/drawing/2014/main" id="{2A16C7F7-5307-4BC2-A5EB-C0855B5BA653}"/>
                  </a:ext>
                </a:extLst>
              </p:cNvPr>
              <p:cNvGrpSpPr>
                <a:grpSpLocks/>
              </p:cNvGrpSpPr>
              <p:nvPr/>
            </p:nvGrpSpPr>
            <p:grpSpPr bwMode="auto">
              <a:xfrm>
                <a:off x="0" y="1950"/>
                <a:ext cx="738" cy="384"/>
                <a:chOff x="0" y="1950"/>
                <a:chExt cx="738" cy="384"/>
              </a:xfrm>
            </p:grpSpPr>
            <p:sp>
              <p:nvSpPr>
                <p:cNvPr id="72742" name="Rectangle 28">
                  <a:extLst>
                    <a:ext uri="{FF2B5EF4-FFF2-40B4-BE49-F238E27FC236}">
                      <a16:creationId xmlns:a16="http://schemas.microsoft.com/office/drawing/2014/main" id="{E51682C1-888B-429F-996B-09F5F3795DA4}"/>
                    </a:ext>
                  </a:extLst>
                </p:cNvPr>
                <p:cNvSpPr>
                  <a:spLocks noChangeArrowheads="1"/>
                </p:cNvSpPr>
                <p:nvPr/>
              </p:nvSpPr>
              <p:spPr bwMode="auto">
                <a:xfrm>
                  <a:off x="6" y="1956"/>
                  <a:ext cx="726" cy="378"/>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Times New Roman" panose="02020603050405020304" pitchFamily="18" charset="0"/>
                    </a:rPr>
                    <a:t>2002</a:t>
                  </a:r>
                  <a:endParaRPr lang="en-US" altLang="zh-CN" sz="1400">
                    <a:latin typeface="Times New Roman" panose="02020603050405020304" pitchFamily="18" charset="0"/>
                  </a:endParaRPr>
                </a:p>
              </p:txBody>
            </p:sp>
            <p:sp>
              <p:nvSpPr>
                <p:cNvPr id="72743" name="Rectangle 72">
                  <a:extLst>
                    <a:ext uri="{FF2B5EF4-FFF2-40B4-BE49-F238E27FC236}">
                      <a16:creationId xmlns:a16="http://schemas.microsoft.com/office/drawing/2014/main" id="{44056D7B-5324-4593-BC48-44710B4D18D6}"/>
                    </a:ext>
                  </a:extLst>
                </p:cNvPr>
                <p:cNvSpPr>
                  <a:spLocks noChangeArrowheads="1"/>
                </p:cNvSpPr>
                <p:nvPr/>
              </p:nvSpPr>
              <p:spPr bwMode="auto">
                <a:xfrm>
                  <a:off x="0" y="1950"/>
                  <a:ext cx="7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72733" name="Group 75">
                <a:extLst>
                  <a:ext uri="{FF2B5EF4-FFF2-40B4-BE49-F238E27FC236}">
                    <a16:creationId xmlns:a16="http://schemas.microsoft.com/office/drawing/2014/main" id="{71C93AD8-3CD0-487A-B1C0-17090A5D8DA5}"/>
                  </a:ext>
                </a:extLst>
              </p:cNvPr>
              <p:cNvGrpSpPr>
                <a:grpSpLocks/>
              </p:cNvGrpSpPr>
              <p:nvPr/>
            </p:nvGrpSpPr>
            <p:grpSpPr bwMode="auto">
              <a:xfrm>
                <a:off x="738" y="1950"/>
                <a:ext cx="738" cy="384"/>
                <a:chOff x="738" y="1950"/>
                <a:chExt cx="738" cy="384"/>
              </a:xfrm>
            </p:grpSpPr>
            <p:sp>
              <p:nvSpPr>
                <p:cNvPr id="72740" name="Rectangle 29">
                  <a:extLst>
                    <a:ext uri="{FF2B5EF4-FFF2-40B4-BE49-F238E27FC236}">
                      <a16:creationId xmlns:a16="http://schemas.microsoft.com/office/drawing/2014/main" id="{FCF56631-CFE7-4776-B96A-A1E3CB570788}"/>
                    </a:ext>
                  </a:extLst>
                </p:cNvPr>
                <p:cNvSpPr>
                  <a:spLocks noChangeArrowheads="1"/>
                </p:cNvSpPr>
                <p:nvPr/>
              </p:nvSpPr>
              <p:spPr bwMode="auto">
                <a:xfrm>
                  <a:off x="744" y="1956"/>
                  <a:ext cx="726" cy="378"/>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Times New Roman" panose="02020603050405020304" pitchFamily="18" charset="0"/>
                    </a:rPr>
                    <a:t>0.501 3</a:t>
                  </a:r>
                  <a:endParaRPr lang="en-US" altLang="zh-CN" sz="1400">
                    <a:latin typeface="Times New Roman" panose="02020603050405020304" pitchFamily="18" charset="0"/>
                  </a:endParaRPr>
                </a:p>
              </p:txBody>
            </p:sp>
            <p:sp>
              <p:nvSpPr>
                <p:cNvPr id="72741" name="Rectangle 74">
                  <a:extLst>
                    <a:ext uri="{FF2B5EF4-FFF2-40B4-BE49-F238E27FC236}">
                      <a16:creationId xmlns:a16="http://schemas.microsoft.com/office/drawing/2014/main" id="{EA272AFA-0740-42A6-BA88-B770CB22C8F5}"/>
                    </a:ext>
                  </a:extLst>
                </p:cNvPr>
                <p:cNvSpPr>
                  <a:spLocks noChangeArrowheads="1"/>
                </p:cNvSpPr>
                <p:nvPr/>
              </p:nvSpPr>
              <p:spPr bwMode="auto">
                <a:xfrm>
                  <a:off x="738" y="1950"/>
                  <a:ext cx="7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72734" name="Group 77">
                <a:extLst>
                  <a:ext uri="{FF2B5EF4-FFF2-40B4-BE49-F238E27FC236}">
                    <a16:creationId xmlns:a16="http://schemas.microsoft.com/office/drawing/2014/main" id="{4ACCA812-5A28-4592-9374-DCE79EBD7A9F}"/>
                  </a:ext>
                </a:extLst>
              </p:cNvPr>
              <p:cNvGrpSpPr>
                <a:grpSpLocks/>
              </p:cNvGrpSpPr>
              <p:nvPr/>
            </p:nvGrpSpPr>
            <p:grpSpPr bwMode="auto">
              <a:xfrm>
                <a:off x="1476" y="1950"/>
                <a:ext cx="738" cy="384"/>
                <a:chOff x="1476" y="1950"/>
                <a:chExt cx="738" cy="384"/>
              </a:xfrm>
            </p:grpSpPr>
            <p:sp>
              <p:nvSpPr>
                <p:cNvPr id="72738" name="Rectangle 30">
                  <a:extLst>
                    <a:ext uri="{FF2B5EF4-FFF2-40B4-BE49-F238E27FC236}">
                      <a16:creationId xmlns:a16="http://schemas.microsoft.com/office/drawing/2014/main" id="{D6A22785-B24D-4E61-B2AB-C98D4D724577}"/>
                    </a:ext>
                  </a:extLst>
                </p:cNvPr>
                <p:cNvSpPr>
                  <a:spLocks noChangeArrowheads="1"/>
                </p:cNvSpPr>
                <p:nvPr/>
              </p:nvSpPr>
              <p:spPr bwMode="auto">
                <a:xfrm>
                  <a:off x="1482" y="1956"/>
                  <a:ext cx="726" cy="378"/>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Times New Roman" panose="02020603050405020304" pitchFamily="18" charset="0"/>
                    </a:rPr>
                    <a:t>4.532 6</a:t>
                  </a:r>
                  <a:endParaRPr lang="en-US" altLang="zh-CN" sz="1400">
                    <a:latin typeface="Times New Roman" panose="02020603050405020304" pitchFamily="18" charset="0"/>
                  </a:endParaRPr>
                </a:p>
              </p:txBody>
            </p:sp>
            <p:sp>
              <p:nvSpPr>
                <p:cNvPr id="72739" name="Rectangle 76">
                  <a:extLst>
                    <a:ext uri="{FF2B5EF4-FFF2-40B4-BE49-F238E27FC236}">
                      <a16:creationId xmlns:a16="http://schemas.microsoft.com/office/drawing/2014/main" id="{3F7ED42F-4780-4DC3-9F8B-9A16D40F0BEE}"/>
                    </a:ext>
                  </a:extLst>
                </p:cNvPr>
                <p:cNvSpPr>
                  <a:spLocks noChangeArrowheads="1"/>
                </p:cNvSpPr>
                <p:nvPr/>
              </p:nvSpPr>
              <p:spPr bwMode="auto">
                <a:xfrm>
                  <a:off x="1476" y="1950"/>
                  <a:ext cx="7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72735" name="Group 79">
                <a:extLst>
                  <a:ext uri="{FF2B5EF4-FFF2-40B4-BE49-F238E27FC236}">
                    <a16:creationId xmlns:a16="http://schemas.microsoft.com/office/drawing/2014/main" id="{37C44E90-1418-46A5-B713-051B58D16113}"/>
                  </a:ext>
                </a:extLst>
              </p:cNvPr>
              <p:cNvGrpSpPr>
                <a:grpSpLocks/>
              </p:cNvGrpSpPr>
              <p:nvPr/>
            </p:nvGrpSpPr>
            <p:grpSpPr bwMode="auto">
              <a:xfrm>
                <a:off x="2214" y="1950"/>
                <a:ext cx="1008" cy="384"/>
                <a:chOff x="2214" y="1950"/>
                <a:chExt cx="1008" cy="384"/>
              </a:xfrm>
            </p:grpSpPr>
            <p:sp>
              <p:nvSpPr>
                <p:cNvPr id="72736" name="Rectangle 31">
                  <a:extLst>
                    <a:ext uri="{FF2B5EF4-FFF2-40B4-BE49-F238E27FC236}">
                      <a16:creationId xmlns:a16="http://schemas.microsoft.com/office/drawing/2014/main" id="{BBD39035-49AC-4C4B-9952-926F4330A5AB}"/>
                    </a:ext>
                  </a:extLst>
                </p:cNvPr>
                <p:cNvSpPr>
                  <a:spLocks noChangeArrowheads="1"/>
                </p:cNvSpPr>
                <p:nvPr/>
              </p:nvSpPr>
              <p:spPr bwMode="auto">
                <a:xfrm>
                  <a:off x="2220" y="1956"/>
                  <a:ext cx="996" cy="378"/>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rgbClr val="000000"/>
                      </a:solidFill>
                      <a:latin typeface="Times New Roman" panose="02020603050405020304" pitchFamily="18" charset="0"/>
                      <a:cs typeface="Times New Roman" panose="02020603050405020304" pitchFamily="18" charset="0"/>
                    </a:rPr>
                    <a:t>0.000 0</a:t>
                  </a:r>
                  <a:endParaRPr lang="en-US" altLang="zh-CN" sz="1400">
                    <a:latin typeface="Times New Roman" panose="02020603050405020304" pitchFamily="18" charset="0"/>
                  </a:endParaRPr>
                </a:p>
              </p:txBody>
            </p:sp>
            <p:sp>
              <p:nvSpPr>
                <p:cNvPr id="72737" name="Rectangle 78">
                  <a:extLst>
                    <a:ext uri="{FF2B5EF4-FFF2-40B4-BE49-F238E27FC236}">
                      <a16:creationId xmlns:a16="http://schemas.microsoft.com/office/drawing/2014/main" id="{CC30FDBF-94B5-48FF-86CE-916072AEED24}"/>
                    </a:ext>
                  </a:extLst>
                </p:cNvPr>
                <p:cNvSpPr>
                  <a:spLocks noChangeArrowheads="1"/>
                </p:cNvSpPr>
                <p:nvPr/>
              </p:nvSpPr>
              <p:spPr bwMode="auto">
                <a:xfrm>
                  <a:off x="2214" y="1950"/>
                  <a:ext cx="100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sp>
          <p:nvSpPr>
            <p:cNvPr id="72711" name="Rectangle 81">
              <a:extLst>
                <a:ext uri="{FF2B5EF4-FFF2-40B4-BE49-F238E27FC236}">
                  <a16:creationId xmlns:a16="http://schemas.microsoft.com/office/drawing/2014/main" id="{A70BAF7B-7A74-46A0-A2CD-D69D5CC8067D}"/>
                </a:ext>
              </a:extLst>
            </p:cNvPr>
            <p:cNvSpPr>
              <a:spLocks noChangeArrowheads="1"/>
            </p:cNvSpPr>
            <p:nvPr/>
          </p:nvSpPr>
          <p:spPr bwMode="auto">
            <a:xfrm>
              <a:off x="-3" y="-3"/>
              <a:ext cx="3228" cy="2340"/>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2">
            <a:extLst>
              <a:ext uri="{FF2B5EF4-FFF2-40B4-BE49-F238E27FC236}">
                <a16:creationId xmlns:a16="http://schemas.microsoft.com/office/drawing/2014/main" id="{AE331428-94CC-4814-BE90-F5D17F799A2E}"/>
              </a:ext>
            </a:extLst>
          </p:cNvPr>
          <p:cNvSpPr txBox="1">
            <a:spLocks noChangeArrowheads="1"/>
          </p:cNvSpPr>
          <p:nvPr/>
        </p:nvSpPr>
        <p:spPr bwMode="auto">
          <a:xfrm>
            <a:off x="251520" y="764704"/>
            <a:ext cx="8287544" cy="4774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algn="just" eaLnBrk="1" hangingPunct="1">
              <a:lnSpc>
                <a:spcPct val="110000"/>
              </a:lnSpc>
              <a:buFont typeface="Wingdings" panose="05000000000000000000" pitchFamily="2" charset="2"/>
              <a:buChar char="Ø"/>
            </a:pPr>
            <a:r>
              <a:rPr lang="zh-CN" altLang="en-US" sz="2800" dirty="0">
                <a:solidFill>
                  <a:srgbClr val="000000"/>
                </a:solidFill>
                <a:latin typeface="黑体" panose="02010609060101010101" pitchFamily="49" charset="-122"/>
                <a:ea typeface="黑体" panose="02010609060101010101" pitchFamily="49" charset="-122"/>
              </a:rPr>
              <a:t>在</a:t>
            </a:r>
            <a:r>
              <a:rPr lang="en-US" altLang="zh-CN"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1993</a:t>
            </a:r>
            <a:r>
              <a:rPr lang="en-US" altLang="en-US" sz="2800" dirty="0">
                <a:latin typeface="黑体" panose="02010609060101010101" pitchFamily="49" charset="-122"/>
                <a:ea typeface="黑体" panose="02010609060101010101" pitchFamily="49" charset="-122"/>
              </a:rPr>
              <a:t>—</a:t>
            </a:r>
            <a:r>
              <a:rPr lang="en-US" altLang="zh-CN"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2002</a:t>
            </a:r>
            <a:r>
              <a:rPr lang="zh-CN" altLang="en-US" sz="2800" dirty="0">
                <a:solidFill>
                  <a:srgbClr val="000000"/>
                </a:solidFill>
                <a:latin typeface="黑体" panose="02010609060101010101" pitchFamily="49" charset="-122"/>
                <a:ea typeface="黑体" panose="02010609060101010101" pitchFamily="49" charset="-122"/>
              </a:rPr>
              <a:t>年期间，中国大陆</a:t>
            </a:r>
            <a:r>
              <a:rPr lang="en-US" altLang="zh-CN"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30</a:t>
            </a:r>
            <a:r>
              <a:rPr lang="zh-CN" altLang="en-US" sz="2800" dirty="0">
                <a:solidFill>
                  <a:srgbClr val="000000"/>
                </a:solidFill>
                <a:latin typeface="黑体" panose="02010609060101010101" pitchFamily="49" charset="-122"/>
                <a:ea typeface="黑体" panose="02010609060101010101" pitchFamily="49" charset="-122"/>
              </a:rPr>
              <a:t>个省级行政区人均</a:t>
            </a:r>
            <a:r>
              <a:rPr lang="en-US" altLang="zh-CN"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GDP</a:t>
            </a:r>
            <a:r>
              <a:rPr lang="zh-CN" altLang="en-US" sz="2800" dirty="0">
                <a:solidFill>
                  <a:srgbClr val="000000"/>
                </a:solidFill>
                <a:latin typeface="黑体" panose="02010609060101010101" pitchFamily="49" charset="-122"/>
                <a:ea typeface="黑体" panose="02010609060101010101" pitchFamily="49" charset="-122"/>
              </a:rPr>
              <a:t>的全局</a:t>
            </a:r>
            <a:r>
              <a:rPr lang="en-US" altLang="zh-CN"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Moran</a:t>
            </a:r>
            <a:r>
              <a:rPr lang="zh-CN" altLang="en-US" sz="2800" dirty="0">
                <a:solidFill>
                  <a:srgbClr val="000000"/>
                </a:solidFill>
                <a:latin typeface="黑体" panose="02010609060101010101" pitchFamily="49" charset="-122"/>
                <a:ea typeface="黑体" panose="02010609060101010101" pitchFamily="49" charset="-122"/>
              </a:rPr>
              <a:t>指数均为正值；</a:t>
            </a:r>
            <a:endParaRPr lang="en-US" altLang="zh-CN" sz="2800" dirty="0">
              <a:solidFill>
                <a:srgbClr val="000000"/>
              </a:solidFill>
              <a:latin typeface="黑体" panose="02010609060101010101" pitchFamily="49" charset="-122"/>
              <a:ea typeface="黑体" panose="02010609060101010101" pitchFamily="49" charset="-122"/>
            </a:endParaRPr>
          </a:p>
          <a:p>
            <a:pPr marL="457200" indent="-457200" algn="just" eaLnBrk="1" hangingPunct="1">
              <a:lnSpc>
                <a:spcPct val="110000"/>
              </a:lnSpc>
              <a:buFont typeface="Wingdings" panose="05000000000000000000" pitchFamily="2" charset="2"/>
              <a:buChar char="Ø"/>
            </a:pPr>
            <a:r>
              <a:rPr lang="zh-CN" altLang="en-US" sz="2800" dirty="0">
                <a:solidFill>
                  <a:srgbClr val="000000"/>
                </a:solidFill>
                <a:latin typeface="黑体" panose="02010609060101010101" pitchFamily="49" charset="-122"/>
                <a:ea typeface="黑体" panose="02010609060101010101" pitchFamily="49" charset="-122"/>
              </a:rPr>
              <a:t>在正态分布假设之上，对</a:t>
            </a:r>
            <a:r>
              <a:rPr lang="en-US" altLang="zh-CN"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Moran</a:t>
            </a:r>
            <a:r>
              <a:rPr lang="zh-CN" altLang="en-US" sz="2800" dirty="0">
                <a:solidFill>
                  <a:srgbClr val="000000"/>
                </a:solidFill>
                <a:latin typeface="黑体" panose="02010609060101010101" pitchFamily="49" charset="-122"/>
                <a:ea typeface="黑体" panose="02010609060101010101" pitchFamily="49" charset="-122"/>
              </a:rPr>
              <a:t>指数检验的结果也高度显著。</a:t>
            </a:r>
            <a:endParaRPr lang="en-US" altLang="zh-CN" sz="2800" dirty="0">
              <a:solidFill>
                <a:srgbClr val="000000"/>
              </a:solidFill>
              <a:latin typeface="黑体" panose="02010609060101010101" pitchFamily="49" charset="-122"/>
              <a:ea typeface="黑体" panose="02010609060101010101" pitchFamily="49" charset="-122"/>
            </a:endParaRPr>
          </a:p>
          <a:p>
            <a:pPr marL="457200" indent="-457200" algn="just" eaLnBrk="1" hangingPunct="1">
              <a:lnSpc>
                <a:spcPct val="110000"/>
              </a:lnSpc>
              <a:buFont typeface="Wingdings" panose="05000000000000000000" pitchFamily="2" charset="2"/>
              <a:buChar char="Ø"/>
            </a:pPr>
            <a:r>
              <a:rPr lang="zh-CN" altLang="en-US" sz="2800" dirty="0">
                <a:solidFill>
                  <a:srgbClr val="000000"/>
                </a:solidFill>
                <a:latin typeface="黑体" panose="02010609060101010101" pitchFamily="49" charset="-122"/>
                <a:ea typeface="黑体" panose="02010609060101010101" pitchFamily="49" charset="-122"/>
              </a:rPr>
              <a:t>在</a:t>
            </a:r>
            <a:r>
              <a:rPr lang="en-US" altLang="zh-CN"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1993</a:t>
            </a:r>
            <a:r>
              <a:rPr lang="en-US" altLang="en-US" sz="2800" dirty="0">
                <a:latin typeface="黑体" panose="02010609060101010101" pitchFamily="49" charset="-122"/>
                <a:ea typeface="黑体" panose="02010609060101010101" pitchFamily="49" charset="-122"/>
              </a:rPr>
              <a:t>—</a:t>
            </a:r>
            <a:r>
              <a:rPr lang="en-US" altLang="zh-CN"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2002</a:t>
            </a:r>
            <a:r>
              <a:rPr lang="zh-CN" altLang="en-US" sz="2800" dirty="0">
                <a:solidFill>
                  <a:srgbClr val="000000"/>
                </a:solidFill>
                <a:latin typeface="黑体" panose="02010609060101010101" pitchFamily="49" charset="-122"/>
                <a:ea typeface="黑体" panose="02010609060101010101" pitchFamily="49" charset="-122"/>
              </a:rPr>
              <a:t>年期间，中国大陆</a:t>
            </a:r>
            <a:r>
              <a:rPr lang="en-US" altLang="zh-CN"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30</a:t>
            </a:r>
            <a:r>
              <a:rPr lang="zh-CN" altLang="en-US" sz="2800" dirty="0">
                <a:solidFill>
                  <a:srgbClr val="000000"/>
                </a:solidFill>
                <a:latin typeface="黑体" panose="02010609060101010101" pitchFamily="49" charset="-122"/>
                <a:ea typeface="黑体" panose="02010609060101010101" pitchFamily="49" charset="-122"/>
              </a:rPr>
              <a:t>个省级行政区人均</a:t>
            </a:r>
            <a:r>
              <a:rPr lang="en-US" altLang="zh-CN"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GDP</a:t>
            </a:r>
            <a:r>
              <a:rPr lang="zh-CN" altLang="en-US" sz="2800" dirty="0">
                <a:solidFill>
                  <a:srgbClr val="000000"/>
                </a:solidFill>
                <a:latin typeface="黑体" panose="02010609060101010101" pitchFamily="49" charset="-122"/>
                <a:ea typeface="黑体" panose="02010609060101010101" pitchFamily="49" charset="-122"/>
              </a:rPr>
              <a:t>存在着显著的、正的空间自相关，各省级行政区人均</a:t>
            </a:r>
            <a:r>
              <a:rPr lang="en-US" altLang="zh-CN"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GDP</a:t>
            </a:r>
            <a:r>
              <a:rPr lang="zh-CN" altLang="en-US" sz="2800" dirty="0">
                <a:solidFill>
                  <a:srgbClr val="000000"/>
                </a:solidFill>
                <a:latin typeface="黑体" panose="02010609060101010101" pitchFamily="49" charset="-122"/>
                <a:ea typeface="黑体" panose="02010609060101010101" pitchFamily="49" charset="-122"/>
              </a:rPr>
              <a:t>水平的空间分布并非表现出完全的随机性，而是表现出相似值之间的空间集聚；</a:t>
            </a:r>
            <a:endParaRPr lang="en-US" altLang="zh-CN" sz="2800" dirty="0">
              <a:solidFill>
                <a:srgbClr val="000000"/>
              </a:solidFill>
              <a:latin typeface="黑体" panose="02010609060101010101" pitchFamily="49" charset="-122"/>
              <a:ea typeface="黑体" panose="02010609060101010101" pitchFamily="49" charset="-122"/>
            </a:endParaRPr>
          </a:p>
          <a:p>
            <a:pPr marL="457200" indent="-457200" algn="just" eaLnBrk="1" hangingPunct="1">
              <a:lnSpc>
                <a:spcPct val="110000"/>
              </a:lnSpc>
              <a:buFont typeface="Wingdings" panose="05000000000000000000" pitchFamily="2" charset="2"/>
              <a:buChar char="Ø"/>
            </a:pPr>
            <a:endParaRPr lang="en-US" altLang="zh-CN" sz="2800" dirty="0">
              <a:solidFill>
                <a:srgbClr val="000000"/>
              </a:solidFill>
              <a:latin typeface="黑体" panose="02010609060101010101" pitchFamily="49" charset="-122"/>
              <a:ea typeface="黑体" panose="02010609060101010101" pitchFamily="49" charset="-122"/>
            </a:endParaRPr>
          </a:p>
          <a:p>
            <a:pPr marL="457200" indent="-457200" algn="just" eaLnBrk="1" hangingPunct="1">
              <a:lnSpc>
                <a:spcPct val="110000"/>
              </a:lnSpc>
              <a:buFont typeface="Wingdings" panose="05000000000000000000" pitchFamily="2" charset="2"/>
              <a:buChar char="Ø"/>
            </a:pPr>
            <a:r>
              <a:rPr lang="zh-CN" altLang="en-US" sz="2800" dirty="0">
                <a:solidFill>
                  <a:srgbClr val="000000"/>
                </a:solidFill>
                <a:latin typeface="黑体" panose="02010609060101010101" pitchFamily="49" charset="-122"/>
                <a:ea typeface="黑体" panose="02010609060101010101" pitchFamily="49" charset="-122"/>
              </a:rPr>
              <a:t>其空间联系的特征是：较高相邻，或者较低相邻。</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4">
            <a:extLst>
              <a:ext uri="{FF2B5EF4-FFF2-40B4-BE49-F238E27FC236}">
                <a16:creationId xmlns:a16="http://schemas.microsoft.com/office/drawing/2014/main" id="{C47FF4BE-90CA-483E-99B0-114ED8778FCA}"/>
              </a:ext>
            </a:extLst>
          </p:cNvPr>
          <p:cNvSpPr>
            <a:spLocks noChangeArrowheads="1"/>
          </p:cNvSpPr>
          <p:nvPr/>
        </p:nvSpPr>
        <p:spPr bwMode="auto">
          <a:xfrm>
            <a:off x="3905250"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4755" name="Rectangle 7">
            <a:extLst>
              <a:ext uri="{FF2B5EF4-FFF2-40B4-BE49-F238E27FC236}">
                <a16:creationId xmlns:a16="http://schemas.microsoft.com/office/drawing/2014/main" id="{2FE0C76F-6D5A-47C1-8FF9-B08759629101}"/>
              </a:ext>
            </a:extLst>
          </p:cNvPr>
          <p:cNvSpPr>
            <a:spLocks noChangeArrowheads="1"/>
          </p:cNvSpPr>
          <p:nvPr/>
        </p:nvSpPr>
        <p:spPr bwMode="auto">
          <a:xfrm>
            <a:off x="4281488"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4756" name="Rectangle 11">
            <a:extLst>
              <a:ext uri="{FF2B5EF4-FFF2-40B4-BE49-F238E27FC236}">
                <a16:creationId xmlns:a16="http://schemas.microsoft.com/office/drawing/2014/main" id="{052D18D6-47D9-443A-835F-12F0AE7C194E}"/>
              </a:ext>
            </a:extLst>
          </p:cNvPr>
          <p:cNvSpPr>
            <a:spLocks noChangeArrowheads="1"/>
          </p:cNvSpPr>
          <p:nvPr/>
        </p:nvSpPr>
        <p:spPr bwMode="auto">
          <a:xfrm>
            <a:off x="3676650"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4757" name="Rectangle 25">
            <a:extLst>
              <a:ext uri="{FF2B5EF4-FFF2-40B4-BE49-F238E27FC236}">
                <a16:creationId xmlns:a16="http://schemas.microsoft.com/office/drawing/2014/main" id="{4536BDB6-4CD7-4366-BE9A-B56F4AAA66CD}"/>
              </a:ext>
            </a:extLst>
          </p:cNvPr>
          <p:cNvSpPr>
            <a:spLocks noChangeArrowheads="1"/>
          </p:cNvSpPr>
          <p:nvPr/>
        </p:nvSpPr>
        <p:spPr bwMode="auto">
          <a:xfrm>
            <a:off x="179512" y="377825"/>
            <a:ext cx="7683376" cy="1373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Clr>
                <a:schemeClr val="accent2"/>
              </a:buClr>
              <a:buSzPct val="85000"/>
              <a:buFont typeface="Wingdings" panose="05000000000000000000" pitchFamily="2" charset="2"/>
              <a:buNone/>
            </a:pPr>
            <a:r>
              <a:rPr lang="en-US" altLang="zh-CN" sz="2800" dirty="0">
                <a:solidFill>
                  <a:srgbClr val="000000"/>
                </a:solidFill>
              </a:rPr>
              <a:t>        </a:t>
            </a:r>
            <a:r>
              <a:rPr lang="zh-CN" altLang="en-US" sz="2800" dirty="0">
                <a:solidFill>
                  <a:srgbClr val="000000"/>
                </a:solidFill>
              </a:rPr>
              <a:t>选取</a:t>
            </a:r>
            <a:r>
              <a:rPr lang="en-US" altLang="zh-CN" sz="2800" dirty="0">
                <a:solidFill>
                  <a:srgbClr val="000000"/>
                </a:solidFill>
              </a:rPr>
              <a:t>2001</a:t>
            </a:r>
            <a:r>
              <a:rPr lang="zh-CN" altLang="en-US" sz="2800" dirty="0">
                <a:solidFill>
                  <a:srgbClr val="000000"/>
                </a:solidFill>
              </a:rPr>
              <a:t>年我国</a:t>
            </a:r>
            <a:r>
              <a:rPr lang="en-US" altLang="zh-CN" sz="2800" dirty="0">
                <a:solidFill>
                  <a:srgbClr val="000000"/>
                </a:solidFill>
              </a:rPr>
              <a:t>30</a:t>
            </a:r>
            <a:r>
              <a:rPr lang="zh-CN" altLang="en-US" sz="2800" dirty="0">
                <a:solidFill>
                  <a:srgbClr val="000000"/>
                </a:solidFill>
              </a:rPr>
              <a:t>个省级行政区人均</a:t>
            </a:r>
            <a:r>
              <a:rPr lang="en-US" altLang="zh-CN" sz="2800" dirty="0">
                <a:solidFill>
                  <a:srgbClr val="000000"/>
                </a:solidFill>
              </a:rPr>
              <a:t>GDP</a:t>
            </a:r>
            <a:r>
              <a:rPr lang="zh-CN" altLang="en-US" sz="2800" dirty="0">
                <a:solidFill>
                  <a:srgbClr val="000000"/>
                </a:solidFill>
              </a:rPr>
              <a:t>数据，</a:t>
            </a:r>
            <a:r>
              <a:rPr lang="zh-CN" altLang="en-US" sz="2800" dirty="0">
                <a:solidFill>
                  <a:srgbClr val="000000"/>
                </a:solidFill>
                <a:latin typeface="Times New Roman" panose="02020603050405020304" pitchFamily="18" charset="0"/>
              </a:rPr>
              <a:t>计算</a:t>
            </a:r>
            <a:r>
              <a:rPr lang="zh-CN" altLang="en-US" sz="2800" dirty="0">
                <a:solidFill>
                  <a:srgbClr val="000000"/>
                </a:solidFill>
                <a:latin typeface="宋体" panose="02010600030101010101" pitchFamily="2" charset="-122"/>
              </a:rPr>
              <a:t>局部</a:t>
            </a:r>
            <a:r>
              <a:rPr lang="en-US" altLang="zh-CN" sz="2800" i="1" dirty="0">
                <a:solidFill>
                  <a:srgbClr val="000000"/>
                </a:solidFill>
                <a:latin typeface="Times New Roman" panose="02020603050405020304" pitchFamily="18" charset="0"/>
                <a:cs typeface="Times New Roman" panose="02020603050405020304" pitchFamily="18" charset="0"/>
              </a:rPr>
              <a:t>G</a:t>
            </a:r>
            <a:r>
              <a:rPr lang="en-US" altLang="zh-CN" sz="2800" i="1" baseline="-30000" dirty="0">
                <a:solidFill>
                  <a:srgbClr val="000000"/>
                </a:solidFill>
                <a:latin typeface="Times New Roman" panose="02020603050405020304" pitchFamily="18" charset="0"/>
                <a:cs typeface="Times New Roman" panose="02020603050405020304" pitchFamily="18" charset="0"/>
              </a:rPr>
              <a:t>i</a:t>
            </a:r>
            <a:r>
              <a:rPr lang="zh-CN" altLang="en-US" sz="2800" dirty="0">
                <a:solidFill>
                  <a:srgbClr val="000000"/>
                </a:solidFill>
                <a:latin typeface="宋体" panose="02010600030101010101" pitchFamily="2" charset="-122"/>
              </a:rPr>
              <a:t>统计量和局部</a:t>
            </a:r>
            <a:r>
              <a:rPr lang="en-US" altLang="zh-CN" sz="2800" i="1" dirty="0">
                <a:solidFill>
                  <a:srgbClr val="000000"/>
                </a:solidFill>
                <a:latin typeface="Times New Roman" panose="02020603050405020304" pitchFamily="18" charset="0"/>
                <a:cs typeface="Times New Roman" panose="02020603050405020304" pitchFamily="18" charset="0"/>
              </a:rPr>
              <a:t>G</a:t>
            </a:r>
            <a:r>
              <a:rPr lang="en-US" altLang="zh-CN" sz="2800" i="1" baseline="-30000" dirty="0">
                <a:solidFill>
                  <a:srgbClr val="000000"/>
                </a:solidFill>
                <a:latin typeface="Times New Roman" panose="02020603050405020304" pitchFamily="18" charset="0"/>
                <a:cs typeface="Times New Roman" panose="02020603050405020304" pitchFamily="18" charset="0"/>
              </a:rPr>
              <a:t>i</a:t>
            </a:r>
            <a:r>
              <a:rPr lang="zh-CN" altLang="en-US" sz="2800" dirty="0">
                <a:solidFill>
                  <a:srgbClr val="000000"/>
                </a:solidFill>
                <a:latin typeface="宋体" panose="02010600030101010101" pitchFamily="2" charset="-122"/>
              </a:rPr>
              <a:t>统计量的检验值</a:t>
            </a:r>
            <a:r>
              <a:rPr lang="en-US" altLang="zh-CN" sz="2800" i="1" dirty="0">
                <a:solidFill>
                  <a:srgbClr val="000000"/>
                </a:solidFill>
                <a:latin typeface="Times New Roman" panose="02020603050405020304" pitchFamily="18" charset="0"/>
                <a:cs typeface="Times New Roman" panose="02020603050405020304" pitchFamily="18" charset="0"/>
              </a:rPr>
              <a:t>Z</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G</a:t>
            </a:r>
            <a:r>
              <a:rPr lang="en-US" altLang="zh-CN" sz="2800" i="1" baseline="-30000" dirty="0">
                <a:solidFill>
                  <a:srgbClr val="000000"/>
                </a:solidFill>
                <a:latin typeface="Times New Roman" panose="02020603050405020304" pitchFamily="18" charset="0"/>
                <a:cs typeface="Times New Roman" panose="02020603050405020304" pitchFamily="18" charset="0"/>
              </a:rPr>
              <a:t>i</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en-US" sz="2800" dirty="0">
                <a:solidFill>
                  <a:srgbClr val="000000"/>
                </a:solidFill>
                <a:latin typeface="宋体" panose="02010600030101010101" pitchFamily="2" charset="-122"/>
              </a:rPr>
              <a:t>，并绘制统计地图如下</a:t>
            </a:r>
            <a:r>
              <a:rPr lang="zh-CN" altLang="en-US" sz="2800" dirty="0">
                <a:solidFill>
                  <a:srgbClr val="000000"/>
                </a:solidFill>
              </a:rPr>
              <a:t>。</a:t>
            </a:r>
          </a:p>
        </p:txBody>
      </p:sp>
      <p:sp>
        <p:nvSpPr>
          <p:cNvPr id="74758" name="Rectangle 31">
            <a:extLst>
              <a:ext uri="{FF2B5EF4-FFF2-40B4-BE49-F238E27FC236}">
                <a16:creationId xmlns:a16="http://schemas.microsoft.com/office/drawing/2014/main" id="{B56E39D5-A126-4BC9-9FF7-B9C65ED46FAA}"/>
              </a:ext>
            </a:extLst>
          </p:cNvPr>
          <p:cNvSpPr>
            <a:spLocks noChangeArrowheads="1"/>
          </p:cNvSpPr>
          <p:nvPr/>
        </p:nvSpPr>
        <p:spPr bwMode="auto">
          <a:xfrm>
            <a:off x="2409825" y="1933575"/>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74759" name="Object 32">
            <a:extLst>
              <a:ext uri="{FF2B5EF4-FFF2-40B4-BE49-F238E27FC236}">
                <a16:creationId xmlns:a16="http://schemas.microsoft.com/office/drawing/2014/main" id="{EDEECDFA-91DA-4F8B-923F-DADB95FD4E8F}"/>
              </a:ext>
            </a:extLst>
          </p:cNvPr>
          <p:cNvGraphicFramePr>
            <a:graphicFrameLocks noChangeAspect="1"/>
          </p:cNvGraphicFramePr>
          <p:nvPr>
            <p:extLst>
              <p:ext uri="{D42A27DB-BD31-4B8C-83A1-F6EECF244321}">
                <p14:modId xmlns:p14="http://schemas.microsoft.com/office/powerpoint/2010/main" val="1450991946"/>
              </p:ext>
            </p:extLst>
          </p:nvPr>
        </p:nvGraphicFramePr>
        <p:xfrm>
          <a:off x="1271588" y="1926649"/>
          <a:ext cx="6019800" cy="4346575"/>
        </p:xfrm>
        <a:graphic>
          <a:graphicData uri="http://schemas.openxmlformats.org/presentationml/2006/ole">
            <mc:AlternateContent xmlns:mc="http://schemas.openxmlformats.org/markup-compatibility/2006">
              <mc:Choice xmlns:v="urn:schemas-microsoft-com:vml" Requires="v">
                <p:oleObj spid="_x0000_s74806" r:id="rId3" imgW="8164065" imgH="5904762" progId="Paint.Picture">
                  <p:embed/>
                </p:oleObj>
              </mc:Choice>
              <mc:Fallback>
                <p:oleObj r:id="rId3" imgW="8164065" imgH="5904762" progId="Paint.Picture">
                  <p:embed/>
                  <p:pic>
                    <p:nvPicPr>
                      <p:cNvPr id="0" name="Object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1588" y="1926649"/>
                        <a:ext cx="6019800" cy="434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a:extLst>
              <a:ext uri="{FF2B5EF4-FFF2-40B4-BE49-F238E27FC236}">
                <a16:creationId xmlns:a16="http://schemas.microsoft.com/office/drawing/2014/main" id="{830533C1-5D19-442E-88C7-2DFADCC9027B}"/>
              </a:ext>
            </a:extLst>
          </p:cNvPr>
          <p:cNvSpPr>
            <a:spLocks noGrp="1" noChangeArrowheads="1"/>
          </p:cNvSpPr>
          <p:nvPr>
            <p:ph type="body" idx="1"/>
          </p:nvPr>
        </p:nvSpPr>
        <p:spPr>
          <a:xfrm>
            <a:off x="467544" y="908720"/>
            <a:ext cx="8640960" cy="5257800"/>
          </a:xfrm>
        </p:spPr>
        <p:txBody>
          <a:bodyPr/>
          <a:lstStyle/>
          <a:p>
            <a:pPr algn="just">
              <a:lnSpc>
                <a:spcPct val="120000"/>
              </a:lnSpc>
              <a:buSzPct val="120000"/>
              <a:buFont typeface="Wingdings" panose="05000000000000000000" pitchFamily="2" charset="2"/>
              <a:buChar char="Ø"/>
            </a:pPr>
            <a:r>
              <a:rPr lang="zh-CN" altLang="en-US" sz="2800" dirty="0">
                <a:solidFill>
                  <a:srgbClr val="000000"/>
                </a:solidFill>
                <a:latin typeface="Times New Roman" panose="02020603050405020304" pitchFamily="18" charset="0"/>
              </a:rPr>
              <a:t>贵州、四川、云南西部</a:t>
            </a:r>
            <a:r>
              <a:rPr lang="en-US" altLang="zh-CN" sz="2800" dirty="0">
                <a:solidFill>
                  <a:srgbClr val="000000"/>
                </a:solidFill>
                <a:latin typeface="Times New Roman" panose="02020603050405020304" pitchFamily="18" charset="0"/>
              </a:rPr>
              <a:t>3</a:t>
            </a:r>
            <a:r>
              <a:rPr lang="zh-CN" altLang="en-US" sz="2800" dirty="0">
                <a:solidFill>
                  <a:srgbClr val="000000"/>
                </a:solidFill>
                <a:latin typeface="Times New Roman" panose="02020603050405020304" pitchFamily="18" charset="0"/>
              </a:rPr>
              <a:t>省的</a:t>
            </a:r>
            <a:r>
              <a:rPr lang="en-US" altLang="zh-CN" sz="2800" i="1" dirty="0">
                <a:solidFill>
                  <a:srgbClr val="000000"/>
                </a:solidFill>
                <a:latin typeface="Times New Roman" panose="02020603050405020304" pitchFamily="18" charset="0"/>
              </a:rPr>
              <a:t>Z</a:t>
            </a:r>
            <a:r>
              <a:rPr lang="zh-CN" altLang="en-US" sz="2800" dirty="0">
                <a:solidFill>
                  <a:srgbClr val="000000"/>
                </a:solidFill>
                <a:latin typeface="Times New Roman" panose="02020603050405020304" pitchFamily="18" charset="0"/>
              </a:rPr>
              <a:t>值在</a:t>
            </a:r>
            <a:r>
              <a:rPr lang="en-US" altLang="zh-CN" sz="2800" dirty="0">
                <a:solidFill>
                  <a:srgbClr val="000000"/>
                </a:solidFill>
                <a:latin typeface="Times New Roman" panose="02020603050405020304" pitchFamily="18" charset="0"/>
              </a:rPr>
              <a:t>0.05</a:t>
            </a:r>
            <a:r>
              <a:rPr lang="zh-CN" altLang="en-US" sz="2800" dirty="0">
                <a:solidFill>
                  <a:srgbClr val="000000"/>
                </a:solidFill>
                <a:latin typeface="Times New Roman" panose="02020603050405020304" pitchFamily="18" charset="0"/>
              </a:rPr>
              <a:t>的显著性水平下显著；</a:t>
            </a:r>
            <a:endParaRPr lang="en-US" altLang="zh-CN" sz="2800" dirty="0">
              <a:solidFill>
                <a:srgbClr val="000000"/>
              </a:solidFill>
              <a:latin typeface="Times New Roman" panose="02020603050405020304" pitchFamily="18" charset="0"/>
            </a:endParaRPr>
          </a:p>
          <a:p>
            <a:pPr algn="just">
              <a:lnSpc>
                <a:spcPct val="120000"/>
              </a:lnSpc>
              <a:buSzPct val="120000"/>
              <a:buFont typeface="Wingdings" panose="05000000000000000000" pitchFamily="2" charset="2"/>
              <a:buChar char="Ø"/>
            </a:pPr>
            <a:r>
              <a:rPr lang="zh-CN" altLang="en-US" sz="2800" dirty="0">
                <a:solidFill>
                  <a:srgbClr val="000000"/>
                </a:solidFill>
                <a:latin typeface="Times New Roman" panose="02020603050405020304" pitchFamily="18" charset="0"/>
              </a:rPr>
              <a:t>重庆的</a:t>
            </a:r>
            <a:r>
              <a:rPr lang="en-US" altLang="zh-CN" sz="2800" i="1" dirty="0">
                <a:solidFill>
                  <a:srgbClr val="000000"/>
                </a:solidFill>
                <a:latin typeface="Times New Roman" panose="02020603050405020304" pitchFamily="18" charset="0"/>
              </a:rPr>
              <a:t>Z</a:t>
            </a:r>
            <a:r>
              <a:rPr lang="zh-CN" altLang="en-US" sz="2800" dirty="0">
                <a:solidFill>
                  <a:srgbClr val="000000"/>
                </a:solidFill>
                <a:latin typeface="Times New Roman" panose="02020603050405020304" pitchFamily="18" charset="0"/>
              </a:rPr>
              <a:t>值在</a:t>
            </a:r>
            <a:r>
              <a:rPr lang="en-US" altLang="zh-CN" sz="2800" dirty="0">
                <a:solidFill>
                  <a:srgbClr val="000000"/>
                </a:solidFill>
                <a:latin typeface="Times New Roman" panose="02020603050405020304" pitchFamily="18" charset="0"/>
              </a:rPr>
              <a:t>0.1</a:t>
            </a:r>
            <a:r>
              <a:rPr lang="zh-CN" altLang="en-US" sz="2800" dirty="0">
                <a:solidFill>
                  <a:srgbClr val="000000"/>
                </a:solidFill>
                <a:latin typeface="Times New Roman" panose="02020603050405020304" pitchFamily="18" charset="0"/>
              </a:rPr>
              <a:t>的显著性水平下显著，该</a:t>
            </a:r>
            <a:r>
              <a:rPr lang="en-US" altLang="zh-CN" sz="2800" dirty="0">
                <a:solidFill>
                  <a:srgbClr val="000000"/>
                </a:solidFill>
                <a:latin typeface="Times New Roman" panose="02020603050405020304" pitchFamily="18" charset="0"/>
              </a:rPr>
              <a:t>4</a:t>
            </a:r>
            <a:r>
              <a:rPr lang="zh-CN" altLang="en-US" sz="2800" dirty="0">
                <a:solidFill>
                  <a:srgbClr val="000000"/>
                </a:solidFill>
                <a:latin typeface="Times New Roman" panose="02020603050405020304" pitchFamily="18" charset="0"/>
              </a:rPr>
              <a:t>省市在空间上相连成片分布，而且从统计学意义上来说，与该区域相邻的省区，其人均</a:t>
            </a:r>
            <a:r>
              <a:rPr lang="en-US" altLang="zh-CN" sz="2800" dirty="0">
                <a:solidFill>
                  <a:srgbClr val="000000"/>
                </a:solidFill>
                <a:latin typeface="Times New Roman" panose="02020603050405020304" pitchFamily="18" charset="0"/>
              </a:rPr>
              <a:t>GDP</a:t>
            </a:r>
            <a:r>
              <a:rPr lang="zh-CN" altLang="en-US" sz="2800" dirty="0">
                <a:solidFill>
                  <a:srgbClr val="000000"/>
                </a:solidFill>
                <a:latin typeface="Times New Roman" panose="02020603050405020304" pitchFamily="18" charset="0"/>
              </a:rPr>
              <a:t>趋于为同样是人均</a:t>
            </a:r>
            <a:r>
              <a:rPr lang="en-US" altLang="zh-CN" sz="2800" dirty="0">
                <a:solidFill>
                  <a:srgbClr val="000000"/>
                </a:solidFill>
                <a:latin typeface="Times New Roman" panose="02020603050405020304" pitchFamily="18" charset="0"/>
              </a:rPr>
              <a:t>GDP</a:t>
            </a:r>
            <a:r>
              <a:rPr lang="zh-CN" altLang="en-US" sz="2800" dirty="0">
                <a:solidFill>
                  <a:srgbClr val="000000"/>
                </a:solidFill>
                <a:latin typeface="Times New Roman" panose="02020603050405020304" pitchFamily="18" charset="0"/>
              </a:rPr>
              <a:t>低值的省区所包围；</a:t>
            </a:r>
            <a:endParaRPr lang="en-US" altLang="zh-CN" sz="2800" dirty="0">
              <a:solidFill>
                <a:srgbClr val="000000"/>
              </a:solidFill>
              <a:latin typeface="Times New Roman" panose="02020603050405020304" pitchFamily="18" charset="0"/>
            </a:endParaRPr>
          </a:p>
          <a:p>
            <a:pPr algn="just">
              <a:lnSpc>
                <a:spcPct val="120000"/>
              </a:lnSpc>
              <a:buSzPct val="120000"/>
              <a:buFont typeface="Wingdings" panose="05000000000000000000" pitchFamily="2" charset="2"/>
              <a:buChar char="Ø"/>
            </a:pPr>
            <a:r>
              <a:rPr lang="zh-CN" altLang="en-US" sz="2800" dirty="0">
                <a:solidFill>
                  <a:srgbClr val="000000"/>
                </a:solidFill>
                <a:latin typeface="Times New Roman" panose="02020603050405020304" pitchFamily="18" charset="0"/>
              </a:rPr>
              <a:t>由此形成人均</a:t>
            </a:r>
            <a:r>
              <a:rPr lang="en-US" altLang="zh-CN" sz="2800" dirty="0">
                <a:solidFill>
                  <a:srgbClr val="000000"/>
                </a:solidFill>
                <a:latin typeface="Times New Roman" panose="02020603050405020304" pitchFamily="18" charset="0"/>
              </a:rPr>
              <a:t>GDP</a:t>
            </a:r>
            <a:r>
              <a:rPr lang="zh-CN" altLang="en-US" sz="2800" dirty="0">
                <a:solidFill>
                  <a:srgbClr val="000000"/>
                </a:solidFill>
                <a:latin typeface="Times New Roman" panose="02020603050405020304" pitchFamily="18" charset="0"/>
              </a:rPr>
              <a:t>低值与低值的空间集聚，据此可认识到西部落后省区趋于空间集聚的分布特征。</a:t>
            </a:r>
            <a:r>
              <a:rPr lang="zh-CN" altLang="en-US" sz="2800" dirty="0">
                <a:solidFill>
                  <a:srgbClr val="000000"/>
                </a:solidFill>
                <a:cs typeface="Arial" panose="020B0604020202020204" pitchFamily="34" charset="0"/>
              </a:rPr>
              <a:t> </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13FC6C03-4C27-4E83-9772-2E3F884C507D}"/>
              </a:ext>
            </a:extLst>
          </p:cNvPr>
          <p:cNvSpPr>
            <a:spLocks noGrp="1" noChangeArrowheads="1"/>
          </p:cNvSpPr>
          <p:nvPr>
            <p:ph/>
          </p:nvPr>
        </p:nvSpPr>
        <p:spPr>
          <a:xfrm>
            <a:off x="1295400" y="1295400"/>
            <a:ext cx="7277100" cy="4267200"/>
          </a:xfrm>
        </p:spPr>
        <p:txBody>
          <a:bodyPr/>
          <a:lstStyle/>
          <a:p>
            <a:pPr marL="0" indent="0" algn="just">
              <a:lnSpc>
                <a:spcPct val="120000"/>
              </a:lnSpc>
              <a:buSzPct val="120000"/>
              <a:buNone/>
            </a:pPr>
            <a:r>
              <a:rPr lang="zh-CN" altLang="en-US" sz="2800" dirty="0">
                <a:solidFill>
                  <a:srgbClr val="000000"/>
                </a:solidFill>
                <a:latin typeface="黑体" panose="02010609060101010101" pitchFamily="49" charset="-122"/>
                <a:ea typeface="黑体" panose="02010609060101010101" pitchFamily="49" charset="-122"/>
              </a:rPr>
              <a:t>东部的江苏、上海、浙江三省市的</a:t>
            </a:r>
            <a:r>
              <a:rPr lang="en-US" altLang="zh-CN" sz="2800" i="1" dirty="0">
                <a:solidFill>
                  <a:srgbClr val="000000"/>
                </a:solidFill>
                <a:latin typeface="黑体" panose="02010609060101010101" pitchFamily="49" charset="-122"/>
                <a:ea typeface="黑体" panose="02010609060101010101" pitchFamily="49" charset="-122"/>
              </a:rPr>
              <a:t>Z</a:t>
            </a:r>
            <a:r>
              <a:rPr lang="zh-CN" altLang="en-US" sz="2800" dirty="0">
                <a:solidFill>
                  <a:srgbClr val="000000"/>
                </a:solidFill>
                <a:latin typeface="黑体" panose="02010609060101010101" pitchFamily="49" charset="-122"/>
                <a:ea typeface="黑体" panose="02010609060101010101" pitchFamily="49" charset="-122"/>
              </a:rPr>
              <a:t>值在</a:t>
            </a:r>
            <a:r>
              <a:rPr lang="en-US" altLang="zh-CN" sz="2800" dirty="0">
                <a:solidFill>
                  <a:srgbClr val="000000"/>
                </a:solidFill>
                <a:latin typeface="黑体" panose="02010609060101010101" pitchFamily="49" charset="-122"/>
                <a:ea typeface="黑体" panose="02010609060101010101" pitchFamily="49" charset="-122"/>
              </a:rPr>
              <a:t>0.05</a:t>
            </a:r>
            <a:r>
              <a:rPr lang="zh-CN" altLang="en-US" sz="2800" dirty="0">
                <a:solidFill>
                  <a:srgbClr val="000000"/>
                </a:solidFill>
                <a:latin typeface="黑体" panose="02010609060101010101" pitchFamily="49" charset="-122"/>
                <a:ea typeface="黑体" panose="02010609060101010101" pitchFamily="49" charset="-122"/>
              </a:rPr>
              <a:t>的显著性水平下显著；</a:t>
            </a:r>
            <a:endParaRPr lang="en-US" altLang="zh-CN" sz="2800" dirty="0">
              <a:solidFill>
                <a:srgbClr val="000000"/>
              </a:solidFill>
              <a:latin typeface="黑体" panose="02010609060101010101" pitchFamily="49" charset="-122"/>
              <a:ea typeface="黑体" panose="02010609060101010101" pitchFamily="49" charset="-122"/>
            </a:endParaRPr>
          </a:p>
          <a:p>
            <a:pPr marL="0" indent="0" algn="just">
              <a:lnSpc>
                <a:spcPct val="120000"/>
              </a:lnSpc>
              <a:buSzPct val="120000"/>
              <a:buNone/>
            </a:pPr>
            <a:r>
              <a:rPr lang="zh-CN" altLang="en-US" sz="2800" dirty="0">
                <a:solidFill>
                  <a:srgbClr val="000000"/>
                </a:solidFill>
                <a:latin typeface="黑体" panose="02010609060101010101" pitchFamily="49" charset="-122"/>
                <a:ea typeface="黑体" panose="02010609060101010101" pitchFamily="49" charset="-122"/>
              </a:rPr>
              <a:t>天津的</a:t>
            </a:r>
            <a:r>
              <a:rPr lang="en-US" altLang="zh-CN" sz="2800" i="1" dirty="0">
                <a:solidFill>
                  <a:srgbClr val="000000"/>
                </a:solidFill>
                <a:latin typeface="黑体" panose="02010609060101010101" pitchFamily="49" charset="-122"/>
                <a:ea typeface="黑体" panose="02010609060101010101" pitchFamily="49" charset="-122"/>
              </a:rPr>
              <a:t>Z</a:t>
            </a:r>
            <a:r>
              <a:rPr lang="zh-CN" altLang="en-US" sz="2800" dirty="0">
                <a:solidFill>
                  <a:srgbClr val="000000"/>
                </a:solidFill>
                <a:latin typeface="黑体" panose="02010609060101010101" pitchFamily="49" charset="-122"/>
                <a:ea typeface="黑体" panose="02010609060101010101" pitchFamily="49" charset="-122"/>
              </a:rPr>
              <a:t>值在</a:t>
            </a:r>
            <a:r>
              <a:rPr lang="en-US" altLang="zh-CN" sz="2800" dirty="0">
                <a:solidFill>
                  <a:srgbClr val="000000"/>
                </a:solidFill>
                <a:latin typeface="黑体" panose="02010609060101010101" pitchFamily="49" charset="-122"/>
                <a:ea typeface="黑体" panose="02010609060101010101" pitchFamily="49" charset="-122"/>
              </a:rPr>
              <a:t>0.1</a:t>
            </a:r>
            <a:r>
              <a:rPr lang="zh-CN" altLang="en-US" sz="2800" dirty="0">
                <a:solidFill>
                  <a:srgbClr val="000000"/>
                </a:solidFill>
                <a:latin typeface="黑体" panose="02010609060101010101" pitchFamily="49" charset="-122"/>
                <a:ea typeface="黑体" panose="02010609060101010101" pitchFamily="49" charset="-122"/>
              </a:rPr>
              <a:t>的显著性水平下显著</a:t>
            </a:r>
            <a:endParaRPr lang="en-US" altLang="zh-CN" sz="2800" dirty="0">
              <a:solidFill>
                <a:srgbClr val="000000"/>
              </a:solidFill>
              <a:latin typeface="黑体" panose="02010609060101010101" pitchFamily="49" charset="-122"/>
              <a:ea typeface="黑体" panose="02010609060101010101" pitchFamily="49" charset="-122"/>
            </a:endParaRPr>
          </a:p>
          <a:p>
            <a:pPr marL="0" indent="0" algn="just">
              <a:lnSpc>
                <a:spcPct val="120000"/>
              </a:lnSpc>
              <a:buSzPct val="120000"/>
              <a:buNone/>
            </a:pPr>
            <a:r>
              <a:rPr lang="zh-CN" altLang="en-US" sz="2800" dirty="0">
                <a:solidFill>
                  <a:srgbClr val="000000"/>
                </a:solidFill>
                <a:latin typeface="黑体" panose="02010609060101010101" pitchFamily="49" charset="-122"/>
                <a:ea typeface="黑体" panose="02010609060101010101" pitchFamily="49" charset="-122"/>
              </a:rPr>
              <a:t>而东部上海、江浙等发达省市趋于为一些相邻经济发展水平相对较高的省份所包围</a:t>
            </a:r>
            <a:endParaRPr lang="en-US" altLang="zh-CN" sz="2800" dirty="0">
              <a:solidFill>
                <a:srgbClr val="000000"/>
              </a:solidFill>
              <a:latin typeface="黑体" panose="02010609060101010101" pitchFamily="49" charset="-122"/>
              <a:ea typeface="黑体" panose="02010609060101010101" pitchFamily="49" charset="-122"/>
            </a:endParaRPr>
          </a:p>
          <a:p>
            <a:pPr marL="0" indent="0" algn="just">
              <a:lnSpc>
                <a:spcPct val="120000"/>
              </a:lnSpc>
              <a:buSzPct val="120000"/>
              <a:buNone/>
            </a:pPr>
            <a:r>
              <a:rPr lang="zh-CN" altLang="en-US" sz="2800" dirty="0">
                <a:solidFill>
                  <a:srgbClr val="000000"/>
                </a:solidFill>
                <a:latin typeface="黑体" panose="02010609060101010101" pitchFamily="49" charset="-122"/>
                <a:ea typeface="黑体" panose="02010609060101010101" pitchFamily="49" charset="-122"/>
              </a:rPr>
              <a:t>东部发达地区的空间集聚分布特征也显现出来。</a:t>
            </a:r>
            <a:endParaRPr lang="zh-CN" altLang="en-US" sz="2800" dirty="0">
              <a:latin typeface="黑体" panose="02010609060101010101" pitchFamily="49" charset="-122"/>
              <a:ea typeface="黑体" panose="02010609060101010101" pitchFamily="49" charset="-122"/>
            </a:endParaRPr>
          </a:p>
          <a:p>
            <a:endParaRPr lang="en-US" altLang="zh-CN" sz="2800" dirty="0">
              <a:latin typeface="Times New Roman" panose="02020603050405020304" pitchFamily="18"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2">
            <a:extLst>
              <a:ext uri="{FF2B5EF4-FFF2-40B4-BE49-F238E27FC236}">
                <a16:creationId xmlns:a16="http://schemas.microsoft.com/office/drawing/2014/main" id="{FA63B1A8-5D76-4032-8237-B05AC782D48D}"/>
              </a:ext>
            </a:extLst>
          </p:cNvPr>
          <p:cNvSpPr txBox="1">
            <a:spLocks noChangeArrowheads="1"/>
          </p:cNvSpPr>
          <p:nvPr/>
        </p:nvSpPr>
        <p:spPr bwMode="auto">
          <a:xfrm>
            <a:off x="395536" y="404813"/>
            <a:ext cx="8535739" cy="6466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20000"/>
              </a:lnSpc>
              <a:spcBef>
                <a:spcPct val="20000"/>
              </a:spcBef>
              <a:buClr>
                <a:schemeClr val="accent2"/>
              </a:buClr>
              <a:buSzPct val="85000"/>
              <a:buFont typeface="Wingdings" panose="05000000000000000000" pitchFamily="2" charset="2"/>
              <a:buNone/>
            </a:pPr>
            <a:r>
              <a:rPr kumimoji="1" lang="en-US" altLang="zh-CN" sz="2400" dirty="0">
                <a:solidFill>
                  <a:srgbClr val="000000"/>
                </a:solidFill>
                <a:latin typeface="宋体" panose="02010600030101010101" pitchFamily="2" charset="-122"/>
              </a:rPr>
              <a:t>     </a:t>
            </a:r>
            <a:r>
              <a:rPr kumimoji="1" lang="zh-CN" altLang="en-US" sz="2400" dirty="0">
                <a:solidFill>
                  <a:srgbClr val="000000"/>
                </a:solidFill>
                <a:latin typeface="宋体" panose="02010600030101010101" pitchFamily="2" charset="-122"/>
              </a:rPr>
              <a:t>以（</a:t>
            </a:r>
            <a:r>
              <a:rPr kumimoji="1" lang="en-US" altLang="zh-CN" sz="2400" i="1" dirty="0" err="1">
                <a:solidFill>
                  <a:srgbClr val="000000"/>
                </a:solidFill>
                <a:latin typeface="宋体" panose="02010600030101010101" pitchFamily="2" charset="-122"/>
              </a:rPr>
              <a:t>Wz</a:t>
            </a:r>
            <a:r>
              <a:rPr kumimoji="1" lang="en-US" altLang="zh-CN" sz="2400" dirty="0" err="1">
                <a:solidFill>
                  <a:srgbClr val="000000"/>
                </a:solidFill>
                <a:latin typeface="宋体" panose="02010600030101010101" pitchFamily="2" charset="-122"/>
              </a:rPr>
              <a:t>,</a:t>
            </a:r>
            <a:r>
              <a:rPr kumimoji="1" lang="en-US" altLang="zh-CN" sz="2400" i="1" dirty="0" err="1">
                <a:solidFill>
                  <a:srgbClr val="000000"/>
                </a:solidFill>
                <a:latin typeface="宋体" panose="02010600030101010101" pitchFamily="2" charset="-122"/>
              </a:rPr>
              <a:t>z</a:t>
            </a:r>
            <a:r>
              <a:rPr kumimoji="1" lang="zh-CN" altLang="en-US" sz="2400" dirty="0">
                <a:solidFill>
                  <a:srgbClr val="000000"/>
                </a:solidFill>
                <a:latin typeface="宋体" panose="02010600030101010101" pitchFamily="2" charset="-122"/>
              </a:rPr>
              <a:t>）为坐标，进一步绘制</a:t>
            </a:r>
            <a:r>
              <a:rPr kumimoji="1" lang="en-US" altLang="zh-CN" sz="2400" dirty="0">
                <a:solidFill>
                  <a:srgbClr val="000000"/>
                </a:solidFill>
                <a:latin typeface="宋体" panose="02010600030101010101" pitchFamily="2" charset="-122"/>
              </a:rPr>
              <a:t>Moran</a:t>
            </a:r>
            <a:r>
              <a:rPr kumimoji="1" lang="zh-CN" altLang="en-US" sz="2400" dirty="0">
                <a:solidFill>
                  <a:srgbClr val="000000"/>
                </a:solidFill>
                <a:latin typeface="宋体" panose="02010600030101010101" pitchFamily="2" charset="-122"/>
              </a:rPr>
              <a:t>散点图</a:t>
            </a:r>
          </a:p>
          <a:p>
            <a:pPr algn="just" eaLnBrk="1" hangingPunct="1">
              <a:lnSpc>
                <a:spcPct val="120000"/>
              </a:lnSpc>
              <a:spcBef>
                <a:spcPct val="20000"/>
              </a:spcBef>
              <a:buClr>
                <a:schemeClr val="accent2"/>
              </a:buClr>
              <a:buSzPct val="120000"/>
              <a:buFont typeface="Wingdings" panose="05000000000000000000" pitchFamily="2" charset="2"/>
              <a:buChar char="Ø"/>
            </a:pPr>
            <a:endParaRPr kumimoji="1" lang="zh-CN" altLang="en-US" sz="2400" dirty="0">
              <a:solidFill>
                <a:srgbClr val="000000"/>
              </a:solidFill>
              <a:latin typeface="宋体" panose="02010600030101010101" pitchFamily="2" charset="-122"/>
            </a:endParaRPr>
          </a:p>
          <a:p>
            <a:pPr algn="just" eaLnBrk="1" hangingPunct="1">
              <a:lnSpc>
                <a:spcPct val="120000"/>
              </a:lnSpc>
              <a:spcBef>
                <a:spcPct val="20000"/>
              </a:spcBef>
              <a:buClr>
                <a:schemeClr val="accent2"/>
              </a:buClr>
              <a:buSzPct val="120000"/>
              <a:buFont typeface="Wingdings" panose="05000000000000000000" pitchFamily="2" charset="2"/>
              <a:buChar char="Ø"/>
            </a:pPr>
            <a:endParaRPr kumimoji="1" lang="zh-CN" altLang="en-US" sz="2800" dirty="0">
              <a:solidFill>
                <a:srgbClr val="000000"/>
              </a:solidFill>
              <a:latin typeface="宋体" panose="02010600030101010101" pitchFamily="2" charset="-122"/>
            </a:endParaRPr>
          </a:p>
          <a:p>
            <a:pPr algn="just" eaLnBrk="1" hangingPunct="1">
              <a:lnSpc>
                <a:spcPct val="120000"/>
              </a:lnSpc>
              <a:spcBef>
                <a:spcPct val="20000"/>
              </a:spcBef>
              <a:buClr>
                <a:schemeClr val="accent2"/>
              </a:buClr>
              <a:buSzPct val="120000"/>
              <a:buFont typeface="Wingdings" panose="05000000000000000000" pitchFamily="2" charset="2"/>
              <a:buChar char="Ø"/>
            </a:pPr>
            <a:endParaRPr kumimoji="1" lang="zh-CN" altLang="en-US" sz="2800" dirty="0">
              <a:solidFill>
                <a:srgbClr val="000000"/>
              </a:solidFill>
              <a:latin typeface="宋体" panose="02010600030101010101" pitchFamily="2" charset="-122"/>
            </a:endParaRPr>
          </a:p>
          <a:p>
            <a:pPr algn="just" eaLnBrk="1" hangingPunct="1">
              <a:lnSpc>
                <a:spcPct val="120000"/>
              </a:lnSpc>
              <a:spcBef>
                <a:spcPct val="20000"/>
              </a:spcBef>
              <a:buClr>
                <a:schemeClr val="accent2"/>
              </a:buClr>
              <a:buSzPct val="120000"/>
              <a:buFont typeface="Wingdings" panose="05000000000000000000" pitchFamily="2" charset="2"/>
              <a:buNone/>
            </a:pPr>
            <a:endParaRPr kumimoji="1" lang="zh-CN" altLang="en-US" sz="2800" dirty="0">
              <a:solidFill>
                <a:srgbClr val="000000"/>
              </a:solidFill>
              <a:latin typeface="宋体" panose="02010600030101010101" pitchFamily="2" charset="-122"/>
            </a:endParaRPr>
          </a:p>
          <a:p>
            <a:pPr algn="just" eaLnBrk="1" hangingPunct="1">
              <a:lnSpc>
                <a:spcPct val="120000"/>
              </a:lnSpc>
              <a:spcBef>
                <a:spcPct val="20000"/>
              </a:spcBef>
              <a:buClr>
                <a:schemeClr val="accent2"/>
              </a:buClr>
              <a:buSzPct val="120000"/>
              <a:buFont typeface="Wingdings" panose="05000000000000000000" pitchFamily="2" charset="2"/>
              <a:buNone/>
            </a:pPr>
            <a:endParaRPr kumimoji="1" lang="zh-CN" altLang="en-US" sz="2800" dirty="0">
              <a:solidFill>
                <a:srgbClr val="000000"/>
              </a:solidFill>
              <a:latin typeface="宋体" panose="02010600030101010101" pitchFamily="2" charset="-122"/>
            </a:endParaRPr>
          </a:p>
          <a:p>
            <a:pPr algn="just" eaLnBrk="1" hangingPunct="1">
              <a:lnSpc>
                <a:spcPct val="120000"/>
              </a:lnSpc>
              <a:spcBef>
                <a:spcPct val="20000"/>
              </a:spcBef>
              <a:buClr>
                <a:schemeClr val="accent2"/>
              </a:buClr>
              <a:buSzPct val="120000"/>
              <a:buFont typeface="Wingdings" panose="05000000000000000000" pitchFamily="2" charset="2"/>
              <a:buChar char="Ø"/>
            </a:pPr>
            <a:endParaRPr kumimoji="1" lang="zh-CN" altLang="en-US" sz="2800" dirty="0">
              <a:solidFill>
                <a:srgbClr val="000000"/>
              </a:solidFill>
              <a:latin typeface="宋体" panose="02010600030101010101" pitchFamily="2" charset="-122"/>
            </a:endParaRPr>
          </a:p>
          <a:p>
            <a:pPr algn="just" eaLnBrk="1" hangingPunct="1">
              <a:lnSpc>
                <a:spcPct val="110000"/>
              </a:lnSpc>
              <a:spcBef>
                <a:spcPct val="20000"/>
              </a:spcBef>
              <a:buClr>
                <a:schemeClr val="accent2"/>
              </a:buClr>
              <a:buSzPct val="85000"/>
              <a:buFont typeface="Wingdings" panose="05000000000000000000" pitchFamily="2" charset="2"/>
              <a:buNone/>
            </a:pPr>
            <a:r>
              <a:rPr kumimoji="1" lang="zh-CN" altLang="en-US" sz="2400" dirty="0">
                <a:solidFill>
                  <a:srgbClr val="000000"/>
                </a:solidFill>
                <a:latin typeface="宋体" panose="02010600030101010101" pitchFamily="2" charset="-122"/>
              </a:rPr>
              <a:t>    </a:t>
            </a:r>
            <a:r>
              <a:rPr kumimoji="1" lang="zh-CN" altLang="en-US" sz="2800" dirty="0">
                <a:solidFill>
                  <a:srgbClr val="000000"/>
                </a:solidFill>
                <a:latin typeface="黑体" panose="02010609060101010101" pitchFamily="49" charset="-122"/>
                <a:ea typeface="黑体" panose="02010609060101010101" pitchFamily="49" charset="-122"/>
              </a:rPr>
              <a:t>可以发现，多数省（直辖市、自治区）位于第</a:t>
            </a:r>
            <a:r>
              <a:rPr kumimoji="1" lang="en-US" altLang="zh-CN" sz="2800" dirty="0">
                <a:solidFill>
                  <a:srgbClr val="000000"/>
                </a:solidFill>
                <a:latin typeface="黑体" panose="02010609060101010101" pitchFamily="49" charset="-122"/>
                <a:ea typeface="黑体" panose="02010609060101010101" pitchFamily="49" charset="-122"/>
              </a:rPr>
              <a:t>1</a:t>
            </a:r>
            <a:r>
              <a:rPr kumimoji="1" lang="zh-CN" altLang="en-US" sz="2800" dirty="0">
                <a:solidFill>
                  <a:srgbClr val="000000"/>
                </a:solidFill>
                <a:latin typeface="黑体" panose="02010609060101010101" pitchFamily="49" charset="-122"/>
                <a:ea typeface="黑体" panose="02010609060101010101" pitchFamily="49" charset="-122"/>
              </a:rPr>
              <a:t>和第</a:t>
            </a:r>
            <a:r>
              <a:rPr kumimoji="1" lang="en-US" altLang="zh-CN" sz="2800" dirty="0">
                <a:solidFill>
                  <a:srgbClr val="000000"/>
                </a:solidFill>
                <a:latin typeface="黑体" panose="02010609060101010101" pitchFamily="49" charset="-122"/>
                <a:ea typeface="黑体" panose="02010609060101010101" pitchFamily="49" charset="-122"/>
              </a:rPr>
              <a:t>3</a:t>
            </a:r>
            <a:r>
              <a:rPr kumimoji="1" lang="zh-CN" altLang="en-US" sz="2800" dirty="0">
                <a:solidFill>
                  <a:srgbClr val="000000"/>
                </a:solidFill>
                <a:latin typeface="黑体" panose="02010609060101010101" pitchFamily="49" charset="-122"/>
                <a:ea typeface="黑体" panose="02010609060101010101" pitchFamily="49" charset="-122"/>
              </a:rPr>
              <a:t>象限内，为正的空间联系，属于低低集聚和高高集聚类型，而且位于第</a:t>
            </a:r>
            <a:r>
              <a:rPr kumimoji="1" lang="en-US" altLang="zh-CN" sz="2800" dirty="0">
                <a:solidFill>
                  <a:srgbClr val="000000"/>
                </a:solidFill>
                <a:latin typeface="黑体" panose="02010609060101010101" pitchFamily="49" charset="-122"/>
                <a:ea typeface="黑体" panose="02010609060101010101" pitchFamily="49" charset="-122"/>
              </a:rPr>
              <a:t>3</a:t>
            </a:r>
            <a:r>
              <a:rPr kumimoji="1" lang="zh-CN" altLang="en-US" sz="2800" dirty="0">
                <a:solidFill>
                  <a:srgbClr val="000000"/>
                </a:solidFill>
                <a:latin typeface="黑体" panose="02010609060101010101" pitchFamily="49" charset="-122"/>
                <a:ea typeface="黑体" panose="02010609060101010101" pitchFamily="49" charset="-122"/>
              </a:rPr>
              <a:t>象限内的低低集聚类型的省（直辖市、自治区）比位于第</a:t>
            </a:r>
            <a:r>
              <a:rPr kumimoji="1" lang="en-US" altLang="zh-CN" sz="2800" dirty="0">
                <a:solidFill>
                  <a:srgbClr val="000000"/>
                </a:solidFill>
                <a:latin typeface="黑体" panose="02010609060101010101" pitchFamily="49" charset="-122"/>
                <a:ea typeface="黑体" panose="02010609060101010101" pitchFamily="49" charset="-122"/>
              </a:rPr>
              <a:t>1</a:t>
            </a:r>
            <a:r>
              <a:rPr kumimoji="1" lang="zh-CN" altLang="en-US" sz="2800" dirty="0">
                <a:solidFill>
                  <a:srgbClr val="000000"/>
                </a:solidFill>
                <a:latin typeface="黑体" panose="02010609060101010101" pitchFamily="49" charset="-122"/>
                <a:ea typeface="黑体" panose="02010609060101010101" pitchFamily="49" charset="-122"/>
              </a:rPr>
              <a:t>象限内的高高集聚类型的省（直辖市、自治区）更多一些</a:t>
            </a:r>
            <a:r>
              <a:rPr kumimoji="1" lang="zh-CN" altLang="en-US" sz="2400" dirty="0">
                <a:solidFill>
                  <a:srgbClr val="000000"/>
                </a:solidFill>
                <a:latin typeface="宋体" panose="02010600030101010101" pitchFamily="2" charset="-122"/>
              </a:rPr>
              <a:t>。</a:t>
            </a:r>
          </a:p>
        </p:txBody>
      </p:sp>
      <p:sp>
        <p:nvSpPr>
          <p:cNvPr id="77827" name="Rectangle 4">
            <a:extLst>
              <a:ext uri="{FF2B5EF4-FFF2-40B4-BE49-F238E27FC236}">
                <a16:creationId xmlns:a16="http://schemas.microsoft.com/office/drawing/2014/main" id="{76739373-D972-49B5-AC45-8454B5EB6258}"/>
              </a:ext>
            </a:extLst>
          </p:cNvPr>
          <p:cNvSpPr>
            <a:spLocks noChangeArrowheads="1"/>
          </p:cNvSpPr>
          <p:nvPr/>
        </p:nvSpPr>
        <p:spPr bwMode="auto">
          <a:xfrm>
            <a:off x="2428875" y="1738313"/>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77828" name="Object 5">
            <a:extLst>
              <a:ext uri="{FF2B5EF4-FFF2-40B4-BE49-F238E27FC236}">
                <a16:creationId xmlns:a16="http://schemas.microsoft.com/office/drawing/2014/main" id="{AE24251D-AEDC-47BB-9895-E0A4AAE1314E}"/>
              </a:ext>
            </a:extLst>
          </p:cNvPr>
          <p:cNvGraphicFramePr>
            <a:graphicFrameLocks noChangeAspect="1"/>
          </p:cNvGraphicFramePr>
          <p:nvPr/>
        </p:nvGraphicFramePr>
        <p:xfrm>
          <a:off x="3124200" y="914400"/>
          <a:ext cx="3962400" cy="3521075"/>
        </p:xfrm>
        <a:graphic>
          <a:graphicData uri="http://schemas.openxmlformats.org/presentationml/2006/ole">
            <mc:AlternateContent xmlns:mc="http://schemas.openxmlformats.org/markup-compatibility/2006">
              <mc:Choice xmlns:v="urn:schemas-microsoft-com:vml" Requires="v">
                <p:oleObj spid="_x0000_s77875" r:id="rId3" imgW="3505689" imgH="3115110" progId="Paint.Picture">
                  <p:embed/>
                </p:oleObj>
              </mc:Choice>
              <mc:Fallback>
                <p:oleObj r:id="rId3" imgW="3505689" imgH="3115110" progId="Paint.Picture">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914400"/>
                        <a:ext cx="3962400" cy="352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8850" name="Object 30">
            <a:extLst>
              <a:ext uri="{FF2B5EF4-FFF2-40B4-BE49-F238E27FC236}">
                <a16:creationId xmlns:a16="http://schemas.microsoft.com/office/drawing/2014/main" id="{87CFDC38-5B67-482C-917E-547F094D310E}"/>
              </a:ext>
            </a:extLst>
          </p:cNvPr>
          <p:cNvGraphicFramePr>
            <a:graphicFrameLocks noGrp="1" noChangeAspect="1"/>
          </p:cNvGraphicFramePr>
          <p:nvPr>
            <p:ph/>
            <p:extLst>
              <p:ext uri="{D42A27DB-BD31-4B8C-83A1-F6EECF244321}">
                <p14:modId xmlns:p14="http://schemas.microsoft.com/office/powerpoint/2010/main" val="3355481033"/>
              </p:ext>
            </p:extLst>
          </p:nvPr>
        </p:nvGraphicFramePr>
        <p:xfrm>
          <a:off x="1096962" y="1385887"/>
          <a:ext cx="6950075" cy="4086225"/>
        </p:xfrm>
        <a:graphic>
          <a:graphicData uri="http://schemas.openxmlformats.org/presentationml/2006/ole">
            <mc:AlternateContent xmlns:mc="http://schemas.openxmlformats.org/markup-compatibility/2006">
              <mc:Choice xmlns:v="urn:schemas-microsoft-com:vml" Requires="v">
                <p:oleObj spid="_x0000_s78897" r:id="rId3" imgW="5896798" imgH="3467584" progId="Paint.Picture">
                  <p:embed/>
                </p:oleObj>
              </mc:Choice>
              <mc:Fallback>
                <p:oleObj r:id="rId3" imgW="5896798" imgH="3467584" progId="Paint.Picture">
                  <p:embed/>
                  <p:pic>
                    <p:nvPicPr>
                      <p:cNvPr id="0" name="Object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6962" y="1385887"/>
                        <a:ext cx="6950075" cy="408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5">
            <a:extLst>
              <a:ext uri="{FF2B5EF4-FFF2-40B4-BE49-F238E27FC236}">
                <a16:creationId xmlns:a16="http://schemas.microsoft.com/office/drawing/2014/main" id="{68312F1B-5B29-4C45-89F1-5892753D26CD}"/>
              </a:ext>
            </a:extLst>
          </p:cNvPr>
          <p:cNvSpPr>
            <a:spLocks noChangeArrowheads="1"/>
          </p:cNvSpPr>
          <p:nvPr/>
        </p:nvSpPr>
        <p:spPr bwMode="auto">
          <a:xfrm>
            <a:off x="3833813" y="3314700"/>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9875" name="Rectangle 7">
            <a:extLst>
              <a:ext uri="{FF2B5EF4-FFF2-40B4-BE49-F238E27FC236}">
                <a16:creationId xmlns:a16="http://schemas.microsoft.com/office/drawing/2014/main" id="{9DFF323C-CAD3-445B-A41A-708CCF31947C}"/>
              </a:ext>
            </a:extLst>
          </p:cNvPr>
          <p:cNvSpPr>
            <a:spLocks noChangeArrowheads="1"/>
          </p:cNvSpPr>
          <p:nvPr/>
        </p:nvSpPr>
        <p:spPr bwMode="auto">
          <a:xfrm>
            <a:off x="4229100" y="3328988"/>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9876" name="Rectangle 9">
            <a:extLst>
              <a:ext uri="{FF2B5EF4-FFF2-40B4-BE49-F238E27FC236}">
                <a16:creationId xmlns:a16="http://schemas.microsoft.com/office/drawing/2014/main" id="{4BB91431-0FAE-4376-9F0E-4FA3C197F063}"/>
              </a:ext>
            </a:extLst>
          </p:cNvPr>
          <p:cNvSpPr>
            <a:spLocks noChangeArrowheads="1"/>
          </p:cNvSpPr>
          <p:nvPr/>
        </p:nvSpPr>
        <p:spPr bwMode="auto">
          <a:xfrm>
            <a:off x="3929063" y="3309938"/>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9877" name="Rectangle 11">
            <a:extLst>
              <a:ext uri="{FF2B5EF4-FFF2-40B4-BE49-F238E27FC236}">
                <a16:creationId xmlns:a16="http://schemas.microsoft.com/office/drawing/2014/main" id="{0ED3973C-AD9B-4DE6-9E81-EA8AA1823350}"/>
              </a:ext>
            </a:extLst>
          </p:cNvPr>
          <p:cNvSpPr>
            <a:spLocks noChangeArrowheads="1"/>
          </p:cNvSpPr>
          <p:nvPr/>
        </p:nvSpPr>
        <p:spPr bwMode="auto">
          <a:xfrm>
            <a:off x="3810000" y="3309938"/>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9878" name="Rectangle 13">
            <a:extLst>
              <a:ext uri="{FF2B5EF4-FFF2-40B4-BE49-F238E27FC236}">
                <a16:creationId xmlns:a16="http://schemas.microsoft.com/office/drawing/2014/main" id="{378340BF-3F01-4252-93B7-58357A304ED4}"/>
              </a:ext>
            </a:extLst>
          </p:cNvPr>
          <p:cNvSpPr>
            <a:spLocks noChangeArrowheads="1"/>
          </p:cNvSpPr>
          <p:nvPr/>
        </p:nvSpPr>
        <p:spPr bwMode="auto">
          <a:xfrm>
            <a:off x="4052888" y="3314700"/>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9879" name="Rectangle 15">
            <a:extLst>
              <a:ext uri="{FF2B5EF4-FFF2-40B4-BE49-F238E27FC236}">
                <a16:creationId xmlns:a16="http://schemas.microsoft.com/office/drawing/2014/main" id="{DEEB4C7D-4DA7-46EB-BFA5-250A305F8F12}"/>
              </a:ext>
            </a:extLst>
          </p:cNvPr>
          <p:cNvSpPr>
            <a:spLocks noChangeArrowheads="1"/>
          </p:cNvSpPr>
          <p:nvPr/>
        </p:nvSpPr>
        <p:spPr bwMode="auto">
          <a:xfrm>
            <a:off x="3890963" y="3309938"/>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9880" name="Rectangle 17">
            <a:extLst>
              <a:ext uri="{FF2B5EF4-FFF2-40B4-BE49-F238E27FC236}">
                <a16:creationId xmlns:a16="http://schemas.microsoft.com/office/drawing/2014/main" id="{EFBD6F1C-BFCC-4728-9E53-395B56104BC6}"/>
              </a:ext>
            </a:extLst>
          </p:cNvPr>
          <p:cNvSpPr>
            <a:spLocks noChangeArrowheads="1"/>
          </p:cNvSpPr>
          <p:nvPr/>
        </p:nvSpPr>
        <p:spPr bwMode="auto">
          <a:xfrm>
            <a:off x="3967163" y="3314700"/>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9881" name="Rectangle 22">
            <a:extLst>
              <a:ext uri="{FF2B5EF4-FFF2-40B4-BE49-F238E27FC236}">
                <a16:creationId xmlns:a16="http://schemas.microsoft.com/office/drawing/2014/main" id="{660B1A00-0879-40FC-8224-3B7747B359A1}"/>
              </a:ext>
            </a:extLst>
          </p:cNvPr>
          <p:cNvSpPr>
            <a:spLocks noChangeArrowheads="1"/>
          </p:cNvSpPr>
          <p:nvPr/>
        </p:nvSpPr>
        <p:spPr bwMode="auto">
          <a:xfrm>
            <a:off x="3871913" y="3314700"/>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9882" name="Rectangle 24">
            <a:extLst>
              <a:ext uri="{FF2B5EF4-FFF2-40B4-BE49-F238E27FC236}">
                <a16:creationId xmlns:a16="http://schemas.microsoft.com/office/drawing/2014/main" id="{ECC46BF1-EDAE-4358-8C47-53C83D4EDF4B}"/>
              </a:ext>
            </a:extLst>
          </p:cNvPr>
          <p:cNvSpPr>
            <a:spLocks noChangeArrowheads="1"/>
          </p:cNvSpPr>
          <p:nvPr/>
        </p:nvSpPr>
        <p:spPr bwMode="auto">
          <a:xfrm>
            <a:off x="4148138" y="3314700"/>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9883" name="Rectangle 28">
            <a:extLst>
              <a:ext uri="{FF2B5EF4-FFF2-40B4-BE49-F238E27FC236}">
                <a16:creationId xmlns:a16="http://schemas.microsoft.com/office/drawing/2014/main" id="{A65505ED-3EF7-4740-88A3-114F10F89197}"/>
              </a:ext>
            </a:extLst>
          </p:cNvPr>
          <p:cNvSpPr>
            <a:spLocks noChangeArrowheads="1"/>
          </p:cNvSpPr>
          <p:nvPr/>
        </p:nvSpPr>
        <p:spPr bwMode="auto">
          <a:xfrm>
            <a:off x="4224338" y="3314700"/>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9884" name="Rectangle 30">
            <a:extLst>
              <a:ext uri="{FF2B5EF4-FFF2-40B4-BE49-F238E27FC236}">
                <a16:creationId xmlns:a16="http://schemas.microsoft.com/office/drawing/2014/main" id="{A256C427-877A-49AE-8192-CA9861BEB125}"/>
              </a:ext>
            </a:extLst>
          </p:cNvPr>
          <p:cNvSpPr>
            <a:spLocks noChangeArrowheads="1"/>
          </p:cNvSpPr>
          <p:nvPr/>
        </p:nvSpPr>
        <p:spPr bwMode="auto">
          <a:xfrm>
            <a:off x="4319588" y="3314700"/>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9885" name="Rectangle 33">
            <a:extLst>
              <a:ext uri="{FF2B5EF4-FFF2-40B4-BE49-F238E27FC236}">
                <a16:creationId xmlns:a16="http://schemas.microsoft.com/office/drawing/2014/main" id="{2C1AE85D-B9B3-4C0A-BE53-9D34C7C34EAD}"/>
              </a:ext>
            </a:extLst>
          </p:cNvPr>
          <p:cNvSpPr>
            <a:spLocks noChangeArrowheads="1"/>
          </p:cNvSpPr>
          <p:nvPr/>
        </p:nvSpPr>
        <p:spPr bwMode="auto">
          <a:xfrm>
            <a:off x="4286250" y="3328988"/>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9886" name="Text Box 38">
            <a:extLst>
              <a:ext uri="{FF2B5EF4-FFF2-40B4-BE49-F238E27FC236}">
                <a16:creationId xmlns:a16="http://schemas.microsoft.com/office/drawing/2014/main" id="{ACD144BD-AFA6-42B7-AA38-4C69787D0336}"/>
              </a:ext>
            </a:extLst>
          </p:cNvPr>
          <p:cNvSpPr txBox="1">
            <a:spLocks noChangeArrowheads="1"/>
          </p:cNvSpPr>
          <p:nvPr/>
        </p:nvSpPr>
        <p:spPr bwMode="auto">
          <a:xfrm>
            <a:off x="395536" y="685800"/>
            <a:ext cx="8407152" cy="4539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algn="just" eaLnBrk="1" hangingPunct="1">
              <a:lnSpc>
                <a:spcPct val="120000"/>
              </a:lnSpc>
              <a:buClr>
                <a:schemeClr val="accent2"/>
              </a:buClr>
              <a:buFont typeface="Wingdings" panose="05000000000000000000" pitchFamily="2" charset="2"/>
              <a:buChar char="Ø"/>
            </a:pPr>
            <a:r>
              <a:rPr lang="en-US" altLang="zh-CN" sz="2800" dirty="0">
                <a:solidFill>
                  <a:srgbClr val="000000"/>
                </a:solidFill>
                <a:latin typeface="宋体" panose="02010600030101010101" pitchFamily="2" charset="-122"/>
              </a:rPr>
              <a:t>   </a:t>
            </a:r>
            <a:r>
              <a:rPr lang="zh-CN" altLang="en-US" sz="2400" dirty="0">
                <a:solidFill>
                  <a:srgbClr val="000000"/>
                </a:solidFill>
                <a:latin typeface="黑体" panose="02010609060101010101" pitchFamily="49" charset="-122"/>
                <a:ea typeface="黑体" panose="02010609060101010101" pitchFamily="49" charset="-122"/>
              </a:rPr>
              <a:t>上图进一步显示了</a:t>
            </a:r>
            <a:r>
              <a:rPr lang="en-US" altLang="zh-CN" sz="2400" dirty="0">
                <a:solidFill>
                  <a:srgbClr val="000000"/>
                </a:solidFill>
                <a:latin typeface="黑体" panose="02010609060101010101" pitchFamily="49" charset="-122"/>
                <a:ea typeface="黑体" panose="02010609060101010101" pitchFamily="49" charset="-122"/>
              </a:rPr>
              <a:t>30</a:t>
            </a:r>
            <a:r>
              <a:rPr lang="zh-CN" altLang="en-US" sz="2400" dirty="0">
                <a:solidFill>
                  <a:srgbClr val="000000"/>
                </a:solidFill>
                <a:latin typeface="黑体" panose="02010609060101010101" pitchFamily="49" charset="-122"/>
                <a:ea typeface="黑体" panose="02010609060101010101" pitchFamily="49" charset="-122"/>
              </a:rPr>
              <a:t>个省级行政区人均</a:t>
            </a:r>
            <a:r>
              <a:rPr lang="en-US" altLang="zh-CN" sz="2400" dirty="0">
                <a:solidFill>
                  <a:srgbClr val="000000"/>
                </a:solidFill>
                <a:latin typeface="黑体" panose="02010609060101010101" pitchFamily="49" charset="-122"/>
                <a:ea typeface="黑体" panose="02010609060101010101" pitchFamily="49" charset="-122"/>
              </a:rPr>
              <a:t>GDP</a:t>
            </a:r>
            <a:r>
              <a:rPr lang="zh-CN" altLang="en-US" sz="2400" dirty="0">
                <a:solidFill>
                  <a:srgbClr val="000000"/>
                </a:solidFill>
                <a:latin typeface="黑体" panose="02010609060101010101" pitchFamily="49" charset="-122"/>
                <a:ea typeface="黑体" panose="02010609060101010101" pitchFamily="49" charset="-122"/>
              </a:rPr>
              <a:t>局部集聚的空间结构。可以看出，从人均</a:t>
            </a:r>
            <a:r>
              <a:rPr lang="en-US" altLang="zh-CN" sz="2400" dirty="0">
                <a:solidFill>
                  <a:srgbClr val="000000"/>
                </a:solidFill>
                <a:latin typeface="黑体" panose="02010609060101010101" pitchFamily="49" charset="-122"/>
                <a:ea typeface="黑体" panose="02010609060101010101" pitchFamily="49" charset="-122"/>
              </a:rPr>
              <a:t>GDP</a:t>
            </a:r>
            <a:r>
              <a:rPr lang="zh-CN" altLang="en-US" sz="2400" dirty="0">
                <a:solidFill>
                  <a:srgbClr val="000000"/>
                </a:solidFill>
                <a:latin typeface="黑体" panose="02010609060101010101" pitchFamily="49" charset="-122"/>
                <a:ea typeface="黑体" panose="02010609060101010101" pitchFamily="49" charset="-122"/>
              </a:rPr>
              <a:t>水平相对地来看：</a:t>
            </a:r>
          </a:p>
          <a:p>
            <a:pPr marL="342900" indent="-342900" algn="just" eaLnBrk="1" hangingPunct="1">
              <a:lnSpc>
                <a:spcPct val="120000"/>
              </a:lnSpc>
              <a:buClr>
                <a:schemeClr val="accent2"/>
              </a:buClr>
              <a:buFont typeface="Wingdings" panose="05000000000000000000" pitchFamily="2" charset="2"/>
              <a:buChar char="Ø"/>
            </a:pPr>
            <a:r>
              <a:rPr lang="zh-CN" altLang="en-US" sz="2400" dirty="0">
                <a:solidFill>
                  <a:srgbClr val="000000"/>
                </a:solidFill>
                <a:latin typeface="黑体" panose="02010609060101010101" pitchFamily="49" charset="-122"/>
                <a:ea typeface="黑体" panose="02010609060101010101" pitchFamily="49" charset="-122"/>
              </a:rPr>
              <a:t>    高值被高值包围的高高集聚省（直辖市）有：北京、天津、河南、安徽、湖北、江西、海南、广东、福建、浙江、山东、上海、江苏；</a:t>
            </a:r>
          </a:p>
          <a:p>
            <a:pPr marL="342900" indent="-342900" algn="just" eaLnBrk="1" hangingPunct="1">
              <a:lnSpc>
                <a:spcPct val="120000"/>
              </a:lnSpc>
              <a:buClr>
                <a:schemeClr val="accent2"/>
              </a:buClr>
              <a:buFont typeface="Wingdings" panose="05000000000000000000" pitchFamily="2" charset="2"/>
              <a:buChar char="Ø"/>
            </a:pPr>
            <a:r>
              <a:rPr lang="zh-CN" altLang="en-US" sz="2400" dirty="0">
                <a:solidFill>
                  <a:srgbClr val="000000"/>
                </a:solidFill>
                <a:latin typeface="黑体" panose="02010609060101010101" pitchFamily="49" charset="-122"/>
                <a:ea typeface="黑体" panose="02010609060101010101" pitchFamily="49" charset="-122"/>
              </a:rPr>
              <a:t>        低值被低值包围的低低集聚省（自治区）有：黑龙江、内蒙古、新疆、吉林、甘肃、山西、陕西、青海、西藏、四川、云南、辽宁、贵州；</a:t>
            </a:r>
          </a:p>
          <a:p>
            <a:pPr marL="342900" indent="-342900" algn="just" eaLnBrk="1" hangingPunct="1">
              <a:lnSpc>
                <a:spcPct val="120000"/>
              </a:lnSpc>
              <a:buClr>
                <a:schemeClr val="accent2"/>
              </a:buClr>
              <a:buFont typeface="Wingdings" panose="05000000000000000000" pitchFamily="2" charset="2"/>
              <a:buChar char="Ø"/>
            </a:pPr>
            <a:r>
              <a:rPr lang="zh-CN" altLang="en-US" sz="2400" dirty="0">
                <a:solidFill>
                  <a:srgbClr val="000000"/>
                </a:solidFill>
                <a:latin typeface="黑体" panose="02010609060101010101" pitchFamily="49" charset="-122"/>
                <a:ea typeface="黑体" panose="02010609060101010101" pitchFamily="49" charset="-122"/>
              </a:rPr>
              <a:t>    被低值包围的高值省（直辖市）有：重庆、广西、河北；被高值包围的低值省份只有湖南。</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Picture 1" descr="C:\Documents and Settings\Administrator\Application Data\Tencent\Users\478306661\QQ\WinTemp\RichOle\$)D[7U9%JXK9M@1TU7}V}L8.jpg">
            <a:extLst>
              <a:ext uri="{FF2B5EF4-FFF2-40B4-BE49-F238E27FC236}">
                <a16:creationId xmlns:a16="http://schemas.microsoft.com/office/drawing/2014/main" id="{A227DE0E-C0EA-4D38-A58A-59D4AB84D7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57313"/>
            <a:ext cx="91440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899" name="TextBox 2">
            <a:extLst>
              <a:ext uri="{FF2B5EF4-FFF2-40B4-BE49-F238E27FC236}">
                <a16:creationId xmlns:a16="http://schemas.microsoft.com/office/drawing/2014/main" id="{47FBAEB3-2F98-4626-9874-6A1FC2534C0B}"/>
              </a:ext>
            </a:extLst>
          </p:cNvPr>
          <p:cNvSpPr txBox="1">
            <a:spLocks noChangeArrowheads="1"/>
          </p:cNvSpPr>
          <p:nvPr/>
        </p:nvSpPr>
        <p:spPr bwMode="auto">
          <a:xfrm>
            <a:off x="0" y="214313"/>
            <a:ext cx="867645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dirty="0">
                <a:latin typeface="黑体" panose="02010609060101010101" pitchFamily="49" charset="-122"/>
                <a:ea typeface="黑体" panose="02010609060101010101" pitchFamily="49" charset="-122"/>
              </a:rPr>
              <a:t>3.5.3</a:t>
            </a:r>
            <a:r>
              <a:rPr lang="zh-CN" altLang="en-US" sz="3200" dirty="0">
                <a:latin typeface="黑体" panose="02010609060101010101" pitchFamily="49" charset="-122"/>
                <a:ea typeface="黑体" panose="02010609060101010101" pitchFamily="49" charset="-122"/>
              </a:rPr>
              <a:t>不同的空间权重矩阵对空间自相关的影响</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2" name="Picture 6" descr="16">
            <a:extLst>
              <a:ext uri="{FF2B5EF4-FFF2-40B4-BE49-F238E27FC236}">
                <a16:creationId xmlns:a16="http://schemas.microsoft.com/office/drawing/2014/main" id="{65314A77-3C32-4AE2-A23B-6977E1354A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8363" y="0"/>
            <a:ext cx="655637"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82364" name="Group 412">
            <a:extLst>
              <a:ext uri="{FF2B5EF4-FFF2-40B4-BE49-F238E27FC236}">
                <a16:creationId xmlns:a16="http://schemas.microsoft.com/office/drawing/2014/main" id="{426FAE96-D70F-41BA-9A4F-18C2333DD3C8}"/>
              </a:ext>
            </a:extLst>
          </p:cNvPr>
          <p:cNvGraphicFramePr>
            <a:graphicFrameLocks noGrp="1"/>
          </p:cNvGraphicFramePr>
          <p:nvPr/>
        </p:nvGraphicFramePr>
        <p:xfrm>
          <a:off x="4356100" y="1700213"/>
          <a:ext cx="3111500" cy="1654175"/>
        </p:xfrm>
        <a:graphic>
          <a:graphicData uri="http://schemas.openxmlformats.org/drawingml/2006/table">
            <a:tbl>
              <a:tblPr/>
              <a:tblGrid>
                <a:gridCol w="622300">
                  <a:extLst>
                    <a:ext uri="{9D8B030D-6E8A-4147-A177-3AD203B41FA5}">
                      <a16:colId xmlns:a16="http://schemas.microsoft.com/office/drawing/2014/main" val="20000"/>
                    </a:ext>
                  </a:extLst>
                </a:gridCol>
                <a:gridCol w="622300">
                  <a:extLst>
                    <a:ext uri="{9D8B030D-6E8A-4147-A177-3AD203B41FA5}">
                      <a16:colId xmlns:a16="http://schemas.microsoft.com/office/drawing/2014/main" val="20001"/>
                    </a:ext>
                  </a:extLst>
                </a:gridCol>
                <a:gridCol w="622300">
                  <a:extLst>
                    <a:ext uri="{9D8B030D-6E8A-4147-A177-3AD203B41FA5}">
                      <a16:colId xmlns:a16="http://schemas.microsoft.com/office/drawing/2014/main" val="20002"/>
                    </a:ext>
                  </a:extLst>
                </a:gridCol>
                <a:gridCol w="622300">
                  <a:extLst>
                    <a:ext uri="{9D8B030D-6E8A-4147-A177-3AD203B41FA5}">
                      <a16:colId xmlns:a16="http://schemas.microsoft.com/office/drawing/2014/main" val="20003"/>
                    </a:ext>
                  </a:extLst>
                </a:gridCol>
                <a:gridCol w="622300">
                  <a:extLst>
                    <a:ext uri="{9D8B030D-6E8A-4147-A177-3AD203B41FA5}">
                      <a16:colId xmlns:a16="http://schemas.microsoft.com/office/drawing/2014/main" val="20004"/>
                    </a:ext>
                  </a:extLst>
                </a:gridCol>
              </a:tblGrid>
              <a:tr h="244475">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92.002</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113.3</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116.31</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114.24</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125.3</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1463">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113.37</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123.32</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75.951</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99.604</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96.366</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1463">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67.913</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105.15</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73.371</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123.3</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33.393</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1463">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110.57</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104.39</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31.562</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56.537</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93.316</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1463">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79.737</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112.29</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110.15</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133.35</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111.33</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82575">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37.123</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107.61</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79.313</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99.61</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99.036</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382368" name="Group 416">
            <a:extLst>
              <a:ext uri="{FF2B5EF4-FFF2-40B4-BE49-F238E27FC236}">
                <a16:creationId xmlns:a16="http://schemas.microsoft.com/office/drawing/2014/main" id="{AA291AB7-CF58-45CC-9A62-AB17D8D88842}"/>
              </a:ext>
            </a:extLst>
          </p:cNvPr>
          <p:cNvGraphicFramePr>
            <a:graphicFrameLocks noGrp="1"/>
          </p:cNvGraphicFramePr>
          <p:nvPr/>
        </p:nvGraphicFramePr>
        <p:xfrm>
          <a:off x="3995738" y="4005263"/>
          <a:ext cx="4103687" cy="1646238"/>
        </p:xfrm>
        <a:graphic>
          <a:graphicData uri="http://schemas.openxmlformats.org/drawingml/2006/table">
            <a:tbl>
              <a:tblPr/>
              <a:tblGrid>
                <a:gridCol w="820737">
                  <a:extLst>
                    <a:ext uri="{9D8B030D-6E8A-4147-A177-3AD203B41FA5}">
                      <a16:colId xmlns:a16="http://schemas.microsoft.com/office/drawing/2014/main" val="20000"/>
                    </a:ext>
                  </a:extLst>
                </a:gridCol>
                <a:gridCol w="820738">
                  <a:extLst>
                    <a:ext uri="{9D8B030D-6E8A-4147-A177-3AD203B41FA5}">
                      <a16:colId xmlns:a16="http://schemas.microsoft.com/office/drawing/2014/main" val="20001"/>
                    </a:ext>
                  </a:extLst>
                </a:gridCol>
                <a:gridCol w="820737">
                  <a:extLst>
                    <a:ext uri="{9D8B030D-6E8A-4147-A177-3AD203B41FA5}">
                      <a16:colId xmlns:a16="http://schemas.microsoft.com/office/drawing/2014/main" val="20002"/>
                    </a:ext>
                  </a:extLst>
                </a:gridCol>
                <a:gridCol w="820738">
                  <a:extLst>
                    <a:ext uri="{9D8B030D-6E8A-4147-A177-3AD203B41FA5}">
                      <a16:colId xmlns:a16="http://schemas.microsoft.com/office/drawing/2014/main" val="20003"/>
                    </a:ext>
                  </a:extLst>
                </a:gridCol>
                <a:gridCol w="820737">
                  <a:extLst>
                    <a:ext uri="{9D8B030D-6E8A-4147-A177-3AD203B41FA5}">
                      <a16:colId xmlns:a16="http://schemas.microsoft.com/office/drawing/2014/main" val="20004"/>
                    </a:ext>
                  </a:extLst>
                </a:gridCol>
              </a:tblGrid>
              <a:tr h="274373">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0.95013</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0.23114</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0.60634</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0.43593</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0.3913</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373">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0.7621</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0.45647</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0.013504</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0.32141</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0.4447</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73">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0.61543</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0.79194</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0.92131</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0.73321</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0.17627</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373">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0.40571</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0.93547</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0.9169</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0.41027</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0.39365</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73">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0.057391</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0.35237</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0.31317</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0.009361</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0.13339</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73">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0.20277</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0.19372</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0.60379</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0.27219</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0.19331</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82012" name="Text Box 401">
            <a:extLst>
              <a:ext uri="{FF2B5EF4-FFF2-40B4-BE49-F238E27FC236}">
                <a16:creationId xmlns:a16="http://schemas.microsoft.com/office/drawing/2014/main" id="{7700D6E2-3184-4FFC-9B62-D94B2D94183A}"/>
              </a:ext>
            </a:extLst>
          </p:cNvPr>
          <p:cNvSpPr txBox="1">
            <a:spLocks noChangeArrowheads="1"/>
          </p:cNvSpPr>
          <p:nvPr/>
        </p:nvSpPr>
        <p:spPr bwMode="auto">
          <a:xfrm>
            <a:off x="4211638" y="1268413"/>
            <a:ext cx="34559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latin typeface="华文行楷" panose="02010800040101010101" pitchFamily="2" charset="-122"/>
                <a:ea typeface="华文行楷" panose="02010800040101010101" pitchFamily="2" charset="-122"/>
              </a:rPr>
              <a:t> </a:t>
            </a:r>
            <a:r>
              <a:rPr lang="zh-CN" altLang="en-US" sz="1600">
                <a:latin typeface="楷体_GB2312" pitchFamily="49" charset="-122"/>
                <a:ea typeface="楷体_GB2312" pitchFamily="49" charset="-122"/>
              </a:rPr>
              <a:t>正态分布空间数据样本数据</a:t>
            </a:r>
            <a:r>
              <a:rPr lang="zh-CN" altLang="en-US"/>
              <a:t> </a:t>
            </a:r>
          </a:p>
        </p:txBody>
      </p:sp>
      <p:sp>
        <p:nvSpPr>
          <p:cNvPr id="82013" name="Text Box 402">
            <a:extLst>
              <a:ext uri="{FF2B5EF4-FFF2-40B4-BE49-F238E27FC236}">
                <a16:creationId xmlns:a16="http://schemas.microsoft.com/office/drawing/2014/main" id="{40466427-86CE-47F2-80A0-39EA2F7D080C}"/>
              </a:ext>
            </a:extLst>
          </p:cNvPr>
          <p:cNvSpPr txBox="1">
            <a:spLocks noChangeArrowheads="1"/>
          </p:cNvSpPr>
          <p:nvPr/>
        </p:nvSpPr>
        <p:spPr bwMode="auto">
          <a:xfrm>
            <a:off x="4211638" y="3500438"/>
            <a:ext cx="34559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 </a:t>
            </a:r>
            <a:r>
              <a:rPr lang="zh-CN" altLang="en-US" sz="1600">
                <a:latin typeface="楷体_GB2312" pitchFamily="49" charset="-122"/>
                <a:ea typeface="楷体_GB2312" pitchFamily="49" charset="-122"/>
              </a:rPr>
              <a:t>随机分布空间数据样本数据</a:t>
            </a:r>
            <a:r>
              <a:rPr lang="zh-CN" altLang="en-US"/>
              <a:t> </a:t>
            </a:r>
          </a:p>
        </p:txBody>
      </p:sp>
      <p:pic>
        <p:nvPicPr>
          <p:cNvPr id="82014" name="Picture 404" descr="@Y2)[]YI1PQP9$`RF}]2[0L">
            <a:extLst>
              <a:ext uri="{FF2B5EF4-FFF2-40B4-BE49-F238E27FC236}">
                <a16:creationId xmlns:a16="http://schemas.microsoft.com/office/drawing/2014/main" id="{4CD9A691-C2F9-4AEB-8B2C-657E24D941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1557338"/>
            <a:ext cx="2628900" cy="168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15" name="Line 405">
            <a:extLst>
              <a:ext uri="{FF2B5EF4-FFF2-40B4-BE49-F238E27FC236}">
                <a16:creationId xmlns:a16="http://schemas.microsoft.com/office/drawing/2014/main" id="{F02AF9A8-94E3-46DE-81B1-53D7DDEA21D6}"/>
              </a:ext>
            </a:extLst>
          </p:cNvPr>
          <p:cNvSpPr>
            <a:spLocks noChangeShapeType="1"/>
          </p:cNvSpPr>
          <p:nvPr/>
        </p:nvSpPr>
        <p:spPr bwMode="auto">
          <a:xfrm>
            <a:off x="1692275" y="5518150"/>
            <a:ext cx="1800225"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16" name="Line 406">
            <a:extLst>
              <a:ext uri="{FF2B5EF4-FFF2-40B4-BE49-F238E27FC236}">
                <a16:creationId xmlns:a16="http://schemas.microsoft.com/office/drawing/2014/main" id="{76770DEE-1631-41A9-8A33-9E419F2D9E0D}"/>
              </a:ext>
            </a:extLst>
          </p:cNvPr>
          <p:cNvSpPr>
            <a:spLocks noChangeShapeType="1"/>
          </p:cNvSpPr>
          <p:nvPr/>
        </p:nvSpPr>
        <p:spPr bwMode="auto">
          <a:xfrm flipV="1">
            <a:off x="1692275" y="4149725"/>
            <a:ext cx="1588" cy="13684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17" name="Text Box 407">
            <a:extLst>
              <a:ext uri="{FF2B5EF4-FFF2-40B4-BE49-F238E27FC236}">
                <a16:creationId xmlns:a16="http://schemas.microsoft.com/office/drawing/2014/main" id="{98F4100F-B7C8-47C4-A58A-B23EF05C7CA9}"/>
              </a:ext>
            </a:extLst>
          </p:cNvPr>
          <p:cNvSpPr txBox="1">
            <a:spLocks noChangeArrowheads="1"/>
          </p:cNvSpPr>
          <p:nvPr/>
        </p:nvSpPr>
        <p:spPr bwMode="auto">
          <a:xfrm>
            <a:off x="1476375" y="5589588"/>
            <a:ext cx="2873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000"/>
              <a:t>0</a:t>
            </a:r>
          </a:p>
        </p:txBody>
      </p:sp>
      <p:sp>
        <p:nvSpPr>
          <p:cNvPr id="82018" name="Text Box 408">
            <a:extLst>
              <a:ext uri="{FF2B5EF4-FFF2-40B4-BE49-F238E27FC236}">
                <a16:creationId xmlns:a16="http://schemas.microsoft.com/office/drawing/2014/main" id="{B2FE2FF5-C6D7-4380-B7DB-CDF54141FD9B}"/>
              </a:ext>
            </a:extLst>
          </p:cNvPr>
          <p:cNvSpPr txBox="1">
            <a:spLocks noChangeArrowheads="1"/>
          </p:cNvSpPr>
          <p:nvPr/>
        </p:nvSpPr>
        <p:spPr bwMode="auto">
          <a:xfrm>
            <a:off x="1258888" y="4221163"/>
            <a:ext cx="2873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i="1"/>
              <a:t>p</a:t>
            </a:r>
          </a:p>
        </p:txBody>
      </p:sp>
      <p:sp>
        <p:nvSpPr>
          <p:cNvPr id="82019" name="Text Box 409">
            <a:extLst>
              <a:ext uri="{FF2B5EF4-FFF2-40B4-BE49-F238E27FC236}">
                <a16:creationId xmlns:a16="http://schemas.microsoft.com/office/drawing/2014/main" id="{654F25DE-25B9-4C67-B490-D3C6F6A1BBA1}"/>
              </a:ext>
            </a:extLst>
          </p:cNvPr>
          <p:cNvSpPr txBox="1">
            <a:spLocks noChangeArrowheads="1"/>
          </p:cNvSpPr>
          <p:nvPr/>
        </p:nvSpPr>
        <p:spPr bwMode="auto">
          <a:xfrm>
            <a:off x="2195513" y="5661025"/>
            <a:ext cx="6477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i="1"/>
              <a:t>N</a:t>
            </a:r>
          </a:p>
        </p:txBody>
      </p:sp>
      <p:sp>
        <p:nvSpPr>
          <p:cNvPr id="82020" name="Line 410">
            <a:extLst>
              <a:ext uri="{FF2B5EF4-FFF2-40B4-BE49-F238E27FC236}">
                <a16:creationId xmlns:a16="http://schemas.microsoft.com/office/drawing/2014/main" id="{9CDC57CE-AEC4-45FE-8371-66D53972852C}"/>
              </a:ext>
            </a:extLst>
          </p:cNvPr>
          <p:cNvSpPr>
            <a:spLocks noChangeShapeType="1"/>
          </p:cNvSpPr>
          <p:nvPr/>
        </p:nvSpPr>
        <p:spPr bwMode="auto">
          <a:xfrm>
            <a:off x="1692275" y="4868863"/>
            <a:ext cx="1511300"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21" name="Text Box 411">
            <a:extLst>
              <a:ext uri="{FF2B5EF4-FFF2-40B4-BE49-F238E27FC236}">
                <a16:creationId xmlns:a16="http://schemas.microsoft.com/office/drawing/2014/main" id="{451F16C2-B254-493B-B9C4-19B5DEA45413}"/>
              </a:ext>
            </a:extLst>
          </p:cNvPr>
          <p:cNvSpPr txBox="1">
            <a:spLocks noChangeArrowheads="1"/>
          </p:cNvSpPr>
          <p:nvPr/>
        </p:nvSpPr>
        <p:spPr bwMode="auto">
          <a:xfrm>
            <a:off x="360362" y="1141413"/>
            <a:ext cx="64801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a:solidFill>
                  <a:srgbClr val="FF3300"/>
                </a:solidFill>
                <a:latin typeface="楷体_GB2312" pitchFamily="49" charset="-122"/>
                <a:ea typeface="楷体_GB2312" pitchFamily="49" charset="-122"/>
              </a:rPr>
              <a:t>正态分布数据和随机分布数据</a:t>
            </a:r>
          </a:p>
        </p:txBody>
      </p:sp>
      <p:sp>
        <p:nvSpPr>
          <p:cNvPr id="16" name="TextBox 2">
            <a:extLst>
              <a:ext uri="{FF2B5EF4-FFF2-40B4-BE49-F238E27FC236}">
                <a16:creationId xmlns:a16="http://schemas.microsoft.com/office/drawing/2014/main" id="{68126F33-EAA3-49E9-8BC0-C17FF7FEBFBB}"/>
              </a:ext>
            </a:extLst>
          </p:cNvPr>
          <p:cNvSpPr txBox="1">
            <a:spLocks noChangeArrowheads="1"/>
          </p:cNvSpPr>
          <p:nvPr/>
        </p:nvSpPr>
        <p:spPr bwMode="auto">
          <a:xfrm>
            <a:off x="139725" y="127507"/>
            <a:ext cx="867645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dirty="0">
                <a:latin typeface="黑体" panose="02010609060101010101" pitchFamily="49" charset="-122"/>
                <a:ea typeface="黑体" panose="02010609060101010101" pitchFamily="49" charset="-122"/>
              </a:rPr>
              <a:t>3.5.3</a:t>
            </a:r>
            <a:r>
              <a:rPr lang="zh-CN" altLang="en-US" sz="3200" dirty="0">
                <a:latin typeface="黑体" panose="02010609060101010101" pitchFamily="49" charset="-122"/>
                <a:ea typeface="黑体" panose="02010609060101010101" pitchFamily="49" charset="-122"/>
              </a:rPr>
              <a:t>不同的空间权重矩阵对空间自相关的影响</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5" descr="21">
            <a:extLst>
              <a:ext uri="{FF2B5EF4-FFF2-40B4-BE49-F238E27FC236}">
                <a16:creationId xmlns:a16="http://schemas.microsoft.com/office/drawing/2014/main" id="{C721ED40-ED74-42FD-B06F-95546CC82F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07413" y="0"/>
            <a:ext cx="636587"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84467" name="Group 467">
            <a:extLst>
              <a:ext uri="{FF2B5EF4-FFF2-40B4-BE49-F238E27FC236}">
                <a16:creationId xmlns:a16="http://schemas.microsoft.com/office/drawing/2014/main" id="{D6A0183A-86A4-4A83-A796-3A6E0C822DCB}"/>
              </a:ext>
            </a:extLst>
          </p:cNvPr>
          <p:cNvGraphicFramePr>
            <a:graphicFrameLocks noGrp="1"/>
          </p:cNvGraphicFramePr>
          <p:nvPr/>
        </p:nvGraphicFramePr>
        <p:xfrm>
          <a:off x="2555875" y="1557338"/>
          <a:ext cx="4098925" cy="1920877"/>
        </p:xfrm>
        <a:graphic>
          <a:graphicData uri="http://schemas.openxmlformats.org/drawingml/2006/table">
            <a:tbl>
              <a:tblPr/>
              <a:tblGrid>
                <a:gridCol w="976313">
                  <a:extLst>
                    <a:ext uri="{9D8B030D-6E8A-4147-A177-3AD203B41FA5}">
                      <a16:colId xmlns:a16="http://schemas.microsoft.com/office/drawing/2014/main" val="20000"/>
                    </a:ext>
                  </a:extLst>
                </a:gridCol>
                <a:gridCol w="1106487">
                  <a:extLst>
                    <a:ext uri="{9D8B030D-6E8A-4147-A177-3AD203B41FA5}">
                      <a16:colId xmlns:a16="http://schemas.microsoft.com/office/drawing/2014/main" val="20001"/>
                    </a:ext>
                  </a:extLst>
                </a:gridCol>
                <a:gridCol w="742950">
                  <a:extLst>
                    <a:ext uri="{9D8B030D-6E8A-4147-A177-3AD203B41FA5}">
                      <a16:colId xmlns:a16="http://schemas.microsoft.com/office/drawing/2014/main" val="20002"/>
                    </a:ext>
                  </a:extLst>
                </a:gridCol>
                <a:gridCol w="636588">
                  <a:extLst>
                    <a:ext uri="{9D8B030D-6E8A-4147-A177-3AD203B41FA5}">
                      <a16:colId xmlns:a16="http://schemas.microsoft.com/office/drawing/2014/main" val="20003"/>
                    </a:ext>
                  </a:extLst>
                </a:gridCol>
                <a:gridCol w="636587">
                  <a:extLst>
                    <a:ext uri="{9D8B030D-6E8A-4147-A177-3AD203B41FA5}">
                      <a16:colId xmlns:a16="http://schemas.microsoft.com/office/drawing/2014/main" val="20004"/>
                    </a:ext>
                  </a:extLst>
                </a:gridCol>
              </a:tblGrid>
              <a:tr h="274411">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Method</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Moran’s I</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Var</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|Z|</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E(I)</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411">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Rook</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-0.00973</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0.012</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0.400</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-0.033</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411">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Queen</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-0.00431</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0.020</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0.231</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-0.033</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411">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Direction</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-0.00747</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0.005</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0.742</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-0.033</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411">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K-Nears</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-0.00709</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0.004</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0.562</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-0.033</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411">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Area</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-0.00963</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0.014</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1.02</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-0.033</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411">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Boundary</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-0.01055</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0.009</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0.631</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-0.033</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384468" name="Group 468">
            <a:extLst>
              <a:ext uri="{FF2B5EF4-FFF2-40B4-BE49-F238E27FC236}">
                <a16:creationId xmlns:a16="http://schemas.microsoft.com/office/drawing/2014/main" id="{2F38F2C2-53A7-492B-B182-237C5DF99BDB}"/>
              </a:ext>
            </a:extLst>
          </p:cNvPr>
          <p:cNvGraphicFramePr>
            <a:graphicFrameLocks noGrp="1"/>
          </p:cNvGraphicFramePr>
          <p:nvPr/>
        </p:nvGraphicFramePr>
        <p:xfrm>
          <a:off x="2555875" y="4005263"/>
          <a:ext cx="4176713" cy="1920877"/>
        </p:xfrm>
        <a:graphic>
          <a:graphicData uri="http://schemas.openxmlformats.org/drawingml/2006/table">
            <a:tbl>
              <a:tblPr/>
              <a:tblGrid>
                <a:gridCol w="1020763">
                  <a:extLst>
                    <a:ext uri="{9D8B030D-6E8A-4147-A177-3AD203B41FA5}">
                      <a16:colId xmlns:a16="http://schemas.microsoft.com/office/drawing/2014/main" val="20000"/>
                    </a:ext>
                  </a:extLst>
                </a:gridCol>
                <a:gridCol w="1157287">
                  <a:extLst>
                    <a:ext uri="{9D8B030D-6E8A-4147-A177-3AD203B41FA5}">
                      <a16:colId xmlns:a16="http://schemas.microsoft.com/office/drawing/2014/main" val="20001"/>
                    </a:ext>
                  </a:extLst>
                </a:gridCol>
                <a:gridCol w="666750">
                  <a:extLst>
                    <a:ext uri="{9D8B030D-6E8A-4147-A177-3AD203B41FA5}">
                      <a16:colId xmlns:a16="http://schemas.microsoft.com/office/drawing/2014/main" val="20002"/>
                    </a:ext>
                  </a:extLst>
                </a:gridCol>
                <a:gridCol w="665163">
                  <a:extLst>
                    <a:ext uri="{9D8B030D-6E8A-4147-A177-3AD203B41FA5}">
                      <a16:colId xmlns:a16="http://schemas.microsoft.com/office/drawing/2014/main" val="20003"/>
                    </a:ext>
                  </a:extLst>
                </a:gridCol>
                <a:gridCol w="666750">
                  <a:extLst>
                    <a:ext uri="{9D8B030D-6E8A-4147-A177-3AD203B41FA5}">
                      <a16:colId xmlns:a16="http://schemas.microsoft.com/office/drawing/2014/main" val="20004"/>
                    </a:ext>
                  </a:extLst>
                </a:gridCol>
              </a:tblGrid>
              <a:tr h="274411">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Method</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Moran’s I</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Var</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|Z|</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E(I)</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411">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Rook</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-0.0102</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0.011</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0.396</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-0.333</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411">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Queen</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-0.0045</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0.019</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0.230</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-0.333</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411">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Direction</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-0.0121</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0.005</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0.739</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-0.333</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411">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K-Nears</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-0.0049</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0.039</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0.561</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-0.333</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411">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Area</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-0.0134</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0.012</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0.996</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-0.333</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411">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Boundary</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-0.120</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0.003</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0.620</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-0.333</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83047" name="Text Box 461">
            <a:extLst>
              <a:ext uri="{FF2B5EF4-FFF2-40B4-BE49-F238E27FC236}">
                <a16:creationId xmlns:a16="http://schemas.microsoft.com/office/drawing/2014/main" id="{27FDFDF0-2CB0-489F-AFCF-994BC892734B}"/>
              </a:ext>
            </a:extLst>
          </p:cNvPr>
          <p:cNvSpPr txBox="1">
            <a:spLocks noChangeArrowheads="1"/>
          </p:cNvSpPr>
          <p:nvPr/>
        </p:nvSpPr>
        <p:spPr bwMode="auto">
          <a:xfrm>
            <a:off x="2411413" y="1196975"/>
            <a:ext cx="44656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400">
                <a:latin typeface="楷体_GB2312" pitchFamily="49" charset="-122"/>
                <a:ea typeface="楷体_GB2312" pitchFamily="49" charset="-122"/>
              </a:rPr>
              <a:t>正态分布假设下全局</a:t>
            </a:r>
            <a:r>
              <a:rPr lang="en-US" altLang="zh-CN" sz="1400">
                <a:latin typeface="楷体_GB2312" pitchFamily="49" charset="-122"/>
                <a:ea typeface="楷体_GB2312" pitchFamily="49" charset="-122"/>
              </a:rPr>
              <a:t>Moran</a:t>
            </a:r>
            <a:r>
              <a:rPr lang="en-US" altLang="zh-CN" sz="1400">
                <a:latin typeface="宋体" panose="02010600030101010101" pitchFamily="2" charset="-122"/>
                <a:ea typeface="楷体_GB2312" pitchFamily="49" charset="-122"/>
              </a:rPr>
              <a:t>’</a:t>
            </a:r>
            <a:r>
              <a:rPr lang="en-US" altLang="zh-CN" sz="1400">
                <a:latin typeface="楷体_GB2312" pitchFamily="49" charset="-122"/>
                <a:ea typeface="楷体_GB2312" pitchFamily="49" charset="-122"/>
              </a:rPr>
              <a:t>s I</a:t>
            </a:r>
            <a:r>
              <a:rPr lang="zh-CN" altLang="en-US" sz="1400">
                <a:latin typeface="楷体_GB2312" pitchFamily="49" charset="-122"/>
                <a:ea typeface="楷体_GB2312" pitchFamily="49" charset="-122"/>
              </a:rPr>
              <a:t>的均值描述统计</a:t>
            </a:r>
            <a:r>
              <a:rPr lang="zh-CN" altLang="en-US"/>
              <a:t> </a:t>
            </a:r>
          </a:p>
        </p:txBody>
      </p:sp>
      <p:sp>
        <p:nvSpPr>
          <p:cNvPr id="83048" name="Text Box 462">
            <a:extLst>
              <a:ext uri="{FF2B5EF4-FFF2-40B4-BE49-F238E27FC236}">
                <a16:creationId xmlns:a16="http://schemas.microsoft.com/office/drawing/2014/main" id="{7E0E885C-A1B2-405D-B231-02FB4D671484}"/>
              </a:ext>
            </a:extLst>
          </p:cNvPr>
          <p:cNvSpPr txBox="1">
            <a:spLocks noChangeArrowheads="1"/>
          </p:cNvSpPr>
          <p:nvPr/>
        </p:nvSpPr>
        <p:spPr bwMode="auto">
          <a:xfrm>
            <a:off x="2339975" y="3644900"/>
            <a:ext cx="44656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400">
                <a:latin typeface="楷体_GB2312" pitchFamily="49" charset="-122"/>
                <a:ea typeface="楷体_GB2312" pitchFamily="49" charset="-122"/>
              </a:rPr>
              <a:t>随机分布假设下全局</a:t>
            </a:r>
            <a:r>
              <a:rPr lang="en-US" altLang="zh-CN" sz="1400">
                <a:latin typeface="楷体_GB2312" pitchFamily="49" charset="-122"/>
                <a:ea typeface="楷体_GB2312" pitchFamily="49" charset="-122"/>
              </a:rPr>
              <a:t>Moran</a:t>
            </a:r>
            <a:r>
              <a:rPr lang="en-US" altLang="zh-CN" sz="1400">
                <a:latin typeface="宋体" panose="02010600030101010101" pitchFamily="2" charset="-122"/>
                <a:ea typeface="楷体_GB2312" pitchFamily="49" charset="-122"/>
              </a:rPr>
              <a:t>’</a:t>
            </a:r>
            <a:r>
              <a:rPr lang="en-US" altLang="zh-CN" sz="1400">
                <a:latin typeface="楷体_GB2312" pitchFamily="49" charset="-122"/>
                <a:ea typeface="楷体_GB2312" pitchFamily="49" charset="-122"/>
              </a:rPr>
              <a:t>s I</a:t>
            </a:r>
            <a:r>
              <a:rPr lang="zh-CN" altLang="en-US" sz="1400">
                <a:latin typeface="楷体_GB2312" pitchFamily="49" charset="-122"/>
                <a:ea typeface="楷体_GB2312" pitchFamily="49" charset="-122"/>
              </a:rPr>
              <a:t>的均值描述统计</a:t>
            </a:r>
            <a:r>
              <a:rPr lang="zh-CN" altLang="en-US"/>
              <a:t> </a:t>
            </a:r>
          </a:p>
        </p:txBody>
      </p:sp>
      <p:sp>
        <p:nvSpPr>
          <p:cNvPr id="83050" name="Text Box 469">
            <a:extLst>
              <a:ext uri="{FF2B5EF4-FFF2-40B4-BE49-F238E27FC236}">
                <a16:creationId xmlns:a16="http://schemas.microsoft.com/office/drawing/2014/main" id="{10D71322-2134-4BCF-B606-BDAF63F4F435}"/>
              </a:ext>
            </a:extLst>
          </p:cNvPr>
          <p:cNvSpPr txBox="1">
            <a:spLocks noChangeArrowheads="1"/>
          </p:cNvSpPr>
          <p:nvPr/>
        </p:nvSpPr>
        <p:spPr bwMode="auto">
          <a:xfrm>
            <a:off x="250825" y="2349500"/>
            <a:ext cx="2160588" cy="204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a:latin typeface="楷体_GB2312" pitchFamily="49" charset="-122"/>
                <a:ea typeface="楷体_GB2312" pitchFamily="49" charset="-122"/>
              </a:rPr>
              <a:t>其中</a:t>
            </a:r>
            <a:r>
              <a:rPr lang="en-US" altLang="zh-CN" sz="1600">
                <a:latin typeface="楷体_GB2312" pitchFamily="49" charset="-122"/>
                <a:ea typeface="楷体_GB2312" pitchFamily="49" charset="-122"/>
              </a:rPr>
              <a:t>Direction</a:t>
            </a:r>
            <a:r>
              <a:rPr lang="zh-CN" altLang="en-US" sz="1600">
                <a:latin typeface="楷体_GB2312" pitchFamily="49" charset="-122"/>
                <a:ea typeface="楷体_GB2312" pitchFamily="49" charset="-122"/>
              </a:rPr>
              <a:t>权重为左右相邻方式</a:t>
            </a:r>
          </a:p>
          <a:p>
            <a:pPr eaLnBrk="1" hangingPunct="1">
              <a:spcBef>
                <a:spcPct val="50000"/>
              </a:spcBef>
            </a:pPr>
            <a:r>
              <a:rPr lang="en-US" altLang="zh-CN" sz="1600">
                <a:latin typeface="楷体_GB2312" pitchFamily="49" charset="-122"/>
                <a:ea typeface="楷体_GB2312" pitchFamily="49" charset="-122"/>
              </a:rPr>
              <a:t>K-Nears</a:t>
            </a:r>
            <a:r>
              <a:rPr lang="zh-CN" altLang="en-US" sz="1600">
                <a:latin typeface="楷体_GB2312" pitchFamily="49" charset="-122"/>
                <a:ea typeface="楷体_GB2312" pitchFamily="49" charset="-122"/>
              </a:rPr>
              <a:t>权重中，取</a:t>
            </a:r>
            <a:r>
              <a:rPr lang="en-US" altLang="zh-CN" sz="1600">
                <a:latin typeface="楷体_GB2312" pitchFamily="49" charset="-122"/>
                <a:ea typeface="楷体_GB2312" pitchFamily="49" charset="-122"/>
              </a:rPr>
              <a:t>K=5</a:t>
            </a:r>
          </a:p>
          <a:p>
            <a:pPr eaLnBrk="1" hangingPunct="1">
              <a:spcBef>
                <a:spcPct val="50000"/>
              </a:spcBef>
            </a:pPr>
            <a:r>
              <a:rPr lang="en-US" altLang="zh-CN" sz="1600">
                <a:latin typeface="楷体_GB2312" pitchFamily="49" charset="-122"/>
                <a:ea typeface="楷体_GB2312" pitchFamily="49" charset="-122"/>
              </a:rPr>
              <a:t>Area</a:t>
            </a:r>
            <a:r>
              <a:rPr lang="zh-CN" altLang="en-US" sz="1600">
                <a:latin typeface="楷体_GB2312" pitchFamily="49" charset="-122"/>
                <a:ea typeface="楷体_GB2312" pitchFamily="49" charset="-122"/>
              </a:rPr>
              <a:t>、</a:t>
            </a:r>
            <a:r>
              <a:rPr lang="en-US" altLang="zh-CN" sz="1600">
                <a:latin typeface="楷体_GB2312" pitchFamily="49" charset="-122"/>
                <a:ea typeface="楷体_GB2312" pitchFamily="49" charset="-122"/>
              </a:rPr>
              <a:t>Boundary</a:t>
            </a:r>
            <a:r>
              <a:rPr lang="zh-CN" altLang="en-US" sz="1600">
                <a:latin typeface="楷体_GB2312" pitchFamily="49" charset="-122"/>
                <a:ea typeface="楷体_GB2312" pitchFamily="49" charset="-122"/>
              </a:rPr>
              <a:t>权重中，的调整参数取值为</a:t>
            </a:r>
            <a:r>
              <a:rPr lang="en-US" altLang="zh-CN" sz="1600">
                <a:latin typeface="楷体_GB2312" pitchFamily="49" charset="-122"/>
                <a:ea typeface="楷体_GB2312" pitchFamily="49" charset="-122"/>
              </a:rPr>
              <a:t>1.</a:t>
            </a:r>
          </a:p>
        </p:txBody>
      </p:sp>
      <p:sp>
        <p:nvSpPr>
          <p:cNvPr id="83051" name="Rectangle 470">
            <a:extLst>
              <a:ext uri="{FF2B5EF4-FFF2-40B4-BE49-F238E27FC236}">
                <a16:creationId xmlns:a16="http://schemas.microsoft.com/office/drawing/2014/main" id="{8F10873A-41B0-4D71-B6DF-2E1D150CB545}"/>
              </a:ext>
            </a:extLst>
          </p:cNvPr>
          <p:cNvSpPr>
            <a:spLocks noChangeArrowheads="1"/>
          </p:cNvSpPr>
          <p:nvPr/>
        </p:nvSpPr>
        <p:spPr bwMode="auto">
          <a:xfrm>
            <a:off x="3708400" y="1557338"/>
            <a:ext cx="792163" cy="1871662"/>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3052" name="Rectangle 471">
            <a:extLst>
              <a:ext uri="{FF2B5EF4-FFF2-40B4-BE49-F238E27FC236}">
                <a16:creationId xmlns:a16="http://schemas.microsoft.com/office/drawing/2014/main" id="{674D6E4B-CF5B-421A-8064-3FCBE8150973}"/>
              </a:ext>
            </a:extLst>
          </p:cNvPr>
          <p:cNvSpPr>
            <a:spLocks noChangeArrowheads="1"/>
          </p:cNvSpPr>
          <p:nvPr/>
        </p:nvSpPr>
        <p:spPr bwMode="auto">
          <a:xfrm>
            <a:off x="3779838" y="4076700"/>
            <a:ext cx="792162" cy="18002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3053" name="Rectangle 472">
            <a:extLst>
              <a:ext uri="{FF2B5EF4-FFF2-40B4-BE49-F238E27FC236}">
                <a16:creationId xmlns:a16="http://schemas.microsoft.com/office/drawing/2014/main" id="{F0661C75-BFEE-4C1A-8B6F-6001EF65A19F}"/>
              </a:ext>
            </a:extLst>
          </p:cNvPr>
          <p:cNvSpPr>
            <a:spLocks noChangeArrowheads="1"/>
          </p:cNvSpPr>
          <p:nvPr/>
        </p:nvSpPr>
        <p:spPr bwMode="auto">
          <a:xfrm>
            <a:off x="5508625" y="1628775"/>
            <a:ext cx="431800" cy="1800225"/>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3054" name="Rectangle 473">
            <a:extLst>
              <a:ext uri="{FF2B5EF4-FFF2-40B4-BE49-F238E27FC236}">
                <a16:creationId xmlns:a16="http://schemas.microsoft.com/office/drawing/2014/main" id="{3B2649CE-79B9-45D7-8062-E78E4769565F}"/>
              </a:ext>
            </a:extLst>
          </p:cNvPr>
          <p:cNvSpPr>
            <a:spLocks noChangeArrowheads="1"/>
          </p:cNvSpPr>
          <p:nvPr/>
        </p:nvSpPr>
        <p:spPr bwMode="auto">
          <a:xfrm>
            <a:off x="5508625" y="4076700"/>
            <a:ext cx="431800" cy="1800225"/>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 name="TextBox 2">
            <a:extLst>
              <a:ext uri="{FF2B5EF4-FFF2-40B4-BE49-F238E27FC236}">
                <a16:creationId xmlns:a16="http://schemas.microsoft.com/office/drawing/2014/main" id="{D103028E-88D5-459E-9F3C-7127857FA02D}"/>
              </a:ext>
            </a:extLst>
          </p:cNvPr>
          <p:cNvSpPr txBox="1">
            <a:spLocks noChangeArrowheads="1"/>
          </p:cNvSpPr>
          <p:nvPr/>
        </p:nvSpPr>
        <p:spPr bwMode="auto">
          <a:xfrm>
            <a:off x="134328" y="136266"/>
            <a:ext cx="867645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dirty="0">
                <a:latin typeface="黑体" panose="02010609060101010101" pitchFamily="49" charset="-122"/>
                <a:ea typeface="黑体" panose="02010609060101010101" pitchFamily="49" charset="-122"/>
              </a:rPr>
              <a:t>3.5.3</a:t>
            </a:r>
            <a:r>
              <a:rPr lang="zh-CN" altLang="en-US" sz="3200" dirty="0">
                <a:latin typeface="黑体" panose="02010609060101010101" pitchFamily="49" charset="-122"/>
                <a:ea typeface="黑体" panose="02010609060101010101" pitchFamily="49" charset="-122"/>
              </a:rPr>
              <a:t>不同的空间权重矩阵对空间自相关的影响</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0" name="Picture 6" descr="16">
            <a:extLst>
              <a:ext uri="{FF2B5EF4-FFF2-40B4-BE49-F238E27FC236}">
                <a16:creationId xmlns:a16="http://schemas.microsoft.com/office/drawing/2014/main" id="{CEAF0314-3A74-4640-94A4-359619ACA4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8363" y="0"/>
            <a:ext cx="655637"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2" name="Rectangle 9">
            <a:extLst>
              <a:ext uri="{FF2B5EF4-FFF2-40B4-BE49-F238E27FC236}">
                <a16:creationId xmlns:a16="http://schemas.microsoft.com/office/drawing/2014/main" id="{EE59DB91-01BF-4770-A829-8BD35CE7D190}"/>
              </a:ext>
            </a:extLst>
          </p:cNvPr>
          <p:cNvSpPr>
            <a:spLocks noChangeArrowheads="1"/>
          </p:cNvSpPr>
          <p:nvPr/>
        </p:nvSpPr>
        <p:spPr bwMode="auto">
          <a:xfrm>
            <a:off x="755650" y="692150"/>
            <a:ext cx="6553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latinLnBrk="1" hangingPunct="1"/>
            <a:r>
              <a:rPr lang="zh-CN" altLang="en-US" sz="1600" dirty="0">
                <a:solidFill>
                  <a:srgbClr val="FF3300"/>
                </a:solidFill>
                <a:latin typeface="楷体_GB2312" pitchFamily="49" charset="-122"/>
                <a:ea typeface="楷体_GB2312" pitchFamily="49" charset="-122"/>
              </a:rPr>
              <a:t>正态分布误差对全局自相关指数影响模拟分析</a:t>
            </a:r>
            <a:r>
              <a:rPr lang="zh-CN" altLang="en-US" dirty="0"/>
              <a:t> </a:t>
            </a:r>
          </a:p>
        </p:txBody>
      </p:sp>
      <p:sp>
        <p:nvSpPr>
          <p:cNvPr id="83973" name="Text Box 250">
            <a:extLst>
              <a:ext uri="{FF2B5EF4-FFF2-40B4-BE49-F238E27FC236}">
                <a16:creationId xmlns:a16="http://schemas.microsoft.com/office/drawing/2014/main" id="{A44FEAEF-B532-4951-BFCA-C17F5C0EDFCF}"/>
              </a:ext>
            </a:extLst>
          </p:cNvPr>
          <p:cNvSpPr txBox="1">
            <a:spLocks noChangeArrowheads="1"/>
          </p:cNvSpPr>
          <p:nvPr/>
        </p:nvSpPr>
        <p:spPr bwMode="auto">
          <a:xfrm>
            <a:off x="900113" y="981075"/>
            <a:ext cx="6408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a:p>
        </p:txBody>
      </p:sp>
      <p:sp>
        <p:nvSpPr>
          <p:cNvPr id="83974" name="Text Box 251">
            <a:extLst>
              <a:ext uri="{FF2B5EF4-FFF2-40B4-BE49-F238E27FC236}">
                <a16:creationId xmlns:a16="http://schemas.microsoft.com/office/drawing/2014/main" id="{F957B41E-9561-4A19-A1B7-F604E12DFB27}"/>
              </a:ext>
            </a:extLst>
          </p:cNvPr>
          <p:cNvSpPr txBox="1">
            <a:spLocks noChangeArrowheads="1"/>
          </p:cNvSpPr>
          <p:nvPr/>
        </p:nvSpPr>
        <p:spPr bwMode="auto">
          <a:xfrm>
            <a:off x="684213" y="1125538"/>
            <a:ext cx="7848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dirty="0">
                <a:latin typeface="楷体_GB2312" pitchFamily="49" charset="-122"/>
                <a:ea typeface="楷体_GB2312" pitchFamily="49" charset="-122"/>
              </a:rPr>
              <a:t>如何证明数据误差对全局</a:t>
            </a:r>
            <a:r>
              <a:rPr lang="en-US" altLang="zh-CN" sz="1600" dirty="0">
                <a:latin typeface="楷体_GB2312" pitchFamily="49" charset="-122"/>
                <a:ea typeface="楷体_GB2312" pitchFamily="49" charset="-122"/>
              </a:rPr>
              <a:t>Moran</a:t>
            </a:r>
            <a:r>
              <a:rPr lang="en-US" altLang="zh-CN" sz="1600" dirty="0">
                <a:latin typeface="宋体" panose="02010600030101010101" pitchFamily="2" charset="-122"/>
                <a:ea typeface="楷体_GB2312" pitchFamily="49" charset="-122"/>
              </a:rPr>
              <a:t>’</a:t>
            </a:r>
            <a:r>
              <a:rPr lang="en-US" altLang="zh-CN" sz="1600" dirty="0">
                <a:latin typeface="楷体_GB2312" pitchFamily="49" charset="-122"/>
                <a:ea typeface="楷体_GB2312" pitchFamily="49" charset="-122"/>
              </a:rPr>
              <a:t>s I</a:t>
            </a:r>
            <a:r>
              <a:rPr lang="zh-CN" altLang="en-US" sz="1600" dirty="0">
                <a:latin typeface="楷体_GB2312" pitchFamily="49" charset="-122"/>
                <a:ea typeface="楷体_GB2312" pitchFamily="49" charset="-122"/>
              </a:rPr>
              <a:t>指数产生的影响呢？可以基于以下假设：</a:t>
            </a:r>
          </a:p>
        </p:txBody>
      </p:sp>
      <p:sp>
        <p:nvSpPr>
          <p:cNvPr id="83975" name="Rectangle 252">
            <a:extLst>
              <a:ext uri="{FF2B5EF4-FFF2-40B4-BE49-F238E27FC236}">
                <a16:creationId xmlns:a16="http://schemas.microsoft.com/office/drawing/2014/main" id="{E5540F9C-71EF-4D19-ABCC-ED3D0808638C}"/>
              </a:ext>
            </a:extLst>
          </p:cNvPr>
          <p:cNvSpPr>
            <a:spLocks noChangeArrowheads="1"/>
          </p:cNvSpPr>
          <p:nvPr/>
        </p:nvSpPr>
        <p:spPr bwMode="auto">
          <a:xfrm>
            <a:off x="2051050" y="1951038"/>
            <a:ext cx="692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a:t>Moran</a:t>
            </a:r>
            <a:endParaRPr lang="zh-CN" altLang="en-US" sz="1600"/>
          </a:p>
        </p:txBody>
      </p:sp>
      <p:sp>
        <p:nvSpPr>
          <p:cNvPr id="83976" name="Line 253">
            <a:extLst>
              <a:ext uri="{FF2B5EF4-FFF2-40B4-BE49-F238E27FC236}">
                <a16:creationId xmlns:a16="http://schemas.microsoft.com/office/drawing/2014/main" id="{2831ECFB-9BA9-4BFA-A017-979EB42EB181}"/>
              </a:ext>
            </a:extLst>
          </p:cNvPr>
          <p:cNvSpPr>
            <a:spLocks noChangeShapeType="1"/>
          </p:cNvSpPr>
          <p:nvPr/>
        </p:nvSpPr>
        <p:spPr bwMode="auto">
          <a:xfrm flipV="1">
            <a:off x="2916238" y="1773238"/>
            <a:ext cx="0" cy="863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977" name="Freeform 255">
            <a:extLst>
              <a:ext uri="{FF2B5EF4-FFF2-40B4-BE49-F238E27FC236}">
                <a16:creationId xmlns:a16="http://schemas.microsoft.com/office/drawing/2014/main" id="{4441D8F4-8D46-4C0A-9872-2994A73ED2CA}"/>
              </a:ext>
            </a:extLst>
          </p:cNvPr>
          <p:cNvSpPr>
            <a:spLocks/>
          </p:cNvSpPr>
          <p:nvPr/>
        </p:nvSpPr>
        <p:spPr bwMode="auto">
          <a:xfrm>
            <a:off x="971550" y="1773238"/>
            <a:ext cx="863600" cy="863600"/>
          </a:xfrm>
          <a:custGeom>
            <a:avLst/>
            <a:gdLst>
              <a:gd name="T0" fmla="*/ 342741250 w 544"/>
              <a:gd name="T1" fmla="*/ 0 h 544"/>
              <a:gd name="T2" fmla="*/ 1028223750 w 544"/>
              <a:gd name="T3" fmla="*/ 113407825 h 544"/>
              <a:gd name="T4" fmla="*/ 1144150938 w 544"/>
              <a:gd name="T5" fmla="*/ 226814063 h 544"/>
              <a:gd name="T6" fmla="*/ 1370965000 w 544"/>
              <a:gd name="T7" fmla="*/ 798890325 h 544"/>
              <a:gd name="T8" fmla="*/ 1028223750 w 544"/>
              <a:gd name="T9" fmla="*/ 1370965000 h 544"/>
              <a:gd name="T10" fmla="*/ 458668438 w 544"/>
              <a:gd name="T11" fmla="*/ 914817513 h 544"/>
              <a:gd name="T12" fmla="*/ 0 w 544"/>
              <a:gd name="T13" fmla="*/ 342741250 h 544"/>
              <a:gd name="T14" fmla="*/ 342741250 w 544"/>
              <a:gd name="T15" fmla="*/ 0 h 544"/>
              <a:gd name="T16" fmla="*/ 0 60000 65536"/>
              <a:gd name="T17" fmla="*/ 0 60000 65536"/>
              <a:gd name="T18" fmla="*/ 0 60000 65536"/>
              <a:gd name="T19" fmla="*/ 0 60000 65536"/>
              <a:gd name="T20" fmla="*/ 0 60000 65536"/>
              <a:gd name="T21" fmla="*/ 0 60000 65536"/>
              <a:gd name="T22" fmla="*/ 0 60000 65536"/>
              <a:gd name="T23" fmla="*/ 0 60000 65536"/>
              <a:gd name="T24" fmla="*/ 0 w 544"/>
              <a:gd name="T25" fmla="*/ 0 h 544"/>
              <a:gd name="T26" fmla="*/ 544 w 544"/>
              <a:gd name="T27" fmla="*/ 544 h 5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44" h="544">
                <a:moveTo>
                  <a:pt x="136" y="0"/>
                </a:moveTo>
                <a:lnTo>
                  <a:pt x="408" y="45"/>
                </a:lnTo>
                <a:lnTo>
                  <a:pt x="454" y="90"/>
                </a:lnTo>
                <a:lnTo>
                  <a:pt x="544" y="317"/>
                </a:lnTo>
                <a:lnTo>
                  <a:pt x="408" y="544"/>
                </a:lnTo>
                <a:lnTo>
                  <a:pt x="182" y="363"/>
                </a:lnTo>
                <a:lnTo>
                  <a:pt x="0" y="136"/>
                </a:lnTo>
                <a:lnTo>
                  <a:pt x="136"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78" name="Freeform 257">
            <a:extLst>
              <a:ext uri="{FF2B5EF4-FFF2-40B4-BE49-F238E27FC236}">
                <a16:creationId xmlns:a16="http://schemas.microsoft.com/office/drawing/2014/main" id="{0B6AA7A0-B881-4052-8594-83C901C3143E}"/>
              </a:ext>
            </a:extLst>
          </p:cNvPr>
          <p:cNvSpPr>
            <a:spLocks/>
          </p:cNvSpPr>
          <p:nvPr/>
        </p:nvSpPr>
        <p:spPr bwMode="auto">
          <a:xfrm>
            <a:off x="4067175" y="1773238"/>
            <a:ext cx="863600" cy="863600"/>
          </a:xfrm>
          <a:custGeom>
            <a:avLst/>
            <a:gdLst>
              <a:gd name="T0" fmla="*/ 342741250 w 544"/>
              <a:gd name="T1" fmla="*/ 0 h 544"/>
              <a:gd name="T2" fmla="*/ 1028223750 w 544"/>
              <a:gd name="T3" fmla="*/ 113407825 h 544"/>
              <a:gd name="T4" fmla="*/ 1144150938 w 544"/>
              <a:gd name="T5" fmla="*/ 226814063 h 544"/>
              <a:gd name="T6" fmla="*/ 1370965000 w 544"/>
              <a:gd name="T7" fmla="*/ 798890325 h 544"/>
              <a:gd name="T8" fmla="*/ 1028223750 w 544"/>
              <a:gd name="T9" fmla="*/ 1370965000 h 544"/>
              <a:gd name="T10" fmla="*/ 458668438 w 544"/>
              <a:gd name="T11" fmla="*/ 914817513 h 544"/>
              <a:gd name="T12" fmla="*/ 0 w 544"/>
              <a:gd name="T13" fmla="*/ 342741250 h 544"/>
              <a:gd name="T14" fmla="*/ 342741250 w 544"/>
              <a:gd name="T15" fmla="*/ 0 h 544"/>
              <a:gd name="T16" fmla="*/ 0 60000 65536"/>
              <a:gd name="T17" fmla="*/ 0 60000 65536"/>
              <a:gd name="T18" fmla="*/ 0 60000 65536"/>
              <a:gd name="T19" fmla="*/ 0 60000 65536"/>
              <a:gd name="T20" fmla="*/ 0 60000 65536"/>
              <a:gd name="T21" fmla="*/ 0 60000 65536"/>
              <a:gd name="T22" fmla="*/ 0 60000 65536"/>
              <a:gd name="T23" fmla="*/ 0 60000 65536"/>
              <a:gd name="T24" fmla="*/ 0 w 544"/>
              <a:gd name="T25" fmla="*/ 0 h 544"/>
              <a:gd name="T26" fmla="*/ 544 w 544"/>
              <a:gd name="T27" fmla="*/ 544 h 5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44" h="544">
                <a:moveTo>
                  <a:pt x="136" y="0"/>
                </a:moveTo>
                <a:lnTo>
                  <a:pt x="408" y="45"/>
                </a:lnTo>
                <a:lnTo>
                  <a:pt x="454" y="90"/>
                </a:lnTo>
                <a:lnTo>
                  <a:pt x="544" y="317"/>
                </a:lnTo>
                <a:lnTo>
                  <a:pt x="408" y="544"/>
                </a:lnTo>
                <a:lnTo>
                  <a:pt x="182" y="363"/>
                </a:lnTo>
                <a:lnTo>
                  <a:pt x="0" y="136"/>
                </a:lnTo>
                <a:lnTo>
                  <a:pt x="136"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79" name="Text Box 258">
            <a:extLst>
              <a:ext uri="{FF2B5EF4-FFF2-40B4-BE49-F238E27FC236}">
                <a16:creationId xmlns:a16="http://schemas.microsoft.com/office/drawing/2014/main" id="{40124C4E-9C3A-4E12-9094-A584892D7BFF}"/>
              </a:ext>
            </a:extLst>
          </p:cNvPr>
          <p:cNvSpPr txBox="1">
            <a:spLocks noChangeArrowheads="1"/>
          </p:cNvSpPr>
          <p:nvPr/>
        </p:nvSpPr>
        <p:spPr bwMode="auto">
          <a:xfrm>
            <a:off x="5076825" y="2060575"/>
            <a:ext cx="574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a:t>
            </a:r>
          </a:p>
        </p:txBody>
      </p:sp>
      <p:sp>
        <p:nvSpPr>
          <p:cNvPr id="83980" name="Freeform 259">
            <a:extLst>
              <a:ext uri="{FF2B5EF4-FFF2-40B4-BE49-F238E27FC236}">
                <a16:creationId xmlns:a16="http://schemas.microsoft.com/office/drawing/2014/main" id="{90D0EDDC-3931-47D1-A566-C00797EF75C8}"/>
              </a:ext>
            </a:extLst>
          </p:cNvPr>
          <p:cNvSpPr>
            <a:spLocks/>
          </p:cNvSpPr>
          <p:nvPr/>
        </p:nvSpPr>
        <p:spPr bwMode="auto">
          <a:xfrm>
            <a:off x="5508625" y="1773238"/>
            <a:ext cx="863600" cy="863600"/>
          </a:xfrm>
          <a:custGeom>
            <a:avLst/>
            <a:gdLst>
              <a:gd name="T0" fmla="*/ 342741250 w 544"/>
              <a:gd name="T1" fmla="*/ 0 h 544"/>
              <a:gd name="T2" fmla="*/ 1028223750 w 544"/>
              <a:gd name="T3" fmla="*/ 113407825 h 544"/>
              <a:gd name="T4" fmla="*/ 1144150938 w 544"/>
              <a:gd name="T5" fmla="*/ 226814063 h 544"/>
              <a:gd name="T6" fmla="*/ 1370965000 w 544"/>
              <a:gd name="T7" fmla="*/ 798890325 h 544"/>
              <a:gd name="T8" fmla="*/ 1028223750 w 544"/>
              <a:gd name="T9" fmla="*/ 1370965000 h 544"/>
              <a:gd name="T10" fmla="*/ 458668438 w 544"/>
              <a:gd name="T11" fmla="*/ 914817513 h 544"/>
              <a:gd name="T12" fmla="*/ 0 w 544"/>
              <a:gd name="T13" fmla="*/ 342741250 h 544"/>
              <a:gd name="T14" fmla="*/ 342741250 w 544"/>
              <a:gd name="T15" fmla="*/ 0 h 544"/>
              <a:gd name="T16" fmla="*/ 0 60000 65536"/>
              <a:gd name="T17" fmla="*/ 0 60000 65536"/>
              <a:gd name="T18" fmla="*/ 0 60000 65536"/>
              <a:gd name="T19" fmla="*/ 0 60000 65536"/>
              <a:gd name="T20" fmla="*/ 0 60000 65536"/>
              <a:gd name="T21" fmla="*/ 0 60000 65536"/>
              <a:gd name="T22" fmla="*/ 0 60000 65536"/>
              <a:gd name="T23" fmla="*/ 0 60000 65536"/>
              <a:gd name="T24" fmla="*/ 0 w 544"/>
              <a:gd name="T25" fmla="*/ 0 h 544"/>
              <a:gd name="T26" fmla="*/ 544 w 544"/>
              <a:gd name="T27" fmla="*/ 544 h 5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44" h="544">
                <a:moveTo>
                  <a:pt x="136" y="0"/>
                </a:moveTo>
                <a:lnTo>
                  <a:pt x="408" y="45"/>
                </a:lnTo>
                <a:lnTo>
                  <a:pt x="454" y="90"/>
                </a:lnTo>
                <a:lnTo>
                  <a:pt x="544" y="317"/>
                </a:lnTo>
                <a:lnTo>
                  <a:pt x="408" y="544"/>
                </a:lnTo>
                <a:lnTo>
                  <a:pt x="182" y="363"/>
                </a:lnTo>
                <a:lnTo>
                  <a:pt x="0" y="136"/>
                </a:lnTo>
                <a:lnTo>
                  <a:pt x="136"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81" name="Rectangle 260">
            <a:extLst>
              <a:ext uri="{FF2B5EF4-FFF2-40B4-BE49-F238E27FC236}">
                <a16:creationId xmlns:a16="http://schemas.microsoft.com/office/drawing/2014/main" id="{CA325733-6176-4D84-947A-708DCA04B60D}"/>
              </a:ext>
            </a:extLst>
          </p:cNvPr>
          <p:cNvSpPr>
            <a:spLocks noChangeArrowheads="1"/>
          </p:cNvSpPr>
          <p:nvPr/>
        </p:nvSpPr>
        <p:spPr bwMode="auto">
          <a:xfrm>
            <a:off x="6804025" y="1989138"/>
            <a:ext cx="692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a:t>Moran</a:t>
            </a:r>
            <a:endParaRPr lang="zh-CN" altLang="en-US" sz="1600"/>
          </a:p>
        </p:txBody>
      </p:sp>
      <p:sp>
        <p:nvSpPr>
          <p:cNvPr id="83982" name="Line 261">
            <a:extLst>
              <a:ext uri="{FF2B5EF4-FFF2-40B4-BE49-F238E27FC236}">
                <a16:creationId xmlns:a16="http://schemas.microsoft.com/office/drawing/2014/main" id="{ACD74068-2B5F-4D3C-9D62-42FC7B6EC5D8}"/>
              </a:ext>
            </a:extLst>
          </p:cNvPr>
          <p:cNvSpPr>
            <a:spLocks noChangeShapeType="1"/>
          </p:cNvSpPr>
          <p:nvPr/>
        </p:nvSpPr>
        <p:spPr bwMode="auto">
          <a:xfrm flipH="1" flipV="1">
            <a:off x="7740650" y="2205038"/>
            <a:ext cx="9525" cy="469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983" name="Text Box 262">
            <a:extLst>
              <a:ext uri="{FF2B5EF4-FFF2-40B4-BE49-F238E27FC236}">
                <a16:creationId xmlns:a16="http://schemas.microsoft.com/office/drawing/2014/main" id="{24254C9F-1389-4306-A444-DF6F0CBA2688}"/>
              </a:ext>
            </a:extLst>
          </p:cNvPr>
          <p:cNvSpPr txBox="1">
            <a:spLocks noChangeArrowheads="1"/>
          </p:cNvSpPr>
          <p:nvPr/>
        </p:nvSpPr>
        <p:spPr bwMode="auto">
          <a:xfrm>
            <a:off x="1187450" y="1989138"/>
            <a:ext cx="576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高</a:t>
            </a:r>
          </a:p>
        </p:txBody>
      </p:sp>
      <p:sp>
        <p:nvSpPr>
          <p:cNvPr id="83984" name="Text Box 263">
            <a:extLst>
              <a:ext uri="{FF2B5EF4-FFF2-40B4-BE49-F238E27FC236}">
                <a16:creationId xmlns:a16="http://schemas.microsoft.com/office/drawing/2014/main" id="{714E9D91-D74C-4B40-94E0-CFE6722ED87E}"/>
              </a:ext>
            </a:extLst>
          </p:cNvPr>
          <p:cNvSpPr txBox="1">
            <a:spLocks noChangeArrowheads="1"/>
          </p:cNvSpPr>
          <p:nvPr/>
        </p:nvSpPr>
        <p:spPr bwMode="auto">
          <a:xfrm>
            <a:off x="4140200" y="2060575"/>
            <a:ext cx="7921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高</a:t>
            </a:r>
          </a:p>
        </p:txBody>
      </p:sp>
      <p:sp>
        <p:nvSpPr>
          <p:cNvPr id="83985" name="Text Box 264">
            <a:extLst>
              <a:ext uri="{FF2B5EF4-FFF2-40B4-BE49-F238E27FC236}">
                <a16:creationId xmlns:a16="http://schemas.microsoft.com/office/drawing/2014/main" id="{2213DB59-4890-4E14-BD36-203B77692788}"/>
              </a:ext>
            </a:extLst>
          </p:cNvPr>
          <p:cNvSpPr txBox="1">
            <a:spLocks noChangeArrowheads="1"/>
          </p:cNvSpPr>
          <p:nvPr/>
        </p:nvSpPr>
        <p:spPr bwMode="auto">
          <a:xfrm>
            <a:off x="5795963" y="1844675"/>
            <a:ext cx="431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正态</a:t>
            </a:r>
          </a:p>
        </p:txBody>
      </p:sp>
      <p:sp>
        <p:nvSpPr>
          <p:cNvPr id="83986" name="Line 266">
            <a:extLst>
              <a:ext uri="{FF2B5EF4-FFF2-40B4-BE49-F238E27FC236}">
                <a16:creationId xmlns:a16="http://schemas.microsoft.com/office/drawing/2014/main" id="{E8827182-C0FF-45B9-B23B-98FBE78775C8}"/>
              </a:ext>
            </a:extLst>
          </p:cNvPr>
          <p:cNvSpPr>
            <a:spLocks noChangeShapeType="1"/>
          </p:cNvSpPr>
          <p:nvPr/>
        </p:nvSpPr>
        <p:spPr bwMode="auto">
          <a:xfrm>
            <a:off x="3779838" y="1557338"/>
            <a:ext cx="71437" cy="48958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987" name="Rectangle 267">
            <a:extLst>
              <a:ext uri="{FF2B5EF4-FFF2-40B4-BE49-F238E27FC236}">
                <a16:creationId xmlns:a16="http://schemas.microsoft.com/office/drawing/2014/main" id="{FCB08245-7F4A-4C0E-B6CE-5901E7D81F78}"/>
              </a:ext>
            </a:extLst>
          </p:cNvPr>
          <p:cNvSpPr>
            <a:spLocks noChangeArrowheads="1"/>
          </p:cNvSpPr>
          <p:nvPr/>
        </p:nvSpPr>
        <p:spPr bwMode="auto">
          <a:xfrm>
            <a:off x="2051050" y="3284538"/>
            <a:ext cx="692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a:t>Moran</a:t>
            </a:r>
            <a:endParaRPr lang="zh-CN" altLang="en-US" sz="1600"/>
          </a:p>
        </p:txBody>
      </p:sp>
      <p:sp>
        <p:nvSpPr>
          <p:cNvPr id="83988" name="Line 268">
            <a:extLst>
              <a:ext uri="{FF2B5EF4-FFF2-40B4-BE49-F238E27FC236}">
                <a16:creationId xmlns:a16="http://schemas.microsoft.com/office/drawing/2014/main" id="{8589DB44-1F23-4789-8913-E70AD67E2D59}"/>
              </a:ext>
            </a:extLst>
          </p:cNvPr>
          <p:cNvSpPr>
            <a:spLocks noChangeShapeType="1"/>
          </p:cNvSpPr>
          <p:nvPr/>
        </p:nvSpPr>
        <p:spPr bwMode="auto">
          <a:xfrm flipH="1" flipV="1">
            <a:off x="2916238" y="3500438"/>
            <a:ext cx="9525" cy="469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989" name="Freeform 269">
            <a:extLst>
              <a:ext uri="{FF2B5EF4-FFF2-40B4-BE49-F238E27FC236}">
                <a16:creationId xmlns:a16="http://schemas.microsoft.com/office/drawing/2014/main" id="{7B0C03CF-9ACE-4846-B4BC-46D761448277}"/>
              </a:ext>
            </a:extLst>
          </p:cNvPr>
          <p:cNvSpPr>
            <a:spLocks/>
          </p:cNvSpPr>
          <p:nvPr/>
        </p:nvSpPr>
        <p:spPr bwMode="auto">
          <a:xfrm>
            <a:off x="971550" y="3141663"/>
            <a:ext cx="863600" cy="863600"/>
          </a:xfrm>
          <a:custGeom>
            <a:avLst/>
            <a:gdLst>
              <a:gd name="T0" fmla="*/ 342741250 w 544"/>
              <a:gd name="T1" fmla="*/ 0 h 544"/>
              <a:gd name="T2" fmla="*/ 1028223750 w 544"/>
              <a:gd name="T3" fmla="*/ 113407825 h 544"/>
              <a:gd name="T4" fmla="*/ 1144150938 w 544"/>
              <a:gd name="T5" fmla="*/ 226814063 h 544"/>
              <a:gd name="T6" fmla="*/ 1370965000 w 544"/>
              <a:gd name="T7" fmla="*/ 798890325 h 544"/>
              <a:gd name="T8" fmla="*/ 1028223750 w 544"/>
              <a:gd name="T9" fmla="*/ 1370965000 h 544"/>
              <a:gd name="T10" fmla="*/ 458668438 w 544"/>
              <a:gd name="T11" fmla="*/ 914817513 h 544"/>
              <a:gd name="T12" fmla="*/ 0 w 544"/>
              <a:gd name="T13" fmla="*/ 342741250 h 544"/>
              <a:gd name="T14" fmla="*/ 342741250 w 544"/>
              <a:gd name="T15" fmla="*/ 0 h 544"/>
              <a:gd name="T16" fmla="*/ 0 60000 65536"/>
              <a:gd name="T17" fmla="*/ 0 60000 65536"/>
              <a:gd name="T18" fmla="*/ 0 60000 65536"/>
              <a:gd name="T19" fmla="*/ 0 60000 65536"/>
              <a:gd name="T20" fmla="*/ 0 60000 65536"/>
              <a:gd name="T21" fmla="*/ 0 60000 65536"/>
              <a:gd name="T22" fmla="*/ 0 60000 65536"/>
              <a:gd name="T23" fmla="*/ 0 60000 65536"/>
              <a:gd name="T24" fmla="*/ 0 w 544"/>
              <a:gd name="T25" fmla="*/ 0 h 544"/>
              <a:gd name="T26" fmla="*/ 544 w 544"/>
              <a:gd name="T27" fmla="*/ 544 h 5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44" h="544">
                <a:moveTo>
                  <a:pt x="136" y="0"/>
                </a:moveTo>
                <a:lnTo>
                  <a:pt x="408" y="45"/>
                </a:lnTo>
                <a:lnTo>
                  <a:pt x="454" y="90"/>
                </a:lnTo>
                <a:lnTo>
                  <a:pt x="544" y="317"/>
                </a:lnTo>
                <a:lnTo>
                  <a:pt x="408" y="544"/>
                </a:lnTo>
                <a:lnTo>
                  <a:pt x="182" y="363"/>
                </a:lnTo>
                <a:lnTo>
                  <a:pt x="0" y="136"/>
                </a:lnTo>
                <a:lnTo>
                  <a:pt x="136"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90" name="Text Box 270">
            <a:extLst>
              <a:ext uri="{FF2B5EF4-FFF2-40B4-BE49-F238E27FC236}">
                <a16:creationId xmlns:a16="http://schemas.microsoft.com/office/drawing/2014/main" id="{835CF7D2-938E-45D0-9440-48A86ADD9C78}"/>
              </a:ext>
            </a:extLst>
          </p:cNvPr>
          <p:cNvSpPr txBox="1">
            <a:spLocks noChangeArrowheads="1"/>
          </p:cNvSpPr>
          <p:nvPr/>
        </p:nvSpPr>
        <p:spPr bwMode="auto">
          <a:xfrm>
            <a:off x="1403350" y="3357563"/>
            <a:ext cx="576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低</a:t>
            </a:r>
          </a:p>
        </p:txBody>
      </p:sp>
      <p:sp>
        <p:nvSpPr>
          <p:cNvPr id="83991" name="Freeform 271">
            <a:extLst>
              <a:ext uri="{FF2B5EF4-FFF2-40B4-BE49-F238E27FC236}">
                <a16:creationId xmlns:a16="http://schemas.microsoft.com/office/drawing/2014/main" id="{188A7E06-2870-4C4C-B884-CADB54BB22BA}"/>
              </a:ext>
            </a:extLst>
          </p:cNvPr>
          <p:cNvSpPr>
            <a:spLocks/>
          </p:cNvSpPr>
          <p:nvPr/>
        </p:nvSpPr>
        <p:spPr bwMode="auto">
          <a:xfrm>
            <a:off x="4067175" y="3141663"/>
            <a:ext cx="863600" cy="863600"/>
          </a:xfrm>
          <a:custGeom>
            <a:avLst/>
            <a:gdLst>
              <a:gd name="T0" fmla="*/ 342741250 w 544"/>
              <a:gd name="T1" fmla="*/ 0 h 544"/>
              <a:gd name="T2" fmla="*/ 1028223750 w 544"/>
              <a:gd name="T3" fmla="*/ 113407825 h 544"/>
              <a:gd name="T4" fmla="*/ 1144150938 w 544"/>
              <a:gd name="T5" fmla="*/ 226814063 h 544"/>
              <a:gd name="T6" fmla="*/ 1370965000 w 544"/>
              <a:gd name="T7" fmla="*/ 798890325 h 544"/>
              <a:gd name="T8" fmla="*/ 1028223750 w 544"/>
              <a:gd name="T9" fmla="*/ 1370965000 h 544"/>
              <a:gd name="T10" fmla="*/ 458668438 w 544"/>
              <a:gd name="T11" fmla="*/ 914817513 h 544"/>
              <a:gd name="T12" fmla="*/ 0 w 544"/>
              <a:gd name="T13" fmla="*/ 342741250 h 544"/>
              <a:gd name="T14" fmla="*/ 342741250 w 544"/>
              <a:gd name="T15" fmla="*/ 0 h 544"/>
              <a:gd name="T16" fmla="*/ 0 60000 65536"/>
              <a:gd name="T17" fmla="*/ 0 60000 65536"/>
              <a:gd name="T18" fmla="*/ 0 60000 65536"/>
              <a:gd name="T19" fmla="*/ 0 60000 65536"/>
              <a:gd name="T20" fmla="*/ 0 60000 65536"/>
              <a:gd name="T21" fmla="*/ 0 60000 65536"/>
              <a:gd name="T22" fmla="*/ 0 60000 65536"/>
              <a:gd name="T23" fmla="*/ 0 60000 65536"/>
              <a:gd name="T24" fmla="*/ 0 w 544"/>
              <a:gd name="T25" fmla="*/ 0 h 544"/>
              <a:gd name="T26" fmla="*/ 544 w 544"/>
              <a:gd name="T27" fmla="*/ 544 h 5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44" h="544">
                <a:moveTo>
                  <a:pt x="136" y="0"/>
                </a:moveTo>
                <a:lnTo>
                  <a:pt x="408" y="45"/>
                </a:lnTo>
                <a:lnTo>
                  <a:pt x="454" y="90"/>
                </a:lnTo>
                <a:lnTo>
                  <a:pt x="544" y="317"/>
                </a:lnTo>
                <a:lnTo>
                  <a:pt x="408" y="544"/>
                </a:lnTo>
                <a:lnTo>
                  <a:pt x="182" y="363"/>
                </a:lnTo>
                <a:lnTo>
                  <a:pt x="0" y="136"/>
                </a:lnTo>
                <a:lnTo>
                  <a:pt x="136"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92" name="Text Box 272">
            <a:extLst>
              <a:ext uri="{FF2B5EF4-FFF2-40B4-BE49-F238E27FC236}">
                <a16:creationId xmlns:a16="http://schemas.microsoft.com/office/drawing/2014/main" id="{9CBECD13-9475-4596-8C58-BBC7DED42ED9}"/>
              </a:ext>
            </a:extLst>
          </p:cNvPr>
          <p:cNvSpPr txBox="1">
            <a:spLocks noChangeArrowheads="1"/>
          </p:cNvSpPr>
          <p:nvPr/>
        </p:nvSpPr>
        <p:spPr bwMode="auto">
          <a:xfrm>
            <a:off x="5148263" y="3429000"/>
            <a:ext cx="574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a:t>
            </a:r>
          </a:p>
        </p:txBody>
      </p:sp>
      <p:sp>
        <p:nvSpPr>
          <p:cNvPr id="83993" name="Freeform 273">
            <a:extLst>
              <a:ext uri="{FF2B5EF4-FFF2-40B4-BE49-F238E27FC236}">
                <a16:creationId xmlns:a16="http://schemas.microsoft.com/office/drawing/2014/main" id="{F19A7AFB-A131-4FC2-A889-2C3E97EF233D}"/>
              </a:ext>
            </a:extLst>
          </p:cNvPr>
          <p:cNvSpPr>
            <a:spLocks/>
          </p:cNvSpPr>
          <p:nvPr/>
        </p:nvSpPr>
        <p:spPr bwMode="auto">
          <a:xfrm>
            <a:off x="5508625" y="3141663"/>
            <a:ext cx="863600" cy="863600"/>
          </a:xfrm>
          <a:custGeom>
            <a:avLst/>
            <a:gdLst>
              <a:gd name="T0" fmla="*/ 342741250 w 544"/>
              <a:gd name="T1" fmla="*/ 0 h 544"/>
              <a:gd name="T2" fmla="*/ 1028223750 w 544"/>
              <a:gd name="T3" fmla="*/ 113407825 h 544"/>
              <a:gd name="T4" fmla="*/ 1144150938 w 544"/>
              <a:gd name="T5" fmla="*/ 226814063 h 544"/>
              <a:gd name="T6" fmla="*/ 1370965000 w 544"/>
              <a:gd name="T7" fmla="*/ 798890325 h 544"/>
              <a:gd name="T8" fmla="*/ 1028223750 w 544"/>
              <a:gd name="T9" fmla="*/ 1370965000 h 544"/>
              <a:gd name="T10" fmla="*/ 458668438 w 544"/>
              <a:gd name="T11" fmla="*/ 914817513 h 544"/>
              <a:gd name="T12" fmla="*/ 0 w 544"/>
              <a:gd name="T13" fmla="*/ 342741250 h 544"/>
              <a:gd name="T14" fmla="*/ 342741250 w 544"/>
              <a:gd name="T15" fmla="*/ 0 h 544"/>
              <a:gd name="T16" fmla="*/ 0 60000 65536"/>
              <a:gd name="T17" fmla="*/ 0 60000 65536"/>
              <a:gd name="T18" fmla="*/ 0 60000 65536"/>
              <a:gd name="T19" fmla="*/ 0 60000 65536"/>
              <a:gd name="T20" fmla="*/ 0 60000 65536"/>
              <a:gd name="T21" fmla="*/ 0 60000 65536"/>
              <a:gd name="T22" fmla="*/ 0 60000 65536"/>
              <a:gd name="T23" fmla="*/ 0 60000 65536"/>
              <a:gd name="T24" fmla="*/ 0 w 544"/>
              <a:gd name="T25" fmla="*/ 0 h 544"/>
              <a:gd name="T26" fmla="*/ 544 w 544"/>
              <a:gd name="T27" fmla="*/ 544 h 5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44" h="544">
                <a:moveTo>
                  <a:pt x="136" y="0"/>
                </a:moveTo>
                <a:lnTo>
                  <a:pt x="408" y="45"/>
                </a:lnTo>
                <a:lnTo>
                  <a:pt x="454" y="90"/>
                </a:lnTo>
                <a:lnTo>
                  <a:pt x="544" y="317"/>
                </a:lnTo>
                <a:lnTo>
                  <a:pt x="408" y="544"/>
                </a:lnTo>
                <a:lnTo>
                  <a:pt x="182" y="363"/>
                </a:lnTo>
                <a:lnTo>
                  <a:pt x="0" y="136"/>
                </a:lnTo>
                <a:lnTo>
                  <a:pt x="136"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94" name="Rectangle 274">
            <a:extLst>
              <a:ext uri="{FF2B5EF4-FFF2-40B4-BE49-F238E27FC236}">
                <a16:creationId xmlns:a16="http://schemas.microsoft.com/office/drawing/2014/main" id="{83EF19F6-B1F6-4257-83DA-4E19FED809DE}"/>
              </a:ext>
            </a:extLst>
          </p:cNvPr>
          <p:cNvSpPr>
            <a:spLocks noChangeArrowheads="1"/>
          </p:cNvSpPr>
          <p:nvPr/>
        </p:nvSpPr>
        <p:spPr bwMode="auto">
          <a:xfrm>
            <a:off x="6877050" y="3357563"/>
            <a:ext cx="692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a:t>Moran</a:t>
            </a:r>
            <a:endParaRPr lang="zh-CN" altLang="en-US" sz="1600"/>
          </a:p>
        </p:txBody>
      </p:sp>
      <p:sp>
        <p:nvSpPr>
          <p:cNvPr id="83995" name="Line 275">
            <a:extLst>
              <a:ext uri="{FF2B5EF4-FFF2-40B4-BE49-F238E27FC236}">
                <a16:creationId xmlns:a16="http://schemas.microsoft.com/office/drawing/2014/main" id="{26119FB1-C22C-489E-9E23-758BB08F9201}"/>
              </a:ext>
            </a:extLst>
          </p:cNvPr>
          <p:cNvSpPr>
            <a:spLocks noChangeShapeType="1"/>
          </p:cNvSpPr>
          <p:nvPr/>
        </p:nvSpPr>
        <p:spPr bwMode="auto">
          <a:xfrm flipH="1" flipV="1">
            <a:off x="7812088" y="3284538"/>
            <a:ext cx="9525" cy="7588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996" name="Text Box 276">
            <a:extLst>
              <a:ext uri="{FF2B5EF4-FFF2-40B4-BE49-F238E27FC236}">
                <a16:creationId xmlns:a16="http://schemas.microsoft.com/office/drawing/2014/main" id="{42D039B9-4F0D-45F0-9456-59DA0ACE1725}"/>
              </a:ext>
            </a:extLst>
          </p:cNvPr>
          <p:cNvSpPr txBox="1">
            <a:spLocks noChangeArrowheads="1"/>
          </p:cNvSpPr>
          <p:nvPr/>
        </p:nvSpPr>
        <p:spPr bwMode="auto">
          <a:xfrm>
            <a:off x="4140200" y="3429000"/>
            <a:ext cx="7921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低</a:t>
            </a:r>
          </a:p>
        </p:txBody>
      </p:sp>
      <p:sp>
        <p:nvSpPr>
          <p:cNvPr id="83997" name="Text Box 277">
            <a:extLst>
              <a:ext uri="{FF2B5EF4-FFF2-40B4-BE49-F238E27FC236}">
                <a16:creationId xmlns:a16="http://schemas.microsoft.com/office/drawing/2014/main" id="{5ECF86DC-AD52-4C37-9D03-1FE07AB0045E}"/>
              </a:ext>
            </a:extLst>
          </p:cNvPr>
          <p:cNvSpPr txBox="1">
            <a:spLocks noChangeArrowheads="1"/>
          </p:cNvSpPr>
          <p:nvPr/>
        </p:nvSpPr>
        <p:spPr bwMode="auto">
          <a:xfrm>
            <a:off x="5795963" y="3213100"/>
            <a:ext cx="431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正态</a:t>
            </a:r>
          </a:p>
        </p:txBody>
      </p:sp>
      <p:sp>
        <p:nvSpPr>
          <p:cNvPr id="83998" name="Rectangle 278">
            <a:extLst>
              <a:ext uri="{FF2B5EF4-FFF2-40B4-BE49-F238E27FC236}">
                <a16:creationId xmlns:a16="http://schemas.microsoft.com/office/drawing/2014/main" id="{C940FD36-6881-41B7-AA83-C18FDC9F295E}"/>
              </a:ext>
            </a:extLst>
          </p:cNvPr>
          <p:cNvSpPr>
            <a:spLocks noChangeArrowheads="1"/>
          </p:cNvSpPr>
          <p:nvPr/>
        </p:nvSpPr>
        <p:spPr bwMode="auto">
          <a:xfrm>
            <a:off x="2051050" y="4724400"/>
            <a:ext cx="692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a:t>Moran</a:t>
            </a:r>
            <a:endParaRPr lang="zh-CN" altLang="en-US" sz="1600"/>
          </a:p>
        </p:txBody>
      </p:sp>
      <p:sp>
        <p:nvSpPr>
          <p:cNvPr id="83999" name="Line 279">
            <a:extLst>
              <a:ext uri="{FF2B5EF4-FFF2-40B4-BE49-F238E27FC236}">
                <a16:creationId xmlns:a16="http://schemas.microsoft.com/office/drawing/2014/main" id="{34DBEFDF-AEBF-4DFF-B5D8-8B31E26BDE0B}"/>
              </a:ext>
            </a:extLst>
          </p:cNvPr>
          <p:cNvSpPr>
            <a:spLocks noChangeShapeType="1"/>
          </p:cNvSpPr>
          <p:nvPr/>
        </p:nvSpPr>
        <p:spPr bwMode="auto">
          <a:xfrm flipH="1" flipV="1">
            <a:off x="2916238" y="5229225"/>
            <a:ext cx="9525" cy="1809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00" name="Freeform 280">
            <a:extLst>
              <a:ext uri="{FF2B5EF4-FFF2-40B4-BE49-F238E27FC236}">
                <a16:creationId xmlns:a16="http://schemas.microsoft.com/office/drawing/2014/main" id="{959D1B2D-B821-409E-87F8-B1E1A9862C56}"/>
              </a:ext>
            </a:extLst>
          </p:cNvPr>
          <p:cNvSpPr>
            <a:spLocks/>
          </p:cNvSpPr>
          <p:nvPr/>
        </p:nvSpPr>
        <p:spPr bwMode="auto">
          <a:xfrm>
            <a:off x="971550" y="4581525"/>
            <a:ext cx="863600" cy="863600"/>
          </a:xfrm>
          <a:custGeom>
            <a:avLst/>
            <a:gdLst>
              <a:gd name="T0" fmla="*/ 342741250 w 544"/>
              <a:gd name="T1" fmla="*/ 0 h 544"/>
              <a:gd name="T2" fmla="*/ 1028223750 w 544"/>
              <a:gd name="T3" fmla="*/ 113407825 h 544"/>
              <a:gd name="T4" fmla="*/ 1144150938 w 544"/>
              <a:gd name="T5" fmla="*/ 226814063 h 544"/>
              <a:gd name="T6" fmla="*/ 1370965000 w 544"/>
              <a:gd name="T7" fmla="*/ 798890325 h 544"/>
              <a:gd name="T8" fmla="*/ 1028223750 w 544"/>
              <a:gd name="T9" fmla="*/ 1370965000 h 544"/>
              <a:gd name="T10" fmla="*/ 458668438 w 544"/>
              <a:gd name="T11" fmla="*/ 914817513 h 544"/>
              <a:gd name="T12" fmla="*/ 0 w 544"/>
              <a:gd name="T13" fmla="*/ 342741250 h 544"/>
              <a:gd name="T14" fmla="*/ 342741250 w 544"/>
              <a:gd name="T15" fmla="*/ 0 h 544"/>
              <a:gd name="T16" fmla="*/ 0 60000 65536"/>
              <a:gd name="T17" fmla="*/ 0 60000 65536"/>
              <a:gd name="T18" fmla="*/ 0 60000 65536"/>
              <a:gd name="T19" fmla="*/ 0 60000 65536"/>
              <a:gd name="T20" fmla="*/ 0 60000 65536"/>
              <a:gd name="T21" fmla="*/ 0 60000 65536"/>
              <a:gd name="T22" fmla="*/ 0 60000 65536"/>
              <a:gd name="T23" fmla="*/ 0 60000 65536"/>
              <a:gd name="T24" fmla="*/ 0 w 544"/>
              <a:gd name="T25" fmla="*/ 0 h 544"/>
              <a:gd name="T26" fmla="*/ 544 w 544"/>
              <a:gd name="T27" fmla="*/ 544 h 5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44" h="544">
                <a:moveTo>
                  <a:pt x="136" y="0"/>
                </a:moveTo>
                <a:lnTo>
                  <a:pt x="408" y="45"/>
                </a:lnTo>
                <a:lnTo>
                  <a:pt x="454" y="90"/>
                </a:lnTo>
                <a:lnTo>
                  <a:pt x="544" y="317"/>
                </a:lnTo>
                <a:lnTo>
                  <a:pt x="408" y="544"/>
                </a:lnTo>
                <a:lnTo>
                  <a:pt x="182" y="363"/>
                </a:lnTo>
                <a:lnTo>
                  <a:pt x="0" y="136"/>
                </a:lnTo>
                <a:lnTo>
                  <a:pt x="136"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01" name="Text Box 281">
            <a:extLst>
              <a:ext uri="{FF2B5EF4-FFF2-40B4-BE49-F238E27FC236}">
                <a16:creationId xmlns:a16="http://schemas.microsoft.com/office/drawing/2014/main" id="{BBD3DCF3-D5B9-4FB3-99A8-3FE7EED804F4}"/>
              </a:ext>
            </a:extLst>
          </p:cNvPr>
          <p:cNvSpPr txBox="1">
            <a:spLocks noChangeArrowheads="1"/>
          </p:cNvSpPr>
          <p:nvPr/>
        </p:nvSpPr>
        <p:spPr bwMode="auto">
          <a:xfrm>
            <a:off x="1116013" y="4797425"/>
            <a:ext cx="86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正态</a:t>
            </a:r>
          </a:p>
        </p:txBody>
      </p:sp>
      <p:sp>
        <p:nvSpPr>
          <p:cNvPr id="84002" name="Freeform 282">
            <a:extLst>
              <a:ext uri="{FF2B5EF4-FFF2-40B4-BE49-F238E27FC236}">
                <a16:creationId xmlns:a16="http://schemas.microsoft.com/office/drawing/2014/main" id="{FF5D6EC5-6C68-401A-944C-D294AAD589F6}"/>
              </a:ext>
            </a:extLst>
          </p:cNvPr>
          <p:cNvSpPr>
            <a:spLocks/>
          </p:cNvSpPr>
          <p:nvPr/>
        </p:nvSpPr>
        <p:spPr bwMode="auto">
          <a:xfrm>
            <a:off x="4067175" y="4510088"/>
            <a:ext cx="863600" cy="863600"/>
          </a:xfrm>
          <a:custGeom>
            <a:avLst/>
            <a:gdLst>
              <a:gd name="T0" fmla="*/ 342741250 w 544"/>
              <a:gd name="T1" fmla="*/ 0 h 544"/>
              <a:gd name="T2" fmla="*/ 1028223750 w 544"/>
              <a:gd name="T3" fmla="*/ 113407825 h 544"/>
              <a:gd name="T4" fmla="*/ 1144150938 w 544"/>
              <a:gd name="T5" fmla="*/ 226814063 h 544"/>
              <a:gd name="T6" fmla="*/ 1370965000 w 544"/>
              <a:gd name="T7" fmla="*/ 798890325 h 544"/>
              <a:gd name="T8" fmla="*/ 1028223750 w 544"/>
              <a:gd name="T9" fmla="*/ 1370965000 h 544"/>
              <a:gd name="T10" fmla="*/ 458668438 w 544"/>
              <a:gd name="T11" fmla="*/ 914817513 h 544"/>
              <a:gd name="T12" fmla="*/ 0 w 544"/>
              <a:gd name="T13" fmla="*/ 342741250 h 544"/>
              <a:gd name="T14" fmla="*/ 342741250 w 544"/>
              <a:gd name="T15" fmla="*/ 0 h 544"/>
              <a:gd name="T16" fmla="*/ 0 60000 65536"/>
              <a:gd name="T17" fmla="*/ 0 60000 65536"/>
              <a:gd name="T18" fmla="*/ 0 60000 65536"/>
              <a:gd name="T19" fmla="*/ 0 60000 65536"/>
              <a:gd name="T20" fmla="*/ 0 60000 65536"/>
              <a:gd name="T21" fmla="*/ 0 60000 65536"/>
              <a:gd name="T22" fmla="*/ 0 60000 65536"/>
              <a:gd name="T23" fmla="*/ 0 60000 65536"/>
              <a:gd name="T24" fmla="*/ 0 w 544"/>
              <a:gd name="T25" fmla="*/ 0 h 544"/>
              <a:gd name="T26" fmla="*/ 544 w 544"/>
              <a:gd name="T27" fmla="*/ 544 h 5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44" h="544">
                <a:moveTo>
                  <a:pt x="136" y="0"/>
                </a:moveTo>
                <a:lnTo>
                  <a:pt x="408" y="45"/>
                </a:lnTo>
                <a:lnTo>
                  <a:pt x="454" y="90"/>
                </a:lnTo>
                <a:lnTo>
                  <a:pt x="544" y="317"/>
                </a:lnTo>
                <a:lnTo>
                  <a:pt x="408" y="544"/>
                </a:lnTo>
                <a:lnTo>
                  <a:pt x="182" y="363"/>
                </a:lnTo>
                <a:lnTo>
                  <a:pt x="0" y="136"/>
                </a:lnTo>
                <a:lnTo>
                  <a:pt x="136"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03" name="Text Box 283">
            <a:extLst>
              <a:ext uri="{FF2B5EF4-FFF2-40B4-BE49-F238E27FC236}">
                <a16:creationId xmlns:a16="http://schemas.microsoft.com/office/drawing/2014/main" id="{11667D58-BC23-480F-956A-8814497A4EB7}"/>
              </a:ext>
            </a:extLst>
          </p:cNvPr>
          <p:cNvSpPr txBox="1">
            <a:spLocks noChangeArrowheads="1"/>
          </p:cNvSpPr>
          <p:nvPr/>
        </p:nvSpPr>
        <p:spPr bwMode="auto">
          <a:xfrm>
            <a:off x="5219700" y="4797425"/>
            <a:ext cx="574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a:t>
            </a:r>
          </a:p>
        </p:txBody>
      </p:sp>
      <p:sp>
        <p:nvSpPr>
          <p:cNvPr id="84004" name="Freeform 284">
            <a:extLst>
              <a:ext uri="{FF2B5EF4-FFF2-40B4-BE49-F238E27FC236}">
                <a16:creationId xmlns:a16="http://schemas.microsoft.com/office/drawing/2014/main" id="{B2D91571-9EC9-498E-8A3A-2DEF4C72504C}"/>
              </a:ext>
            </a:extLst>
          </p:cNvPr>
          <p:cNvSpPr>
            <a:spLocks/>
          </p:cNvSpPr>
          <p:nvPr/>
        </p:nvSpPr>
        <p:spPr bwMode="auto">
          <a:xfrm>
            <a:off x="5508625" y="4510088"/>
            <a:ext cx="863600" cy="863600"/>
          </a:xfrm>
          <a:custGeom>
            <a:avLst/>
            <a:gdLst>
              <a:gd name="T0" fmla="*/ 342741250 w 544"/>
              <a:gd name="T1" fmla="*/ 0 h 544"/>
              <a:gd name="T2" fmla="*/ 1028223750 w 544"/>
              <a:gd name="T3" fmla="*/ 113407825 h 544"/>
              <a:gd name="T4" fmla="*/ 1144150938 w 544"/>
              <a:gd name="T5" fmla="*/ 226814063 h 544"/>
              <a:gd name="T6" fmla="*/ 1370965000 w 544"/>
              <a:gd name="T7" fmla="*/ 798890325 h 544"/>
              <a:gd name="T8" fmla="*/ 1028223750 w 544"/>
              <a:gd name="T9" fmla="*/ 1370965000 h 544"/>
              <a:gd name="T10" fmla="*/ 458668438 w 544"/>
              <a:gd name="T11" fmla="*/ 914817513 h 544"/>
              <a:gd name="T12" fmla="*/ 0 w 544"/>
              <a:gd name="T13" fmla="*/ 342741250 h 544"/>
              <a:gd name="T14" fmla="*/ 342741250 w 544"/>
              <a:gd name="T15" fmla="*/ 0 h 544"/>
              <a:gd name="T16" fmla="*/ 0 60000 65536"/>
              <a:gd name="T17" fmla="*/ 0 60000 65536"/>
              <a:gd name="T18" fmla="*/ 0 60000 65536"/>
              <a:gd name="T19" fmla="*/ 0 60000 65536"/>
              <a:gd name="T20" fmla="*/ 0 60000 65536"/>
              <a:gd name="T21" fmla="*/ 0 60000 65536"/>
              <a:gd name="T22" fmla="*/ 0 60000 65536"/>
              <a:gd name="T23" fmla="*/ 0 60000 65536"/>
              <a:gd name="T24" fmla="*/ 0 w 544"/>
              <a:gd name="T25" fmla="*/ 0 h 544"/>
              <a:gd name="T26" fmla="*/ 544 w 544"/>
              <a:gd name="T27" fmla="*/ 544 h 5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44" h="544">
                <a:moveTo>
                  <a:pt x="136" y="0"/>
                </a:moveTo>
                <a:lnTo>
                  <a:pt x="408" y="45"/>
                </a:lnTo>
                <a:lnTo>
                  <a:pt x="454" y="90"/>
                </a:lnTo>
                <a:lnTo>
                  <a:pt x="544" y="317"/>
                </a:lnTo>
                <a:lnTo>
                  <a:pt x="408" y="544"/>
                </a:lnTo>
                <a:lnTo>
                  <a:pt x="182" y="363"/>
                </a:lnTo>
                <a:lnTo>
                  <a:pt x="0" y="136"/>
                </a:lnTo>
                <a:lnTo>
                  <a:pt x="136"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05" name="Rectangle 285">
            <a:extLst>
              <a:ext uri="{FF2B5EF4-FFF2-40B4-BE49-F238E27FC236}">
                <a16:creationId xmlns:a16="http://schemas.microsoft.com/office/drawing/2014/main" id="{9657E85D-B562-41F8-AE43-419DA129DF93}"/>
              </a:ext>
            </a:extLst>
          </p:cNvPr>
          <p:cNvSpPr>
            <a:spLocks noChangeArrowheads="1"/>
          </p:cNvSpPr>
          <p:nvPr/>
        </p:nvSpPr>
        <p:spPr bwMode="auto">
          <a:xfrm>
            <a:off x="6948488" y="4724400"/>
            <a:ext cx="692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a:t>Moran</a:t>
            </a:r>
            <a:endParaRPr lang="zh-CN" altLang="en-US" sz="1600"/>
          </a:p>
        </p:txBody>
      </p:sp>
      <p:sp>
        <p:nvSpPr>
          <p:cNvPr id="84006" name="Line 286">
            <a:extLst>
              <a:ext uri="{FF2B5EF4-FFF2-40B4-BE49-F238E27FC236}">
                <a16:creationId xmlns:a16="http://schemas.microsoft.com/office/drawing/2014/main" id="{7F007ECE-66A3-4F8A-8A30-5D7C711E0EC6}"/>
              </a:ext>
            </a:extLst>
          </p:cNvPr>
          <p:cNvSpPr>
            <a:spLocks noChangeShapeType="1"/>
          </p:cNvSpPr>
          <p:nvPr/>
        </p:nvSpPr>
        <p:spPr bwMode="auto">
          <a:xfrm flipH="1" flipV="1">
            <a:off x="7885113" y="5229225"/>
            <a:ext cx="9525" cy="1825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07" name="Text Box 287">
            <a:extLst>
              <a:ext uri="{FF2B5EF4-FFF2-40B4-BE49-F238E27FC236}">
                <a16:creationId xmlns:a16="http://schemas.microsoft.com/office/drawing/2014/main" id="{1E7A6F4E-BC24-4143-8D33-31677B3EAE15}"/>
              </a:ext>
            </a:extLst>
          </p:cNvPr>
          <p:cNvSpPr txBox="1">
            <a:spLocks noChangeArrowheads="1"/>
          </p:cNvSpPr>
          <p:nvPr/>
        </p:nvSpPr>
        <p:spPr bwMode="auto">
          <a:xfrm>
            <a:off x="4140200" y="4724400"/>
            <a:ext cx="7921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正态</a:t>
            </a:r>
          </a:p>
        </p:txBody>
      </p:sp>
      <p:sp>
        <p:nvSpPr>
          <p:cNvPr id="84008" name="Text Box 288">
            <a:extLst>
              <a:ext uri="{FF2B5EF4-FFF2-40B4-BE49-F238E27FC236}">
                <a16:creationId xmlns:a16="http://schemas.microsoft.com/office/drawing/2014/main" id="{34CB6DA4-A965-4798-915E-CCD13A0EC3C6}"/>
              </a:ext>
            </a:extLst>
          </p:cNvPr>
          <p:cNvSpPr txBox="1">
            <a:spLocks noChangeArrowheads="1"/>
          </p:cNvSpPr>
          <p:nvPr/>
        </p:nvSpPr>
        <p:spPr bwMode="auto">
          <a:xfrm>
            <a:off x="5795963" y="4581525"/>
            <a:ext cx="431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正态</a:t>
            </a:r>
          </a:p>
        </p:txBody>
      </p:sp>
      <p:sp>
        <p:nvSpPr>
          <p:cNvPr id="84009" name="Text Box 289">
            <a:extLst>
              <a:ext uri="{FF2B5EF4-FFF2-40B4-BE49-F238E27FC236}">
                <a16:creationId xmlns:a16="http://schemas.microsoft.com/office/drawing/2014/main" id="{C7F19758-EED4-43A2-89F9-B5C2E2F874EF}"/>
              </a:ext>
            </a:extLst>
          </p:cNvPr>
          <p:cNvSpPr txBox="1">
            <a:spLocks noChangeArrowheads="1"/>
          </p:cNvSpPr>
          <p:nvPr/>
        </p:nvSpPr>
        <p:spPr bwMode="auto">
          <a:xfrm>
            <a:off x="684213" y="5734050"/>
            <a:ext cx="27352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latin typeface="楷体_GB2312" pitchFamily="49" charset="-122"/>
                <a:ea typeface="楷体_GB2312" pitchFamily="49" charset="-122"/>
              </a:rPr>
              <a:t>原始数据</a:t>
            </a:r>
          </a:p>
        </p:txBody>
      </p:sp>
      <p:sp>
        <p:nvSpPr>
          <p:cNvPr id="84010" name="Text Box 291">
            <a:extLst>
              <a:ext uri="{FF2B5EF4-FFF2-40B4-BE49-F238E27FC236}">
                <a16:creationId xmlns:a16="http://schemas.microsoft.com/office/drawing/2014/main" id="{FB77BFAD-2FCB-4471-B0E0-6A84E9D5F362}"/>
              </a:ext>
            </a:extLst>
          </p:cNvPr>
          <p:cNvSpPr txBox="1">
            <a:spLocks noChangeArrowheads="1"/>
          </p:cNvSpPr>
          <p:nvPr/>
        </p:nvSpPr>
        <p:spPr bwMode="auto">
          <a:xfrm>
            <a:off x="3851275" y="5734050"/>
            <a:ext cx="3887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latin typeface="楷体_GB2312" pitchFamily="49" charset="-122"/>
                <a:ea typeface="楷体_GB2312" pitchFamily="49" charset="-122"/>
              </a:rPr>
              <a:t>原始数据</a:t>
            </a:r>
            <a:r>
              <a:rPr lang="en-US" altLang="zh-CN">
                <a:latin typeface="楷体_GB2312" pitchFamily="49" charset="-122"/>
                <a:ea typeface="楷体_GB2312" pitchFamily="49" charset="-122"/>
              </a:rPr>
              <a:t>+</a:t>
            </a:r>
            <a:r>
              <a:rPr lang="zh-CN" altLang="en-US">
                <a:latin typeface="楷体_GB2312" pitchFamily="49" charset="-122"/>
                <a:ea typeface="楷体_GB2312" pitchFamily="49" charset="-122"/>
              </a:rPr>
              <a:t>正态误差</a:t>
            </a:r>
          </a:p>
        </p:txBody>
      </p:sp>
      <p:sp>
        <p:nvSpPr>
          <p:cNvPr id="84011" name="Rectangle 292">
            <a:extLst>
              <a:ext uri="{FF2B5EF4-FFF2-40B4-BE49-F238E27FC236}">
                <a16:creationId xmlns:a16="http://schemas.microsoft.com/office/drawing/2014/main" id="{672FDAE9-1622-427B-8238-5D6A51CC3095}"/>
              </a:ext>
            </a:extLst>
          </p:cNvPr>
          <p:cNvSpPr>
            <a:spLocks noChangeArrowheads="1"/>
          </p:cNvSpPr>
          <p:nvPr/>
        </p:nvSpPr>
        <p:spPr bwMode="auto">
          <a:xfrm>
            <a:off x="827088" y="1557338"/>
            <a:ext cx="7200900" cy="136683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 name="TextBox 2">
            <a:extLst>
              <a:ext uri="{FF2B5EF4-FFF2-40B4-BE49-F238E27FC236}">
                <a16:creationId xmlns:a16="http://schemas.microsoft.com/office/drawing/2014/main" id="{A41B5A80-BD3E-49A5-AB9B-EB54D10219CC}"/>
              </a:ext>
            </a:extLst>
          </p:cNvPr>
          <p:cNvSpPr txBox="1">
            <a:spLocks noChangeArrowheads="1"/>
          </p:cNvSpPr>
          <p:nvPr/>
        </p:nvSpPr>
        <p:spPr bwMode="auto">
          <a:xfrm>
            <a:off x="0" y="0"/>
            <a:ext cx="867645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dirty="0">
                <a:latin typeface="黑体" panose="02010609060101010101" pitchFamily="49" charset="-122"/>
                <a:ea typeface="黑体" panose="02010609060101010101" pitchFamily="49" charset="-122"/>
              </a:rPr>
              <a:t>3.5.3</a:t>
            </a:r>
            <a:r>
              <a:rPr lang="zh-CN" altLang="en-US" sz="3200" dirty="0">
                <a:latin typeface="黑体" panose="02010609060101010101" pitchFamily="49" charset="-122"/>
                <a:ea typeface="黑体" panose="02010609060101010101" pitchFamily="49" charset="-122"/>
              </a:rPr>
              <a:t>不同的空间权重矩阵对空间自相关的影响</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4" name="Picture 6" descr="16">
            <a:extLst>
              <a:ext uri="{FF2B5EF4-FFF2-40B4-BE49-F238E27FC236}">
                <a16:creationId xmlns:a16="http://schemas.microsoft.com/office/drawing/2014/main" id="{EE6E706D-3AB4-41C0-9CCF-C51A0D96FE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8363" y="0"/>
            <a:ext cx="655637"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5" name="Line 236">
            <a:extLst>
              <a:ext uri="{FF2B5EF4-FFF2-40B4-BE49-F238E27FC236}">
                <a16:creationId xmlns:a16="http://schemas.microsoft.com/office/drawing/2014/main" id="{E1727266-F3DA-4985-9D82-E36E38159338}"/>
              </a:ext>
            </a:extLst>
          </p:cNvPr>
          <p:cNvSpPr>
            <a:spLocks noChangeShapeType="1"/>
          </p:cNvSpPr>
          <p:nvPr/>
        </p:nvSpPr>
        <p:spPr bwMode="auto">
          <a:xfrm>
            <a:off x="827088" y="620713"/>
            <a:ext cx="57610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84996" name="Picture 432" descr="C:\DOCUME~1\ADMINI~1\LOCALS~1\Temp\Q]BB1[4UUECK]8IUAOL6COJ.jpg">
            <a:extLst>
              <a:ext uri="{FF2B5EF4-FFF2-40B4-BE49-F238E27FC236}">
                <a16:creationId xmlns:a16="http://schemas.microsoft.com/office/drawing/2014/main" id="{BC331794-59C0-4C64-9531-84F68E2E2872}"/>
              </a:ext>
            </a:extLst>
          </p:cNvPr>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1258888" y="1125538"/>
            <a:ext cx="1754187" cy="207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97" name="Picture 433" descr="C:\DOCUME~1\ADMINI~1\LOCALS~1\Temp\%B38DU2HV2U[GB$N`PT4`ZU.jpg">
            <a:extLst>
              <a:ext uri="{FF2B5EF4-FFF2-40B4-BE49-F238E27FC236}">
                <a16:creationId xmlns:a16="http://schemas.microsoft.com/office/drawing/2014/main" id="{60FB07B0-31BB-40D9-88AD-B604573CEA6E}"/>
              </a:ext>
            </a:extLst>
          </p:cNvPr>
          <p:cNvPicPr>
            <a:picLocks noChangeAspect="1" noChangeArrowheads="1"/>
          </p:cNvPicPr>
          <p:nvPr/>
        </p:nvPicPr>
        <p:blipFill>
          <a:blip r:embed="rId6" r:link="rId7">
            <a:extLst>
              <a:ext uri="{28A0092B-C50C-407E-A947-70E740481C1C}">
                <a14:useLocalDpi xmlns:a14="http://schemas.microsoft.com/office/drawing/2010/main" val="0"/>
              </a:ext>
            </a:extLst>
          </a:blip>
          <a:srcRect/>
          <a:stretch>
            <a:fillRect/>
          </a:stretch>
        </p:blipFill>
        <p:spPr bwMode="auto">
          <a:xfrm>
            <a:off x="3275013" y="1125538"/>
            <a:ext cx="1765300" cy="207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98" name="Picture 434" descr="C:\DOCUME~1\ADMINI~1\LOCALS~1\Temp\KU]UY%GIOT9$EO)5T~)6]}M.jpg">
            <a:extLst>
              <a:ext uri="{FF2B5EF4-FFF2-40B4-BE49-F238E27FC236}">
                <a16:creationId xmlns:a16="http://schemas.microsoft.com/office/drawing/2014/main" id="{C2B3D7DC-9778-4EF8-873E-E40E8B6DB182}"/>
              </a:ext>
            </a:extLst>
          </p:cNvPr>
          <p:cNvPicPr>
            <a:picLocks noChangeAspect="1" noChangeArrowheads="1"/>
          </p:cNvPicPr>
          <p:nvPr/>
        </p:nvPicPr>
        <p:blipFill>
          <a:blip r:embed="rId8" r:link="rId9">
            <a:extLst>
              <a:ext uri="{28A0092B-C50C-407E-A947-70E740481C1C}">
                <a14:useLocalDpi xmlns:a14="http://schemas.microsoft.com/office/drawing/2010/main" val="0"/>
              </a:ext>
            </a:extLst>
          </a:blip>
          <a:srcRect/>
          <a:stretch>
            <a:fillRect/>
          </a:stretch>
        </p:blipFill>
        <p:spPr bwMode="auto">
          <a:xfrm>
            <a:off x="5292725" y="1125538"/>
            <a:ext cx="1743075" cy="207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99" name="Picture 435" descr="C:\DOCUME~1\ADMINI~1\LOCALS~1\Temp\~TQ$F9F2PAA1F83KR(W0SFD.jpg">
            <a:extLst>
              <a:ext uri="{FF2B5EF4-FFF2-40B4-BE49-F238E27FC236}">
                <a16:creationId xmlns:a16="http://schemas.microsoft.com/office/drawing/2014/main" id="{1018D9E9-2E09-4DB7-B385-612F2C837C85}"/>
              </a:ext>
            </a:extLst>
          </p:cNvPr>
          <p:cNvPicPr>
            <a:picLocks noChangeAspect="1" noChangeArrowheads="1"/>
          </p:cNvPicPr>
          <p:nvPr/>
        </p:nvPicPr>
        <p:blipFill>
          <a:blip r:embed="rId10" r:link="rId11">
            <a:extLst>
              <a:ext uri="{28A0092B-C50C-407E-A947-70E740481C1C}">
                <a14:useLocalDpi xmlns:a14="http://schemas.microsoft.com/office/drawing/2010/main" val="0"/>
              </a:ext>
            </a:extLst>
          </a:blip>
          <a:srcRect/>
          <a:stretch>
            <a:fillRect/>
          </a:stretch>
        </p:blipFill>
        <p:spPr bwMode="auto">
          <a:xfrm>
            <a:off x="1258888" y="3573463"/>
            <a:ext cx="1733550" cy="207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00" name="Picture 436" descr="C:\DOCUME~1\ADMINI~1\LOCALS~1\Temp\HC@6V1QZ(_UV`BUR6(RFT[J.jpg">
            <a:extLst>
              <a:ext uri="{FF2B5EF4-FFF2-40B4-BE49-F238E27FC236}">
                <a16:creationId xmlns:a16="http://schemas.microsoft.com/office/drawing/2014/main" id="{3144EE14-98BB-4924-BE85-CB6DAE44F7F9}"/>
              </a:ext>
            </a:extLst>
          </p:cNvPr>
          <p:cNvPicPr>
            <a:picLocks noChangeAspect="1" noChangeArrowheads="1"/>
          </p:cNvPicPr>
          <p:nvPr/>
        </p:nvPicPr>
        <p:blipFill>
          <a:blip r:embed="rId12" r:link="rId13">
            <a:extLst>
              <a:ext uri="{28A0092B-C50C-407E-A947-70E740481C1C}">
                <a14:useLocalDpi xmlns:a14="http://schemas.microsoft.com/office/drawing/2010/main" val="0"/>
              </a:ext>
            </a:extLst>
          </a:blip>
          <a:srcRect/>
          <a:stretch>
            <a:fillRect/>
          </a:stretch>
        </p:blipFill>
        <p:spPr bwMode="auto">
          <a:xfrm>
            <a:off x="3275013" y="3573463"/>
            <a:ext cx="1774825" cy="207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01" name="Picture 437" descr="C:\DOCUME~1\ADMINI~1\LOCALS~1\Temp\HC@6V1QZ(_UV`BUR6(RFT[J.jpg">
            <a:extLst>
              <a:ext uri="{FF2B5EF4-FFF2-40B4-BE49-F238E27FC236}">
                <a16:creationId xmlns:a16="http://schemas.microsoft.com/office/drawing/2014/main" id="{E0961613-1FD1-4114-A383-209F59B40074}"/>
              </a:ext>
            </a:extLst>
          </p:cNvPr>
          <p:cNvPicPr>
            <a:picLocks noChangeAspect="1" noChangeArrowheads="1"/>
          </p:cNvPicPr>
          <p:nvPr/>
        </p:nvPicPr>
        <p:blipFill>
          <a:blip r:embed="rId12" r:link="rId13">
            <a:extLst>
              <a:ext uri="{28A0092B-C50C-407E-A947-70E740481C1C}">
                <a14:useLocalDpi xmlns:a14="http://schemas.microsoft.com/office/drawing/2010/main" val="0"/>
              </a:ext>
            </a:extLst>
          </a:blip>
          <a:srcRect/>
          <a:stretch>
            <a:fillRect/>
          </a:stretch>
        </p:blipFill>
        <p:spPr bwMode="auto">
          <a:xfrm>
            <a:off x="5292725" y="3573463"/>
            <a:ext cx="1774825" cy="207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5002" name="Text Box 438">
            <a:extLst>
              <a:ext uri="{FF2B5EF4-FFF2-40B4-BE49-F238E27FC236}">
                <a16:creationId xmlns:a16="http://schemas.microsoft.com/office/drawing/2014/main" id="{1960119B-60C0-4B54-95D6-2F36772BEAE7}"/>
              </a:ext>
            </a:extLst>
          </p:cNvPr>
          <p:cNvSpPr txBox="1">
            <a:spLocks noChangeArrowheads="1"/>
          </p:cNvSpPr>
          <p:nvPr/>
        </p:nvSpPr>
        <p:spPr bwMode="auto">
          <a:xfrm>
            <a:off x="1403350" y="3141663"/>
            <a:ext cx="9366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a:t>Queen</a:t>
            </a:r>
          </a:p>
        </p:txBody>
      </p:sp>
      <p:sp>
        <p:nvSpPr>
          <p:cNvPr id="85003" name="Text Box 439">
            <a:extLst>
              <a:ext uri="{FF2B5EF4-FFF2-40B4-BE49-F238E27FC236}">
                <a16:creationId xmlns:a16="http://schemas.microsoft.com/office/drawing/2014/main" id="{DEA7DC53-7FF7-43FF-8A92-D828620526B7}"/>
              </a:ext>
            </a:extLst>
          </p:cNvPr>
          <p:cNvSpPr txBox="1">
            <a:spLocks noChangeArrowheads="1"/>
          </p:cNvSpPr>
          <p:nvPr/>
        </p:nvSpPr>
        <p:spPr bwMode="auto">
          <a:xfrm>
            <a:off x="3635375" y="3141663"/>
            <a:ext cx="9366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a:t>Rook</a:t>
            </a:r>
          </a:p>
        </p:txBody>
      </p:sp>
      <p:sp>
        <p:nvSpPr>
          <p:cNvPr id="85004" name="Text Box 440">
            <a:extLst>
              <a:ext uri="{FF2B5EF4-FFF2-40B4-BE49-F238E27FC236}">
                <a16:creationId xmlns:a16="http://schemas.microsoft.com/office/drawing/2014/main" id="{ACAC12AB-6D66-4200-A862-B55C0BD5810F}"/>
              </a:ext>
            </a:extLst>
          </p:cNvPr>
          <p:cNvSpPr txBox="1">
            <a:spLocks noChangeArrowheads="1"/>
          </p:cNvSpPr>
          <p:nvPr/>
        </p:nvSpPr>
        <p:spPr bwMode="auto">
          <a:xfrm>
            <a:off x="5508625" y="3141663"/>
            <a:ext cx="14398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a:t>Direction</a:t>
            </a:r>
          </a:p>
        </p:txBody>
      </p:sp>
      <p:sp>
        <p:nvSpPr>
          <p:cNvPr id="85005" name="Text Box 441">
            <a:extLst>
              <a:ext uri="{FF2B5EF4-FFF2-40B4-BE49-F238E27FC236}">
                <a16:creationId xmlns:a16="http://schemas.microsoft.com/office/drawing/2014/main" id="{F6804915-2257-4712-95CA-C7A8374D7409}"/>
              </a:ext>
            </a:extLst>
          </p:cNvPr>
          <p:cNvSpPr txBox="1">
            <a:spLocks noChangeArrowheads="1"/>
          </p:cNvSpPr>
          <p:nvPr/>
        </p:nvSpPr>
        <p:spPr bwMode="auto">
          <a:xfrm>
            <a:off x="1403350" y="5734050"/>
            <a:ext cx="13668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a:t>K-Nears</a:t>
            </a:r>
          </a:p>
        </p:txBody>
      </p:sp>
      <p:sp>
        <p:nvSpPr>
          <p:cNvPr id="85006" name="Text Box 442">
            <a:extLst>
              <a:ext uri="{FF2B5EF4-FFF2-40B4-BE49-F238E27FC236}">
                <a16:creationId xmlns:a16="http://schemas.microsoft.com/office/drawing/2014/main" id="{022A500E-44C8-4D88-AC18-9348CC22C93F}"/>
              </a:ext>
            </a:extLst>
          </p:cNvPr>
          <p:cNvSpPr txBox="1">
            <a:spLocks noChangeArrowheads="1"/>
          </p:cNvSpPr>
          <p:nvPr/>
        </p:nvSpPr>
        <p:spPr bwMode="auto">
          <a:xfrm>
            <a:off x="3635375" y="5734050"/>
            <a:ext cx="9366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a:t>Area</a:t>
            </a:r>
          </a:p>
        </p:txBody>
      </p:sp>
      <p:sp>
        <p:nvSpPr>
          <p:cNvPr id="85007" name="Text Box 443">
            <a:extLst>
              <a:ext uri="{FF2B5EF4-FFF2-40B4-BE49-F238E27FC236}">
                <a16:creationId xmlns:a16="http://schemas.microsoft.com/office/drawing/2014/main" id="{BB7453A4-41F7-4E42-B870-5DE3218B93B4}"/>
              </a:ext>
            </a:extLst>
          </p:cNvPr>
          <p:cNvSpPr txBox="1">
            <a:spLocks noChangeArrowheads="1"/>
          </p:cNvSpPr>
          <p:nvPr/>
        </p:nvSpPr>
        <p:spPr bwMode="auto">
          <a:xfrm>
            <a:off x="5580063" y="5734050"/>
            <a:ext cx="12969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a:t>Boundary</a:t>
            </a:r>
          </a:p>
        </p:txBody>
      </p:sp>
      <p:sp>
        <p:nvSpPr>
          <p:cNvPr id="16" name="TextBox 2">
            <a:extLst>
              <a:ext uri="{FF2B5EF4-FFF2-40B4-BE49-F238E27FC236}">
                <a16:creationId xmlns:a16="http://schemas.microsoft.com/office/drawing/2014/main" id="{7C261726-3716-4074-80A3-410185CCC38B}"/>
              </a:ext>
            </a:extLst>
          </p:cNvPr>
          <p:cNvSpPr txBox="1">
            <a:spLocks noChangeArrowheads="1"/>
          </p:cNvSpPr>
          <p:nvPr/>
        </p:nvSpPr>
        <p:spPr bwMode="auto">
          <a:xfrm>
            <a:off x="0" y="214313"/>
            <a:ext cx="867645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dirty="0">
                <a:latin typeface="黑体" panose="02010609060101010101" pitchFamily="49" charset="-122"/>
                <a:ea typeface="黑体" panose="02010609060101010101" pitchFamily="49" charset="-122"/>
              </a:rPr>
              <a:t>3.5.3</a:t>
            </a:r>
            <a:r>
              <a:rPr lang="zh-CN" altLang="en-US" sz="3200" dirty="0">
                <a:latin typeface="黑体" panose="02010609060101010101" pitchFamily="49" charset="-122"/>
                <a:ea typeface="黑体" panose="02010609060101010101" pitchFamily="49" charset="-122"/>
              </a:rPr>
              <a:t>不同的空间权重矩阵对空间自相关的影响</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8" name="Picture 6" descr="16">
            <a:extLst>
              <a:ext uri="{FF2B5EF4-FFF2-40B4-BE49-F238E27FC236}">
                <a16:creationId xmlns:a16="http://schemas.microsoft.com/office/drawing/2014/main" id="{84E76140-BCD1-4FE7-B1F5-131CA42786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8363" y="0"/>
            <a:ext cx="655637"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0" name="Rectangle 9">
            <a:extLst>
              <a:ext uri="{FF2B5EF4-FFF2-40B4-BE49-F238E27FC236}">
                <a16:creationId xmlns:a16="http://schemas.microsoft.com/office/drawing/2014/main" id="{95D9C7E4-D600-4B3D-B0E6-563864442B3F}"/>
              </a:ext>
            </a:extLst>
          </p:cNvPr>
          <p:cNvSpPr>
            <a:spLocks noChangeArrowheads="1"/>
          </p:cNvSpPr>
          <p:nvPr/>
        </p:nvSpPr>
        <p:spPr bwMode="auto">
          <a:xfrm>
            <a:off x="755650" y="692150"/>
            <a:ext cx="6480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latinLnBrk="1" hangingPunct="1"/>
            <a:r>
              <a:rPr lang="zh-CN" altLang="en-US" sz="1600">
                <a:solidFill>
                  <a:srgbClr val="FF3300"/>
                </a:solidFill>
                <a:latin typeface="楷体_GB2312" pitchFamily="49" charset="-122"/>
                <a:ea typeface="楷体_GB2312" pitchFamily="49" charset="-122"/>
              </a:rPr>
              <a:t>空间权重量对局部自相关指数影响模拟分析</a:t>
            </a:r>
            <a:r>
              <a:rPr lang="en-US" altLang="zh-CN" sz="1600">
                <a:solidFill>
                  <a:srgbClr val="FF3300"/>
                </a:solidFill>
                <a:latin typeface="宋体" panose="02010600030101010101" pitchFamily="2" charset="-122"/>
                <a:ea typeface="楷体_GB2312" pitchFamily="49" charset="-122"/>
              </a:rPr>
              <a:t>——</a:t>
            </a:r>
            <a:r>
              <a:rPr lang="zh-CN" altLang="en-US" sz="1600">
                <a:solidFill>
                  <a:srgbClr val="FF3300"/>
                </a:solidFill>
                <a:latin typeface="楷体_GB2312" pitchFamily="49" charset="-122"/>
                <a:ea typeface="楷体_GB2312" pitchFamily="49" charset="-122"/>
              </a:rPr>
              <a:t>热点冷点</a:t>
            </a:r>
            <a:r>
              <a:rPr lang="zh-CN" altLang="en-US"/>
              <a:t> </a:t>
            </a:r>
          </a:p>
        </p:txBody>
      </p:sp>
      <p:pic>
        <p:nvPicPr>
          <p:cNvPr id="86021" name="Picture 10" descr="`1V3K[2VX([XWG@6}42WFEX">
            <a:extLst>
              <a:ext uri="{FF2B5EF4-FFF2-40B4-BE49-F238E27FC236}">
                <a16:creationId xmlns:a16="http://schemas.microsoft.com/office/drawing/2014/main" id="{7D9157E3-1DA5-44AE-B46A-1A717DBC7C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0475" y="1196975"/>
            <a:ext cx="1828800" cy="217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022" name="Picture 11" descr="`1V3K[2VX([XWG@6}42WFEX">
            <a:extLst>
              <a:ext uri="{FF2B5EF4-FFF2-40B4-BE49-F238E27FC236}">
                <a16:creationId xmlns:a16="http://schemas.microsoft.com/office/drawing/2014/main" id="{675B2231-AF60-4CDA-BAA5-7E5E41963A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8038" y="1196975"/>
            <a:ext cx="1828800" cy="217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023" name="Picture 12" descr="HH7Y2W2TJY{ELLG1XYN`46Q">
            <a:extLst>
              <a:ext uri="{FF2B5EF4-FFF2-40B4-BE49-F238E27FC236}">
                <a16:creationId xmlns:a16="http://schemas.microsoft.com/office/drawing/2014/main" id="{B552D41D-D867-4773-B509-40BB3EC12B7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37188" y="1196975"/>
            <a:ext cx="1817687" cy="217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024" name="Picture 13" descr="59MJ[6_6NU((WDO[40WW59I">
            <a:extLst>
              <a:ext uri="{FF2B5EF4-FFF2-40B4-BE49-F238E27FC236}">
                <a16:creationId xmlns:a16="http://schemas.microsoft.com/office/drawing/2014/main" id="{37030BD6-9EBE-40E1-B76D-3C54DA4C1DD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60475" y="3787775"/>
            <a:ext cx="1808163" cy="217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025" name="Picture 14" descr="F$YS18@52%K51X7FM(ENC_R">
            <a:extLst>
              <a:ext uri="{FF2B5EF4-FFF2-40B4-BE49-F238E27FC236}">
                <a16:creationId xmlns:a16="http://schemas.microsoft.com/office/drawing/2014/main" id="{1732E393-9390-4212-ACB4-FDDFF12D2B1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48038" y="3787775"/>
            <a:ext cx="1828800" cy="217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026" name="Picture 15" descr="F$YS18@52%K51X7FM(ENC_R">
            <a:extLst>
              <a:ext uri="{FF2B5EF4-FFF2-40B4-BE49-F238E27FC236}">
                <a16:creationId xmlns:a16="http://schemas.microsoft.com/office/drawing/2014/main" id="{80C361E1-BBAD-4AC3-956A-3A4A9166124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37188" y="3787775"/>
            <a:ext cx="1828800" cy="217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7" name="Text Box 16">
            <a:extLst>
              <a:ext uri="{FF2B5EF4-FFF2-40B4-BE49-F238E27FC236}">
                <a16:creationId xmlns:a16="http://schemas.microsoft.com/office/drawing/2014/main" id="{7520F81B-EDBA-44CF-96C4-EDA167592BC5}"/>
              </a:ext>
            </a:extLst>
          </p:cNvPr>
          <p:cNvSpPr txBox="1">
            <a:spLocks noChangeArrowheads="1"/>
          </p:cNvSpPr>
          <p:nvPr/>
        </p:nvSpPr>
        <p:spPr bwMode="auto">
          <a:xfrm>
            <a:off x="1619250" y="3355975"/>
            <a:ext cx="9366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a:t>Queen</a:t>
            </a:r>
          </a:p>
        </p:txBody>
      </p:sp>
      <p:sp>
        <p:nvSpPr>
          <p:cNvPr id="86028" name="Text Box 17">
            <a:extLst>
              <a:ext uri="{FF2B5EF4-FFF2-40B4-BE49-F238E27FC236}">
                <a16:creationId xmlns:a16="http://schemas.microsoft.com/office/drawing/2014/main" id="{5FC32C4C-E998-4E73-89BE-79C1923810C1}"/>
              </a:ext>
            </a:extLst>
          </p:cNvPr>
          <p:cNvSpPr txBox="1">
            <a:spLocks noChangeArrowheads="1"/>
          </p:cNvSpPr>
          <p:nvPr/>
        </p:nvSpPr>
        <p:spPr bwMode="auto">
          <a:xfrm>
            <a:off x="3708400" y="3355975"/>
            <a:ext cx="9366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a:t>Rook</a:t>
            </a:r>
          </a:p>
        </p:txBody>
      </p:sp>
      <p:sp>
        <p:nvSpPr>
          <p:cNvPr id="86029" name="Text Box 18">
            <a:extLst>
              <a:ext uri="{FF2B5EF4-FFF2-40B4-BE49-F238E27FC236}">
                <a16:creationId xmlns:a16="http://schemas.microsoft.com/office/drawing/2014/main" id="{0973818C-53CC-4347-9245-D069492D076C}"/>
              </a:ext>
            </a:extLst>
          </p:cNvPr>
          <p:cNvSpPr txBox="1">
            <a:spLocks noChangeArrowheads="1"/>
          </p:cNvSpPr>
          <p:nvPr/>
        </p:nvSpPr>
        <p:spPr bwMode="auto">
          <a:xfrm>
            <a:off x="5653088" y="3355975"/>
            <a:ext cx="14398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a:t>Direction</a:t>
            </a:r>
          </a:p>
        </p:txBody>
      </p:sp>
      <p:sp>
        <p:nvSpPr>
          <p:cNvPr id="86030" name="Text Box 19">
            <a:extLst>
              <a:ext uri="{FF2B5EF4-FFF2-40B4-BE49-F238E27FC236}">
                <a16:creationId xmlns:a16="http://schemas.microsoft.com/office/drawing/2014/main" id="{487868BD-086C-4E8F-825D-8DE1459202A3}"/>
              </a:ext>
            </a:extLst>
          </p:cNvPr>
          <p:cNvSpPr txBox="1">
            <a:spLocks noChangeArrowheads="1"/>
          </p:cNvSpPr>
          <p:nvPr/>
        </p:nvSpPr>
        <p:spPr bwMode="auto">
          <a:xfrm>
            <a:off x="1476375" y="5948363"/>
            <a:ext cx="13668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a:t>K-Nears</a:t>
            </a:r>
          </a:p>
        </p:txBody>
      </p:sp>
      <p:sp>
        <p:nvSpPr>
          <p:cNvPr id="86031" name="Text Box 20">
            <a:extLst>
              <a:ext uri="{FF2B5EF4-FFF2-40B4-BE49-F238E27FC236}">
                <a16:creationId xmlns:a16="http://schemas.microsoft.com/office/drawing/2014/main" id="{297E95FF-4FDF-4001-9D81-C45A14F300DF}"/>
              </a:ext>
            </a:extLst>
          </p:cNvPr>
          <p:cNvSpPr txBox="1">
            <a:spLocks noChangeArrowheads="1"/>
          </p:cNvSpPr>
          <p:nvPr/>
        </p:nvSpPr>
        <p:spPr bwMode="auto">
          <a:xfrm>
            <a:off x="3779838" y="5948363"/>
            <a:ext cx="9366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a:t>Area</a:t>
            </a:r>
          </a:p>
        </p:txBody>
      </p:sp>
      <p:sp>
        <p:nvSpPr>
          <p:cNvPr id="86032" name="Text Box 21">
            <a:extLst>
              <a:ext uri="{FF2B5EF4-FFF2-40B4-BE49-F238E27FC236}">
                <a16:creationId xmlns:a16="http://schemas.microsoft.com/office/drawing/2014/main" id="{93649E53-A8C6-460E-9A56-31808F4139E5}"/>
              </a:ext>
            </a:extLst>
          </p:cNvPr>
          <p:cNvSpPr txBox="1">
            <a:spLocks noChangeArrowheads="1"/>
          </p:cNvSpPr>
          <p:nvPr/>
        </p:nvSpPr>
        <p:spPr bwMode="auto">
          <a:xfrm>
            <a:off x="5724525" y="5948363"/>
            <a:ext cx="12969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a:t>Boundary</a:t>
            </a:r>
          </a:p>
        </p:txBody>
      </p:sp>
      <p:sp>
        <p:nvSpPr>
          <p:cNvPr id="17" name="TextBox 2">
            <a:extLst>
              <a:ext uri="{FF2B5EF4-FFF2-40B4-BE49-F238E27FC236}">
                <a16:creationId xmlns:a16="http://schemas.microsoft.com/office/drawing/2014/main" id="{CB4B0535-4D8D-4992-B5E0-DB0F2BF3E477}"/>
              </a:ext>
            </a:extLst>
          </p:cNvPr>
          <p:cNvSpPr txBox="1">
            <a:spLocks noChangeArrowheads="1"/>
          </p:cNvSpPr>
          <p:nvPr/>
        </p:nvSpPr>
        <p:spPr bwMode="auto">
          <a:xfrm>
            <a:off x="0" y="214313"/>
            <a:ext cx="867645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dirty="0">
                <a:latin typeface="黑体" panose="02010609060101010101" pitchFamily="49" charset="-122"/>
                <a:ea typeface="黑体" panose="02010609060101010101" pitchFamily="49" charset="-122"/>
              </a:rPr>
              <a:t>3.5.3</a:t>
            </a:r>
            <a:r>
              <a:rPr lang="zh-CN" altLang="en-US" sz="3200" dirty="0">
                <a:latin typeface="黑体" panose="02010609060101010101" pitchFamily="49" charset="-122"/>
                <a:ea typeface="黑体" panose="02010609060101010101" pitchFamily="49" charset="-122"/>
              </a:rPr>
              <a:t>不同的空间权重矩阵对空间自相关的影响</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6" descr="16">
            <a:extLst>
              <a:ext uri="{FF2B5EF4-FFF2-40B4-BE49-F238E27FC236}">
                <a16:creationId xmlns:a16="http://schemas.microsoft.com/office/drawing/2014/main" id="{C3E32ED6-B419-4F62-B42D-F12D455367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8363" y="0"/>
            <a:ext cx="655637"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4" name="Rectangle 10">
            <a:extLst>
              <a:ext uri="{FF2B5EF4-FFF2-40B4-BE49-F238E27FC236}">
                <a16:creationId xmlns:a16="http://schemas.microsoft.com/office/drawing/2014/main" id="{8816DAB7-C1DB-47C4-B6D8-8F605545A016}"/>
              </a:ext>
            </a:extLst>
          </p:cNvPr>
          <p:cNvSpPr>
            <a:spLocks noChangeArrowheads="1"/>
          </p:cNvSpPr>
          <p:nvPr/>
        </p:nvSpPr>
        <p:spPr bwMode="auto">
          <a:xfrm>
            <a:off x="755650" y="655638"/>
            <a:ext cx="7272338"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latinLnBrk="1" hangingPunct="1"/>
            <a:r>
              <a:rPr lang="zh-CN" altLang="en-US" sz="1600">
                <a:solidFill>
                  <a:srgbClr val="FF3300"/>
                </a:solidFill>
                <a:latin typeface="楷体_GB2312" pitchFamily="49" charset="-122"/>
                <a:ea typeface="楷体_GB2312" pitchFamily="49" charset="-122"/>
              </a:rPr>
              <a:t>空间权重下投影对全局自相关指数影响模拟分析</a:t>
            </a:r>
            <a:r>
              <a:rPr lang="zh-CN" altLang="en-US"/>
              <a:t> </a:t>
            </a:r>
          </a:p>
          <a:p>
            <a:pPr eaLnBrk="1" latinLnBrk="1" hangingPunct="1"/>
            <a:endParaRPr lang="zh-CN" altLang="en-US" sz="1200"/>
          </a:p>
        </p:txBody>
      </p:sp>
      <p:graphicFrame>
        <p:nvGraphicFramePr>
          <p:cNvPr id="400638" name="Group 254">
            <a:extLst>
              <a:ext uri="{FF2B5EF4-FFF2-40B4-BE49-F238E27FC236}">
                <a16:creationId xmlns:a16="http://schemas.microsoft.com/office/drawing/2014/main" id="{BC384AD2-5ADB-4989-8965-B94AFE61E8A8}"/>
              </a:ext>
            </a:extLst>
          </p:cNvPr>
          <p:cNvGraphicFramePr>
            <a:graphicFrameLocks noGrp="1"/>
          </p:cNvGraphicFramePr>
          <p:nvPr/>
        </p:nvGraphicFramePr>
        <p:xfrm>
          <a:off x="3419475" y="1268413"/>
          <a:ext cx="3733800" cy="1654175"/>
        </p:xfrm>
        <a:graphic>
          <a:graphicData uri="http://schemas.openxmlformats.org/drawingml/2006/table">
            <a:tbl>
              <a:tblPr/>
              <a:tblGrid>
                <a:gridCol w="622300">
                  <a:extLst>
                    <a:ext uri="{9D8B030D-6E8A-4147-A177-3AD203B41FA5}">
                      <a16:colId xmlns:a16="http://schemas.microsoft.com/office/drawing/2014/main" val="20000"/>
                    </a:ext>
                  </a:extLst>
                </a:gridCol>
                <a:gridCol w="622300">
                  <a:extLst>
                    <a:ext uri="{9D8B030D-6E8A-4147-A177-3AD203B41FA5}">
                      <a16:colId xmlns:a16="http://schemas.microsoft.com/office/drawing/2014/main" val="20001"/>
                    </a:ext>
                  </a:extLst>
                </a:gridCol>
                <a:gridCol w="622300">
                  <a:extLst>
                    <a:ext uri="{9D8B030D-6E8A-4147-A177-3AD203B41FA5}">
                      <a16:colId xmlns:a16="http://schemas.microsoft.com/office/drawing/2014/main" val="20002"/>
                    </a:ext>
                  </a:extLst>
                </a:gridCol>
                <a:gridCol w="622300">
                  <a:extLst>
                    <a:ext uri="{9D8B030D-6E8A-4147-A177-3AD203B41FA5}">
                      <a16:colId xmlns:a16="http://schemas.microsoft.com/office/drawing/2014/main" val="20003"/>
                    </a:ext>
                  </a:extLst>
                </a:gridCol>
                <a:gridCol w="622300">
                  <a:extLst>
                    <a:ext uri="{9D8B030D-6E8A-4147-A177-3AD203B41FA5}">
                      <a16:colId xmlns:a16="http://schemas.microsoft.com/office/drawing/2014/main" val="20004"/>
                    </a:ext>
                  </a:extLst>
                </a:gridCol>
                <a:gridCol w="622300">
                  <a:extLst>
                    <a:ext uri="{9D8B030D-6E8A-4147-A177-3AD203B41FA5}">
                      <a16:colId xmlns:a16="http://schemas.microsoft.com/office/drawing/2014/main" val="20005"/>
                    </a:ext>
                  </a:extLst>
                </a:gridCol>
              </a:tblGrid>
              <a:tr h="271463">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79</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102</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119</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119</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90</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35</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1463">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103</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143</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33</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115</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100</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75</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1463">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97</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94</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33</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130</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102</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99</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1463">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73</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151</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95</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103</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100</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109</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1463">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127</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135</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100</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35</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90</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92</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82575">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100</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55</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106</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97</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90</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39</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pic>
        <p:nvPicPr>
          <p:cNvPr id="87096" name="Picture 245" descr="N_XEUEVKF`X]$7H7AVSY[8L">
            <a:extLst>
              <a:ext uri="{FF2B5EF4-FFF2-40B4-BE49-F238E27FC236}">
                <a16:creationId xmlns:a16="http://schemas.microsoft.com/office/drawing/2014/main" id="{3C204845-525B-4C70-80F5-6663D1D781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3575" y="3213100"/>
            <a:ext cx="2147888" cy="216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97" name="Picture 246" descr="3L222NOR(RY{11`%R8OMQ04">
            <a:extLst>
              <a:ext uri="{FF2B5EF4-FFF2-40B4-BE49-F238E27FC236}">
                <a16:creationId xmlns:a16="http://schemas.microsoft.com/office/drawing/2014/main" id="{E42B0280-6A20-4F0D-BBB7-6000A3DB1D1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35600" y="3213100"/>
            <a:ext cx="2147888" cy="219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98" name="Text Box 247">
            <a:extLst>
              <a:ext uri="{FF2B5EF4-FFF2-40B4-BE49-F238E27FC236}">
                <a16:creationId xmlns:a16="http://schemas.microsoft.com/office/drawing/2014/main" id="{2363CEC0-46BC-4C8B-9606-C366F5B9DE18}"/>
              </a:ext>
            </a:extLst>
          </p:cNvPr>
          <p:cNvSpPr txBox="1">
            <a:spLocks noChangeArrowheads="1"/>
          </p:cNvSpPr>
          <p:nvPr/>
        </p:nvSpPr>
        <p:spPr bwMode="auto">
          <a:xfrm>
            <a:off x="755650" y="1773238"/>
            <a:ext cx="19446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a:latin typeface="楷体_GB2312" pitchFamily="49" charset="-122"/>
                <a:ea typeface="楷体_GB2312" pitchFamily="49" charset="-122"/>
              </a:rPr>
              <a:t>原始数据</a:t>
            </a:r>
          </a:p>
        </p:txBody>
      </p:sp>
      <p:sp>
        <p:nvSpPr>
          <p:cNvPr id="87099" name="AutoShape 248">
            <a:extLst>
              <a:ext uri="{FF2B5EF4-FFF2-40B4-BE49-F238E27FC236}">
                <a16:creationId xmlns:a16="http://schemas.microsoft.com/office/drawing/2014/main" id="{6AB466B5-299E-4FFF-B5BC-9AE1BC2BF248}"/>
              </a:ext>
            </a:extLst>
          </p:cNvPr>
          <p:cNvSpPr>
            <a:spLocks noChangeArrowheads="1"/>
          </p:cNvSpPr>
          <p:nvPr/>
        </p:nvSpPr>
        <p:spPr bwMode="auto">
          <a:xfrm>
            <a:off x="2051050" y="1916113"/>
            <a:ext cx="1368425" cy="73025"/>
          </a:xfrm>
          <a:prstGeom prst="rightArrow">
            <a:avLst>
              <a:gd name="adj1" fmla="val 50000"/>
              <a:gd name="adj2" fmla="val 468478"/>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7100" name="Text Box 249">
            <a:extLst>
              <a:ext uri="{FF2B5EF4-FFF2-40B4-BE49-F238E27FC236}">
                <a16:creationId xmlns:a16="http://schemas.microsoft.com/office/drawing/2014/main" id="{C54A3D3D-3423-497E-8496-C7CA2D7D01C7}"/>
              </a:ext>
            </a:extLst>
          </p:cNvPr>
          <p:cNvSpPr txBox="1">
            <a:spLocks noChangeArrowheads="1"/>
          </p:cNvSpPr>
          <p:nvPr/>
        </p:nvSpPr>
        <p:spPr bwMode="auto">
          <a:xfrm>
            <a:off x="755650" y="4076700"/>
            <a:ext cx="18002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a:latin typeface="楷体_GB2312" pitchFamily="49" charset="-122"/>
                <a:ea typeface="楷体_GB2312" pitchFamily="49" charset="-122"/>
              </a:rPr>
              <a:t>两种投影</a:t>
            </a:r>
          </a:p>
        </p:txBody>
      </p:sp>
      <p:sp>
        <p:nvSpPr>
          <p:cNvPr id="87101" name="AutoShape 250">
            <a:extLst>
              <a:ext uri="{FF2B5EF4-FFF2-40B4-BE49-F238E27FC236}">
                <a16:creationId xmlns:a16="http://schemas.microsoft.com/office/drawing/2014/main" id="{CE3820F0-1822-4F3D-9A12-E00EE26EE661}"/>
              </a:ext>
            </a:extLst>
          </p:cNvPr>
          <p:cNvSpPr>
            <a:spLocks noChangeArrowheads="1"/>
          </p:cNvSpPr>
          <p:nvPr/>
        </p:nvSpPr>
        <p:spPr bwMode="auto">
          <a:xfrm>
            <a:off x="1835150" y="4292600"/>
            <a:ext cx="1152525" cy="73025"/>
          </a:xfrm>
          <a:prstGeom prst="rightArrow">
            <a:avLst>
              <a:gd name="adj1" fmla="val 50000"/>
              <a:gd name="adj2" fmla="val 394565"/>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7102" name="Text Box 252">
            <a:extLst>
              <a:ext uri="{FF2B5EF4-FFF2-40B4-BE49-F238E27FC236}">
                <a16:creationId xmlns:a16="http://schemas.microsoft.com/office/drawing/2014/main" id="{792CFCB3-A1BB-444C-B5C3-E2EBBEB7E8D7}"/>
              </a:ext>
            </a:extLst>
          </p:cNvPr>
          <p:cNvSpPr txBox="1">
            <a:spLocks noChangeArrowheads="1"/>
          </p:cNvSpPr>
          <p:nvPr/>
        </p:nvSpPr>
        <p:spPr bwMode="auto">
          <a:xfrm>
            <a:off x="3276600" y="5516563"/>
            <a:ext cx="18716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latin typeface="Times New Roman" panose="02020603050405020304" pitchFamily="18" charset="0"/>
              </a:rPr>
              <a:t>Atioff</a:t>
            </a:r>
            <a:r>
              <a:rPr lang="zh-CN" altLang="en-US" sz="1600">
                <a:latin typeface="Times New Roman" panose="02020603050405020304" pitchFamily="18" charset="0"/>
                <a:ea typeface="楷体_GB2312" pitchFamily="49" charset="-122"/>
              </a:rPr>
              <a:t>投影</a:t>
            </a:r>
          </a:p>
        </p:txBody>
      </p:sp>
      <p:sp>
        <p:nvSpPr>
          <p:cNvPr id="87103" name="Text Box 253">
            <a:extLst>
              <a:ext uri="{FF2B5EF4-FFF2-40B4-BE49-F238E27FC236}">
                <a16:creationId xmlns:a16="http://schemas.microsoft.com/office/drawing/2014/main" id="{A62FE2E4-FB1C-4E19-A5D2-1B0403E58460}"/>
              </a:ext>
            </a:extLst>
          </p:cNvPr>
          <p:cNvSpPr txBox="1">
            <a:spLocks noChangeArrowheads="1"/>
          </p:cNvSpPr>
          <p:nvPr/>
        </p:nvSpPr>
        <p:spPr bwMode="auto">
          <a:xfrm>
            <a:off x="6011863" y="5516563"/>
            <a:ext cx="18716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latin typeface="Times New Roman" panose="02020603050405020304" pitchFamily="18" charset="0"/>
              </a:rPr>
              <a:t>Behrmann</a:t>
            </a:r>
            <a:r>
              <a:rPr lang="zh-CN" altLang="en-US" sz="1600">
                <a:latin typeface="Times New Roman" panose="02020603050405020304" pitchFamily="18" charset="0"/>
                <a:ea typeface="楷体_GB2312" pitchFamily="49" charset="-122"/>
              </a:rPr>
              <a:t>投影</a:t>
            </a:r>
          </a:p>
        </p:txBody>
      </p:sp>
      <p:sp>
        <p:nvSpPr>
          <p:cNvPr id="14" name="TextBox 2">
            <a:extLst>
              <a:ext uri="{FF2B5EF4-FFF2-40B4-BE49-F238E27FC236}">
                <a16:creationId xmlns:a16="http://schemas.microsoft.com/office/drawing/2014/main" id="{74EE0167-8AC4-460E-A1DF-18C6F2CB2A6C}"/>
              </a:ext>
            </a:extLst>
          </p:cNvPr>
          <p:cNvSpPr txBox="1">
            <a:spLocks noChangeArrowheads="1"/>
          </p:cNvSpPr>
          <p:nvPr/>
        </p:nvSpPr>
        <p:spPr bwMode="auto">
          <a:xfrm>
            <a:off x="0" y="214313"/>
            <a:ext cx="867645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dirty="0">
                <a:latin typeface="黑体" panose="02010609060101010101" pitchFamily="49" charset="-122"/>
                <a:ea typeface="黑体" panose="02010609060101010101" pitchFamily="49" charset="-122"/>
              </a:rPr>
              <a:t>3.5.3</a:t>
            </a:r>
            <a:r>
              <a:rPr lang="zh-CN" altLang="en-US" sz="3200" dirty="0">
                <a:latin typeface="黑体" panose="02010609060101010101" pitchFamily="49" charset="-122"/>
                <a:ea typeface="黑体" panose="02010609060101010101" pitchFamily="49" charset="-122"/>
              </a:rPr>
              <a:t>不同的空间权重矩阵对空间自相关的影响</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Picture 6" descr="16">
            <a:extLst>
              <a:ext uri="{FF2B5EF4-FFF2-40B4-BE49-F238E27FC236}">
                <a16:creationId xmlns:a16="http://schemas.microsoft.com/office/drawing/2014/main" id="{07BC233C-DE78-4F86-98A0-C48BD7DF8D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8363" y="0"/>
            <a:ext cx="655637"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02999" name="Group 567">
            <a:extLst>
              <a:ext uri="{FF2B5EF4-FFF2-40B4-BE49-F238E27FC236}">
                <a16:creationId xmlns:a16="http://schemas.microsoft.com/office/drawing/2014/main" id="{C1099335-5817-4403-902C-9CCD66DF2924}"/>
              </a:ext>
            </a:extLst>
          </p:cNvPr>
          <p:cNvGraphicFramePr>
            <a:graphicFrameLocks noGrp="1"/>
          </p:cNvGraphicFramePr>
          <p:nvPr/>
        </p:nvGraphicFramePr>
        <p:xfrm>
          <a:off x="2555875" y="1700213"/>
          <a:ext cx="5410200" cy="1920877"/>
        </p:xfrm>
        <a:graphic>
          <a:graphicData uri="http://schemas.openxmlformats.org/drawingml/2006/table">
            <a:tbl>
              <a:tblPr/>
              <a:tblGrid>
                <a:gridCol w="901700">
                  <a:extLst>
                    <a:ext uri="{9D8B030D-6E8A-4147-A177-3AD203B41FA5}">
                      <a16:colId xmlns:a16="http://schemas.microsoft.com/office/drawing/2014/main" val="20000"/>
                    </a:ext>
                  </a:extLst>
                </a:gridCol>
                <a:gridCol w="901700">
                  <a:extLst>
                    <a:ext uri="{9D8B030D-6E8A-4147-A177-3AD203B41FA5}">
                      <a16:colId xmlns:a16="http://schemas.microsoft.com/office/drawing/2014/main" val="20001"/>
                    </a:ext>
                  </a:extLst>
                </a:gridCol>
                <a:gridCol w="901700">
                  <a:extLst>
                    <a:ext uri="{9D8B030D-6E8A-4147-A177-3AD203B41FA5}">
                      <a16:colId xmlns:a16="http://schemas.microsoft.com/office/drawing/2014/main" val="20002"/>
                    </a:ext>
                  </a:extLst>
                </a:gridCol>
                <a:gridCol w="901700">
                  <a:extLst>
                    <a:ext uri="{9D8B030D-6E8A-4147-A177-3AD203B41FA5}">
                      <a16:colId xmlns:a16="http://schemas.microsoft.com/office/drawing/2014/main" val="20003"/>
                    </a:ext>
                  </a:extLst>
                </a:gridCol>
                <a:gridCol w="901700">
                  <a:extLst>
                    <a:ext uri="{9D8B030D-6E8A-4147-A177-3AD203B41FA5}">
                      <a16:colId xmlns:a16="http://schemas.microsoft.com/office/drawing/2014/main" val="20004"/>
                    </a:ext>
                  </a:extLst>
                </a:gridCol>
                <a:gridCol w="901700">
                  <a:extLst>
                    <a:ext uri="{9D8B030D-6E8A-4147-A177-3AD203B41FA5}">
                      <a16:colId xmlns:a16="http://schemas.microsoft.com/office/drawing/2014/main" val="20005"/>
                    </a:ext>
                  </a:extLst>
                </a:gridCol>
              </a:tblGrid>
              <a:tr h="274411">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Method</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Moran’sI</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Z</a:t>
                      </a:r>
                      <a:r>
                        <a:rPr kumimoji="1" lang="en-US" altLang="zh-CN" sz="1200" b="0"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N</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Var</a:t>
                      </a:r>
                      <a:r>
                        <a:rPr kumimoji="1" lang="en-US" altLang="zh-CN" sz="1200" b="0"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N</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Z</a:t>
                      </a:r>
                      <a:r>
                        <a:rPr kumimoji="1" lang="en-US" altLang="zh-CN" sz="1200" b="0"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R</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Var</a:t>
                      </a:r>
                      <a:r>
                        <a:rPr kumimoji="1" lang="en-US" altLang="zh-CN" sz="1200" b="0"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R</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411">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Queen</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-0.167</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-1.497</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0.007</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-1.423</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0.003</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411">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Rook</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-0.100</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-0.432</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0.013</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-0.453</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0.020</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411">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Direction</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0.032</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0.605</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0.037</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0.575</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0.041</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411">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Area</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-0.106</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-0.433</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0.021</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-0.463</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0.024</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411">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K-Nears</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0.197</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1.901</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0.015</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1.307</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0.016</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411">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Boundary</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-0.073</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-0.292</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0.022</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-0.277</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0.024</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403007" name="Group 575">
            <a:extLst>
              <a:ext uri="{FF2B5EF4-FFF2-40B4-BE49-F238E27FC236}">
                <a16:creationId xmlns:a16="http://schemas.microsoft.com/office/drawing/2014/main" id="{462AC04C-27B6-4FA8-B56A-9C5150EDB544}"/>
              </a:ext>
            </a:extLst>
          </p:cNvPr>
          <p:cNvGraphicFramePr>
            <a:graphicFrameLocks noGrp="1"/>
          </p:cNvGraphicFramePr>
          <p:nvPr/>
        </p:nvGraphicFramePr>
        <p:xfrm>
          <a:off x="2555875" y="3860800"/>
          <a:ext cx="5410200" cy="1920877"/>
        </p:xfrm>
        <a:graphic>
          <a:graphicData uri="http://schemas.openxmlformats.org/drawingml/2006/table">
            <a:tbl>
              <a:tblPr/>
              <a:tblGrid>
                <a:gridCol w="901700">
                  <a:extLst>
                    <a:ext uri="{9D8B030D-6E8A-4147-A177-3AD203B41FA5}">
                      <a16:colId xmlns:a16="http://schemas.microsoft.com/office/drawing/2014/main" val="20000"/>
                    </a:ext>
                  </a:extLst>
                </a:gridCol>
                <a:gridCol w="901700">
                  <a:extLst>
                    <a:ext uri="{9D8B030D-6E8A-4147-A177-3AD203B41FA5}">
                      <a16:colId xmlns:a16="http://schemas.microsoft.com/office/drawing/2014/main" val="20001"/>
                    </a:ext>
                  </a:extLst>
                </a:gridCol>
                <a:gridCol w="901700">
                  <a:extLst>
                    <a:ext uri="{9D8B030D-6E8A-4147-A177-3AD203B41FA5}">
                      <a16:colId xmlns:a16="http://schemas.microsoft.com/office/drawing/2014/main" val="20002"/>
                    </a:ext>
                  </a:extLst>
                </a:gridCol>
                <a:gridCol w="901700">
                  <a:extLst>
                    <a:ext uri="{9D8B030D-6E8A-4147-A177-3AD203B41FA5}">
                      <a16:colId xmlns:a16="http://schemas.microsoft.com/office/drawing/2014/main" val="20003"/>
                    </a:ext>
                  </a:extLst>
                </a:gridCol>
                <a:gridCol w="901700">
                  <a:extLst>
                    <a:ext uri="{9D8B030D-6E8A-4147-A177-3AD203B41FA5}">
                      <a16:colId xmlns:a16="http://schemas.microsoft.com/office/drawing/2014/main" val="20004"/>
                    </a:ext>
                  </a:extLst>
                </a:gridCol>
                <a:gridCol w="901700">
                  <a:extLst>
                    <a:ext uri="{9D8B030D-6E8A-4147-A177-3AD203B41FA5}">
                      <a16:colId xmlns:a16="http://schemas.microsoft.com/office/drawing/2014/main" val="20005"/>
                    </a:ext>
                  </a:extLst>
                </a:gridCol>
              </a:tblGrid>
              <a:tr h="274411">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Method</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Moran’sI</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Z</a:t>
                      </a:r>
                      <a:r>
                        <a:rPr kumimoji="1" lang="en-US" altLang="zh-CN" sz="1200" b="0"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N</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Var</a:t>
                      </a:r>
                      <a:r>
                        <a:rPr kumimoji="1" lang="en-US" altLang="zh-CN" sz="1200" b="0"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N</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Z</a:t>
                      </a:r>
                      <a:r>
                        <a:rPr kumimoji="1" lang="en-US" altLang="zh-CN" sz="1200" b="0"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R</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Var</a:t>
                      </a:r>
                      <a:r>
                        <a:rPr kumimoji="1" lang="en-US" altLang="zh-CN" sz="1200" b="0" i="0" u="none" strike="noStrike" cap="none" normalizeH="0" baseline="-25000">
                          <a:ln>
                            <a:noFill/>
                          </a:ln>
                          <a:solidFill>
                            <a:schemeClr val="tx1"/>
                          </a:solidFill>
                          <a:effectLst/>
                          <a:latin typeface="Times New Roman" pitchFamily="18" charset="0"/>
                          <a:ea typeface="宋体" pitchFamily="2" charset="-122"/>
                          <a:cs typeface="Times New Roman" pitchFamily="18" charset="0"/>
                        </a:rPr>
                        <a:t>R</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411">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Queen</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-0.137</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-1.557</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0.009</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-1.431</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0.010</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411">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Rook</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-0.100</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-0.432</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0.013</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-0.453</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0.020</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411">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Direction</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0.163</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1.041</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0.033</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0.939</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0.042</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411">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Area</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-0.157</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-0.362</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0.020</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-0.319</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0.022</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411">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K-Nears</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0.064</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-0.530</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0.015</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0.762</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0.011</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411">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Boundary</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-0.116</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-0.530</a:t>
                      </a:r>
                      <a:endParaRPr kumimoji="1" lang="en-US" altLang="zh-CN" sz="12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0.020</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-0.551</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0.022</a:t>
                      </a:r>
                      <a:endParaRPr kumimoji="1" lang="en-US" altLang="zh-CN" sz="12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88184" name="Rectangle 557">
            <a:extLst>
              <a:ext uri="{FF2B5EF4-FFF2-40B4-BE49-F238E27FC236}">
                <a16:creationId xmlns:a16="http://schemas.microsoft.com/office/drawing/2014/main" id="{34E4B65E-4086-450F-896F-043B063BEB6D}"/>
              </a:ext>
            </a:extLst>
          </p:cNvPr>
          <p:cNvSpPr>
            <a:spLocks noChangeArrowheads="1"/>
          </p:cNvSpPr>
          <p:nvPr/>
        </p:nvSpPr>
        <p:spPr bwMode="auto">
          <a:xfrm>
            <a:off x="791368" y="860424"/>
            <a:ext cx="7561263"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latinLnBrk="1" hangingPunct="1"/>
            <a:r>
              <a:rPr lang="zh-CN" altLang="en-US" sz="1600">
                <a:solidFill>
                  <a:srgbClr val="FF3300"/>
                </a:solidFill>
                <a:latin typeface="楷体_GB2312" pitchFamily="49" charset="-122"/>
                <a:ea typeface="楷体_GB2312" pitchFamily="49" charset="-122"/>
              </a:rPr>
              <a:t>空间权重下投影对全局自相关指数影响模拟分析</a:t>
            </a:r>
            <a:r>
              <a:rPr lang="zh-CN" altLang="en-US"/>
              <a:t> </a:t>
            </a:r>
          </a:p>
          <a:p>
            <a:pPr eaLnBrk="1" latinLnBrk="1" hangingPunct="1"/>
            <a:endParaRPr lang="zh-CN" altLang="en-US" sz="1200"/>
          </a:p>
        </p:txBody>
      </p:sp>
      <p:sp>
        <p:nvSpPr>
          <p:cNvPr id="88185" name="Oval 558">
            <a:extLst>
              <a:ext uri="{FF2B5EF4-FFF2-40B4-BE49-F238E27FC236}">
                <a16:creationId xmlns:a16="http://schemas.microsoft.com/office/drawing/2014/main" id="{264ACE9C-FA41-4A46-B254-05ED92E0D054}"/>
              </a:ext>
            </a:extLst>
          </p:cNvPr>
          <p:cNvSpPr>
            <a:spLocks noChangeArrowheads="1"/>
          </p:cNvSpPr>
          <p:nvPr/>
        </p:nvSpPr>
        <p:spPr bwMode="auto">
          <a:xfrm>
            <a:off x="323850" y="2997200"/>
            <a:ext cx="1943100" cy="10795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8186" name="Text Box 559">
            <a:extLst>
              <a:ext uri="{FF2B5EF4-FFF2-40B4-BE49-F238E27FC236}">
                <a16:creationId xmlns:a16="http://schemas.microsoft.com/office/drawing/2014/main" id="{8FF14948-266C-4679-849B-545FA3BC4F54}"/>
              </a:ext>
            </a:extLst>
          </p:cNvPr>
          <p:cNvSpPr txBox="1">
            <a:spLocks noChangeArrowheads="1"/>
          </p:cNvSpPr>
          <p:nvPr/>
        </p:nvSpPr>
        <p:spPr bwMode="auto">
          <a:xfrm>
            <a:off x="395288" y="3213100"/>
            <a:ext cx="158432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a:solidFill>
                  <a:schemeClr val="accent2"/>
                </a:solidFill>
                <a:latin typeface="楷体_GB2312" pitchFamily="49" charset="-122"/>
                <a:ea typeface="楷体_GB2312" pitchFamily="49" charset="-122"/>
              </a:rPr>
              <a:t>两种投影下的</a:t>
            </a:r>
            <a:r>
              <a:rPr lang="en-US" altLang="zh-CN" sz="1600">
                <a:solidFill>
                  <a:schemeClr val="accent2"/>
                </a:solidFill>
                <a:latin typeface="楷体_GB2312" pitchFamily="49" charset="-122"/>
                <a:ea typeface="楷体_GB2312" pitchFamily="49" charset="-122"/>
              </a:rPr>
              <a:t>Moran</a:t>
            </a:r>
          </a:p>
        </p:txBody>
      </p:sp>
      <p:sp>
        <p:nvSpPr>
          <p:cNvPr id="88187" name="AutoShape 561">
            <a:extLst>
              <a:ext uri="{FF2B5EF4-FFF2-40B4-BE49-F238E27FC236}">
                <a16:creationId xmlns:a16="http://schemas.microsoft.com/office/drawing/2014/main" id="{F4AFD835-87CC-4046-AA5F-FAC80D8475BB}"/>
              </a:ext>
            </a:extLst>
          </p:cNvPr>
          <p:cNvSpPr>
            <a:spLocks noChangeArrowheads="1"/>
          </p:cNvSpPr>
          <p:nvPr/>
        </p:nvSpPr>
        <p:spPr bwMode="auto">
          <a:xfrm>
            <a:off x="1042988" y="4005263"/>
            <a:ext cx="792162" cy="647700"/>
          </a:xfrm>
          <a:prstGeom prst="curvedRightArrow">
            <a:avLst>
              <a:gd name="adj1" fmla="val 20000"/>
              <a:gd name="adj2" fmla="val 40000"/>
              <a:gd name="adj3" fmla="val 40768"/>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8188" name="AutoShape 562">
            <a:extLst>
              <a:ext uri="{FF2B5EF4-FFF2-40B4-BE49-F238E27FC236}">
                <a16:creationId xmlns:a16="http://schemas.microsoft.com/office/drawing/2014/main" id="{9CD08A32-E07E-430D-B5A6-4B277BD2BF66}"/>
              </a:ext>
            </a:extLst>
          </p:cNvPr>
          <p:cNvSpPr>
            <a:spLocks noChangeArrowheads="1"/>
          </p:cNvSpPr>
          <p:nvPr/>
        </p:nvSpPr>
        <p:spPr bwMode="auto">
          <a:xfrm>
            <a:off x="971550" y="2565400"/>
            <a:ext cx="719138" cy="576263"/>
          </a:xfrm>
          <a:prstGeom prst="curvedRightArrow">
            <a:avLst>
              <a:gd name="adj1" fmla="val 20000"/>
              <a:gd name="adj2" fmla="val 40000"/>
              <a:gd name="adj3" fmla="val 41598"/>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 name="TextBox 2">
            <a:extLst>
              <a:ext uri="{FF2B5EF4-FFF2-40B4-BE49-F238E27FC236}">
                <a16:creationId xmlns:a16="http://schemas.microsoft.com/office/drawing/2014/main" id="{A6E5FAFD-80E2-457B-B7D7-1F60A4513E88}"/>
              </a:ext>
            </a:extLst>
          </p:cNvPr>
          <p:cNvSpPr txBox="1">
            <a:spLocks noChangeArrowheads="1"/>
          </p:cNvSpPr>
          <p:nvPr/>
        </p:nvSpPr>
        <p:spPr bwMode="auto">
          <a:xfrm>
            <a:off x="0" y="214313"/>
            <a:ext cx="867645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dirty="0">
                <a:latin typeface="黑体" panose="02010609060101010101" pitchFamily="49" charset="-122"/>
                <a:ea typeface="黑体" panose="02010609060101010101" pitchFamily="49" charset="-122"/>
              </a:rPr>
              <a:t>3.5.3</a:t>
            </a:r>
            <a:r>
              <a:rPr lang="zh-CN" altLang="en-US" sz="3200" dirty="0">
                <a:latin typeface="黑体" panose="02010609060101010101" pitchFamily="49" charset="-122"/>
                <a:ea typeface="黑体" panose="02010609060101010101" pitchFamily="49" charset="-122"/>
              </a:rPr>
              <a:t>不同的空间权重矩阵对空间自相关的影响</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0" name="Picture 6" descr="16">
            <a:extLst>
              <a:ext uri="{FF2B5EF4-FFF2-40B4-BE49-F238E27FC236}">
                <a16:creationId xmlns:a16="http://schemas.microsoft.com/office/drawing/2014/main" id="{A9E00254-C301-4B9C-BA22-8F09B5174A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88363" y="0"/>
            <a:ext cx="655637"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13093" name="Group 421">
            <a:extLst>
              <a:ext uri="{FF2B5EF4-FFF2-40B4-BE49-F238E27FC236}">
                <a16:creationId xmlns:a16="http://schemas.microsoft.com/office/drawing/2014/main" id="{43D2959E-F22A-4862-864E-7F1B5C0613D7}"/>
              </a:ext>
            </a:extLst>
          </p:cNvPr>
          <p:cNvGraphicFramePr>
            <a:graphicFrameLocks noGrp="1"/>
          </p:cNvGraphicFramePr>
          <p:nvPr/>
        </p:nvGraphicFramePr>
        <p:xfrm>
          <a:off x="2628900" y="2205038"/>
          <a:ext cx="6048375" cy="2374901"/>
        </p:xfrm>
        <a:graphic>
          <a:graphicData uri="http://schemas.openxmlformats.org/drawingml/2006/table">
            <a:tbl>
              <a:tblPr/>
              <a:tblGrid>
                <a:gridCol w="863600">
                  <a:extLst>
                    <a:ext uri="{9D8B030D-6E8A-4147-A177-3AD203B41FA5}">
                      <a16:colId xmlns:a16="http://schemas.microsoft.com/office/drawing/2014/main" val="20000"/>
                    </a:ext>
                  </a:extLst>
                </a:gridCol>
                <a:gridCol w="862013">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865187">
                  <a:extLst>
                    <a:ext uri="{9D8B030D-6E8A-4147-A177-3AD203B41FA5}">
                      <a16:colId xmlns:a16="http://schemas.microsoft.com/office/drawing/2014/main" val="20003"/>
                    </a:ext>
                  </a:extLst>
                </a:gridCol>
                <a:gridCol w="865188">
                  <a:extLst>
                    <a:ext uri="{9D8B030D-6E8A-4147-A177-3AD203B41FA5}">
                      <a16:colId xmlns:a16="http://schemas.microsoft.com/office/drawing/2014/main" val="20004"/>
                    </a:ext>
                  </a:extLst>
                </a:gridCol>
                <a:gridCol w="863600">
                  <a:extLst>
                    <a:ext uri="{9D8B030D-6E8A-4147-A177-3AD203B41FA5}">
                      <a16:colId xmlns:a16="http://schemas.microsoft.com/office/drawing/2014/main" val="20005"/>
                    </a:ext>
                  </a:extLst>
                </a:gridCol>
                <a:gridCol w="865187">
                  <a:extLst>
                    <a:ext uri="{9D8B030D-6E8A-4147-A177-3AD203B41FA5}">
                      <a16:colId xmlns:a16="http://schemas.microsoft.com/office/drawing/2014/main" val="20006"/>
                    </a:ext>
                  </a:extLst>
                </a:gridCol>
              </a:tblGrid>
              <a:tr h="263525">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zh-CN" altLang="en-US" sz="1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权重方式</a:t>
                      </a:r>
                      <a:endParaRPr kumimoji="1" lang="zh-CN" altLang="en-US" sz="24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zh-CN" altLang="en-US"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随机模式</a:t>
                      </a:r>
                      <a:endParaRPr kumimoji="1" lang="zh-CN" altLang="en-US"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zh-CN" altLang="en-US"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聚集模式</a:t>
                      </a:r>
                      <a:endParaRPr kumimoji="1" lang="zh-CN" altLang="en-US"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1973-Moran</a:t>
                      </a:r>
                      <a:endParaRPr kumimoji="1" lang="en-US" altLang="zh-CN" sz="24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1933-Moran</a:t>
                      </a:r>
                      <a:endParaRPr kumimoji="1" lang="en-US" altLang="zh-CN" sz="24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1993-Moran</a:t>
                      </a:r>
                      <a:endParaRPr kumimoji="1" lang="en-US" altLang="zh-CN" sz="24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2003-Moran</a:t>
                      </a:r>
                      <a:endParaRPr kumimoji="1" lang="en-US" altLang="zh-CN" sz="24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63525">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Rook</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1973-1935</a:t>
                      </a:r>
                      <a:endParaRPr kumimoji="1" lang="en-US" altLang="zh-CN" sz="24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1936-2003</a:t>
                      </a:r>
                      <a:endParaRPr kumimoji="1" lang="en-US" altLang="zh-CN" sz="24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0.1131</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0.2327</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0.2633</a:t>
                      </a:r>
                      <a:endParaRPr kumimoji="1" lang="en-US" altLang="zh-CN" sz="24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0.2765</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5113">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Area</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1973-1937</a:t>
                      </a:r>
                      <a:endParaRPr kumimoji="1" lang="en-US" altLang="zh-CN" sz="24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1933-2003</a:t>
                      </a:r>
                      <a:endParaRPr kumimoji="1" lang="en-US" altLang="zh-CN" sz="24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0.1230</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0.1973</a:t>
                      </a:r>
                      <a:endParaRPr kumimoji="1" lang="en-US" altLang="zh-CN" sz="24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0.2150</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0.2253</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3525">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Boundary</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1973-1936</a:t>
                      </a:r>
                      <a:endParaRPr kumimoji="1" lang="en-US" altLang="zh-CN" sz="24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1937-2003</a:t>
                      </a:r>
                      <a:endParaRPr kumimoji="1" lang="en-US" altLang="zh-CN" sz="24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0.1070</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0.2165</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0.2543</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0.2674</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3525">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K-Nears</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1973-1937</a:t>
                      </a:r>
                      <a:endParaRPr kumimoji="1" lang="en-US" altLang="zh-CN" sz="24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1933-2003</a:t>
                      </a:r>
                      <a:endParaRPr kumimoji="1" lang="en-US" altLang="zh-CN" sz="24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0.0136</a:t>
                      </a:r>
                      <a:endParaRPr kumimoji="1" lang="en-US" altLang="zh-CN" sz="24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0.1710</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0.2143</a:t>
                      </a:r>
                      <a:endParaRPr kumimoji="1" lang="en-US" altLang="zh-CN" sz="24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0.3296</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3525">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Dir(1-3)</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1973-2003</a:t>
                      </a:r>
                      <a:endParaRPr kumimoji="1" lang="en-US" altLang="zh-CN" sz="24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zh-CN" altLang="en-US"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无</a:t>
                      </a:r>
                      <a:endParaRPr kumimoji="1" lang="zh-CN" altLang="en-US"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0.0052</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0.1513</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0.2392</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0.1337</a:t>
                      </a:r>
                      <a:endParaRPr kumimoji="1" lang="en-US" altLang="zh-CN" sz="24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65113">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Dir(2-4)</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1973-1937</a:t>
                      </a:r>
                      <a:endParaRPr kumimoji="1" lang="en-US" altLang="zh-CN" sz="24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1933-2003</a:t>
                      </a:r>
                      <a:endParaRPr kumimoji="1" lang="en-US" altLang="zh-CN" sz="24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0.1739</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0.3305</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0.3172</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0.4010</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63525">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Rail Way</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1973-2003</a:t>
                      </a:r>
                      <a:endParaRPr kumimoji="1" lang="en-US" altLang="zh-CN" sz="24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zh-CN" altLang="en-US"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无</a:t>
                      </a:r>
                      <a:endParaRPr kumimoji="1" lang="zh-CN" altLang="en-US"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0.0472</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0.1562</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0.2060</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0.1956</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63525">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Road</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1973-1993</a:t>
                      </a:r>
                      <a:endParaRPr kumimoji="1" lang="en-US" altLang="zh-CN" sz="24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1994-2003</a:t>
                      </a:r>
                      <a:endParaRPr kumimoji="1" lang="en-US" altLang="zh-CN" sz="2400" b="0" i="0" u="none" strike="noStrike" cap="none" normalizeH="0" baseline="0" dirty="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0.0551</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0.1702</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0.2493</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0.2723</a:t>
                      </a:r>
                      <a:endParaRPr kumimoji="1" lang="en-US" altLang="zh-CN" sz="2400" b="0" i="0" u="none" strike="noStrike" cap="none" normalizeH="0" baseline="0">
                        <a:ln>
                          <a:noFill/>
                        </a:ln>
                        <a:solidFill>
                          <a:schemeClr val="tx1"/>
                        </a:solidFill>
                        <a:effectLst/>
                        <a:latin typeface="Gulim" pitchFamily="34" charset="-127"/>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pic>
        <p:nvPicPr>
          <p:cNvPr id="89173" name="Picture 422" descr="C:\DOCUME~1\ADMINI~1\LOCALS~1\Temp\{7[QYR6@N5U}M@W2Y$Q8AC0.jpg">
            <a:extLst>
              <a:ext uri="{FF2B5EF4-FFF2-40B4-BE49-F238E27FC236}">
                <a16:creationId xmlns:a16="http://schemas.microsoft.com/office/drawing/2014/main" id="{68AB13DA-DC3E-4090-8C59-660A7987F6BE}"/>
              </a:ext>
            </a:extLst>
          </p:cNvPr>
          <p:cNvPicPr>
            <a:picLocks noChangeAspect="1" noChangeArrowheads="1"/>
          </p:cNvPicPr>
          <p:nvPr/>
        </p:nvPicPr>
        <p:blipFill>
          <a:blip r:embed="rId5" r:link="rId6">
            <a:extLst>
              <a:ext uri="{28A0092B-C50C-407E-A947-70E740481C1C}">
                <a14:useLocalDpi xmlns:a14="http://schemas.microsoft.com/office/drawing/2010/main" val="0"/>
              </a:ext>
            </a:extLst>
          </a:blip>
          <a:srcRect/>
          <a:stretch>
            <a:fillRect/>
          </a:stretch>
        </p:blipFill>
        <p:spPr bwMode="auto">
          <a:xfrm>
            <a:off x="6804025" y="5084763"/>
            <a:ext cx="1871663"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174" name="Picture 423" descr="T(YPV1V9CEL4J9IL`SQ6[[I">
            <a:extLst>
              <a:ext uri="{FF2B5EF4-FFF2-40B4-BE49-F238E27FC236}">
                <a16:creationId xmlns:a16="http://schemas.microsoft.com/office/drawing/2014/main" id="{2068FD73-ADED-469A-9249-86AB4CA1D76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3850" y="5013325"/>
            <a:ext cx="1871663"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176" name="Rectangle 426">
            <a:extLst>
              <a:ext uri="{FF2B5EF4-FFF2-40B4-BE49-F238E27FC236}">
                <a16:creationId xmlns:a16="http://schemas.microsoft.com/office/drawing/2014/main" id="{8D7737C2-8432-4166-8B4A-E3DB708ABB60}"/>
              </a:ext>
            </a:extLst>
          </p:cNvPr>
          <p:cNvSpPr>
            <a:spLocks noChangeArrowheads="1"/>
          </p:cNvSpPr>
          <p:nvPr/>
        </p:nvSpPr>
        <p:spPr bwMode="auto">
          <a:xfrm>
            <a:off x="531758" y="895350"/>
            <a:ext cx="6840538"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latinLnBrk="1" hangingPunct="1"/>
            <a:r>
              <a:rPr lang="zh-CN" altLang="en-US" sz="1600" dirty="0">
                <a:solidFill>
                  <a:srgbClr val="FF3300"/>
                </a:solidFill>
                <a:latin typeface="楷体_GB2312" pitchFamily="49" charset="-122"/>
                <a:ea typeface="楷体_GB2312" pitchFamily="49" charset="-122"/>
              </a:rPr>
              <a:t>空间权重全局自相关指数影响实证分析</a:t>
            </a:r>
            <a:r>
              <a:rPr lang="zh-CN" altLang="en-US" dirty="0"/>
              <a:t> </a:t>
            </a:r>
          </a:p>
          <a:p>
            <a:pPr eaLnBrk="1" latinLnBrk="1" hangingPunct="1"/>
            <a:endParaRPr lang="zh-CN" altLang="en-US" sz="1200" dirty="0"/>
          </a:p>
        </p:txBody>
      </p:sp>
      <p:sp>
        <p:nvSpPr>
          <p:cNvPr id="89177" name="Rectangle 427">
            <a:extLst>
              <a:ext uri="{FF2B5EF4-FFF2-40B4-BE49-F238E27FC236}">
                <a16:creationId xmlns:a16="http://schemas.microsoft.com/office/drawing/2014/main" id="{FD0EEE47-0687-487E-AE0B-8A89EF6A008C}"/>
              </a:ext>
            </a:extLst>
          </p:cNvPr>
          <p:cNvSpPr>
            <a:spLocks noChangeArrowheads="1"/>
          </p:cNvSpPr>
          <p:nvPr/>
        </p:nvSpPr>
        <p:spPr bwMode="auto">
          <a:xfrm>
            <a:off x="2628900" y="3571875"/>
            <a:ext cx="6048375" cy="21590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9178" name="Rectangle 428">
            <a:extLst>
              <a:ext uri="{FF2B5EF4-FFF2-40B4-BE49-F238E27FC236}">
                <a16:creationId xmlns:a16="http://schemas.microsoft.com/office/drawing/2014/main" id="{2D3DF080-131E-4103-B0A2-13D3FC7B5F59}"/>
              </a:ext>
            </a:extLst>
          </p:cNvPr>
          <p:cNvSpPr>
            <a:spLocks noChangeArrowheads="1"/>
          </p:cNvSpPr>
          <p:nvPr/>
        </p:nvSpPr>
        <p:spPr bwMode="auto">
          <a:xfrm>
            <a:off x="2628900" y="4076700"/>
            <a:ext cx="6048375" cy="21590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9179" name="Text Box 429">
            <a:extLst>
              <a:ext uri="{FF2B5EF4-FFF2-40B4-BE49-F238E27FC236}">
                <a16:creationId xmlns:a16="http://schemas.microsoft.com/office/drawing/2014/main" id="{5F10BEF8-269E-4EEB-BBB4-4B37470E6128}"/>
              </a:ext>
            </a:extLst>
          </p:cNvPr>
          <p:cNvSpPr txBox="1">
            <a:spLocks noChangeArrowheads="1"/>
          </p:cNvSpPr>
          <p:nvPr/>
        </p:nvSpPr>
        <p:spPr bwMode="auto">
          <a:xfrm>
            <a:off x="3132138" y="1628775"/>
            <a:ext cx="43926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a:latin typeface="楷体_GB2312" pitchFamily="49" charset="-122"/>
                <a:ea typeface="楷体_GB2312" pitchFamily="49" charset="-122"/>
              </a:rPr>
              <a:t>中国人均</a:t>
            </a:r>
            <a:r>
              <a:rPr lang="en-US" altLang="zh-CN" sz="1600">
                <a:latin typeface="楷体_GB2312" pitchFamily="49" charset="-122"/>
                <a:ea typeface="楷体_GB2312" pitchFamily="49" charset="-122"/>
              </a:rPr>
              <a:t>GDP</a:t>
            </a:r>
            <a:r>
              <a:rPr lang="zh-CN" altLang="en-US" sz="1600">
                <a:latin typeface="楷体_GB2312" pitchFamily="49" charset="-122"/>
                <a:ea typeface="楷体_GB2312" pitchFamily="49" charset="-122"/>
              </a:rPr>
              <a:t>的</a:t>
            </a:r>
            <a:r>
              <a:rPr lang="en-US" altLang="zh-CN" sz="1600">
                <a:latin typeface="楷体_GB2312" pitchFamily="49" charset="-122"/>
                <a:ea typeface="楷体_GB2312" pitchFamily="49" charset="-122"/>
              </a:rPr>
              <a:t>Moran</a:t>
            </a:r>
            <a:r>
              <a:rPr lang="zh-CN" altLang="en-US" sz="1600">
                <a:latin typeface="楷体_GB2312" pitchFamily="49" charset="-122"/>
                <a:ea typeface="楷体_GB2312" pitchFamily="49" charset="-122"/>
              </a:rPr>
              <a:t>统计表</a:t>
            </a:r>
          </a:p>
        </p:txBody>
      </p:sp>
      <p:sp>
        <p:nvSpPr>
          <p:cNvPr id="89180" name="Text Box 432">
            <a:extLst>
              <a:ext uri="{FF2B5EF4-FFF2-40B4-BE49-F238E27FC236}">
                <a16:creationId xmlns:a16="http://schemas.microsoft.com/office/drawing/2014/main" id="{C790124B-1753-407D-BF37-3ACEC6BF9095}"/>
              </a:ext>
            </a:extLst>
          </p:cNvPr>
          <p:cNvSpPr txBox="1">
            <a:spLocks noChangeArrowheads="1"/>
          </p:cNvSpPr>
          <p:nvPr/>
        </p:nvSpPr>
        <p:spPr bwMode="auto">
          <a:xfrm>
            <a:off x="250825" y="2133600"/>
            <a:ext cx="2160588" cy="229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latin typeface="楷体_GB2312" pitchFamily="49" charset="-122"/>
                <a:ea typeface="楷体_GB2312" pitchFamily="49" charset="-122"/>
              </a:rPr>
              <a:t>Road</a:t>
            </a:r>
            <a:r>
              <a:rPr lang="zh-CN" altLang="en-US">
                <a:latin typeface="楷体_GB2312" pitchFamily="49" charset="-122"/>
                <a:ea typeface="楷体_GB2312" pitchFamily="49" charset="-122"/>
              </a:rPr>
              <a:t>和</a:t>
            </a:r>
            <a:r>
              <a:rPr lang="en-US" altLang="zh-CN">
                <a:latin typeface="楷体_GB2312" pitchFamily="49" charset="-122"/>
                <a:ea typeface="楷体_GB2312" pitchFamily="49" charset="-122"/>
              </a:rPr>
              <a:t>Railway</a:t>
            </a:r>
            <a:r>
              <a:rPr lang="zh-CN" altLang="en-US">
                <a:latin typeface="楷体_GB2312" pitchFamily="49" charset="-122"/>
                <a:ea typeface="楷体_GB2312" pitchFamily="49" charset="-122"/>
              </a:rPr>
              <a:t>权重为</a:t>
            </a:r>
          </a:p>
          <a:p>
            <a:pPr eaLnBrk="1" hangingPunct="1">
              <a:spcBef>
                <a:spcPct val="50000"/>
              </a:spcBef>
            </a:pPr>
            <a:r>
              <a:rPr lang="en-US" altLang="zh-CN">
                <a:latin typeface="楷体_GB2312" pitchFamily="49" charset="-122"/>
                <a:ea typeface="楷体_GB2312" pitchFamily="49" charset="-122"/>
              </a:rPr>
              <a:t>K-Nears</a:t>
            </a:r>
            <a:r>
              <a:rPr lang="zh-CN" altLang="en-US">
                <a:latin typeface="楷体_GB2312" pitchFamily="49" charset="-122"/>
                <a:ea typeface="楷体_GB2312" pitchFamily="49" charset="-122"/>
              </a:rPr>
              <a:t>权重中，取</a:t>
            </a:r>
            <a:r>
              <a:rPr lang="en-US" altLang="zh-CN">
                <a:latin typeface="楷体_GB2312" pitchFamily="49" charset="-122"/>
                <a:ea typeface="楷体_GB2312" pitchFamily="49" charset="-122"/>
              </a:rPr>
              <a:t>K=5</a:t>
            </a:r>
          </a:p>
          <a:p>
            <a:pPr eaLnBrk="1" hangingPunct="1">
              <a:spcBef>
                <a:spcPct val="50000"/>
              </a:spcBef>
            </a:pPr>
            <a:r>
              <a:rPr lang="en-US" altLang="zh-CN">
                <a:latin typeface="楷体_GB2312" pitchFamily="49" charset="-122"/>
                <a:ea typeface="楷体_GB2312" pitchFamily="49" charset="-122"/>
              </a:rPr>
              <a:t>Area</a:t>
            </a:r>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Boundary</a:t>
            </a:r>
            <a:r>
              <a:rPr lang="zh-CN" altLang="en-US">
                <a:latin typeface="楷体_GB2312" pitchFamily="49" charset="-122"/>
                <a:ea typeface="楷体_GB2312" pitchFamily="49" charset="-122"/>
              </a:rPr>
              <a:t>权重中，的调整参数取值为</a:t>
            </a:r>
            <a:r>
              <a:rPr lang="en-US" altLang="zh-CN">
                <a:latin typeface="楷体_GB2312" pitchFamily="49" charset="-122"/>
                <a:ea typeface="楷体_GB2312" pitchFamily="49" charset="-122"/>
              </a:rPr>
              <a:t>0.2.</a:t>
            </a:r>
          </a:p>
        </p:txBody>
      </p:sp>
      <p:graphicFrame>
        <p:nvGraphicFramePr>
          <p:cNvPr id="89181" name="Object 2">
            <a:extLst>
              <a:ext uri="{FF2B5EF4-FFF2-40B4-BE49-F238E27FC236}">
                <a16:creationId xmlns:a16="http://schemas.microsoft.com/office/drawing/2014/main" id="{F1437108-FB46-4471-83E6-D254C4A76D35}"/>
              </a:ext>
            </a:extLst>
          </p:cNvPr>
          <p:cNvGraphicFramePr>
            <a:graphicFrameLocks noChangeAspect="1"/>
          </p:cNvGraphicFramePr>
          <p:nvPr/>
        </p:nvGraphicFramePr>
        <p:xfrm>
          <a:off x="539750" y="2492375"/>
          <a:ext cx="2016125" cy="322263"/>
        </p:xfrm>
        <a:graphic>
          <a:graphicData uri="http://schemas.openxmlformats.org/presentationml/2006/ole">
            <mc:AlternateContent xmlns:mc="http://schemas.openxmlformats.org/markup-compatibility/2006">
              <mc:Choice xmlns:v="urn:schemas-microsoft-com:vml" Requires="v">
                <p:oleObj spid="_x0000_s89228" name="Equation" r:id="rId8" imgW="1193800" imgH="190500" progId="Equation.DSMT4">
                  <p:embed/>
                </p:oleObj>
              </mc:Choice>
              <mc:Fallback>
                <p:oleObj name="Equation" r:id="rId8" imgW="1193800" imgH="190500" progId="Equation.DSMT4">
                  <p:embed/>
                  <p:pic>
                    <p:nvPicPr>
                      <p:cNvPr id="0" name="Object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9750" y="2492375"/>
                        <a:ext cx="2016125"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TextBox 2">
            <a:extLst>
              <a:ext uri="{FF2B5EF4-FFF2-40B4-BE49-F238E27FC236}">
                <a16:creationId xmlns:a16="http://schemas.microsoft.com/office/drawing/2014/main" id="{3518EF08-0936-4FEE-B730-BA917994386E}"/>
              </a:ext>
            </a:extLst>
          </p:cNvPr>
          <p:cNvSpPr txBox="1">
            <a:spLocks noChangeArrowheads="1"/>
          </p:cNvSpPr>
          <p:nvPr/>
        </p:nvSpPr>
        <p:spPr bwMode="auto">
          <a:xfrm>
            <a:off x="0" y="214313"/>
            <a:ext cx="867645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dirty="0">
                <a:latin typeface="黑体" panose="02010609060101010101" pitchFamily="49" charset="-122"/>
                <a:ea typeface="黑体" panose="02010609060101010101" pitchFamily="49" charset="-122"/>
              </a:rPr>
              <a:t>3.5.3</a:t>
            </a:r>
            <a:r>
              <a:rPr lang="zh-CN" altLang="en-US" sz="3200" dirty="0">
                <a:latin typeface="黑体" panose="02010609060101010101" pitchFamily="49" charset="-122"/>
                <a:ea typeface="黑体" panose="02010609060101010101" pitchFamily="49" charset="-122"/>
              </a:rPr>
              <a:t>不同的空间权重矩阵对空间自相关的影响</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6">
            <a:extLst>
              <a:ext uri="{FF2B5EF4-FFF2-40B4-BE49-F238E27FC236}">
                <a16:creationId xmlns:a16="http://schemas.microsoft.com/office/drawing/2014/main" id="{BB740E07-AD7E-4BB7-90FD-562AA9391C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8363" y="0"/>
            <a:ext cx="655637"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1" name="Picture 7">
            <a:extLst>
              <a:ext uri="{FF2B5EF4-FFF2-40B4-BE49-F238E27FC236}">
                <a16:creationId xmlns:a16="http://schemas.microsoft.com/office/drawing/2014/main" id="{154659AD-FDE6-4D64-A751-2493FC2857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4075" y="1990725"/>
            <a:ext cx="4646613"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2" name="AutoShape 8">
            <a:extLst>
              <a:ext uri="{FF2B5EF4-FFF2-40B4-BE49-F238E27FC236}">
                <a16:creationId xmlns:a16="http://schemas.microsoft.com/office/drawing/2014/main" id="{01102AD5-AF39-4D09-AEAA-BCA0F79295AD}"/>
              </a:ext>
            </a:extLst>
          </p:cNvPr>
          <p:cNvSpPr>
            <a:spLocks noChangeArrowheads="1"/>
          </p:cNvSpPr>
          <p:nvPr/>
        </p:nvSpPr>
        <p:spPr bwMode="auto">
          <a:xfrm>
            <a:off x="755650" y="188913"/>
            <a:ext cx="6481763" cy="406400"/>
          </a:xfrm>
          <a:prstGeom prst="bevel">
            <a:avLst>
              <a:gd name="adj" fmla="val 3519"/>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tIns="0" bIns="0" anchor="ct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lgn="l"/>
            <a:r>
              <a:rPr lang="zh-CN" altLang="en-US" dirty="0">
                <a:solidFill>
                  <a:srgbClr val="0033CC"/>
                </a:solidFill>
              </a:rPr>
              <a:t>空间权重量化对空间自相关影响实证分析</a:t>
            </a:r>
          </a:p>
        </p:txBody>
      </p:sp>
      <p:sp>
        <p:nvSpPr>
          <p:cNvPr id="53253" name="Line 9">
            <a:extLst>
              <a:ext uri="{FF2B5EF4-FFF2-40B4-BE49-F238E27FC236}">
                <a16:creationId xmlns:a16="http://schemas.microsoft.com/office/drawing/2014/main" id="{CBEB25D4-6A17-4F6E-BEC6-DC9A77273753}"/>
              </a:ext>
            </a:extLst>
          </p:cNvPr>
          <p:cNvSpPr>
            <a:spLocks noChangeShapeType="1"/>
          </p:cNvSpPr>
          <p:nvPr/>
        </p:nvSpPr>
        <p:spPr bwMode="auto">
          <a:xfrm>
            <a:off x="827088" y="620713"/>
            <a:ext cx="57610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54" name="Rectangle 10">
            <a:extLst>
              <a:ext uri="{FF2B5EF4-FFF2-40B4-BE49-F238E27FC236}">
                <a16:creationId xmlns:a16="http://schemas.microsoft.com/office/drawing/2014/main" id="{963364C8-032A-49CB-A203-C232178A871D}"/>
              </a:ext>
            </a:extLst>
          </p:cNvPr>
          <p:cNvSpPr>
            <a:spLocks noChangeArrowheads="1"/>
          </p:cNvSpPr>
          <p:nvPr/>
        </p:nvSpPr>
        <p:spPr bwMode="auto">
          <a:xfrm>
            <a:off x="755650" y="584200"/>
            <a:ext cx="68405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eaLnBrk="1" fontAlgn="base" latinLnBrk="1" hangingPunct="1"/>
            <a:r>
              <a:rPr lang="zh-CN" altLang="en-US" sz="1600" dirty="0">
                <a:solidFill>
                  <a:srgbClr val="FF3300"/>
                </a:solidFill>
                <a:latin typeface="楷体_GB2312" pitchFamily="49" charset="-122"/>
                <a:ea typeface="楷体_GB2312" pitchFamily="49" charset="-122"/>
              </a:rPr>
              <a:t>空间权重全局自相关指数影响实证分析</a:t>
            </a:r>
            <a:r>
              <a:rPr lang="zh-CN" altLang="en-US" dirty="0"/>
              <a:t> </a:t>
            </a:r>
          </a:p>
          <a:p>
            <a:pPr algn="l" eaLnBrk="1" fontAlgn="base" latinLnBrk="1" hangingPunct="1"/>
            <a:endParaRPr lang="zh-CN" altLang="en-US" sz="1200" dirty="0"/>
          </a:p>
        </p:txBody>
      </p:sp>
      <p:sp>
        <p:nvSpPr>
          <p:cNvPr id="53255" name="Text Box 11">
            <a:extLst>
              <a:ext uri="{FF2B5EF4-FFF2-40B4-BE49-F238E27FC236}">
                <a16:creationId xmlns:a16="http://schemas.microsoft.com/office/drawing/2014/main" id="{2227EEB9-EAA2-47AB-ABB2-A4823DAE4DFD}"/>
              </a:ext>
            </a:extLst>
          </p:cNvPr>
          <p:cNvSpPr txBox="1">
            <a:spLocks noChangeArrowheads="1"/>
          </p:cNvSpPr>
          <p:nvPr/>
        </p:nvSpPr>
        <p:spPr bwMode="auto">
          <a:xfrm>
            <a:off x="1979613" y="1557338"/>
            <a:ext cx="48244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zh-CN" altLang="en-US" sz="1600">
                <a:latin typeface="楷体_GB2312" pitchFamily="49" charset="-122"/>
                <a:ea typeface="楷体_GB2312" pitchFamily="49" charset="-122"/>
              </a:rPr>
              <a:t>中国人均</a:t>
            </a:r>
            <a:r>
              <a:rPr lang="en-US" altLang="zh-CN" sz="1600">
                <a:latin typeface="楷体_GB2312" pitchFamily="49" charset="-122"/>
                <a:ea typeface="楷体_GB2312" pitchFamily="49" charset="-122"/>
              </a:rPr>
              <a:t>GDP</a:t>
            </a:r>
            <a:r>
              <a:rPr lang="zh-CN" altLang="en-US" sz="1600">
                <a:latin typeface="楷体_GB2312" pitchFamily="49" charset="-122"/>
                <a:ea typeface="楷体_GB2312" pitchFamily="49" charset="-122"/>
              </a:rPr>
              <a:t>的</a:t>
            </a:r>
            <a:r>
              <a:rPr lang="en-US" altLang="zh-CN" sz="1600">
                <a:latin typeface="楷体_GB2312" pitchFamily="49" charset="-122"/>
                <a:ea typeface="楷体_GB2312" pitchFamily="49" charset="-122"/>
              </a:rPr>
              <a:t>Moran</a:t>
            </a:r>
            <a:r>
              <a:rPr lang="zh-CN" altLang="en-US" sz="1600">
                <a:latin typeface="楷体_GB2312" pitchFamily="49" charset="-122"/>
                <a:ea typeface="楷体_GB2312" pitchFamily="49" charset="-122"/>
              </a:rPr>
              <a:t>年际变化图</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6">
            <a:extLst>
              <a:ext uri="{FF2B5EF4-FFF2-40B4-BE49-F238E27FC236}">
                <a16:creationId xmlns:a16="http://schemas.microsoft.com/office/drawing/2014/main" id="{66CA547E-D87D-463A-AACF-AFEFEB2FC4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8363" y="0"/>
            <a:ext cx="655637"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299" name="Picture 7">
            <a:extLst>
              <a:ext uri="{FF2B5EF4-FFF2-40B4-BE49-F238E27FC236}">
                <a16:creationId xmlns:a16="http://schemas.microsoft.com/office/drawing/2014/main" id="{EC9BCD70-72FE-45FC-A833-EE2A7B751E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0" y="1484313"/>
            <a:ext cx="2487613" cy="144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0" name="Picture 8">
            <a:extLst>
              <a:ext uri="{FF2B5EF4-FFF2-40B4-BE49-F238E27FC236}">
                <a16:creationId xmlns:a16="http://schemas.microsoft.com/office/drawing/2014/main" id="{EFD59E52-5C90-48CC-9D3F-5AD68CFE8A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8263" y="1484313"/>
            <a:ext cx="248761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1" name="Picture 9">
            <a:extLst>
              <a:ext uri="{FF2B5EF4-FFF2-40B4-BE49-F238E27FC236}">
                <a16:creationId xmlns:a16="http://schemas.microsoft.com/office/drawing/2014/main" id="{45D97207-8DBF-40F7-90E6-506E15EB3AD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9250" y="3573463"/>
            <a:ext cx="2509838" cy="144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2" name="Picture 10">
            <a:extLst>
              <a:ext uri="{FF2B5EF4-FFF2-40B4-BE49-F238E27FC236}">
                <a16:creationId xmlns:a16="http://schemas.microsoft.com/office/drawing/2014/main" id="{6BB3D68B-53CC-4DE9-8044-F1206BB2174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48263" y="3573463"/>
            <a:ext cx="2498725"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3" name="Text Box 12">
            <a:extLst>
              <a:ext uri="{FF2B5EF4-FFF2-40B4-BE49-F238E27FC236}">
                <a16:creationId xmlns:a16="http://schemas.microsoft.com/office/drawing/2014/main" id="{0A83B2B7-BE7D-411E-991F-6DBB08897189}"/>
              </a:ext>
            </a:extLst>
          </p:cNvPr>
          <p:cNvSpPr txBox="1">
            <a:spLocks noChangeArrowheads="1"/>
          </p:cNvSpPr>
          <p:nvPr/>
        </p:nvSpPr>
        <p:spPr bwMode="auto">
          <a:xfrm>
            <a:off x="2268538" y="3068638"/>
            <a:ext cx="14398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600" dirty="0"/>
              <a:t>1973</a:t>
            </a:r>
          </a:p>
        </p:txBody>
      </p:sp>
      <p:sp>
        <p:nvSpPr>
          <p:cNvPr id="55304" name="Text Box 13">
            <a:extLst>
              <a:ext uri="{FF2B5EF4-FFF2-40B4-BE49-F238E27FC236}">
                <a16:creationId xmlns:a16="http://schemas.microsoft.com/office/drawing/2014/main" id="{B7F813E8-E89B-4005-B461-7EB21CC91F5D}"/>
              </a:ext>
            </a:extLst>
          </p:cNvPr>
          <p:cNvSpPr txBox="1">
            <a:spLocks noChangeArrowheads="1"/>
          </p:cNvSpPr>
          <p:nvPr/>
        </p:nvSpPr>
        <p:spPr bwMode="auto">
          <a:xfrm>
            <a:off x="5867400" y="3068638"/>
            <a:ext cx="1439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600" dirty="0"/>
              <a:t>1933</a:t>
            </a:r>
          </a:p>
        </p:txBody>
      </p:sp>
      <p:sp>
        <p:nvSpPr>
          <p:cNvPr id="55305" name="Text Box 14">
            <a:extLst>
              <a:ext uri="{FF2B5EF4-FFF2-40B4-BE49-F238E27FC236}">
                <a16:creationId xmlns:a16="http://schemas.microsoft.com/office/drawing/2014/main" id="{12A9D1A4-4936-47E4-A3E3-94669ED2FC82}"/>
              </a:ext>
            </a:extLst>
          </p:cNvPr>
          <p:cNvSpPr txBox="1">
            <a:spLocks noChangeArrowheads="1"/>
          </p:cNvSpPr>
          <p:nvPr/>
        </p:nvSpPr>
        <p:spPr bwMode="auto">
          <a:xfrm>
            <a:off x="2268538" y="5013325"/>
            <a:ext cx="14398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600" dirty="0"/>
              <a:t>1993</a:t>
            </a:r>
          </a:p>
        </p:txBody>
      </p:sp>
      <p:sp>
        <p:nvSpPr>
          <p:cNvPr id="55306" name="Text Box 15">
            <a:extLst>
              <a:ext uri="{FF2B5EF4-FFF2-40B4-BE49-F238E27FC236}">
                <a16:creationId xmlns:a16="http://schemas.microsoft.com/office/drawing/2014/main" id="{5FCC476A-2A63-4228-9C04-71C8F19BE34E}"/>
              </a:ext>
            </a:extLst>
          </p:cNvPr>
          <p:cNvSpPr txBox="1">
            <a:spLocks noChangeArrowheads="1"/>
          </p:cNvSpPr>
          <p:nvPr/>
        </p:nvSpPr>
        <p:spPr bwMode="auto">
          <a:xfrm>
            <a:off x="5867400" y="5013325"/>
            <a:ext cx="1439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600" dirty="0"/>
              <a:t>2003</a:t>
            </a:r>
          </a:p>
        </p:txBody>
      </p:sp>
      <p:sp>
        <p:nvSpPr>
          <p:cNvPr id="55307" name="Text Box 17">
            <a:extLst>
              <a:ext uri="{FF2B5EF4-FFF2-40B4-BE49-F238E27FC236}">
                <a16:creationId xmlns:a16="http://schemas.microsoft.com/office/drawing/2014/main" id="{BC05FC0F-C481-40FB-84CA-E48A002900D8}"/>
              </a:ext>
            </a:extLst>
          </p:cNvPr>
          <p:cNvSpPr txBox="1">
            <a:spLocks noChangeArrowheads="1"/>
          </p:cNvSpPr>
          <p:nvPr/>
        </p:nvSpPr>
        <p:spPr bwMode="auto">
          <a:xfrm>
            <a:off x="2411413" y="692150"/>
            <a:ext cx="48974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zh-CN" altLang="en-US" sz="1600">
                <a:solidFill>
                  <a:srgbClr val="FF3300"/>
                </a:solidFill>
                <a:latin typeface="楷体_GB2312" pitchFamily="49" charset="-122"/>
                <a:ea typeface="楷体_GB2312" pitchFamily="49" charset="-122"/>
              </a:rPr>
              <a:t>中国人均</a:t>
            </a:r>
            <a:r>
              <a:rPr lang="en-US" altLang="zh-CN" sz="1600">
                <a:solidFill>
                  <a:srgbClr val="FF3300"/>
                </a:solidFill>
                <a:latin typeface="楷体_GB2312" pitchFamily="49" charset="-122"/>
                <a:ea typeface="楷体_GB2312" pitchFamily="49" charset="-122"/>
              </a:rPr>
              <a:t>GDP</a:t>
            </a:r>
            <a:r>
              <a:rPr lang="zh-CN" altLang="en-US" sz="1600">
                <a:solidFill>
                  <a:srgbClr val="FF3300"/>
                </a:solidFill>
                <a:latin typeface="楷体_GB2312" pitchFamily="49" charset="-122"/>
                <a:ea typeface="楷体_GB2312" pitchFamily="49" charset="-122"/>
              </a:rPr>
              <a:t>布局时空变化</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a:extLst>
              <a:ext uri="{FF2B5EF4-FFF2-40B4-BE49-F238E27FC236}">
                <a16:creationId xmlns:a16="http://schemas.microsoft.com/office/drawing/2014/main" id="{CD0048F2-BFFF-47B5-AED2-7E76E2675E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8363" y="0"/>
            <a:ext cx="655637"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7" name="Picture 8">
            <a:extLst>
              <a:ext uri="{FF2B5EF4-FFF2-40B4-BE49-F238E27FC236}">
                <a16:creationId xmlns:a16="http://schemas.microsoft.com/office/drawing/2014/main" id="{7465061B-0DCE-48EF-B966-6F6717C44D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1916113"/>
            <a:ext cx="2360612" cy="144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8" name="Picture 9">
            <a:extLst>
              <a:ext uri="{FF2B5EF4-FFF2-40B4-BE49-F238E27FC236}">
                <a16:creationId xmlns:a16="http://schemas.microsoft.com/office/drawing/2014/main" id="{E7975D10-B037-4BFC-B08B-E56BC97ACC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5013" y="1916113"/>
            <a:ext cx="2498725"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9" name="Picture 10">
            <a:extLst>
              <a:ext uri="{FF2B5EF4-FFF2-40B4-BE49-F238E27FC236}">
                <a16:creationId xmlns:a16="http://schemas.microsoft.com/office/drawing/2014/main" id="{C0CEC945-6FC4-4B48-8BB4-55F107D9C20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38838" y="1916113"/>
            <a:ext cx="2541587"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0" name="Picture 11">
            <a:extLst>
              <a:ext uri="{FF2B5EF4-FFF2-40B4-BE49-F238E27FC236}">
                <a16:creationId xmlns:a16="http://schemas.microsoft.com/office/drawing/2014/main" id="{A24EA35A-2337-4D93-A096-592BA6D836F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188" y="4076700"/>
            <a:ext cx="2541587"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1" name="Picture 12">
            <a:extLst>
              <a:ext uri="{FF2B5EF4-FFF2-40B4-BE49-F238E27FC236}">
                <a16:creationId xmlns:a16="http://schemas.microsoft.com/office/drawing/2014/main" id="{0B1BDB8C-A16E-4E5C-BDD9-047920B92E8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5013" y="4076700"/>
            <a:ext cx="2509837"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2" name="Picture 13">
            <a:extLst>
              <a:ext uri="{FF2B5EF4-FFF2-40B4-BE49-F238E27FC236}">
                <a16:creationId xmlns:a16="http://schemas.microsoft.com/office/drawing/2014/main" id="{6872D3B6-56AB-4639-8166-87B8E7AAA84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38838" y="4076700"/>
            <a:ext cx="2413000"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53" name="AutoShape 14">
            <a:extLst>
              <a:ext uri="{FF2B5EF4-FFF2-40B4-BE49-F238E27FC236}">
                <a16:creationId xmlns:a16="http://schemas.microsoft.com/office/drawing/2014/main" id="{8D311836-EC1E-43CC-AFFD-0D07D3C63045}"/>
              </a:ext>
            </a:extLst>
          </p:cNvPr>
          <p:cNvSpPr>
            <a:spLocks noChangeArrowheads="1"/>
          </p:cNvSpPr>
          <p:nvPr/>
        </p:nvSpPr>
        <p:spPr bwMode="auto">
          <a:xfrm>
            <a:off x="755650" y="188913"/>
            <a:ext cx="6481763" cy="406400"/>
          </a:xfrm>
          <a:prstGeom prst="bevel">
            <a:avLst>
              <a:gd name="adj" fmla="val 3519"/>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tIns="0" bIns="0" anchor="ct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lgn="l"/>
            <a:r>
              <a:rPr lang="zh-CN" altLang="en-US" dirty="0">
                <a:solidFill>
                  <a:srgbClr val="0033CC"/>
                </a:solidFill>
              </a:rPr>
              <a:t>空间权重量化对空间自相关影响实证分析</a:t>
            </a:r>
          </a:p>
        </p:txBody>
      </p:sp>
      <p:sp>
        <p:nvSpPr>
          <p:cNvPr id="57354" name="Line 15">
            <a:extLst>
              <a:ext uri="{FF2B5EF4-FFF2-40B4-BE49-F238E27FC236}">
                <a16:creationId xmlns:a16="http://schemas.microsoft.com/office/drawing/2014/main" id="{C19A7B9F-03D6-44AD-AD23-6ECE69CF643E}"/>
              </a:ext>
            </a:extLst>
          </p:cNvPr>
          <p:cNvSpPr>
            <a:spLocks noChangeShapeType="1"/>
          </p:cNvSpPr>
          <p:nvPr/>
        </p:nvSpPr>
        <p:spPr bwMode="auto">
          <a:xfrm>
            <a:off x="827088" y="620713"/>
            <a:ext cx="57610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55" name="Rectangle 16">
            <a:extLst>
              <a:ext uri="{FF2B5EF4-FFF2-40B4-BE49-F238E27FC236}">
                <a16:creationId xmlns:a16="http://schemas.microsoft.com/office/drawing/2014/main" id="{70781378-5D8F-42C3-BCBD-545EA5C0E6D8}"/>
              </a:ext>
            </a:extLst>
          </p:cNvPr>
          <p:cNvSpPr>
            <a:spLocks noChangeArrowheads="1"/>
          </p:cNvSpPr>
          <p:nvPr/>
        </p:nvSpPr>
        <p:spPr bwMode="auto">
          <a:xfrm>
            <a:off x="755650" y="584200"/>
            <a:ext cx="68405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eaLnBrk="1" fontAlgn="base" latinLnBrk="1" hangingPunct="1"/>
            <a:r>
              <a:rPr lang="zh-CN" altLang="en-US" sz="1600" dirty="0">
                <a:solidFill>
                  <a:srgbClr val="FF3300"/>
                </a:solidFill>
                <a:latin typeface="楷体_GB2312" pitchFamily="49" charset="-122"/>
                <a:ea typeface="楷体_GB2312" pitchFamily="49" charset="-122"/>
              </a:rPr>
              <a:t>空间权重局部自相关指数影响实证分析</a:t>
            </a:r>
            <a:r>
              <a:rPr lang="en-US" altLang="zh-CN" sz="1600" dirty="0">
                <a:solidFill>
                  <a:srgbClr val="FF3300"/>
                </a:solidFill>
                <a:ea typeface="楷体_GB2312" pitchFamily="49" charset="-122"/>
              </a:rPr>
              <a:t>——</a:t>
            </a:r>
            <a:r>
              <a:rPr lang="en-US" altLang="zh-CN" sz="1600" dirty="0">
                <a:solidFill>
                  <a:srgbClr val="FF3300"/>
                </a:solidFill>
                <a:latin typeface="楷体_GB2312" pitchFamily="49" charset="-122"/>
                <a:ea typeface="楷体_GB2312" pitchFamily="49" charset="-122"/>
              </a:rPr>
              <a:t>Moran</a:t>
            </a:r>
            <a:r>
              <a:rPr lang="zh-CN" altLang="en-US" sz="1600" dirty="0">
                <a:solidFill>
                  <a:srgbClr val="FF3300"/>
                </a:solidFill>
                <a:latin typeface="楷体_GB2312" pitchFamily="49" charset="-122"/>
                <a:ea typeface="楷体_GB2312" pitchFamily="49" charset="-122"/>
              </a:rPr>
              <a:t>散点地图</a:t>
            </a:r>
            <a:r>
              <a:rPr lang="zh-CN" altLang="en-US" sz="1600" dirty="0">
                <a:latin typeface="楷体_GB2312" pitchFamily="49" charset="-122"/>
                <a:ea typeface="楷体_GB2312" pitchFamily="49" charset="-122"/>
              </a:rPr>
              <a:t> </a:t>
            </a:r>
          </a:p>
          <a:p>
            <a:pPr algn="l" eaLnBrk="1" fontAlgn="base" latinLnBrk="1" hangingPunct="1"/>
            <a:endParaRPr lang="zh-CN" altLang="en-US" sz="1600" dirty="0">
              <a:latin typeface="楷体_GB2312" pitchFamily="49" charset="-122"/>
              <a:ea typeface="楷体_GB2312" pitchFamily="49" charset="-122"/>
            </a:endParaRPr>
          </a:p>
        </p:txBody>
      </p:sp>
      <p:sp>
        <p:nvSpPr>
          <p:cNvPr id="57356" name="Text Box 17">
            <a:extLst>
              <a:ext uri="{FF2B5EF4-FFF2-40B4-BE49-F238E27FC236}">
                <a16:creationId xmlns:a16="http://schemas.microsoft.com/office/drawing/2014/main" id="{CF10230D-5764-4F9A-91B9-1429D1AF6926}"/>
              </a:ext>
            </a:extLst>
          </p:cNvPr>
          <p:cNvSpPr txBox="1">
            <a:spLocks noChangeArrowheads="1"/>
          </p:cNvSpPr>
          <p:nvPr/>
        </p:nvSpPr>
        <p:spPr bwMode="auto">
          <a:xfrm>
            <a:off x="1114425" y="3500438"/>
            <a:ext cx="18732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Rook</a:t>
            </a:r>
          </a:p>
        </p:txBody>
      </p:sp>
      <p:sp>
        <p:nvSpPr>
          <p:cNvPr id="57357" name="Text Box 18">
            <a:extLst>
              <a:ext uri="{FF2B5EF4-FFF2-40B4-BE49-F238E27FC236}">
                <a16:creationId xmlns:a16="http://schemas.microsoft.com/office/drawing/2014/main" id="{BF88001F-142D-4C0E-8917-6B8A6BCCF99A}"/>
              </a:ext>
            </a:extLst>
          </p:cNvPr>
          <p:cNvSpPr txBox="1">
            <a:spLocks noChangeArrowheads="1"/>
          </p:cNvSpPr>
          <p:nvPr/>
        </p:nvSpPr>
        <p:spPr bwMode="auto">
          <a:xfrm>
            <a:off x="4211638" y="3500438"/>
            <a:ext cx="14398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K-Nears</a:t>
            </a:r>
          </a:p>
        </p:txBody>
      </p:sp>
      <p:sp>
        <p:nvSpPr>
          <p:cNvPr id="57358" name="Text Box 19">
            <a:extLst>
              <a:ext uri="{FF2B5EF4-FFF2-40B4-BE49-F238E27FC236}">
                <a16:creationId xmlns:a16="http://schemas.microsoft.com/office/drawing/2014/main" id="{BADDD72F-855C-4952-953C-0BF308039E5F}"/>
              </a:ext>
            </a:extLst>
          </p:cNvPr>
          <p:cNvSpPr txBox="1">
            <a:spLocks noChangeArrowheads="1"/>
          </p:cNvSpPr>
          <p:nvPr/>
        </p:nvSpPr>
        <p:spPr bwMode="auto">
          <a:xfrm>
            <a:off x="6804025" y="3500438"/>
            <a:ext cx="16557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Boundary</a:t>
            </a:r>
          </a:p>
        </p:txBody>
      </p:sp>
      <p:sp>
        <p:nvSpPr>
          <p:cNvPr id="57359" name="Text Box 20">
            <a:extLst>
              <a:ext uri="{FF2B5EF4-FFF2-40B4-BE49-F238E27FC236}">
                <a16:creationId xmlns:a16="http://schemas.microsoft.com/office/drawing/2014/main" id="{A51F2857-D6B9-4572-B4FC-66567BBA78B3}"/>
              </a:ext>
            </a:extLst>
          </p:cNvPr>
          <p:cNvSpPr txBox="1">
            <a:spLocks noChangeArrowheads="1"/>
          </p:cNvSpPr>
          <p:nvPr/>
        </p:nvSpPr>
        <p:spPr bwMode="auto">
          <a:xfrm>
            <a:off x="1114425" y="5588000"/>
            <a:ext cx="18716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Area</a:t>
            </a:r>
          </a:p>
        </p:txBody>
      </p:sp>
      <p:sp>
        <p:nvSpPr>
          <p:cNvPr id="57360" name="Text Box 21">
            <a:extLst>
              <a:ext uri="{FF2B5EF4-FFF2-40B4-BE49-F238E27FC236}">
                <a16:creationId xmlns:a16="http://schemas.microsoft.com/office/drawing/2014/main" id="{D148D140-8618-4A68-A8B4-36D1725C3BC0}"/>
              </a:ext>
            </a:extLst>
          </p:cNvPr>
          <p:cNvSpPr txBox="1">
            <a:spLocks noChangeArrowheads="1"/>
          </p:cNvSpPr>
          <p:nvPr/>
        </p:nvSpPr>
        <p:spPr bwMode="auto">
          <a:xfrm>
            <a:off x="4067175" y="5588000"/>
            <a:ext cx="17287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Direction</a:t>
            </a:r>
            <a:r>
              <a:rPr lang="en-US" altLang="zh-CN"/>
              <a:t> </a:t>
            </a:r>
          </a:p>
        </p:txBody>
      </p:sp>
      <p:sp>
        <p:nvSpPr>
          <p:cNvPr id="57361" name="Text Box 22">
            <a:extLst>
              <a:ext uri="{FF2B5EF4-FFF2-40B4-BE49-F238E27FC236}">
                <a16:creationId xmlns:a16="http://schemas.microsoft.com/office/drawing/2014/main" id="{61250A24-D65F-4BAB-9DFE-4E1A4E0BEEC2}"/>
              </a:ext>
            </a:extLst>
          </p:cNvPr>
          <p:cNvSpPr txBox="1">
            <a:spLocks noChangeArrowheads="1"/>
          </p:cNvSpPr>
          <p:nvPr/>
        </p:nvSpPr>
        <p:spPr bwMode="auto">
          <a:xfrm>
            <a:off x="6946900" y="5588000"/>
            <a:ext cx="15843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Rail</a:t>
            </a:r>
            <a:r>
              <a:rPr lang="en-US" altLang="zh-CN" sz="1600"/>
              <a:t> Way</a:t>
            </a:r>
          </a:p>
        </p:txBody>
      </p:sp>
      <p:sp>
        <p:nvSpPr>
          <p:cNvPr id="57362" name="Text Box 23">
            <a:extLst>
              <a:ext uri="{FF2B5EF4-FFF2-40B4-BE49-F238E27FC236}">
                <a16:creationId xmlns:a16="http://schemas.microsoft.com/office/drawing/2014/main" id="{6F8D055E-04ED-49ED-AD7E-90F8A0056E36}"/>
              </a:ext>
            </a:extLst>
          </p:cNvPr>
          <p:cNvSpPr txBox="1">
            <a:spLocks noChangeArrowheads="1"/>
          </p:cNvSpPr>
          <p:nvPr/>
        </p:nvSpPr>
        <p:spPr bwMode="auto">
          <a:xfrm>
            <a:off x="2555875" y="1196975"/>
            <a:ext cx="43211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600" dirty="0">
                <a:latin typeface="楷体_GB2312" pitchFamily="49" charset="-122"/>
                <a:ea typeface="楷体_GB2312" pitchFamily="49" charset="-122"/>
              </a:rPr>
              <a:t>1973</a:t>
            </a:r>
            <a:r>
              <a:rPr lang="zh-CN" altLang="en-US" sz="1600" dirty="0">
                <a:latin typeface="楷体_GB2312" pitchFamily="49" charset="-122"/>
                <a:ea typeface="楷体_GB2312" pitchFamily="49" charset="-122"/>
              </a:rPr>
              <a:t>年中国人均</a:t>
            </a:r>
            <a:r>
              <a:rPr lang="en-US" altLang="zh-CN" sz="1600" dirty="0">
                <a:latin typeface="楷体_GB2312" pitchFamily="49" charset="-122"/>
                <a:ea typeface="楷体_GB2312" pitchFamily="49" charset="-122"/>
              </a:rPr>
              <a:t>GDP</a:t>
            </a:r>
            <a:r>
              <a:rPr lang="zh-CN" altLang="en-US" sz="1600" dirty="0">
                <a:latin typeface="楷体_GB2312" pitchFamily="49" charset="-122"/>
                <a:ea typeface="楷体_GB2312" pitchFamily="49" charset="-122"/>
              </a:rPr>
              <a:t>的</a:t>
            </a:r>
            <a:r>
              <a:rPr lang="en-US" altLang="zh-CN" sz="1600" dirty="0">
                <a:latin typeface="楷体_GB2312" pitchFamily="49" charset="-122"/>
                <a:ea typeface="楷体_GB2312" pitchFamily="49" charset="-122"/>
              </a:rPr>
              <a:t>Moran</a:t>
            </a:r>
            <a:r>
              <a:rPr lang="zh-CN" altLang="en-US" sz="1600" dirty="0">
                <a:latin typeface="楷体_GB2312" pitchFamily="49" charset="-122"/>
                <a:ea typeface="楷体_GB2312" pitchFamily="49" charset="-122"/>
              </a:rPr>
              <a:t>散点地图</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2">
            <a:extLst>
              <a:ext uri="{FF2B5EF4-FFF2-40B4-BE49-F238E27FC236}">
                <a16:creationId xmlns:a16="http://schemas.microsoft.com/office/drawing/2014/main" id="{D3D21B63-8D55-4A8B-B131-A7A27D424A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8363" y="0"/>
            <a:ext cx="655637"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5" name="Picture 7">
            <a:extLst>
              <a:ext uri="{FF2B5EF4-FFF2-40B4-BE49-F238E27FC236}">
                <a16:creationId xmlns:a16="http://schemas.microsoft.com/office/drawing/2014/main" id="{05C5124D-A2B2-4618-A3B2-04C9414A49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338" y="1844675"/>
            <a:ext cx="2413000"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6" name="Picture 8">
            <a:extLst>
              <a:ext uri="{FF2B5EF4-FFF2-40B4-BE49-F238E27FC236}">
                <a16:creationId xmlns:a16="http://schemas.microsoft.com/office/drawing/2014/main" id="{32917B3A-B88E-4173-9DF4-D742041F25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6600" y="1844675"/>
            <a:ext cx="2413000"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7" name="Picture 9">
            <a:extLst>
              <a:ext uri="{FF2B5EF4-FFF2-40B4-BE49-F238E27FC236}">
                <a16:creationId xmlns:a16="http://schemas.microsoft.com/office/drawing/2014/main" id="{D9E579F6-2D77-4727-8FA5-5236D47D52C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84888" y="1844675"/>
            <a:ext cx="2509837"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8" name="Picture 10">
            <a:extLst>
              <a:ext uri="{FF2B5EF4-FFF2-40B4-BE49-F238E27FC236}">
                <a16:creationId xmlns:a16="http://schemas.microsoft.com/office/drawing/2014/main" id="{426ADE0B-6692-451E-ACA5-62740E2A4E7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1338" y="3860800"/>
            <a:ext cx="2509837"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9" name="Picture 11">
            <a:extLst>
              <a:ext uri="{FF2B5EF4-FFF2-40B4-BE49-F238E27FC236}">
                <a16:creationId xmlns:a16="http://schemas.microsoft.com/office/drawing/2014/main" id="{102AF273-A87B-4A84-842F-7FFF1AD46F4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6600" y="3860800"/>
            <a:ext cx="2435225"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400" name="Picture 12">
            <a:extLst>
              <a:ext uri="{FF2B5EF4-FFF2-40B4-BE49-F238E27FC236}">
                <a16:creationId xmlns:a16="http://schemas.microsoft.com/office/drawing/2014/main" id="{E545B9A1-73A9-42A3-8162-58B1D2B9F03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84888" y="3860800"/>
            <a:ext cx="2435225"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401" name="Text Box 13">
            <a:extLst>
              <a:ext uri="{FF2B5EF4-FFF2-40B4-BE49-F238E27FC236}">
                <a16:creationId xmlns:a16="http://schemas.microsoft.com/office/drawing/2014/main" id="{51D09AE7-FD8C-43C5-90A3-65E07BF1517A}"/>
              </a:ext>
            </a:extLst>
          </p:cNvPr>
          <p:cNvSpPr txBox="1">
            <a:spLocks noChangeArrowheads="1"/>
          </p:cNvSpPr>
          <p:nvPr/>
        </p:nvSpPr>
        <p:spPr bwMode="auto">
          <a:xfrm>
            <a:off x="973138" y="3429000"/>
            <a:ext cx="18732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Rook</a:t>
            </a:r>
          </a:p>
        </p:txBody>
      </p:sp>
      <p:sp>
        <p:nvSpPr>
          <p:cNvPr id="59402" name="Text Box 14">
            <a:extLst>
              <a:ext uri="{FF2B5EF4-FFF2-40B4-BE49-F238E27FC236}">
                <a16:creationId xmlns:a16="http://schemas.microsoft.com/office/drawing/2014/main" id="{752A1BD6-4F6F-490E-9378-5C8D7B1B8714}"/>
              </a:ext>
            </a:extLst>
          </p:cNvPr>
          <p:cNvSpPr txBox="1">
            <a:spLocks noChangeArrowheads="1"/>
          </p:cNvSpPr>
          <p:nvPr/>
        </p:nvSpPr>
        <p:spPr bwMode="auto">
          <a:xfrm>
            <a:off x="3997325" y="3429000"/>
            <a:ext cx="14398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K-Nears</a:t>
            </a:r>
          </a:p>
        </p:txBody>
      </p:sp>
      <p:sp>
        <p:nvSpPr>
          <p:cNvPr id="59403" name="Text Box 15">
            <a:extLst>
              <a:ext uri="{FF2B5EF4-FFF2-40B4-BE49-F238E27FC236}">
                <a16:creationId xmlns:a16="http://schemas.microsoft.com/office/drawing/2014/main" id="{5BFEF520-3A5B-4FFA-86A7-D2D49B634392}"/>
              </a:ext>
            </a:extLst>
          </p:cNvPr>
          <p:cNvSpPr txBox="1">
            <a:spLocks noChangeArrowheads="1"/>
          </p:cNvSpPr>
          <p:nvPr/>
        </p:nvSpPr>
        <p:spPr bwMode="auto">
          <a:xfrm>
            <a:off x="6659563" y="3429000"/>
            <a:ext cx="16557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Boundary</a:t>
            </a:r>
          </a:p>
        </p:txBody>
      </p:sp>
      <p:sp>
        <p:nvSpPr>
          <p:cNvPr id="59404" name="Text Box 16">
            <a:extLst>
              <a:ext uri="{FF2B5EF4-FFF2-40B4-BE49-F238E27FC236}">
                <a16:creationId xmlns:a16="http://schemas.microsoft.com/office/drawing/2014/main" id="{B38A136D-315D-4AD6-9C7D-8BB741E1127F}"/>
              </a:ext>
            </a:extLst>
          </p:cNvPr>
          <p:cNvSpPr txBox="1">
            <a:spLocks noChangeArrowheads="1"/>
          </p:cNvSpPr>
          <p:nvPr/>
        </p:nvSpPr>
        <p:spPr bwMode="auto">
          <a:xfrm>
            <a:off x="973138" y="5445125"/>
            <a:ext cx="18716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Area</a:t>
            </a:r>
          </a:p>
        </p:txBody>
      </p:sp>
      <p:sp>
        <p:nvSpPr>
          <p:cNvPr id="59405" name="Text Box 17">
            <a:extLst>
              <a:ext uri="{FF2B5EF4-FFF2-40B4-BE49-F238E27FC236}">
                <a16:creationId xmlns:a16="http://schemas.microsoft.com/office/drawing/2014/main" id="{9BCE6E15-C7B7-4E31-9823-866FBC0846D4}"/>
              </a:ext>
            </a:extLst>
          </p:cNvPr>
          <p:cNvSpPr txBox="1">
            <a:spLocks noChangeArrowheads="1"/>
          </p:cNvSpPr>
          <p:nvPr/>
        </p:nvSpPr>
        <p:spPr bwMode="auto">
          <a:xfrm>
            <a:off x="3997325" y="5445125"/>
            <a:ext cx="17287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Direction</a:t>
            </a:r>
            <a:r>
              <a:rPr lang="en-US" altLang="zh-CN"/>
              <a:t> </a:t>
            </a:r>
          </a:p>
        </p:txBody>
      </p:sp>
      <p:sp>
        <p:nvSpPr>
          <p:cNvPr id="59406" name="Text Box 18">
            <a:extLst>
              <a:ext uri="{FF2B5EF4-FFF2-40B4-BE49-F238E27FC236}">
                <a16:creationId xmlns:a16="http://schemas.microsoft.com/office/drawing/2014/main" id="{76AC8CA4-1EB6-483A-9645-3A9FBEDC8111}"/>
              </a:ext>
            </a:extLst>
          </p:cNvPr>
          <p:cNvSpPr txBox="1">
            <a:spLocks noChangeArrowheads="1"/>
          </p:cNvSpPr>
          <p:nvPr/>
        </p:nvSpPr>
        <p:spPr bwMode="auto">
          <a:xfrm>
            <a:off x="6659563" y="5445125"/>
            <a:ext cx="15843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Rail</a:t>
            </a:r>
            <a:r>
              <a:rPr lang="en-US" altLang="zh-CN" sz="1600"/>
              <a:t> Way</a:t>
            </a:r>
          </a:p>
        </p:txBody>
      </p:sp>
      <p:sp>
        <p:nvSpPr>
          <p:cNvPr id="59407" name="AutoShape 19">
            <a:extLst>
              <a:ext uri="{FF2B5EF4-FFF2-40B4-BE49-F238E27FC236}">
                <a16:creationId xmlns:a16="http://schemas.microsoft.com/office/drawing/2014/main" id="{0A0B200E-6598-4674-A1FA-427B0D42685D}"/>
              </a:ext>
            </a:extLst>
          </p:cNvPr>
          <p:cNvSpPr>
            <a:spLocks noChangeArrowheads="1"/>
          </p:cNvSpPr>
          <p:nvPr/>
        </p:nvSpPr>
        <p:spPr bwMode="auto">
          <a:xfrm>
            <a:off x="755650" y="188913"/>
            <a:ext cx="6481763" cy="406400"/>
          </a:xfrm>
          <a:prstGeom prst="bevel">
            <a:avLst>
              <a:gd name="adj" fmla="val 3519"/>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tIns="0" bIns="0" anchor="ct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lgn="l"/>
            <a:r>
              <a:rPr lang="zh-CN" altLang="en-US" dirty="0">
                <a:solidFill>
                  <a:srgbClr val="0033CC"/>
                </a:solidFill>
              </a:rPr>
              <a:t>空间权重量化对空间自相关影响实证分析</a:t>
            </a:r>
          </a:p>
        </p:txBody>
      </p:sp>
      <p:sp>
        <p:nvSpPr>
          <p:cNvPr id="59408" name="Line 20">
            <a:extLst>
              <a:ext uri="{FF2B5EF4-FFF2-40B4-BE49-F238E27FC236}">
                <a16:creationId xmlns:a16="http://schemas.microsoft.com/office/drawing/2014/main" id="{8BFCE58D-F5E6-4E55-A1A5-6D9EE3566A77}"/>
              </a:ext>
            </a:extLst>
          </p:cNvPr>
          <p:cNvSpPr>
            <a:spLocks noChangeShapeType="1"/>
          </p:cNvSpPr>
          <p:nvPr/>
        </p:nvSpPr>
        <p:spPr bwMode="auto">
          <a:xfrm>
            <a:off x="827088" y="620713"/>
            <a:ext cx="57610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9" name="Rectangle 21">
            <a:extLst>
              <a:ext uri="{FF2B5EF4-FFF2-40B4-BE49-F238E27FC236}">
                <a16:creationId xmlns:a16="http://schemas.microsoft.com/office/drawing/2014/main" id="{40C3052C-561E-4F47-AD93-96A097484050}"/>
              </a:ext>
            </a:extLst>
          </p:cNvPr>
          <p:cNvSpPr>
            <a:spLocks noChangeArrowheads="1"/>
          </p:cNvSpPr>
          <p:nvPr/>
        </p:nvSpPr>
        <p:spPr bwMode="auto">
          <a:xfrm>
            <a:off x="755650" y="584200"/>
            <a:ext cx="68405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eaLnBrk="1" fontAlgn="base" latinLnBrk="1" hangingPunct="1"/>
            <a:r>
              <a:rPr lang="zh-CN" altLang="en-US" sz="1600" dirty="0">
                <a:solidFill>
                  <a:srgbClr val="FF3300"/>
                </a:solidFill>
                <a:latin typeface="楷体_GB2312" pitchFamily="49" charset="-122"/>
                <a:ea typeface="楷体_GB2312" pitchFamily="49" charset="-122"/>
              </a:rPr>
              <a:t>空间权重局部自相关指数影响实证分析</a:t>
            </a:r>
            <a:r>
              <a:rPr lang="en-US" altLang="zh-CN" sz="1600" dirty="0">
                <a:solidFill>
                  <a:srgbClr val="FF3300"/>
                </a:solidFill>
                <a:ea typeface="楷体_GB2312" pitchFamily="49" charset="-122"/>
              </a:rPr>
              <a:t>——</a:t>
            </a:r>
            <a:r>
              <a:rPr lang="en-US" altLang="zh-CN" sz="1600" dirty="0">
                <a:solidFill>
                  <a:srgbClr val="FF3300"/>
                </a:solidFill>
                <a:latin typeface="楷体_GB2312" pitchFamily="49" charset="-122"/>
                <a:ea typeface="楷体_GB2312" pitchFamily="49" charset="-122"/>
              </a:rPr>
              <a:t>Moran</a:t>
            </a:r>
            <a:r>
              <a:rPr lang="zh-CN" altLang="en-US" sz="1600" dirty="0">
                <a:solidFill>
                  <a:srgbClr val="FF3300"/>
                </a:solidFill>
                <a:latin typeface="楷体_GB2312" pitchFamily="49" charset="-122"/>
                <a:ea typeface="楷体_GB2312" pitchFamily="49" charset="-122"/>
              </a:rPr>
              <a:t>散点地图</a:t>
            </a:r>
            <a:r>
              <a:rPr lang="zh-CN" altLang="en-US" dirty="0"/>
              <a:t> </a:t>
            </a:r>
          </a:p>
          <a:p>
            <a:pPr algn="l" eaLnBrk="1" fontAlgn="base" latinLnBrk="1" hangingPunct="1"/>
            <a:endParaRPr lang="zh-CN" altLang="en-US" sz="1200" dirty="0"/>
          </a:p>
        </p:txBody>
      </p:sp>
      <p:sp>
        <p:nvSpPr>
          <p:cNvPr id="59410" name="Text Box 22">
            <a:extLst>
              <a:ext uri="{FF2B5EF4-FFF2-40B4-BE49-F238E27FC236}">
                <a16:creationId xmlns:a16="http://schemas.microsoft.com/office/drawing/2014/main" id="{EEF71207-63B6-43AB-A3E5-E1B05AFD580F}"/>
              </a:ext>
            </a:extLst>
          </p:cNvPr>
          <p:cNvSpPr txBox="1">
            <a:spLocks noChangeArrowheads="1"/>
          </p:cNvSpPr>
          <p:nvPr/>
        </p:nvSpPr>
        <p:spPr bwMode="auto">
          <a:xfrm>
            <a:off x="2555875" y="1196975"/>
            <a:ext cx="43211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600" dirty="0">
                <a:latin typeface="楷体_GB2312" pitchFamily="49" charset="-122"/>
                <a:ea typeface="楷体_GB2312" pitchFamily="49" charset="-122"/>
              </a:rPr>
              <a:t>1933</a:t>
            </a:r>
            <a:r>
              <a:rPr lang="zh-CN" altLang="en-US" sz="1600" dirty="0">
                <a:latin typeface="楷体_GB2312" pitchFamily="49" charset="-122"/>
                <a:ea typeface="楷体_GB2312" pitchFamily="49" charset="-122"/>
              </a:rPr>
              <a:t>年中国人均</a:t>
            </a:r>
            <a:r>
              <a:rPr lang="en-US" altLang="zh-CN" sz="1600" dirty="0">
                <a:latin typeface="楷体_GB2312" pitchFamily="49" charset="-122"/>
                <a:ea typeface="楷体_GB2312" pitchFamily="49" charset="-122"/>
              </a:rPr>
              <a:t>GDP</a:t>
            </a:r>
            <a:r>
              <a:rPr lang="zh-CN" altLang="en-US" sz="1600" dirty="0">
                <a:latin typeface="楷体_GB2312" pitchFamily="49" charset="-122"/>
                <a:ea typeface="楷体_GB2312" pitchFamily="49" charset="-122"/>
              </a:rPr>
              <a:t>的</a:t>
            </a:r>
            <a:r>
              <a:rPr lang="en-US" altLang="zh-CN" sz="1600" dirty="0">
                <a:latin typeface="楷体_GB2312" pitchFamily="49" charset="-122"/>
                <a:ea typeface="楷体_GB2312" pitchFamily="49" charset="-122"/>
              </a:rPr>
              <a:t>Moran</a:t>
            </a:r>
            <a:r>
              <a:rPr lang="zh-CN" altLang="en-US" sz="1600" dirty="0">
                <a:latin typeface="楷体_GB2312" pitchFamily="49" charset="-122"/>
                <a:ea typeface="楷体_GB2312" pitchFamily="49" charset="-122"/>
              </a:rPr>
              <a:t>散点地图</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2">
            <a:extLst>
              <a:ext uri="{FF2B5EF4-FFF2-40B4-BE49-F238E27FC236}">
                <a16:creationId xmlns:a16="http://schemas.microsoft.com/office/drawing/2014/main" id="{3FCC1D25-B6FE-4C82-AA1E-41DFE4F76F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8363" y="0"/>
            <a:ext cx="655637"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3" name="Picture 7">
            <a:extLst>
              <a:ext uri="{FF2B5EF4-FFF2-40B4-BE49-F238E27FC236}">
                <a16:creationId xmlns:a16="http://schemas.microsoft.com/office/drawing/2014/main" id="{0D139B3B-8901-42AF-9BCC-D92114C1FA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725" y="1916113"/>
            <a:ext cx="2435225"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4" name="Picture 8">
            <a:extLst>
              <a:ext uri="{FF2B5EF4-FFF2-40B4-BE49-F238E27FC236}">
                <a16:creationId xmlns:a16="http://schemas.microsoft.com/office/drawing/2014/main" id="{2832F121-88E4-4077-8737-1637BE4D5E2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9475" y="1916113"/>
            <a:ext cx="2455863"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5" name="Picture 9">
            <a:extLst>
              <a:ext uri="{FF2B5EF4-FFF2-40B4-BE49-F238E27FC236}">
                <a16:creationId xmlns:a16="http://schemas.microsoft.com/office/drawing/2014/main" id="{7D1C4849-FDDE-4200-B2C0-5825E76CC4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83300" y="1916113"/>
            <a:ext cx="2476500"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6" name="Picture 10">
            <a:extLst>
              <a:ext uri="{FF2B5EF4-FFF2-40B4-BE49-F238E27FC236}">
                <a16:creationId xmlns:a16="http://schemas.microsoft.com/office/drawing/2014/main" id="{2C02C355-FF45-492B-8851-E44DD66E737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6725" y="3860800"/>
            <a:ext cx="2509838"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7" name="Picture 11">
            <a:extLst>
              <a:ext uri="{FF2B5EF4-FFF2-40B4-BE49-F238E27FC236}">
                <a16:creationId xmlns:a16="http://schemas.microsoft.com/office/drawing/2014/main" id="{DB5D159E-4063-4C73-8851-175A33791AC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19475" y="3860800"/>
            <a:ext cx="2424113"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8" name="Picture 12">
            <a:extLst>
              <a:ext uri="{FF2B5EF4-FFF2-40B4-BE49-F238E27FC236}">
                <a16:creationId xmlns:a16="http://schemas.microsoft.com/office/drawing/2014/main" id="{6826831F-0466-4AD1-8A97-7D65AE67803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83300" y="3860800"/>
            <a:ext cx="2466975"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9" name="Text Box 13">
            <a:extLst>
              <a:ext uri="{FF2B5EF4-FFF2-40B4-BE49-F238E27FC236}">
                <a16:creationId xmlns:a16="http://schemas.microsoft.com/office/drawing/2014/main" id="{56A3C63E-9B95-4158-BF8D-3EB4244FDC93}"/>
              </a:ext>
            </a:extLst>
          </p:cNvPr>
          <p:cNvSpPr txBox="1">
            <a:spLocks noChangeArrowheads="1"/>
          </p:cNvSpPr>
          <p:nvPr/>
        </p:nvSpPr>
        <p:spPr bwMode="auto">
          <a:xfrm>
            <a:off x="827088" y="3355975"/>
            <a:ext cx="18732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Rook</a:t>
            </a:r>
          </a:p>
        </p:txBody>
      </p:sp>
      <p:sp>
        <p:nvSpPr>
          <p:cNvPr id="61450" name="Text Box 14">
            <a:extLst>
              <a:ext uri="{FF2B5EF4-FFF2-40B4-BE49-F238E27FC236}">
                <a16:creationId xmlns:a16="http://schemas.microsoft.com/office/drawing/2014/main" id="{F4EEBF95-DA3D-40B3-A226-A9AE08C9070A}"/>
              </a:ext>
            </a:extLst>
          </p:cNvPr>
          <p:cNvSpPr txBox="1">
            <a:spLocks noChangeArrowheads="1"/>
          </p:cNvSpPr>
          <p:nvPr/>
        </p:nvSpPr>
        <p:spPr bwMode="auto">
          <a:xfrm>
            <a:off x="4067175" y="3355975"/>
            <a:ext cx="14398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K-Nears</a:t>
            </a:r>
          </a:p>
        </p:txBody>
      </p:sp>
      <p:sp>
        <p:nvSpPr>
          <p:cNvPr id="61451" name="Text Box 15">
            <a:extLst>
              <a:ext uri="{FF2B5EF4-FFF2-40B4-BE49-F238E27FC236}">
                <a16:creationId xmlns:a16="http://schemas.microsoft.com/office/drawing/2014/main" id="{FED0B7E8-296F-48C6-BDF3-1132244684AF}"/>
              </a:ext>
            </a:extLst>
          </p:cNvPr>
          <p:cNvSpPr txBox="1">
            <a:spLocks noChangeArrowheads="1"/>
          </p:cNvSpPr>
          <p:nvPr/>
        </p:nvSpPr>
        <p:spPr bwMode="auto">
          <a:xfrm>
            <a:off x="6804025" y="3355975"/>
            <a:ext cx="16557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Boundary</a:t>
            </a:r>
          </a:p>
        </p:txBody>
      </p:sp>
      <p:sp>
        <p:nvSpPr>
          <p:cNvPr id="61452" name="Text Box 16">
            <a:extLst>
              <a:ext uri="{FF2B5EF4-FFF2-40B4-BE49-F238E27FC236}">
                <a16:creationId xmlns:a16="http://schemas.microsoft.com/office/drawing/2014/main" id="{6FF6F791-95F7-4BB7-9D3E-11E3D0291944}"/>
              </a:ext>
            </a:extLst>
          </p:cNvPr>
          <p:cNvSpPr txBox="1">
            <a:spLocks noChangeArrowheads="1"/>
          </p:cNvSpPr>
          <p:nvPr/>
        </p:nvSpPr>
        <p:spPr bwMode="auto">
          <a:xfrm>
            <a:off x="827088" y="5445125"/>
            <a:ext cx="18716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Area</a:t>
            </a:r>
          </a:p>
        </p:txBody>
      </p:sp>
      <p:sp>
        <p:nvSpPr>
          <p:cNvPr id="61453" name="Text Box 17">
            <a:extLst>
              <a:ext uri="{FF2B5EF4-FFF2-40B4-BE49-F238E27FC236}">
                <a16:creationId xmlns:a16="http://schemas.microsoft.com/office/drawing/2014/main" id="{DD6D7A3C-74DD-47FD-8D08-02CA7E79FE2B}"/>
              </a:ext>
            </a:extLst>
          </p:cNvPr>
          <p:cNvSpPr txBox="1">
            <a:spLocks noChangeArrowheads="1"/>
          </p:cNvSpPr>
          <p:nvPr/>
        </p:nvSpPr>
        <p:spPr bwMode="auto">
          <a:xfrm>
            <a:off x="4067175" y="5445125"/>
            <a:ext cx="17287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Direction</a:t>
            </a:r>
            <a:r>
              <a:rPr lang="en-US" altLang="zh-CN"/>
              <a:t> </a:t>
            </a:r>
          </a:p>
        </p:txBody>
      </p:sp>
      <p:sp>
        <p:nvSpPr>
          <p:cNvPr id="61454" name="Text Box 18">
            <a:extLst>
              <a:ext uri="{FF2B5EF4-FFF2-40B4-BE49-F238E27FC236}">
                <a16:creationId xmlns:a16="http://schemas.microsoft.com/office/drawing/2014/main" id="{EC766C84-9B18-4FFD-8390-C92BF4E6B481}"/>
              </a:ext>
            </a:extLst>
          </p:cNvPr>
          <p:cNvSpPr txBox="1">
            <a:spLocks noChangeArrowheads="1"/>
          </p:cNvSpPr>
          <p:nvPr/>
        </p:nvSpPr>
        <p:spPr bwMode="auto">
          <a:xfrm>
            <a:off x="6804025" y="5445125"/>
            <a:ext cx="15843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Rail</a:t>
            </a:r>
            <a:r>
              <a:rPr lang="en-US" altLang="zh-CN" sz="1600"/>
              <a:t> Way</a:t>
            </a:r>
          </a:p>
        </p:txBody>
      </p:sp>
      <p:sp>
        <p:nvSpPr>
          <p:cNvPr id="61455" name="AutoShape 19">
            <a:extLst>
              <a:ext uri="{FF2B5EF4-FFF2-40B4-BE49-F238E27FC236}">
                <a16:creationId xmlns:a16="http://schemas.microsoft.com/office/drawing/2014/main" id="{8AA1EA19-3068-472E-8F11-1C5ECC89BC11}"/>
              </a:ext>
            </a:extLst>
          </p:cNvPr>
          <p:cNvSpPr>
            <a:spLocks noChangeArrowheads="1"/>
          </p:cNvSpPr>
          <p:nvPr/>
        </p:nvSpPr>
        <p:spPr bwMode="auto">
          <a:xfrm>
            <a:off x="755650" y="188913"/>
            <a:ext cx="6481763" cy="406400"/>
          </a:xfrm>
          <a:prstGeom prst="bevel">
            <a:avLst>
              <a:gd name="adj" fmla="val 3519"/>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tIns="0" bIns="0" anchor="ct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lgn="l"/>
            <a:r>
              <a:rPr lang="zh-CN" altLang="en-US" dirty="0">
                <a:solidFill>
                  <a:srgbClr val="0033CC"/>
                </a:solidFill>
              </a:rPr>
              <a:t>空间权重量化对空间自相关影响实证分析</a:t>
            </a:r>
          </a:p>
        </p:txBody>
      </p:sp>
      <p:sp>
        <p:nvSpPr>
          <p:cNvPr id="61456" name="Line 20">
            <a:extLst>
              <a:ext uri="{FF2B5EF4-FFF2-40B4-BE49-F238E27FC236}">
                <a16:creationId xmlns:a16="http://schemas.microsoft.com/office/drawing/2014/main" id="{698F0F50-810F-41E1-887E-DF8918B6DEF7}"/>
              </a:ext>
            </a:extLst>
          </p:cNvPr>
          <p:cNvSpPr>
            <a:spLocks noChangeShapeType="1"/>
          </p:cNvSpPr>
          <p:nvPr/>
        </p:nvSpPr>
        <p:spPr bwMode="auto">
          <a:xfrm>
            <a:off x="827088" y="620713"/>
            <a:ext cx="57610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57" name="Rectangle 21">
            <a:extLst>
              <a:ext uri="{FF2B5EF4-FFF2-40B4-BE49-F238E27FC236}">
                <a16:creationId xmlns:a16="http://schemas.microsoft.com/office/drawing/2014/main" id="{812FDAA0-FB5C-4E03-8413-B1FF6787CC15}"/>
              </a:ext>
            </a:extLst>
          </p:cNvPr>
          <p:cNvSpPr>
            <a:spLocks noChangeArrowheads="1"/>
          </p:cNvSpPr>
          <p:nvPr/>
        </p:nvSpPr>
        <p:spPr bwMode="auto">
          <a:xfrm>
            <a:off x="755650" y="584200"/>
            <a:ext cx="68405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eaLnBrk="1" fontAlgn="base" latinLnBrk="1" hangingPunct="1"/>
            <a:r>
              <a:rPr lang="zh-CN" altLang="en-US" sz="1600" dirty="0">
                <a:solidFill>
                  <a:srgbClr val="FF3300"/>
                </a:solidFill>
                <a:latin typeface="楷体_GB2312" pitchFamily="49" charset="-122"/>
                <a:ea typeface="楷体_GB2312" pitchFamily="49" charset="-122"/>
              </a:rPr>
              <a:t>空间权重局部自相关指数影响实证分析</a:t>
            </a:r>
            <a:r>
              <a:rPr lang="en-US" altLang="zh-CN" sz="1600" dirty="0">
                <a:solidFill>
                  <a:srgbClr val="FF3300"/>
                </a:solidFill>
                <a:ea typeface="楷体_GB2312" pitchFamily="49" charset="-122"/>
              </a:rPr>
              <a:t>——</a:t>
            </a:r>
            <a:r>
              <a:rPr lang="en-US" altLang="zh-CN" sz="1600" dirty="0">
                <a:solidFill>
                  <a:srgbClr val="FF3300"/>
                </a:solidFill>
                <a:latin typeface="楷体_GB2312" pitchFamily="49" charset="-122"/>
                <a:ea typeface="楷体_GB2312" pitchFamily="49" charset="-122"/>
              </a:rPr>
              <a:t>Moran</a:t>
            </a:r>
            <a:r>
              <a:rPr lang="zh-CN" altLang="en-US" sz="1600" dirty="0">
                <a:solidFill>
                  <a:srgbClr val="FF3300"/>
                </a:solidFill>
                <a:latin typeface="楷体_GB2312" pitchFamily="49" charset="-122"/>
                <a:ea typeface="楷体_GB2312" pitchFamily="49" charset="-122"/>
              </a:rPr>
              <a:t>散点地图</a:t>
            </a:r>
            <a:r>
              <a:rPr lang="zh-CN" altLang="en-US" sz="1600" dirty="0">
                <a:latin typeface="楷体_GB2312" pitchFamily="49" charset="-122"/>
                <a:ea typeface="楷体_GB2312" pitchFamily="49" charset="-122"/>
              </a:rPr>
              <a:t> </a:t>
            </a:r>
          </a:p>
          <a:p>
            <a:pPr algn="l" eaLnBrk="1" fontAlgn="base" latinLnBrk="1" hangingPunct="1"/>
            <a:endParaRPr lang="zh-CN" altLang="en-US" sz="1600" dirty="0">
              <a:latin typeface="楷体_GB2312" pitchFamily="49" charset="-122"/>
              <a:ea typeface="楷体_GB2312" pitchFamily="49" charset="-122"/>
            </a:endParaRPr>
          </a:p>
        </p:txBody>
      </p:sp>
      <p:sp>
        <p:nvSpPr>
          <p:cNvPr id="61458" name="Text Box 22">
            <a:extLst>
              <a:ext uri="{FF2B5EF4-FFF2-40B4-BE49-F238E27FC236}">
                <a16:creationId xmlns:a16="http://schemas.microsoft.com/office/drawing/2014/main" id="{F8A586A2-BD19-4C01-8C5A-4581A7DF6197}"/>
              </a:ext>
            </a:extLst>
          </p:cNvPr>
          <p:cNvSpPr txBox="1">
            <a:spLocks noChangeArrowheads="1"/>
          </p:cNvSpPr>
          <p:nvPr/>
        </p:nvSpPr>
        <p:spPr bwMode="auto">
          <a:xfrm>
            <a:off x="2555875" y="1196975"/>
            <a:ext cx="43211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600" dirty="0">
                <a:latin typeface="楷体_GB2312" pitchFamily="49" charset="-122"/>
                <a:ea typeface="楷体_GB2312" pitchFamily="49" charset="-122"/>
              </a:rPr>
              <a:t>1993</a:t>
            </a:r>
            <a:r>
              <a:rPr lang="zh-CN" altLang="en-US" sz="1600" dirty="0">
                <a:latin typeface="楷体_GB2312" pitchFamily="49" charset="-122"/>
                <a:ea typeface="楷体_GB2312" pitchFamily="49" charset="-122"/>
              </a:rPr>
              <a:t>年中国人均</a:t>
            </a:r>
            <a:r>
              <a:rPr lang="en-US" altLang="zh-CN" sz="1600" dirty="0">
                <a:latin typeface="楷体_GB2312" pitchFamily="49" charset="-122"/>
                <a:ea typeface="楷体_GB2312" pitchFamily="49" charset="-122"/>
              </a:rPr>
              <a:t>GDP</a:t>
            </a:r>
            <a:r>
              <a:rPr lang="zh-CN" altLang="en-US" sz="1600" dirty="0">
                <a:latin typeface="楷体_GB2312" pitchFamily="49" charset="-122"/>
                <a:ea typeface="楷体_GB2312" pitchFamily="49" charset="-122"/>
              </a:rPr>
              <a:t>的</a:t>
            </a:r>
            <a:r>
              <a:rPr lang="en-US" altLang="zh-CN" sz="1600" dirty="0">
                <a:latin typeface="楷体_GB2312" pitchFamily="49" charset="-122"/>
                <a:ea typeface="楷体_GB2312" pitchFamily="49" charset="-122"/>
              </a:rPr>
              <a:t>Moran</a:t>
            </a:r>
            <a:r>
              <a:rPr lang="zh-CN" altLang="en-US" sz="1600" dirty="0">
                <a:latin typeface="楷体_GB2312" pitchFamily="49" charset="-122"/>
                <a:ea typeface="楷体_GB2312" pitchFamily="49" charset="-122"/>
              </a:rPr>
              <a:t>散点地图</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2">
            <a:extLst>
              <a:ext uri="{FF2B5EF4-FFF2-40B4-BE49-F238E27FC236}">
                <a16:creationId xmlns:a16="http://schemas.microsoft.com/office/drawing/2014/main" id="{CC7D0555-6ECE-4A28-A4DC-EEB4FCF263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8363" y="0"/>
            <a:ext cx="655637"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1" name="Picture 10">
            <a:extLst>
              <a:ext uri="{FF2B5EF4-FFF2-40B4-BE49-F238E27FC236}">
                <a16:creationId xmlns:a16="http://schemas.microsoft.com/office/drawing/2014/main" id="{0090F9B6-2EC7-4C9D-8A94-D28B91150E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1916113"/>
            <a:ext cx="2476500"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2" name="Picture 11">
            <a:extLst>
              <a:ext uri="{FF2B5EF4-FFF2-40B4-BE49-F238E27FC236}">
                <a16:creationId xmlns:a16="http://schemas.microsoft.com/office/drawing/2014/main" id="{7510DC4E-8AAE-4D67-BC25-8C97AD45B6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48038" y="1916113"/>
            <a:ext cx="23923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3" name="Picture 12">
            <a:extLst>
              <a:ext uri="{FF2B5EF4-FFF2-40B4-BE49-F238E27FC236}">
                <a16:creationId xmlns:a16="http://schemas.microsoft.com/office/drawing/2014/main" id="{A71F4442-8CF2-4978-AFC3-85442973226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56325" y="1916113"/>
            <a:ext cx="2466975"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4" name="Picture 13">
            <a:extLst>
              <a:ext uri="{FF2B5EF4-FFF2-40B4-BE49-F238E27FC236}">
                <a16:creationId xmlns:a16="http://schemas.microsoft.com/office/drawing/2014/main" id="{10A1B00C-2E9E-4A31-BE9C-8314BBEADB0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3850" y="3860800"/>
            <a:ext cx="2530475"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5" name="Picture 14">
            <a:extLst>
              <a:ext uri="{FF2B5EF4-FFF2-40B4-BE49-F238E27FC236}">
                <a16:creationId xmlns:a16="http://schemas.microsoft.com/office/drawing/2014/main" id="{F0267909-3394-41E8-A2FD-82D2E541846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48038" y="3860800"/>
            <a:ext cx="2487612"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6" name="Picture 15">
            <a:extLst>
              <a:ext uri="{FF2B5EF4-FFF2-40B4-BE49-F238E27FC236}">
                <a16:creationId xmlns:a16="http://schemas.microsoft.com/office/drawing/2014/main" id="{C4B1244E-5A51-4F92-BE4C-BFDB4A99367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56325" y="3860800"/>
            <a:ext cx="2498725"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7" name="AutoShape 16">
            <a:extLst>
              <a:ext uri="{FF2B5EF4-FFF2-40B4-BE49-F238E27FC236}">
                <a16:creationId xmlns:a16="http://schemas.microsoft.com/office/drawing/2014/main" id="{92AC042E-9D21-46A9-977C-4B1F7EC0C49F}"/>
              </a:ext>
            </a:extLst>
          </p:cNvPr>
          <p:cNvSpPr>
            <a:spLocks noChangeArrowheads="1"/>
          </p:cNvSpPr>
          <p:nvPr/>
        </p:nvSpPr>
        <p:spPr bwMode="auto">
          <a:xfrm>
            <a:off x="755650" y="188913"/>
            <a:ext cx="6481763" cy="406400"/>
          </a:xfrm>
          <a:prstGeom prst="bevel">
            <a:avLst>
              <a:gd name="adj" fmla="val 3519"/>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tIns="0" bIns="0" anchor="ct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lgn="l"/>
            <a:r>
              <a:rPr lang="zh-CN" altLang="en-US" dirty="0">
                <a:solidFill>
                  <a:srgbClr val="0033CC"/>
                </a:solidFill>
              </a:rPr>
              <a:t>空间权重量化对空间自相关影响实证分析</a:t>
            </a:r>
          </a:p>
        </p:txBody>
      </p:sp>
      <p:sp>
        <p:nvSpPr>
          <p:cNvPr id="63498" name="Line 17">
            <a:extLst>
              <a:ext uri="{FF2B5EF4-FFF2-40B4-BE49-F238E27FC236}">
                <a16:creationId xmlns:a16="http://schemas.microsoft.com/office/drawing/2014/main" id="{CB1BF182-FC99-4AEE-8F37-3145E07409FE}"/>
              </a:ext>
            </a:extLst>
          </p:cNvPr>
          <p:cNvSpPr>
            <a:spLocks noChangeShapeType="1"/>
          </p:cNvSpPr>
          <p:nvPr/>
        </p:nvSpPr>
        <p:spPr bwMode="auto">
          <a:xfrm>
            <a:off x="827088" y="620713"/>
            <a:ext cx="57610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499" name="Rectangle 18">
            <a:extLst>
              <a:ext uri="{FF2B5EF4-FFF2-40B4-BE49-F238E27FC236}">
                <a16:creationId xmlns:a16="http://schemas.microsoft.com/office/drawing/2014/main" id="{EE588498-2CBE-4E12-B397-5F40B9982582}"/>
              </a:ext>
            </a:extLst>
          </p:cNvPr>
          <p:cNvSpPr>
            <a:spLocks noChangeArrowheads="1"/>
          </p:cNvSpPr>
          <p:nvPr/>
        </p:nvSpPr>
        <p:spPr bwMode="auto">
          <a:xfrm>
            <a:off x="755650" y="584200"/>
            <a:ext cx="68405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eaLnBrk="1" fontAlgn="base" latinLnBrk="1" hangingPunct="1"/>
            <a:r>
              <a:rPr lang="zh-CN" altLang="en-US" sz="1600" dirty="0">
                <a:solidFill>
                  <a:srgbClr val="FF3300"/>
                </a:solidFill>
                <a:latin typeface="楷体_GB2312" pitchFamily="49" charset="-122"/>
                <a:ea typeface="楷体_GB2312" pitchFamily="49" charset="-122"/>
              </a:rPr>
              <a:t>空间权重局部自相关指数影响实证分析</a:t>
            </a:r>
            <a:r>
              <a:rPr lang="en-US" altLang="zh-CN" sz="1600" dirty="0">
                <a:solidFill>
                  <a:srgbClr val="FF3300"/>
                </a:solidFill>
                <a:ea typeface="楷体_GB2312" pitchFamily="49" charset="-122"/>
              </a:rPr>
              <a:t>——</a:t>
            </a:r>
            <a:r>
              <a:rPr lang="en-US" altLang="zh-CN" sz="1600" dirty="0">
                <a:solidFill>
                  <a:srgbClr val="FF3300"/>
                </a:solidFill>
                <a:latin typeface="楷体_GB2312" pitchFamily="49" charset="-122"/>
                <a:ea typeface="楷体_GB2312" pitchFamily="49" charset="-122"/>
              </a:rPr>
              <a:t>Moran</a:t>
            </a:r>
            <a:r>
              <a:rPr lang="zh-CN" altLang="en-US" sz="1600" dirty="0">
                <a:solidFill>
                  <a:srgbClr val="FF3300"/>
                </a:solidFill>
                <a:latin typeface="楷体_GB2312" pitchFamily="49" charset="-122"/>
                <a:ea typeface="楷体_GB2312" pitchFamily="49" charset="-122"/>
              </a:rPr>
              <a:t>散点地图</a:t>
            </a:r>
            <a:r>
              <a:rPr lang="zh-CN" altLang="en-US" dirty="0"/>
              <a:t> </a:t>
            </a:r>
          </a:p>
          <a:p>
            <a:pPr algn="l" eaLnBrk="1" fontAlgn="base" latinLnBrk="1" hangingPunct="1"/>
            <a:endParaRPr lang="zh-CN" altLang="en-US" sz="1200" dirty="0"/>
          </a:p>
        </p:txBody>
      </p:sp>
      <p:sp>
        <p:nvSpPr>
          <p:cNvPr id="63500" name="Text Box 19">
            <a:extLst>
              <a:ext uri="{FF2B5EF4-FFF2-40B4-BE49-F238E27FC236}">
                <a16:creationId xmlns:a16="http://schemas.microsoft.com/office/drawing/2014/main" id="{727E6FBD-E98F-4C70-A3E1-EFD1DF6709D7}"/>
              </a:ext>
            </a:extLst>
          </p:cNvPr>
          <p:cNvSpPr txBox="1">
            <a:spLocks noChangeArrowheads="1"/>
          </p:cNvSpPr>
          <p:nvPr/>
        </p:nvSpPr>
        <p:spPr bwMode="auto">
          <a:xfrm>
            <a:off x="684213" y="3429000"/>
            <a:ext cx="18732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Rook</a:t>
            </a:r>
          </a:p>
        </p:txBody>
      </p:sp>
      <p:sp>
        <p:nvSpPr>
          <p:cNvPr id="63501" name="Text Box 20">
            <a:extLst>
              <a:ext uri="{FF2B5EF4-FFF2-40B4-BE49-F238E27FC236}">
                <a16:creationId xmlns:a16="http://schemas.microsoft.com/office/drawing/2014/main" id="{184D769E-0E08-43CB-87EF-72A94226F3E0}"/>
              </a:ext>
            </a:extLst>
          </p:cNvPr>
          <p:cNvSpPr txBox="1">
            <a:spLocks noChangeArrowheads="1"/>
          </p:cNvSpPr>
          <p:nvPr/>
        </p:nvSpPr>
        <p:spPr bwMode="auto">
          <a:xfrm>
            <a:off x="4140200" y="3429000"/>
            <a:ext cx="14398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K-Nears</a:t>
            </a:r>
          </a:p>
        </p:txBody>
      </p:sp>
      <p:sp>
        <p:nvSpPr>
          <p:cNvPr id="63502" name="Text Box 21">
            <a:extLst>
              <a:ext uri="{FF2B5EF4-FFF2-40B4-BE49-F238E27FC236}">
                <a16:creationId xmlns:a16="http://schemas.microsoft.com/office/drawing/2014/main" id="{071F0AE2-D54F-4ED8-A674-A471DC72BACA}"/>
              </a:ext>
            </a:extLst>
          </p:cNvPr>
          <p:cNvSpPr txBox="1">
            <a:spLocks noChangeArrowheads="1"/>
          </p:cNvSpPr>
          <p:nvPr/>
        </p:nvSpPr>
        <p:spPr bwMode="auto">
          <a:xfrm>
            <a:off x="6732588" y="3429000"/>
            <a:ext cx="16557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Boundary</a:t>
            </a:r>
          </a:p>
        </p:txBody>
      </p:sp>
      <p:sp>
        <p:nvSpPr>
          <p:cNvPr id="63503" name="Text Box 22">
            <a:extLst>
              <a:ext uri="{FF2B5EF4-FFF2-40B4-BE49-F238E27FC236}">
                <a16:creationId xmlns:a16="http://schemas.microsoft.com/office/drawing/2014/main" id="{94EB0198-058D-4776-8C27-9E47F0AC2FFC}"/>
              </a:ext>
            </a:extLst>
          </p:cNvPr>
          <p:cNvSpPr txBox="1">
            <a:spLocks noChangeArrowheads="1"/>
          </p:cNvSpPr>
          <p:nvPr/>
        </p:nvSpPr>
        <p:spPr bwMode="auto">
          <a:xfrm>
            <a:off x="684213" y="5516563"/>
            <a:ext cx="18716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Area</a:t>
            </a:r>
          </a:p>
        </p:txBody>
      </p:sp>
      <p:sp>
        <p:nvSpPr>
          <p:cNvPr id="63504" name="Text Box 23">
            <a:extLst>
              <a:ext uri="{FF2B5EF4-FFF2-40B4-BE49-F238E27FC236}">
                <a16:creationId xmlns:a16="http://schemas.microsoft.com/office/drawing/2014/main" id="{6FDEC822-90D7-4A9E-81FB-839941E13783}"/>
              </a:ext>
            </a:extLst>
          </p:cNvPr>
          <p:cNvSpPr txBox="1">
            <a:spLocks noChangeArrowheads="1"/>
          </p:cNvSpPr>
          <p:nvPr/>
        </p:nvSpPr>
        <p:spPr bwMode="auto">
          <a:xfrm>
            <a:off x="4140200" y="5516563"/>
            <a:ext cx="17287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Direction</a:t>
            </a:r>
            <a:r>
              <a:rPr lang="en-US" altLang="zh-CN"/>
              <a:t> </a:t>
            </a:r>
          </a:p>
        </p:txBody>
      </p:sp>
      <p:sp>
        <p:nvSpPr>
          <p:cNvPr id="63505" name="Text Box 24">
            <a:extLst>
              <a:ext uri="{FF2B5EF4-FFF2-40B4-BE49-F238E27FC236}">
                <a16:creationId xmlns:a16="http://schemas.microsoft.com/office/drawing/2014/main" id="{385DB1A6-0955-4BF8-8121-83F8A430F372}"/>
              </a:ext>
            </a:extLst>
          </p:cNvPr>
          <p:cNvSpPr txBox="1">
            <a:spLocks noChangeArrowheads="1"/>
          </p:cNvSpPr>
          <p:nvPr/>
        </p:nvSpPr>
        <p:spPr bwMode="auto">
          <a:xfrm>
            <a:off x="6732588" y="5516563"/>
            <a:ext cx="15843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Rail</a:t>
            </a:r>
            <a:r>
              <a:rPr lang="en-US" altLang="zh-CN" sz="1600"/>
              <a:t> Way</a:t>
            </a:r>
          </a:p>
        </p:txBody>
      </p:sp>
      <p:sp>
        <p:nvSpPr>
          <p:cNvPr id="63506" name="Text Box 25">
            <a:extLst>
              <a:ext uri="{FF2B5EF4-FFF2-40B4-BE49-F238E27FC236}">
                <a16:creationId xmlns:a16="http://schemas.microsoft.com/office/drawing/2014/main" id="{22ABFB4B-FA6A-4A40-98C8-863E569F1CC3}"/>
              </a:ext>
            </a:extLst>
          </p:cNvPr>
          <p:cNvSpPr txBox="1">
            <a:spLocks noChangeArrowheads="1"/>
          </p:cNvSpPr>
          <p:nvPr/>
        </p:nvSpPr>
        <p:spPr bwMode="auto">
          <a:xfrm>
            <a:off x="2555875" y="1196975"/>
            <a:ext cx="43211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600" dirty="0">
                <a:latin typeface="楷体_GB2312" pitchFamily="49" charset="-122"/>
                <a:ea typeface="楷体_GB2312" pitchFamily="49" charset="-122"/>
              </a:rPr>
              <a:t>2003</a:t>
            </a:r>
            <a:r>
              <a:rPr lang="zh-CN" altLang="en-US" sz="1600" dirty="0">
                <a:latin typeface="楷体_GB2312" pitchFamily="49" charset="-122"/>
                <a:ea typeface="楷体_GB2312" pitchFamily="49" charset="-122"/>
              </a:rPr>
              <a:t>年中国人均</a:t>
            </a:r>
            <a:r>
              <a:rPr lang="en-US" altLang="zh-CN" sz="1600" dirty="0">
                <a:latin typeface="楷体_GB2312" pitchFamily="49" charset="-122"/>
                <a:ea typeface="楷体_GB2312" pitchFamily="49" charset="-122"/>
              </a:rPr>
              <a:t>GDP</a:t>
            </a:r>
            <a:r>
              <a:rPr lang="zh-CN" altLang="en-US" sz="1600" dirty="0">
                <a:latin typeface="楷体_GB2312" pitchFamily="49" charset="-122"/>
                <a:ea typeface="楷体_GB2312" pitchFamily="49" charset="-122"/>
              </a:rPr>
              <a:t>的</a:t>
            </a:r>
            <a:r>
              <a:rPr lang="en-US" altLang="zh-CN" sz="1600" dirty="0">
                <a:latin typeface="楷体_GB2312" pitchFamily="49" charset="-122"/>
                <a:ea typeface="楷体_GB2312" pitchFamily="49" charset="-122"/>
              </a:rPr>
              <a:t>Moran</a:t>
            </a:r>
            <a:r>
              <a:rPr lang="zh-CN" altLang="en-US" sz="1600" dirty="0">
                <a:latin typeface="楷体_GB2312" pitchFamily="49" charset="-122"/>
                <a:ea typeface="楷体_GB2312" pitchFamily="49" charset="-122"/>
              </a:rPr>
              <a:t>散点地图</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2">
            <a:extLst>
              <a:ext uri="{FF2B5EF4-FFF2-40B4-BE49-F238E27FC236}">
                <a16:creationId xmlns:a16="http://schemas.microsoft.com/office/drawing/2014/main" id="{0180DED6-F844-4044-9C1E-6E67886663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8363" y="0"/>
            <a:ext cx="655637"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39" name="Picture 9">
            <a:extLst>
              <a:ext uri="{FF2B5EF4-FFF2-40B4-BE49-F238E27FC236}">
                <a16:creationId xmlns:a16="http://schemas.microsoft.com/office/drawing/2014/main" id="{5DDC0D73-25AA-4DC1-988E-2DA7552CAC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2060575"/>
            <a:ext cx="2328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0" name="Picture 10">
            <a:extLst>
              <a:ext uri="{FF2B5EF4-FFF2-40B4-BE49-F238E27FC236}">
                <a16:creationId xmlns:a16="http://schemas.microsoft.com/office/drawing/2014/main" id="{15A1E0FB-A26D-411E-8F65-2C05E698EE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6600" y="2060575"/>
            <a:ext cx="2381250"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1" name="Picture 11">
            <a:extLst>
              <a:ext uri="{FF2B5EF4-FFF2-40B4-BE49-F238E27FC236}">
                <a16:creationId xmlns:a16="http://schemas.microsoft.com/office/drawing/2014/main" id="{517D967B-CAA6-4367-9227-4C9BC8FC4C2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56325" y="2060575"/>
            <a:ext cx="2360613"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2" name="Picture 12">
            <a:extLst>
              <a:ext uri="{FF2B5EF4-FFF2-40B4-BE49-F238E27FC236}">
                <a16:creationId xmlns:a16="http://schemas.microsoft.com/office/drawing/2014/main" id="{05CE1487-35CB-44F2-B46C-BC15D19F924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4213" y="4292600"/>
            <a:ext cx="2286000"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3" name="Picture 13">
            <a:extLst>
              <a:ext uri="{FF2B5EF4-FFF2-40B4-BE49-F238E27FC236}">
                <a16:creationId xmlns:a16="http://schemas.microsoft.com/office/drawing/2014/main" id="{37CF420F-B9C0-40BB-9767-08B6BF2A628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6600" y="4292600"/>
            <a:ext cx="2328863"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4" name="Picture 14">
            <a:extLst>
              <a:ext uri="{FF2B5EF4-FFF2-40B4-BE49-F238E27FC236}">
                <a16:creationId xmlns:a16="http://schemas.microsoft.com/office/drawing/2014/main" id="{F7F0B731-3C37-4B07-BE68-AD5C15EF4C1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56325" y="4292600"/>
            <a:ext cx="2265363"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5" name="Text Box 15">
            <a:extLst>
              <a:ext uri="{FF2B5EF4-FFF2-40B4-BE49-F238E27FC236}">
                <a16:creationId xmlns:a16="http://schemas.microsoft.com/office/drawing/2014/main" id="{9747CD36-A361-4A6A-98B4-DBDD9016BE42}"/>
              </a:ext>
            </a:extLst>
          </p:cNvPr>
          <p:cNvSpPr txBox="1">
            <a:spLocks noChangeArrowheads="1"/>
          </p:cNvSpPr>
          <p:nvPr/>
        </p:nvSpPr>
        <p:spPr bwMode="auto">
          <a:xfrm>
            <a:off x="1116013" y="3716338"/>
            <a:ext cx="18732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Rook</a:t>
            </a:r>
          </a:p>
        </p:txBody>
      </p:sp>
      <p:sp>
        <p:nvSpPr>
          <p:cNvPr id="65546" name="Text Box 16">
            <a:extLst>
              <a:ext uri="{FF2B5EF4-FFF2-40B4-BE49-F238E27FC236}">
                <a16:creationId xmlns:a16="http://schemas.microsoft.com/office/drawing/2014/main" id="{C76C1FF9-4A80-4B89-B85C-D64EE6A9BD5D}"/>
              </a:ext>
            </a:extLst>
          </p:cNvPr>
          <p:cNvSpPr txBox="1">
            <a:spLocks noChangeArrowheads="1"/>
          </p:cNvSpPr>
          <p:nvPr/>
        </p:nvSpPr>
        <p:spPr bwMode="auto">
          <a:xfrm>
            <a:off x="3924300" y="3716338"/>
            <a:ext cx="14398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K-Nears</a:t>
            </a:r>
          </a:p>
        </p:txBody>
      </p:sp>
      <p:sp>
        <p:nvSpPr>
          <p:cNvPr id="65547" name="Text Box 17">
            <a:extLst>
              <a:ext uri="{FF2B5EF4-FFF2-40B4-BE49-F238E27FC236}">
                <a16:creationId xmlns:a16="http://schemas.microsoft.com/office/drawing/2014/main" id="{6CFB16EA-EEA5-47A5-8654-DEFBB2BDBCDB}"/>
              </a:ext>
            </a:extLst>
          </p:cNvPr>
          <p:cNvSpPr txBox="1">
            <a:spLocks noChangeArrowheads="1"/>
          </p:cNvSpPr>
          <p:nvPr/>
        </p:nvSpPr>
        <p:spPr bwMode="auto">
          <a:xfrm>
            <a:off x="6732588" y="3716338"/>
            <a:ext cx="16557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Boundary</a:t>
            </a:r>
          </a:p>
        </p:txBody>
      </p:sp>
      <p:sp>
        <p:nvSpPr>
          <p:cNvPr id="65548" name="Text Box 18">
            <a:extLst>
              <a:ext uri="{FF2B5EF4-FFF2-40B4-BE49-F238E27FC236}">
                <a16:creationId xmlns:a16="http://schemas.microsoft.com/office/drawing/2014/main" id="{201317DA-D1C1-4969-AB6E-559D157405DE}"/>
              </a:ext>
            </a:extLst>
          </p:cNvPr>
          <p:cNvSpPr txBox="1">
            <a:spLocks noChangeArrowheads="1"/>
          </p:cNvSpPr>
          <p:nvPr/>
        </p:nvSpPr>
        <p:spPr bwMode="auto">
          <a:xfrm>
            <a:off x="1116013" y="5876925"/>
            <a:ext cx="18716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Area</a:t>
            </a:r>
          </a:p>
        </p:txBody>
      </p:sp>
      <p:sp>
        <p:nvSpPr>
          <p:cNvPr id="65549" name="Text Box 19">
            <a:extLst>
              <a:ext uri="{FF2B5EF4-FFF2-40B4-BE49-F238E27FC236}">
                <a16:creationId xmlns:a16="http://schemas.microsoft.com/office/drawing/2014/main" id="{D29C874E-BEE2-464A-9CC2-917352F84E42}"/>
              </a:ext>
            </a:extLst>
          </p:cNvPr>
          <p:cNvSpPr txBox="1">
            <a:spLocks noChangeArrowheads="1"/>
          </p:cNvSpPr>
          <p:nvPr/>
        </p:nvSpPr>
        <p:spPr bwMode="auto">
          <a:xfrm>
            <a:off x="3924300" y="5876925"/>
            <a:ext cx="17287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Direction</a:t>
            </a:r>
            <a:r>
              <a:rPr lang="en-US" altLang="zh-CN"/>
              <a:t> </a:t>
            </a:r>
          </a:p>
        </p:txBody>
      </p:sp>
      <p:sp>
        <p:nvSpPr>
          <p:cNvPr id="65550" name="Text Box 20">
            <a:extLst>
              <a:ext uri="{FF2B5EF4-FFF2-40B4-BE49-F238E27FC236}">
                <a16:creationId xmlns:a16="http://schemas.microsoft.com/office/drawing/2014/main" id="{A2E54BA3-5995-40CB-A8FD-8683E41BF680}"/>
              </a:ext>
            </a:extLst>
          </p:cNvPr>
          <p:cNvSpPr txBox="1">
            <a:spLocks noChangeArrowheads="1"/>
          </p:cNvSpPr>
          <p:nvPr/>
        </p:nvSpPr>
        <p:spPr bwMode="auto">
          <a:xfrm>
            <a:off x="6732588" y="5876925"/>
            <a:ext cx="15843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Rail</a:t>
            </a:r>
            <a:r>
              <a:rPr lang="en-US" altLang="zh-CN" sz="1600"/>
              <a:t> Way</a:t>
            </a:r>
          </a:p>
        </p:txBody>
      </p:sp>
      <p:sp>
        <p:nvSpPr>
          <p:cNvPr id="65551" name="AutoShape 21">
            <a:extLst>
              <a:ext uri="{FF2B5EF4-FFF2-40B4-BE49-F238E27FC236}">
                <a16:creationId xmlns:a16="http://schemas.microsoft.com/office/drawing/2014/main" id="{18A5A679-52E6-4B1D-BC07-AA679551AB0E}"/>
              </a:ext>
            </a:extLst>
          </p:cNvPr>
          <p:cNvSpPr>
            <a:spLocks noChangeArrowheads="1"/>
          </p:cNvSpPr>
          <p:nvPr/>
        </p:nvSpPr>
        <p:spPr bwMode="auto">
          <a:xfrm>
            <a:off x="755650" y="188913"/>
            <a:ext cx="6481763" cy="406400"/>
          </a:xfrm>
          <a:prstGeom prst="bevel">
            <a:avLst>
              <a:gd name="adj" fmla="val 3519"/>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tIns="0" bIns="0" anchor="ct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lgn="l"/>
            <a:r>
              <a:rPr lang="zh-CN" altLang="en-US" dirty="0">
                <a:solidFill>
                  <a:srgbClr val="0033CC"/>
                </a:solidFill>
              </a:rPr>
              <a:t>空间权重量化对空间自相关影响实证分析</a:t>
            </a:r>
          </a:p>
        </p:txBody>
      </p:sp>
      <p:sp>
        <p:nvSpPr>
          <p:cNvPr id="65552" name="Line 22">
            <a:extLst>
              <a:ext uri="{FF2B5EF4-FFF2-40B4-BE49-F238E27FC236}">
                <a16:creationId xmlns:a16="http://schemas.microsoft.com/office/drawing/2014/main" id="{92E84D93-E5CD-4D09-B35B-DE5ED81584B2}"/>
              </a:ext>
            </a:extLst>
          </p:cNvPr>
          <p:cNvSpPr>
            <a:spLocks noChangeShapeType="1"/>
          </p:cNvSpPr>
          <p:nvPr/>
        </p:nvSpPr>
        <p:spPr bwMode="auto">
          <a:xfrm>
            <a:off x="827088" y="620713"/>
            <a:ext cx="57610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53" name="Rectangle 23">
            <a:extLst>
              <a:ext uri="{FF2B5EF4-FFF2-40B4-BE49-F238E27FC236}">
                <a16:creationId xmlns:a16="http://schemas.microsoft.com/office/drawing/2014/main" id="{DDA60319-0693-41CE-9009-6756A7629FAE}"/>
              </a:ext>
            </a:extLst>
          </p:cNvPr>
          <p:cNvSpPr>
            <a:spLocks noChangeArrowheads="1"/>
          </p:cNvSpPr>
          <p:nvPr/>
        </p:nvSpPr>
        <p:spPr bwMode="auto">
          <a:xfrm>
            <a:off x="755650" y="584200"/>
            <a:ext cx="68405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eaLnBrk="1" fontAlgn="base" latinLnBrk="1" hangingPunct="1"/>
            <a:r>
              <a:rPr lang="zh-CN" altLang="en-US" sz="1600" dirty="0">
                <a:solidFill>
                  <a:srgbClr val="FF3300"/>
                </a:solidFill>
                <a:latin typeface="楷体_GB2312" pitchFamily="49" charset="-122"/>
                <a:ea typeface="楷体_GB2312" pitchFamily="49" charset="-122"/>
              </a:rPr>
              <a:t>空间权重局部自相关指数影响实证分析</a:t>
            </a:r>
            <a:r>
              <a:rPr lang="en-US" altLang="zh-CN" sz="1600" dirty="0">
                <a:solidFill>
                  <a:srgbClr val="FF3300"/>
                </a:solidFill>
                <a:ea typeface="楷体_GB2312" pitchFamily="49" charset="-122"/>
              </a:rPr>
              <a:t>——</a:t>
            </a:r>
            <a:r>
              <a:rPr lang="en-US" altLang="zh-CN" sz="1600" dirty="0">
                <a:solidFill>
                  <a:srgbClr val="FF3300"/>
                </a:solidFill>
                <a:latin typeface="楷体_GB2312" pitchFamily="49" charset="-122"/>
                <a:ea typeface="楷体_GB2312" pitchFamily="49" charset="-122"/>
              </a:rPr>
              <a:t>Moran</a:t>
            </a:r>
            <a:r>
              <a:rPr lang="zh-CN" altLang="en-US" sz="1600" dirty="0">
                <a:solidFill>
                  <a:srgbClr val="FF3300"/>
                </a:solidFill>
                <a:latin typeface="楷体_GB2312" pitchFamily="49" charset="-122"/>
                <a:ea typeface="楷体_GB2312" pitchFamily="49" charset="-122"/>
              </a:rPr>
              <a:t>的</a:t>
            </a:r>
            <a:r>
              <a:rPr lang="en-US" altLang="zh-CN" sz="1600" dirty="0">
                <a:solidFill>
                  <a:srgbClr val="FF3300"/>
                </a:solidFill>
                <a:latin typeface="楷体_GB2312" pitchFamily="49" charset="-122"/>
                <a:ea typeface="楷体_GB2312" pitchFamily="49" charset="-122"/>
              </a:rPr>
              <a:t>Z</a:t>
            </a:r>
            <a:r>
              <a:rPr lang="zh-CN" altLang="en-US" sz="1600" dirty="0">
                <a:solidFill>
                  <a:srgbClr val="FF3300"/>
                </a:solidFill>
                <a:latin typeface="楷体_GB2312" pitchFamily="49" charset="-122"/>
                <a:ea typeface="楷体_GB2312" pitchFamily="49" charset="-122"/>
              </a:rPr>
              <a:t>值图</a:t>
            </a:r>
            <a:r>
              <a:rPr lang="zh-CN" altLang="en-US" dirty="0"/>
              <a:t> </a:t>
            </a:r>
          </a:p>
          <a:p>
            <a:pPr algn="l" eaLnBrk="1" fontAlgn="base" latinLnBrk="1" hangingPunct="1"/>
            <a:endParaRPr lang="zh-CN" altLang="en-US" sz="1200" dirty="0"/>
          </a:p>
        </p:txBody>
      </p:sp>
      <p:sp>
        <p:nvSpPr>
          <p:cNvPr id="65554" name="Text Box 24">
            <a:extLst>
              <a:ext uri="{FF2B5EF4-FFF2-40B4-BE49-F238E27FC236}">
                <a16:creationId xmlns:a16="http://schemas.microsoft.com/office/drawing/2014/main" id="{7357E162-7A8F-4BCA-99A3-A39454A62BCC}"/>
              </a:ext>
            </a:extLst>
          </p:cNvPr>
          <p:cNvSpPr txBox="1">
            <a:spLocks noChangeArrowheads="1"/>
          </p:cNvSpPr>
          <p:nvPr/>
        </p:nvSpPr>
        <p:spPr bwMode="auto">
          <a:xfrm>
            <a:off x="2555875" y="1196975"/>
            <a:ext cx="43211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600" dirty="0">
                <a:latin typeface="楷体_GB2312" pitchFamily="49" charset="-122"/>
                <a:ea typeface="楷体_GB2312" pitchFamily="49" charset="-122"/>
              </a:rPr>
              <a:t>1973</a:t>
            </a:r>
            <a:r>
              <a:rPr lang="zh-CN" altLang="en-US" sz="1600" dirty="0">
                <a:latin typeface="楷体_GB2312" pitchFamily="49" charset="-122"/>
                <a:ea typeface="楷体_GB2312" pitchFamily="49" charset="-122"/>
              </a:rPr>
              <a:t>年中国人均</a:t>
            </a:r>
            <a:r>
              <a:rPr lang="en-US" altLang="zh-CN" sz="1600" dirty="0">
                <a:latin typeface="楷体_GB2312" pitchFamily="49" charset="-122"/>
                <a:ea typeface="楷体_GB2312" pitchFamily="49" charset="-122"/>
              </a:rPr>
              <a:t>GDP</a:t>
            </a:r>
            <a:r>
              <a:rPr lang="zh-CN" altLang="en-US" sz="1600" dirty="0">
                <a:latin typeface="楷体_GB2312" pitchFamily="49" charset="-122"/>
                <a:ea typeface="楷体_GB2312" pitchFamily="49" charset="-122"/>
              </a:rPr>
              <a:t>的</a:t>
            </a:r>
            <a:r>
              <a:rPr lang="en-US" altLang="zh-CN" sz="1600" dirty="0">
                <a:latin typeface="楷体_GB2312" pitchFamily="49" charset="-122"/>
                <a:ea typeface="楷体_GB2312" pitchFamily="49" charset="-122"/>
              </a:rPr>
              <a:t>Moran</a:t>
            </a:r>
            <a:r>
              <a:rPr lang="zh-CN" altLang="en-US" sz="1600" dirty="0">
                <a:latin typeface="楷体_GB2312" pitchFamily="49" charset="-122"/>
                <a:ea typeface="楷体_GB2312" pitchFamily="49" charset="-122"/>
              </a:rPr>
              <a:t>的</a:t>
            </a:r>
            <a:r>
              <a:rPr lang="en-US" altLang="zh-CN" sz="1600" dirty="0">
                <a:latin typeface="楷体_GB2312" pitchFamily="49" charset="-122"/>
                <a:ea typeface="楷体_GB2312" pitchFamily="49" charset="-122"/>
              </a:rPr>
              <a:t>Z</a:t>
            </a:r>
            <a:r>
              <a:rPr lang="zh-CN" altLang="en-US" sz="1600" dirty="0">
                <a:latin typeface="楷体_GB2312" pitchFamily="49" charset="-122"/>
                <a:ea typeface="楷体_GB2312" pitchFamily="49" charset="-122"/>
              </a:rPr>
              <a:t>值图</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2">
            <a:extLst>
              <a:ext uri="{FF2B5EF4-FFF2-40B4-BE49-F238E27FC236}">
                <a16:creationId xmlns:a16="http://schemas.microsoft.com/office/drawing/2014/main" id="{A7BB82CB-3E74-4E35-80B8-6DFF9CAAC5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8363" y="0"/>
            <a:ext cx="655637"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87" name="Picture 9">
            <a:extLst>
              <a:ext uri="{FF2B5EF4-FFF2-40B4-BE49-F238E27FC236}">
                <a16:creationId xmlns:a16="http://schemas.microsoft.com/office/drawing/2014/main" id="{FC52F9E8-C811-4E10-9256-9BF42AFC0A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1989138"/>
            <a:ext cx="2306638"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88" name="Picture 10">
            <a:extLst>
              <a:ext uri="{FF2B5EF4-FFF2-40B4-BE49-F238E27FC236}">
                <a16:creationId xmlns:a16="http://schemas.microsoft.com/office/drawing/2014/main" id="{2AB2405E-4015-4C27-B4BF-8FF018CD36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63938" y="1989138"/>
            <a:ext cx="2349500" cy="144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89" name="Picture 11">
            <a:extLst>
              <a:ext uri="{FF2B5EF4-FFF2-40B4-BE49-F238E27FC236}">
                <a16:creationId xmlns:a16="http://schemas.microsoft.com/office/drawing/2014/main" id="{25DC82B8-C20C-4CA5-B608-6E4800226AC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00788" y="1989138"/>
            <a:ext cx="2222500"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90" name="Picture 12">
            <a:extLst>
              <a:ext uri="{FF2B5EF4-FFF2-40B4-BE49-F238E27FC236}">
                <a16:creationId xmlns:a16="http://schemas.microsoft.com/office/drawing/2014/main" id="{174D71E6-74F1-4C0E-B255-ECFCB241F0A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5650" y="4149725"/>
            <a:ext cx="2232025"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91" name="Picture 13">
            <a:extLst>
              <a:ext uri="{FF2B5EF4-FFF2-40B4-BE49-F238E27FC236}">
                <a16:creationId xmlns:a16="http://schemas.microsoft.com/office/drawing/2014/main" id="{32D5BC36-8F91-458F-BC6E-D2B17D59E9A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63938" y="4149725"/>
            <a:ext cx="2243137"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92" name="Picture 14">
            <a:extLst>
              <a:ext uri="{FF2B5EF4-FFF2-40B4-BE49-F238E27FC236}">
                <a16:creationId xmlns:a16="http://schemas.microsoft.com/office/drawing/2014/main" id="{4E1CC30F-5FA6-491E-8023-066C0491965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00788" y="4149725"/>
            <a:ext cx="2306637"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93" name="Text Box 15">
            <a:extLst>
              <a:ext uri="{FF2B5EF4-FFF2-40B4-BE49-F238E27FC236}">
                <a16:creationId xmlns:a16="http://schemas.microsoft.com/office/drawing/2014/main" id="{49067F0E-F8EF-4E04-955C-FFF7A6DC85E9}"/>
              </a:ext>
            </a:extLst>
          </p:cNvPr>
          <p:cNvSpPr txBox="1">
            <a:spLocks noChangeArrowheads="1"/>
          </p:cNvSpPr>
          <p:nvPr/>
        </p:nvSpPr>
        <p:spPr bwMode="auto">
          <a:xfrm>
            <a:off x="1187450" y="3644900"/>
            <a:ext cx="18732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Rook</a:t>
            </a:r>
          </a:p>
        </p:txBody>
      </p:sp>
      <p:sp>
        <p:nvSpPr>
          <p:cNvPr id="67594" name="Text Box 16">
            <a:extLst>
              <a:ext uri="{FF2B5EF4-FFF2-40B4-BE49-F238E27FC236}">
                <a16:creationId xmlns:a16="http://schemas.microsoft.com/office/drawing/2014/main" id="{A379B7D1-9971-42D5-B0E2-062BF0019504}"/>
              </a:ext>
            </a:extLst>
          </p:cNvPr>
          <p:cNvSpPr txBox="1">
            <a:spLocks noChangeArrowheads="1"/>
          </p:cNvSpPr>
          <p:nvPr/>
        </p:nvSpPr>
        <p:spPr bwMode="auto">
          <a:xfrm>
            <a:off x="4211638" y="3644900"/>
            <a:ext cx="14398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K-Nears</a:t>
            </a:r>
          </a:p>
        </p:txBody>
      </p:sp>
      <p:sp>
        <p:nvSpPr>
          <p:cNvPr id="67595" name="Text Box 17">
            <a:extLst>
              <a:ext uri="{FF2B5EF4-FFF2-40B4-BE49-F238E27FC236}">
                <a16:creationId xmlns:a16="http://schemas.microsoft.com/office/drawing/2014/main" id="{D65C4F61-0F48-4152-9280-B5E0130B61ED}"/>
              </a:ext>
            </a:extLst>
          </p:cNvPr>
          <p:cNvSpPr txBox="1">
            <a:spLocks noChangeArrowheads="1"/>
          </p:cNvSpPr>
          <p:nvPr/>
        </p:nvSpPr>
        <p:spPr bwMode="auto">
          <a:xfrm>
            <a:off x="6804025" y="3644900"/>
            <a:ext cx="16557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Boundary</a:t>
            </a:r>
          </a:p>
        </p:txBody>
      </p:sp>
      <p:sp>
        <p:nvSpPr>
          <p:cNvPr id="67596" name="Text Box 18">
            <a:extLst>
              <a:ext uri="{FF2B5EF4-FFF2-40B4-BE49-F238E27FC236}">
                <a16:creationId xmlns:a16="http://schemas.microsoft.com/office/drawing/2014/main" id="{5A284408-2F9E-42C3-80B9-E2222E9859E4}"/>
              </a:ext>
            </a:extLst>
          </p:cNvPr>
          <p:cNvSpPr txBox="1">
            <a:spLocks noChangeArrowheads="1"/>
          </p:cNvSpPr>
          <p:nvPr/>
        </p:nvSpPr>
        <p:spPr bwMode="auto">
          <a:xfrm>
            <a:off x="1258888" y="5661025"/>
            <a:ext cx="18716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Area</a:t>
            </a:r>
          </a:p>
        </p:txBody>
      </p:sp>
      <p:sp>
        <p:nvSpPr>
          <p:cNvPr id="67597" name="Text Box 19">
            <a:extLst>
              <a:ext uri="{FF2B5EF4-FFF2-40B4-BE49-F238E27FC236}">
                <a16:creationId xmlns:a16="http://schemas.microsoft.com/office/drawing/2014/main" id="{FFC15742-8301-4488-ACE8-1EF955C8B798}"/>
              </a:ext>
            </a:extLst>
          </p:cNvPr>
          <p:cNvSpPr txBox="1">
            <a:spLocks noChangeArrowheads="1"/>
          </p:cNvSpPr>
          <p:nvPr/>
        </p:nvSpPr>
        <p:spPr bwMode="auto">
          <a:xfrm>
            <a:off x="4211638" y="5661025"/>
            <a:ext cx="17287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Direction</a:t>
            </a:r>
            <a:r>
              <a:rPr lang="en-US" altLang="zh-CN"/>
              <a:t> </a:t>
            </a:r>
          </a:p>
        </p:txBody>
      </p:sp>
      <p:sp>
        <p:nvSpPr>
          <p:cNvPr id="67598" name="Text Box 20">
            <a:extLst>
              <a:ext uri="{FF2B5EF4-FFF2-40B4-BE49-F238E27FC236}">
                <a16:creationId xmlns:a16="http://schemas.microsoft.com/office/drawing/2014/main" id="{9DE53845-CCB7-4D84-9581-3DBB966C9F3A}"/>
              </a:ext>
            </a:extLst>
          </p:cNvPr>
          <p:cNvSpPr txBox="1">
            <a:spLocks noChangeArrowheads="1"/>
          </p:cNvSpPr>
          <p:nvPr/>
        </p:nvSpPr>
        <p:spPr bwMode="auto">
          <a:xfrm>
            <a:off x="6804025" y="5661025"/>
            <a:ext cx="15843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Rail</a:t>
            </a:r>
            <a:r>
              <a:rPr lang="en-US" altLang="zh-CN" sz="1600"/>
              <a:t> Way</a:t>
            </a:r>
          </a:p>
        </p:txBody>
      </p:sp>
      <p:sp>
        <p:nvSpPr>
          <p:cNvPr id="67599" name="AutoShape 27">
            <a:extLst>
              <a:ext uri="{FF2B5EF4-FFF2-40B4-BE49-F238E27FC236}">
                <a16:creationId xmlns:a16="http://schemas.microsoft.com/office/drawing/2014/main" id="{6E6B7375-4219-4120-BEE1-D1B47A0B180B}"/>
              </a:ext>
            </a:extLst>
          </p:cNvPr>
          <p:cNvSpPr>
            <a:spLocks noChangeArrowheads="1"/>
          </p:cNvSpPr>
          <p:nvPr/>
        </p:nvSpPr>
        <p:spPr bwMode="auto">
          <a:xfrm>
            <a:off x="755650" y="188913"/>
            <a:ext cx="6481763" cy="406400"/>
          </a:xfrm>
          <a:prstGeom prst="bevel">
            <a:avLst>
              <a:gd name="adj" fmla="val 3519"/>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tIns="0" bIns="0" anchor="ct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lgn="l"/>
            <a:r>
              <a:rPr lang="zh-CN" altLang="en-US" dirty="0">
                <a:solidFill>
                  <a:srgbClr val="0033CC"/>
                </a:solidFill>
              </a:rPr>
              <a:t>空间权重量化对空间自相关影响实证分析</a:t>
            </a:r>
          </a:p>
        </p:txBody>
      </p:sp>
      <p:sp>
        <p:nvSpPr>
          <p:cNvPr id="67600" name="Line 28">
            <a:extLst>
              <a:ext uri="{FF2B5EF4-FFF2-40B4-BE49-F238E27FC236}">
                <a16:creationId xmlns:a16="http://schemas.microsoft.com/office/drawing/2014/main" id="{00CF8329-3A60-4D84-8C8C-AA7AE94C0BC7}"/>
              </a:ext>
            </a:extLst>
          </p:cNvPr>
          <p:cNvSpPr>
            <a:spLocks noChangeShapeType="1"/>
          </p:cNvSpPr>
          <p:nvPr/>
        </p:nvSpPr>
        <p:spPr bwMode="auto">
          <a:xfrm>
            <a:off x="827088" y="620713"/>
            <a:ext cx="57610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01" name="Rectangle 29">
            <a:extLst>
              <a:ext uri="{FF2B5EF4-FFF2-40B4-BE49-F238E27FC236}">
                <a16:creationId xmlns:a16="http://schemas.microsoft.com/office/drawing/2014/main" id="{7E990BA9-53E1-416D-B93F-40CEE8B12A06}"/>
              </a:ext>
            </a:extLst>
          </p:cNvPr>
          <p:cNvSpPr>
            <a:spLocks noChangeArrowheads="1"/>
          </p:cNvSpPr>
          <p:nvPr/>
        </p:nvSpPr>
        <p:spPr bwMode="auto">
          <a:xfrm>
            <a:off x="755650" y="584200"/>
            <a:ext cx="68405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eaLnBrk="1" fontAlgn="base" latinLnBrk="1" hangingPunct="1"/>
            <a:r>
              <a:rPr lang="zh-CN" altLang="en-US" sz="1600" dirty="0">
                <a:solidFill>
                  <a:srgbClr val="FF3300"/>
                </a:solidFill>
                <a:latin typeface="楷体_GB2312" pitchFamily="49" charset="-122"/>
                <a:ea typeface="楷体_GB2312" pitchFamily="49" charset="-122"/>
              </a:rPr>
              <a:t>空间权重局部自相关指数影响实证分析</a:t>
            </a:r>
            <a:r>
              <a:rPr lang="en-US" altLang="zh-CN" sz="1600" dirty="0">
                <a:solidFill>
                  <a:srgbClr val="FF3300"/>
                </a:solidFill>
                <a:ea typeface="楷体_GB2312" pitchFamily="49" charset="-122"/>
              </a:rPr>
              <a:t>——</a:t>
            </a:r>
            <a:r>
              <a:rPr lang="en-US" altLang="zh-CN" sz="1600" dirty="0">
                <a:solidFill>
                  <a:srgbClr val="FF3300"/>
                </a:solidFill>
                <a:latin typeface="楷体_GB2312" pitchFamily="49" charset="-122"/>
                <a:ea typeface="楷体_GB2312" pitchFamily="49" charset="-122"/>
              </a:rPr>
              <a:t>Moran</a:t>
            </a:r>
            <a:r>
              <a:rPr lang="zh-CN" altLang="en-US" sz="1600" dirty="0">
                <a:solidFill>
                  <a:srgbClr val="FF3300"/>
                </a:solidFill>
                <a:latin typeface="楷体_GB2312" pitchFamily="49" charset="-122"/>
                <a:ea typeface="楷体_GB2312" pitchFamily="49" charset="-122"/>
              </a:rPr>
              <a:t>的</a:t>
            </a:r>
            <a:r>
              <a:rPr lang="en-US" altLang="zh-CN" sz="1600" dirty="0">
                <a:solidFill>
                  <a:srgbClr val="FF3300"/>
                </a:solidFill>
                <a:latin typeface="楷体_GB2312" pitchFamily="49" charset="-122"/>
                <a:ea typeface="楷体_GB2312" pitchFamily="49" charset="-122"/>
              </a:rPr>
              <a:t>Z</a:t>
            </a:r>
            <a:r>
              <a:rPr lang="zh-CN" altLang="en-US" sz="1600" dirty="0">
                <a:solidFill>
                  <a:srgbClr val="FF3300"/>
                </a:solidFill>
                <a:latin typeface="楷体_GB2312" pitchFamily="49" charset="-122"/>
                <a:ea typeface="楷体_GB2312" pitchFamily="49" charset="-122"/>
              </a:rPr>
              <a:t>值图</a:t>
            </a:r>
            <a:r>
              <a:rPr lang="zh-CN" altLang="en-US" dirty="0"/>
              <a:t> </a:t>
            </a:r>
          </a:p>
          <a:p>
            <a:pPr algn="l" eaLnBrk="1" fontAlgn="base" latinLnBrk="1" hangingPunct="1"/>
            <a:endParaRPr lang="zh-CN" altLang="en-US" sz="1200" dirty="0"/>
          </a:p>
        </p:txBody>
      </p:sp>
      <p:sp>
        <p:nvSpPr>
          <p:cNvPr id="67602" name="Text Box 30">
            <a:extLst>
              <a:ext uri="{FF2B5EF4-FFF2-40B4-BE49-F238E27FC236}">
                <a16:creationId xmlns:a16="http://schemas.microsoft.com/office/drawing/2014/main" id="{755C373D-AB6D-464E-9B4F-DCD6CFD81416}"/>
              </a:ext>
            </a:extLst>
          </p:cNvPr>
          <p:cNvSpPr txBox="1">
            <a:spLocks noChangeArrowheads="1"/>
          </p:cNvSpPr>
          <p:nvPr/>
        </p:nvSpPr>
        <p:spPr bwMode="auto">
          <a:xfrm>
            <a:off x="2555875" y="1196975"/>
            <a:ext cx="43211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600" dirty="0">
                <a:latin typeface="楷体_GB2312" pitchFamily="49" charset="-122"/>
                <a:ea typeface="楷体_GB2312" pitchFamily="49" charset="-122"/>
              </a:rPr>
              <a:t>1933</a:t>
            </a:r>
            <a:r>
              <a:rPr lang="zh-CN" altLang="en-US" sz="1600" dirty="0">
                <a:latin typeface="楷体_GB2312" pitchFamily="49" charset="-122"/>
                <a:ea typeface="楷体_GB2312" pitchFamily="49" charset="-122"/>
              </a:rPr>
              <a:t>年中国人均</a:t>
            </a:r>
            <a:r>
              <a:rPr lang="en-US" altLang="zh-CN" sz="1600" dirty="0">
                <a:latin typeface="楷体_GB2312" pitchFamily="49" charset="-122"/>
                <a:ea typeface="楷体_GB2312" pitchFamily="49" charset="-122"/>
              </a:rPr>
              <a:t>GDP</a:t>
            </a:r>
            <a:r>
              <a:rPr lang="zh-CN" altLang="en-US" sz="1600" dirty="0">
                <a:latin typeface="楷体_GB2312" pitchFamily="49" charset="-122"/>
                <a:ea typeface="楷体_GB2312" pitchFamily="49" charset="-122"/>
              </a:rPr>
              <a:t>的</a:t>
            </a:r>
            <a:r>
              <a:rPr lang="en-US" altLang="zh-CN" sz="1600" dirty="0">
                <a:latin typeface="楷体_GB2312" pitchFamily="49" charset="-122"/>
                <a:ea typeface="楷体_GB2312" pitchFamily="49" charset="-122"/>
              </a:rPr>
              <a:t>Moran</a:t>
            </a:r>
            <a:r>
              <a:rPr lang="zh-CN" altLang="en-US" sz="1600" dirty="0">
                <a:latin typeface="楷体_GB2312" pitchFamily="49" charset="-122"/>
                <a:ea typeface="楷体_GB2312" pitchFamily="49" charset="-122"/>
              </a:rPr>
              <a:t>的</a:t>
            </a:r>
            <a:r>
              <a:rPr lang="en-US" altLang="zh-CN" sz="1600" dirty="0">
                <a:latin typeface="楷体_GB2312" pitchFamily="49" charset="-122"/>
                <a:ea typeface="楷体_GB2312" pitchFamily="49" charset="-122"/>
              </a:rPr>
              <a:t>Z</a:t>
            </a:r>
            <a:r>
              <a:rPr lang="zh-CN" altLang="en-US" sz="1600" dirty="0">
                <a:latin typeface="楷体_GB2312" pitchFamily="49" charset="-122"/>
                <a:ea typeface="楷体_GB2312" pitchFamily="49" charset="-122"/>
              </a:rPr>
              <a:t>值图</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a:extLst>
              <a:ext uri="{FF2B5EF4-FFF2-40B4-BE49-F238E27FC236}">
                <a16:creationId xmlns:a16="http://schemas.microsoft.com/office/drawing/2014/main" id="{957CA5FD-4B9B-41FD-8373-539C73B2CA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8363" y="0"/>
            <a:ext cx="655637"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5" name="Picture 10">
            <a:extLst>
              <a:ext uri="{FF2B5EF4-FFF2-40B4-BE49-F238E27FC236}">
                <a16:creationId xmlns:a16="http://schemas.microsoft.com/office/drawing/2014/main" id="{F447042F-C8A3-4600-864A-141C869111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1916113"/>
            <a:ext cx="229711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6" name="Picture 11">
            <a:extLst>
              <a:ext uri="{FF2B5EF4-FFF2-40B4-BE49-F238E27FC236}">
                <a16:creationId xmlns:a16="http://schemas.microsoft.com/office/drawing/2014/main" id="{A417566C-0AC5-44C8-BE35-E69F1CE2B3B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9475" y="1916113"/>
            <a:ext cx="2349500"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7" name="Picture 12">
            <a:extLst>
              <a:ext uri="{FF2B5EF4-FFF2-40B4-BE49-F238E27FC236}">
                <a16:creationId xmlns:a16="http://schemas.microsoft.com/office/drawing/2014/main" id="{04F335A0-7EA0-4838-87EB-93D5079C0A2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27763" y="1916113"/>
            <a:ext cx="22653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8" name="Picture 13">
            <a:extLst>
              <a:ext uri="{FF2B5EF4-FFF2-40B4-BE49-F238E27FC236}">
                <a16:creationId xmlns:a16="http://schemas.microsoft.com/office/drawing/2014/main" id="{5B1A4654-AD15-4E52-AB59-1CD15242560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4213" y="4003675"/>
            <a:ext cx="2179637"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9" name="Picture 14">
            <a:extLst>
              <a:ext uri="{FF2B5EF4-FFF2-40B4-BE49-F238E27FC236}">
                <a16:creationId xmlns:a16="http://schemas.microsoft.com/office/drawing/2014/main" id="{0BD0CD67-83C0-4E71-9E44-F24DB7761D6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19475" y="4003675"/>
            <a:ext cx="2265363"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40" name="Picture 15">
            <a:extLst>
              <a:ext uri="{FF2B5EF4-FFF2-40B4-BE49-F238E27FC236}">
                <a16:creationId xmlns:a16="http://schemas.microsoft.com/office/drawing/2014/main" id="{093A46DD-6561-4D0E-A5ED-2836191DD4C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27763" y="4003675"/>
            <a:ext cx="2286000"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41" name="Text Box 16">
            <a:extLst>
              <a:ext uri="{FF2B5EF4-FFF2-40B4-BE49-F238E27FC236}">
                <a16:creationId xmlns:a16="http://schemas.microsoft.com/office/drawing/2014/main" id="{69A9E2D9-6305-43A6-AEA4-1FC7CDC54964}"/>
              </a:ext>
            </a:extLst>
          </p:cNvPr>
          <p:cNvSpPr txBox="1">
            <a:spLocks noChangeArrowheads="1"/>
          </p:cNvSpPr>
          <p:nvPr/>
        </p:nvSpPr>
        <p:spPr bwMode="auto">
          <a:xfrm>
            <a:off x="1116013" y="3644900"/>
            <a:ext cx="18732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Rook</a:t>
            </a:r>
          </a:p>
        </p:txBody>
      </p:sp>
      <p:sp>
        <p:nvSpPr>
          <p:cNvPr id="69642" name="Text Box 17">
            <a:extLst>
              <a:ext uri="{FF2B5EF4-FFF2-40B4-BE49-F238E27FC236}">
                <a16:creationId xmlns:a16="http://schemas.microsoft.com/office/drawing/2014/main" id="{EEF0BB57-C109-46BF-AB8E-F3CACCCA926A}"/>
              </a:ext>
            </a:extLst>
          </p:cNvPr>
          <p:cNvSpPr txBox="1">
            <a:spLocks noChangeArrowheads="1"/>
          </p:cNvSpPr>
          <p:nvPr/>
        </p:nvSpPr>
        <p:spPr bwMode="auto">
          <a:xfrm>
            <a:off x="4067175" y="3644900"/>
            <a:ext cx="14398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K-Nears</a:t>
            </a:r>
          </a:p>
        </p:txBody>
      </p:sp>
      <p:sp>
        <p:nvSpPr>
          <p:cNvPr id="69643" name="Text Box 18">
            <a:extLst>
              <a:ext uri="{FF2B5EF4-FFF2-40B4-BE49-F238E27FC236}">
                <a16:creationId xmlns:a16="http://schemas.microsoft.com/office/drawing/2014/main" id="{1734B301-B6C9-457B-AAE9-D7BCD0167F20}"/>
              </a:ext>
            </a:extLst>
          </p:cNvPr>
          <p:cNvSpPr txBox="1">
            <a:spLocks noChangeArrowheads="1"/>
          </p:cNvSpPr>
          <p:nvPr/>
        </p:nvSpPr>
        <p:spPr bwMode="auto">
          <a:xfrm>
            <a:off x="6732588" y="3644900"/>
            <a:ext cx="16557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Boundary</a:t>
            </a:r>
          </a:p>
        </p:txBody>
      </p:sp>
      <p:sp>
        <p:nvSpPr>
          <p:cNvPr id="69644" name="Text Box 19">
            <a:extLst>
              <a:ext uri="{FF2B5EF4-FFF2-40B4-BE49-F238E27FC236}">
                <a16:creationId xmlns:a16="http://schemas.microsoft.com/office/drawing/2014/main" id="{045596E8-7B37-41AE-A496-82C84370C8E9}"/>
              </a:ext>
            </a:extLst>
          </p:cNvPr>
          <p:cNvSpPr txBox="1">
            <a:spLocks noChangeArrowheads="1"/>
          </p:cNvSpPr>
          <p:nvPr/>
        </p:nvSpPr>
        <p:spPr bwMode="auto">
          <a:xfrm>
            <a:off x="1187450" y="5734050"/>
            <a:ext cx="18716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Area</a:t>
            </a:r>
          </a:p>
        </p:txBody>
      </p:sp>
      <p:sp>
        <p:nvSpPr>
          <p:cNvPr id="69645" name="Text Box 20">
            <a:extLst>
              <a:ext uri="{FF2B5EF4-FFF2-40B4-BE49-F238E27FC236}">
                <a16:creationId xmlns:a16="http://schemas.microsoft.com/office/drawing/2014/main" id="{108780B9-971E-4294-BB9D-1F0B1D211B10}"/>
              </a:ext>
            </a:extLst>
          </p:cNvPr>
          <p:cNvSpPr txBox="1">
            <a:spLocks noChangeArrowheads="1"/>
          </p:cNvSpPr>
          <p:nvPr/>
        </p:nvSpPr>
        <p:spPr bwMode="auto">
          <a:xfrm>
            <a:off x="4067175" y="5734050"/>
            <a:ext cx="17287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Direction</a:t>
            </a:r>
            <a:r>
              <a:rPr lang="en-US" altLang="zh-CN"/>
              <a:t> </a:t>
            </a:r>
          </a:p>
        </p:txBody>
      </p:sp>
      <p:sp>
        <p:nvSpPr>
          <p:cNvPr id="69646" name="Text Box 21">
            <a:extLst>
              <a:ext uri="{FF2B5EF4-FFF2-40B4-BE49-F238E27FC236}">
                <a16:creationId xmlns:a16="http://schemas.microsoft.com/office/drawing/2014/main" id="{99CB734C-611C-45E8-9B68-4D8AD6ED904B}"/>
              </a:ext>
            </a:extLst>
          </p:cNvPr>
          <p:cNvSpPr txBox="1">
            <a:spLocks noChangeArrowheads="1"/>
          </p:cNvSpPr>
          <p:nvPr/>
        </p:nvSpPr>
        <p:spPr bwMode="auto">
          <a:xfrm>
            <a:off x="6732588" y="5734050"/>
            <a:ext cx="15843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Rail</a:t>
            </a:r>
            <a:r>
              <a:rPr lang="en-US" altLang="zh-CN" sz="1600"/>
              <a:t> Way</a:t>
            </a:r>
          </a:p>
        </p:txBody>
      </p:sp>
      <p:sp>
        <p:nvSpPr>
          <p:cNvPr id="69647" name="AutoShape 22">
            <a:extLst>
              <a:ext uri="{FF2B5EF4-FFF2-40B4-BE49-F238E27FC236}">
                <a16:creationId xmlns:a16="http://schemas.microsoft.com/office/drawing/2014/main" id="{4777A512-1C24-437A-9772-EB9C0BD8ABFA}"/>
              </a:ext>
            </a:extLst>
          </p:cNvPr>
          <p:cNvSpPr>
            <a:spLocks noChangeArrowheads="1"/>
          </p:cNvSpPr>
          <p:nvPr/>
        </p:nvSpPr>
        <p:spPr bwMode="auto">
          <a:xfrm>
            <a:off x="755650" y="188913"/>
            <a:ext cx="6481763" cy="406400"/>
          </a:xfrm>
          <a:prstGeom prst="bevel">
            <a:avLst>
              <a:gd name="adj" fmla="val 3519"/>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tIns="0" bIns="0" anchor="ct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lgn="l"/>
            <a:r>
              <a:rPr lang="zh-CN" altLang="en-US" dirty="0">
                <a:solidFill>
                  <a:srgbClr val="0033CC"/>
                </a:solidFill>
              </a:rPr>
              <a:t>空间权重量化对空间自相关影响实证分析</a:t>
            </a:r>
          </a:p>
        </p:txBody>
      </p:sp>
      <p:sp>
        <p:nvSpPr>
          <p:cNvPr id="69648" name="Line 23">
            <a:extLst>
              <a:ext uri="{FF2B5EF4-FFF2-40B4-BE49-F238E27FC236}">
                <a16:creationId xmlns:a16="http://schemas.microsoft.com/office/drawing/2014/main" id="{428CA717-4919-4A04-9057-493B6B77F95A}"/>
              </a:ext>
            </a:extLst>
          </p:cNvPr>
          <p:cNvSpPr>
            <a:spLocks noChangeShapeType="1"/>
          </p:cNvSpPr>
          <p:nvPr/>
        </p:nvSpPr>
        <p:spPr bwMode="auto">
          <a:xfrm>
            <a:off x="827088" y="620713"/>
            <a:ext cx="57610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49" name="Rectangle 24">
            <a:extLst>
              <a:ext uri="{FF2B5EF4-FFF2-40B4-BE49-F238E27FC236}">
                <a16:creationId xmlns:a16="http://schemas.microsoft.com/office/drawing/2014/main" id="{6CEDE56B-009A-4A78-BA5F-494F6B0D45E3}"/>
              </a:ext>
            </a:extLst>
          </p:cNvPr>
          <p:cNvSpPr>
            <a:spLocks noChangeArrowheads="1"/>
          </p:cNvSpPr>
          <p:nvPr/>
        </p:nvSpPr>
        <p:spPr bwMode="auto">
          <a:xfrm>
            <a:off x="755650" y="584200"/>
            <a:ext cx="68405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eaLnBrk="1" fontAlgn="base" latinLnBrk="1" hangingPunct="1"/>
            <a:r>
              <a:rPr lang="zh-CN" altLang="en-US" sz="1600" dirty="0">
                <a:solidFill>
                  <a:srgbClr val="FF3300"/>
                </a:solidFill>
                <a:latin typeface="楷体_GB2312" pitchFamily="49" charset="-122"/>
                <a:ea typeface="楷体_GB2312" pitchFamily="49" charset="-122"/>
              </a:rPr>
              <a:t>空间权重局部自相关指数影响实证分析</a:t>
            </a:r>
            <a:r>
              <a:rPr lang="en-US" altLang="zh-CN" sz="1600" dirty="0">
                <a:solidFill>
                  <a:srgbClr val="FF3300"/>
                </a:solidFill>
                <a:ea typeface="楷体_GB2312" pitchFamily="49" charset="-122"/>
              </a:rPr>
              <a:t>——</a:t>
            </a:r>
            <a:r>
              <a:rPr lang="en-US" altLang="zh-CN" sz="1600" dirty="0">
                <a:solidFill>
                  <a:srgbClr val="FF3300"/>
                </a:solidFill>
                <a:latin typeface="楷体_GB2312" pitchFamily="49" charset="-122"/>
                <a:ea typeface="楷体_GB2312" pitchFamily="49" charset="-122"/>
              </a:rPr>
              <a:t>Moran</a:t>
            </a:r>
            <a:r>
              <a:rPr lang="zh-CN" altLang="en-US" sz="1600" dirty="0">
                <a:solidFill>
                  <a:srgbClr val="FF3300"/>
                </a:solidFill>
                <a:latin typeface="楷体_GB2312" pitchFamily="49" charset="-122"/>
                <a:ea typeface="楷体_GB2312" pitchFamily="49" charset="-122"/>
              </a:rPr>
              <a:t>的</a:t>
            </a:r>
            <a:r>
              <a:rPr lang="en-US" altLang="zh-CN" sz="1600" dirty="0">
                <a:solidFill>
                  <a:srgbClr val="FF3300"/>
                </a:solidFill>
                <a:latin typeface="楷体_GB2312" pitchFamily="49" charset="-122"/>
                <a:ea typeface="楷体_GB2312" pitchFamily="49" charset="-122"/>
              </a:rPr>
              <a:t>Z</a:t>
            </a:r>
            <a:r>
              <a:rPr lang="zh-CN" altLang="en-US" sz="1600" dirty="0">
                <a:solidFill>
                  <a:srgbClr val="FF3300"/>
                </a:solidFill>
                <a:latin typeface="楷体_GB2312" pitchFamily="49" charset="-122"/>
                <a:ea typeface="楷体_GB2312" pitchFamily="49" charset="-122"/>
              </a:rPr>
              <a:t>值图</a:t>
            </a:r>
            <a:r>
              <a:rPr lang="zh-CN" altLang="en-US" dirty="0"/>
              <a:t> </a:t>
            </a:r>
          </a:p>
          <a:p>
            <a:pPr algn="l" eaLnBrk="1" fontAlgn="base" latinLnBrk="1" hangingPunct="1"/>
            <a:endParaRPr lang="zh-CN" altLang="en-US" sz="1200" dirty="0"/>
          </a:p>
        </p:txBody>
      </p:sp>
      <p:sp>
        <p:nvSpPr>
          <p:cNvPr id="69650" name="Text Box 25">
            <a:extLst>
              <a:ext uri="{FF2B5EF4-FFF2-40B4-BE49-F238E27FC236}">
                <a16:creationId xmlns:a16="http://schemas.microsoft.com/office/drawing/2014/main" id="{9FD3720A-3F81-4C3D-9CE1-B177077AC4A1}"/>
              </a:ext>
            </a:extLst>
          </p:cNvPr>
          <p:cNvSpPr txBox="1">
            <a:spLocks noChangeArrowheads="1"/>
          </p:cNvSpPr>
          <p:nvPr/>
        </p:nvSpPr>
        <p:spPr bwMode="auto">
          <a:xfrm>
            <a:off x="2555875" y="1341438"/>
            <a:ext cx="43211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600" dirty="0">
                <a:latin typeface="楷体_GB2312" pitchFamily="49" charset="-122"/>
                <a:ea typeface="楷体_GB2312" pitchFamily="49" charset="-122"/>
              </a:rPr>
              <a:t>1993</a:t>
            </a:r>
            <a:r>
              <a:rPr lang="zh-CN" altLang="en-US" sz="1600" dirty="0">
                <a:latin typeface="楷体_GB2312" pitchFamily="49" charset="-122"/>
                <a:ea typeface="楷体_GB2312" pitchFamily="49" charset="-122"/>
              </a:rPr>
              <a:t>年中国人均</a:t>
            </a:r>
            <a:r>
              <a:rPr lang="en-US" altLang="zh-CN" sz="1600" dirty="0">
                <a:latin typeface="楷体_GB2312" pitchFamily="49" charset="-122"/>
                <a:ea typeface="楷体_GB2312" pitchFamily="49" charset="-122"/>
              </a:rPr>
              <a:t>GDP</a:t>
            </a:r>
            <a:r>
              <a:rPr lang="zh-CN" altLang="en-US" sz="1600" dirty="0">
                <a:latin typeface="楷体_GB2312" pitchFamily="49" charset="-122"/>
                <a:ea typeface="楷体_GB2312" pitchFamily="49" charset="-122"/>
              </a:rPr>
              <a:t>的</a:t>
            </a:r>
            <a:r>
              <a:rPr lang="en-US" altLang="zh-CN" sz="1600" dirty="0">
                <a:latin typeface="楷体_GB2312" pitchFamily="49" charset="-122"/>
                <a:ea typeface="楷体_GB2312" pitchFamily="49" charset="-122"/>
              </a:rPr>
              <a:t>Moran</a:t>
            </a:r>
            <a:r>
              <a:rPr lang="zh-CN" altLang="en-US" sz="1600" dirty="0">
                <a:latin typeface="楷体_GB2312" pitchFamily="49" charset="-122"/>
                <a:ea typeface="楷体_GB2312" pitchFamily="49" charset="-122"/>
              </a:rPr>
              <a:t>的</a:t>
            </a:r>
            <a:r>
              <a:rPr lang="en-US" altLang="zh-CN" sz="1600" dirty="0">
                <a:latin typeface="楷体_GB2312" pitchFamily="49" charset="-122"/>
                <a:ea typeface="楷体_GB2312" pitchFamily="49" charset="-122"/>
              </a:rPr>
              <a:t>Z</a:t>
            </a:r>
            <a:r>
              <a:rPr lang="zh-CN" altLang="en-US" sz="1600" dirty="0">
                <a:latin typeface="楷体_GB2312" pitchFamily="49" charset="-122"/>
                <a:ea typeface="楷体_GB2312" pitchFamily="49" charset="-122"/>
              </a:rPr>
              <a:t>值图</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2">
            <a:extLst>
              <a:ext uri="{FF2B5EF4-FFF2-40B4-BE49-F238E27FC236}">
                <a16:creationId xmlns:a16="http://schemas.microsoft.com/office/drawing/2014/main" id="{7733B94D-504F-415B-A306-0933222916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8363" y="0"/>
            <a:ext cx="655637"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3" name="Picture 9">
            <a:extLst>
              <a:ext uri="{FF2B5EF4-FFF2-40B4-BE49-F238E27FC236}">
                <a16:creationId xmlns:a16="http://schemas.microsoft.com/office/drawing/2014/main" id="{A14EBC37-9AAC-4402-8792-124B4D44B8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2060575"/>
            <a:ext cx="2317750"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4" name="Picture 10">
            <a:extLst>
              <a:ext uri="{FF2B5EF4-FFF2-40B4-BE49-F238E27FC236}">
                <a16:creationId xmlns:a16="http://schemas.microsoft.com/office/drawing/2014/main" id="{A0215FFD-55E1-4978-9991-DB15B4DCF0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2500" y="2060575"/>
            <a:ext cx="2371725"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5" name="Picture 11">
            <a:extLst>
              <a:ext uri="{FF2B5EF4-FFF2-40B4-BE49-F238E27FC236}">
                <a16:creationId xmlns:a16="http://schemas.microsoft.com/office/drawing/2014/main" id="{22532A0A-5B50-4B51-B6CE-4A873EB0D4E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56325" y="2060575"/>
            <a:ext cx="2317750"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6" name="Picture 12">
            <a:extLst>
              <a:ext uri="{FF2B5EF4-FFF2-40B4-BE49-F238E27FC236}">
                <a16:creationId xmlns:a16="http://schemas.microsoft.com/office/drawing/2014/main" id="{47A8ECC0-D2DD-4099-B3D7-9D761E33536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4213" y="4076700"/>
            <a:ext cx="2243137"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7" name="Picture 13">
            <a:extLst>
              <a:ext uri="{FF2B5EF4-FFF2-40B4-BE49-F238E27FC236}">
                <a16:creationId xmlns:a16="http://schemas.microsoft.com/office/drawing/2014/main" id="{D8ABD4BD-7DAC-4577-9495-D843A696EEB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92500" y="4076700"/>
            <a:ext cx="2211388"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8" name="Picture 14">
            <a:extLst>
              <a:ext uri="{FF2B5EF4-FFF2-40B4-BE49-F238E27FC236}">
                <a16:creationId xmlns:a16="http://schemas.microsoft.com/office/drawing/2014/main" id="{3E583AC8-ECD2-4094-89AB-D9468356134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56325" y="4076700"/>
            <a:ext cx="2297113"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9" name="Text Box 15">
            <a:extLst>
              <a:ext uri="{FF2B5EF4-FFF2-40B4-BE49-F238E27FC236}">
                <a16:creationId xmlns:a16="http://schemas.microsoft.com/office/drawing/2014/main" id="{1A87E9C0-6614-46C2-9EF5-D674C18D49F1}"/>
              </a:ext>
            </a:extLst>
          </p:cNvPr>
          <p:cNvSpPr txBox="1">
            <a:spLocks noChangeArrowheads="1"/>
          </p:cNvSpPr>
          <p:nvPr/>
        </p:nvSpPr>
        <p:spPr bwMode="auto">
          <a:xfrm>
            <a:off x="1187450" y="3573463"/>
            <a:ext cx="18732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Rook</a:t>
            </a:r>
          </a:p>
        </p:txBody>
      </p:sp>
      <p:sp>
        <p:nvSpPr>
          <p:cNvPr id="71690" name="Text Box 16">
            <a:extLst>
              <a:ext uri="{FF2B5EF4-FFF2-40B4-BE49-F238E27FC236}">
                <a16:creationId xmlns:a16="http://schemas.microsoft.com/office/drawing/2014/main" id="{E38FA5E7-C999-43EF-993C-B18514732D08}"/>
              </a:ext>
            </a:extLst>
          </p:cNvPr>
          <p:cNvSpPr txBox="1">
            <a:spLocks noChangeArrowheads="1"/>
          </p:cNvSpPr>
          <p:nvPr/>
        </p:nvSpPr>
        <p:spPr bwMode="auto">
          <a:xfrm>
            <a:off x="4067175" y="3573463"/>
            <a:ext cx="14398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K-Nears</a:t>
            </a:r>
          </a:p>
        </p:txBody>
      </p:sp>
      <p:sp>
        <p:nvSpPr>
          <p:cNvPr id="71691" name="Text Box 17">
            <a:extLst>
              <a:ext uri="{FF2B5EF4-FFF2-40B4-BE49-F238E27FC236}">
                <a16:creationId xmlns:a16="http://schemas.microsoft.com/office/drawing/2014/main" id="{541C2CBA-679D-4637-998D-8DAAAFFA25A4}"/>
              </a:ext>
            </a:extLst>
          </p:cNvPr>
          <p:cNvSpPr txBox="1">
            <a:spLocks noChangeArrowheads="1"/>
          </p:cNvSpPr>
          <p:nvPr/>
        </p:nvSpPr>
        <p:spPr bwMode="auto">
          <a:xfrm>
            <a:off x="6732588" y="3573463"/>
            <a:ext cx="16557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Boundary</a:t>
            </a:r>
          </a:p>
        </p:txBody>
      </p:sp>
      <p:sp>
        <p:nvSpPr>
          <p:cNvPr id="71692" name="Text Box 18">
            <a:extLst>
              <a:ext uri="{FF2B5EF4-FFF2-40B4-BE49-F238E27FC236}">
                <a16:creationId xmlns:a16="http://schemas.microsoft.com/office/drawing/2014/main" id="{8AFD5E3C-107F-4930-85AC-A1BD77A67F71}"/>
              </a:ext>
            </a:extLst>
          </p:cNvPr>
          <p:cNvSpPr txBox="1">
            <a:spLocks noChangeArrowheads="1"/>
          </p:cNvSpPr>
          <p:nvPr/>
        </p:nvSpPr>
        <p:spPr bwMode="auto">
          <a:xfrm>
            <a:off x="1258888" y="5516563"/>
            <a:ext cx="18716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Area</a:t>
            </a:r>
          </a:p>
        </p:txBody>
      </p:sp>
      <p:sp>
        <p:nvSpPr>
          <p:cNvPr id="71693" name="Text Box 19">
            <a:extLst>
              <a:ext uri="{FF2B5EF4-FFF2-40B4-BE49-F238E27FC236}">
                <a16:creationId xmlns:a16="http://schemas.microsoft.com/office/drawing/2014/main" id="{B155D6EC-B939-4E30-B2AE-D9BA1A8F344A}"/>
              </a:ext>
            </a:extLst>
          </p:cNvPr>
          <p:cNvSpPr txBox="1">
            <a:spLocks noChangeArrowheads="1"/>
          </p:cNvSpPr>
          <p:nvPr/>
        </p:nvSpPr>
        <p:spPr bwMode="auto">
          <a:xfrm>
            <a:off x="4140200" y="5516563"/>
            <a:ext cx="17287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Direction</a:t>
            </a:r>
            <a:r>
              <a:rPr lang="en-US" altLang="zh-CN"/>
              <a:t> </a:t>
            </a:r>
          </a:p>
        </p:txBody>
      </p:sp>
      <p:sp>
        <p:nvSpPr>
          <p:cNvPr id="71694" name="Text Box 20">
            <a:extLst>
              <a:ext uri="{FF2B5EF4-FFF2-40B4-BE49-F238E27FC236}">
                <a16:creationId xmlns:a16="http://schemas.microsoft.com/office/drawing/2014/main" id="{0408236B-CA90-4B45-A30D-E6C300C950DC}"/>
              </a:ext>
            </a:extLst>
          </p:cNvPr>
          <p:cNvSpPr txBox="1">
            <a:spLocks noChangeArrowheads="1"/>
          </p:cNvSpPr>
          <p:nvPr/>
        </p:nvSpPr>
        <p:spPr bwMode="auto">
          <a:xfrm>
            <a:off x="6732588" y="5516563"/>
            <a:ext cx="15843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400"/>
              <a:t>Rail</a:t>
            </a:r>
            <a:r>
              <a:rPr lang="en-US" altLang="zh-CN" sz="1600"/>
              <a:t> Way</a:t>
            </a:r>
          </a:p>
        </p:txBody>
      </p:sp>
      <p:sp>
        <p:nvSpPr>
          <p:cNvPr id="71695" name="AutoShape 21">
            <a:extLst>
              <a:ext uri="{FF2B5EF4-FFF2-40B4-BE49-F238E27FC236}">
                <a16:creationId xmlns:a16="http://schemas.microsoft.com/office/drawing/2014/main" id="{84D97E91-DDD4-49E3-9E77-CFF44F8F2D2D}"/>
              </a:ext>
            </a:extLst>
          </p:cNvPr>
          <p:cNvSpPr>
            <a:spLocks noChangeArrowheads="1"/>
          </p:cNvSpPr>
          <p:nvPr/>
        </p:nvSpPr>
        <p:spPr bwMode="auto">
          <a:xfrm>
            <a:off x="755650" y="188913"/>
            <a:ext cx="6481763" cy="406400"/>
          </a:xfrm>
          <a:prstGeom prst="bevel">
            <a:avLst>
              <a:gd name="adj" fmla="val 3519"/>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tIns="0" bIns="0" anchor="ct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lgn="l"/>
            <a:r>
              <a:rPr lang="zh-CN" altLang="en-US" dirty="0">
                <a:solidFill>
                  <a:srgbClr val="0033CC"/>
                </a:solidFill>
              </a:rPr>
              <a:t>空间权重量化对空间自相关影响实证分析</a:t>
            </a:r>
          </a:p>
        </p:txBody>
      </p:sp>
      <p:sp>
        <p:nvSpPr>
          <p:cNvPr id="71696" name="Line 22">
            <a:extLst>
              <a:ext uri="{FF2B5EF4-FFF2-40B4-BE49-F238E27FC236}">
                <a16:creationId xmlns:a16="http://schemas.microsoft.com/office/drawing/2014/main" id="{FEF80E44-744E-4FE5-90F6-FCB8F719453C}"/>
              </a:ext>
            </a:extLst>
          </p:cNvPr>
          <p:cNvSpPr>
            <a:spLocks noChangeShapeType="1"/>
          </p:cNvSpPr>
          <p:nvPr/>
        </p:nvSpPr>
        <p:spPr bwMode="auto">
          <a:xfrm>
            <a:off x="827088" y="620713"/>
            <a:ext cx="57610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697" name="Rectangle 23">
            <a:extLst>
              <a:ext uri="{FF2B5EF4-FFF2-40B4-BE49-F238E27FC236}">
                <a16:creationId xmlns:a16="http://schemas.microsoft.com/office/drawing/2014/main" id="{754F3CC1-CAEE-452F-B4B6-C35CCAD51CDB}"/>
              </a:ext>
            </a:extLst>
          </p:cNvPr>
          <p:cNvSpPr>
            <a:spLocks noChangeArrowheads="1"/>
          </p:cNvSpPr>
          <p:nvPr/>
        </p:nvSpPr>
        <p:spPr bwMode="auto">
          <a:xfrm>
            <a:off x="755650" y="549275"/>
            <a:ext cx="68405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eaLnBrk="1" fontAlgn="base" latinLnBrk="1" hangingPunct="1"/>
            <a:r>
              <a:rPr lang="zh-CN" altLang="en-US" sz="1600" dirty="0">
                <a:solidFill>
                  <a:srgbClr val="FF3300"/>
                </a:solidFill>
                <a:latin typeface="楷体_GB2312" pitchFamily="49" charset="-122"/>
                <a:ea typeface="楷体_GB2312" pitchFamily="49" charset="-122"/>
              </a:rPr>
              <a:t>空间权重局部自相关指数影响实证分析</a:t>
            </a:r>
            <a:r>
              <a:rPr lang="en-US" altLang="zh-CN" sz="1600" dirty="0">
                <a:solidFill>
                  <a:srgbClr val="FF3300"/>
                </a:solidFill>
                <a:ea typeface="楷体_GB2312" pitchFamily="49" charset="-122"/>
              </a:rPr>
              <a:t>——</a:t>
            </a:r>
            <a:r>
              <a:rPr lang="en-US" altLang="zh-CN" sz="1600" dirty="0">
                <a:solidFill>
                  <a:srgbClr val="FF3300"/>
                </a:solidFill>
                <a:latin typeface="楷体_GB2312" pitchFamily="49" charset="-122"/>
                <a:ea typeface="楷体_GB2312" pitchFamily="49" charset="-122"/>
              </a:rPr>
              <a:t>Moran</a:t>
            </a:r>
            <a:r>
              <a:rPr lang="zh-CN" altLang="en-US" sz="1600" dirty="0">
                <a:solidFill>
                  <a:srgbClr val="FF3300"/>
                </a:solidFill>
                <a:latin typeface="楷体_GB2312" pitchFamily="49" charset="-122"/>
                <a:ea typeface="楷体_GB2312" pitchFamily="49" charset="-122"/>
              </a:rPr>
              <a:t>的</a:t>
            </a:r>
            <a:r>
              <a:rPr lang="en-US" altLang="zh-CN" sz="1600" dirty="0">
                <a:solidFill>
                  <a:srgbClr val="FF3300"/>
                </a:solidFill>
                <a:latin typeface="楷体_GB2312" pitchFamily="49" charset="-122"/>
                <a:ea typeface="楷体_GB2312" pitchFamily="49" charset="-122"/>
              </a:rPr>
              <a:t>Z</a:t>
            </a:r>
            <a:r>
              <a:rPr lang="zh-CN" altLang="en-US" sz="1600" dirty="0">
                <a:solidFill>
                  <a:srgbClr val="FF3300"/>
                </a:solidFill>
                <a:latin typeface="楷体_GB2312" pitchFamily="49" charset="-122"/>
                <a:ea typeface="楷体_GB2312" pitchFamily="49" charset="-122"/>
              </a:rPr>
              <a:t>值图</a:t>
            </a:r>
            <a:r>
              <a:rPr lang="zh-CN" altLang="en-US" dirty="0"/>
              <a:t> </a:t>
            </a:r>
          </a:p>
          <a:p>
            <a:pPr algn="l" eaLnBrk="1" fontAlgn="base" latinLnBrk="1" hangingPunct="1"/>
            <a:endParaRPr lang="zh-CN" altLang="en-US" sz="1200" dirty="0"/>
          </a:p>
        </p:txBody>
      </p:sp>
      <p:sp>
        <p:nvSpPr>
          <p:cNvPr id="71698" name="Text Box 24">
            <a:extLst>
              <a:ext uri="{FF2B5EF4-FFF2-40B4-BE49-F238E27FC236}">
                <a16:creationId xmlns:a16="http://schemas.microsoft.com/office/drawing/2014/main" id="{9EE6D937-1274-4C81-85E1-1794F18CBCE3}"/>
              </a:ext>
            </a:extLst>
          </p:cNvPr>
          <p:cNvSpPr txBox="1">
            <a:spLocks noChangeArrowheads="1"/>
          </p:cNvSpPr>
          <p:nvPr/>
        </p:nvSpPr>
        <p:spPr bwMode="auto">
          <a:xfrm>
            <a:off x="2555875" y="1341438"/>
            <a:ext cx="43211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fontAlgn="ctr">
              <a:defRPr kumimoji="1" sz="2000">
                <a:solidFill>
                  <a:schemeClr val="tx1"/>
                </a:solidFill>
                <a:latin typeface="宋体" panose="02010600030101010101" pitchFamily="2" charset="-122"/>
                <a:ea typeface="宋体" panose="02010600030101010101" pitchFamily="2" charset="-122"/>
              </a:defRPr>
            </a:lvl1pPr>
            <a:lvl2pPr marL="742950" indent="-285750" algn="ctr" fontAlgn="ctr">
              <a:defRPr kumimoji="1" sz="2000">
                <a:solidFill>
                  <a:schemeClr val="tx1"/>
                </a:solidFill>
                <a:latin typeface="宋体" panose="02010600030101010101" pitchFamily="2" charset="-122"/>
                <a:ea typeface="宋体" panose="02010600030101010101" pitchFamily="2" charset="-122"/>
              </a:defRPr>
            </a:lvl2pPr>
            <a:lvl3pPr marL="1143000" indent="-228600" algn="ctr" fontAlgn="ctr">
              <a:defRPr kumimoji="1" sz="2000">
                <a:solidFill>
                  <a:schemeClr val="tx1"/>
                </a:solidFill>
                <a:latin typeface="宋体" panose="02010600030101010101" pitchFamily="2" charset="-122"/>
                <a:ea typeface="宋体" panose="02010600030101010101" pitchFamily="2" charset="-122"/>
              </a:defRPr>
            </a:lvl3pPr>
            <a:lvl4pPr marL="1600200" indent="-228600" algn="ctr" fontAlgn="ctr">
              <a:defRPr kumimoji="1" sz="2000">
                <a:solidFill>
                  <a:schemeClr val="tx1"/>
                </a:solidFill>
                <a:latin typeface="宋体" panose="02010600030101010101" pitchFamily="2" charset="-122"/>
                <a:ea typeface="宋体" panose="02010600030101010101" pitchFamily="2" charset="-122"/>
              </a:defRPr>
            </a:lvl4pPr>
            <a:lvl5pPr marL="2057400" indent="-228600" algn="ctr" fontAlgn="ctr">
              <a:defRPr kumimoji="1" sz="2000">
                <a:solidFill>
                  <a:schemeClr val="tx1"/>
                </a:solidFill>
                <a:latin typeface="宋体" panose="02010600030101010101" pitchFamily="2" charset="-122"/>
                <a:ea typeface="宋体" panose="02010600030101010101" pitchFamily="2" charset="-122"/>
              </a:defRPr>
            </a:lvl5pPr>
            <a:lvl6pPr marL="25146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6pPr>
            <a:lvl7pPr marL="29718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7pPr>
            <a:lvl8pPr marL="34290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8pPr>
            <a:lvl9pPr marL="3886200" indent="-228600" algn="ctr" eaLnBrk="0" fontAlgn="ctr" hangingPunct="0">
              <a:spcBef>
                <a:spcPct val="0"/>
              </a:spcBef>
              <a:spcAft>
                <a:spcPct val="0"/>
              </a:spcAft>
              <a:defRPr kumimoji="1" sz="2000">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sz="1600" dirty="0">
                <a:latin typeface="楷体_GB2312" pitchFamily="49" charset="-122"/>
                <a:ea typeface="楷体_GB2312" pitchFamily="49" charset="-122"/>
              </a:rPr>
              <a:t>2003</a:t>
            </a:r>
            <a:r>
              <a:rPr lang="zh-CN" altLang="en-US" sz="1600" dirty="0">
                <a:latin typeface="楷体_GB2312" pitchFamily="49" charset="-122"/>
                <a:ea typeface="楷体_GB2312" pitchFamily="49" charset="-122"/>
              </a:rPr>
              <a:t>年中国人均</a:t>
            </a:r>
            <a:r>
              <a:rPr lang="en-US" altLang="zh-CN" sz="1600" dirty="0">
                <a:latin typeface="楷体_GB2312" pitchFamily="49" charset="-122"/>
                <a:ea typeface="楷体_GB2312" pitchFamily="49" charset="-122"/>
              </a:rPr>
              <a:t>GDP</a:t>
            </a:r>
            <a:r>
              <a:rPr lang="zh-CN" altLang="en-US" sz="1600" dirty="0">
                <a:latin typeface="楷体_GB2312" pitchFamily="49" charset="-122"/>
                <a:ea typeface="楷体_GB2312" pitchFamily="49" charset="-122"/>
              </a:rPr>
              <a:t>的</a:t>
            </a:r>
            <a:r>
              <a:rPr lang="en-US" altLang="zh-CN" sz="1600" dirty="0">
                <a:latin typeface="楷体_GB2312" pitchFamily="49" charset="-122"/>
                <a:ea typeface="楷体_GB2312" pitchFamily="49" charset="-122"/>
              </a:rPr>
              <a:t>Moran</a:t>
            </a:r>
            <a:r>
              <a:rPr lang="zh-CN" altLang="en-US" sz="1600" dirty="0">
                <a:latin typeface="楷体_GB2312" pitchFamily="49" charset="-122"/>
                <a:ea typeface="楷体_GB2312" pitchFamily="49" charset="-122"/>
              </a:rPr>
              <a:t>的</a:t>
            </a:r>
            <a:r>
              <a:rPr lang="en-US" altLang="zh-CN" sz="1600" dirty="0">
                <a:latin typeface="楷体_GB2312" pitchFamily="49" charset="-122"/>
                <a:ea typeface="楷体_GB2312" pitchFamily="49" charset="-122"/>
              </a:rPr>
              <a:t>Z</a:t>
            </a:r>
            <a:r>
              <a:rPr lang="zh-CN" altLang="en-US" sz="1600" dirty="0">
                <a:latin typeface="楷体_GB2312" pitchFamily="49" charset="-122"/>
                <a:ea typeface="楷体_GB2312" pitchFamily="49" charset="-122"/>
              </a:rPr>
              <a:t>值图</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5903</TotalTime>
  <Words>6772</Words>
  <Application>Microsoft Office PowerPoint</Application>
  <PresentationFormat>On-screen Show (4:3)</PresentationFormat>
  <Paragraphs>1270</Paragraphs>
  <Slides>96</Slides>
  <Notes>21</Notes>
  <HiddenSlides>0</HiddenSlides>
  <MMClips>0</MMClips>
  <ScaleCrop>false</ScaleCrop>
  <HeadingPairs>
    <vt:vector size="8" baseType="variant">
      <vt:variant>
        <vt:lpstr>Fonts Used</vt:lpstr>
      </vt:variant>
      <vt:variant>
        <vt:i4>18</vt:i4>
      </vt:variant>
      <vt:variant>
        <vt:lpstr>Theme</vt:lpstr>
      </vt:variant>
      <vt:variant>
        <vt:i4>1</vt:i4>
      </vt:variant>
      <vt:variant>
        <vt:lpstr>Embedded OLE Servers</vt:lpstr>
      </vt:variant>
      <vt:variant>
        <vt:i4>6</vt:i4>
      </vt:variant>
      <vt:variant>
        <vt:lpstr>Slide Titles</vt:lpstr>
      </vt:variant>
      <vt:variant>
        <vt:i4>96</vt:i4>
      </vt:variant>
    </vt:vector>
  </HeadingPairs>
  <TitlesOfParts>
    <vt:vector size="121" baseType="lpstr">
      <vt:lpstr>굴림</vt:lpstr>
      <vt:lpstr>굴림</vt:lpstr>
      <vt:lpstr>楷体_GB2312</vt:lpstr>
      <vt:lpstr>微软雅黑</vt:lpstr>
      <vt:lpstr>新細明體</vt:lpstr>
      <vt:lpstr>黑体</vt:lpstr>
      <vt:lpstr>宋体</vt:lpstr>
      <vt:lpstr>华文行楷</vt:lpstr>
      <vt:lpstr>华文中宋</vt:lpstr>
      <vt:lpstr>汉仪书宋一简</vt:lpstr>
      <vt:lpstr>Arial</vt:lpstr>
      <vt:lpstr>Arial Black</vt:lpstr>
      <vt:lpstr>Calibri</vt:lpstr>
      <vt:lpstr>Cambria Math</vt:lpstr>
      <vt:lpstr>Impact</vt:lpstr>
      <vt:lpstr>Times New Roman</vt:lpstr>
      <vt:lpstr>Wingdings</vt:lpstr>
      <vt:lpstr>Wingdings 2</vt:lpstr>
      <vt:lpstr>Office 主题</vt:lpstr>
      <vt:lpstr>位图图像</vt:lpstr>
      <vt:lpstr>公式</vt:lpstr>
      <vt:lpstr>Equation.3</vt:lpstr>
      <vt:lpstr>Equation</vt:lpstr>
      <vt:lpstr>Equation.DSMT4</vt:lpstr>
      <vt:lpstr>Paint.Picture</vt:lpstr>
      <vt:lpstr>第三章 地理相关性分析</vt:lpstr>
      <vt:lpstr>第三章    地理相关分析方法</vt:lpstr>
      <vt:lpstr>3.1 相关的意义</vt:lpstr>
      <vt:lpstr>3.1 相关的意义</vt:lpstr>
      <vt:lpstr>PowerPoint Presentation</vt:lpstr>
      <vt:lpstr>3.2 一般相关程度的度量方法</vt:lpstr>
      <vt:lpstr>3.2 一般相关程度的度量方法</vt:lpstr>
      <vt:lpstr>3.2.1一般常用相关系数的计算</vt:lpstr>
      <vt:lpstr>3.2.1一般常用相关系数的计算</vt:lpstr>
      <vt:lpstr>PowerPoint Presentation</vt:lpstr>
      <vt:lpstr>3.2.1一般常用相关系数的计算</vt:lpstr>
      <vt:lpstr>举例，北京市多年各月平均气温与5cm深的平均地温，如表所示，请计算两者的相关系数</vt:lpstr>
      <vt:lpstr>3.2.1一般常用相关系数的计算</vt:lpstr>
      <vt:lpstr>相关系数计算表</vt:lpstr>
      <vt:lpstr>3.2.1一般常用相关系数的计算</vt:lpstr>
      <vt:lpstr>相关系数的检验：</vt:lpstr>
      <vt:lpstr>PowerPoint Presentation</vt:lpstr>
      <vt:lpstr>PowerPoint Presentation</vt:lpstr>
      <vt:lpstr>PowerPoint Presentation</vt:lpstr>
      <vt:lpstr>2、顺序（等级）相关系数计算</vt:lpstr>
      <vt:lpstr>PowerPoint Presentation</vt:lpstr>
      <vt:lpstr>2、顺序（等级）相关系数计算</vt:lpstr>
      <vt:lpstr>PowerPoint Presentation</vt:lpstr>
      <vt:lpstr>3.2.3相关系数矩阵</vt:lpstr>
      <vt:lpstr>3.2.3相关系数矩阵</vt:lpstr>
      <vt:lpstr>3.3多要素间相关程度的测度</vt:lpstr>
      <vt:lpstr>（一）偏相关系数的计算与检验</vt:lpstr>
      <vt:lpstr>（一）偏相关系数的计算与检验</vt:lpstr>
      <vt:lpstr>一级偏相关系数（三个要素）</vt:lpstr>
      <vt:lpstr>二级偏相关系数（四个要素）</vt:lpstr>
      <vt:lpstr>例如：对于某四个地理要素x1，x2，x3，x4的23个样本数据，经过计算得到了如下的单相关系数矩阵： </vt:lpstr>
      <vt:lpstr>PowerPoint Presentation</vt:lpstr>
      <vt:lpstr>偏相关系数的性质</vt:lpstr>
      <vt:lpstr>PowerPoint Presentation</vt:lpstr>
      <vt:lpstr>PowerPoint Presentation</vt:lpstr>
      <vt:lpstr>（二)复相关系数的计算与检验</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3.5空间统计分析的概念</vt:lpstr>
      <vt:lpstr>3.5空间统计分析的概念(续)</vt:lpstr>
      <vt:lpstr>3.5 空间统计分析的概念</vt:lpstr>
      <vt:lpstr>3.5.1 空间自相关性</vt:lpstr>
      <vt:lpstr>3.5.1 空间自相关性(续)</vt:lpstr>
      <vt:lpstr>3.5.1 空间自相关性(续)</vt:lpstr>
      <vt:lpstr>（1）空间权重矩阵</vt:lpstr>
      <vt:lpstr>（1）空间权重矩阵(续)</vt:lpstr>
      <vt:lpstr>（2）全局空间自相关 </vt:lpstr>
      <vt:lpstr>（2）全局空间自相关(续) </vt:lpstr>
      <vt:lpstr>（2）全局空间自相关(续) </vt:lpstr>
      <vt:lpstr>(3)局部空间自相关分析</vt:lpstr>
      <vt:lpstr>1.空间联系的局部指标(LISA) </vt:lpstr>
      <vt:lpstr>3.5.2. 空间关联的局部指标(LISA) </vt:lpstr>
      <vt:lpstr>2.G统计量 </vt:lpstr>
      <vt:lpstr>2. G统计量 </vt:lpstr>
      <vt:lpstr>3.Moran散点图 </vt:lpstr>
      <vt:lpstr>3.Moran散点图 </vt:lpstr>
      <vt:lpstr>PowerPoint Presentation</vt:lpstr>
      <vt:lpstr>G统计量 </vt:lpstr>
      <vt:lpstr>PowerPoint Presentation</vt:lpstr>
      <vt:lpstr>二、应用实例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Lenovo (Beijing)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dc:title>
  <dc:creator>Lenovo User</dc:creator>
  <cp:lastModifiedBy>Xiran</cp:lastModifiedBy>
  <cp:revision>228</cp:revision>
  <dcterms:created xsi:type="dcterms:W3CDTF">2006-04-05T03:06:39Z</dcterms:created>
  <dcterms:modified xsi:type="dcterms:W3CDTF">2024-02-29T01:29:44Z</dcterms:modified>
</cp:coreProperties>
</file>